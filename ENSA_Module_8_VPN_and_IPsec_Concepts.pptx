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7.xml" ContentType="application/vnd.openxmlformats-officedocument.presentationml.tags+xml"/>
  <Override PartName="/ppt/notesSlides/notesSlide30.xml" ContentType="application/vnd.openxmlformats-officedocument.presentationml.notesSlide+xml"/>
  <Override PartName="/ppt/tags/tag8.xml" ContentType="application/vnd.openxmlformats-officedocument.presentationml.tags+xml"/>
  <Override PartName="/ppt/notesSlides/notesSlide31.xml" ContentType="application/vnd.openxmlformats-officedocument.presentationml.notesSlide+xml"/>
  <Override PartName="/ppt/tags/tag9.xml" ContentType="application/vnd.openxmlformats-officedocument.presentationml.tags+xml"/>
  <Override PartName="/ppt/notesSlides/notesSlide32.xml" ContentType="application/vnd.openxmlformats-officedocument.presentationml.notesSlide+xml"/>
  <Override PartName="/ppt/tags/tag10.xml" ContentType="application/vnd.openxmlformats-officedocument.presentationml.tags+xml"/>
  <Override PartName="/ppt/notesSlides/notesSlide33.xml" ContentType="application/vnd.openxmlformats-officedocument.presentationml.notesSlide+xml"/>
  <Override PartName="/ppt/tags/tag11.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2.xml" ContentType="application/vnd.openxmlformats-officedocument.presentationml.tags+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0"/>
  </p:notesMasterIdLst>
  <p:sldIdLst>
    <p:sldId id="876" r:id="rId2"/>
    <p:sldId id="860" r:id="rId3"/>
    <p:sldId id="759" r:id="rId4"/>
    <p:sldId id="1054" r:id="rId5"/>
    <p:sldId id="1094" r:id="rId6"/>
    <p:sldId id="1096" r:id="rId7"/>
    <p:sldId id="1095" r:id="rId8"/>
    <p:sldId id="1097" r:id="rId9"/>
    <p:sldId id="1056" r:id="rId10"/>
    <p:sldId id="1098" r:id="rId11"/>
    <p:sldId id="1099" r:id="rId12"/>
    <p:sldId id="1100" r:id="rId13"/>
    <p:sldId id="1101" r:id="rId14"/>
    <p:sldId id="1102" r:id="rId15"/>
    <p:sldId id="1103" r:id="rId16"/>
    <p:sldId id="1104" r:id="rId17"/>
    <p:sldId id="1105" r:id="rId18"/>
    <p:sldId id="1106" r:id="rId19"/>
    <p:sldId id="1063" r:id="rId20"/>
    <p:sldId id="1107" r:id="rId21"/>
    <p:sldId id="1109" r:id="rId22"/>
    <p:sldId id="1108" r:id="rId23"/>
    <p:sldId id="1110" r:id="rId24"/>
    <p:sldId id="1111" r:id="rId25"/>
    <p:sldId id="1112" r:id="rId26"/>
    <p:sldId id="1113" r:id="rId27"/>
    <p:sldId id="1114" r:id="rId28"/>
    <p:sldId id="1117" r:id="rId29"/>
    <p:sldId id="1115" r:id="rId30"/>
    <p:sldId id="957" r:id="rId31"/>
    <p:sldId id="1089" r:id="rId32"/>
    <p:sldId id="1118" r:id="rId33"/>
    <p:sldId id="874" r:id="rId34"/>
    <p:sldId id="291" r:id="rId35"/>
    <p:sldId id="1120" r:id="rId36"/>
    <p:sldId id="1122" r:id="rId37"/>
    <p:sldId id="1121" r:id="rId38"/>
    <p:sldId id="1119" r:id="rId39"/>
  </p:sldIdLst>
  <p:sldSz cx="9144000" cy="5143500" type="screen16x9"/>
  <p:notesSz cx="6858000" cy="9144000"/>
  <p:custDataLst>
    <p:tags r:id="rId4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48" autoAdjust="0"/>
    <p:restoredTop sz="77288" autoAdjust="0"/>
  </p:normalViewPr>
  <p:slideViewPr>
    <p:cSldViewPr snapToGrid="0" showGuides="1">
      <p:cViewPr varScale="1">
        <p:scale>
          <a:sx n="118" d="100"/>
          <a:sy n="118" d="100"/>
        </p:scale>
        <p:origin x="1572" y="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3/4/2025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8: VPN and IPsec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8 – VPN and IPsec Concepts</a:t>
            </a:r>
          </a:p>
          <a:p>
            <a:pPr>
              <a:buFontTx/>
              <a:buNone/>
            </a:pPr>
            <a:r>
              <a:rPr lang="en-GB" dirty="0"/>
              <a:t>8.0.2-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8.1.1 – Virtual Private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8.1.2 – VPN Benefits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34074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8.1.3 – Site-to-Site and Remote Access VPNs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986537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8.1.3 – Site-to-Site and Remote Access VPNs (Cont.)</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039397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8.1.4 – Enterprise and Service Provider VPNs</a:t>
            </a:r>
          </a:p>
          <a:p>
            <a:r>
              <a:rPr lang="en-US" dirty="0"/>
              <a:t>8.1.5 – Check Your Understanding – VPN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525628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VPN and IPsec Concepts</a:t>
            </a:r>
          </a:p>
          <a:p>
            <a:r>
              <a:rPr lang="en-US" dirty="0"/>
              <a:t>8.2  - VPN Types of VPNs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8.2.1 – Remote-Access VPNs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770790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8.2.2 – SSL VPNs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46247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8.2.3 – Site-to-Site IPsec VPNs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664133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881076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836191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325527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8.2.5 – Dynamic Multipoint VPNs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196571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8.2.6 – IPsec Virtual Tunnel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226030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8.2.7 – Service Provider MPLS VPNs</a:t>
            </a:r>
          </a:p>
          <a:p>
            <a:r>
              <a:rPr lang="en-US" dirty="0"/>
              <a:t>8.2.8 – Check Your Understanding – Types of VPNs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564442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8.3.1 – Video – IPsec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159173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954914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00703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8.3.3 – IPsec Protocol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22424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4920747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305111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8.3.5 – Integrity</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247947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8.3.6 –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998019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8.3.7 – Secure Key Exchange with Diffie - Hellman</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061868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8.3.8 – Video – IPsec Transport and Tunnel Mode</a:t>
            </a:r>
          </a:p>
          <a:p>
            <a:r>
              <a:rPr lang="en-US" dirty="0"/>
              <a:t>8.3.9 – Check Your Understanding - IPsec</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3956588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8.4 -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8 – VPN and IPsec Concepts</a:t>
            </a:r>
          </a:p>
          <a:p>
            <a:r>
              <a:rPr lang="en-US" dirty="0"/>
              <a:t>8.4 -  Module Practice and Quiz</a:t>
            </a:r>
          </a:p>
          <a:p>
            <a:r>
              <a:rPr lang="en-US" dirty="0"/>
              <a:t>8.4.1 – What did I learn in this module?</a:t>
            </a:r>
          </a:p>
        </p:txBody>
      </p:sp>
    </p:spTree>
    <p:extLst>
      <p:ext uri="{BB962C8B-B14F-4D97-AF65-F5344CB8AC3E}">
        <p14:creationId xmlns:p14="http://schemas.microsoft.com/office/powerpoint/2010/main" val="27074346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8 – VPN and IPsec Concepts</a:t>
            </a:r>
          </a:p>
          <a:p>
            <a:r>
              <a:rPr lang="en-US" dirty="0"/>
              <a:t>8.4 -  Module Practice and Quiz</a:t>
            </a:r>
          </a:p>
          <a:p>
            <a:r>
              <a:rPr lang="en-US" dirty="0"/>
              <a:t>8.4.1 – What did I learn in this module? (Cont.)</a:t>
            </a:r>
          </a:p>
        </p:txBody>
      </p:sp>
    </p:spTree>
    <p:extLst>
      <p:ext uri="{BB962C8B-B14F-4D97-AF65-F5344CB8AC3E}">
        <p14:creationId xmlns:p14="http://schemas.microsoft.com/office/powerpoint/2010/main" val="13126275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33</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5913942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https://en.wikipedia.org/wiki/Diffie%E2%80%93Hellman_key_exchange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5545622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a:t>
            </a:r>
            <a:r>
              <a:rPr lang="en-US" dirty="0" err="1" smtClean="0"/>
              <a:t>usr</a:t>
            </a:r>
            <a:r>
              <a:rPr lang="en-US" dirty="0" smtClean="0"/>
              <a:t>/bin/</a:t>
            </a:r>
            <a:r>
              <a:rPr lang="en-US" dirty="0" err="1" smtClean="0"/>
              <a:t>env</a:t>
            </a:r>
            <a:r>
              <a:rPr lang="en-US" dirty="0" smtClean="0"/>
              <a:t> python3</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encoding: UTF-8</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verdysgn</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from socket import socket, </a:t>
            </a:r>
            <a:r>
              <a:rPr lang="en-US" dirty="0" err="1" smtClean="0"/>
              <a:t>gethostname</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from socket import AF_INET, SOCK_STREAM, SOL_SOCKET, SO_REUSEADDR</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from typing import Tuple, </a:t>
            </a:r>
            <a:r>
              <a:rPr lang="en-US" dirty="0" err="1" smtClean="0"/>
              <a:t>Dict</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from </a:t>
            </a:r>
            <a:r>
              <a:rPr lang="en-US" dirty="0" err="1" smtClean="0"/>
              <a:t>Crypto.Hash</a:t>
            </a:r>
            <a:r>
              <a:rPr lang="en-US" dirty="0" smtClean="0"/>
              <a:t> import SHA256, HMAC</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from </a:t>
            </a:r>
            <a:r>
              <a:rPr lang="en-US" dirty="0" err="1" smtClean="0"/>
              <a:t>Crypto.Cipher</a:t>
            </a:r>
            <a:r>
              <a:rPr lang="en-US" dirty="0" smtClean="0"/>
              <a:t> import AES, DES, Blowfish</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from </a:t>
            </a:r>
            <a:r>
              <a:rPr lang="en-US" dirty="0" err="1" smtClean="0"/>
              <a:t>diffiehellman.diffiehellman</a:t>
            </a:r>
            <a:r>
              <a:rPr lang="en-US" dirty="0" smtClean="0"/>
              <a:t> import </a:t>
            </a:r>
            <a:r>
              <a:rPr lang="en-US" dirty="0" err="1" smtClean="0"/>
              <a:t>DiffieHellman</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HOST = </a:t>
            </a:r>
            <a:r>
              <a:rPr lang="en-US" dirty="0" err="1" smtClean="0"/>
              <a:t>gethostname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PORT = 4600</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SUPPORTED_CIPHERS = {"DES": [56]}</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err="1" smtClean="0"/>
              <a:t>def</a:t>
            </a:r>
            <a:r>
              <a:rPr lang="en-US" dirty="0" smtClean="0"/>
              <a:t> </a:t>
            </a:r>
            <a:r>
              <a:rPr lang="en-US" dirty="0" err="1" smtClean="0"/>
              <a:t>parse_proposal</a:t>
            </a:r>
            <a:r>
              <a:rPr lang="en-US" dirty="0" smtClean="0"/>
              <a:t>(</a:t>
            </a:r>
            <a:r>
              <a:rPr lang="en-US" dirty="0" err="1" smtClean="0"/>
              <a:t>msg</a:t>
            </a:r>
            <a:r>
              <a:rPr lang="en-US" dirty="0" smtClean="0"/>
              <a:t>: </a:t>
            </a:r>
            <a:r>
              <a:rPr lang="en-US" dirty="0" err="1" smtClean="0"/>
              <a:t>str</a:t>
            </a:r>
            <a:r>
              <a:rPr lang="en-US" dirty="0" smtClean="0"/>
              <a:t>) -&gt; </a:t>
            </a:r>
            <a:r>
              <a:rPr lang="en-US" dirty="0" err="1" smtClean="0"/>
              <a:t>Dict</a:t>
            </a:r>
            <a:r>
              <a:rPr lang="en-US" dirty="0" smtClean="0"/>
              <a:t>[</a:t>
            </a:r>
            <a:r>
              <a:rPr lang="en-US" dirty="0" err="1" smtClean="0"/>
              <a:t>str</a:t>
            </a:r>
            <a:r>
              <a:rPr lang="en-US" dirty="0" smtClean="0"/>
              <a:t>, list]: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"""Parse client's proposal</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a:t>
            </a:r>
            <a:r>
              <a:rPr lang="en-US" dirty="0" err="1" smtClean="0"/>
              <a:t>msg</a:t>
            </a:r>
            <a:r>
              <a:rPr lang="en-US" dirty="0" smtClean="0"/>
              <a:t>: message from the client with a proposal (ciphers and key sizes)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the ciphers and keys as a dictionary</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msg</a:t>
            </a:r>
            <a:r>
              <a:rPr lang="en-US" dirty="0" smtClean="0"/>
              <a:t> = </a:t>
            </a:r>
            <a:r>
              <a:rPr lang="en-US" dirty="0" err="1" smtClean="0"/>
              <a:t>msg</a:t>
            </a:r>
            <a:r>
              <a:rPr lang="en-US" dirty="0" smtClean="0"/>
              <a:t>[16:]</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ciphers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last_c</a:t>
            </a:r>
            <a:r>
              <a:rPr lang="en-US" dirty="0" smtClean="0"/>
              <a:t>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cipher_name</a:t>
            </a:r>
            <a:r>
              <a:rPr lang="en-US" dirty="0" smtClean="0"/>
              <a:t>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key_size</a:t>
            </a:r>
            <a:r>
              <a:rPr lang="en-US" dirty="0" smtClean="0"/>
              <a:t>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curr_key_size_list</a:t>
            </a:r>
            <a:r>
              <a:rPr lang="en-US" dirty="0" smtClean="0"/>
              <a:t> = []</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for c in </a:t>
            </a:r>
            <a:r>
              <a:rPr lang="en-US" dirty="0" err="1" smtClean="0"/>
              <a:t>msg</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if </a:t>
            </a:r>
            <a:r>
              <a:rPr lang="en-US" dirty="0" err="1" smtClean="0"/>
              <a:t>c.isalpha</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cipher_name</a:t>
            </a:r>
            <a:r>
              <a:rPr lang="en-US" dirty="0" smtClean="0"/>
              <a:t> += c</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elif</a:t>
            </a:r>
            <a:r>
              <a:rPr lang="en-US" dirty="0" smtClean="0"/>
              <a:t> </a:t>
            </a:r>
            <a:r>
              <a:rPr lang="en-US" dirty="0" err="1" smtClean="0"/>
              <a:t>c.isalnum</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key_size</a:t>
            </a:r>
            <a:r>
              <a:rPr lang="en-US" dirty="0" smtClean="0"/>
              <a:t> += c</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elif</a:t>
            </a:r>
            <a:r>
              <a:rPr lang="en-US" dirty="0" smtClean="0"/>
              <a:t> c in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if </a:t>
            </a:r>
            <a:r>
              <a:rPr lang="en-US" dirty="0" err="1" smtClean="0"/>
              <a:t>last_c.isalnum</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curr_key_size_list.append</a:t>
            </a:r>
            <a:r>
              <a:rPr lang="en-US" dirty="0" smtClean="0"/>
              <a:t>(</a:t>
            </a:r>
            <a:r>
              <a:rPr lang="en-US" dirty="0" err="1" smtClean="0"/>
              <a:t>int</a:t>
            </a:r>
            <a:r>
              <a:rPr lang="en-US" dirty="0" smtClean="0"/>
              <a:t>(</a:t>
            </a:r>
            <a:r>
              <a:rPr lang="en-US" dirty="0" err="1" smtClean="0"/>
              <a:t>key_size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key_size</a:t>
            </a:r>
            <a:r>
              <a:rPr lang="en-US" dirty="0" smtClean="0"/>
              <a:t>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elif</a:t>
            </a:r>
            <a:r>
              <a:rPr lang="en-US" dirty="0" smtClean="0"/>
              <a:t> c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curr_key_size_list.append</a:t>
            </a:r>
            <a:r>
              <a:rPr lang="en-US" dirty="0" smtClean="0"/>
              <a:t>(</a:t>
            </a:r>
            <a:r>
              <a:rPr lang="en-US" dirty="0" err="1" smtClean="0"/>
              <a:t>int</a:t>
            </a:r>
            <a:r>
              <a:rPr lang="en-US" dirty="0" smtClean="0"/>
              <a:t>(</a:t>
            </a:r>
            <a:r>
              <a:rPr lang="en-US" dirty="0" err="1" smtClean="0"/>
              <a:t>key_size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key_size</a:t>
            </a:r>
            <a:r>
              <a:rPr lang="en-US" dirty="0" smtClean="0"/>
              <a:t>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ciphers[</a:t>
            </a:r>
            <a:r>
              <a:rPr lang="en-US" dirty="0" err="1" smtClean="0"/>
              <a:t>cipher_name</a:t>
            </a:r>
            <a:r>
              <a:rPr lang="en-US" dirty="0" smtClean="0"/>
              <a:t>] = </a:t>
            </a:r>
            <a:r>
              <a:rPr lang="en-US" dirty="0" err="1" smtClean="0"/>
              <a:t>curr_key_size_list</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cipher_name</a:t>
            </a:r>
            <a:r>
              <a:rPr lang="en-US" dirty="0" smtClean="0"/>
              <a:t>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curr_key_size_list</a:t>
            </a:r>
            <a:r>
              <a:rPr lang="en-US" dirty="0" smtClean="0"/>
              <a:t>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last_c</a:t>
            </a:r>
            <a:r>
              <a:rPr lang="en-US" dirty="0" smtClean="0"/>
              <a:t> = c</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ciphers</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err="1" smtClean="0"/>
              <a:t>def</a:t>
            </a:r>
            <a:r>
              <a:rPr lang="en-US" dirty="0" smtClean="0"/>
              <a:t> </a:t>
            </a:r>
            <a:r>
              <a:rPr lang="en-US" dirty="0" err="1" smtClean="0"/>
              <a:t>select_cipher</a:t>
            </a:r>
            <a:r>
              <a:rPr lang="en-US" dirty="0" smtClean="0"/>
              <a:t>(supported: </a:t>
            </a:r>
            <a:r>
              <a:rPr lang="en-US" dirty="0" err="1" smtClean="0"/>
              <a:t>dict</a:t>
            </a:r>
            <a:r>
              <a:rPr lang="en-US" dirty="0" smtClean="0"/>
              <a:t>, proposed: </a:t>
            </a:r>
            <a:r>
              <a:rPr lang="en-US" dirty="0" err="1" smtClean="0"/>
              <a:t>dict</a:t>
            </a:r>
            <a:r>
              <a:rPr lang="en-US" dirty="0" smtClean="0"/>
              <a:t>) -&gt; Tuple[</a:t>
            </a:r>
            <a:r>
              <a:rPr lang="en-US" dirty="0" err="1" smtClean="0"/>
              <a:t>str</a:t>
            </a:r>
            <a:r>
              <a:rPr lang="en-US" dirty="0" smtClean="0"/>
              <a:t>, </a:t>
            </a:r>
            <a:r>
              <a:rPr lang="en-US" dirty="0" err="1" smtClean="0"/>
              <a:t>int</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"""Select a cipher to use</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supported: dictionary of ciphers supported by the server</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proposed: dictionary of ciphers proposed by the client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tuple (cipher, </a:t>
            </a:r>
            <a:r>
              <a:rPr lang="en-US" dirty="0" err="1" smtClean="0"/>
              <a:t>key_size</a:t>
            </a:r>
            <a:r>
              <a:rPr lang="en-US" dirty="0" smtClean="0"/>
              <a:t>) of the common cipher where </a:t>
            </a:r>
            <a:r>
              <a:rPr lang="en-US" dirty="0" err="1" smtClean="0"/>
              <a:t>key_size</a:t>
            </a:r>
            <a:r>
              <a:rPr lang="en-US" dirty="0" smtClean="0"/>
              <a:t> is the longest supported by both</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:raise: </a:t>
            </a:r>
            <a:r>
              <a:rPr lang="en-US" dirty="0" err="1" smtClean="0"/>
              <a:t>ValueError</a:t>
            </a:r>
            <a:r>
              <a:rPr lang="en-US" dirty="0" smtClean="0"/>
              <a:t> if there is no (cipher, </a:t>
            </a:r>
            <a:r>
              <a:rPr lang="en-US" dirty="0" err="1" smtClean="0"/>
              <a:t>key_size</a:t>
            </a:r>
            <a:r>
              <a:rPr lang="en-US" dirty="0" smtClean="0"/>
              <a:t>) combination that both client and server support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common_ciphers</a:t>
            </a:r>
            <a:r>
              <a:rPr lang="en-US" dirty="0" smtClean="0"/>
              <a:t> = set(</a:t>
            </a:r>
            <a:r>
              <a:rPr lang="en-US" dirty="0" err="1" smtClean="0"/>
              <a:t>supported.keys</a:t>
            </a:r>
            <a:r>
              <a:rPr lang="en-US" dirty="0" smtClean="0"/>
              <a:t>()).intersection(</a:t>
            </a:r>
            <a:r>
              <a:rPr lang="en-US" dirty="0" err="1" smtClean="0"/>
              <a:t>proposed.keys</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cipher = None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key_size</a:t>
            </a:r>
            <a:r>
              <a:rPr lang="en-US" dirty="0" smtClean="0"/>
              <a:t> = -1</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if </a:t>
            </a:r>
            <a:r>
              <a:rPr lang="en-US" dirty="0" err="1" smtClean="0"/>
              <a:t>common_ciphers</a:t>
            </a:r>
            <a:r>
              <a:rPr lang="en-US" dirty="0" smtClean="0"/>
              <a:t> != set():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for c in </a:t>
            </a:r>
            <a:r>
              <a:rPr lang="en-US" dirty="0" err="1" smtClean="0"/>
              <a:t>common_ciphers</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current_keysize</a:t>
            </a:r>
            <a:r>
              <a:rPr lang="en-US" dirty="0" smtClean="0"/>
              <a:t> = max(</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 -1 will be the max value if the intersection is empty</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set([-1]).union(set(</a:t>
            </a:r>
            <a:r>
              <a:rPr lang="en-US" dirty="0" err="1" smtClean="0"/>
              <a:t>supported.get</a:t>
            </a:r>
            <a:r>
              <a:rPr lang="en-US" dirty="0" smtClean="0"/>
              <a:t>(c)).intersection(</a:t>
            </a:r>
            <a:r>
              <a:rPr lang="en-US" dirty="0" err="1" smtClean="0"/>
              <a:t>proposed.get</a:t>
            </a:r>
            <a:r>
              <a:rPr lang="en-US" dirty="0" smtClean="0"/>
              <a:t>(c))))</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if </a:t>
            </a:r>
            <a:r>
              <a:rPr lang="en-US" dirty="0" err="1" smtClean="0"/>
              <a:t>current_keysize</a:t>
            </a:r>
            <a:r>
              <a:rPr lang="en-US" dirty="0" smtClean="0"/>
              <a:t> &gt; </a:t>
            </a:r>
            <a:r>
              <a:rPr lang="en-US" dirty="0" err="1" smtClean="0"/>
              <a:t>key_size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key_size</a:t>
            </a:r>
            <a:r>
              <a:rPr lang="en-US" dirty="0" smtClean="0"/>
              <a:t> = </a:t>
            </a:r>
            <a:r>
              <a:rPr lang="en-US" dirty="0" err="1" smtClean="0"/>
              <a:t>current_keysize</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cipher = c</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if not cipher or </a:t>
            </a:r>
            <a:r>
              <a:rPr lang="en-US" dirty="0" err="1" smtClean="0"/>
              <a:t>key_size</a:t>
            </a:r>
            <a:r>
              <a:rPr lang="en-US" dirty="0" smtClean="0"/>
              <a:t> == -1:</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raise </a:t>
            </a:r>
            <a:r>
              <a:rPr lang="en-US" dirty="0" err="1" smtClean="0"/>
              <a:t>ValueError</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'Could not agree on a cipher')</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(cipher, </a:t>
            </a:r>
            <a:r>
              <a:rPr lang="en-US" dirty="0" err="1" smtClean="0"/>
              <a:t>key_size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err="1" smtClean="0"/>
              <a:t>def</a:t>
            </a:r>
            <a:r>
              <a:rPr lang="en-US" dirty="0" smtClean="0"/>
              <a:t> </a:t>
            </a:r>
            <a:r>
              <a:rPr lang="en-US" dirty="0" err="1" smtClean="0"/>
              <a:t>generate_cipher_response</a:t>
            </a:r>
            <a:r>
              <a:rPr lang="en-US" dirty="0" smtClean="0"/>
              <a:t>(cipher: </a:t>
            </a:r>
            <a:r>
              <a:rPr lang="en-US" dirty="0" err="1" smtClean="0"/>
              <a:t>str</a:t>
            </a:r>
            <a:r>
              <a:rPr lang="en-US" dirty="0" smtClean="0"/>
              <a:t>, </a:t>
            </a:r>
            <a:r>
              <a:rPr lang="en-US" dirty="0" err="1" smtClean="0"/>
              <a:t>key_size</a:t>
            </a:r>
            <a:r>
              <a:rPr lang="en-US" dirty="0" smtClean="0"/>
              <a:t>: </a:t>
            </a:r>
            <a:r>
              <a:rPr lang="en-US" dirty="0" err="1" smtClean="0"/>
              <a:t>int</a:t>
            </a:r>
            <a:r>
              <a:rPr lang="en-US" dirty="0" smtClean="0"/>
              <a:t>) -&gt; </a:t>
            </a:r>
            <a:r>
              <a:rPr lang="en-US" dirty="0" err="1" smtClean="0"/>
              <a:t>str</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"""Generate a response message</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cipher: chosen cipher</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a:t>
            </a:r>
            <a:r>
              <a:rPr lang="en-US" dirty="0" err="1" smtClean="0"/>
              <a:t>key_size</a:t>
            </a:r>
            <a:r>
              <a:rPr lang="en-US" dirty="0" smtClean="0"/>
              <a:t>: chosen key size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(cipher, </a:t>
            </a:r>
            <a:r>
              <a:rPr lang="en-US" dirty="0" err="1" smtClean="0"/>
              <a:t>key_size</a:t>
            </a:r>
            <a:r>
              <a:rPr lang="en-US" dirty="0" smtClean="0"/>
              <a:t>) selection as a string</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a:t>
            </a:r>
            <a:r>
              <a:rPr lang="en-US" dirty="0" err="1" smtClean="0"/>
              <a:t>ChosenCipher</a:t>
            </a:r>
            <a:r>
              <a:rPr lang="en-US" dirty="0" smtClean="0"/>
              <a:t>:{},{}".format(cipher, </a:t>
            </a:r>
            <a:r>
              <a:rPr lang="en-US" dirty="0" err="1" smtClean="0"/>
              <a:t>key_size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err="1" smtClean="0"/>
              <a:t>def</a:t>
            </a:r>
            <a:r>
              <a:rPr lang="en-US" dirty="0" smtClean="0"/>
              <a:t> </a:t>
            </a:r>
            <a:r>
              <a:rPr lang="en-US" dirty="0" err="1" smtClean="0"/>
              <a:t>parse_dhm_request</a:t>
            </a:r>
            <a:r>
              <a:rPr lang="en-US" dirty="0" smtClean="0"/>
              <a:t>(</a:t>
            </a:r>
            <a:r>
              <a:rPr lang="en-US" dirty="0" err="1" smtClean="0"/>
              <a:t>msg</a:t>
            </a:r>
            <a:r>
              <a:rPr lang="en-US" dirty="0" smtClean="0"/>
              <a:t>: </a:t>
            </a:r>
            <a:r>
              <a:rPr lang="en-US" dirty="0" err="1" smtClean="0"/>
              <a:t>str</a:t>
            </a:r>
            <a:r>
              <a:rPr lang="en-US" dirty="0" smtClean="0"/>
              <a:t>) -&gt; </a:t>
            </a:r>
            <a:r>
              <a:rPr lang="en-US" dirty="0" err="1" smtClean="0"/>
              <a:t>int</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"""Parse client's DHM key exchange request</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a:t>
            </a:r>
            <a:r>
              <a:rPr lang="en-US" dirty="0" err="1" smtClean="0"/>
              <a:t>msg</a:t>
            </a:r>
            <a:r>
              <a:rPr lang="en-US" dirty="0" smtClean="0"/>
              <a:t>: client's DHMKE initial message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number in the client's message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a:t>
            </a:r>
            <a:r>
              <a:rPr lang="en-US" dirty="0" err="1" smtClean="0"/>
              <a:t>int</a:t>
            </a:r>
            <a:r>
              <a:rPr lang="en-US" dirty="0" smtClean="0"/>
              <a:t>(</a:t>
            </a:r>
            <a:r>
              <a:rPr lang="en-US" dirty="0" err="1" smtClean="0"/>
              <a:t>msg.split</a:t>
            </a:r>
            <a:r>
              <a:rPr lang="en-US" dirty="0" smtClean="0"/>
              <a:t>(':')[1])</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err="1" smtClean="0"/>
              <a:t>def</a:t>
            </a:r>
            <a:r>
              <a:rPr lang="en-US" dirty="0" smtClean="0"/>
              <a:t> </a:t>
            </a:r>
            <a:r>
              <a:rPr lang="en-US" dirty="0" err="1" smtClean="0"/>
              <a:t>get_key_and_iv</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shared_key</a:t>
            </a:r>
            <a:r>
              <a:rPr lang="en-US" dirty="0" smtClean="0"/>
              <a:t>: </a:t>
            </a:r>
            <a:r>
              <a:rPr lang="en-US" dirty="0" err="1" smtClean="0"/>
              <a:t>str</a:t>
            </a:r>
            <a:r>
              <a:rPr lang="en-US" dirty="0" smtClean="0"/>
              <a:t>, </a:t>
            </a:r>
            <a:r>
              <a:rPr lang="en-US" dirty="0" err="1" smtClean="0"/>
              <a:t>cipher_name</a:t>
            </a:r>
            <a:r>
              <a:rPr lang="en-US" dirty="0" smtClean="0"/>
              <a:t>: </a:t>
            </a:r>
            <a:r>
              <a:rPr lang="en-US" dirty="0" err="1" smtClean="0"/>
              <a:t>str</a:t>
            </a:r>
            <a:r>
              <a:rPr lang="en-US" dirty="0" smtClean="0"/>
              <a:t>, </a:t>
            </a:r>
            <a:r>
              <a:rPr lang="en-US" dirty="0" err="1" smtClean="0"/>
              <a:t>key_size</a:t>
            </a:r>
            <a:r>
              <a:rPr lang="en-US" dirty="0" smtClean="0"/>
              <a:t>: </a:t>
            </a:r>
            <a:r>
              <a:rPr lang="en-US" dirty="0" err="1" smtClean="0"/>
              <a:t>int</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-&gt; Tuple[object, bytes, bytes]: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"""Get key and IV from the generated shared secret key</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a:t>
            </a:r>
            <a:r>
              <a:rPr lang="en-US" dirty="0" err="1" smtClean="0"/>
              <a:t>shared_key</a:t>
            </a:r>
            <a:r>
              <a:rPr lang="en-US" dirty="0" smtClean="0"/>
              <a:t>: shared key as computed by `</a:t>
            </a:r>
            <a:r>
              <a:rPr lang="en-US" dirty="0" err="1" smtClean="0"/>
              <a:t>diffiehellman</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a:t>
            </a:r>
            <a:r>
              <a:rPr lang="en-US" dirty="0" err="1" smtClean="0"/>
              <a:t>cipher_name</a:t>
            </a:r>
            <a:r>
              <a:rPr lang="en-US" dirty="0" smtClean="0"/>
              <a:t>: negotiated cipher's name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a:t>
            </a:r>
            <a:r>
              <a:rPr lang="en-US" dirty="0" err="1" smtClean="0"/>
              <a:t>key_size</a:t>
            </a:r>
            <a:r>
              <a:rPr lang="en-US" dirty="0" smtClean="0"/>
              <a:t>: negotiated key size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(cipher, key, IV) tuple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cipher_name</a:t>
            </a:r>
            <a:r>
              <a:rPr lang="en-US" dirty="0" smtClean="0"/>
              <a:t> must be mapped to a </a:t>
            </a:r>
            <a:r>
              <a:rPr lang="en-US" dirty="0" err="1" smtClean="0"/>
              <a:t>Crypto.Cipher</a:t>
            </a:r>
            <a:r>
              <a:rPr lang="en-US" dirty="0" smtClean="0"/>
              <a:t> object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`key` is the *first* `</a:t>
            </a:r>
            <a:r>
              <a:rPr lang="en-US" dirty="0" err="1" smtClean="0"/>
              <a:t>key_size</a:t>
            </a:r>
            <a:r>
              <a:rPr lang="en-US" dirty="0" smtClean="0"/>
              <a:t>` bytes of the `</a:t>
            </a:r>
            <a:r>
              <a:rPr lang="en-US" dirty="0" err="1" smtClean="0"/>
              <a:t>shared_key</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DES key must be padded to 64 bits with 0</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Length `</a:t>
            </a:r>
            <a:r>
              <a:rPr lang="en-US" dirty="0" err="1" smtClean="0"/>
              <a:t>ivlen</a:t>
            </a:r>
            <a:r>
              <a:rPr lang="en-US" dirty="0" smtClean="0"/>
              <a:t>` of IV depends on a cipher</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`iv` is the *last* `</a:t>
            </a:r>
            <a:r>
              <a:rPr lang="en-US" dirty="0" err="1" smtClean="0"/>
              <a:t>ivlen</a:t>
            </a:r>
            <a:r>
              <a:rPr lang="en-US" dirty="0" smtClean="0"/>
              <a:t>` bytes of the shared key</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Both key and IV must be returned as bytes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cipher_map</a:t>
            </a:r>
            <a:r>
              <a:rPr lang="en-US" dirty="0" smtClean="0"/>
              <a:t>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"DES": DES, "AES": AES, "Blowfish": Blowfish</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ivlen</a:t>
            </a:r>
            <a:r>
              <a:rPr lang="en-US" dirty="0" smtClean="0"/>
              <a:t> =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"DES": 8, "AES": 16, "Blowfish": 8</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cipher = </a:t>
            </a:r>
            <a:r>
              <a:rPr lang="en-US" dirty="0" err="1" smtClean="0"/>
              <a:t>cipher_map.get</a:t>
            </a:r>
            <a:r>
              <a:rPr lang="en-US" dirty="0" smtClean="0"/>
              <a:t>(</a:t>
            </a:r>
            <a:r>
              <a:rPr lang="en-US" dirty="0" err="1" smtClean="0"/>
              <a:t>cipher_name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key = </a:t>
            </a:r>
            <a:r>
              <a:rPr lang="en-US" dirty="0" err="1" smtClean="0"/>
              <a:t>shared_key</a:t>
            </a:r>
            <a:r>
              <a:rPr lang="en-US" dirty="0" smtClean="0"/>
              <a:t>[:</a:t>
            </a:r>
            <a:r>
              <a:rPr lang="en-US" dirty="0" err="1" smtClean="0"/>
              <a:t>key_size</a:t>
            </a:r>
            <a:r>
              <a:rPr lang="en-US" dirty="0" smtClean="0"/>
              <a:t>//8]</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if </a:t>
            </a:r>
            <a:r>
              <a:rPr lang="en-US" dirty="0" err="1" smtClean="0"/>
              <a:t>cipher_name</a:t>
            </a:r>
            <a:r>
              <a:rPr lang="en-US" dirty="0" smtClean="0"/>
              <a:t> == "DES":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key += '\0'</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key = </a:t>
            </a:r>
            <a:r>
              <a:rPr lang="en-US" dirty="0" err="1" smtClean="0"/>
              <a:t>key.encode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iv = </a:t>
            </a:r>
            <a:r>
              <a:rPr lang="en-US" dirty="0" err="1" smtClean="0"/>
              <a:t>shared_key</a:t>
            </a:r>
            <a:r>
              <a:rPr lang="en-US" dirty="0" smtClean="0"/>
              <a:t>[-1 * </a:t>
            </a:r>
            <a:r>
              <a:rPr lang="en-US" dirty="0" err="1" smtClean="0"/>
              <a:t>ivlen.get</a:t>
            </a:r>
            <a:r>
              <a:rPr lang="en-US" dirty="0" smtClean="0"/>
              <a:t>(</a:t>
            </a:r>
            <a:r>
              <a:rPr lang="en-US" dirty="0" err="1" smtClean="0"/>
              <a:t>cipher_name</a:t>
            </a:r>
            <a:r>
              <a:rPr lang="en-US" dirty="0" smtClean="0"/>
              <a:t>):].encode()</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cipher, key, iv</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err="1" smtClean="0"/>
              <a:t>def</a:t>
            </a:r>
            <a:r>
              <a:rPr lang="en-US" dirty="0" smtClean="0"/>
              <a:t> </a:t>
            </a:r>
            <a:r>
              <a:rPr lang="en-US" dirty="0" err="1" smtClean="0"/>
              <a:t>generate_dhm_response</a:t>
            </a:r>
            <a:r>
              <a:rPr lang="en-US" dirty="0" smtClean="0"/>
              <a:t>(</a:t>
            </a:r>
            <a:r>
              <a:rPr lang="en-US" dirty="0" err="1" smtClean="0"/>
              <a:t>public_key</a:t>
            </a:r>
            <a:r>
              <a:rPr lang="en-US" dirty="0" smtClean="0"/>
              <a:t>: </a:t>
            </a:r>
            <a:r>
              <a:rPr lang="en-US" dirty="0" err="1" smtClean="0"/>
              <a:t>int</a:t>
            </a:r>
            <a:r>
              <a:rPr lang="en-US" dirty="0" smtClean="0"/>
              <a:t>) -&gt; </a:t>
            </a:r>
            <a:r>
              <a:rPr lang="en-US" dirty="0" err="1" smtClean="0"/>
              <a:t>str</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"""Generate DHM key exchange response</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a:t>
            </a:r>
            <a:r>
              <a:rPr lang="en-US" dirty="0" err="1" smtClean="0"/>
              <a:t>public_key</a:t>
            </a:r>
            <a:r>
              <a:rPr lang="en-US" dirty="0" smtClean="0"/>
              <a:t>: public portion of the DHMKE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string according to the specification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'DHMKE:{}'.format(</a:t>
            </a:r>
            <a:r>
              <a:rPr lang="en-US" dirty="0" err="1" smtClean="0"/>
              <a:t>public_key</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err="1" smtClean="0"/>
              <a:t>def</a:t>
            </a:r>
            <a:r>
              <a:rPr lang="en-US" dirty="0" smtClean="0"/>
              <a:t> </a:t>
            </a:r>
            <a:r>
              <a:rPr lang="en-US" dirty="0" err="1" smtClean="0"/>
              <a:t>read_message</a:t>
            </a:r>
            <a:r>
              <a:rPr lang="en-US" dirty="0" smtClean="0"/>
              <a:t>(</a:t>
            </a:r>
            <a:r>
              <a:rPr lang="en-US" dirty="0" err="1" smtClean="0"/>
              <a:t>msg_cipher</a:t>
            </a:r>
            <a:r>
              <a:rPr lang="en-US" dirty="0" smtClean="0"/>
              <a:t>: bytes, crypto: object) -&gt; Tuple[</a:t>
            </a:r>
            <a:r>
              <a:rPr lang="en-US" dirty="0" err="1" smtClean="0"/>
              <a:t>str</a:t>
            </a:r>
            <a:r>
              <a:rPr lang="en-US" dirty="0" smtClean="0"/>
              <a:t>, </a:t>
            </a:r>
            <a:r>
              <a:rPr lang="en-US" dirty="0" err="1" smtClean="0"/>
              <a:t>str</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"""Read the incoming encrypted message</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a:t>
            </a:r>
            <a:r>
              <a:rPr lang="en-US" dirty="0" err="1" smtClean="0"/>
              <a:t>msg_cipher</a:t>
            </a:r>
            <a:r>
              <a:rPr lang="en-US" dirty="0" smtClean="0"/>
              <a:t>: encrypted message from the socket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:crypto: chosen cipher, must be initialized in the `main`</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(plaintext, </a:t>
            </a:r>
            <a:r>
              <a:rPr lang="en-US" dirty="0" err="1" smtClean="0"/>
              <a:t>hmac</a:t>
            </a:r>
            <a:r>
              <a:rPr lang="en-US" dirty="0" smtClean="0"/>
              <a:t>) tuple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ciph_in</a:t>
            </a:r>
            <a:r>
              <a:rPr lang="en-US" dirty="0" smtClean="0"/>
              <a:t> = </a:t>
            </a:r>
            <a:r>
              <a:rPr lang="en-US" dirty="0" err="1" smtClean="0"/>
              <a:t>msg_cipher</a:t>
            </a:r>
            <a:r>
              <a:rPr lang="en-US" dirty="0" smtClean="0"/>
              <a:t>[:-64]</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hmac</a:t>
            </a:r>
            <a:r>
              <a:rPr lang="en-US" dirty="0" smtClean="0"/>
              <a:t> = </a:t>
            </a:r>
            <a:r>
              <a:rPr lang="en-US" dirty="0" err="1" smtClean="0"/>
              <a:t>msg_cipher</a:t>
            </a:r>
            <a:r>
              <a:rPr lang="en-US" dirty="0" smtClean="0"/>
              <a:t>[-64:].decode('utf-8')</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plaintext = </a:t>
            </a:r>
            <a:r>
              <a:rPr lang="en-US" dirty="0" err="1" smtClean="0"/>
              <a:t>crypto.decrypt</a:t>
            </a:r>
            <a:r>
              <a:rPr lang="en-US" dirty="0" smtClean="0"/>
              <a:t>(</a:t>
            </a:r>
            <a:r>
              <a:rPr lang="en-US" dirty="0" err="1" smtClean="0"/>
              <a:t>ciph_in</a:t>
            </a:r>
            <a:r>
              <a:rPr lang="en-US" dirty="0" smtClean="0"/>
              <a:t>).decode('utf-8')</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plaintext = </a:t>
            </a:r>
            <a:r>
              <a:rPr lang="en-US" dirty="0" err="1" smtClean="0"/>
              <a:t>plaintext.strip</a:t>
            </a:r>
            <a:r>
              <a:rPr lang="en-US" dirty="0" smtClean="0"/>
              <a:t>('\0')</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plaintext, </a:t>
            </a:r>
            <a:r>
              <a:rPr lang="en-US" dirty="0" err="1" smtClean="0"/>
              <a:t>hmac</a:t>
            </a: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err="1" smtClean="0"/>
              <a:t>def</a:t>
            </a:r>
            <a:r>
              <a:rPr lang="en-US" dirty="0" smtClean="0"/>
              <a:t> </a:t>
            </a:r>
            <a:r>
              <a:rPr lang="en-US" dirty="0" err="1" smtClean="0"/>
              <a:t>validate_hmac</a:t>
            </a:r>
            <a:r>
              <a:rPr lang="en-US" dirty="0" smtClean="0"/>
              <a:t>(</a:t>
            </a:r>
            <a:r>
              <a:rPr lang="en-US" dirty="0" err="1" smtClean="0"/>
              <a:t>msg_cipher</a:t>
            </a:r>
            <a:r>
              <a:rPr lang="en-US" dirty="0" smtClean="0"/>
              <a:t>: bytes, </a:t>
            </a:r>
            <a:r>
              <a:rPr lang="en-US" dirty="0" err="1" smtClean="0"/>
              <a:t>hmac_in</a:t>
            </a:r>
            <a:r>
              <a:rPr lang="en-US" dirty="0" smtClean="0"/>
              <a:t>: </a:t>
            </a:r>
            <a:r>
              <a:rPr lang="en-US" dirty="0" err="1" smtClean="0"/>
              <a:t>str</a:t>
            </a:r>
            <a:r>
              <a:rPr lang="en-US" dirty="0" smtClean="0"/>
              <a:t>, hashing: object) -&gt; bool:</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"""Validate HMAC</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a:t>
            </a:r>
            <a:r>
              <a:rPr lang="en-US" dirty="0" err="1" smtClean="0"/>
              <a:t>msg_cipher</a:t>
            </a:r>
            <a:r>
              <a:rPr lang="en-US" dirty="0" smtClean="0"/>
              <a:t>: encrypted message from the socket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a:t>
            </a:r>
            <a:r>
              <a:rPr lang="en-US" dirty="0" err="1" smtClean="0"/>
              <a:t>hmac_in</a:t>
            </a:r>
            <a:r>
              <a:rPr lang="en-US" dirty="0" smtClean="0"/>
              <a:t>: HMAC received from the client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param</a:t>
            </a:r>
            <a:r>
              <a:rPr lang="en-US" dirty="0" smtClean="0"/>
              <a:t> hashing: hashing object, must be initialized in the `main`</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:raise: </a:t>
            </a:r>
            <a:r>
              <a:rPr lang="en-US" dirty="0" err="1" smtClean="0"/>
              <a:t>ValueError</a:t>
            </a:r>
            <a:r>
              <a:rPr lang="en-US" dirty="0" smtClean="0"/>
              <a:t> is HMAC is invalid</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ciphertext</a:t>
            </a:r>
            <a:r>
              <a:rPr lang="en-US" dirty="0" smtClean="0"/>
              <a:t> = </a:t>
            </a:r>
            <a:r>
              <a:rPr lang="en-US" dirty="0" err="1" smtClean="0"/>
              <a:t>msg_cipher</a:t>
            </a:r>
            <a:r>
              <a:rPr lang="en-US" dirty="0" smtClean="0"/>
              <a:t>[:-64]</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hashing.update</a:t>
            </a:r>
            <a:r>
              <a:rPr lang="en-US" dirty="0" smtClean="0"/>
              <a:t>(</a:t>
            </a:r>
            <a:r>
              <a:rPr lang="en-US" dirty="0" err="1" smtClean="0"/>
              <a:t>ciphertext</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hashvalue</a:t>
            </a:r>
            <a:r>
              <a:rPr lang="en-US" dirty="0" smtClean="0"/>
              <a:t> = </a:t>
            </a:r>
            <a:r>
              <a:rPr lang="en-US" dirty="0" err="1" smtClean="0"/>
              <a:t>hashing.hexdigest</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if </a:t>
            </a:r>
            <a:r>
              <a:rPr lang="en-US" dirty="0" err="1" smtClean="0"/>
              <a:t>hashvalue</a:t>
            </a:r>
            <a:r>
              <a:rPr lang="en-US" dirty="0" smtClean="0"/>
              <a:t> == </a:t>
            </a:r>
            <a:r>
              <a:rPr lang="en-US" dirty="0" err="1" smtClean="0"/>
              <a:t>hmac_in</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return True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else: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raise </a:t>
            </a:r>
            <a:r>
              <a:rPr lang="en-US" dirty="0" err="1" smtClean="0"/>
              <a:t>ValueError</a:t>
            </a:r>
            <a:r>
              <a:rPr lang="en-US" dirty="0" smtClean="0"/>
              <a:t>('Bad HMAC')</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err="1" smtClean="0"/>
              <a:t>def</a:t>
            </a:r>
            <a:r>
              <a:rPr lang="en-US" dirty="0" smtClean="0"/>
              <a:t> main():</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"""Main loop</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See vpn.md for details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 Create the socket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server_sckt</a:t>
            </a:r>
            <a:r>
              <a:rPr lang="en-US" dirty="0" smtClean="0"/>
              <a:t> = socket(AF_INET, SOCK_STREAM)</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server_sckt.setsockopt</a:t>
            </a:r>
            <a:r>
              <a:rPr lang="en-US" dirty="0" smtClean="0"/>
              <a:t>(SOL_SOCKET, SO_REUSEADDR, 1)</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server_sckt.bind</a:t>
            </a:r>
            <a:r>
              <a:rPr lang="en-US" dirty="0" smtClean="0"/>
              <a:t>((HOST, PORT))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server_sckt.listen</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print(</a:t>
            </a:r>
            <a:r>
              <a:rPr lang="en-US" dirty="0" err="1" smtClean="0"/>
              <a:t>f"Listening</a:t>
            </a:r>
            <a:r>
              <a:rPr lang="en-US" dirty="0" smtClean="0"/>
              <a:t> on {HOST}:{PORT}")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conn, client = </a:t>
            </a:r>
            <a:r>
              <a:rPr lang="en-US" dirty="0" err="1" smtClean="0"/>
              <a:t>server_sckt.accept</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print(</a:t>
            </a:r>
            <a:r>
              <a:rPr lang="en-US" dirty="0" err="1" smtClean="0"/>
              <a:t>f"New</a:t>
            </a:r>
            <a:r>
              <a:rPr lang="en-US" dirty="0" smtClean="0"/>
              <a:t> client: {client[0]}:{client[1]}")</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 Negotiating the cipher</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print("Negotiating the cipher")</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msg_in</a:t>
            </a:r>
            <a:r>
              <a:rPr lang="en-US" dirty="0" smtClean="0"/>
              <a:t> = </a:t>
            </a:r>
            <a:r>
              <a:rPr lang="en-US" dirty="0" err="1" smtClean="0"/>
              <a:t>conn.recv</a:t>
            </a:r>
            <a:r>
              <a:rPr lang="en-US" dirty="0" smtClean="0"/>
              <a:t>(4096).decode('utf-8')</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proposed = </a:t>
            </a:r>
            <a:r>
              <a:rPr lang="en-US" dirty="0" err="1" smtClean="0"/>
              <a:t>parse_proposal</a:t>
            </a:r>
            <a:r>
              <a:rPr lang="en-US" dirty="0" smtClean="0"/>
              <a:t>(</a:t>
            </a:r>
            <a:r>
              <a:rPr lang="en-US" dirty="0" err="1" smtClean="0"/>
              <a:t>msg_in</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cipher_name</a:t>
            </a:r>
            <a:r>
              <a:rPr lang="en-US" dirty="0" smtClean="0"/>
              <a:t>, </a:t>
            </a:r>
            <a:r>
              <a:rPr lang="en-US" dirty="0" err="1" smtClean="0"/>
              <a:t>key_size</a:t>
            </a:r>
            <a:r>
              <a:rPr lang="en-US" dirty="0" smtClean="0"/>
              <a:t> = </a:t>
            </a:r>
            <a:r>
              <a:rPr lang="en-US" dirty="0" err="1" smtClean="0"/>
              <a:t>select_cipher</a:t>
            </a:r>
            <a:r>
              <a:rPr lang="en-US" dirty="0" smtClean="0"/>
              <a:t>(SUPPORTED_CIPHERS, proposed)</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print(</a:t>
            </a:r>
            <a:r>
              <a:rPr lang="en-US" dirty="0" err="1" smtClean="0"/>
              <a:t>f"We</a:t>
            </a:r>
            <a:r>
              <a:rPr lang="en-US" dirty="0" smtClean="0"/>
              <a:t> are going to use {</a:t>
            </a:r>
            <a:r>
              <a:rPr lang="en-US" dirty="0" err="1" smtClean="0"/>
              <a:t>cipher_name</a:t>
            </a:r>
            <a:r>
              <a:rPr lang="en-US" dirty="0" smtClean="0"/>
              <a:t>}{</a:t>
            </a:r>
            <a:r>
              <a:rPr lang="en-US" dirty="0" err="1" smtClean="0"/>
              <a:t>key_size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msg_out</a:t>
            </a:r>
            <a:r>
              <a:rPr lang="en-US" dirty="0" smtClean="0"/>
              <a:t> = </a:t>
            </a:r>
            <a:r>
              <a:rPr lang="en-US" dirty="0" err="1" smtClean="0"/>
              <a:t>generate_cipher_response</a:t>
            </a:r>
            <a:r>
              <a:rPr lang="en-US" dirty="0" smtClean="0"/>
              <a:t>(</a:t>
            </a:r>
            <a:r>
              <a:rPr lang="en-US" dirty="0" err="1" smtClean="0"/>
              <a:t>cipher_name</a:t>
            </a:r>
            <a:r>
              <a:rPr lang="en-US" dirty="0" smtClean="0"/>
              <a:t>, </a:t>
            </a:r>
            <a:r>
              <a:rPr lang="en-US" dirty="0" err="1" smtClean="0"/>
              <a:t>key_size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conn.send</a:t>
            </a:r>
            <a:r>
              <a:rPr lang="en-US" dirty="0" smtClean="0"/>
              <a:t>(</a:t>
            </a:r>
            <a:r>
              <a:rPr lang="en-US" dirty="0" err="1" smtClean="0"/>
              <a:t>msg_out.encode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 Negotiating the key</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print("Negotiating the key")</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dh = </a:t>
            </a:r>
            <a:r>
              <a:rPr lang="en-US" dirty="0" err="1" smtClean="0"/>
              <a:t>DiffieHellman</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dh.generate_public_key</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msg_in</a:t>
            </a:r>
            <a:r>
              <a:rPr lang="en-US" dirty="0" smtClean="0"/>
              <a:t> = </a:t>
            </a:r>
            <a:r>
              <a:rPr lang="en-US" dirty="0" err="1" smtClean="0"/>
              <a:t>conn.recv</a:t>
            </a:r>
            <a:r>
              <a:rPr lang="en-US" dirty="0" smtClean="0"/>
              <a:t>(4096).decode('utf-8')</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client_public_key</a:t>
            </a:r>
            <a:r>
              <a:rPr lang="en-US" dirty="0" smtClean="0"/>
              <a:t> = </a:t>
            </a:r>
            <a:r>
              <a:rPr lang="en-US" dirty="0" err="1" smtClean="0"/>
              <a:t>parse_dhm_request</a:t>
            </a:r>
            <a:r>
              <a:rPr lang="en-US" dirty="0" smtClean="0"/>
              <a:t>(</a:t>
            </a:r>
            <a:r>
              <a:rPr lang="en-US" dirty="0" err="1" smtClean="0"/>
              <a:t>msg_in</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dh.generate_shared_secret</a:t>
            </a:r>
            <a:r>
              <a:rPr lang="en-US" dirty="0" smtClean="0"/>
              <a:t>(</a:t>
            </a:r>
            <a:r>
              <a:rPr lang="en-US" dirty="0" err="1" smtClean="0"/>
              <a:t>client_public_key</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msg_out</a:t>
            </a:r>
            <a:r>
              <a:rPr lang="en-US" dirty="0" smtClean="0"/>
              <a:t> = </a:t>
            </a:r>
            <a:r>
              <a:rPr lang="en-US" dirty="0" err="1" smtClean="0"/>
              <a:t>generate_dhm_response</a:t>
            </a:r>
            <a:r>
              <a:rPr lang="en-US" dirty="0" smtClean="0"/>
              <a:t>(</a:t>
            </a:r>
            <a:r>
              <a:rPr lang="en-US" dirty="0" err="1" smtClean="0"/>
              <a:t>dh.public_key</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conn.send</a:t>
            </a:r>
            <a:r>
              <a:rPr lang="en-US" dirty="0" smtClean="0"/>
              <a:t>(</a:t>
            </a:r>
            <a:r>
              <a:rPr lang="en-US" dirty="0" err="1" smtClean="0"/>
              <a:t>msg_out.encode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cipher, key, iv = </a:t>
            </a:r>
            <a:r>
              <a:rPr lang="en-US" dirty="0" err="1" smtClean="0"/>
              <a:t>get_key_and_iv</a:t>
            </a:r>
            <a:r>
              <a:rPr lang="en-US" dirty="0" smtClean="0"/>
              <a:t>(</a:t>
            </a:r>
            <a:r>
              <a:rPr lang="en-US" dirty="0" err="1" smtClean="0"/>
              <a:t>dh.shared_key</a:t>
            </a:r>
            <a:r>
              <a:rPr lang="en-US" dirty="0" smtClean="0"/>
              <a:t>, </a:t>
            </a:r>
            <a:r>
              <a:rPr lang="en-US" dirty="0" err="1" smtClean="0"/>
              <a:t>cipher_name</a:t>
            </a:r>
            <a:r>
              <a:rPr lang="en-US" dirty="0" smtClean="0"/>
              <a:t>, </a:t>
            </a:r>
            <a:r>
              <a:rPr lang="en-US" dirty="0" err="1" smtClean="0"/>
              <a:t>key_size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print("The key has been established")</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print("Initializing cryptosystem")</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crypto = </a:t>
            </a:r>
            <a:r>
              <a:rPr lang="en-US" dirty="0" err="1" smtClean="0"/>
              <a:t>cipher.new</a:t>
            </a:r>
            <a:r>
              <a:rPr lang="en-US" dirty="0" smtClean="0"/>
              <a:t>(key, </a:t>
            </a:r>
            <a:r>
              <a:rPr lang="en-US" dirty="0" err="1" smtClean="0"/>
              <a:t>cipher.MODE_CBC</a:t>
            </a:r>
            <a:r>
              <a:rPr lang="en-US" dirty="0" smtClean="0"/>
              <a:t>, iv)</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hashing = </a:t>
            </a:r>
            <a:r>
              <a:rPr lang="en-US" dirty="0" err="1" smtClean="0"/>
              <a:t>HMAC.new</a:t>
            </a:r>
            <a:r>
              <a:rPr lang="en-US" dirty="0" smtClean="0"/>
              <a:t>(key, </a:t>
            </a:r>
            <a:r>
              <a:rPr lang="en-US" dirty="0" err="1" smtClean="0"/>
              <a:t>digestmod</a:t>
            </a:r>
            <a:r>
              <a:rPr lang="en-US" dirty="0" smtClean="0"/>
              <a:t>=SHA256)</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print("All systems ready")</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while True:</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msg_in</a:t>
            </a:r>
            <a:r>
              <a:rPr lang="en-US" dirty="0" smtClean="0"/>
              <a:t> = </a:t>
            </a:r>
            <a:r>
              <a:rPr lang="en-US" dirty="0" err="1" smtClean="0"/>
              <a:t>conn.recv</a:t>
            </a:r>
            <a:r>
              <a:rPr lang="en-US" dirty="0" smtClean="0"/>
              <a:t>(4096)</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if </a:t>
            </a:r>
            <a:r>
              <a:rPr lang="en-US" dirty="0" err="1" smtClean="0"/>
              <a:t>len</a:t>
            </a:r>
            <a:r>
              <a:rPr lang="en-US" dirty="0" smtClean="0"/>
              <a:t>(</a:t>
            </a:r>
            <a:r>
              <a:rPr lang="en-US" dirty="0" err="1" smtClean="0"/>
              <a:t>msg_in</a:t>
            </a:r>
            <a:r>
              <a:rPr lang="en-US" dirty="0" smtClean="0"/>
              <a:t>) &lt; 1:</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conn.close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break</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msg</a:t>
            </a:r>
            <a:r>
              <a:rPr lang="en-US" dirty="0" smtClean="0"/>
              <a:t>, </a:t>
            </a:r>
            <a:r>
              <a:rPr lang="en-US" dirty="0" err="1" smtClean="0"/>
              <a:t>hmac</a:t>
            </a:r>
            <a:r>
              <a:rPr lang="en-US" dirty="0" smtClean="0"/>
              <a:t> = </a:t>
            </a:r>
            <a:r>
              <a:rPr lang="en-US" dirty="0" err="1" smtClean="0"/>
              <a:t>read_message</a:t>
            </a:r>
            <a:r>
              <a:rPr lang="en-US" dirty="0" smtClean="0"/>
              <a:t>(</a:t>
            </a:r>
            <a:r>
              <a:rPr lang="en-US" dirty="0" err="1" smtClean="0"/>
              <a:t>msg_in</a:t>
            </a:r>
            <a:r>
              <a:rPr lang="en-US" dirty="0" smtClean="0"/>
              <a:t>, crypto)</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validate_hmac</a:t>
            </a:r>
            <a:r>
              <a:rPr lang="en-US" dirty="0" smtClean="0"/>
              <a:t>(</a:t>
            </a:r>
            <a:r>
              <a:rPr lang="en-US" dirty="0" err="1" smtClean="0"/>
              <a:t>msg_in</a:t>
            </a:r>
            <a:r>
              <a:rPr lang="en-US" dirty="0" smtClean="0"/>
              <a:t>, </a:t>
            </a:r>
            <a:r>
              <a:rPr lang="en-US" dirty="0" err="1" smtClean="0"/>
              <a:t>hmac</a:t>
            </a:r>
            <a:r>
              <a:rPr lang="en-US" dirty="0" smtClean="0"/>
              <a:t>, hashing)</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print(</a:t>
            </a:r>
            <a:r>
              <a:rPr lang="en-US" dirty="0" err="1" smtClean="0"/>
              <a:t>f"Received</a:t>
            </a:r>
            <a:r>
              <a:rPr lang="en-US" dirty="0" smtClean="0"/>
              <a:t>: {</a:t>
            </a:r>
            <a:r>
              <a:rPr lang="en-US" dirty="0" err="1" smtClean="0"/>
              <a:t>msg</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msg_out</a:t>
            </a:r>
            <a:r>
              <a:rPr lang="en-US" dirty="0" smtClean="0"/>
              <a:t> = </a:t>
            </a:r>
            <a:r>
              <a:rPr lang="en-US" dirty="0" err="1" smtClean="0"/>
              <a:t>f"Server</a:t>
            </a:r>
            <a:r>
              <a:rPr lang="en-US" dirty="0" smtClean="0"/>
              <a:t> says: {</a:t>
            </a:r>
            <a:r>
              <a:rPr lang="en-US" dirty="0" err="1" smtClean="0"/>
              <a:t>msg</a:t>
            </a:r>
            <a:r>
              <a:rPr lang="en-US" dirty="0" smtClean="0"/>
              <a:t>[::-1]}"</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a:t>
            </a:r>
            <a:r>
              <a:rPr lang="en-US" dirty="0" err="1" smtClean="0"/>
              <a:t>conn.send</a:t>
            </a:r>
            <a:r>
              <a:rPr lang="en-US" dirty="0" smtClean="0"/>
              <a:t>(</a:t>
            </a:r>
            <a:r>
              <a:rPr lang="en-US" dirty="0" err="1" smtClean="0"/>
              <a:t>msg_out.encode</a:t>
            </a:r>
            <a:r>
              <a:rPr lang="en-US" dirty="0" smtClean="0"/>
              <a:t>())</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if __name__ == "__main__":</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smtClean="0"/>
              <a:t>    main()</a:t>
            </a:r>
            <a:endParaRPr lang="en-US" dirty="0"/>
          </a:p>
        </p:txBody>
      </p:sp>
    </p:spTree>
    <p:extLst>
      <p:ext uri="{BB962C8B-B14F-4D97-AF65-F5344CB8AC3E}">
        <p14:creationId xmlns:p14="http://schemas.microsoft.com/office/powerpoint/2010/main" val="39026841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8: VPN and IPsec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VPN and IPsec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VPNs and IPsec are used to secure site-to-site and remote access connectivity</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36554377"/>
              </p:ext>
            </p:extLst>
          </p:nvPr>
        </p:nvGraphicFramePr>
        <p:xfrm>
          <a:off x="766914" y="1892353"/>
          <a:ext cx="7604088" cy="1434780"/>
        </p:xfrm>
        <a:graphic>
          <a:graphicData uri="http://schemas.openxmlformats.org/drawingml/2006/table">
            <a:tbl>
              <a:tblPr firstRow="1" firstCol="1" bandRow="1">
                <a:tableStyleId>{5C22544A-7EE6-4342-B048-85BDC9FD1C3A}</a:tableStyleId>
              </a:tblPr>
              <a:tblGrid>
                <a:gridCol w="2325202">
                  <a:extLst>
                    <a:ext uri="{9D8B030D-6E8A-4147-A177-3AD203B41FA5}">
                      <a16:colId xmlns:a16="http://schemas.microsoft.com/office/drawing/2014/main" val="1523797708"/>
                    </a:ext>
                  </a:extLst>
                </a:gridCol>
                <a:gridCol w="5278886">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6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62501">
                <a:tc>
                  <a:txBody>
                    <a:bodyPr/>
                    <a:lstStyle/>
                    <a:p>
                      <a:pPr marL="0" marR="0">
                        <a:lnSpc>
                          <a:spcPct val="107000"/>
                        </a:lnSpc>
                        <a:spcBef>
                          <a:spcPts val="0"/>
                        </a:spcBef>
                        <a:spcAft>
                          <a:spcPts val="0"/>
                        </a:spcAft>
                      </a:pPr>
                      <a:r>
                        <a:rPr lang="en-US" sz="1600" dirty="0">
                          <a:effectLst/>
                        </a:rPr>
                        <a:t>VPN Technology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effectLst/>
                        </a:rPr>
                        <a:t>Describe the benefits of VPN technology.</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600" dirty="0">
                          <a:effectLst/>
                        </a:rPr>
                        <a:t>Types of VPNs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Describe different types of VPNs.</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600" dirty="0">
                          <a:effectLst/>
                        </a:rPr>
                        <a:t>IPsec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Explain how the IPsec framework is used to secure network traffic.</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8.1 VPN Technology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r>
              <a:rPr lang="en-US" dirty="0"/>
              <a:t/>
            </a:r>
            <a:br>
              <a:rPr lang="en-US" dirty="0"/>
            </a:br>
            <a:r>
              <a:rPr lang="en-US" sz="2400" dirty="0"/>
              <a:t>Virtual Private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033703" cy="3759111"/>
          </a:xfrm>
        </p:spPr>
        <p:txBody>
          <a:bodyPr/>
          <a:lstStyle/>
          <a:p>
            <a:pPr marL="342900" indent="-342900" algn="l">
              <a:buFont typeface="Arial" panose="020B0604020202020204" pitchFamily="34" charset="0"/>
              <a:buChar char="•"/>
            </a:pPr>
            <a:r>
              <a:rPr lang="en-US" sz="1600" dirty="0">
                <a:solidFill>
                  <a:srgbClr val="000000"/>
                </a:solidFill>
              </a:rPr>
              <a:t>Virtual private networks (VPNs) to create end-to-end private network connections.</a:t>
            </a:r>
          </a:p>
          <a:p>
            <a:pPr marL="342900" indent="-342900" algn="l">
              <a:buFont typeface="Arial" panose="020B0604020202020204" pitchFamily="34" charset="0"/>
              <a:buChar char="•"/>
            </a:pPr>
            <a:r>
              <a:rPr lang="en-US" sz="1600" dirty="0">
                <a:solidFill>
                  <a:srgbClr val="000000"/>
                </a:solidFill>
              </a:rPr>
              <a:t>A VPN is virtual in that it carries information within a private network, but that information is actually transported over a public network.</a:t>
            </a:r>
          </a:p>
          <a:p>
            <a:pPr marL="342900" indent="-342900" algn="l">
              <a:buFont typeface="Arial" panose="020B0604020202020204" pitchFamily="34" charset="0"/>
              <a:buChar char="•"/>
            </a:pPr>
            <a:r>
              <a:rPr lang="en-US" sz="1600" dirty="0">
                <a:solidFill>
                  <a:srgbClr val="000000"/>
                </a:solidFill>
              </a:rPr>
              <a:t>A VPN is private in that the traffic is encrypted to keep the data confidential while it is transported across the public network.</a:t>
            </a:r>
          </a:p>
        </p:txBody>
      </p:sp>
      <p:pic>
        <p:nvPicPr>
          <p:cNvPr id="6" name="Picture 5">
            <a:extLst>
              <a:ext uri="{FF2B5EF4-FFF2-40B4-BE49-F238E27FC236}">
                <a16:creationId xmlns:a16="http://schemas.microsoft.com/office/drawing/2014/main" id="{2AAFB923-3AB6-434B-B4FA-990F94B0853C}"/>
              </a:ext>
            </a:extLst>
          </p:cNvPr>
          <p:cNvPicPr>
            <a:picLocks noChangeAspect="1"/>
          </p:cNvPicPr>
          <p:nvPr/>
        </p:nvPicPr>
        <p:blipFill>
          <a:blip r:embed="rId3"/>
          <a:stretch>
            <a:fillRect/>
          </a:stretch>
        </p:blipFill>
        <p:spPr>
          <a:xfrm>
            <a:off x="4465674" y="855418"/>
            <a:ext cx="4055108" cy="290228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r>
              <a:rPr lang="en-US" dirty="0"/>
              <a:t/>
            </a:r>
            <a:br>
              <a:rPr lang="en-US" dirty="0"/>
            </a:br>
            <a:r>
              <a:rPr lang="en-US" sz="2400" dirty="0"/>
              <a:t>VPN Benefits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399" cy="952117"/>
          </a:xfrm>
        </p:spPr>
        <p:txBody>
          <a:bodyPr/>
          <a:lstStyle/>
          <a:p>
            <a:pPr marL="285750" indent="-285750" algn="l">
              <a:buFont typeface="Arial" panose="020B0604020202020204" pitchFamily="34" charset="0"/>
              <a:buChar char="•"/>
            </a:pPr>
            <a:r>
              <a:rPr lang="en-US" sz="1600" dirty="0">
                <a:solidFill>
                  <a:srgbClr val="000000"/>
                </a:solidFill>
              </a:rPr>
              <a:t>Modern VPNs now support encryption features, such as Internet Protocol Security (IPsec) and Secure Sockets Layer (SSL) VPNs to secure network traffic between sites.</a:t>
            </a:r>
          </a:p>
          <a:p>
            <a:pPr marL="285750" indent="-285750" algn="l">
              <a:buFont typeface="Arial" panose="020B0604020202020204" pitchFamily="34" charset="0"/>
              <a:buChar char="•"/>
            </a:pPr>
            <a:r>
              <a:rPr lang="en-US" sz="1600" dirty="0">
                <a:solidFill>
                  <a:srgbClr val="000000"/>
                </a:solidFill>
              </a:rPr>
              <a:t>Major benefits of VPNs are shown in the table:</a:t>
            </a:r>
          </a:p>
        </p:txBody>
      </p:sp>
      <p:graphicFrame>
        <p:nvGraphicFramePr>
          <p:cNvPr id="5" name="Content Placeholder 6">
            <a:extLst>
              <a:ext uri="{FF2B5EF4-FFF2-40B4-BE49-F238E27FC236}">
                <a16:creationId xmlns:a16="http://schemas.microsoft.com/office/drawing/2014/main" id="{2F798802-014A-47D2-99CA-CBFCCDD79014}"/>
              </a:ext>
            </a:extLst>
          </p:cNvPr>
          <p:cNvGraphicFramePr>
            <a:graphicFrameLocks/>
          </p:cNvGraphicFramePr>
          <p:nvPr>
            <p:extLst>
              <p:ext uri="{D42A27DB-BD31-4B8C-83A1-F6EECF244321}">
                <p14:modId xmlns:p14="http://schemas.microsoft.com/office/powerpoint/2010/main" val="3118306451"/>
              </p:ext>
            </p:extLst>
          </p:nvPr>
        </p:nvGraphicFramePr>
        <p:xfrm>
          <a:off x="431971" y="1957689"/>
          <a:ext cx="8280399" cy="2509520"/>
        </p:xfrm>
        <a:graphic>
          <a:graphicData uri="http://schemas.openxmlformats.org/drawingml/2006/table">
            <a:tbl>
              <a:tblPr firstRow="1" bandRow="1">
                <a:tableStyleId>{5C22544A-7EE6-4342-B048-85BDC9FD1C3A}</a:tableStyleId>
              </a:tblPr>
              <a:tblGrid>
                <a:gridCol w="1311608">
                  <a:extLst>
                    <a:ext uri="{9D8B030D-6E8A-4147-A177-3AD203B41FA5}">
                      <a16:colId xmlns:a16="http://schemas.microsoft.com/office/drawing/2014/main" val="3729139006"/>
                    </a:ext>
                  </a:extLst>
                </a:gridCol>
                <a:gridCol w="6968791">
                  <a:extLst>
                    <a:ext uri="{9D8B030D-6E8A-4147-A177-3AD203B41FA5}">
                      <a16:colId xmlns:a16="http://schemas.microsoft.com/office/drawing/2014/main" val="2623022619"/>
                    </a:ext>
                  </a:extLst>
                </a:gridCol>
              </a:tblGrid>
              <a:tr h="370840">
                <a:tc>
                  <a:txBody>
                    <a:bodyPr/>
                    <a:lstStyle/>
                    <a:p>
                      <a:r>
                        <a:rPr lang="en-US" dirty="0"/>
                        <a:t>Benefit</a:t>
                      </a:r>
                    </a:p>
                  </a:txBody>
                  <a:tcPr/>
                </a:tc>
                <a:tc>
                  <a:txBody>
                    <a:bodyPr/>
                    <a:lstStyle/>
                    <a:p>
                      <a:r>
                        <a:rPr lang="en-US" dirty="0"/>
                        <a:t>Description</a:t>
                      </a:r>
                    </a:p>
                  </a:txBody>
                  <a:tcPr/>
                </a:tc>
                <a:extLst>
                  <a:ext uri="{0D108BD9-81ED-4DB2-BD59-A6C34878D82A}">
                    <a16:rowId xmlns:a16="http://schemas.microsoft.com/office/drawing/2014/main" val="2583676789"/>
                  </a:ext>
                </a:extLst>
              </a:tr>
              <a:tr h="370840">
                <a:tc>
                  <a:txBody>
                    <a:bodyPr/>
                    <a:lstStyle/>
                    <a:p>
                      <a:r>
                        <a:rPr lang="en-US" b="1" dirty="0">
                          <a:solidFill>
                            <a:srgbClr val="000000"/>
                          </a:solidFill>
                        </a:rPr>
                        <a:t>Cost Savings</a:t>
                      </a:r>
                    </a:p>
                  </a:txBody>
                  <a:tcPr/>
                </a:tc>
                <a:tc>
                  <a:txBody>
                    <a:bodyPr/>
                    <a:lstStyle/>
                    <a:p>
                      <a:r>
                        <a:rPr lang="en-US" dirty="0"/>
                        <a:t>Organizations can use VPNs to reduce their connectivity costs while simultaneously increasing remote connection bandwidth.</a:t>
                      </a:r>
                      <a:endParaRPr lang="en-US" dirty="0">
                        <a:solidFill>
                          <a:srgbClr val="000000"/>
                        </a:solidFill>
                      </a:endParaRPr>
                    </a:p>
                  </a:txBody>
                  <a:tcPr/>
                </a:tc>
                <a:extLst>
                  <a:ext uri="{0D108BD9-81ED-4DB2-BD59-A6C34878D82A}">
                    <a16:rowId xmlns:a16="http://schemas.microsoft.com/office/drawing/2014/main" val="3849654457"/>
                  </a:ext>
                </a:extLst>
              </a:tr>
              <a:tr h="370840">
                <a:tc>
                  <a:txBody>
                    <a:bodyPr/>
                    <a:lstStyle/>
                    <a:p>
                      <a:r>
                        <a:rPr lang="en-US" b="1" dirty="0">
                          <a:solidFill>
                            <a:srgbClr val="000000"/>
                          </a:solidFill>
                        </a:rPr>
                        <a:t>Security</a:t>
                      </a:r>
                    </a:p>
                  </a:txBody>
                  <a:tcPr/>
                </a:tc>
                <a:tc>
                  <a:txBody>
                    <a:bodyPr/>
                    <a:lstStyle/>
                    <a:p>
                      <a:r>
                        <a:rPr lang="en-US" dirty="0"/>
                        <a:t>Encryption and authentication protocols protect data from unauthorized access.</a:t>
                      </a:r>
                      <a:endParaRPr lang="en-US" dirty="0">
                        <a:solidFill>
                          <a:srgbClr val="000000"/>
                        </a:solidFill>
                      </a:endParaRPr>
                    </a:p>
                  </a:txBody>
                  <a:tcPr/>
                </a:tc>
                <a:extLst>
                  <a:ext uri="{0D108BD9-81ED-4DB2-BD59-A6C34878D82A}">
                    <a16:rowId xmlns:a16="http://schemas.microsoft.com/office/drawing/2014/main" val="235735172"/>
                  </a:ext>
                </a:extLst>
              </a:tr>
              <a:tr h="370840">
                <a:tc>
                  <a:txBody>
                    <a:bodyPr/>
                    <a:lstStyle/>
                    <a:p>
                      <a:r>
                        <a:rPr lang="en-US" b="1" dirty="0">
                          <a:solidFill>
                            <a:srgbClr val="000000"/>
                          </a:solidFill>
                        </a:rPr>
                        <a:t>Scalability</a:t>
                      </a:r>
                    </a:p>
                  </a:txBody>
                  <a:tcPr/>
                </a:tc>
                <a:tc>
                  <a:txBody>
                    <a:bodyPr/>
                    <a:lstStyle/>
                    <a:p>
                      <a:r>
                        <a:rPr lang="en-US" dirty="0"/>
                        <a:t>VPNs allow organizations to use the internet, making it easy to add new users without adding significant infrastructure.</a:t>
                      </a:r>
                      <a:endParaRPr lang="en-US" dirty="0">
                        <a:solidFill>
                          <a:srgbClr val="000000"/>
                        </a:solidFill>
                      </a:endParaRPr>
                    </a:p>
                  </a:txBody>
                  <a:tcPr/>
                </a:tc>
                <a:extLst>
                  <a:ext uri="{0D108BD9-81ED-4DB2-BD59-A6C34878D82A}">
                    <a16:rowId xmlns:a16="http://schemas.microsoft.com/office/drawing/2014/main" val="354468046"/>
                  </a:ext>
                </a:extLst>
              </a:tr>
              <a:tr h="370840">
                <a:tc>
                  <a:txBody>
                    <a:bodyPr/>
                    <a:lstStyle/>
                    <a:p>
                      <a:r>
                        <a:rPr lang="en-US" b="1" dirty="0">
                          <a:solidFill>
                            <a:srgbClr val="000000"/>
                          </a:solidFill>
                        </a:rPr>
                        <a:t>Compatibility</a:t>
                      </a:r>
                    </a:p>
                  </a:txBody>
                  <a:tcPr/>
                </a:tc>
                <a:tc>
                  <a:txBody>
                    <a:bodyPr/>
                    <a:lstStyle/>
                    <a:p>
                      <a:r>
                        <a:rPr lang="en-US" dirty="0"/>
                        <a:t>VPNs can be implemented across a wide variety of WAN link options including broadband technologies. Remote workers can use these high-speed connections to gain secure access to corporate networks.</a:t>
                      </a:r>
                      <a:endParaRPr lang="en-US" dirty="0">
                        <a:solidFill>
                          <a:srgbClr val="000000"/>
                        </a:solidFill>
                      </a:endParaRPr>
                    </a:p>
                  </a:txBody>
                  <a:tcPr/>
                </a:tc>
                <a:extLst>
                  <a:ext uri="{0D108BD9-81ED-4DB2-BD59-A6C34878D82A}">
                    <a16:rowId xmlns:a16="http://schemas.microsoft.com/office/drawing/2014/main" val="1458107787"/>
                  </a:ext>
                </a:extLst>
              </a:tr>
            </a:tbl>
          </a:graphicData>
        </a:graphic>
      </p:graphicFrame>
    </p:spTree>
    <p:extLst>
      <p:ext uri="{BB962C8B-B14F-4D97-AF65-F5344CB8AC3E}">
        <p14:creationId xmlns:p14="http://schemas.microsoft.com/office/powerpoint/2010/main" val="349021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r>
              <a:rPr lang="en-US" dirty="0"/>
              <a:t/>
            </a:r>
            <a:br>
              <a:rPr lang="en-US" dirty="0"/>
            </a:br>
            <a:r>
              <a:rPr lang="en-US" sz="2400" dirty="0"/>
              <a:t>Site-to-Site and Remote 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731838"/>
          </a:xfrm>
        </p:spPr>
        <p:txBody>
          <a:bodyPr/>
          <a:lstStyle/>
          <a:p>
            <a:pPr marL="0" indent="0" algn="l"/>
            <a:r>
              <a:rPr lang="en-US" sz="1600" dirty="0">
                <a:solidFill>
                  <a:srgbClr val="000000"/>
                </a:solidFill>
              </a:rPr>
              <a:t>A site-to-site VPN is terminated on VPN gateways. VPN traffic is only encrypted between the gateways. Internal hosts have no knowledge that a VPN is being used.</a:t>
            </a:r>
          </a:p>
        </p:txBody>
      </p:sp>
      <p:pic>
        <p:nvPicPr>
          <p:cNvPr id="6" name="Picture 5">
            <a:extLst>
              <a:ext uri="{FF2B5EF4-FFF2-40B4-BE49-F238E27FC236}">
                <a16:creationId xmlns:a16="http://schemas.microsoft.com/office/drawing/2014/main" id="{1D20F25F-31D0-5146-ACBB-D4757C82CA65}"/>
              </a:ext>
            </a:extLst>
          </p:cNvPr>
          <p:cNvPicPr>
            <a:picLocks noChangeAspect="1"/>
          </p:cNvPicPr>
          <p:nvPr/>
        </p:nvPicPr>
        <p:blipFill>
          <a:blip r:embed="rId3"/>
          <a:stretch>
            <a:fillRect/>
          </a:stretch>
        </p:blipFill>
        <p:spPr>
          <a:xfrm>
            <a:off x="1089798" y="1608885"/>
            <a:ext cx="6597863" cy="2695901"/>
          </a:xfrm>
          <a:prstGeom prst="rect">
            <a:avLst/>
          </a:prstGeom>
        </p:spPr>
      </p:pic>
    </p:spTree>
    <p:extLst>
      <p:ext uri="{BB962C8B-B14F-4D97-AF65-F5344CB8AC3E}">
        <p14:creationId xmlns:p14="http://schemas.microsoft.com/office/powerpoint/2010/main" val="313592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r>
              <a:rPr lang="en-US" dirty="0"/>
              <a:t/>
            </a:r>
            <a:br>
              <a:rPr lang="en-US" dirty="0"/>
            </a:br>
            <a:r>
              <a:rPr lang="en-US" sz="2400" dirty="0"/>
              <a:t>Site-to-Site and Remote Access VPNs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399" cy="723938"/>
          </a:xfrm>
        </p:spPr>
        <p:txBody>
          <a:bodyPr/>
          <a:lstStyle/>
          <a:p>
            <a:pPr marL="0" indent="0" algn="l"/>
            <a:r>
              <a:rPr lang="en-US" sz="1600" dirty="0">
                <a:solidFill>
                  <a:srgbClr val="000000"/>
                </a:solidFill>
              </a:rPr>
              <a:t>A remote-access VPN is dynamically created to establish a secure connection between a client and a VPN terminating device.</a:t>
            </a:r>
          </a:p>
        </p:txBody>
      </p:sp>
      <p:pic>
        <p:nvPicPr>
          <p:cNvPr id="6" name="Picture 5">
            <a:extLst>
              <a:ext uri="{FF2B5EF4-FFF2-40B4-BE49-F238E27FC236}">
                <a16:creationId xmlns:a16="http://schemas.microsoft.com/office/drawing/2014/main" id="{A1B98770-A205-ED48-BB90-81AE0D797D57}"/>
              </a:ext>
            </a:extLst>
          </p:cNvPr>
          <p:cNvPicPr>
            <a:picLocks noChangeAspect="1"/>
          </p:cNvPicPr>
          <p:nvPr/>
        </p:nvPicPr>
        <p:blipFill>
          <a:blip r:embed="rId3"/>
          <a:stretch>
            <a:fillRect/>
          </a:stretch>
        </p:blipFill>
        <p:spPr>
          <a:xfrm>
            <a:off x="1230969" y="1579356"/>
            <a:ext cx="6682062" cy="2607634"/>
          </a:xfrm>
          <a:prstGeom prst="rect">
            <a:avLst/>
          </a:prstGeom>
        </p:spPr>
      </p:pic>
    </p:spTree>
    <p:extLst>
      <p:ext uri="{BB962C8B-B14F-4D97-AF65-F5344CB8AC3E}">
        <p14:creationId xmlns:p14="http://schemas.microsoft.com/office/powerpoint/2010/main" val="324549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r>
              <a:rPr lang="en-US" dirty="0"/>
              <a:t/>
            </a:r>
            <a:br>
              <a:rPr lang="en-US" dirty="0"/>
            </a:br>
            <a:r>
              <a:rPr lang="en-US" sz="2400" dirty="0"/>
              <a:t>Enterprise and Service Provider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3" y="855418"/>
            <a:ext cx="3385116" cy="3227484"/>
          </a:xfrm>
        </p:spPr>
        <p:txBody>
          <a:bodyPr/>
          <a:lstStyle/>
          <a:p>
            <a:pPr marL="0" indent="0" algn="l"/>
            <a:r>
              <a:rPr lang="en-US" sz="1600" dirty="0">
                <a:solidFill>
                  <a:srgbClr val="000000"/>
                </a:solidFill>
              </a:rPr>
              <a:t>VPNs can be managed and deployed as:</a:t>
            </a:r>
          </a:p>
          <a:p>
            <a:pPr marL="285750" indent="-285750" algn="l">
              <a:buFont typeface="Arial" panose="020B0604020202020204" pitchFamily="34" charset="0"/>
              <a:buChar char="•"/>
            </a:pPr>
            <a:r>
              <a:rPr lang="en-US" sz="1400" b="1" dirty="0">
                <a:solidFill>
                  <a:srgbClr val="000000"/>
                </a:solidFill>
              </a:rPr>
              <a:t>Enterprise VPNs</a:t>
            </a:r>
            <a:r>
              <a:rPr lang="en-US" sz="1400" dirty="0">
                <a:solidFill>
                  <a:srgbClr val="000000"/>
                </a:solidFill>
              </a:rPr>
              <a:t> - common solution for securing enterprise traffic across the internet. Site-to-site and remote access VPNs are created and managed by the enterprise using IPsec and SSL VPNs.</a:t>
            </a:r>
          </a:p>
          <a:p>
            <a:pPr marL="285750" indent="-285750" algn="l">
              <a:buFont typeface="Arial" panose="020B0604020202020204" pitchFamily="34" charset="0"/>
              <a:buChar char="•"/>
            </a:pPr>
            <a:r>
              <a:rPr lang="en-US" sz="1400" b="1" dirty="0">
                <a:solidFill>
                  <a:srgbClr val="000000"/>
                </a:solidFill>
              </a:rPr>
              <a:t>Service Provider VPNs</a:t>
            </a:r>
            <a:r>
              <a:rPr lang="en-US" sz="1400" dirty="0">
                <a:solidFill>
                  <a:srgbClr val="000000"/>
                </a:solidFill>
              </a:rPr>
              <a:t> - created and managed by the provider network. The provider uses Multiprotocol Label Switching (MPLS) at Layer 2 or Layer 3 to create secure channels between an enterprise’s sites, effectively segregating the traffic from other customer traffic. </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AEEC8A48-50CE-3643-B771-C574D70266A5}"/>
              </a:ext>
            </a:extLst>
          </p:cNvPr>
          <p:cNvPicPr>
            <a:picLocks noChangeAspect="1"/>
          </p:cNvPicPr>
          <p:nvPr/>
        </p:nvPicPr>
        <p:blipFill>
          <a:blip r:embed="rId3"/>
          <a:stretch>
            <a:fillRect/>
          </a:stretch>
        </p:blipFill>
        <p:spPr>
          <a:xfrm>
            <a:off x="3962400" y="1379287"/>
            <a:ext cx="4876800" cy="2794000"/>
          </a:xfrm>
          <a:prstGeom prst="rect">
            <a:avLst/>
          </a:prstGeom>
        </p:spPr>
      </p:pic>
    </p:spTree>
    <p:extLst>
      <p:ext uri="{BB962C8B-B14F-4D97-AF65-F5344CB8AC3E}">
        <p14:creationId xmlns:p14="http://schemas.microsoft.com/office/powerpoint/2010/main" val="3150841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8.2 Types of VPNs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r>
              <a:rPr lang="en-US" dirty="0"/>
              <a:t/>
            </a:r>
            <a:br>
              <a:rPr lang="en-US" dirty="0"/>
            </a:br>
            <a:r>
              <a:rPr lang="en-US" sz="2400" dirty="0"/>
              <a:t>Remote-Access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4395210" cy="3110526"/>
          </a:xfrm>
        </p:spPr>
        <p:txBody>
          <a:bodyPr/>
          <a:lstStyle/>
          <a:p>
            <a:pPr marL="285750" indent="-285750" algn="l">
              <a:buFont typeface="Arial" panose="020B0604020202020204" pitchFamily="34" charset="0"/>
              <a:buChar char="•"/>
            </a:pPr>
            <a:r>
              <a:rPr lang="en-US" sz="1600" dirty="0">
                <a:solidFill>
                  <a:srgbClr val="000000"/>
                </a:solidFill>
              </a:rPr>
              <a:t>Remote-access VPNs let remote and mobile users securely connect to the enterprise. </a:t>
            </a:r>
          </a:p>
          <a:p>
            <a:pPr marL="285750" indent="-285750" algn="l">
              <a:buFont typeface="Arial" panose="020B0604020202020204" pitchFamily="34" charset="0"/>
              <a:buChar char="•"/>
            </a:pPr>
            <a:r>
              <a:rPr lang="en-US" sz="1600" dirty="0">
                <a:solidFill>
                  <a:srgbClr val="000000"/>
                </a:solidFill>
              </a:rPr>
              <a:t>Remote-access VPNs are typically enabled dynamically by the user when required and  can be created using either IPsec or SSL.</a:t>
            </a:r>
          </a:p>
          <a:p>
            <a:pPr marL="358835" lvl="1" indent="-285750">
              <a:buFont typeface="Arial" panose="020B0604020202020204" pitchFamily="34" charset="0"/>
              <a:buChar char="•"/>
            </a:pPr>
            <a:r>
              <a:rPr lang="en-US" sz="1600" b="1" dirty="0">
                <a:solidFill>
                  <a:srgbClr val="000000"/>
                </a:solidFill>
              </a:rPr>
              <a:t>Clientless VPN connection</a:t>
            </a:r>
            <a:r>
              <a:rPr lang="en-US" sz="1600" dirty="0">
                <a:solidFill>
                  <a:srgbClr val="000000"/>
                </a:solidFill>
              </a:rPr>
              <a:t> -The connection is secured using a web browser SSL connection.</a:t>
            </a:r>
          </a:p>
          <a:p>
            <a:pPr marL="358835" lvl="1" indent="-285750">
              <a:buFont typeface="Arial" panose="020B0604020202020204" pitchFamily="34" charset="0"/>
              <a:buChar char="•"/>
            </a:pPr>
            <a:r>
              <a:rPr lang="en-US" sz="1600" b="1" dirty="0">
                <a:solidFill>
                  <a:srgbClr val="000000"/>
                </a:solidFill>
              </a:rPr>
              <a:t>Client-based VPN connection</a:t>
            </a:r>
            <a:r>
              <a:rPr lang="en-US" sz="1600" dirty="0">
                <a:solidFill>
                  <a:srgbClr val="000000"/>
                </a:solidFill>
              </a:rPr>
              <a:t> - VPN client software such as Cisco AnyConnect Secure Mobility Client must be installed on the remote user’s end device.</a:t>
            </a:r>
          </a:p>
        </p:txBody>
      </p:sp>
      <p:pic>
        <p:nvPicPr>
          <p:cNvPr id="6" name="Picture 5">
            <a:extLst>
              <a:ext uri="{FF2B5EF4-FFF2-40B4-BE49-F238E27FC236}">
                <a16:creationId xmlns:a16="http://schemas.microsoft.com/office/drawing/2014/main" id="{6DB01212-D472-5840-8A69-42C2E04B033A}"/>
              </a:ext>
            </a:extLst>
          </p:cNvPr>
          <p:cNvPicPr>
            <a:picLocks noChangeAspect="1"/>
          </p:cNvPicPr>
          <p:nvPr/>
        </p:nvPicPr>
        <p:blipFill>
          <a:blip r:embed="rId3"/>
          <a:stretch>
            <a:fillRect/>
          </a:stretch>
        </p:blipFill>
        <p:spPr>
          <a:xfrm>
            <a:off x="4924832" y="1391819"/>
            <a:ext cx="3787196" cy="2359861"/>
          </a:xfrm>
          <a:prstGeom prst="rect">
            <a:avLst/>
          </a:prstGeom>
        </p:spPr>
      </p:pic>
    </p:spTree>
    <p:extLst>
      <p:ext uri="{BB962C8B-B14F-4D97-AF65-F5344CB8AC3E}">
        <p14:creationId xmlns:p14="http://schemas.microsoft.com/office/powerpoint/2010/main" val="297829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r>
              <a:rPr lang="en-US" dirty="0"/>
              <a:t/>
            </a:r>
            <a:br>
              <a:rPr lang="en-US" dirty="0"/>
            </a:br>
            <a:r>
              <a:rPr lang="en-US" sz="2400" dirty="0"/>
              <a:t>SSL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077077"/>
          </a:xfrm>
        </p:spPr>
        <p:txBody>
          <a:bodyPr/>
          <a:lstStyle/>
          <a:p>
            <a:pPr marL="0" indent="0" algn="l"/>
            <a:r>
              <a:rPr lang="en-US" sz="1600" dirty="0">
                <a:solidFill>
                  <a:srgbClr val="000000"/>
                </a:solidFill>
              </a:rPr>
              <a:t>SSL uses the public key infrastructure and digital certificates to authenticate peers. The type of VPN method implemented is based on the access requirements of the users and the organization’s IT processes. The table compares IPsec and SSL remote access deployments. </a:t>
            </a:r>
            <a:endParaRPr lang="en-US" sz="1400" dirty="0">
              <a:solidFill>
                <a:srgbClr val="000000"/>
              </a:solidFill>
            </a:endParaRPr>
          </a:p>
        </p:txBody>
      </p:sp>
      <p:graphicFrame>
        <p:nvGraphicFramePr>
          <p:cNvPr id="6" name="Content Placeholder 6">
            <a:extLst>
              <a:ext uri="{FF2B5EF4-FFF2-40B4-BE49-F238E27FC236}">
                <a16:creationId xmlns:a16="http://schemas.microsoft.com/office/drawing/2014/main" id="{FCD5C4AB-4FAA-4781-848A-8C81A2D27751}"/>
              </a:ext>
            </a:extLst>
          </p:cNvPr>
          <p:cNvGraphicFramePr>
            <a:graphicFrameLocks/>
          </p:cNvGraphicFramePr>
          <p:nvPr>
            <p:extLst>
              <p:ext uri="{D42A27DB-BD31-4B8C-83A1-F6EECF244321}">
                <p14:modId xmlns:p14="http://schemas.microsoft.com/office/powerpoint/2010/main" val="3829446469"/>
              </p:ext>
            </p:extLst>
          </p:nvPr>
        </p:nvGraphicFramePr>
        <p:xfrm>
          <a:off x="518486" y="2051376"/>
          <a:ext cx="8280399" cy="2656840"/>
        </p:xfrm>
        <a:graphic>
          <a:graphicData uri="http://schemas.openxmlformats.org/drawingml/2006/table">
            <a:tbl>
              <a:tblPr firstRow="1" bandRow="1">
                <a:tableStyleId>{5C22544A-7EE6-4342-B048-85BDC9FD1C3A}</a:tableStyleId>
              </a:tblPr>
              <a:tblGrid>
                <a:gridCol w="2116138">
                  <a:extLst>
                    <a:ext uri="{9D8B030D-6E8A-4147-A177-3AD203B41FA5}">
                      <a16:colId xmlns:a16="http://schemas.microsoft.com/office/drawing/2014/main" val="3729139006"/>
                    </a:ext>
                  </a:extLst>
                </a:gridCol>
                <a:gridCol w="2830510">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370840">
                <a:tc>
                  <a:txBody>
                    <a:bodyPr/>
                    <a:lstStyle/>
                    <a:p>
                      <a:r>
                        <a:rPr lang="en-US" dirty="0"/>
                        <a:t>Feature</a:t>
                      </a:r>
                    </a:p>
                  </a:txBody>
                  <a:tcPr/>
                </a:tc>
                <a:tc>
                  <a:txBody>
                    <a:bodyPr/>
                    <a:lstStyle/>
                    <a:p>
                      <a:r>
                        <a:rPr lang="en-US" dirty="0"/>
                        <a:t>IPsec</a:t>
                      </a:r>
                    </a:p>
                  </a:txBody>
                  <a:tcPr/>
                </a:tc>
                <a:tc>
                  <a:txBody>
                    <a:bodyPr/>
                    <a:lstStyle/>
                    <a:p>
                      <a:r>
                        <a:rPr lang="en-US" dirty="0"/>
                        <a:t>SSL</a:t>
                      </a:r>
                    </a:p>
                  </a:txBody>
                  <a:tcPr/>
                </a:tc>
                <a:extLst>
                  <a:ext uri="{0D108BD9-81ED-4DB2-BD59-A6C34878D82A}">
                    <a16:rowId xmlns:a16="http://schemas.microsoft.com/office/drawing/2014/main" val="2583676789"/>
                  </a:ext>
                </a:extLst>
              </a:tr>
              <a:tr h="370840">
                <a:tc>
                  <a:txBody>
                    <a:bodyPr/>
                    <a:lstStyle/>
                    <a:p>
                      <a:r>
                        <a:rPr lang="en-US" sz="1200" b="1" dirty="0">
                          <a:solidFill>
                            <a:srgbClr val="000000"/>
                          </a:solidFill>
                        </a:rPr>
                        <a:t>Applications supported</a:t>
                      </a:r>
                    </a:p>
                  </a:txBody>
                  <a:tcPr/>
                </a:tc>
                <a:tc>
                  <a:txBody>
                    <a:bodyPr/>
                    <a:lstStyle/>
                    <a:p>
                      <a:r>
                        <a:rPr lang="en-US" sz="1200" b="1" dirty="0">
                          <a:solidFill>
                            <a:srgbClr val="000000"/>
                          </a:solidFill>
                        </a:rPr>
                        <a:t>Extensive</a:t>
                      </a:r>
                      <a:r>
                        <a:rPr lang="en-US" sz="1200" dirty="0">
                          <a:solidFill>
                            <a:srgbClr val="000000"/>
                          </a:solidFill>
                        </a:rPr>
                        <a:t> – All IP-based applications</a:t>
                      </a:r>
                    </a:p>
                  </a:txBody>
                  <a:tcPr/>
                </a:tc>
                <a:tc>
                  <a:txBody>
                    <a:bodyPr/>
                    <a:lstStyle/>
                    <a:p>
                      <a:r>
                        <a:rPr lang="en-US" sz="1200" b="1" dirty="0">
                          <a:solidFill>
                            <a:srgbClr val="000000"/>
                          </a:solidFill>
                        </a:rPr>
                        <a:t>Limited</a:t>
                      </a:r>
                      <a:r>
                        <a:rPr lang="en-US" sz="1200" dirty="0">
                          <a:solidFill>
                            <a:srgbClr val="000000"/>
                          </a:solidFill>
                        </a:rPr>
                        <a:t> – Only web-based applications and file sharing</a:t>
                      </a:r>
                    </a:p>
                  </a:txBody>
                  <a:tcPr/>
                </a:tc>
                <a:extLst>
                  <a:ext uri="{0D108BD9-81ED-4DB2-BD59-A6C34878D82A}">
                    <a16:rowId xmlns:a16="http://schemas.microsoft.com/office/drawing/2014/main" val="3849654457"/>
                  </a:ext>
                </a:extLst>
              </a:tr>
              <a:tr h="370840">
                <a:tc>
                  <a:txBody>
                    <a:bodyPr/>
                    <a:lstStyle/>
                    <a:p>
                      <a:r>
                        <a:rPr lang="en-US" sz="1200" b="1" dirty="0">
                          <a:solidFill>
                            <a:srgbClr val="000000"/>
                          </a:solidFill>
                        </a:rPr>
                        <a:t>Authentication strength</a:t>
                      </a:r>
                    </a:p>
                  </a:txBody>
                  <a:tcPr/>
                </a:tc>
                <a:tc>
                  <a:txBody>
                    <a:bodyPr/>
                    <a:lstStyle/>
                    <a:p>
                      <a:r>
                        <a:rPr lang="en-US" sz="1200" b="1" dirty="0">
                          <a:solidFill>
                            <a:srgbClr val="000000"/>
                          </a:solidFill>
                        </a:rPr>
                        <a:t>Strong</a:t>
                      </a:r>
                      <a:r>
                        <a:rPr lang="en-US" sz="1200" dirty="0">
                          <a:solidFill>
                            <a:srgbClr val="000000"/>
                          </a:solidFill>
                        </a:rPr>
                        <a:t> – Two-way authentication with shared keys or digital certificates</a:t>
                      </a:r>
                    </a:p>
                  </a:txBody>
                  <a:tcPr/>
                </a:tc>
                <a:tc>
                  <a:txBody>
                    <a:bodyPr/>
                    <a:lstStyle/>
                    <a:p>
                      <a:r>
                        <a:rPr lang="en-US" sz="1200" b="1" dirty="0">
                          <a:solidFill>
                            <a:srgbClr val="000000"/>
                          </a:solidFill>
                        </a:rPr>
                        <a:t>Moderate</a:t>
                      </a:r>
                      <a:r>
                        <a:rPr lang="en-US" sz="1200" dirty="0">
                          <a:solidFill>
                            <a:srgbClr val="000000"/>
                          </a:solidFill>
                        </a:rPr>
                        <a:t> – one-way or two-way authentication</a:t>
                      </a:r>
                    </a:p>
                  </a:txBody>
                  <a:tcPr/>
                </a:tc>
                <a:extLst>
                  <a:ext uri="{0D108BD9-81ED-4DB2-BD59-A6C34878D82A}">
                    <a16:rowId xmlns:a16="http://schemas.microsoft.com/office/drawing/2014/main" val="235735172"/>
                  </a:ext>
                </a:extLst>
              </a:tr>
              <a:tr h="370840">
                <a:tc>
                  <a:txBody>
                    <a:bodyPr/>
                    <a:lstStyle/>
                    <a:p>
                      <a:r>
                        <a:rPr lang="en-US" sz="1200" b="1" dirty="0">
                          <a:solidFill>
                            <a:srgbClr val="000000"/>
                          </a:solidFill>
                        </a:rPr>
                        <a:t>Encryption strength</a:t>
                      </a:r>
                    </a:p>
                  </a:txBody>
                  <a:tcPr/>
                </a:tc>
                <a:tc>
                  <a:txBody>
                    <a:bodyPr/>
                    <a:lstStyle/>
                    <a:p>
                      <a:r>
                        <a:rPr lang="en-US" sz="1200" b="1" dirty="0">
                          <a:solidFill>
                            <a:srgbClr val="000000"/>
                          </a:solidFill>
                        </a:rPr>
                        <a:t>Strong</a:t>
                      </a:r>
                      <a:r>
                        <a:rPr lang="en-US" sz="1200" dirty="0">
                          <a:solidFill>
                            <a:srgbClr val="000000"/>
                          </a:solidFill>
                        </a:rPr>
                        <a:t> – Key lengths 56 – 256 bits</a:t>
                      </a:r>
                    </a:p>
                  </a:txBody>
                  <a:tcPr/>
                </a:tc>
                <a:tc>
                  <a:txBody>
                    <a:bodyPr/>
                    <a:lstStyle/>
                    <a:p>
                      <a:r>
                        <a:rPr lang="en-US" sz="1200" b="1" dirty="0">
                          <a:solidFill>
                            <a:srgbClr val="000000"/>
                          </a:solidFill>
                        </a:rPr>
                        <a:t>Moderate to strong </a:t>
                      </a:r>
                      <a:r>
                        <a:rPr lang="en-US" sz="1200" dirty="0">
                          <a:solidFill>
                            <a:srgbClr val="000000"/>
                          </a:solidFill>
                        </a:rPr>
                        <a:t>- Key lengths 40 – 256 bits</a:t>
                      </a:r>
                    </a:p>
                  </a:txBody>
                  <a:tcPr/>
                </a:tc>
                <a:extLst>
                  <a:ext uri="{0D108BD9-81ED-4DB2-BD59-A6C34878D82A}">
                    <a16:rowId xmlns:a16="http://schemas.microsoft.com/office/drawing/2014/main" val="354468046"/>
                  </a:ext>
                </a:extLst>
              </a:tr>
              <a:tr h="370840">
                <a:tc>
                  <a:txBody>
                    <a:bodyPr/>
                    <a:lstStyle/>
                    <a:p>
                      <a:r>
                        <a:rPr lang="en-US" sz="1200" b="1" dirty="0">
                          <a:solidFill>
                            <a:srgbClr val="000000"/>
                          </a:solidFill>
                        </a:rPr>
                        <a:t>Connection complexity</a:t>
                      </a:r>
                    </a:p>
                  </a:txBody>
                  <a:tcPr/>
                </a:tc>
                <a:tc>
                  <a:txBody>
                    <a:bodyPr/>
                    <a:lstStyle/>
                    <a:p>
                      <a:r>
                        <a:rPr lang="en-US" sz="1200" b="1" dirty="0">
                          <a:solidFill>
                            <a:srgbClr val="000000"/>
                          </a:solidFill>
                        </a:rPr>
                        <a:t>Medium</a:t>
                      </a:r>
                      <a:r>
                        <a:rPr lang="en-US" sz="1200" dirty="0">
                          <a:solidFill>
                            <a:srgbClr val="000000"/>
                          </a:solidFill>
                        </a:rPr>
                        <a:t> – Requires VPN client installed on a host</a:t>
                      </a:r>
                    </a:p>
                  </a:txBody>
                  <a:tcPr/>
                </a:tc>
                <a:tc>
                  <a:txBody>
                    <a:bodyPr/>
                    <a:lstStyle/>
                    <a:p>
                      <a:r>
                        <a:rPr lang="en-US" sz="1200" b="1" dirty="0">
                          <a:solidFill>
                            <a:srgbClr val="000000"/>
                          </a:solidFill>
                        </a:rPr>
                        <a:t>Low</a:t>
                      </a:r>
                      <a:r>
                        <a:rPr lang="en-US" sz="1200" dirty="0">
                          <a:solidFill>
                            <a:srgbClr val="000000"/>
                          </a:solidFill>
                        </a:rPr>
                        <a:t> – Requires web browser on a host</a:t>
                      </a:r>
                    </a:p>
                  </a:txBody>
                  <a:tcPr/>
                </a:tc>
                <a:extLst>
                  <a:ext uri="{0D108BD9-81ED-4DB2-BD59-A6C34878D82A}">
                    <a16:rowId xmlns:a16="http://schemas.microsoft.com/office/drawing/2014/main" val="1458107787"/>
                  </a:ext>
                </a:extLst>
              </a:tr>
              <a:tr h="370840">
                <a:tc>
                  <a:txBody>
                    <a:bodyPr/>
                    <a:lstStyle/>
                    <a:p>
                      <a:r>
                        <a:rPr lang="en-US" sz="1200" b="1" dirty="0">
                          <a:solidFill>
                            <a:srgbClr val="000000"/>
                          </a:solidFill>
                        </a:rPr>
                        <a:t>Connection option</a:t>
                      </a:r>
                    </a:p>
                  </a:txBody>
                  <a:tcPr/>
                </a:tc>
                <a:tc>
                  <a:txBody>
                    <a:bodyPr/>
                    <a:lstStyle/>
                    <a:p>
                      <a:r>
                        <a:rPr lang="en-US" sz="1200" b="1" dirty="0">
                          <a:solidFill>
                            <a:srgbClr val="000000"/>
                          </a:solidFill>
                        </a:rPr>
                        <a:t>Limited</a:t>
                      </a:r>
                      <a:r>
                        <a:rPr lang="en-US" sz="1200" dirty="0">
                          <a:solidFill>
                            <a:srgbClr val="000000"/>
                          </a:solidFill>
                        </a:rPr>
                        <a:t> – Only specific devices with specific configurations can connect</a:t>
                      </a:r>
                    </a:p>
                  </a:txBody>
                  <a:tcPr/>
                </a:tc>
                <a:tc>
                  <a:txBody>
                    <a:bodyPr/>
                    <a:lstStyle/>
                    <a:p>
                      <a:r>
                        <a:rPr lang="en-US" sz="1200" b="1" dirty="0">
                          <a:solidFill>
                            <a:srgbClr val="000000"/>
                          </a:solidFill>
                        </a:rPr>
                        <a:t>Extensive</a:t>
                      </a:r>
                      <a:r>
                        <a:rPr lang="en-US" sz="1200" dirty="0">
                          <a:solidFill>
                            <a:srgbClr val="000000"/>
                          </a:solidFill>
                        </a:rPr>
                        <a:t> – Any device with a web browser can connect</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421398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r>
              <a:rPr lang="en-US" dirty="0"/>
              <a:t/>
            </a:r>
            <a:br>
              <a:rPr lang="en-US" dirty="0"/>
            </a:br>
            <a:r>
              <a:rPr lang="en-US" sz="2400" dirty="0"/>
              <a:t>Site-to-Site IPsec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4235721" cy="3705950"/>
          </a:xfrm>
        </p:spPr>
        <p:txBody>
          <a:bodyPr/>
          <a:lstStyle/>
          <a:p>
            <a:pPr marL="285750" indent="-285750" algn="l">
              <a:buFont typeface="Arial" panose="020B0604020202020204" pitchFamily="34" charset="0"/>
              <a:buChar char="•"/>
            </a:pPr>
            <a:r>
              <a:rPr lang="en-US" sz="1600" dirty="0">
                <a:solidFill>
                  <a:srgbClr val="000000"/>
                </a:solidFill>
              </a:rPr>
              <a:t>Site-to-site VPNs connect networks across an untrusted network such as the internet.</a:t>
            </a:r>
          </a:p>
          <a:p>
            <a:pPr marL="285750" indent="-285750" algn="l">
              <a:buFont typeface="Arial" panose="020B0604020202020204" pitchFamily="34" charset="0"/>
              <a:buChar char="•"/>
            </a:pPr>
            <a:r>
              <a:rPr lang="en-US" sz="1600" dirty="0">
                <a:solidFill>
                  <a:srgbClr val="000000"/>
                </a:solidFill>
              </a:rPr>
              <a:t>End hosts send and receive normal unencrypted TCP/IP traffic through a VPN gateway.</a:t>
            </a:r>
          </a:p>
          <a:p>
            <a:pPr marL="285750" indent="-285750" algn="l">
              <a:buFont typeface="Arial" panose="020B0604020202020204" pitchFamily="34" charset="0"/>
              <a:buChar char="•"/>
            </a:pPr>
            <a:r>
              <a:rPr lang="en-US" sz="1600" dirty="0">
                <a:solidFill>
                  <a:srgbClr val="000000"/>
                </a:solidFill>
              </a:rPr>
              <a:t>The VPN gateway encapsulates and encrypts outbound traffic from a site and sends the traffic through the VPN tunnel to the VPN gateway at the target site. The receiving VPN gateway strips the headers, decrypts the content, and relays the packet toward the target host inside its private network.</a:t>
            </a:r>
          </a:p>
        </p:txBody>
      </p:sp>
      <p:pic>
        <p:nvPicPr>
          <p:cNvPr id="5" name="Picture 4">
            <a:extLst>
              <a:ext uri="{FF2B5EF4-FFF2-40B4-BE49-F238E27FC236}">
                <a16:creationId xmlns:a16="http://schemas.microsoft.com/office/drawing/2014/main" id="{2DF501E6-6E4B-254E-88A3-C8B47C06EAEE}"/>
              </a:ext>
            </a:extLst>
          </p:cNvPr>
          <p:cNvPicPr>
            <a:picLocks noChangeAspect="1"/>
          </p:cNvPicPr>
          <p:nvPr/>
        </p:nvPicPr>
        <p:blipFill>
          <a:blip r:embed="rId3"/>
          <a:stretch>
            <a:fillRect/>
          </a:stretch>
        </p:blipFill>
        <p:spPr>
          <a:xfrm>
            <a:off x="4842792" y="1917903"/>
            <a:ext cx="3869236" cy="1580978"/>
          </a:xfrm>
          <a:prstGeom prst="rect">
            <a:avLst/>
          </a:prstGeom>
        </p:spPr>
      </p:pic>
    </p:spTree>
    <p:extLst>
      <p:ext uri="{BB962C8B-B14F-4D97-AF65-F5344CB8AC3E}">
        <p14:creationId xmlns:p14="http://schemas.microsoft.com/office/powerpoint/2010/main" val="13884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r>
              <a:rPr lang="en-US" dirty="0"/>
              <a:t/>
            </a:r>
            <a:br>
              <a:rPr lang="en-US" dirty="0"/>
            </a:br>
            <a:r>
              <a:rPr lang="en-US" sz="2400" dirty="0"/>
              <a:t>GRE over IPsec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3705950"/>
          </a:xfrm>
        </p:spPr>
        <p:txBody>
          <a:bodyPr/>
          <a:lstStyle/>
          <a:p>
            <a:pPr marL="285750" indent="-285750" algn="l">
              <a:buFont typeface="Arial" panose="020B0604020202020204" pitchFamily="34" charset="0"/>
              <a:buChar char="•"/>
            </a:pPr>
            <a:r>
              <a:rPr lang="en-US" sz="1600" dirty="0">
                <a:solidFill>
                  <a:srgbClr val="000000"/>
                </a:solidFill>
              </a:rPr>
              <a:t>Generic Routing Encapsulation (GRE) is a non-secure site-to-site VPN tunneling protocol.</a:t>
            </a:r>
          </a:p>
          <a:p>
            <a:pPr marL="285750" indent="-285750" algn="l">
              <a:buFont typeface="Arial" panose="020B0604020202020204" pitchFamily="34" charset="0"/>
              <a:buChar char="•"/>
            </a:pPr>
            <a:r>
              <a:rPr lang="en-US" sz="1600" dirty="0">
                <a:solidFill>
                  <a:srgbClr val="000000"/>
                </a:solidFill>
              </a:rPr>
              <a:t>A GRE tunnel can encapsulate various network layer protocols as well as multicast and broadcast traffic.</a:t>
            </a:r>
          </a:p>
          <a:p>
            <a:pPr marL="285750" indent="-285750" algn="l">
              <a:buFont typeface="Arial" panose="020B0604020202020204" pitchFamily="34" charset="0"/>
              <a:buChar char="•"/>
            </a:pPr>
            <a:r>
              <a:rPr lang="en-US" sz="1600" dirty="0">
                <a:solidFill>
                  <a:srgbClr val="000000"/>
                </a:solidFill>
              </a:rPr>
              <a:t>GRE does not by default support encryption; and therefore, it does not provide a secure VPN tunnel.</a:t>
            </a:r>
          </a:p>
          <a:p>
            <a:pPr marL="285750" indent="-285750" algn="l">
              <a:buFont typeface="Arial" panose="020B0604020202020204" pitchFamily="34" charset="0"/>
              <a:buChar char="•"/>
            </a:pPr>
            <a:r>
              <a:rPr lang="en-US" sz="1600" dirty="0">
                <a:solidFill>
                  <a:srgbClr val="000000"/>
                </a:solidFill>
              </a:rPr>
              <a:t>A GRE packet can be encapsulated into an IPsec packet to forward it securely to the destination VPN gateway.</a:t>
            </a:r>
          </a:p>
          <a:p>
            <a:pPr marL="358835" lvl="1" indent="-285750">
              <a:buFont typeface="Arial" panose="020B0604020202020204" pitchFamily="34" charset="0"/>
              <a:buChar char="•"/>
            </a:pPr>
            <a:r>
              <a:rPr lang="en-US" sz="1600" dirty="0">
                <a:solidFill>
                  <a:srgbClr val="000000"/>
                </a:solidFill>
              </a:rPr>
              <a:t>Standard IPsec VPNs (non-GRE) can only create secure tunnels for unicast traffic.</a:t>
            </a:r>
          </a:p>
          <a:p>
            <a:pPr marL="358835" lvl="1" indent="-285750">
              <a:buFont typeface="Arial" panose="020B0604020202020204" pitchFamily="34" charset="0"/>
              <a:buChar char="•"/>
            </a:pPr>
            <a:r>
              <a:rPr lang="en-US" sz="1600" dirty="0">
                <a:solidFill>
                  <a:srgbClr val="000000"/>
                </a:solidFill>
              </a:rPr>
              <a:t>Encapsulating GRE into IPsec allows multicast routing protocol updates to be secured through a VPN.</a:t>
            </a:r>
          </a:p>
        </p:txBody>
      </p:sp>
    </p:spTree>
    <p:extLst>
      <p:ext uri="{BB962C8B-B14F-4D97-AF65-F5344CB8AC3E}">
        <p14:creationId xmlns:p14="http://schemas.microsoft.com/office/powerpoint/2010/main" val="62309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r>
              <a:rPr lang="en-US" dirty="0"/>
              <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2015374"/>
          </a:xfrm>
        </p:spPr>
        <p:txBody>
          <a:bodyPr/>
          <a:lstStyle/>
          <a:p>
            <a:pPr marL="0" indent="0" algn="l"/>
            <a:r>
              <a:rPr lang="en-US" sz="1600" dirty="0">
                <a:solidFill>
                  <a:srgbClr val="000000"/>
                </a:solidFill>
              </a:rPr>
              <a:t>The terms used to describe the encapsulation of GRE over IPsec tunnel are passenger protocol, carrier protocol, and transport protocol.</a:t>
            </a:r>
          </a:p>
          <a:p>
            <a:pPr marL="285750" indent="-285750" algn="l">
              <a:buFont typeface="Arial" panose="020B0604020202020204" pitchFamily="34" charset="0"/>
              <a:buChar char="•"/>
            </a:pPr>
            <a:r>
              <a:rPr lang="en-US" sz="1600" b="1" dirty="0">
                <a:solidFill>
                  <a:srgbClr val="000000"/>
                </a:solidFill>
              </a:rPr>
              <a:t>Passenger protocol</a:t>
            </a:r>
            <a:r>
              <a:rPr lang="en-US" sz="1600" dirty="0">
                <a:solidFill>
                  <a:srgbClr val="000000"/>
                </a:solidFill>
              </a:rPr>
              <a:t> – This is the original packet that is to be encapsulated by GRE. It could be an IPv4 or IPv6 packet, a routing update, and more.</a:t>
            </a:r>
          </a:p>
          <a:p>
            <a:pPr marL="285750" indent="-285750" algn="l">
              <a:buFont typeface="Arial" panose="020B0604020202020204" pitchFamily="34" charset="0"/>
              <a:buChar char="•"/>
            </a:pPr>
            <a:r>
              <a:rPr lang="en-US" sz="1600" b="1" dirty="0">
                <a:solidFill>
                  <a:srgbClr val="000000"/>
                </a:solidFill>
              </a:rPr>
              <a:t>Carrier protocol</a:t>
            </a:r>
            <a:r>
              <a:rPr lang="en-US" sz="1600" dirty="0">
                <a:solidFill>
                  <a:srgbClr val="000000"/>
                </a:solidFill>
              </a:rPr>
              <a:t> – GRE is the carrier protocol that encapsulates the original passenger packet.</a:t>
            </a:r>
          </a:p>
          <a:p>
            <a:pPr marL="285750" indent="-285750" algn="l">
              <a:buFont typeface="Arial" panose="020B0604020202020204" pitchFamily="34" charset="0"/>
              <a:buChar char="•"/>
            </a:pPr>
            <a:r>
              <a:rPr lang="en-US" sz="1600" b="1" dirty="0">
                <a:solidFill>
                  <a:srgbClr val="000000"/>
                </a:solidFill>
              </a:rPr>
              <a:t>Transport protocol</a:t>
            </a:r>
            <a:r>
              <a:rPr lang="en-US" sz="1600" dirty="0">
                <a:solidFill>
                  <a:srgbClr val="000000"/>
                </a:solidFill>
              </a:rPr>
              <a:t> – This is the protocol that will actually be used to forward the packet. This could be IPv4 or IPv6.</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172591A4-07E9-4769-8307-FD4A14326AF0}"/>
              </a:ext>
            </a:extLst>
          </p:cNvPr>
          <p:cNvPicPr>
            <a:picLocks noChangeAspect="1"/>
          </p:cNvPicPr>
          <p:nvPr/>
        </p:nvPicPr>
        <p:blipFill>
          <a:blip r:embed="rId3"/>
          <a:stretch>
            <a:fillRect/>
          </a:stretch>
        </p:blipFill>
        <p:spPr>
          <a:xfrm>
            <a:off x="2322094" y="2994371"/>
            <a:ext cx="4321269" cy="1820609"/>
          </a:xfrm>
          <a:prstGeom prst="rect">
            <a:avLst/>
          </a:prstGeom>
        </p:spPr>
      </p:pic>
    </p:spTree>
    <p:extLst>
      <p:ext uri="{BB962C8B-B14F-4D97-AF65-F5344CB8AC3E}">
        <p14:creationId xmlns:p14="http://schemas.microsoft.com/office/powerpoint/2010/main" val="390841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r>
              <a:rPr lang="en-US" dirty="0"/>
              <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1567272"/>
          </a:xfrm>
        </p:spPr>
        <p:txBody>
          <a:bodyPr/>
          <a:lstStyle/>
          <a:p>
            <a:pPr marL="0" indent="0" algn="l"/>
            <a:r>
              <a:rPr lang="en-US" sz="1600" dirty="0">
                <a:solidFill>
                  <a:srgbClr val="000000"/>
                </a:solidFill>
              </a:rPr>
              <a:t>For example, Branch and HQ need to exchange OSPF routing information over an IPsec VPN. GRE over IPsec is used to support the routing protocol traffic over the IPsec VPN. Specifically, the OSPF packets (i.e., passenger protocol) would be encapsulated by GRE (i.e., carrier protocol) and subsequently encapsulated in an IPsec VPN tunnel.</a:t>
            </a:r>
          </a:p>
        </p:txBody>
      </p:sp>
      <p:pic>
        <p:nvPicPr>
          <p:cNvPr id="6" name="Picture 5">
            <a:extLst>
              <a:ext uri="{FF2B5EF4-FFF2-40B4-BE49-F238E27FC236}">
                <a16:creationId xmlns:a16="http://schemas.microsoft.com/office/drawing/2014/main" id="{534BAF84-ACE1-FB4E-9F1B-4DACD8FBFD1A}"/>
              </a:ext>
            </a:extLst>
          </p:cNvPr>
          <p:cNvPicPr>
            <a:picLocks noChangeAspect="1"/>
          </p:cNvPicPr>
          <p:nvPr/>
        </p:nvPicPr>
        <p:blipFill>
          <a:blip r:embed="rId3"/>
          <a:stretch>
            <a:fillRect/>
          </a:stretch>
        </p:blipFill>
        <p:spPr>
          <a:xfrm>
            <a:off x="1176350" y="2571750"/>
            <a:ext cx="6791299" cy="2015373"/>
          </a:xfrm>
          <a:prstGeom prst="rect">
            <a:avLst/>
          </a:prstGeom>
        </p:spPr>
      </p:pic>
    </p:spTree>
    <p:extLst>
      <p:ext uri="{BB962C8B-B14F-4D97-AF65-F5344CB8AC3E}">
        <p14:creationId xmlns:p14="http://schemas.microsoft.com/office/powerpoint/2010/main" val="148282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r>
              <a:rPr lang="en-US" dirty="0"/>
              <a:t/>
            </a:r>
            <a:br>
              <a:rPr lang="en-US" dirty="0"/>
            </a:br>
            <a:r>
              <a:rPr lang="en-US" sz="2400" dirty="0"/>
              <a:t>Dynamic Multipoint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608299"/>
          </a:xfrm>
        </p:spPr>
        <p:txBody>
          <a:bodyPr/>
          <a:lstStyle/>
          <a:p>
            <a:pPr marL="0" indent="0" algn="l"/>
            <a:r>
              <a:rPr lang="en-US" sz="1600" dirty="0">
                <a:solidFill>
                  <a:srgbClr val="000000"/>
                </a:solidFill>
              </a:rPr>
              <a:t>Site-to-site IPsec VPNs and GRE over IPsec are not sufficient when the enterprise adds many more sites. Dynamic Multipoint VPN (DMVPN) is a Cisco software solution for building multiple VPNs in an easy, dynamic, and scalable manner.</a:t>
            </a:r>
          </a:p>
          <a:p>
            <a:pPr marL="358835" lvl="1" indent="-285750">
              <a:buFont typeface="Arial" panose="020B0604020202020204" pitchFamily="34" charset="0"/>
              <a:buChar char="•"/>
            </a:pPr>
            <a:r>
              <a:rPr lang="en-US" sz="1600" dirty="0">
                <a:solidFill>
                  <a:srgbClr val="000000"/>
                </a:solidFill>
              </a:rPr>
              <a:t>DMVPN simplifies the VPN tunnel configuration and provides a flexible option to connect a central site with branch sites. </a:t>
            </a:r>
          </a:p>
          <a:p>
            <a:pPr marL="358835" lvl="1" indent="-285750">
              <a:buFont typeface="Arial" panose="020B0604020202020204" pitchFamily="34" charset="0"/>
              <a:buChar char="•"/>
            </a:pPr>
            <a:r>
              <a:rPr lang="en-US" sz="1600" dirty="0">
                <a:solidFill>
                  <a:srgbClr val="000000"/>
                </a:solidFill>
              </a:rPr>
              <a:t>It uses a hub-and-spoke configuration to establish a full mesh topology. </a:t>
            </a:r>
          </a:p>
          <a:p>
            <a:pPr marL="358835" lvl="1" indent="-285750">
              <a:buFont typeface="Arial" panose="020B0604020202020204" pitchFamily="34" charset="0"/>
              <a:buChar char="•"/>
            </a:pPr>
            <a:r>
              <a:rPr lang="en-US" sz="1600" dirty="0">
                <a:solidFill>
                  <a:srgbClr val="000000"/>
                </a:solidFill>
              </a:rPr>
              <a:t>Spoke sites establish secure VPN tunnels with the hub site.</a:t>
            </a:r>
          </a:p>
          <a:p>
            <a:pPr marL="358835" lvl="1" indent="-285750">
              <a:buFont typeface="Arial" panose="020B0604020202020204" pitchFamily="34" charset="0"/>
              <a:buChar char="•"/>
            </a:pPr>
            <a:r>
              <a:rPr lang="en-US" sz="1600" dirty="0">
                <a:solidFill>
                  <a:srgbClr val="000000"/>
                </a:solidFill>
              </a:rPr>
              <a:t>Each site is configure using Multipoint Generic Routing Encapsulation (mGRE). The mGRE tunnel interface allows a single GRE interface to dynamically support multiple IPsec tunnels.</a:t>
            </a:r>
          </a:p>
          <a:p>
            <a:pPr marL="358835" lvl="1" indent="-285750">
              <a:buFont typeface="Arial" panose="020B0604020202020204" pitchFamily="34" charset="0"/>
              <a:buChar char="•"/>
            </a:pPr>
            <a:r>
              <a:rPr lang="en-US" sz="1600" dirty="0">
                <a:solidFill>
                  <a:srgbClr val="000000"/>
                </a:solidFill>
              </a:rPr>
              <a:t>Spoke sites can also obtain information about each other, and alternatively build direct tunnels between themselves (spoke-to-spoke tunnels).</a:t>
            </a:r>
          </a:p>
        </p:txBody>
      </p:sp>
    </p:spTree>
    <p:extLst>
      <p:ext uri="{BB962C8B-B14F-4D97-AF65-F5344CB8AC3E}">
        <p14:creationId xmlns:p14="http://schemas.microsoft.com/office/powerpoint/2010/main" val="1982114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r>
              <a:rPr lang="en-US" dirty="0"/>
              <a:t/>
            </a:r>
            <a:br>
              <a:rPr lang="en-US" dirty="0"/>
            </a:br>
            <a:r>
              <a:rPr lang="en-US" sz="2400" dirty="0"/>
              <a:t>IPsec Virtual Tunnel Interface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0" indent="0" algn="l"/>
            <a:r>
              <a:rPr lang="en-US" sz="1600" dirty="0">
                <a:solidFill>
                  <a:srgbClr val="000000"/>
                </a:solidFill>
              </a:rPr>
              <a:t>IPsec Virtual Tunnel Interface (VTI) simplifies the configuration process required to support multiple sites and remote access.</a:t>
            </a:r>
          </a:p>
          <a:p>
            <a:pPr marL="285750" indent="-285750" algn="l">
              <a:buFont typeface="Arial" panose="020B0604020202020204" pitchFamily="34" charset="0"/>
              <a:buChar char="•"/>
            </a:pPr>
            <a:r>
              <a:rPr lang="en-US" sz="1600" dirty="0">
                <a:solidFill>
                  <a:srgbClr val="000000"/>
                </a:solidFill>
              </a:rPr>
              <a:t>IPsec VTI configurations are applied to a virtual interface instead of static mapping the IPsec sessions to a physical interface.</a:t>
            </a:r>
          </a:p>
          <a:p>
            <a:pPr marL="285750" indent="-285750" algn="l">
              <a:buFont typeface="Arial" panose="020B0604020202020204" pitchFamily="34" charset="0"/>
              <a:buChar char="•"/>
            </a:pPr>
            <a:r>
              <a:rPr lang="en-US" sz="1600" dirty="0">
                <a:solidFill>
                  <a:srgbClr val="000000"/>
                </a:solidFill>
              </a:rPr>
              <a:t>IPsec VTI is capable of sending and receiving both IP unicast and multicast encrypted traffic. Therefore, routing protocols are automatically supported without having to configure GRE tunnels.</a:t>
            </a:r>
          </a:p>
          <a:p>
            <a:pPr marL="285750" indent="-285750" algn="l">
              <a:buFont typeface="Arial" panose="020B0604020202020204" pitchFamily="34" charset="0"/>
              <a:buChar char="•"/>
            </a:pPr>
            <a:r>
              <a:rPr lang="en-US" sz="1600" dirty="0">
                <a:solidFill>
                  <a:srgbClr val="000000"/>
                </a:solidFill>
              </a:rPr>
              <a:t>IPsec VTI can be configured between sites or in a hub-and-spoke topology.</a:t>
            </a:r>
          </a:p>
          <a:p>
            <a:pPr marL="285750" indent="-28575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B1C2A036-1981-48F7-ABB7-DA2F4CF048C3}"/>
              </a:ext>
            </a:extLst>
          </p:cNvPr>
          <p:cNvPicPr>
            <a:picLocks noChangeAspect="1"/>
          </p:cNvPicPr>
          <p:nvPr/>
        </p:nvPicPr>
        <p:blipFill>
          <a:blip r:embed="rId3"/>
          <a:stretch>
            <a:fillRect/>
          </a:stretch>
        </p:blipFill>
        <p:spPr>
          <a:xfrm>
            <a:off x="1941438" y="3209703"/>
            <a:ext cx="5261123" cy="1721232"/>
          </a:xfrm>
          <a:prstGeom prst="rect">
            <a:avLst/>
          </a:prstGeom>
        </p:spPr>
      </p:pic>
    </p:spTree>
    <p:extLst>
      <p:ext uri="{BB962C8B-B14F-4D97-AF65-F5344CB8AC3E}">
        <p14:creationId xmlns:p14="http://schemas.microsoft.com/office/powerpoint/2010/main" val="32232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r>
              <a:rPr lang="en-US" dirty="0"/>
              <a:t/>
            </a:r>
            <a:br>
              <a:rPr lang="en-US" dirty="0"/>
            </a:br>
            <a:r>
              <a:rPr lang="en-US" sz="2400" dirty="0"/>
              <a:t>Service Provider MPLS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500016"/>
          </a:xfrm>
        </p:spPr>
        <p:txBody>
          <a:bodyPr/>
          <a:lstStyle/>
          <a:p>
            <a:pPr marL="0" indent="0" algn="l"/>
            <a:r>
              <a:rPr lang="en-US" sz="1600" dirty="0">
                <a:solidFill>
                  <a:srgbClr val="000000"/>
                </a:solidFill>
              </a:rPr>
              <a:t>Today, service providers use MPLS in their core network. Traffic is forwarded through the MPLS backbone using labels. Traffic is secure because service provider customers cannot see each other’s traffic.</a:t>
            </a:r>
          </a:p>
          <a:p>
            <a:pPr marL="285750" indent="-285750" algn="l">
              <a:buFont typeface="Arial" panose="020B0604020202020204" pitchFamily="34" charset="0"/>
              <a:buChar char="•"/>
            </a:pPr>
            <a:r>
              <a:rPr lang="en-US" sz="1600" dirty="0">
                <a:solidFill>
                  <a:srgbClr val="000000"/>
                </a:solidFill>
              </a:rPr>
              <a:t>MPLS can provide clients with managed VPN solutions; therefore, securing traffic between client sites is the responsibility of the service provider. </a:t>
            </a:r>
          </a:p>
          <a:p>
            <a:pPr marL="285750" indent="-285750" algn="l">
              <a:buFont typeface="Arial" panose="020B0604020202020204" pitchFamily="34" charset="0"/>
              <a:buChar char="•"/>
            </a:pPr>
            <a:r>
              <a:rPr lang="en-US" sz="1600" dirty="0">
                <a:solidFill>
                  <a:srgbClr val="000000"/>
                </a:solidFill>
              </a:rPr>
              <a:t>There are two types of MPLS VPN solutions supported by service providers:</a:t>
            </a:r>
          </a:p>
          <a:p>
            <a:pPr marL="358835" lvl="1" indent="-285750">
              <a:buFont typeface="Arial" panose="020B0604020202020204" pitchFamily="34" charset="0"/>
              <a:buChar char="•"/>
            </a:pPr>
            <a:r>
              <a:rPr lang="en-US" b="1" dirty="0">
                <a:solidFill>
                  <a:srgbClr val="000000"/>
                </a:solidFill>
              </a:rPr>
              <a:t>Layer 3 MPLS VPN</a:t>
            </a:r>
            <a:r>
              <a:rPr lang="en-US" dirty="0">
                <a:solidFill>
                  <a:srgbClr val="000000"/>
                </a:solidFill>
              </a:rPr>
              <a:t> - The service provider participates in customer routing by establishing a peering between the customer’s routers and the provider’s routers. </a:t>
            </a:r>
          </a:p>
          <a:p>
            <a:pPr marL="358835" lvl="1" indent="-285750">
              <a:buFont typeface="Arial" panose="020B0604020202020204" pitchFamily="34" charset="0"/>
              <a:buChar char="•"/>
            </a:pPr>
            <a:r>
              <a:rPr lang="en-US" b="1" dirty="0">
                <a:solidFill>
                  <a:srgbClr val="000000"/>
                </a:solidFill>
              </a:rPr>
              <a:t>Layer 2 MPLS VPN</a:t>
            </a:r>
            <a:r>
              <a:rPr lang="en-US" dirty="0">
                <a:solidFill>
                  <a:srgbClr val="000000"/>
                </a:solidFill>
              </a:rPr>
              <a:t> - The service provider is not involved in the customer routing. Instead, the provider deploys a Virtual Private LAN Service (VPLS) to emulate an Ethernet multiaccess LAN segment over the MPLS network. No routing is involved. The customer’s routers effectively belong to the same multiaccess network.</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21935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8.3 IPsec</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r>
              <a:rPr lang="en-US" dirty="0"/>
              <a:t/>
            </a:r>
            <a:br>
              <a:rPr lang="en-US" dirty="0"/>
            </a:br>
            <a:r>
              <a:rPr lang="en-US" sz="2400" dirty="0"/>
              <a:t>Video – IPsec Concepts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57150" indent="0" algn="l" defTabSz="457200" fontAlgn="base">
              <a:spcBef>
                <a:spcPct val="0"/>
              </a:spcBef>
              <a:spcAft>
                <a:spcPct val="0"/>
              </a:spcAft>
            </a:pPr>
            <a:r>
              <a:rPr lang="en-US" sz="1800" dirty="0">
                <a:solidFill>
                  <a:schemeClr val="tx1"/>
                </a:solidFill>
                <a:latin typeface="Arial" charset="0"/>
                <a:ea typeface="ＭＳ Ｐゴシック" pitchFamily="34" charset="-128"/>
              </a:rPr>
              <a:t>This video will cover the following:</a:t>
            </a:r>
          </a:p>
          <a:p>
            <a:pPr marL="285750" indent="-285750" algn="l" defTabSz="457200" fontAlgn="base">
              <a:spcBef>
                <a:spcPct val="0"/>
              </a:spcBef>
              <a:spcAft>
                <a:spcPct val="0"/>
              </a:spcAft>
              <a:buFont typeface="Arial" panose="020B0604020202020204" pitchFamily="34" charset="0"/>
              <a:buChar char="•"/>
            </a:pPr>
            <a:r>
              <a:rPr lang="en-US" sz="1800" dirty="0">
                <a:solidFill>
                  <a:schemeClr val="tx1"/>
                </a:solidFill>
                <a:latin typeface="Arial" charset="0"/>
                <a:ea typeface="ＭＳ Ｐゴシック" pitchFamily="34" charset="-128"/>
              </a:rPr>
              <a:t>The purpose of IPsec</a:t>
            </a:r>
          </a:p>
          <a:p>
            <a:pPr marL="285750" indent="-285750" algn="l" defTabSz="457200" fontAlgn="base">
              <a:spcBef>
                <a:spcPct val="0"/>
              </a:spcBef>
              <a:spcAft>
                <a:spcPct val="0"/>
              </a:spcAft>
              <a:buFont typeface="Arial" panose="020B0604020202020204" pitchFamily="34" charset="0"/>
              <a:buChar char="•"/>
            </a:pPr>
            <a:r>
              <a:rPr lang="en-US" sz="1800" dirty="0">
                <a:solidFill>
                  <a:schemeClr val="tx1"/>
                </a:solidFill>
                <a:latin typeface="Arial" charset="0"/>
                <a:ea typeface="ＭＳ Ｐゴシック" pitchFamily="34" charset="-128"/>
              </a:rPr>
              <a:t>IPsec protocols (AH, ESP, SA, IKE)</a:t>
            </a:r>
            <a:endParaRPr lang="en-US" sz="18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3505014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r>
              <a:rPr lang="en-US" dirty="0"/>
              <a:t/>
            </a:r>
            <a:br>
              <a:rPr lang="en-US" dirty="0"/>
            </a:br>
            <a:r>
              <a:rPr lang="en-US" sz="2400" dirty="0"/>
              <a:t>IPsec Technologies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780379"/>
          </a:xfrm>
        </p:spPr>
        <p:txBody>
          <a:bodyPr/>
          <a:lstStyle/>
          <a:p>
            <a:pPr marL="57150" indent="0" algn="l" defTabSz="457200" fontAlgn="base">
              <a:spcBef>
                <a:spcPct val="0"/>
              </a:spcBef>
              <a:spcAft>
                <a:spcPct val="0"/>
              </a:spcAft>
            </a:pPr>
            <a:r>
              <a:rPr lang="en-US" sz="1800" dirty="0">
                <a:solidFill>
                  <a:srgbClr val="000000"/>
                </a:solidFill>
              </a:rPr>
              <a:t>IPsec is an IETF standard that defines how a VPN can be secured across IP networks. IPsec protects and authenticates IP packets between source and destination and provides these essential security functions:</a:t>
            </a:r>
          </a:p>
          <a:p>
            <a:pPr marL="415985" lvl="1" indent="-285750" defTabSz="457200">
              <a:spcBef>
                <a:spcPct val="0"/>
              </a:spcBef>
              <a:buFont typeface="Arial" panose="020B0604020202020204" pitchFamily="34" charset="0"/>
              <a:buChar char="•"/>
            </a:pPr>
            <a:r>
              <a:rPr lang="en-US" sz="1600" b="1" dirty="0">
                <a:solidFill>
                  <a:srgbClr val="000000"/>
                </a:solidFill>
              </a:rPr>
              <a:t>Confidentiality</a:t>
            </a:r>
            <a:r>
              <a:rPr lang="en-US" sz="1600" dirty="0">
                <a:solidFill>
                  <a:srgbClr val="000000"/>
                </a:solidFill>
              </a:rPr>
              <a:t> - Uses encryption algorithms to prevent cybercriminals from reading the packet contents.</a:t>
            </a:r>
          </a:p>
          <a:p>
            <a:pPr marL="415985" lvl="1" indent="-285750" defTabSz="457200">
              <a:spcBef>
                <a:spcPct val="0"/>
              </a:spcBef>
              <a:buFont typeface="Arial" panose="020B0604020202020204" pitchFamily="34" charset="0"/>
              <a:buChar char="•"/>
            </a:pPr>
            <a:r>
              <a:rPr lang="en-US" sz="1600" b="1" dirty="0">
                <a:solidFill>
                  <a:srgbClr val="000000"/>
                </a:solidFill>
              </a:rPr>
              <a:t>Integrity</a:t>
            </a:r>
            <a:r>
              <a:rPr lang="en-US" sz="1600" dirty="0">
                <a:solidFill>
                  <a:srgbClr val="000000"/>
                </a:solidFill>
              </a:rPr>
              <a:t> - Uses hashing algorithms to ensure that packets have not been altered between source and destination.</a:t>
            </a:r>
          </a:p>
          <a:p>
            <a:pPr marL="415985" lvl="1" indent="-285750" defTabSz="457200">
              <a:spcBef>
                <a:spcPct val="0"/>
              </a:spcBef>
              <a:buFont typeface="Arial" panose="020B0604020202020204" pitchFamily="34" charset="0"/>
              <a:buChar char="•"/>
            </a:pPr>
            <a:r>
              <a:rPr lang="en-US" sz="1600" b="1" dirty="0">
                <a:solidFill>
                  <a:srgbClr val="000000"/>
                </a:solidFill>
              </a:rPr>
              <a:t>Origin authentication</a:t>
            </a:r>
            <a:r>
              <a:rPr lang="en-US" sz="1600" dirty="0">
                <a:solidFill>
                  <a:srgbClr val="000000"/>
                </a:solidFill>
              </a:rPr>
              <a:t> - Uses the Internet Key Exchange (IKE) protocol to authenticate source and destination. </a:t>
            </a:r>
          </a:p>
          <a:p>
            <a:pPr marL="415985" lvl="1" indent="-285750" defTabSz="457200">
              <a:spcBef>
                <a:spcPct val="0"/>
              </a:spcBef>
              <a:buFont typeface="Arial" panose="020B0604020202020204" pitchFamily="34" charset="0"/>
              <a:buChar char="•"/>
            </a:pPr>
            <a:r>
              <a:rPr lang="en-US" sz="1600" b="1" dirty="0">
                <a:solidFill>
                  <a:srgbClr val="000000"/>
                </a:solidFill>
              </a:rPr>
              <a:t>Diffie-Hellman</a:t>
            </a:r>
            <a:r>
              <a:rPr lang="en-US" sz="1600" dirty="0">
                <a:solidFill>
                  <a:srgbClr val="000000"/>
                </a:solidFill>
              </a:rPr>
              <a:t> – Used to secure key exchange.</a:t>
            </a:r>
          </a:p>
          <a:p>
            <a:pPr marL="342900" indent="-285750" algn="l" defTabSz="457200" fontAlgn="base">
              <a:spcBef>
                <a:spcPct val="0"/>
              </a:spcBef>
              <a:spcAft>
                <a:spcPct val="0"/>
              </a:spcAft>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2134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r>
              <a:rPr lang="en-US" dirty="0"/>
              <a:t/>
            </a:r>
            <a:br>
              <a:rPr lang="en-US" dirty="0"/>
            </a:br>
            <a:r>
              <a:rPr lang="en-US" sz="2400" dirty="0"/>
              <a:t>IPsec Technologies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4256986" cy="2674593"/>
          </a:xfrm>
        </p:spPr>
        <p:txBody>
          <a:bodyPr/>
          <a:lstStyle/>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is not bound to any specific rules for secure communications.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can easily integrate new security technologies without updating existing IPsec standards.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The open slots in the IPsec framework shown in the figure can be filled with any of the choices that are available for that IPsec function to create a unique security association (SA).</a:t>
            </a:r>
            <a:endParaRPr lang="en-US" sz="1600" dirty="0">
              <a:solidFill>
                <a:srgbClr val="000000"/>
              </a:solidFill>
              <a:ea typeface="ＭＳ Ｐゴシック" pitchFamily="34" charset="-128"/>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39FD55A7-7086-8940-ADE5-6A22ED27971D}"/>
              </a:ext>
            </a:extLst>
          </p:cNvPr>
          <p:cNvPicPr>
            <a:picLocks noChangeAspect="1"/>
          </p:cNvPicPr>
          <p:nvPr/>
        </p:nvPicPr>
        <p:blipFill>
          <a:blip r:embed="rId3"/>
          <a:stretch>
            <a:fillRect/>
          </a:stretch>
        </p:blipFill>
        <p:spPr>
          <a:xfrm>
            <a:off x="4688958" y="1008027"/>
            <a:ext cx="4104773" cy="3127446"/>
          </a:xfrm>
          <a:prstGeom prst="rect">
            <a:avLst/>
          </a:prstGeom>
        </p:spPr>
      </p:pic>
    </p:spTree>
    <p:extLst>
      <p:ext uri="{BB962C8B-B14F-4D97-AF65-F5344CB8AC3E}">
        <p14:creationId xmlns:p14="http://schemas.microsoft.com/office/powerpoint/2010/main" val="3671402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r>
              <a:rPr lang="en-US" dirty="0"/>
              <a:t/>
            </a:r>
            <a:br>
              <a:rPr lang="en-US" dirty="0"/>
            </a:br>
            <a:r>
              <a:rPr lang="en-US" sz="2400" dirty="0"/>
              <a:t>IPsec Protocol Encapsulation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63112" cy="3612889"/>
          </a:xfrm>
        </p:spPr>
        <p:txBody>
          <a:bodyPr/>
          <a:lstStyle/>
          <a:p>
            <a:pPr marL="0" indent="0" algn="l"/>
            <a:r>
              <a:rPr lang="en-US" sz="1600" dirty="0">
                <a:solidFill>
                  <a:srgbClr val="000000"/>
                </a:solidFill>
              </a:rPr>
              <a:t>Choosing the IPsec protocol encapsulation is the first building block of the framework.</a:t>
            </a:r>
          </a:p>
          <a:p>
            <a:pPr marL="285750" indent="-285750" algn="l">
              <a:buFont typeface="Arial" panose="020B0604020202020204" pitchFamily="34" charset="0"/>
              <a:buChar char="•"/>
            </a:pPr>
            <a:r>
              <a:rPr lang="en-US" sz="1600" dirty="0">
                <a:solidFill>
                  <a:srgbClr val="000000"/>
                </a:solidFill>
              </a:rPr>
              <a:t>IPsec encapsulates packets using Authentication Header (AH) or Encapsulation Security Protocol (ESP).</a:t>
            </a:r>
          </a:p>
          <a:p>
            <a:pPr marL="285750" indent="-285750" algn="l">
              <a:buFont typeface="Arial" panose="020B0604020202020204" pitchFamily="34" charset="0"/>
              <a:buChar char="•"/>
            </a:pPr>
            <a:r>
              <a:rPr lang="en-US" sz="1600" dirty="0">
                <a:solidFill>
                  <a:srgbClr val="000000"/>
                </a:solidFill>
              </a:rPr>
              <a:t>The choice of AH or ESP establishes which other building blocks are available.</a:t>
            </a:r>
          </a:p>
          <a:p>
            <a:pPr marL="358835" lvl="1" indent="-285750">
              <a:buFont typeface="Arial" panose="020B0604020202020204" pitchFamily="34" charset="0"/>
              <a:buChar char="•"/>
            </a:pPr>
            <a:r>
              <a:rPr lang="en-US" dirty="0">
                <a:solidFill>
                  <a:srgbClr val="000000"/>
                </a:solidFill>
              </a:rPr>
              <a:t>AH is appropriate only when confidentiality is not required or permitted.</a:t>
            </a:r>
          </a:p>
          <a:p>
            <a:pPr marL="358835" lvl="1" indent="-285750">
              <a:buFont typeface="Arial" panose="020B0604020202020204" pitchFamily="34" charset="0"/>
              <a:buChar char="•"/>
            </a:pPr>
            <a:r>
              <a:rPr lang="en-US" dirty="0">
                <a:solidFill>
                  <a:srgbClr val="000000"/>
                </a:solidFill>
              </a:rPr>
              <a:t>ESP provides both confidentiality and authentication.</a:t>
            </a:r>
          </a:p>
        </p:txBody>
      </p:sp>
      <p:pic>
        <p:nvPicPr>
          <p:cNvPr id="6" name="Picture 5">
            <a:extLst>
              <a:ext uri="{FF2B5EF4-FFF2-40B4-BE49-F238E27FC236}">
                <a16:creationId xmlns:a16="http://schemas.microsoft.com/office/drawing/2014/main" id="{2DA014AE-62B5-6740-9A0C-431D5FAA8C61}"/>
              </a:ext>
            </a:extLst>
          </p:cNvPr>
          <p:cNvPicPr>
            <a:picLocks noChangeAspect="1"/>
          </p:cNvPicPr>
          <p:nvPr/>
        </p:nvPicPr>
        <p:blipFill>
          <a:blip r:embed="rId3"/>
          <a:stretch>
            <a:fillRect/>
          </a:stretch>
        </p:blipFill>
        <p:spPr>
          <a:xfrm>
            <a:off x="4572000" y="957766"/>
            <a:ext cx="4308826" cy="3227968"/>
          </a:xfrm>
          <a:prstGeom prst="rect">
            <a:avLst/>
          </a:prstGeom>
        </p:spPr>
      </p:pic>
    </p:spTree>
    <p:extLst>
      <p:ext uri="{BB962C8B-B14F-4D97-AF65-F5344CB8AC3E}">
        <p14:creationId xmlns:p14="http://schemas.microsoft.com/office/powerpoint/2010/main" val="2776543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r>
              <a:rPr lang="en-US" dirty="0"/>
              <a:t/>
            </a:r>
            <a:br>
              <a:rPr lang="en-US" dirty="0"/>
            </a:br>
            <a:r>
              <a:rPr lang="en-US" sz="2400" dirty="0"/>
              <a:t>Confidentiality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285786" cy="2674593"/>
          </a:xfrm>
        </p:spPr>
        <p:txBody>
          <a:bodyPr/>
          <a:lstStyle/>
          <a:p>
            <a:pPr marL="0" indent="0" algn="l"/>
            <a:r>
              <a:rPr lang="en-US" sz="1600" dirty="0">
                <a:solidFill>
                  <a:srgbClr val="000000"/>
                </a:solidFill>
              </a:rPr>
              <a:t>The degree of confidentiality depends on the encryption algorithm and the length of the key used in the encryption algorithm. </a:t>
            </a:r>
          </a:p>
          <a:p>
            <a:pPr marL="0" indent="0" algn="l"/>
            <a:endParaRPr lang="en-US" sz="1600" dirty="0">
              <a:solidFill>
                <a:srgbClr val="000000"/>
              </a:solidFill>
            </a:endParaRPr>
          </a:p>
          <a:p>
            <a:pPr marL="0" indent="0" algn="l"/>
            <a:r>
              <a:rPr lang="en-US" sz="1600" dirty="0">
                <a:solidFill>
                  <a:srgbClr val="000000"/>
                </a:solidFill>
              </a:rPr>
              <a:t>The number of possibilities to try to hack the key is a function of the length of the key - the shorter the key, the easier it is to break.</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A31CE4EA-92FF-4776-8E40-9A609DE64BAA}"/>
              </a:ext>
            </a:extLst>
          </p:cNvPr>
          <p:cNvPicPr>
            <a:picLocks noChangeAspect="1"/>
          </p:cNvPicPr>
          <p:nvPr/>
        </p:nvPicPr>
        <p:blipFill>
          <a:blip r:embed="rId3"/>
          <a:stretch>
            <a:fillRect/>
          </a:stretch>
        </p:blipFill>
        <p:spPr>
          <a:xfrm>
            <a:off x="4167577" y="1121729"/>
            <a:ext cx="4628672" cy="2845826"/>
          </a:xfrm>
          <a:prstGeom prst="rect">
            <a:avLst/>
          </a:prstGeom>
        </p:spPr>
      </p:pic>
    </p:spTree>
    <p:extLst>
      <p:ext uri="{BB962C8B-B14F-4D97-AF65-F5344CB8AC3E}">
        <p14:creationId xmlns:p14="http://schemas.microsoft.com/office/powerpoint/2010/main" val="316665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r>
              <a:rPr lang="en-US" dirty="0"/>
              <a:t/>
            </a:r>
            <a:br>
              <a:rPr lang="en-US" dirty="0"/>
            </a:br>
            <a:r>
              <a:rPr lang="en-US" sz="2400" dirty="0"/>
              <a:t>Confidentiality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983476" cy="3620891"/>
          </a:xfrm>
        </p:spPr>
        <p:txBody>
          <a:bodyPr/>
          <a:lstStyle/>
          <a:p>
            <a:pPr marL="0" indent="0" algn="l"/>
            <a:r>
              <a:rPr lang="en-US" sz="1600" dirty="0">
                <a:solidFill>
                  <a:srgbClr val="000000"/>
                </a:solidFill>
              </a:rPr>
              <a:t>The encryption algorithms highlighted in the figure are all symmetric key cryptosystems: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DES uses a 56-bit key.</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3DES uses three independent 56-bit encryption keys per 64-bit block.</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AES offers three different key lengths: 128 bits, 192 bits, and 256 bits.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SEAL is a stream cipher, which means it encrypts data continuously rather than encrypting blocks of data. SEAL uses a 160-bit key.</a:t>
            </a: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B3301DD0-6ABA-614F-B6EF-E3BB2AD3268D}"/>
              </a:ext>
            </a:extLst>
          </p:cNvPr>
          <p:cNvPicPr>
            <a:picLocks noChangeAspect="1"/>
          </p:cNvPicPr>
          <p:nvPr/>
        </p:nvPicPr>
        <p:blipFill>
          <a:blip r:embed="rId3"/>
          <a:stretch>
            <a:fillRect/>
          </a:stretch>
        </p:blipFill>
        <p:spPr>
          <a:xfrm>
            <a:off x="4572000" y="977566"/>
            <a:ext cx="4434808" cy="3498741"/>
          </a:xfrm>
          <a:prstGeom prst="rect">
            <a:avLst/>
          </a:prstGeom>
        </p:spPr>
      </p:pic>
    </p:spTree>
    <p:extLst>
      <p:ext uri="{BB962C8B-B14F-4D97-AF65-F5344CB8AC3E}">
        <p14:creationId xmlns:p14="http://schemas.microsoft.com/office/powerpoint/2010/main" val="3910924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r>
              <a:rPr lang="en-US" dirty="0"/>
              <a:t/>
            </a:r>
            <a:br>
              <a:rPr lang="en-US" dirty="0"/>
            </a:br>
            <a:r>
              <a:rPr lang="en-US" sz="2400" dirty="0"/>
              <a:t>Integrity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84996" cy="3620891"/>
          </a:xfrm>
        </p:spPr>
        <p:txBody>
          <a:bodyPr/>
          <a:lstStyle/>
          <a:p>
            <a:pPr marL="285750" indent="-285750" algn="l">
              <a:buFont typeface="Arial" panose="020B0604020202020204" pitchFamily="34" charset="0"/>
              <a:buChar char="•"/>
            </a:pPr>
            <a:r>
              <a:rPr lang="en-US" sz="1600" dirty="0">
                <a:solidFill>
                  <a:srgbClr val="000000"/>
                </a:solidFill>
              </a:rPr>
              <a:t>Data integrity means that the data has not changed in transit.</a:t>
            </a:r>
          </a:p>
          <a:p>
            <a:pPr marL="285750" indent="-285750" algn="l">
              <a:buFont typeface="Arial" panose="020B0604020202020204" pitchFamily="34" charset="0"/>
              <a:buChar char="•"/>
            </a:pPr>
            <a:r>
              <a:rPr lang="en-US" sz="1600" dirty="0">
                <a:solidFill>
                  <a:srgbClr val="000000"/>
                </a:solidFill>
              </a:rPr>
              <a:t>A method of proving data integrity is required. </a:t>
            </a:r>
          </a:p>
          <a:p>
            <a:pPr marL="285750" indent="-285750" algn="l">
              <a:buFont typeface="Arial" panose="020B0604020202020204" pitchFamily="34" charset="0"/>
              <a:buChar char="•"/>
            </a:pPr>
            <a:r>
              <a:rPr lang="en-US" sz="1600" dirty="0">
                <a:solidFill>
                  <a:srgbClr val="000000"/>
                </a:solidFill>
              </a:rPr>
              <a:t>The Hashed Message Authentication Code (HMAC) is a data integrity algorithm that guarantees the integrity of the message using a hash value.</a:t>
            </a:r>
          </a:p>
          <a:p>
            <a:pPr marL="358835" lvl="1" indent="-285750">
              <a:buFont typeface="Arial" panose="020B0604020202020204" pitchFamily="34" charset="0"/>
              <a:buChar char="•"/>
            </a:pPr>
            <a:r>
              <a:rPr lang="en-US" sz="1600" dirty="0">
                <a:solidFill>
                  <a:srgbClr val="000000"/>
                </a:solidFill>
              </a:rPr>
              <a:t>Message-Digest 5 (MD5) uses a 128-bit shared-secret key.</a:t>
            </a:r>
          </a:p>
          <a:p>
            <a:pPr marL="358835" lvl="1" indent="-285750">
              <a:buFont typeface="Arial" panose="020B0604020202020204" pitchFamily="34" charset="0"/>
              <a:buChar char="•"/>
            </a:pPr>
            <a:r>
              <a:rPr lang="en-US" sz="1600" dirty="0">
                <a:solidFill>
                  <a:srgbClr val="000000"/>
                </a:solidFill>
              </a:rPr>
              <a:t>The Secure Hash Algorithm (SHA) uses a 160-bit secret key.</a:t>
            </a:r>
          </a:p>
        </p:txBody>
      </p:sp>
      <p:pic>
        <p:nvPicPr>
          <p:cNvPr id="6" name="Picture 5">
            <a:extLst>
              <a:ext uri="{FF2B5EF4-FFF2-40B4-BE49-F238E27FC236}">
                <a16:creationId xmlns:a16="http://schemas.microsoft.com/office/drawing/2014/main" id="{705DEA5D-0533-E443-988F-B46238A667F8}"/>
              </a:ext>
            </a:extLst>
          </p:cNvPr>
          <p:cNvPicPr>
            <a:picLocks noChangeAspect="1"/>
          </p:cNvPicPr>
          <p:nvPr/>
        </p:nvPicPr>
        <p:blipFill>
          <a:blip r:embed="rId3"/>
          <a:stretch>
            <a:fillRect/>
          </a:stretch>
        </p:blipFill>
        <p:spPr>
          <a:xfrm>
            <a:off x="4316968" y="962526"/>
            <a:ext cx="4395060" cy="3393465"/>
          </a:xfrm>
          <a:prstGeom prst="rect">
            <a:avLst/>
          </a:prstGeom>
        </p:spPr>
      </p:pic>
    </p:spTree>
    <p:extLst>
      <p:ext uri="{BB962C8B-B14F-4D97-AF65-F5344CB8AC3E}">
        <p14:creationId xmlns:p14="http://schemas.microsoft.com/office/powerpoint/2010/main" val="193717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r>
              <a:rPr lang="en-US" dirty="0"/>
              <a:t/>
            </a:r>
            <a:br>
              <a:rPr lang="en-US" dirty="0"/>
            </a:br>
            <a:r>
              <a:rPr lang="en-US" sz="2400" dirty="0"/>
              <a:t>Authentication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6"/>
            <a:ext cx="3871155" cy="3620891"/>
          </a:xfrm>
        </p:spPr>
        <p:txBody>
          <a:bodyPr/>
          <a:lstStyle/>
          <a:p>
            <a:pPr marL="0" indent="0" algn="l"/>
            <a:r>
              <a:rPr lang="en-US" sz="1600" dirty="0">
                <a:solidFill>
                  <a:srgbClr val="000000"/>
                </a:solidFill>
              </a:rPr>
              <a:t>There are two IPsec peer authentication methods:</a:t>
            </a:r>
          </a:p>
          <a:p>
            <a:pPr marL="342900" indent="-342900" algn="l">
              <a:buFont typeface="+mj-lt"/>
              <a:buAutoNum type="arabicPeriod"/>
            </a:pPr>
            <a:r>
              <a:rPr lang="en-US" sz="1600" b="1" dirty="0">
                <a:solidFill>
                  <a:srgbClr val="000000"/>
                </a:solidFill>
              </a:rPr>
              <a:t>Pre-shared key (PSK) </a:t>
            </a:r>
            <a:r>
              <a:rPr lang="en-US" sz="1600" dirty="0">
                <a:solidFill>
                  <a:srgbClr val="000000"/>
                </a:solidFill>
              </a:rPr>
              <a:t>- (PSK) value is entered into each peer manually.</a:t>
            </a:r>
          </a:p>
          <a:p>
            <a:pPr marL="358835" lvl="1" indent="-285750">
              <a:buFont typeface="Arial" panose="020B0604020202020204" pitchFamily="34" charset="0"/>
              <a:buChar char="•"/>
            </a:pPr>
            <a:r>
              <a:rPr lang="en-US" dirty="0">
                <a:solidFill>
                  <a:srgbClr val="000000"/>
                </a:solidFill>
              </a:rPr>
              <a:t>Easy to configure manually</a:t>
            </a:r>
          </a:p>
          <a:p>
            <a:pPr marL="358835" lvl="1" indent="-285750">
              <a:buFont typeface="Arial" panose="020B0604020202020204" pitchFamily="34" charset="0"/>
              <a:buChar char="•"/>
            </a:pPr>
            <a:r>
              <a:rPr lang="en-US" dirty="0">
                <a:solidFill>
                  <a:srgbClr val="000000"/>
                </a:solidFill>
              </a:rPr>
              <a:t>Does not scale well</a:t>
            </a:r>
          </a:p>
          <a:p>
            <a:pPr marL="358835" lvl="1" indent="-285750">
              <a:buFont typeface="Arial" panose="020B0604020202020204" pitchFamily="34" charset="0"/>
              <a:buChar char="•"/>
            </a:pPr>
            <a:r>
              <a:rPr lang="en-US" dirty="0">
                <a:solidFill>
                  <a:srgbClr val="000000"/>
                </a:solidFill>
              </a:rPr>
              <a:t>Must be configured on every peer</a:t>
            </a:r>
          </a:p>
          <a:p>
            <a:pPr marL="342900" indent="-342900" algn="l">
              <a:buFont typeface="+mj-lt"/>
              <a:buAutoNum type="arabicPeriod"/>
            </a:pPr>
            <a:r>
              <a:rPr lang="en-US" sz="1600" b="1" dirty="0">
                <a:solidFill>
                  <a:srgbClr val="000000"/>
                </a:solidFill>
              </a:rPr>
              <a:t>Rivest, Shamir, and Adleman (RSA) </a:t>
            </a:r>
            <a:r>
              <a:rPr lang="en-US" sz="1600" dirty="0">
                <a:solidFill>
                  <a:srgbClr val="000000"/>
                </a:solidFill>
              </a:rPr>
              <a:t>-</a:t>
            </a:r>
            <a:r>
              <a:rPr lang="en-US" sz="1600" b="1" dirty="0">
                <a:solidFill>
                  <a:srgbClr val="000000"/>
                </a:solidFill>
              </a:rPr>
              <a:t> </a:t>
            </a:r>
            <a:r>
              <a:rPr lang="en-US" sz="1600" dirty="0">
                <a:solidFill>
                  <a:srgbClr val="000000"/>
                </a:solidFill>
              </a:rPr>
              <a:t>authentication uses digital certificates to authenticate the peers.</a:t>
            </a:r>
          </a:p>
          <a:p>
            <a:pPr marL="358835" lvl="1" indent="-285750">
              <a:buFont typeface="Arial" panose="020B0604020202020204" pitchFamily="34" charset="0"/>
              <a:buChar char="•"/>
            </a:pPr>
            <a:r>
              <a:rPr lang="en-US" dirty="0">
                <a:solidFill>
                  <a:srgbClr val="000000"/>
                </a:solidFill>
              </a:rPr>
              <a:t>Each peer must authenticate its opposite peer before the tunnel is considered secure.</a:t>
            </a:r>
          </a:p>
        </p:txBody>
      </p:sp>
      <p:pic>
        <p:nvPicPr>
          <p:cNvPr id="6" name="Picture 5">
            <a:extLst>
              <a:ext uri="{FF2B5EF4-FFF2-40B4-BE49-F238E27FC236}">
                <a16:creationId xmlns:a16="http://schemas.microsoft.com/office/drawing/2014/main" id="{C3979770-399C-594E-91AF-734C30542628}"/>
              </a:ext>
            </a:extLst>
          </p:cNvPr>
          <p:cNvPicPr>
            <a:picLocks noChangeAspect="1"/>
          </p:cNvPicPr>
          <p:nvPr/>
        </p:nvPicPr>
        <p:blipFill>
          <a:blip r:embed="rId3"/>
          <a:stretch>
            <a:fillRect/>
          </a:stretch>
        </p:blipFill>
        <p:spPr>
          <a:xfrm>
            <a:off x="4303127" y="912566"/>
            <a:ext cx="4408901" cy="3405496"/>
          </a:xfrm>
          <a:prstGeom prst="rect">
            <a:avLst/>
          </a:prstGeom>
        </p:spPr>
      </p:pic>
    </p:spTree>
    <p:extLst>
      <p:ext uri="{BB962C8B-B14F-4D97-AF65-F5344CB8AC3E}">
        <p14:creationId xmlns:p14="http://schemas.microsoft.com/office/powerpoint/2010/main" val="4221293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r>
              <a:rPr lang="en-US" dirty="0"/>
              <a:t/>
            </a:r>
            <a:br>
              <a:rPr lang="en-US" dirty="0"/>
            </a:br>
            <a:r>
              <a:rPr lang="en-US" sz="2400" dirty="0"/>
              <a:t>Secure Key Exchange with Diffie - Hellman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24853" y="855416"/>
            <a:ext cx="4070251" cy="3728616"/>
          </a:xfrm>
        </p:spPr>
        <p:txBody>
          <a:bodyPr/>
          <a:lstStyle/>
          <a:p>
            <a:pPr marL="0" indent="0" algn="l"/>
            <a:r>
              <a:rPr lang="en-US" sz="1600" dirty="0">
                <a:solidFill>
                  <a:srgbClr val="000000"/>
                </a:solidFill>
              </a:rPr>
              <a:t>DH provides allows two peers to establish a shared secret key over an insecure channel.</a:t>
            </a:r>
          </a:p>
          <a:p>
            <a:pPr marL="0" indent="0" algn="l"/>
            <a:endParaRPr lang="en-US" sz="1600" dirty="0">
              <a:solidFill>
                <a:srgbClr val="000000"/>
              </a:solidFill>
            </a:endParaRPr>
          </a:p>
          <a:p>
            <a:pPr marL="0" indent="0" algn="l"/>
            <a:r>
              <a:rPr lang="en-US" sz="1600" dirty="0">
                <a:solidFill>
                  <a:srgbClr val="000000"/>
                </a:solidFill>
              </a:rPr>
              <a:t>Variations of the DH key exchange are specified as DH groups:</a:t>
            </a:r>
          </a:p>
          <a:p>
            <a:pPr marL="358835" lvl="1" indent="-285750">
              <a:buFont typeface="Arial" panose="020B0604020202020204" pitchFamily="34" charset="0"/>
              <a:buChar char="•"/>
            </a:pPr>
            <a:r>
              <a:rPr lang="en-US" dirty="0">
                <a:solidFill>
                  <a:srgbClr val="000000"/>
                </a:solidFill>
              </a:rPr>
              <a:t>DH groups 1, 2, and 5 should no longer be used.</a:t>
            </a:r>
          </a:p>
          <a:p>
            <a:pPr marL="358835" lvl="1" indent="-285750">
              <a:buFont typeface="Arial" panose="020B0604020202020204" pitchFamily="34" charset="0"/>
              <a:buChar char="•"/>
            </a:pPr>
            <a:r>
              <a:rPr lang="en-US" dirty="0">
                <a:solidFill>
                  <a:srgbClr val="000000"/>
                </a:solidFill>
              </a:rPr>
              <a:t>DH groups 14, 15, and 16 use larger key sizes with 2048 bits, 3072 bits, and 4096 bits, respectively</a:t>
            </a:r>
          </a:p>
          <a:p>
            <a:pPr marL="358835" lvl="1" indent="-285750">
              <a:buFont typeface="Arial" panose="020B0604020202020204" pitchFamily="34" charset="0"/>
              <a:buChar char="•"/>
            </a:pPr>
            <a:r>
              <a:rPr lang="en-US" dirty="0">
                <a:solidFill>
                  <a:srgbClr val="000000"/>
                </a:solidFill>
              </a:rPr>
              <a:t>DH groups 19, 20, 21 and 24 with respective key sizes of 256 bits, 384 bits, 521 bits, and 2048 bits support Elliptical Curve Cryptography (ECC), which reduces the time needed to generate keys. </a:t>
            </a:r>
          </a:p>
        </p:txBody>
      </p:sp>
      <p:pic>
        <p:nvPicPr>
          <p:cNvPr id="6" name="Picture 5">
            <a:extLst>
              <a:ext uri="{FF2B5EF4-FFF2-40B4-BE49-F238E27FC236}">
                <a16:creationId xmlns:a16="http://schemas.microsoft.com/office/drawing/2014/main" id="{1F4AAE19-6EBC-404E-81FC-C28BE8B13349}"/>
              </a:ext>
            </a:extLst>
          </p:cNvPr>
          <p:cNvPicPr>
            <a:picLocks noChangeAspect="1"/>
          </p:cNvPicPr>
          <p:nvPr/>
        </p:nvPicPr>
        <p:blipFill>
          <a:blip r:embed="rId3"/>
          <a:stretch>
            <a:fillRect/>
          </a:stretch>
        </p:blipFill>
        <p:spPr>
          <a:xfrm>
            <a:off x="4280396" y="1339878"/>
            <a:ext cx="4648200" cy="3035300"/>
          </a:xfrm>
          <a:prstGeom prst="rect">
            <a:avLst/>
          </a:prstGeom>
        </p:spPr>
      </p:pic>
    </p:spTree>
    <p:extLst>
      <p:ext uri="{BB962C8B-B14F-4D97-AF65-F5344CB8AC3E}">
        <p14:creationId xmlns:p14="http://schemas.microsoft.com/office/powerpoint/2010/main" val="3651372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r>
              <a:rPr lang="en-US" dirty="0"/>
              <a:t/>
            </a:r>
            <a:br>
              <a:rPr lang="en-US" dirty="0"/>
            </a:br>
            <a:r>
              <a:rPr lang="en-US" sz="2400" dirty="0"/>
              <a:t>Video – IPsec Transport and Tunnel Mode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57150" indent="0" algn="l" defTabSz="457200" fontAlgn="base">
              <a:spcBef>
                <a:spcPct val="0"/>
              </a:spcBef>
              <a:spcAft>
                <a:spcPct val="0"/>
              </a:spcAft>
            </a:pPr>
            <a:r>
              <a:rPr lang="en-US" sz="1800" dirty="0">
                <a:solidFill>
                  <a:srgbClr val="000000"/>
                </a:solidFill>
                <a:latin typeface="Arial" charset="0"/>
                <a:ea typeface="ＭＳ Ｐゴシック" pitchFamily="34" charset="-128"/>
              </a:rPr>
              <a:t>This video will explain the process of the IPv4 packet with ESP in transport mode and in tunnel mode.</a:t>
            </a:r>
            <a:endParaRPr lang="en-US" sz="18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133641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8.4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VPN is private in that the traffic is encrypted to keep the data confidential while it is transported across the public network. </a:t>
            </a:r>
          </a:p>
          <a:p>
            <a:pPr>
              <a:spcBef>
                <a:spcPts val="0"/>
              </a:spcBef>
              <a:spcAft>
                <a:spcPts val="0"/>
              </a:spcAft>
              <a:buFont typeface="Arial" panose="020B0604020202020204" pitchFamily="34" charset="0"/>
              <a:buChar char="•"/>
            </a:pPr>
            <a:r>
              <a:rPr lang="en-US" sz="1600" dirty="0"/>
              <a:t>Benefits of VPNs are cost savings, security, scalability, and compatibility.</a:t>
            </a:r>
          </a:p>
          <a:p>
            <a:pPr>
              <a:spcBef>
                <a:spcPts val="0"/>
              </a:spcBef>
              <a:spcAft>
                <a:spcPts val="0"/>
              </a:spcAft>
              <a:buFont typeface="Arial" panose="020B0604020202020204" pitchFamily="34" charset="0"/>
              <a:buChar char="•"/>
            </a:pPr>
            <a:r>
              <a:rPr lang="en-US" sz="1600" dirty="0"/>
              <a:t>Remote-access VPNs let remote and mobile users securely connect to the enterprise by creating an encrypted tunnel. Remote access VPNs can be created using either IPsec or SSL. </a:t>
            </a:r>
          </a:p>
          <a:p>
            <a:pPr>
              <a:spcBef>
                <a:spcPts val="0"/>
              </a:spcBef>
              <a:spcAft>
                <a:spcPts val="0"/>
              </a:spcAft>
              <a:buFont typeface="Arial" panose="020B0604020202020204" pitchFamily="34" charset="0"/>
              <a:buChar char="•"/>
            </a:pPr>
            <a:r>
              <a:rPr lang="en-US" sz="1600" dirty="0"/>
              <a:t>Site-to-site VPNs are used to connect networks across an untrusted network such as the internet.</a:t>
            </a:r>
          </a:p>
          <a:p>
            <a:pPr>
              <a:spcBef>
                <a:spcPts val="0"/>
              </a:spcBef>
              <a:spcAft>
                <a:spcPts val="0"/>
              </a:spcAft>
              <a:buFont typeface="Arial" panose="020B0604020202020204" pitchFamily="34" charset="0"/>
              <a:buChar char="•"/>
            </a:pPr>
            <a:r>
              <a:rPr lang="en-US" sz="1600" dirty="0"/>
              <a:t>In a site-to-site VPN, end hosts send and receive normal unencrypted TCP/IP traffic through a VPN terminating device. The VPN terminating device is typically called a VPN gateway.</a:t>
            </a:r>
          </a:p>
          <a:p>
            <a:pPr>
              <a:spcBef>
                <a:spcPts val="0"/>
              </a:spcBef>
              <a:spcAft>
                <a:spcPts val="0"/>
              </a:spcAft>
              <a:buFont typeface="Arial" panose="020B0604020202020204" pitchFamily="34" charset="0"/>
              <a:buChar char="•"/>
            </a:pPr>
            <a:r>
              <a:rPr lang="en-US" sz="1600" dirty="0"/>
              <a:t>GRE is a non-secure site-to-site VPN tunneling protocol.</a:t>
            </a:r>
          </a:p>
          <a:p>
            <a:pPr>
              <a:spcBef>
                <a:spcPts val="0"/>
              </a:spcBef>
              <a:spcAft>
                <a:spcPts val="0"/>
              </a:spcAft>
              <a:buFont typeface="Arial" panose="020B0604020202020204" pitchFamily="34" charset="0"/>
              <a:buChar char="•"/>
            </a:pPr>
            <a:r>
              <a:rPr lang="en-US" sz="1600" dirty="0"/>
              <a:t>DMVPN is a Cisco software solution for easily building multiple, dynamic, scalable VPNs. </a:t>
            </a:r>
          </a:p>
          <a:p>
            <a:pPr>
              <a:spcBef>
                <a:spcPts val="0"/>
              </a:spcBef>
              <a:spcAft>
                <a:spcPts val="0"/>
              </a:spcAft>
              <a:buFont typeface="Arial" panose="020B0604020202020204" pitchFamily="34" charset="0"/>
              <a:buChar char="•"/>
            </a:pPr>
            <a:r>
              <a:rPr lang="en-US" sz="1600" dirty="0"/>
              <a:t>Like DMVPNs, IPsec VTI simplifies the configuration process required to support multiple sites and remote access. </a:t>
            </a:r>
          </a:p>
          <a:p>
            <a:pPr>
              <a:spcBef>
                <a:spcPts val="0"/>
              </a:spcBef>
              <a:spcAft>
                <a:spcPts val="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IPsec protects and authenticates IP packets between source and destination. </a:t>
            </a:r>
          </a:p>
          <a:p>
            <a:pPr>
              <a:spcBef>
                <a:spcPts val="0"/>
              </a:spcBef>
              <a:spcAft>
                <a:spcPts val="0"/>
              </a:spcAft>
              <a:buFont typeface="Arial" panose="020B0604020202020204" pitchFamily="34" charset="0"/>
              <a:buChar char="•"/>
            </a:pPr>
            <a:r>
              <a:rPr lang="en-US" sz="1600" dirty="0"/>
              <a:t>IPsec can protect traffic from Layer 4 through Layer 7. </a:t>
            </a:r>
          </a:p>
          <a:p>
            <a:pPr>
              <a:spcBef>
                <a:spcPts val="0"/>
              </a:spcBef>
              <a:spcAft>
                <a:spcPts val="0"/>
              </a:spcAft>
              <a:buFont typeface="Arial" panose="020B0604020202020204" pitchFamily="34" charset="0"/>
              <a:buChar char="•"/>
            </a:pPr>
            <a:r>
              <a:rPr lang="en-US" sz="1600" dirty="0"/>
              <a:t>Using the IPsec framework, IPsec provides confidentiality, integrity, origin authentication, and Diffie-Hellman.</a:t>
            </a:r>
          </a:p>
          <a:p>
            <a:pPr>
              <a:spcBef>
                <a:spcPts val="0"/>
              </a:spcBef>
              <a:spcAft>
                <a:spcPts val="0"/>
              </a:spcAft>
              <a:buFont typeface="Arial" panose="020B0604020202020204" pitchFamily="34" charset="0"/>
              <a:buChar char="•"/>
            </a:pPr>
            <a:r>
              <a:rPr lang="en-US" sz="1600" dirty="0"/>
              <a:t>IPsec encapsulates packets using AH or ESP. </a:t>
            </a:r>
          </a:p>
          <a:p>
            <a:pPr>
              <a:spcBef>
                <a:spcPts val="0"/>
              </a:spcBef>
              <a:spcAft>
                <a:spcPts val="0"/>
              </a:spcAft>
              <a:buFont typeface="Arial" panose="020B0604020202020204" pitchFamily="34" charset="0"/>
              <a:buChar char="•"/>
            </a:pPr>
            <a:r>
              <a:rPr lang="en-US" sz="1600" dirty="0"/>
              <a:t>The degree of confidentiality depends on the encryption algorithm and the length of the key used in the encryption algorithm.</a:t>
            </a:r>
          </a:p>
          <a:p>
            <a:pPr>
              <a:spcBef>
                <a:spcPts val="0"/>
              </a:spcBef>
              <a:spcAft>
                <a:spcPts val="0"/>
              </a:spcAft>
              <a:buFont typeface="Arial" panose="020B0604020202020204" pitchFamily="34" charset="0"/>
              <a:buChar char="•"/>
            </a:pPr>
            <a:r>
              <a:rPr lang="en-US" sz="1600" dirty="0"/>
              <a:t>DH provides a way for two peers to establish a shared secret key that only they know, even though they are communicating over an insecure channel.</a:t>
            </a:r>
          </a:p>
        </p:txBody>
      </p:sp>
    </p:spTree>
    <p:custDataLst>
      <p:tags r:id="rId1"/>
    </p:custDataLst>
    <p:extLst>
      <p:ext uri="{BB962C8B-B14F-4D97-AF65-F5344CB8AC3E}">
        <p14:creationId xmlns:p14="http://schemas.microsoft.com/office/powerpoint/2010/main" val="935809628"/>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8: VPN and </a:t>
            </a:r>
            <a:r>
              <a:rPr lang="en-US" sz="1400" b="1" dirty="0">
                <a:latin typeface="Arial" charset="0"/>
              </a:rPr>
              <a:t>IPsec</a:t>
            </a:r>
            <a:r>
              <a:rPr lang="en-US" sz="1400" dirty="0">
                <a:latin typeface="Arial" charset="0"/>
              </a:rPr>
              <a:t> Concepts</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4084802229"/>
              </p:ext>
            </p:extLst>
          </p:nvPr>
        </p:nvGraphicFramePr>
        <p:xfrm>
          <a:off x="144463" y="798513"/>
          <a:ext cx="8853486" cy="371856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893292421"/>
                    </a:ext>
                  </a:extLst>
                </a:gridCol>
              </a:tblGrid>
              <a:tr h="370840">
                <a:tc>
                  <a:txBody>
                    <a:bodyPr/>
                    <a:lstStyle/>
                    <a:p>
                      <a:pPr marL="285750" indent="-285750">
                        <a:buFont typeface="Arial" panose="020B0604020202020204" pitchFamily="34" charset="0"/>
                        <a:buChar char="•"/>
                      </a:pPr>
                      <a:r>
                        <a:rPr lang="en-US" b="0" dirty="0">
                          <a:solidFill>
                            <a:srgbClr val="000000"/>
                          </a:solidFill>
                        </a:rPr>
                        <a:t>Cisco Adaptive Security Appliance (ASA) firewall</a:t>
                      </a:r>
                    </a:p>
                    <a:p>
                      <a:pPr marL="285750" indent="-285750">
                        <a:buFont typeface="Arial" panose="020B0604020202020204" pitchFamily="34" charset="0"/>
                        <a:buChar char="•"/>
                      </a:pPr>
                      <a:r>
                        <a:rPr lang="en-US" b="0" dirty="0">
                          <a:solidFill>
                            <a:srgbClr val="000000"/>
                          </a:solidFill>
                        </a:rPr>
                        <a:t>SOHO</a:t>
                      </a:r>
                    </a:p>
                    <a:p>
                      <a:pPr marL="285750" indent="-285750">
                        <a:buFont typeface="Arial" panose="020B0604020202020204" pitchFamily="34" charset="0"/>
                        <a:buChar char="•"/>
                      </a:pPr>
                      <a:r>
                        <a:rPr lang="en-US" b="0" dirty="0">
                          <a:solidFill>
                            <a:srgbClr val="000000"/>
                          </a:solidFill>
                        </a:rPr>
                        <a:t>Cisco AnyConnect</a:t>
                      </a:r>
                    </a:p>
                    <a:p>
                      <a:pPr marL="285750" indent="-285750">
                        <a:buFont typeface="Arial" panose="020B0604020202020204" pitchFamily="34" charset="0"/>
                        <a:buChar char="•"/>
                      </a:pPr>
                      <a:r>
                        <a:rPr lang="en-US" b="0" dirty="0">
                          <a:solidFill>
                            <a:srgbClr val="000000"/>
                          </a:solidFill>
                        </a:rPr>
                        <a:t>Generic Routing Encapsulation (GRE)</a:t>
                      </a:r>
                    </a:p>
                    <a:p>
                      <a:pPr marL="285750" indent="-285750">
                        <a:buFont typeface="Arial" panose="020B0604020202020204" pitchFamily="34" charset="0"/>
                        <a:buChar char="•"/>
                      </a:pPr>
                      <a:r>
                        <a:rPr lang="en-US" b="0" dirty="0">
                          <a:solidFill>
                            <a:srgbClr val="000000"/>
                          </a:solidFill>
                        </a:rPr>
                        <a:t>Site-to-Site VPN</a:t>
                      </a:r>
                    </a:p>
                    <a:p>
                      <a:pPr marL="285750" indent="-285750">
                        <a:buFont typeface="Arial" panose="020B0604020202020204" pitchFamily="34" charset="0"/>
                        <a:buChar char="•"/>
                      </a:pPr>
                      <a:r>
                        <a:rPr lang="en-US" b="0" dirty="0">
                          <a:solidFill>
                            <a:srgbClr val="000000"/>
                          </a:solidFill>
                        </a:rPr>
                        <a:t>Remote access VPN</a:t>
                      </a:r>
                    </a:p>
                    <a:p>
                      <a:pPr marL="285750" indent="-285750">
                        <a:buFont typeface="Arial" panose="020B0604020202020204" pitchFamily="34" charset="0"/>
                        <a:buChar char="•"/>
                      </a:pPr>
                      <a:r>
                        <a:rPr lang="en-US" b="0" dirty="0">
                          <a:solidFill>
                            <a:srgbClr val="000000"/>
                          </a:solidFill>
                        </a:rPr>
                        <a:t>Multiprotocol Label Switching (MPLS)</a:t>
                      </a:r>
                    </a:p>
                    <a:p>
                      <a:pPr marL="285750" indent="-285750">
                        <a:buFont typeface="Arial" panose="020B0604020202020204" pitchFamily="34" charset="0"/>
                        <a:buChar char="•"/>
                      </a:pPr>
                      <a:r>
                        <a:rPr lang="en-US" b="0" dirty="0">
                          <a:solidFill>
                            <a:srgbClr val="000000"/>
                          </a:solidFill>
                        </a:rPr>
                        <a:t>SSL VPN</a:t>
                      </a:r>
                    </a:p>
                    <a:p>
                      <a:pPr marL="285750" indent="-285750">
                        <a:buFont typeface="Arial" panose="020B0604020202020204" pitchFamily="34" charset="0"/>
                        <a:buChar char="•"/>
                      </a:pPr>
                      <a:r>
                        <a:rPr lang="en-US" b="0" dirty="0">
                          <a:solidFill>
                            <a:srgbClr val="000000"/>
                          </a:solidFill>
                        </a:rPr>
                        <a:t>IPsec</a:t>
                      </a:r>
                    </a:p>
                    <a:p>
                      <a:pPr marL="285750" indent="-285750">
                        <a:buFont typeface="Arial" panose="020B0604020202020204" pitchFamily="34" charset="0"/>
                        <a:buChar char="•"/>
                      </a:pPr>
                      <a:r>
                        <a:rPr lang="en-US" b="0" dirty="0">
                          <a:solidFill>
                            <a:srgbClr val="000000"/>
                          </a:solidFill>
                        </a:rPr>
                        <a:t>Dynamic Multipoint VPN (DMVPN)</a:t>
                      </a:r>
                    </a:p>
                    <a:p>
                      <a:pPr marL="285750" indent="-285750">
                        <a:buFont typeface="Arial" panose="020B0604020202020204" pitchFamily="34" charset="0"/>
                        <a:buChar char="•"/>
                      </a:pPr>
                      <a:r>
                        <a:rPr lang="en-US" b="0" dirty="0">
                          <a:solidFill>
                            <a:srgbClr val="000000"/>
                          </a:solidFill>
                        </a:rPr>
                        <a:t>Multipoint Generic Routing Encapsulation (mGRE)</a:t>
                      </a:r>
                    </a:p>
                    <a:p>
                      <a:pPr marL="285750" indent="-285750">
                        <a:buFont typeface="Arial" panose="020B0604020202020204" pitchFamily="34" charset="0"/>
                        <a:buChar char="•"/>
                      </a:pPr>
                      <a:r>
                        <a:rPr lang="en-US" b="0" dirty="0">
                          <a:solidFill>
                            <a:srgbClr val="000000"/>
                          </a:solidFill>
                        </a:rPr>
                        <a:t>Virtual Tunnel Interface (VTI)</a:t>
                      </a:r>
                    </a:p>
                    <a:p>
                      <a:pPr marL="285750" indent="-285750">
                        <a:buFont typeface="Arial" panose="020B0604020202020204" pitchFamily="34" charset="0"/>
                        <a:buChar char="•"/>
                      </a:pPr>
                      <a:r>
                        <a:rPr lang="en-US" b="0" dirty="0">
                          <a:solidFill>
                            <a:srgbClr val="000000"/>
                          </a:solidFill>
                        </a:rPr>
                        <a:t>Diffie-Hellman</a:t>
                      </a:r>
                    </a:p>
                    <a:p>
                      <a:pPr marL="285750" indent="-285750">
                        <a:buFont typeface="Arial" panose="020B0604020202020204" pitchFamily="34" charset="0"/>
                        <a:buChar char="•"/>
                      </a:pPr>
                      <a:r>
                        <a:rPr lang="en-US" b="0" dirty="0">
                          <a:solidFill>
                            <a:srgbClr val="000000"/>
                          </a:solidFill>
                        </a:rPr>
                        <a:t>Security Association (SA)</a:t>
                      </a:r>
                    </a:p>
                    <a:p>
                      <a:pPr marL="285750" indent="-285750">
                        <a:buFont typeface="Arial" panose="020B0604020202020204" pitchFamily="34" charset="0"/>
                        <a:buChar char="•"/>
                      </a:pPr>
                      <a:r>
                        <a:rPr lang="en-US" b="0" dirty="0">
                          <a:solidFill>
                            <a:srgbClr val="000000"/>
                          </a:solidFill>
                        </a:rPr>
                        <a:t>Authentication Header (AH)</a:t>
                      </a:r>
                    </a:p>
                    <a:p>
                      <a:pPr marL="285750" indent="-285750">
                        <a:buFont typeface="Arial" panose="020B0604020202020204" pitchFamily="34" charset="0"/>
                        <a:buChar char="•"/>
                      </a:pPr>
                      <a:r>
                        <a:rPr lang="en-US" b="0" dirty="0">
                          <a:solidFill>
                            <a:srgbClr val="000000"/>
                          </a:solidFill>
                        </a:rPr>
                        <a:t>Encapsulation Security Protocol (ESP)</a:t>
                      </a:r>
                    </a:p>
                    <a:p>
                      <a:endParaRPr 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b="0" dirty="0">
                          <a:solidFill>
                            <a:srgbClr val="000000"/>
                          </a:solidFill>
                        </a:rPr>
                        <a:t>DES</a:t>
                      </a:r>
                    </a:p>
                    <a:p>
                      <a:pPr marL="285750" indent="-285750">
                        <a:buFont typeface="Arial" panose="020B0604020202020204" pitchFamily="34" charset="0"/>
                        <a:buChar char="•"/>
                      </a:pPr>
                      <a:r>
                        <a:rPr lang="en-US" b="0" dirty="0">
                          <a:solidFill>
                            <a:srgbClr val="000000"/>
                          </a:solidFill>
                        </a:rPr>
                        <a:t>3DES</a:t>
                      </a:r>
                    </a:p>
                    <a:p>
                      <a:pPr marL="285750" indent="-285750">
                        <a:buFont typeface="Arial" panose="020B0604020202020204" pitchFamily="34" charset="0"/>
                        <a:buChar char="•"/>
                      </a:pPr>
                      <a:r>
                        <a:rPr lang="en-US" b="0" dirty="0">
                          <a:solidFill>
                            <a:srgbClr val="000000"/>
                          </a:solidFill>
                        </a:rPr>
                        <a:t>AES</a:t>
                      </a:r>
                    </a:p>
                    <a:p>
                      <a:pPr marL="285750" indent="-285750">
                        <a:buFont typeface="Arial" panose="020B0604020202020204" pitchFamily="34" charset="0"/>
                        <a:buChar char="•"/>
                      </a:pPr>
                      <a:r>
                        <a:rPr lang="en-US" b="0" dirty="0">
                          <a:solidFill>
                            <a:srgbClr val="000000"/>
                          </a:solidFill>
                        </a:rPr>
                        <a:t>SEAL</a:t>
                      </a:r>
                    </a:p>
                    <a:p>
                      <a:pPr marL="285750" indent="-285750">
                        <a:buFont typeface="Arial" panose="020B0604020202020204" pitchFamily="34" charset="0"/>
                        <a:buChar char="•"/>
                      </a:pPr>
                      <a:r>
                        <a:rPr lang="en-US" b="0" dirty="0">
                          <a:solidFill>
                            <a:srgbClr val="000000"/>
                          </a:solidFill>
                        </a:rPr>
                        <a:t>Secure Hash Algorithm (SHA)</a:t>
                      </a:r>
                    </a:p>
                    <a:p>
                      <a:pPr marL="285750" indent="-285750">
                        <a:buFont typeface="Arial" panose="020B0604020202020204" pitchFamily="34" charset="0"/>
                        <a:buChar char="•"/>
                      </a:pPr>
                      <a:r>
                        <a:rPr lang="en-US" b="0" dirty="0">
                          <a:solidFill>
                            <a:srgbClr val="000000"/>
                          </a:solidFill>
                        </a:rPr>
                        <a:t>Message-Digest 5 (MD5)</a:t>
                      </a:r>
                    </a:p>
                    <a:p>
                      <a:pPr marL="285750" indent="-285750">
                        <a:buFont typeface="Arial" panose="020B0604020202020204" pitchFamily="34" charset="0"/>
                        <a:buChar char="•"/>
                      </a:pPr>
                      <a:r>
                        <a:rPr lang="en-US" b="0" dirty="0">
                          <a:solidFill>
                            <a:srgbClr val="000000"/>
                          </a:solidFill>
                        </a:rPr>
                        <a:t>Rivest, Shamir, and Adleman (RSA)</a:t>
                      </a:r>
                    </a:p>
                    <a:p>
                      <a:pPr marL="285750" indent="-285750">
                        <a:buFont typeface="Arial" panose="020B0604020202020204" pitchFamily="34" charset="0"/>
                        <a:buChar char="•"/>
                      </a:pPr>
                      <a:r>
                        <a:rPr lang="en-US" b="0" dirty="0">
                          <a:solidFill>
                            <a:srgbClr val="000000"/>
                          </a:solidFill>
                        </a:rPr>
                        <a:t>pre-shared secret key (PSK)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05859" y="636672"/>
            <a:ext cx="4616771" cy="4156075"/>
          </a:xfrm>
          <a:prstGeom prst="rect">
            <a:avLst/>
          </a:prstGeom>
        </p:spPr>
      </p:pic>
      <p:sp>
        <p:nvSpPr>
          <p:cNvPr id="3" name="Title 2"/>
          <p:cNvSpPr>
            <a:spLocks noGrp="1"/>
          </p:cNvSpPr>
          <p:nvPr>
            <p:ph type="title"/>
          </p:nvPr>
        </p:nvSpPr>
        <p:spPr/>
        <p:txBody>
          <a:bodyPr/>
          <a:lstStyle/>
          <a:p>
            <a:r>
              <a:rPr lang="en-US" b="1" dirty="0"/>
              <a:t>Virtual Private Network (VPN)</a:t>
            </a:r>
            <a:br>
              <a:rPr lang="en-US" b="1" dirty="0"/>
            </a:br>
            <a:endParaRPr lang="en-US" dirty="0"/>
          </a:p>
        </p:txBody>
      </p:sp>
      <p:sp>
        <p:nvSpPr>
          <p:cNvPr id="5" name="Rectangle 4"/>
          <p:cNvSpPr/>
          <p:nvPr/>
        </p:nvSpPr>
        <p:spPr>
          <a:xfrm>
            <a:off x="7829045" y="4439657"/>
            <a:ext cx="1760018" cy="584775"/>
          </a:xfrm>
          <a:prstGeom prst="rect">
            <a:avLst/>
          </a:prstGeom>
        </p:spPr>
        <p:txBody>
          <a:bodyPr wrap="square">
            <a:spAutoFit/>
          </a:bodyPr>
          <a:lstStyle/>
          <a:p>
            <a:r>
              <a:rPr lang="en-US" sz="800" dirty="0"/>
              <a:t>Running the Server</a:t>
            </a:r>
          </a:p>
          <a:p>
            <a:r>
              <a:rPr lang="en-US" sz="800" dirty="0"/>
              <a:t>$ python3 server.py</a:t>
            </a:r>
          </a:p>
          <a:p>
            <a:r>
              <a:rPr lang="en-US" sz="800" dirty="0"/>
              <a:t>Running the Client</a:t>
            </a:r>
          </a:p>
          <a:p>
            <a:r>
              <a:rPr lang="en-US" sz="800" dirty="0"/>
              <a:t>$ python3 client.py</a:t>
            </a:r>
          </a:p>
        </p:txBody>
      </p:sp>
    </p:spTree>
    <p:extLst>
      <p:ext uri="{BB962C8B-B14F-4D97-AF65-F5344CB8AC3E}">
        <p14:creationId xmlns:p14="http://schemas.microsoft.com/office/powerpoint/2010/main" val="4123641751"/>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smtClean="0"/>
              <a:t>1</a:t>
            </a:r>
            <a:r>
              <a:rPr lang="en-US" dirty="0"/>
              <a:t>. Establishing a Connection</a:t>
            </a:r>
          </a:p>
          <a:p>
            <a:pPr marL="0" indent="0">
              <a:buNone/>
            </a:pPr>
            <a:r>
              <a:rPr lang="en-US" dirty="0"/>
              <a:t>During boot, the server listens for a connection, and a client requests to connect to a the server, after which the two nodes negotiate on a cipher out of supported ciphers. These include (128 192, 256)-bit AES, (112, 224, 448)-bit Blowfish, and 56-bit DES encryption.</a:t>
            </a:r>
          </a:p>
          <a:p>
            <a:pPr marL="0" indent="0">
              <a:buNone/>
            </a:pPr>
            <a:r>
              <a:rPr lang="en-US" dirty="0" smtClean="0"/>
              <a:t>2</a:t>
            </a:r>
            <a:r>
              <a:rPr lang="en-US" dirty="0"/>
              <a:t>. </a:t>
            </a:r>
            <a:r>
              <a:rPr lang="en-US" dirty="0" err="1"/>
              <a:t>Diffie</a:t>
            </a:r>
            <a:r>
              <a:rPr lang="en-US" dirty="0"/>
              <a:t>-Hellman Key Exchange</a:t>
            </a:r>
          </a:p>
          <a:p>
            <a:pPr marL="0" indent="0">
              <a:buNone/>
            </a:pPr>
            <a:r>
              <a:rPr lang="en-US" dirty="0"/>
              <a:t>After negotiating possible ciphers, the client / server pair generate private and public key pairs, hashes the keys, and uses </a:t>
            </a:r>
            <a:r>
              <a:rPr lang="en-US" dirty="0" err="1"/>
              <a:t>Diffie</a:t>
            </a:r>
            <a:r>
              <a:rPr lang="en-US" dirty="0"/>
              <a:t> Hellman key exchange to exchange each other's public and private keys and establish authenticity.</a:t>
            </a:r>
          </a:p>
          <a:p>
            <a:pPr marL="0" indent="0">
              <a:buNone/>
            </a:pPr>
            <a:r>
              <a:rPr lang="en-US" dirty="0" smtClean="0"/>
              <a:t>3</a:t>
            </a:r>
            <a:r>
              <a:rPr lang="en-US" dirty="0"/>
              <a:t>. Data Transfer</a:t>
            </a:r>
          </a:p>
          <a:p>
            <a:pPr marL="0" indent="0">
              <a:buNone/>
            </a:pPr>
            <a:r>
              <a:rPr lang="en-US" dirty="0"/>
              <a:t>The server will then listen for any incoming requests. The user will be prompted for a message and any input will be transferred from the client to a server. Upon reception of the data, the server will validate the HMAC hash and display the data on the console.</a:t>
            </a:r>
          </a:p>
        </p:txBody>
      </p:sp>
      <p:sp>
        <p:nvSpPr>
          <p:cNvPr id="3" name="Title 2"/>
          <p:cNvSpPr>
            <a:spLocks noGrp="1"/>
          </p:cNvSpPr>
          <p:nvPr>
            <p:ph type="title"/>
          </p:nvPr>
        </p:nvSpPr>
        <p:spPr/>
        <p:txBody>
          <a:bodyPr/>
          <a:lstStyle/>
          <a:p>
            <a:r>
              <a:rPr lang="en-US" dirty="0" smtClean="0"/>
              <a:t>Algorithm</a:t>
            </a:r>
            <a:endParaRPr lang="en-US" dirty="0"/>
          </a:p>
        </p:txBody>
      </p:sp>
    </p:spTree>
    <p:extLst>
      <p:ext uri="{BB962C8B-B14F-4D97-AF65-F5344CB8AC3E}">
        <p14:creationId xmlns:p14="http://schemas.microsoft.com/office/powerpoint/2010/main" val="3503609529"/>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2089271" y="887957"/>
            <a:ext cx="3895725" cy="3419475"/>
          </a:xfrm>
          <a:prstGeom prst="rect">
            <a:avLst/>
          </a:prstGeom>
        </p:spPr>
      </p:pic>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365892692"/>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dirty="0" err="1" smtClean="0">
                <a:latin typeface="Arial" charset="0"/>
              </a:rPr>
              <a:t>Example_Python</a:t>
            </a:r>
            <a:endParaRPr lang="en-US" dirty="0">
              <a:latin typeface="Arial" charset="0"/>
            </a:endParaRPr>
          </a:p>
        </p:txBody>
      </p:sp>
      <p:sp>
        <p:nvSpPr>
          <p:cNvPr id="2" name="Content Placeholder 1"/>
          <p:cNvSpPr>
            <a:spLocks noGrp="1"/>
          </p:cNvSpPr>
          <p:nvPr>
            <p:ph idx="1"/>
          </p:nvPr>
        </p:nvSpPr>
        <p:spPr>
          <a:xfrm>
            <a:off x="144065" y="798944"/>
            <a:ext cx="2574859" cy="1313077"/>
          </a:xfrm>
        </p:spPr>
        <p:txBody>
          <a:bodyPr/>
          <a:lstStyle/>
          <a:p>
            <a:r>
              <a:rPr lang="en-US" sz="800" dirty="0" err="1"/>
              <a:t>diffiehellman</a:t>
            </a:r>
            <a:r>
              <a:rPr lang="en-US" sz="800" dirty="0"/>
              <a:t>==0.13.3</a:t>
            </a:r>
          </a:p>
          <a:p>
            <a:r>
              <a:rPr lang="en-US" sz="800" dirty="0" err="1"/>
              <a:t>pycrypto</a:t>
            </a:r>
            <a:r>
              <a:rPr lang="en-US" sz="800" dirty="0"/>
              <a:t>==2.6.1</a:t>
            </a:r>
          </a:p>
          <a:p>
            <a:r>
              <a:rPr lang="en-US" sz="800" dirty="0"/>
              <a:t>typing==3.7.4.3</a:t>
            </a:r>
          </a:p>
        </p:txBody>
      </p:sp>
      <p:sp>
        <p:nvSpPr>
          <p:cNvPr id="3" name="Rectangle 2"/>
          <p:cNvSpPr/>
          <p:nvPr/>
        </p:nvSpPr>
        <p:spPr>
          <a:xfrm>
            <a:off x="1501072" y="553893"/>
            <a:ext cx="7165498" cy="28284666"/>
          </a:xfrm>
          <a:prstGeom prst="rect">
            <a:avLst/>
          </a:prstGeom>
        </p:spPr>
        <p:txBody>
          <a:bodyPr wrap="square">
            <a:spAutoFit/>
          </a:bodyPr>
          <a:lstStyle/>
          <a:p>
            <a:r>
              <a:rPr lang="en-US" sz="800" dirty="0"/>
              <a:t>#!/</a:t>
            </a:r>
            <a:r>
              <a:rPr lang="en-US" sz="800" dirty="0" err="1"/>
              <a:t>usr</a:t>
            </a:r>
            <a:r>
              <a:rPr lang="en-US" sz="800" dirty="0"/>
              <a:t>/bin/</a:t>
            </a:r>
            <a:r>
              <a:rPr lang="en-US" sz="800" dirty="0" err="1"/>
              <a:t>env</a:t>
            </a:r>
            <a:r>
              <a:rPr lang="en-US" sz="800" dirty="0"/>
              <a:t> python3</a:t>
            </a:r>
          </a:p>
          <a:p>
            <a:r>
              <a:rPr lang="en-US" sz="800" dirty="0"/>
              <a:t># encoding: UTF-8</a:t>
            </a:r>
          </a:p>
          <a:p>
            <a:r>
              <a:rPr lang="en-US" sz="800" dirty="0"/>
              <a:t># </a:t>
            </a:r>
            <a:r>
              <a:rPr lang="en-US" sz="800" dirty="0" err="1" smtClean="0"/>
              <a:t>verdysgn</a:t>
            </a:r>
            <a:endParaRPr lang="en-US" sz="800" dirty="0"/>
          </a:p>
          <a:p>
            <a:r>
              <a:rPr lang="en-US" sz="800" dirty="0"/>
              <a:t># </a:t>
            </a:r>
            <a:r>
              <a:rPr lang="en-US" sz="800" dirty="0" smtClean="0"/>
              <a:t>20256</a:t>
            </a:r>
            <a:endParaRPr lang="en-US" sz="800" dirty="0"/>
          </a:p>
          <a:p>
            <a:endParaRPr lang="en-US" sz="800" dirty="0"/>
          </a:p>
          <a:p>
            <a:r>
              <a:rPr lang="en-US" sz="800" dirty="0"/>
              <a:t>from socket import socket, </a:t>
            </a:r>
            <a:r>
              <a:rPr lang="en-US" sz="800" dirty="0" err="1"/>
              <a:t>gethostname</a:t>
            </a:r>
            <a:endParaRPr lang="en-US" sz="800" dirty="0"/>
          </a:p>
          <a:p>
            <a:r>
              <a:rPr lang="en-US" sz="800" dirty="0"/>
              <a:t>from socket import AF_INET, SOCK_STREAM, SOL_SOCKET, SO_REUSEADDR</a:t>
            </a:r>
          </a:p>
          <a:p>
            <a:r>
              <a:rPr lang="en-US" sz="800" dirty="0"/>
              <a:t>from typing import Tuple, </a:t>
            </a:r>
            <a:r>
              <a:rPr lang="en-US" sz="800" dirty="0" err="1"/>
              <a:t>Dict</a:t>
            </a:r>
            <a:endParaRPr lang="en-US" sz="800" dirty="0"/>
          </a:p>
          <a:p>
            <a:r>
              <a:rPr lang="en-US" sz="800" dirty="0"/>
              <a:t>from </a:t>
            </a:r>
            <a:r>
              <a:rPr lang="en-US" sz="800" dirty="0" err="1"/>
              <a:t>Crypto.Hash</a:t>
            </a:r>
            <a:r>
              <a:rPr lang="en-US" sz="800" dirty="0"/>
              <a:t> import SHA256, HMAC</a:t>
            </a:r>
          </a:p>
          <a:p>
            <a:r>
              <a:rPr lang="en-US" sz="800" dirty="0"/>
              <a:t>from </a:t>
            </a:r>
            <a:r>
              <a:rPr lang="en-US" sz="800" dirty="0" err="1"/>
              <a:t>Crypto.Cipher</a:t>
            </a:r>
            <a:r>
              <a:rPr lang="en-US" sz="800" dirty="0"/>
              <a:t> import AES, DES, Blowfish</a:t>
            </a:r>
          </a:p>
          <a:p>
            <a:r>
              <a:rPr lang="en-US" sz="800" dirty="0"/>
              <a:t>from </a:t>
            </a:r>
            <a:r>
              <a:rPr lang="en-US" sz="800" dirty="0" err="1"/>
              <a:t>diffiehellman.diffiehellman</a:t>
            </a:r>
            <a:r>
              <a:rPr lang="en-US" sz="800" dirty="0"/>
              <a:t> import </a:t>
            </a:r>
            <a:r>
              <a:rPr lang="en-US" sz="800" dirty="0" err="1"/>
              <a:t>DiffieHellman</a:t>
            </a:r>
            <a:endParaRPr lang="en-US" sz="800" dirty="0"/>
          </a:p>
          <a:p>
            <a:endParaRPr lang="en-US" sz="800" dirty="0"/>
          </a:p>
          <a:p>
            <a:r>
              <a:rPr lang="en-US" sz="800" dirty="0"/>
              <a:t>HOST = </a:t>
            </a:r>
            <a:r>
              <a:rPr lang="en-US" sz="800" dirty="0" err="1"/>
              <a:t>gethostname</a:t>
            </a:r>
            <a:r>
              <a:rPr lang="en-US" sz="800" dirty="0"/>
              <a:t>()</a:t>
            </a:r>
          </a:p>
          <a:p>
            <a:r>
              <a:rPr lang="en-US" sz="800" dirty="0"/>
              <a:t>PORT = 4600</a:t>
            </a:r>
          </a:p>
          <a:p>
            <a:r>
              <a:rPr lang="en-US" sz="800" dirty="0"/>
              <a:t>SUPPORTED_CIPHERS = {"DES": [56]}</a:t>
            </a:r>
          </a:p>
          <a:p>
            <a:endParaRPr lang="en-US" sz="800" dirty="0"/>
          </a:p>
          <a:p>
            <a:endParaRPr lang="en-US" sz="800" dirty="0"/>
          </a:p>
          <a:p>
            <a:r>
              <a:rPr lang="en-US" sz="800" dirty="0" err="1"/>
              <a:t>def</a:t>
            </a:r>
            <a:r>
              <a:rPr lang="en-US" sz="800" dirty="0"/>
              <a:t> </a:t>
            </a:r>
            <a:r>
              <a:rPr lang="en-US" sz="800" dirty="0" err="1"/>
              <a:t>parse_proposal</a:t>
            </a:r>
            <a:r>
              <a:rPr lang="en-US" sz="800" dirty="0"/>
              <a:t>(</a:t>
            </a:r>
            <a:r>
              <a:rPr lang="en-US" sz="800" dirty="0" err="1"/>
              <a:t>msg</a:t>
            </a:r>
            <a:r>
              <a:rPr lang="en-US" sz="800" dirty="0"/>
              <a:t>: </a:t>
            </a:r>
            <a:r>
              <a:rPr lang="en-US" sz="800" dirty="0" err="1"/>
              <a:t>str</a:t>
            </a:r>
            <a:r>
              <a:rPr lang="en-US" sz="800" dirty="0"/>
              <a:t>) -&gt; </a:t>
            </a:r>
            <a:r>
              <a:rPr lang="en-US" sz="800" dirty="0" err="1"/>
              <a:t>Dict</a:t>
            </a:r>
            <a:r>
              <a:rPr lang="en-US" sz="800" dirty="0"/>
              <a:t>[</a:t>
            </a:r>
            <a:r>
              <a:rPr lang="en-US" sz="800" dirty="0" err="1"/>
              <a:t>str</a:t>
            </a:r>
            <a:r>
              <a:rPr lang="en-US" sz="800" dirty="0"/>
              <a:t>, list]:</a:t>
            </a:r>
          </a:p>
          <a:p>
            <a:r>
              <a:rPr lang="en-US" sz="800" dirty="0"/>
              <a:t>    """Parse client's proposal</a:t>
            </a:r>
          </a:p>
          <a:p>
            <a:endParaRPr lang="en-US" sz="800" dirty="0"/>
          </a:p>
          <a:p>
            <a:r>
              <a:rPr lang="en-US" sz="800" dirty="0"/>
              <a:t>    :</a:t>
            </a:r>
            <a:r>
              <a:rPr lang="en-US" sz="800" dirty="0" err="1"/>
              <a:t>param</a:t>
            </a:r>
            <a:r>
              <a:rPr lang="en-US" sz="800" dirty="0"/>
              <a:t> </a:t>
            </a:r>
            <a:r>
              <a:rPr lang="en-US" sz="800" dirty="0" err="1"/>
              <a:t>msg</a:t>
            </a:r>
            <a:r>
              <a:rPr lang="en-US" sz="800" dirty="0"/>
              <a:t>: message from the client with a proposal (ciphers and key sizes)</a:t>
            </a:r>
          </a:p>
          <a:p>
            <a:r>
              <a:rPr lang="en-US" sz="800" dirty="0"/>
              <a:t>    :return: the ciphers and keys as a dictionary</a:t>
            </a:r>
          </a:p>
          <a:p>
            <a:r>
              <a:rPr lang="en-US" sz="800" dirty="0"/>
              <a:t>    """</a:t>
            </a:r>
          </a:p>
          <a:p>
            <a:r>
              <a:rPr lang="en-US" sz="800" dirty="0"/>
              <a:t>    </a:t>
            </a:r>
            <a:r>
              <a:rPr lang="en-US" sz="800" dirty="0" err="1"/>
              <a:t>msg</a:t>
            </a:r>
            <a:r>
              <a:rPr lang="en-US" sz="800" dirty="0"/>
              <a:t> = </a:t>
            </a:r>
            <a:r>
              <a:rPr lang="en-US" sz="800" dirty="0" err="1"/>
              <a:t>msg</a:t>
            </a:r>
            <a:r>
              <a:rPr lang="en-US" sz="800" dirty="0"/>
              <a:t>[16:]</a:t>
            </a:r>
          </a:p>
          <a:p>
            <a:r>
              <a:rPr lang="en-US" sz="800" dirty="0"/>
              <a:t>    ciphers = {}</a:t>
            </a:r>
          </a:p>
          <a:p>
            <a:r>
              <a:rPr lang="en-US" sz="800" dirty="0"/>
              <a:t>    </a:t>
            </a:r>
            <a:r>
              <a:rPr lang="en-US" sz="800" dirty="0" err="1"/>
              <a:t>last_c</a:t>
            </a:r>
            <a:r>
              <a:rPr lang="en-US" sz="800" dirty="0"/>
              <a:t> = ''</a:t>
            </a:r>
          </a:p>
          <a:p>
            <a:r>
              <a:rPr lang="en-US" sz="800" dirty="0"/>
              <a:t>    </a:t>
            </a:r>
            <a:r>
              <a:rPr lang="en-US" sz="800" dirty="0" err="1"/>
              <a:t>cipher_name</a:t>
            </a:r>
            <a:r>
              <a:rPr lang="en-US" sz="800" dirty="0"/>
              <a:t> = ''</a:t>
            </a:r>
          </a:p>
          <a:p>
            <a:r>
              <a:rPr lang="en-US" sz="800" dirty="0"/>
              <a:t>    </a:t>
            </a:r>
            <a:r>
              <a:rPr lang="en-US" sz="800" dirty="0" err="1"/>
              <a:t>key_size</a:t>
            </a:r>
            <a:r>
              <a:rPr lang="en-US" sz="800" dirty="0"/>
              <a:t> = ''</a:t>
            </a:r>
          </a:p>
          <a:p>
            <a:r>
              <a:rPr lang="en-US" sz="800" dirty="0"/>
              <a:t>    </a:t>
            </a:r>
            <a:r>
              <a:rPr lang="en-US" sz="800" dirty="0" err="1"/>
              <a:t>curr_key_size_list</a:t>
            </a:r>
            <a:r>
              <a:rPr lang="en-US" sz="800" dirty="0"/>
              <a:t> = []</a:t>
            </a:r>
          </a:p>
          <a:p>
            <a:endParaRPr lang="en-US" sz="800" dirty="0"/>
          </a:p>
          <a:p>
            <a:r>
              <a:rPr lang="en-US" sz="800" dirty="0"/>
              <a:t>    for c in </a:t>
            </a:r>
            <a:r>
              <a:rPr lang="en-US" sz="800" dirty="0" err="1"/>
              <a:t>msg</a:t>
            </a:r>
            <a:r>
              <a:rPr lang="en-US" sz="800" dirty="0"/>
              <a:t>:</a:t>
            </a:r>
          </a:p>
          <a:p>
            <a:r>
              <a:rPr lang="en-US" sz="800" dirty="0"/>
              <a:t>        if </a:t>
            </a:r>
            <a:r>
              <a:rPr lang="en-US" sz="800" dirty="0" err="1"/>
              <a:t>c.isalpha</a:t>
            </a:r>
            <a:r>
              <a:rPr lang="en-US" sz="800" dirty="0"/>
              <a:t>():</a:t>
            </a:r>
          </a:p>
          <a:p>
            <a:r>
              <a:rPr lang="en-US" sz="800" dirty="0"/>
              <a:t>            </a:t>
            </a:r>
            <a:r>
              <a:rPr lang="en-US" sz="800" dirty="0" err="1"/>
              <a:t>cipher_name</a:t>
            </a:r>
            <a:r>
              <a:rPr lang="en-US" sz="800" dirty="0"/>
              <a:t> += c</a:t>
            </a:r>
          </a:p>
          <a:p>
            <a:r>
              <a:rPr lang="en-US" sz="800" dirty="0"/>
              <a:t>        </a:t>
            </a:r>
            <a:r>
              <a:rPr lang="en-US" sz="800" dirty="0" err="1"/>
              <a:t>elif</a:t>
            </a:r>
            <a:r>
              <a:rPr lang="en-US" sz="800" dirty="0"/>
              <a:t> </a:t>
            </a:r>
            <a:r>
              <a:rPr lang="en-US" sz="800" dirty="0" err="1"/>
              <a:t>c.isalnum</a:t>
            </a:r>
            <a:r>
              <a:rPr lang="en-US" sz="800" dirty="0"/>
              <a:t>():</a:t>
            </a:r>
          </a:p>
          <a:p>
            <a:r>
              <a:rPr lang="en-US" sz="800" dirty="0"/>
              <a:t>            </a:t>
            </a:r>
            <a:r>
              <a:rPr lang="en-US" sz="800" dirty="0" err="1"/>
              <a:t>key_size</a:t>
            </a:r>
            <a:r>
              <a:rPr lang="en-US" sz="800" dirty="0"/>
              <a:t> += c</a:t>
            </a:r>
          </a:p>
          <a:p>
            <a:r>
              <a:rPr lang="en-US" sz="800" dirty="0"/>
              <a:t>        </a:t>
            </a:r>
            <a:r>
              <a:rPr lang="en-US" sz="800" dirty="0" err="1"/>
              <a:t>elif</a:t>
            </a:r>
            <a:r>
              <a:rPr lang="en-US" sz="800" dirty="0"/>
              <a:t> c in ',':</a:t>
            </a:r>
          </a:p>
          <a:p>
            <a:r>
              <a:rPr lang="en-US" sz="800" dirty="0"/>
              <a:t>            if </a:t>
            </a:r>
            <a:r>
              <a:rPr lang="en-US" sz="800" dirty="0" err="1"/>
              <a:t>last_c.isalnum</a:t>
            </a:r>
            <a:r>
              <a:rPr lang="en-US" sz="800" dirty="0"/>
              <a:t>():</a:t>
            </a:r>
          </a:p>
          <a:p>
            <a:r>
              <a:rPr lang="en-US" sz="800" dirty="0"/>
              <a:t>                </a:t>
            </a:r>
            <a:r>
              <a:rPr lang="en-US" sz="800" dirty="0" err="1"/>
              <a:t>curr_key_size_list.append</a:t>
            </a:r>
            <a:r>
              <a:rPr lang="en-US" sz="800" dirty="0"/>
              <a:t>(</a:t>
            </a:r>
            <a:r>
              <a:rPr lang="en-US" sz="800" dirty="0" err="1"/>
              <a:t>int</a:t>
            </a:r>
            <a:r>
              <a:rPr lang="en-US" sz="800" dirty="0"/>
              <a:t>(</a:t>
            </a:r>
            <a:r>
              <a:rPr lang="en-US" sz="800" dirty="0" err="1"/>
              <a:t>key_size</a:t>
            </a:r>
            <a:r>
              <a:rPr lang="en-US" sz="800" dirty="0"/>
              <a:t>))</a:t>
            </a:r>
          </a:p>
          <a:p>
            <a:r>
              <a:rPr lang="en-US" sz="800" dirty="0"/>
              <a:t>                </a:t>
            </a:r>
            <a:r>
              <a:rPr lang="en-US" sz="800" dirty="0" err="1"/>
              <a:t>key_size</a:t>
            </a:r>
            <a:r>
              <a:rPr lang="en-US" sz="800" dirty="0"/>
              <a:t> = ''</a:t>
            </a:r>
          </a:p>
          <a:p>
            <a:r>
              <a:rPr lang="en-US" sz="800" dirty="0"/>
              <a:t>        </a:t>
            </a:r>
            <a:r>
              <a:rPr lang="en-US" sz="800" dirty="0" err="1"/>
              <a:t>elif</a:t>
            </a:r>
            <a:r>
              <a:rPr lang="en-US" sz="800" dirty="0"/>
              <a:t> c == ']':</a:t>
            </a:r>
          </a:p>
          <a:p>
            <a:r>
              <a:rPr lang="en-US" sz="800" dirty="0"/>
              <a:t>            </a:t>
            </a:r>
            <a:r>
              <a:rPr lang="en-US" sz="800" dirty="0" err="1"/>
              <a:t>curr_key_size_list.append</a:t>
            </a:r>
            <a:r>
              <a:rPr lang="en-US" sz="800" dirty="0"/>
              <a:t>(</a:t>
            </a:r>
            <a:r>
              <a:rPr lang="en-US" sz="800" dirty="0" err="1"/>
              <a:t>int</a:t>
            </a:r>
            <a:r>
              <a:rPr lang="en-US" sz="800" dirty="0"/>
              <a:t>(</a:t>
            </a:r>
            <a:r>
              <a:rPr lang="en-US" sz="800" dirty="0" err="1"/>
              <a:t>key_size</a:t>
            </a:r>
            <a:r>
              <a:rPr lang="en-US" sz="800" dirty="0"/>
              <a:t>))</a:t>
            </a:r>
          </a:p>
          <a:p>
            <a:r>
              <a:rPr lang="en-US" sz="800" dirty="0"/>
              <a:t>            </a:t>
            </a:r>
            <a:r>
              <a:rPr lang="en-US" sz="800" dirty="0" err="1"/>
              <a:t>key_size</a:t>
            </a:r>
            <a:r>
              <a:rPr lang="en-US" sz="800" dirty="0"/>
              <a:t> = ''</a:t>
            </a:r>
          </a:p>
          <a:p>
            <a:r>
              <a:rPr lang="en-US" sz="800" dirty="0"/>
              <a:t>            ciphers[</a:t>
            </a:r>
            <a:r>
              <a:rPr lang="en-US" sz="800" dirty="0" err="1"/>
              <a:t>cipher_name</a:t>
            </a:r>
            <a:r>
              <a:rPr lang="en-US" sz="800" dirty="0"/>
              <a:t>] = </a:t>
            </a:r>
            <a:r>
              <a:rPr lang="en-US" sz="800" dirty="0" err="1"/>
              <a:t>curr_key_size_list</a:t>
            </a:r>
            <a:endParaRPr lang="en-US" sz="800" dirty="0"/>
          </a:p>
          <a:p>
            <a:r>
              <a:rPr lang="en-US" sz="800" dirty="0"/>
              <a:t>            </a:t>
            </a:r>
            <a:r>
              <a:rPr lang="en-US" sz="800" dirty="0" err="1"/>
              <a:t>cipher_name</a:t>
            </a:r>
            <a:r>
              <a:rPr lang="en-US" sz="800" dirty="0"/>
              <a:t> = ''</a:t>
            </a:r>
          </a:p>
          <a:p>
            <a:r>
              <a:rPr lang="en-US" sz="800" dirty="0"/>
              <a:t>            </a:t>
            </a:r>
            <a:r>
              <a:rPr lang="en-US" sz="800" dirty="0" err="1"/>
              <a:t>curr_key_size_list</a:t>
            </a:r>
            <a:r>
              <a:rPr lang="en-US" sz="800" dirty="0"/>
              <a:t> = []</a:t>
            </a:r>
          </a:p>
          <a:p>
            <a:r>
              <a:rPr lang="en-US" sz="800" dirty="0"/>
              <a:t>        </a:t>
            </a:r>
            <a:r>
              <a:rPr lang="en-US" sz="800" dirty="0" err="1"/>
              <a:t>last_c</a:t>
            </a:r>
            <a:r>
              <a:rPr lang="en-US" sz="800" dirty="0"/>
              <a:t> = c</a:t>
            </a:r>
          </a:p>
          <a:p>
            <a:endParaRPr lang="en-US" sz="800" dirty="0"/>
          </a:p>
          <a:p>
            <a:r>
              <a:rPr lang="en-US" sz="800" dirty="0"/>
              <a:t>    return ciphers</a:t>
            </a:r>
          </a:p>
          <a:p>
            <a:endParaRPr lang="en-US" sz="800" dirty="0"/>
          </a:p>
          <a:p>
            <a:endParaRPr lang="en-US" sz="800" dirty="0"/>
          </a:p>
          <a:p>
            <a:r>
              <a:rPr lang="en-US" sz="800" dirty="0" err="1"/>
              <a:t>def</a:t>
            </a:r>
            <a:r>
              <a:rPr lang="en-US" sz="800" dirty="0"/>
              <a:t> </a:t>
            </a:r>
            <a:r>
              <a:rPr lang="en-US" sz="800" dirty="0" err="1"/>
              <a:t>select_cipher</a:t>
            </a:r>
            <a:r>
              <a:rPr lang="en-US" sz="800" dirty="0"/>
              <a:t>(supported: </a:t>
            </a:r>
            <a:r>
              <a:rPr lang="en-US" sz="800" dirty="0" err="1"/>
              <a:t>dict</a:t>
            </a:r>
            <a:r>
              <a:rPr lang="en-US" sz="800" dirty="0"/>
              <a:t>, proposed: </a:t>
            </a:r>
            <a:r>
              <a:rPr lang="en-US" sz="800" dirty="0" err="1"/>
              <a:t>dict</a:t>
            </a:r>
            <a:r>
              <a:rPr lang="en-US" sz="800" dirty="0"/>
              <a:t>) -&gt; Tuple[</a:t>
            </a:r>
            <a:r>
              <a:rPr lang="en-US" sz="800" dirty="0" err="1"/>
              <a:t>str</a:t>
            </a:r>
            <a:r>
              <a:rPr lang="en-US" sz="800" dirty="0"/>
              <a:t>, </a:t>
            </a:r>
            <a:r>
              <a:rPr lang="en-US" sz="800" dirty="0" err="1"/>
              <a:t>int</a:t>
            </a:r>
            <a:r>
              <a:rPr lang="en-US" sz="800" dirty="0"/>
              <a:t>]:</a:t>
            </a:r>
          </a:p>
          <a:p>
            <a:r>
              <a:rPr lang="en-US" sz="800" dirty="0"/>
              <a:t>    """Select a cipher to use</a:t>
            </a:r>
          </a:p>
          <a:p>
            <a:endParaRPr lang="en-US" sz="800" dirty="0"/>
          </a:p>
          <a:p>
            <a:r>
              <a:rPr lang="en-US" sz="800" dirty="0"/>
              <a:t>    :</a:t>
            </a:r>
            <a:r>
              <a:rPr lang="en-US" sz="800" dirty="0" err="1"/>
              <a:t>param</a:t>
            </a:r>
            <a:r>
              <a:rPr lang="en-US" sz="800" dirty="0"/>
              <a:t> supported: dictionary of ciphers supported by the server</a:t>
            </a:r>
          </a:p>
          <a:p>
            <a:r>
              <a:rPr lang="en-US" sz="800" dirty="0"/>
              <a:t>    :</a:t>
            </a:r>
            <a:r>
              <a:rPr lang="en-US" sz="800" dirty="0" err="1"/>
              <a:t>param</a:t>
            </a:r>
            <a:r>
              <a:rPr lang="en-US" sz="800" dirty="0"/>
              <a:t> proposed: dictionary of ciphers proposed by the client</a:t>
            </a:r>
          </a:p>
          <a:p>
            <a:r>
              <a:rPr lang="en-US" sz="800" dirty="0"/>
              <a:t>    :return: tuple (cipher, </a:t>
            </a:r>
            <a:r>
              <a:rPr lang="en-US" sz="800" dirty="0" err="1"/>
              <a:t>key_size</a:t>
            </a:r>
            <a:r>
              <a:rPr lang="en-US" sz="800" dirty="0"/>
              <a:t>) of the common cipher where </a:t>
            </a:r>
            <a:r>
              <a:rPr lang="en-US" sz="800" dirty="0" err="1"/>
              <a:t>key_size</a:t>
            </a:r>
            <a:r>
              <a:rPr lang="en-US" sz="800" dirty="0"/>
              <a:t> is the longest supported by both</a:t>
            </a:r>
          </a:p>
          <a:p>
            <a:r>
              <a:rPr lang="en-US" sz="800" dirty="0"/>
              <a:t>    :raise: </a:t>
            </a:r>
            <a:r>
              <a:rPr lang="en-US" sz="800" dirty="0" err="1"/>
              <a:t>ValueError</a:t>
            </a:r>
            <a:r>
              <a:rPr lang="en-US" sz="800" dirty="0"/>
              <a:t> if there is no (cipher, </a:t>
            </a:r>
            <a:r>
              <a:rPr lang="en-US" sz="800" dirty="0" err="1"/>
              <a:t>key_size</a:t>
            </a:r>
            <a:r>
              <a:rPr lang="en-US" sz="800" dirty="0"/>
              <a:t>) combination that both client and server support</a:t>
            </a:r>
          </a:p>
          <a:p>
            <a:r>
              <a:rPr lang="en-US" sz="800" dirty="0"/>
              <a:t>    """</a:t>
            </a:r>
          </a:p>
          <a:p>
            <a:endParaRPr lang="en-US" sz="800" dirty="0"/>
          </a:p>
          <a:p>
            <a:r>
              <a:rPr lang="en-US" sz="800" dirty="0"/>
              <a:t>    </a:t>
            </a:r>
            <a:r>
              <a:rPr lang="en-US" sz="800" dirty="0" err="1"/>
              <a:t>common_ciphers</a:t>
            </a:r>
            <a:r>
              <a:rPr lang="en-US" sz="800" dirty="0"/>
              <a:t> = set(</a:t>
            </a:r>
            <a:r>
              <a:rPr lang="en-US" sz="800" dirty="0" err="1"/>
              <a:t>supported.keys</a:t>
            </a:r>
            <a:r>
              <a:rPr lang="en-US" sz="800" dirty="0"/>
              <a:t>()).intersection(</a:t>
            </a:r>
            <a:r>
              <a:rPr lang="en-US" sz="800" dirty="0" err="1"/>
              <a:t>proposed.keys</a:t>
            </a:r>
            <a:r>
              <a:rPr lang="en-US" sz="800" dirty="0"/>
              <a:t>())</a:t>
            </a:r>
          </a:p>
          <a:p>
            <a:endParaRPr lang="en-US" sz="800" dirty="0"/>
          </a:p>
          <a:p>
            <a:r>
              <a:rPr lang="en-US" sz="800" dirty="0"/>
              <a:t>    cipher = None</a:t>
            </a:r>
          </a:p>
          <a:p>
            <a:r>
              <a:rPr lang="en-US" sz="800" dirty="0"/>
              <a:t>    </a:t>
            </a:r>
            <a:r>
              <a:rPr lang="en-US" sz="800" dirty="0" err="1"/>
              <a:t>key_size</a:t>
            </a:r>
            <a:r>
              <a:rPr lang="en-US" sz="800" dirty="0"/>
              <a:t> = -1</a:t>
            </a:r>
          </a:p>
          <a:p>
            <a:endParaRPr lang="en-US" sz="800" dirty="0"/>
          </a:p>
          <a:p>
            <a:r>
              <a:rPr lang="en-US" sz="800" dirty="0"/>
              <a:t>    if </a:t>
            </a:r>
            <a:r>
              <a:rPr lang="en-US" sz="800" dirty="0" err="1"/>
              <a:t>common_ciphers</a:t>
            </a:r>
            <a:r>
              <a:rPr lang="en-US" sz="800" dirty="0"/>
              <a:t> != set():</a:t>
            </a:r>
          </a:p>
          <a:p>
            <a:r>
              <a:rPr lang="en-US" sz="800" dirty="0"/>
              <a:t>        for c in </a:t>
            </a:r>
            <a:r>
              <a:rPr lang="en-US" sz="800" dirty="0" err="1"/>
              <a:t>common_ciphers</a:t>
            </a:r>
            <a:r>
              <a:rPr lang="en-US" sz="800" dirty="0"/>
              <a:t>:</a:t>
            </a:r>
          </a:p>
          <a:p>
            <a:r>
              <a:rPr lang="en-US" sz="800" dirty="0"/>
              <a:t>            </a:t>
            </a:r>
            <a:r>
              <a:rPr lang="en-US" sz="800" dirty="0" err="1"/>
              <a:t>current_keysize</a:t>
            </a:r>
            <a:r>
              <a:rPr lang="en-US" sz="800" dirty="0"/>
              <a:t> = max(</a:t>
            </a:r>
          </a:p>
          <a:p>
            <a:r>
              <a:rPr lang="en-US" sz="800" dirty="0"/>
              <a:t>                # -1 will be the max value if the intersection is empty</a:t>
            </a:r>
          </a:p>
          <a:p>
            <a:r>
              <a:rPr lang="en-US" sz="800" dirty="0"/>
              <a:t>                set([-1]).union(set(</a:t>
            </a:r>
            <a:r>
              <a:rPr lang="en-US" sz="800" dirty="0" err="1"/>
              <a:t>supported.get</a:t>
            </a:r>
            <a:r>
              <a:rPr lang="en-US" sz="800" dirty="0"/>
              <a:t>(c)).intersection(</a:t>
            </a:r>
            <a:r>
              <a:rPr lang="en-US" sz="800" dirty="0" err="1"/>
              <a:t>proposed.get</a:t>
            </a:r>
            <a:r>
              <a:rPr lang="en-US" sz="800" dirty="0"/>
              <a:t>(c))))</a:t>
            </a:r>
          </a:p>
          <a:p>
            <a:r>
              <a:rPr lang="en-US" sz="800" dirty="0"/>
              <a:t>            if </a:t>
            </a:r>
            <a:r>
              <a:rPr lang="en-US" sz="800" dirty="0" err="1"/>
              <a:t>current_keysize</a:t>
            </a:r>
            <a:r>
              <a:rPr lang="en-US" sz="800" dirty="0"/>
              <a:t> &gt; </a:t>
            </a:r>
            <a:r>
              <a:rPr lang="en-US" sz="800" dirty="0" err="1"/>
              <a:t>key_size</a:t>
            </a:r>
            <a:r>
              <a:rPr lang="en-US" sz="800" dirty="0"/>
              <a:t>:</a:t>
            </a:r>
          </a:p>
          <a:p>
            <a:r>
              <a:rPr lang="en-US" sz="800" dirty="0"/>
              <a:t>                </a:t>
            </a:r>
            <a:r>
              <a:rPr lang="en-US" sz="800" dirty="0" err="1"/>
              <a:t>key_size</a:t>
            </a:r>
            <a:r>
              <a:rPr lang="en-US" sz="800" dirty="0"/>
              <a:t> = </a:t>
            </a:r>
            <a:r>
              <a:rPr lang="en-US" sz="800" dirty="0" err="1"/>
              <a:t>current_keysize</a:t>
            </a:r>
            <a:endParaRPr lang="en-US" sz="800" dirty="0"/>
          </a:p>
          <a:p>
            <a:r>
              <a:rPr lang="en-US" sz="800" dirty="0"/>
              <a:t>                cipher = c</a:t>
            </a:r>
          </a:p>
          <a:p>
            <a:endParaRPr lang="en-US" sz="800" dirty="0"/>
          </a:p>
          <a:p>
            <a:r>
              <a:rPr lang="en-US" sz="800" dirty="0"/>
              <a:t>    if not cipher or </a:t>
            </a:r>
            <a:r>
              <a:rPr lang="en-US" sz="800" dirty="0" err="1"/>
              <a:t>key_size</a:t>
            </a:r>
            <a:r>
              <a:rPr lang="en-US" sz="800" dirty="0"/>
              <a:t> == -1:</a:t>
            </a:r>
          </a:p>
          <a:p>
            <a:r>
              <a:rPr lang="en-US" sz="800" dirty="0"/>
              <a:t>        raise </a:t>
            </a:r>
            <a:r>
              <a:rPr lang="en-US" sz="800" dirty="0" err="1"/>
              <a:t>ValueError</a:t>
            </a:r>
            <a:r>
              <a:rPr lang="en-US" sz="800" dirty="0"/>
              <a:t>(</a:t>
            </a:r>
          </a:p>
          <a:p>
            <a:r>
              <a:rPr lang="en-US" sz="800" dirty="0"/>
              <a:t>            'Could not agree on a cipher')</a:t>
            </a:r>
          </a:p>
          <a:p>
            <a:endParaRPr lang="en-US" sz="800" dirty="0"/>
          </a:p>
          <a:p>
            <a:r>
              <a:rPr lang="en-US" sz="800" dirty="0"/>
              <a:t>    return (cipher, </a:t>
            </a:r>
            <a:r>
              <a:rPr lang="en-US" sz="800" dirty="0" err="1"/>
              <a:t>key_size</a:t>
            </a:r>
            <a:r>
              <a:rPr lang="en-US" sz="800" dirty="0"/>
              <a:t>)</a:t>
            </a:r>
          </a:p>
          <a:p>
            <a:endParaRPr lang="en-US" sz="800" dirty="0"/>
          </a:p>
          <a:p>
            <a:endParaRPr lang="en-US" sz="800" dirty="0"/>
          </a:p>
          <a:p>
            <a:r>
              <a:rPr lang="en-US" sz="800" dirty="0" err="1"/>
              <a:t>def</a:t>
            </a:r>
            <a:r>
              <a:rPr lang="en-US" sz="800" dirty="0"/>
              <a:t> </a:t>
            </a:r>
            <a:r>
              <a:rPr lang="en-US" sz="800" dirty="0" err="1"/>
              <a:t>generate_cipher_response</a:t>
            </a:r>
            <a:r>
              <a:rPr lang="en-US" sz="800" dirty="0"/>
              <a:t>(cipher: </a:t>
            </a:r>
            <a:r>
              <a:rPr lang="en-US" sz="800" dirty="0" err="1"/>
              <a:t>str</a:t>
            </a:r>
            <a:r>
              <a:rPr lang="en-US" sz="800" dirty="0"/>
              <a:t>, </a:t>
            </a:r>
            <a:r>
              <a:rPr lang="en-US" sz="800" dirty="0" err="1"/>
              <a:t>key_size</a:t>
            </a:r>
            <a:r>
              <a:rPr lang="en-US" sz="800" dirty="0"/>
              <a:t>: </a:t>
            </a:r>
            <a:r>
              <a:rPr lang="en-US" sz="800" dirty="0" err="1"/>
              <a:t>int</a:t>
            </a:r>
            <a:r>
              <a:rPr lang="en-US" sz="800" dirty="0"/>
              <a:t>) -&gt; </a:t>
            </a:r>
            <a:r>
              <a:rPr lang="en-US" sz="800" dirty="0" err="1"/>
              <a:t>str</a:t>
            </a:r>
            <a:r>
              <a:rPr lang="en-US" sz="800" dirty="0"/>
              <a:t>:</a:t>
            </a:r>
          </a:p>
          <a:p>
            <a:r>
              <a:rPr lang="en-US" sz="800" dirty="0"/>
              <a:t>    """Generate a response message</a:t>
            </a:r>
          </a:p>
          <a:p>
            <a:endParaRPr lang="en-US" sz="800" dirty="0"/>
          </a:p>
          <a:p>
            <a:r>
              <a:rPr lang="en-US" sz="800" dirty="0"/>
              <a:t>    :</a:t>
            </a:r>
            <a:r>
              <a:rPr lang="en-US" sz="800" dirty="0" err="1"/>
              <a:t>param</a:t>
            </a:r>
            <a:r>
              <a:rPr lang="en-US" sz="800" dirty="0"/>
              <a:t> cipher: chosen cipher</a:t>
            </a:r>
          </a:p>
          <a:p>
            <a:r>
              <a:rPr lang="en-US" sz="800" dirty="0"/>
              <a:t>    :</a:t>
            </a:r>
            <a:r>
              <a:rPr lang="en-US" sz="800" dirty="0" err="1"/>
              <a:t>param</a:t>
            </a:r>
            <a:r>
              <a:rPr lang="en-US" sz="800" dirty="0"/>
              <a:t> </a:t>
            </a:r>
            <a:r>
              <a:rPr lang="en-US" sz="800" dirty="0" err="1"/>
              <a:t>key_size</a:t>
            </a:r>
            <a:r>
              <a:rPr lang="en-US" sz="800" dirty="0"/>
              <a:t>: chosen key size</a:t>
            </a:r>
          </a:p>
          <a:p>
            <a:r>
              <a:rPr lang="en-US" sz="800" dirty="0"/>
              <a:t>    :return: (cipher, </a:t>
            </a:r>
            <a:r>
              <a:rPr lang="en-US" sz="800" dirty="0" err="1"/>
              <a:t>key_size</a:t>
            </a:r>
            <a:r>
              <a:rPr lang="en-US" sz="800" dirty="0"/>
              <a:t>) selection as a string</a:t>
            </a:r>
          </a:p>
          <a:p>
            <a:r>
              <a:rPr lang="en-US" sz="800" dirty="0"/>
              <a:t>    """</a:t>
            </a:r>
          </a:p>
          <a:p>
            <a:r>
              <a:rPr lang="en-US" sz="800" dirty="0"/>
              <a:t>    return "</a:t>
            </a:r>
            <a:r>
              <a:rPr lang="en-US" sz="800" dirty="0" err="1"/>
              <a:t>ChosenCipher</a:t>
            </a:r>
            <a:r>
              <a:rPr lang="en-US" sz="800" dirty="0"/>
              <a:t>:{},{}".format(cipher, </a:t>
            </a:r>
            <a:r>
              <a:rPr lang="en-US" sz="800" dirty="0" err="1"/>
              <a:t>key_size</a:t>
            </a:r>
            <a:r>
              <a:rPr lang="en-US" sz="800" dirty="0"/>
              <a:t>)</a:t>
            </a:r>
          </a:p>
          <a:p>
            <a:endParaRPr lang="en-US" sz="800" dirty="0"/>
          </a:p>
          <a:p>
            <a:endParaRPr lang="en-US" sz="800" dirty="0"/>
          </a:p>
          <a:p>
            <a:r>
              <a:rPr lang="en-US" sz="800" dirty="0" err="1"/>
              <a:t>def</a:t>
            </a:r>
            <a:r>
              <a:rPr lang="en-US" sz="800" dirty="0"/>
              <a:t> </a:t>
            </a:r>
            <a:r>
              <a:rPr lang="en-US" sz="800" dirty="0" err="1"/>
              <a:t>parse_dhm_request</a:t>
            </a:r>
            <a:r>
              <a:rPr lang="en-US" sz="800" dirty="0"/>
              <a:t>(</a:t>
            </a:r>
            <a:r>
              <a:rPr lang="en-US" sz="800" dirty="0" err="1"/>
              <a:t>msg</a:t>
            </a:r>
            <a:r>
              <a:rPr lang="en-US" sz="800" dirty="0"/>
              <a:t>: </a:t>
            </a:r>
            <a:r>
              <a:rPr lang="en-US" sz="800" dirty="0" err="1"/>
              <a:t>str</a:t>
            </a:r>
            <a:r>
              <a:rPr lang="en-US" sz="800" dirty="0"/>
              <a:t>) -&gt; </a:t>
            </a:r>
            <a:r>
              <a:rPr lang="en-US" sz="800" dirty="0" err="1"/>
              <a:t>int</a:t>
            </a:r>
            <a:r>
              <a:rPr lang="en-US" sz="800" dirty="0"/>
              <a:t>:</a:t>
            </a:r>
          </a:p>
          <a:p>
            <a:r>
              <a:rPr lang="en-US" sz="800" dirty="0"/>
              <a:t>    """Parse client's DHM key exchange request</a:t>
            </a:r>
          </a:p>
          <a:p>
            <a:endParaRPr lang="en-US" sz="800" dirty="0"/>
          </a:p>
          <a:p>
            <a:r>
              <a:rPr lang="en-US" sz="800" dirty="0"/>
              <a:t>    :</a:t>
            </a:r>
            <a:r>
              <a:rPr lang="en-US" sz="800" dirty="0" err="1"/>
              <a:t>param</a:t>
            </a:r>
            <a:r>
              <a:rPr lang="en-US" sz="800" dirty="0"/>
              <a:t> </a:t>
            </a:r>
            <a:r>
              <a:rPr lang="en-US" sz="800" dirty="0" err="1"/>
              <a:t>msg</a:t>
            </a:r>
            <a:r>
              <a:rPr lang="en-US" sz="800" dirty="0"/>
              <a:t>: client's DHMKE initial message</a:t>
            </a:r>
          </a:p>
          <a:p>
            <a:r>
              <a:rPr lang="en-US" sz="800" dirty="0"/>
              <a:t>    :return: number in the client's message</a:t>
            </a:r>
          </a:p>
          <a:p>
            <a:r>
              <a:rPr lang="en-US" sz="800" dirty="0"/>
              <a:t>    """</a:t>
            </a:r>
          </a:p>
          <a:p>
            <a:r>
              <a:rPr lang="en-US" sz="800" dirty="0"/>
              <a:t>    return </a:t>
            </a:r>
            <a:r>
              <a:rPr lang="en-US" sz="800" dirty="0" err="1"/>
              <a:t>int</a:t>
            </a:r>
            <a:r>
              <a:rPr lang="en-US" sz="800" dirty="0"/>
              <a:t>(</a:t>
            </a:r>
            <a:r>
              <a:rPr lang="en-US" sz="800" dirty="0" err="1"/>
              <a:t>msg.split</a:t>
            </a:r>
            <a:r>
              <a:rPr lang="en-US" sz="800" dirty="0"/>
              <a:t>(':')[1])</a:t>
            </a:r>
          </a:p>
          <a:p>
            <a:endParaRPr lang="en-US" sz="800" dirty="0"/>
          </a:p>
          <a:p>
            <a:endParaRPr lang="en-US" sz="800" dirty="0"/>
          </a:p>
          <a:p>
            <a:r>
              <a:rPr lang="en-US" sz="800" dirty="0" err="1"/>
              <a:t>def</a:t>
            </a:r>
            <a:r>
              <a:rPr lang="en-US" sz="800" dirty="0"/>
              <a:t> </a:t>
            </a:r>
            <a:r>
              <a:rPr lang="en-US" sz="800" dirty="0" err="1"/>
              <a:t>get_key_and_iv</a:t>
            </a:r>
            <a:r>
              <a:rPr lang="en-US" sz="800" dirty="0"/>
              <a:t>(</a:t>
            </a:r>
          </a:p>
          <a:p>
            <a:r>
              <a:rPr lang="en-US" sz="800" dirty="0"/>
              <a:t>    </a:t>
            </a:r>
            <a:r>
              <a:rPr lang="en-US" sz="800" dirty="0" err="1"/>
              <a:t>shared_key</a:t>
            </a:r>
            <a:r>
              <a:rPr lang="en-US" sz="800" dirty="0"/>
              <a:t>: </a:t>
            </a:r>
            <a:r>
              <a:rPr lang="en-US" sz="800" dirty="0" err="1"/>
              <a:t>str</a:t>
            </a:r>
            <a:r>
              <a:rPr lang="en-US" sz="800" dirty="0"/>
              <a:t>, </a:t>
            </a:r>
            <a:r>
              <a:rPr lang="en-US" sz="800" dirty="0" err="1"/>
              <a:t>cipher_name</a:t>
            </a:r>
            <a:r>
              <a:rPr lang="en-US" sz="800" dirty="0"/>
              <a:t>: </a:t>
            </a:r>
            <a:r>
              <a:rPr lang="en-US" sz="800" dirty="0" err="1"/>
              <a:t>str</a:t>
            </a:r>
            <a:r>
              <a:rPr lang="en-US" sz="800" dirty="0"/>
              <a:t>, </a:t>
            </a:r>
            <a:r>
              <a:rPr lang="en-US" sz="800" dirty="0" err="1"/>
              <a:t>key_size</a:t>
            </a:r>
            <a:r>
              <a:rPr lang="en-US" sz="800" dirty="0"/>
              <a:t>: </a:t>
            </a:r>
            <a:r>
              <a:rPr lang="en-US" sz="800" dirty="0" err="1"/>
              <a:t>int</a:t>
            </a:r>
            <a:endParaRPr lang="en-US" sz="800" dirty="0"/>
          </a:p>
          <a:p>
            <a:r>
              <a:rPr lang="en-US" sz="800" dirty="0"/>
              <a:t>) -&gt; Tuple[object, bytes, bytes]:</a:t>
            </a:r>
          </a:p>
          <a:p>
            <a:r>
              <a:rPr lang="en-US" sz="800" dirty="0"/>
              <a:t>    """Get key and IV from the generated shared secret key</a:t>
            </a:r>
          </a:p>
          <a:p>
            <a:endParaRPr lang="en-US" sz="800" dirty="0"/>
          </a:p>
          <a:p>
            <a:r>
              <a:rPr lang="en-US" sz="800" dirty="0"/>
              <a:t>    :</a:t>
            </a:r>
            <a:r>
              <a:rPr lang="en-US" sz="800" dirty="0" err="1"/>
              <a:t>param</a:t>
            </a:r>
            <a:r>
              <a:rPr lang="en-US" sz="800" dirty="0"/>
              <a:t> </a:t>
            </a:r>
            <a:r>
              <a:rPr lang="en-US" sz="800" dirty="0" err="1"/>
              <a:t>shared_key</a:t>
            </a:r>
            <a:r>
              <a:rPr lang="en-US" sz="800" dirty="0"/>
              <a:t>: shared key as computed by `</a:t>
            </a:r>
            <a:r>
              <a:rPr lang="en-US" sz="800" dirty="0" err="1"/>
              <a:t>diffiehellman</a:t>
            </a:r>
            <a:r>
              <a:rPr lang="en-US" sz="800" dirty="0"/>
              <a:t>`</a:t>
            </a:r>
          </a:p>
          <a:p>
            <a:r>
              <a:rPr lang="en-US" sz="800" dirty="0"/>
              <a:t>    :</a:t>
            </a:r>
            <a:r>
              <a:rPr lang="en-US" sz="800" dirty="0" err="1"/>
              <a:t>param</a:t>
            </a:r>
            <a:r>
              <a:rPr lang="en-US" sz="800" dirty="0"/>
              <a:t> </a:t>
            </a:r>
            <a:r>
              <a:rPr lang="en-US" sz="800" dirty="0" err="1"/>
              <a:t>cipher_name</a:t>
            </a:r>
            <a:r>
              <a:rPr lang="en-US" sz="800" dirty="0"/>
              <a:t>: negotiated cipher's name</a:t>
            </a:r>
          </a:p>
          <a:p>
            <a:r>
              <a:rPr lang="en-US" sz="800" dirty="0"/>
              <a:t>    :</a:t>
            </a:r>
            <a:r>
              <a:rPr lang="en-US" sz="800" dirty="0" err="1"/>
              <a:t>param</a:t>
            </a:r>
            <a:r>
              <a:rPr lang="en-US" sz="800" dirty="0"/>
              <a:t> </a:t>
            </a:r>
            <a:r>
              <a:rPr lang="en-US" sz="800" dirty="0" err="1"/>
              <a:t>key_size</a:t>
            </a:r>
            <a:r>
              <a:rPr lang="en-US" sz="800" dirty="0"/>
              <a:t>: negotiated key size</a:t>
            </a:r>
          </a:p>
          <a:p>
            <a:r>
              <a:rPr lang="en-US" sz="800" dirty="0"/>
              <a:t>    :return: (cipher, key, IV) tuple</a:t>
            </a:r>
          </a:p>
          <a:p>
            <a:r>
              <a:rPr lang="en-US" sz="800" dirty="0"/>
              <a:t>    </a:t>
            </a:r>
            <a:r>
              <a:rPr lang="en-US" sz="800" dirty="0" err="1"/>
              <a:t>cipher_name</a:t>
            </a:r>
            <a:r>
              <a:rPr lang="en-US" sz="800" dirty="0"/>
              <a:t> must be mapped to a </a:t>
            </a:r>
            <a:r>
              <a:rPr lang="en-US" sz="800" dirty="0" err="1"/>
              <a:t>Crypto.Cipher</a:t>
            </a:r>
            <a:r>
              <a:rPr lang="en-US" sz="800" dirty="0"/>
              <a:t> object</a:t>
            </a:r>
          </a:p>
          <a:p>
            <a:r>
              <a:rPr lang="en-US" sz="800" dirty="0"/>
              <a:t>    `key` is the *first* `</a:t>
            </a:r>
            <a:r>
              <a:rPr lang="en-US" sz="800" dirty="0" err="1"/>
              <a:t>key_size</a:t>
            </a:r>
            <a:r>
              <a:rPr lang="en-US" sz="800" dirty="0"/>
              <a:t>` bytes of the `</a:t>
            </a:r>
            <a:r>
              <a:rPr lang="en-US" sz="800" dirty="0" err="1"/>
              <a:t>shared_key</a:t>
            </a:r>
            <a:r>
              <a:rPr lang="en-US" sz="800" dirty="0"/>
              <a:t>`</a:t>
            </a:r>
          </a:p>
          <a:p>
            <a:r>
              <a:rPr lang="en-US" sz="800" dirty="0"/>
              <a:t>    DES key must be padded to 64 bits with 0</a:t>
            </a:r>
          </a:p>
          <a:p>
            <a:r>
              <a:rPr lang="en-US" sz="800" dirty="0"/>
              <a:t>    Length `</a:t>
            </a:r>
            <a:r>
              <a:rPr lang="en-US" sz="800" dirty="0" err="1"/>
              <a:t>ivlen</a:t>
            </a:r>
            <a:r>
              <a:rPr lang="en-US" sz="800" dirty="0"/>
              <a:t>` of IV depends on a cipher</a:t>
            </a:r>
          </a:p>
          <a:p>
            <a:r>
              <a:rPr lang="en-US" sz="800" dirty="0"/>
              <a:t>    `iv` is the *last* `</a:t>
            </a:r>
            <a:r>
              <a:rPr lang="en-US" sz="800" dirty="0" err="1"/>
              <a:t>ivlen</a:t>
            </a:r>
            <a:r>
              <a:rPr lang="en-US" sz="800" dirty="0"/>
              <a:t>` bytes of the shared key</a:t>
            </a:r>
          </a:p>
          <a:p>
            <a:r>
              <a:rPr lang="en-US" sz="800" dirty="0"/>
              <a:t>    Both key and IV must be returned as bytes</a:t>
            </a:r>
          </a:p>
          <a:p>
            <a:r>
              <a:rPr lang="en-US" sz="800" dirty="0"/>
              <a:t>    """</a:t>
            </a:r>
          </a:p>
          <a:p>
            <a:r>
              <a:rPr lang="en-US" sz="800" dirty="0"/>
              <a:t>    </a:t>
            </a:r>
            <a:r>
              <a:rPr lang="en-US" sz="800" dirty="0" err="1"/>
              <a:t>cipher_map</a:t>
            </a:r>
            <a:r>
              <a:rPr lang="en-US" sz="800" dirty="0"/>
              <a:t> = {</a:t>
            </a:r>
          </a:p>
          <a:p>
            <a:r>
              <a:rPr lang="en-US" sz="800" dirty="0"/>
              <a:t>        "DES": DES, "AES": AES, "Blowfish": Blowfish</a:t>
            </a:r>
          </a:p>
          <a:p>
            <a:r>
              <a:rPr lang="en-US" sz="800" dirty="0"/>
              <a:t>    }</a:t>
            </a:r>
          </a:p>
          <a:p>
            <a:endParaRPr lang="en-US" sz="800" dirty="0"/>
          </a:p>
          <a:p>
            <a:r>
              <a:rPr lang="en-US" sz="800" dirty="0"/>
              <a:t>    </a:t>
            </a:r>
            <a:r>
              <a:rPr lang="en-US" sz="800" dirty="0" err="1"/>
              <a:t>ivlen</a:t>
            </a:r>
            <a:r>
              <a:rPr lang="en-US" sz="800" dirty="0"/>
              <a:t> = {</a:t>
            </a:r>
          </a:p>
          <a:p>
            <a:r>
              <a:rPr lang="en-US" sz="800" dirty="0"/>
              <a:t>        "DES": 8, "AES": 16, "Blowfish": 8</a:t>
            </a:r>
          </a:p>
          <a:p>
            <a:r>
              <a:rPr lang="en-US" sz="800" dirty="0"/>
              <a:t>    }</a:t>
            </a:r>
          </a:p>
          <a:p>
            <a:endParaRPr lang="en-US" sz="800" dirty="0"/>
          </a:p>
          <a:p>
            <a:r>
              <a:rPr lang="en-US" sz="800" dirty="0"/>
              <a:t>    cipher = </a:t>
            </a:r>
            <a:r>
              <a:rPr lang="en-US" sz="800" dirty="0" err="1"/>
              <a:t>cipher_map.get</a:t>
            </a:r>
            <a:r>
              <a:rPr lang="en-US" sz="800" dirty="0"/>
              <a:t>(</a:t>
            </a:r>
            <a:r>
              <a:rPr lang="en-US" sz="800" dirty="0" err="1"/>
              <a:t>cipher_name</a:t>
            </a:r>
            <a:r>
              <a:rPr lang="en-US" sz="800" dirty="0"/>
              <a:t>)</a:t>
            </a:r>
          </a:p>
          <a:p>
            <a:r>
              <a:rPr lang="en-US" sz="800" dirty="0"/>
              <a:t>    key = </a:t>
            </a:r>
            <a:r>
              <a:rPr lang="en-US" sz="800" dirty="0" err="1"/>
              <a:t>shared_key</a:t>
            </a:r>
            <a:r>
              <a:rPr lang="en-US" sz="800" dirty="0"/>
              <a:t>[:</a:t>
            </a:r>
            <a:r>
              <a:rPr lang="en-US" sz="800" dirty="0" err="1"/>
              <a:t>key_size</a:t>
            </a:r>
            <a:r>
              <a:rPr lang="en-US" sz="800" dirty="0"/>
              <a:t>//8]</a:t>
            </a:r>
          </a:p>
          <a:p>
            <a:r>
              <a:rPr lang="en-US" sz="800" dirty="0"/>
              <a:t>    if </a:t>
            </a:r>
            <a:r>
              <a:rPr lang="en-US" sz="800" dirty="0" err="1"/>
              <a:t>cipher_name</a:t>
            </a:r>
            <a:r>
              <a:rPr lang="en-US" sz="800" dirty="0"/>
              <a:t> == "DES":</a:t>
            </a:r>
          </a:p>
          <a:p>
            <a:r>
              <a:rPr lang="en-US" sz="800" dirty="0"/>
              <a:t>        key += '\0'</a:t>
            </a:r>
          </a:p>
          <a:p>
            <a:r>
              <a:rPr lang="en-US" sz="800" dirty="0"/>
              <a:t>    key = </a:t>
            </a:r>
            <a:r>
              <a:rPr lang="en-US" sz="800" dirty="0" err="1"/>
              <a:t>key.encode</a:t>
            </a:r>
            <a:r>
              <a:rPr lang="en-US" sz="800" dirty="0"/>
              <a:t>()</a:t>
            </a:r>
          </a:p>
          <a:p>
            <a:r>
              <a:rPr lang="en-US" sz="800" dirty="0"/>
              <a:t>    iv = </a:t>
            </a:r>
            <a:r>
              <a:rPr lang="en-US" sz="800" dirty="0" err="1"/>
              <a:t>shared_key</a:t>
            </a:r>
            <a:r>
              <a:rPr lang="en-US" sz="800" dirty="0"/>
              <a:t>[-1 * </a:t>
            </a:r>
            <a:r>
              <a:rPr lang="en-US" sz="800" dirty="0" err="1"/>
              <a:t>ivlen.get</a:t>
            </a:r>
            <a:r>
              <a:rPr lang="en-US" sz="800" dirty="0"/>
              <a:t>(</a:t>
            </a:r>
            <a:r>
              <a:rPr lang="en-US" sz="800" dirty="0" err="1"/>
              <a:t>cipher_name</a:t>
            </a:r>
            <a:r>
              <a:rPr lang="en-US" sz="800" dirty="0"/>
              <a:t>):].encode()</a:t>
            </a:r>
          </a:p>
          <a:p>
            <a:endParaRPr lang="en-US" sz="800" dirty="0"/>
          </a:p>
          <a:p>
            <a:r>
              <a:rPr lang="en-US" sz="800" dirty="0"/>
              <a:t>    return cipher, key, iv</a:t>
            </a:r>
          </a:p>
          <a:p>
            <a:endParaRPr lang="en-US" sz="800" dirty="0"/>
          </a:p>
          <a:p>
            <a:endParaRPr lang="en-US" sz="800" dirty="0"/>
          </a:p>
          <a:p>
            <a:r>
              <a:rPr lang="en-US" sz="800" dirty="0" err="1"/>
              <a:t>def</a:t>
            </a:r>
            <a:r>
              <a:rPr lang="en-US" sz="800" dirty="0"/>
              <a:t> </a:t>
            </a:r>
            <a:r>
              <a:rPr lang="en-US" sz="800" dirty="0" err="1"/>
              <a:t>generate_dhm_response</a:t>
            </a:r>
            <a:r>
              <a:rPr lang="en-US" sz="800" dirty="0"/>
              <a:t>(</a:t>
            </a:r>
            <a:r>
              <a:rPr lang="en-US" sz="800" dirty="0" err="1"/>
              <a:t>public_key</a:t>
            </a:r>
            <a:r>
              <a:rPr lang="en-US" sz="800" dirty="0"/>
              <a:t>: </a:t>
            </a:r>
            <a:r>
              <a:rPr lang="en-US" sz="800" dirty="0" err="1"/>
              <a:t>int</a:t>
            </a:r>
            <a:r>
              <a:rPr lang="en-US" sz="800" dirty="0"/>
              <a:t>) -&gt; </a:t>
            </a:r>
            <a:r>
              <a:rPr lang="en-US" sz="800" dirty="0" err="1"/>
              <a:t>str</a:t>
            </a:r>
            <a:r>
              <a:rPr lang="en-US" sz="800" dirty="0"/>
              <a:t>:</a:t>
            </a:r>
          </a:p>
          <a:p>
            <a:r>
              <a:rPr lang="en-US" sz="800" dirty="0"/>
              <a:t>    """Generate DHM key exchange response</a:t>
            </a:r>
          </a:p>
          <a:p>
            <a:endParaRPr lang="en-US" sz="800" dirty="0"/>
          </a:p>
          <a:p>
            <a:r>
              <a:rPr lang="en-US" sz="800" dirty="0"/>
              <a:t>    :</a:t>
            </a:r>
            <a:r>
              <a:rPr lang="en-US" sz="800" dirty="0" err="1"/>
              <a:t>param</a:t>
            </a:r>
            <a:r>
              <a:rPr lang="en-US" sz="800" dirty="0"/>
              <a:t> </a:t>
            </a:r>
            <a:r>
              <a:rPr lang="en-US" sz="800" dirty="0" err="1"/>
              <a:t>public_key</a:t>
            </a:r>
            <a:r>
              <a:rPr lang="en-US" sz="800" dirty="0"/>
              <a:t>: public portion of the DHMKE</a:t>
            </a:r>
          </a:p>
          <a:p>
            <a:r>
              <a:rPr lang="en-US" sz="800" dirty="0"/>
              <a:t>    :return: string according to the specification</a:t>
            </a:r>
          </a:p>
          <a:p>
            <a:r>
              <a:rPr lang="en-US" sz="800" dirty="0"/>
              <a:t>    """</a:t>
            </a:r>
          </a:p>
          <a:p>
            <a:r>
              <a:rPr lang="en-US" sz="800" dirty="0"/>
              <a:t>    return 'DHMKE:{}'.format(</a:t>
            </a:r>
            <a:r>
              <a:rPr lang="en-US" sz="800" dirty="0" err="1"/>
              <a:t>public_key</a:t>
            </a:r>
            <a:r>
              <a:rPr lang="en-US" sz="800" dirty="0"/>
              <a:t>)</a:t>
            </a:r>
          </a:p>
          <a:p>
            <a:endParaRPr lang="en-US" sz="800" dirty="0"/>
          </a:p>
          <a:p>
            <a:endParaRPr lang="en-US" sz="800" dirty="0"/>
          </a:p>
          <a:p>
            <a:r>
              <a:rPr lang="en-US" sz="800" dirty="0" err="1"/>
              <a:t>def</a:t>
            </a:r>
            <a:r>
              <a:rPr lang="en-US" sz="800" dirty="0"/>
              <a:t> </a:t>
            </a:r>
            <a:r>
              <a:rPr lang="en-US" sz="800" dirty="0" err="1"/>
              <a:t>read_message</a:t>
            </a:r>
            <a:r>
              <a:rPr lang="en-US" sz="800" dirty="0"/>
              <a:t>(</a:t>
            </a:r>
            <a:r>
              <a:rPr lang="en-US" sz="800" dirty="0" err="1"/>
              <a:t>msg_cipher</a:t>
            </a:r>
            <a:r>
              <a:rPr lang="en-US" sz="800" dirty="0"/>
              <a:t>: bytes, crypto: object) -&gt; Tuple[</a:t>
            </a:r>
            <a:r>
              <a:rPr lang="en-US" sz="800" dirty="0" err="1"/>
              <a:t>str</a:t>
            </a:r>
            <a:r>
              <a:rPr lang="en-US" sz="800" dirty="0"/>
              <a:t>, </a:t>
            </a:r>
            <a:r>
              <a:rPr lang="en-US" sz="800" dirty="0" err="1"/>
              <a:t>str</a:t>
            </a:r>
            <a:r>
              <a:rPr lang="en-US" sz="800" dirty="0"/>
              <a:t>]:</a:t>
            </a:r>
          </a:p>
          <a:p>
            <a:r>
              <a:rPr lang="en-US" sz="800" dirty="0"/>
              <a:t>    """Read the incoming encrypted message</a:t>
            </a:r>
          </a:p>
          <a:p>
            <a:endParaRPr lang="en-US" sz="800" dirty="0"/>
          </a:p>
          <a:p>
            <a:r>
              <a:rPr lang="en-US" sz="800" dirty="0"/>
              <a:t>    :</a:t>
            </a:r>
            <a:r>
              <a:rPr lang="en-US" sz="800" dirty="0" err="1"/>
              <a:t>param</a:t>
            </a:r>
            <a:r>
              <a:rPr lang="en-US" sz="800" dirty="0"/>
              <a:t> </a:t>
            </a:r>
            <a:r>
              <a:rPr lang="en-US" sz="800" dirty="0" err="1"/>
              <a:t>msg_cipher</a:t>
            </a:r>
            <a:r>
              <a:rPr lang="en-US" sz="800" dirty="0"/>
              <a:t>: encrypted message from the socket</a:t>
            </a:r>
          </a:p>
          <a:p>
            <a:r>
              <a:rPr lang="en-US" sz="800" dirty="0"/>
              <a:t>    :crypto: chosen cipher, must be initialized in the `main`</a:t>
            </a:r>
          </a:p>
          <a:p>
            <a:r>
              <a:rPr lang="en-US" sz="800" dirty="0"/>
              <a:t>    :return: (plaintext, </a:t>
            </a:r>
            <a:r>
              <a:rPr lang="en-US" sz="800" dirty="0" err="1"/>
              <a:t>hmac</a:t>
            </a:r>
            <a:r>
              <a:rPr lang="en-US" sz="800" dirty="0"/>
              <a:t>) tuple</a:t>
            </a:r>
          </a:p>
          <a:p>
            <a:r>
              <a:rPr lang="en-US" sz="800" dirty="0"/>
              <a:t>    """</a:t>
            </a:r>
          </a:p>
          <a:p>
            <a:endParaRPr lang="en-US" sz="800" dirty="0"/>
          </a:p>
          <a:p>
            <a:r>
              <a:rPr lang="en-US" sz="800" dirty="0"/>
              <a:t>    </a:t>
            </a:r>
            <a:r>
              <a:rPr lang="en-US" sz="800" dirty="0" err="1"/>
              <a:t>ciph_in</a:t>
            </a:r>
            <a:r>
              <a:rPr lang="en-US" sz="800" dirty="0"/>
              <a:t> = </a:t>
            </a:r>
            <a:r>
              <a:rPr lang="en-US" sz="800" dirty="0" err="1"/>
              <a:t>msg_cipher</a:t>
            </a:r>
            <a:r>
              <a:rPr lang="en-US" sz="800" dirty="0"/>
              <a:t>[:-64]</a:t>
            </a:r>
          </a:p>
          <a:p>
            <a:r>
              <a:rPr lang="en-US" sz="800" dirty="0"/>
              <a:t>    </a:t>
            </a:r>
            <a:r>
              <a:rPr lang="en-US" sz="800" dirty="0" err="1"/>
              <a:t>hmac</a:t>
            </a:r>
            <a:r>
              <a:rPr lang="en-US" sz="800" dirty="0"/>
              <a:t> = </a:t>
            </a:r>
            <a:r>
              <a:rPr lang="en-US" sz="800" dirty="0" err="1"/>
              <a:t>msg_cipher</a:t>
            </a:r>
            <a:r>
              <a:rPr lang="en-US" sz="800" dirty="0"/>
              <a:t>[-64:].decode('utf-8')</a:t>
            </a:r>
          </a:p>
          <a:p>
            <a:r>
              <a:rPr lang="en-US" sz="800" dirty="0"/>
              <a:t>    plaintext = </a:t>
            </a:r>
            <a:r>
              <a:rPr lang="en-US" sz="800" dirty="0" err="1"/>
              <a:t>crypto.decrypt</a:t>
            </a:r>
            <a:r>
              <a:rPr lang="en-US" sz="800" dirty="0"/>
              <a:t>(</a:t>
            </a:r>
            <a:r>
              <a:rPr lang="en-US" sz="800" dirty="0" err="1"/>
              <a:t>ciph_in</a:t>
            </a:r>
            <a:r>
              <a:rPr lang="en-US" sz="800" dirty="0"/>
              <a:t>).decode('utf-8')</a:t>
            </a:r>
          </a:p>
          <a:p>
            <a:r>
              <a:rPr lang="en-US" sz="800" dirty="0"/>
              <a:t>    plaintext = </a:t>
            </a:r>
            <a:r>
              <a:rPr lang="en-US" sz="800" dirty="0" err="1"/>
              <a:t>plaintext.strip</a:t>
            </a:r>
            <a:r>
              <a:rPr lang="en-US" sz="800" dirty="0"/>
              <a:t>('\0')</a:t>
            </a:r>
          </a:p>
          <a:p>
            <a:r>
              <a:rPr lang="en-US" sz="800" dirty="0"/>
              <a:t>    return plaintext, </a:t>
            </a:r>
            <a:r>
              <a:rPr lang="en-US" sz="800" dirty="0" err="1"/>
              <a:t>hmac</a:t>
            </a:r>
            <a:endParaRPr lang="en-US" sz="800" dirty="0"/>
          </a:p>
          <a:p>
            <a:endParaRPr lang="en-US" sz="800" dirty="0"/>
          </a:p>
          <a:p>
            <a:endParaRPr lang="en-US" sz="800" dirty="0"/>
          </a:p>
          <a:p>
            <a:r>
              <a:rPr lang="en-US" sz="800" dirty="0" err="1"/>
              <a:t>def</a:t>
            </a:r>
            <a:r>
              <a:rPr lang="en-US" sz="800" dirty="0"/>
              <a:t> </a:t>
            </a:r>
            <a:r>
              <a:rPr lang="en-US" sz="800" dirty="0" err="1"/>
              <a:t>validate_hmac</a:t>
            </a:r>
            <a:r>
              <a:rPr lang="en-US" sz="800" dirty="0"/>
              <a:t>(</a:t>
            </a:r>
            <a:r>
              <a:rPr lang="en-US" sz="800" dirty="0" err="1"/>
              <a:t>msg_cipher</a:t>
            </a:r>
            <a:r>
              <a:rPr lang="en-US" sz="800" dirty="0"/>
              <a:t>: bytes, </a:t>
            </a:r>
            <a:r>
              <a:rPr lang="en-US" sz="800" dirty="0" err="1"/>
              <a:t>hmac_in</a:t>
            </a:r>
            <a:r>
              <a:rPr lang="en-US" sz="800" dirty="0"/>
              <a:t>: </a:t>
            </a:r>
            <a:r>
              <a:rPr lang="en-US" sz="800" dirty="0" err="1"/>
              <a:t>str</a:t>
            </a:r>
            <a:r>
              <a:rPr lang="en-US" sz="800" dirty="0"/>
              <a:t>, hashing: object) -&gt; bool:</a:t>
            </a:r>
          </a:p>
          <a:p>
            <a:r>
              <a:rPr lang="en-US" sz="800" dirty="0"/>
              <a:t>    """Validate HMAC</a:t>
            </a:r>
          </a:p>
          <a:p>
            <a:endParaRPr lang="en-US" sz="800" dirty="0"/>
          </a:p>
          <a:p>
            <a:r>
              <a:rPr lang="en-US" sz="800" dirty="0"/>
              <a:t>    :</a:t>
            </a:r>
            <a:r>
              <a:rPr lang="en-US" sz="800" dirty="0" err="1"/>
              <a:t>param</a:t>
            </a:r>
            <a:r>
              <a:rPr lang="en-US" sz="800" dirty="0"/>
              <a:t> </a:t>
            </a:r>
            <a:r>
              <a:rPr lang="en-US" sz="800" dirty="0" err="1"/>
              <a:t>msg_cipher</a:t>
            </a:r>
            <a:r>
              <a:rPr lang="en-US" sz="800" dirty="0"/>
              <a:t>: encrypted message from the socket</a:t>
            </a:r>
          </a:p>
          <a:p>
            <a:r>
              <a:rPr lang="en-US" sz="800" dirty="0"/>
              <a:t>    :</a:t>
            </a:r>
            <a:r>
              <a:rPr lang="en-US" sz="800" dirty="0" err="1"/>
              <a:t>param</a:t>
            </a:r>
            <a:r>
              <a:rPr lang="en-US" sz="800" dirty="0"/>
              <a:t> </a:t>
            </a:r>
            <a:r>
              <a:rPr lang="en-US" sz="800" dirty="0" err="1"/>
              <a:t>hmac_in</a:t>
            </a:r>
            <a:r>
              <a:rPr lang="en-US" sz="800" dirty="0"/>
              <a:t>: HMAC received from the client</a:t>
            </a:r>
          </a:p>
          <a:p>
            <a:r>
              <a:rPr lang="en-US" sz="800" dirty="0"/>
              <a:t>    :</a:t>
            </a:r>
            <a:r>
              <a:rPr lang="en-US" sz="800" dirty="0" err="1"/>
              <a:t>param</a:t>
            </a:r>
            <a:r>
              <a:rPr lang="en-US" sz="800" dirty="0"/>
              <a:t> hashing: hashing object, must be initialized in the `main`</a:t>
            </a:r>
          </a:p>
          <a:p>
            <a:r>
              <a:rPr lang="en-US" sz="800" dirty="0"/>
              <a:t>    :raise: </a:t>
            </a:r>
            <a:r>
              <a:rPr lang="en-US" sz="800" dirty="0" err="1"/>
              <a:t>ValueError</a:t>
            </a:r>
            <a:r>
              <a:rPr lang="en-US" sz="800" dirty="0"/>
              <a:t> is HMAC is invalid</a:t>
            </a:r>
          </a:p>
          <a:p>
            <a:r>
              <a:rPr lang="en-US" sz="800" dirty="0"/>
              <a:t>    """</a:t>
            </a:r>
          </a:p>
          <a:p>
            <a:r>
              <a:rPr lang="en-US" sz="800" dirty="0"/>
              <a:t>    </a:t>
            </a:r>
            <a:r>
              <a:rPr lang="en-US" sz="800" dirty="0" err="1"/>
              <a:t>ciphertext</a:t>
            </a:r>
            <a:r>
              <a:rPr lang="en-US" sz="800" dirty="0"/>
              <a:t> = </a:t>
            </a:r>
            <a:r>
              <a:rPr lang="en-US" sz="800" dirty="0" err="1"/>
              <a:t>msg_cipher</a:t>
            </a:r>
            <a:r>
              <a:rPr lang="en-US" sz="800" dirty="0"/>
              <a:t>[:-64]</a:t>
            </a:r>
          </a:p>
          <a:p>
            <a:r>
              <a:rPr lang="en-US" sz="800" dirty="0"/>
              <a:t>    </a:t>
            </a:r>
            <a:r>
              <a:rPr lang="en-US" sz="800" dirty="0" err="1"/>
              <a:t>hashing.update</a:t>
            </a:r>
            <a:r>
              <a:rPr lang="en-US" sz="800" dirty="0"/>
              <a:t>(</a:t>
            </a:r>
            <a:r>
              <a:rPr lang="en-US" sz="800" dirty="0" err="1"/>
              <a:t>ciphertext</a:t>
            </a:r>
            <a:r>
              <a:rPr lang="en-US" sz="800" dirty="0"/>
              <a:t>)</a:t>
            </a:r>
          </a:p>
          <a:p>
            <a:r>
              <a:rPr lang="en-US" sz="800" dirty="0"/>
              <a:t>    </a:t>
            </a:r>
            <a:r>
              <a:rPr lang="en-US" sz="800" dirty="0" err="1"/>
              <a:t>hashvalue</a:t>
            </a:r>
            <a:r>
              <a:rPr lang="en-US" sz="800" dirty="0"/>
              <a:t> = </a:t>
            </a:r>
            <a:r>
              <a:rPr lang="en-US" sz="800" dirty="0" err="1"/>
              <a:t>hashing.hexdigest</a:t>
            </a:r>
            <a:r>
              <a:rPr lang="en-US" sz="800" dirty="0"/>
              <a:t>()</a:t>
            </a:r>
          </a:p>
          <a:p>
            <a:endParaRPr lang="en-US" sz="800" dirty="0"/>
          </a:p>
          <a:p>
            <a:r>
              <a:rPr lang="en-US" sz="800" dirty="0"/>
              <a:t>    if </a:t>
            </a:r>
            <a:r>
              <a:rPr lang="en-US" sz="800" dirty="0" err="1"/>
              <a:t>hashvalue</a:t>
            </a:r>
            <a:r>
              <a:rPr lang="en-US" sz="800" dirty="0"/>
              <a:t> == </a:t>
            </a:r>
            <a:r>
              <a:rPr lang="en-US" sz="800" dirty="0" err="1"/>
              <a:t>hmac_in</a:t>
            </a:r>
            <a:r>
              <a:rPr lang="en-US" sz="800" dirty="0"/>
              <a:t>:</a:t>
            </a:r>
          </a:p>
          <a:p>
            <a:r>
              <a:rPr lang="en-US" sz="800" dirty="0"/>
              <a:t>        return True</a:t>
            </a:r>
          </a:p>
          <a:p>
            <a:r>
              <a:rPr lang="en-US" sz="800" dirty="0"/>
              <a:t>    else:</a:t>
            </a:r>
          </a:p>
          <a:p>
            <a:r>
              <a:rPr lang="en-US" sz="800" dirty="0"/>
              <a:t>        raise </a:t>
            </a:r>
            <a:r>
              <a:rPr lang="en-US" sz="800" dirty="0" err="1"/>
              <a:t>ValueError</a:t>
            </a:r>
            <a:r>
              <a:rPr lang="en-US" sz="800" dirty="0"/>
              <a:t>('Bad HMAC')</a:t>
            </a:r>
          </a:p>
          <a:p>
            <a:endParaRPr lang="en-US" sz="800" dirty="0"/>
          </a:p>
          <a:p>
            <a:endParaRPr lang="en-US" sz="800" dirty="0"/>
          </a:p>
          <a:p>
            <a:r>
              <a:rPr lang="en-US" sz="800" dirty="0" err="1"/>
              <a:t>def</a:t>
            </a:r>
            <a:r>
              <a:rPr lang="en-US" sz="800" dirty="0"/>
              <a:t> main():</a:t>
            </a:r>
          </a:p>
          <a:p>
            <a:r>
              <a:rPr lang="en-US" sz="800" dirty="0"/>
              <a:t>    """Main loop</a:t>
            </a:r>
          </a:p>
          <a:p>
            <a:endParaRPr lang="en-US" sz="800" dirty="0"/>
          </a:p>
          <a:p>
            <a:r>
              <a:rPr lang="en-US" sz="800" dirty="0"/>
              <a:t>    See vpn.md for details</a:t>
            </a:r>
          </a:p>
          <a:p>
            <a:r>
              <a:rPr lang="en-US" sz="800" dirty="0"/>
              <a:t>    """</a:t>
            </a:r>
          </a:p>
          <a:p>
            <a:r>
              <a:rPr lang="en-US" sz="800" dirty="0"/>
              <a:t>    # Create the socket</a:t>
            </a:r>
          </a:p>
          <a:p>
            <a:r>
              <a:rPr lang="en-US" sz="800" dirty="0"/>
              <a:t>    </a:t>
            </a:r>
            <a:r>
              <a:rPr lang="en-US" sz="800" dirty="0" err="1"/>
              <a:t>server_sckt</a:t>
            </a:r>
            <a:r>
              <a:rPr lang="en-US" sz="800" dirty="0"/>
              <a:t> = socket(AF_INET, SOCK_STREAM)</a:t>
            </a:r>
          </a:p>
          <a:p>
            <a:r>
              <a:rPr lang="en-US" sz="800" dirty="0"/>
              <a:t>    </a:t>
            </a:r>
            <a:r>
              <a:rPr lang="en-US" sz="800" dirty="0" err="1"/>
              <a:t>server_sckt.setsockopt</a:t>
            </a:r>
            <a:r>
              <a:rPr lang="en-US" sz="800" dirty="0"/>
              <a:t>(SOL_SOCKET, SO_REUSEADDR, 1)</a:t>
            </a:r>
          </a:p>
          <a:p>
            <a:r>
              <a:rPr lang="en-US" sz="800" dirty="0"/>
              <a:t>    </a:t>
            </a:r>
            <a:r>
              <a:rPr lang="en-US" sz="800" dirty="0" err="1"/>
              <a:t>server_sckt.bind</a:t>
            </a:r>
            <a:r>
              <a:rPr lang="en-US" sz="800" dirty="0"/>
              <a:t>((HOST, PORT))</a:t>
            </a:r>
          </a:p>
          <a:p>
            <a:r>
              <a:rPr lang="en-US" sz="800" dirty="0"/>
              <a:t>    </a:t>
            </a:r>
            <a:r>
              <a:rPr lang="en-US" sz="800" dirty="0" err="1"/>
              <a:t>server_sckt.listen</a:t>
            </a:r>
            <a:r>
              <a:rPr lang="en-US" sz="800" dirty="0"/>
              <a:t>()</a:t>
            </a:r>
          </a:p>
          <a:p>
            <a:r>
              <a:rPr lang="en-US" sz="800" dirty="0"/>
              <a:t>    print(</a:t>
            </a:r>
            <a:r>
              <a:rPr lang="en-US" sz="800" dirty="0" err="1"/>
              <a:t>f"Listening</a:t>
            </a:r>
            <a:r>
              <a:rPr lang="en-US" sz="800" dirty="0"/>
              <a:t> on {HOST}:{PORT}")</a:t>
            </a:r>
          </a:p>
          <a:p>
            <a:r>
              <a:rPr lang="en-US" sz="800" dirty="0"/>
              <a:t>    conn, client = </a:t>
            </a:r>
            <a:r>
              <a:rPr lang="en-US" sz="800" dirty="0" err="1"/>
              <a:t>server_sckt.accept</a:t>
            </a:r>
            <a:r>
              <a:rPr lang="en-US" sz="800" dirty="0"/>
              <a:t>()</a:t>
            </a:r>
          </a:p>
          <a:p>
            <a:r>
              <a:rPr lang="en-US" sz="800" dirty="0"/>
              <a:t>    print(</a:t>
            </a:r>
            <a:r>
              <a:rPr lang="en-US" sz="800" dirty="0" err="1"/>
              <a:t>f"New</a:t>
            </a:r>
            <a:r>
              <a:rPr lang="en-US" sz="800" dirty="0"/>
              <a:t> client: {client[0]}:{client[1]}")</a:t>
            </a:r>
          </a:p>
          <a:p>
            <a:endParaRPr lang="en-US" sz="800" dirty="0"/>
          </a:p>
          <a:p>
            <a:r>
              <a:rPr lang="en-US" sz="800" dirty="0"/>
              <a:t>    # Negotiating the cipher</a:t>
            </a:r>
          </a:p>
          <a:p>
            <a:r>
              <a:rPr lang="en-US" sz="800" dirty="0"/>
              <a:t>    print("Negotiating the cipher")</a:t>
            </a:r>
          </a:p>
          <a:p>
            <a:r>
              <a:rPr lang="en-US" sz="800" dirty="0"/>
              <a:t>    </a:t>
            </a:r>
            <a:r>
              <a:rPr lang="en-US" sz="800" dirty="0" err="1"/>
              <a:t>msg_in</a:t>
            </a:r>
            <a:r>
              <a:rPr lang="en-US" sz="800" dirty="0"/>
              <a:t> = </a:t>
            </a:r>
            <a:r>
              <a:rPr lang="en-US" sz="800" dirty="0" err="1"/>
              <a:t>conn.recv</a:t>
            </a:r>
            <a:r>
              <a:rPr lang="en-US" sz="800" dirty="0"/>
              <a:t>(4096).decode('utf-8')</a:t>
            </a:r>
          </a:p>
          <a:p>
            <a:r>
              <a:rPr lang="en-US" sz="800" dirty="0"/>
              <a:t>    proposed = </a:t>
            </a:r>
            <a:r>
              <a:rPr lang="en-US" sz="800" dirty="0" err="1"/>
              <a:t>parse_proposal</a:t>
            </a:r>
            <a:r>
              <a:rPr lang="en-US" sz="800" dirty="0"/>
              <a:t>(</a:t>
            </a:r>
            <a:r>
              <a:rPr lang="en-US" sz="800" dirty="0" err="1"/>
              <a:t>msg_in</a:t>
            </a:r>
            <a:r>
              <a:rPr lang="en-US" sz="800" dirty="0"/>
              <a:t>)</a:t>
            </a:r>
          </a:p>
          <a:p>
            <a:r>
              <a:rPr lang="en-US" sz="800" dirty="0"/>
              <a:t>    </a:t>
            </a:r>
            <a:r>
              <a:rPr lang="en-US" sz="800" dirty="0" err="1"/>
              <a:t>cipher_name</a:t>
            </a:r>
            <a:r>
              <a:rPr lang="en-US" sz="800" dirty="0"/>
              <a:t>, </a:t>
            </a:r>
            <a:r>
              <a:rPr lang="en-US" sz="800" dirty="0" err="1"/>
              <a:t>key_size</a:t>
            </a:r>
            <a:r>
              <a:rPr lang="en-US" sz="800" dirty="0"/>
              <a:t> = </a:t>
            </a:r>
            <a:r>
              <a:rPr lang="en-US" sz="800" dirty="0" err="1"/>
              <a:t>select_cipher</a:t>
            </a:r>
            <a:r>
              <a:rPr lang="en-US" sz="800" dirty="0"/>
              <a:t>(SUPPORTED_CIPHERS, proposed)</a:t>
            </a:r>
          </a:p>
          <a:p>
            <a:r>
              <a:rPr lang="en-US" sz="800" dirty="0"/>
              <a:t>    print(</a:t>
            </a:r>
            <a:r>
              <a:rPr lang="en-US" sz="800" dirty="0" err="1"/>
              <a:t>f"We</a:t>
            </a:r>
            <a:r>
              <a:rPr lang="en-US" sz="800" dirty="0"/>
              <a:t> are going to use {</a:t>
            </a:r>
            <a:r>
              <a:rPr lang="en-US" sz="800" dirty="0" err="1"/>
              <a:t>cipher_name</a:t>
            </a:r>
            <a:r>
              <a:rPr lang="en-US" sz="800" dirty="0"/>
              <a:t>}{</a:t>
            </a:r>
            <a:r>
              <a:rPr lang="en-US" sz="800" dirty="0" err="1"/>
              <a:t>key_size</a:t>
            </a:r>
            <a:r>
              <a:rPr lang="en-US" sz="800" dirty="0"/>
              <a:t>}")</a:t>
            </a:r>
          </a:p>
          <a:p>
            <a:r>
              <a:rPr lang="en-US" sz="800" dirty="0"/>
              <a:t>    </a:t>
            </a:r>
            <a:r>
              <a:rPr lang="en-US" sz="800" dirty="0" err="1"/>
              <a:t>msg_out</a:t>
            </a:r>
            <a:r>
              <a:rPr lang="en-US" sz="800" dirty="0"/>
              <a:t> = </a:t>
            </a:r>
            <a:r>
              <a:rPr lang="en-US" sz="800" dirty="0" err="1"/>
              <a:t>generate_cipher_response</a:t>
            </a:r>
            <a:r>
              <a:rPr lang="en-US" sz="800" dirty="0"/>
              <a:t>(</a:t>
            </a:r>
            <a:r>
              <a:rPr lang="en-US" sz="800" dirty="0" err="1"/>
              <a:t>cipher_name</a:t>
            </a:r>
            <a:r>
              <a:rPr lang="en-US" sz="800" dirty="0"/>
              <a:t>, </a:t>
            </a:r>
            <a:r>
              <a:rPr lang="en-US" sz="800" dirty="0" err="1"/>
              <a:t>key_size</a:t>
            </a:r>
            <a:r>
              <a:rPr lang="en-US" sz="800" dirty="0"/>
              <a:t>)</a:t>
            </a:r>
          </a:p>
          <a:p>
            <a:r>
              <a:rPr lang="en-US" sz="800" dirty="0"/>
              <a:t>    </a:t>
            </a:r>
            <a:r>
              <a:rPr lang="en-US" sz="800" dirty="0" err="1"/>
              <a:t>conn.send</a:t>
            </a:r>
            <a:r>
              <a:rPr lang="en-US" sz="800" dirty="0"/>
              <a:t>(</a:t>
            </a:r>
            <a:r>
              <a:rPr lang="en-US" sz="800" dirty="0" err="1"/>
              <a:t>msg_out.encode</a:t>
            </a:r>
            <a:r>
              <a:rPr lang="en-US" sz="800" dirty="0"/>
              <a:t>())</a:t>
            </a:r>
          </a:p>
          <a:p>
            <a:endParaRPr lang="en-US" sz="800" dirty="0"/>
          </a:p>
          <a:p>
            <a:r>
              <a:rPr lang="en-US" sz="800" dirty="0"/>
              <a:t>    # Negotiating the key</a:t>
            </a:r>
          </a:p>
          <a:p>
            <a:r>
              <a:rPr lang="en-US" sz="800" dirty="0"/>
              <a:t>    print("Negotiating the key")</a:t>
            </a:r>
          </a:p>
          <a:p>
            <a:r>
              <a:rPr lang="en-US" sz="800" dirty="0"/>
              <a:t>    dh = </a:t>
            </a:r>
            <a:r>
              <a:rPr lang="en-US" sz="800" dirty="0" err="1"/>
              <a:t>DiffieHellman</a:t>
            </a:r>
            <a:r>
              <a:rPr lang="en-US" sz="800" dirty="0"/>
              <a:t>()</a:t>
            </a:r>
          </a:p>
          <a:p>
            <a:r>
              <a:rPr lang="en-US" sz="800" dirty="0"/>
              <a:t>    </a:t>
            </a:r>
            <a:r>
              <a:rPr lang="en-US" sz="800" dirty="0" err="1"/>
              <a:t>dh.generate_public_key</a:t>
            </a:r>
            <a:r>
              <a:rPr lang="en-US" sz="800" dirty="0"/>
              <a:t>()</a:t>
            </a:r>
          </a:p>
          <a:p>
            <a:r>
              <a:rPr lang="en-US" sz="800" dirty="0"/>
              <a:t>    </a:t>
            </a:r>
            <a:r>
              <a:rPr lang="en-US" sz="800" dirty="0" err="1"/>
              <a:t>msg_in</a:t>
            </a:r>
            <a:r>
              <a:rPr lang="en-US" sz="800" dirty="0"/>
              <a:t> = </a:t>
            </a:r>
            <a:r>
              <a:rPr lang="en-US" sz="800" dirty="0" err="1"/>
              <a:t>conn.recv</a:t>
            </a:r>
            <a:r>
              <a:rPr lang="en-US" sz="800" dirty="0"/>
              <a:t>(4096).decode('utf-8')</a:t>
            </a:r>
          </a:p>
          <a:p>
            <a:r>
              <a:rPr lang="en-US" sz="800" dirty="0"/>
              <a:t>    </a:t>
            </a:r>
            <a:r>
              <a:rPr lang="en-US" sz="800" dirty="0" err="1"/>
              <a:t>client_public_key</a:t>
            </a:r>
            <a:r>
              <a:rPr lang="en-US" sz="800" dirty="0"/>
              <a:t> = </a:t>
            </a:r>
            <a:r>
              <a:rPr lang="en-US" sz="800" dirty="0" err="1"/>
              <a:t>parse_dhm_request</a:t>
            </a:r>
            <a:r>
              <a:rPr lang="en-US" sz="800" dirty="0"/>
              <a:t>(</a:t>
            </a:r>
            <a:r>
              <a:rPr lang="en-US" sz="800" dirty="0" err="1"/>
              <a:t>msg_in</a:t>
            </a:r>
            <a:r>
              <a:rPr lang="en-US" sz="800" dirty="0"/>
              <a:t>)</a:t>
            </a:r>
          </a:p>
          <a:p>
            <a:r>
              <a:rPr lang="en-US" sz="800" dirty="0"/>
              <a:t>    </a:t>
            </a:r>
            <a:r>
              <a:rPr lang="en-US" sz="800" dirty="0" err="1"/>
              <a:t>dh.generate_shared_secret</a:t>
            </a:r>
            <a:r>
              <a:rPr lang="en-US" sz="800" dirty="0"/>
              <a:t>(</a:t>
            </a:r>
            <a:r>
              <a:rPr lang="en-US" sz="800" dirty="0" err="1"/>
              <a:t>client_public_key</a:t>
            </a:r>
            <a:r>
              <a:rPr lang="en-US" sz="800" dirty="0"/>
              <a:t>)</a:t>
            </a:r>
          </a:p>
          <a:p>
            <a:r>
              <a:rPr lang="en-US" sz="800" dirty="0"/>
              <a:t>    </a:t>
            </a:r>
            <a:r>
              <a:rPr lang="en-US" sz="800" dirty="0" err="1"/>
              <a:t>msg_out</a:t>
            </a:r>
            <a:r>
              <a:rPr lang="en-US" sz="800" dirty="0"/>
              <a:t> = </a:t>
            </a:r>
            <a:r>
              <a:rPr lang="en-US" sz="800" dirty="0" err="1"/>
              <a:t>generate_dhm_response</a:t>
            </a:r>
            <a:r>
              <a:rPr lang="en-US" sz="800" dirty="0"/>
              <a:t>(</a:t>
            </a:r>
            <a:r>
              <a:rPr lang="en-US" sz="800" dirty="0" err="1"/>
              <a:t>dh.public_key</a:t>
            </a:r>
            <a:r>
              <a:rPr lang="en-US" sz="800" dirty="0"/>
              <a:t>)</a:t>
            </a:r>
          </a:p>
          <a:p>
            <a:r>
              <a:rPr lang="en-US" sz="800" dirty="0"/>
              <a:t>    </a:t>
            </a:r>
            <a:r>
              <a:rPr lang="en-US" sz="800" dirty="0" err="1"/>
              <a:t>conn.send</a:t>
            </a:r>
            <a:r>
              <a:rPr lang="en-US" sz="800" dirty="0"/>
              <a:t>(</a:t>
            </a:r>
            <a:r>
              <a:rPr lang="en-US" sz="800" dirty="0" err="1"/>
              <a:t>msg_out.encode</a:t>
            </a:r>
            <a:r>
              <a:rPr lang="en-US" sz="800" dirty="0"/>
              <a:t>())</a:t>
            </a:r>
          </a:p>
          <a:p>
            <a:r>
              <a:rPr lang="en-US" sz="800" dirty="0"/>
              <a:t>    cipher, key, iv = </a:t>
            </a:r>
            <a:r>
              <a:rPr lang="en-US" sz="800" dirty="0" err="1"/>
              <a:t>get_key_and_iv</a:t>
            </a:r>
            <a:r>
              <a:rPr lang="en-US" sz="800" dirty="0"/>
              <a:t>(</a:t>
            </a:r>
            <a:r>
              <a:rPr lang="en-US" sz="800" dirty="0" err="1"/>
              <a:t>dh.shared_key</a:t>
            </a:r>
            <a:r>
              <a:rPr lang="en-US" sz="800" dirty="0"/>
              <a:t>, </a:t>
            </a:r>
            <a:r>
              <a:rPr lang="en-US" sz="800" dirty="0" err="1"/>
              <a:t>cipher_name</a:t>
            </a:r>
            <a:r>
              <a:rPr lang="en-US" sz="800" dirty="0"/>
              <a:t>, </a:t>
            </a:r>
            <a:r>
              <a:rPr lang="en-US" sz="800" dirty="0" err="1"/>
              <a:t>key_size</a:t>
            </a:r>
            <a:r>
              <a:rPr lang="en-US" sz="800" dirty="0"/>
              <a:t>)</a:t>
            </a:r>
          </a:p>
          <a:p>
            <a:r>
              <a:rPr lang="en-US" sz="800" dirty="0"/>
              <a:t>    print("The key has been established")</a:t>
            </a:r>
          </a:p>
          <a:p>
            <a:endParaRPr lang="en-US" sz="800" dirty="0"/>
          </a:p>
          <a:p>
            <a:r>
              <a:rPr lang="en-US" sz="800" dirty="0"/>
              <a:t>    print("Initializing cryptosystem")</a:t>
            </a:r>
          </a:p>
          <a:p>
            <a:r>
              <a:rPr lang="en-US" sz="800" dirty="0"/>
              <a:t>    crypto = </a:t>
            </a:r>
            <a:r>
              <a:rPr lang="en-US" sz="800" dirty="0" err="1"/>
              <a:t>cipher.new</a:t>
            </a:r>
            <a:r>
              <a:rPr lang="en-US" sz="800" dirty="0"/>
              <a:t>(key, </a:t>
            </a:r>
            <a:r>
              <a:rPr lang="en-US" sz="800" dirty="0" err="1"/>
              <a:t>cipher.MODE_CBC</a:t>
            </a:r>
            <a:r>
              <a:rPr lang="en-US" sz="800" dirty="0"/>
              <a:t>, iv)</a:t>
            </a:r>
          </a:p>
          <a:p>
            <a:r>
              <a:rPr lang="en-US" sz="800" dirty="0"/>
              <a:t>    hashing = </a:t>
            </a:r>
            <a:r>
              <a:rPr lang="en-US" sz="800" dirty="0" err="1"/>
              <a:t>HMAC.new</a:t>
            </a:r>
            <a:r>
              <a:rPr lang="en-US" sz="800" dirty="0"/>
              <a:t>(key, </a:t>
            </a:r>
            <a:r>
              <a:rPr lang="en-US" sz="800" dirty="0" err="1"/>
              <a:t>digestmod</a:t>
            </a:r>
            <a:r>
              <a:rPr lang="en-US" sz="800" dirty="0"/>
              <a:t>=SHA256)</a:t>
            </a:r>
          </a:p>
          <a:p>
            <a:r>
              <a:rPr lang="en-US" sz="800" dirty="0"/>
              <a:t>    print("All systems ready")</a:t>
            </a:r>
          </a:p>
          <a:p>
            <a:endParaRPr lang="en-US" sz="800" dirty="0"/>
          </a:p>
          <a:p>
            <a:r>
              <a:rPr lang="en-US" sz="800" dirty="0"/>
              <a:t>    while True:</a:t>
            </a:r>
          </a:p>
          <a:p>
            <a:r>
              <a:rPr lang="en-US" sz="800" dirty="0"/>
              <a:t>        </a:t>
            </a:r>
            <a:r>
              <a:rPr lang="en-US" sz="800" dirty="0" err="1"/>
              <a:t>msg_in</a:t>
            </a:r>
            <a:r>
              <a:rPr lang="en-US" sz="800" dirty="0"/>
              <a:t> = </a:t>
            </a:r>
            <a:r>
              <a:rPr lang="en-US" sz="800" dirty="0" err="1"/>
              <a:t>conn.recv</a:t>
            </a:r>
            <a:r>
              <a:rPr lang="en-US" sz="800" dirty="0"/>
              <a:t>(4096)</a:t>
            </a:r>
          </a:p>
          <a:p>
            <a:r>
              <a:rPr lang="en-US" sz="800" dirty="0"/>
              <a:t>        if </a:t>
            </a:r>
            <a:r>
              <a:rPr lang="en-US" sz="800" dirty="0" err="1"/>
              <a:t>len</a:t>
            </a:r>
            <a:r>
              <a:rPr lang="en-US" sz="800" dirty="0"/>
              <a:t>(</a:t>
            </a:r>
            <a:r>
              <a:rPr lang="en-US" sz="800" dirty="0" err="1"/>
              <a:t>msg_in</a:t>
            </a:r>
            <a:r>
              <a:rPr lang="en-US" sz="800" dirty="0"/>
              <a:t>) &lt; 1:</a:t>
            </a:r>
          </a:p>
          <a:p>
            <a:r>
              <a:rPr lang="en-US" sz="800" dirty="0"/>
              <a:t>            </a:t>
            </a:r>
            <a:r>
              <a:rPr lang="en-US" sz="800" dirty="0" err="1"/>
              <a:t>conn.close</a:t>
            </a:r>
            <a:r>
              <a:rPr lang="en-US" sz="800" dirty="0"/>
              <a:t>()</a:t>
            </a:r>
          </a:p>
          <a:p>
            <a:r>
              <a:rPr lang="en-US" sz="800" dirty="0"/>
              <a:t>            break</a:t>
            </a:r>
          </a:p>
          <a:p>
            <a:r>
              <a:rPr lang="en-US" sz="800" dirty="0"/>
              <a:t>        </a:t>
            </a:r>
            <a:r>
              <a:rPr lang="en-US" sz="800" dirty="0" err="1"/>
              <a:t>msg</a:t>
            </a:r>
            <a:r>
              <a:rPr lang="en-US" sz="800" dirty="0"/>
              <a:t>, </a:t>
            </a:r>
            <a:r>
              <a:rPr lang="en-US" sz="800" dirty="0" err="1"/>
              <a:t>hmac</a:t>
            </a:r>
            <a:r>
              <a:rPr lang="en-US" sz="800" dirty="0"/>
              <a:t> = </a:t>
            </a:r>
            <a:r>
              <a:rPr lang="en-US" sz="800" dirty="0" err="1"/>
              <a:t>read_message</a:t>
            </a:r>
            <a:r>
              <a:rPr lang="en-US" sz="800" dirty="0"/>
              <a:t>(</a:t>
            </a:r>
            <a:r>
              <a:rPr lang="en-US" sz="800" dirty="0" err="1"/>
              <a:t>msg_in</a:t>
            </a:r>
            <a:r>
              <a:rPr lang="en-US" sz="800" dirty="0"/>
              <a:t>, crypto)</a:t>
            </a:r>
          </a:p>
          <a:p>
            <a:r>
              <a:rPr lang="en-US" sz="800" dirty="0"/>
              <a:t>        </a:t>
            </a:r>
            <a:r>
              <a:rPr lang="en-US" sz="800" dirty="0" err="1"/>
              <a:t>validate_hmac</a:t>
            </a:r>
            <a:r>
              <a:rPr lang="en-US" sz="800" dirty="0"/>
              <a:t>(</a:t>
            </a:r>
            <a:r>
              <a:rPr lang="en-US" sz="800" dirty="0" err="1"/>
              <a:t>msg_in</a:t>
            </a:r>
            <a:r>
              <a:rPr lang="en-US" sz="800" dirty="0"/>
              <a:t>, </a:t>
            </a:r>
            <a:r>
              <a:rPr lang="en-US" sz="800" dirty="0" err="1"/>
              <a:t>hmac</a:t>
            </a:r>
            <a:r>
              <a:rPr lang="en-US" sz="800" dirty="0"/>
              <a:t>, hashing)</a:t>
            </a:r>
          </a:p>
          <a:p>
            <a:r>
              <a:rPr lang="en-US" sz="800" dirty="0"/>
              <a:t>        print(</a:t>
            </a:r>
            <a:r>
              <a:rPr lang="en-US" sz="800" dirty="0" err="1"/>
              <a:t>f"Received</a:t>
            </a:r>
            <a:r>
              <a:rPr lang="en-US" sz="800" dirty="0"/>
              <a:t>: {</a:t>
            </a:r>
            <a:r>
              <a:rPr lang="en-US" sz="800" dirty="0" err="1"/>
              <a:t>msg</a:t>
            </a:r>
            <a:r>
              <a:rPr lang="en-US" sz="800" dirty="0"/>
              <a:t>}")</a:t>
            </a:r>
          </a:p>
          <a:p>
            <a:r>
              <a:rPr lang="en-US" sz="800" dirty="0"/>
              <a:t>        </a:t>
            </a:r>
            <a:r>
              <a:rPr lang="en-US" sz="800" dirty="0" err="1"/>
              <a:t>msg_out</a:t>
            </a:r>
            <a:r>
              <a:rPr lang="en-US" sz="800" dirty="0"/>
              <a:t> = </a:t>
            </a:r>
            <a:r>
              <a:rPr lang="en-US" sz="800" dirty="0" err="1"/>
              <a:t>f"Server</a:t>
            </a:r>
            <a:r>
              <a:rPr lang="en-US" sz="800" dirty="0"/>
              <a:t> says: {</a:t>
            </a:r>
            <a:r>
              <a:rPr lang="en-US" sz="800" dirty="0" err="1"/>
              <a:t>msg</a:t>
            </a:r>
            <a:r>
              <a:rPr lang="en-US" sz="800" dirty="0"/>
              <a:t>[::-1]}"</a:t>
            </a:r>
          </a:p>
          <a:p>
            <a:r>
              <a:rPr lang="en-US" sz="800" dirty="0"/>
              <a:t>        </a:t>
            </a:r>
            <a:r>
              <a:rPr lang="en-US" sz="800" dirty="0" err="1"/>
              <a:t>conn.send</a:t>
            </a:r>
            <a:r>
              <a:rPr lang="en-US" sz="800" dirty="0"/>
              <a:t>(</a:t>
            </a:r>
            <a:r>
              <a:rPr lang="en-US" sz="800" dirty="0" err="1"/>
              <a:t>msg_out.encode</a:t>
            </a:r>
            <a:r>
              <a:rPr lang="en-US" sz="800" dirty="0"/>
              <a:t>())</a:t>
            </a:r>
          </a:p>
          <a:p>
            <a:endParaRPr lang="en-US" sz="800" dirty="0"/>
          </a:p>
          <a:p>
            <a:endParaRPr lang="en-US" sz="800" dirty="0"/>
          </a:p>
          <a:p>
            <a:r>
              <a:rPr lang="en-US" sz="800" dirty="0"/>
              <a:t>if __name__ == "__main__":</a:t>
            </a:r>
          </a:p>
          <a:p>
            <a:r>
              <a:rPr lang="en-US" sz="800" dirty="0"/>
              <a:t>    main()</a:t>
            </a:r>
          </a:p>
        </p:txBody>
      </p:sp>
      <p:sp>
        <p:nvSpPr>
          <p:cNvPr id="4" name="Rectangle 3"/>
          <p:cNvSpPr/>
          <p:nvPr/>
        </p:nvSpPr>
        <p:spPr>
          <a:xfrm>
            <a:off x="5595641" y="-28121708"/>
            <a:ext cx="4572000" cy="22375356"/>
          </a:xfrm>
          <a:prstGeom prst="rect">
            <a:avLst/>
          </a:prstGeom>
        </p:spPr>
        <p:txBody>
          <a:bodyPr>
            <a:spAutoFit/>
          </a:bodyPr>
          <a:lstStyle/>
          <a:p>
            <a:endParaRPr lang="en-US" sz="800" dirty="0"/>
          </a:p>
          <a:p>
            <a:endParaRPr lang="en-US" sz="800" dirty="0"/>
          </a:p>
          <a:p>
            <a:r>
              <a:rPr lang="en-US" sz="800" dirty="0"/>
              <a:t>from socket import socket, </a:t>
            </a:r>
            <a:r>
              <a:rPr lang="en-US" sz="800" dirty="0" err="1"/>
              <a:t>gethostname</a:t>
            </a:r>
            <a:r>
              <a:rPr lang="en-US" sz="800" dirty="0"/>
              <a:t>, AF_INET, SOCK_STREAM</a:t>
            </a:r>
          </a:p>
          <a:p>
            <a:r>
              <a:rPr lang="en-US" sz="800" dirty="0"/>
              <a:t>from typing import Tuple, </a:t>
            </a:r>
            <a:r>
              <a:rPr lang="en-US" sz="800" dirty="0" err="1"/>
              <a:t>Dict</a:t>
            </a:r>
            <a:endParaRPr lang="en-US" sz="800" dirty="0"/>
          </a:p>
          <a:p>
            <a:r>
              <a:rPr lang="en-US" sz="800" dirty="0"/>
              <a:t>from </a:t>
            </a:r>
            <a:r>
              <a:rPr lang="en-US" sz="800" dirty="0" err="1"/>
              <a:t>Crypto.Hash</a:t>
            </a:r>
            <a:r>
              <a:rPr lang="en-US" sz="800" dirty="0"/>
              <a:t> import SHA256, HMAC</a:t>
            </a:r>
          </a:p>
          <a:p>
            <a:r>
              <a:rPr lang="en-US" sz="800" dirty="0"/>
              <a:t>from </a:t>
            </a:r>
            <a:r>
              <a:rPr lang="en-US" sz="800" dirty="0" err="1"/>
              <a:t>Crypto.Cipher</a:t>
            </a:r>
            <a:r>
              <a:rPr lang="en-US" sz="800" dirty="0"/>
              <a:t> import AES, DES, Blowfish</a:t>
            </a:r>
          </a:p>
          <a:p>
            <a:r>
              <a:rPr lang="en-US" sz="800" dirty="0"/>
              <a:t>from </a:t>
            </a:r>
            <a:r>
              <a:rPr lang="en-US" sz="800" dirty="0" err="1"/>
              <a:t>diffiehellman.diffiehellman</a:t>
            </a:r>
            <a:r>
              <a:rPr lang="en-US" sz="800" dirty="0"/>
              <a:t> import </a:t>
            </a:r>
            <a:r>
              <a:rPr lang="en-US" sz="800" dirty="0" err="1"/>
              <a:t>DiffieHellman</a:t>
            </a:r>
            <a:endParaRPr lang="en-US" sz="800" dirty="0"/>
          </a:p>
          <a:p>
            <a:endParaRPr lang="en-US" sz="800" dirty="0"/>
          </a:p>
          <a:p>
            <a:r>
              <a:rPr lang="en-US" sz="800" dirty="0"/>
              <a:t>HOST = </a:t>
            </a:r>
            <a:r>
              <a:rPr lang="en-US" sz="800" dirty="0" err="1"/>
              <a:t>gethostname</a:t>
            </a:r>
            <a:r>
              <a:rPr lang="en-US" sz="800" dirty="0"/>
              <a:t>()</a:t>
            </a:r>
          </a:p>
          <a:p>
            <a:r>
              <a:rPr lang="en-US" sz="800" dirty="0"/>
              <a:t>PORT = 4600</a:t>
            </a:r>
          </a:p>
          <a:p>
            <a:r>
              <a:rPr lang="en-US" sz="800" dirty="0"/>
              <a:t>SUPPORTED_CIPHERS = {"AES": [128, 192, 256],</a:t>
            </a:r>
          </a:p>
          <a:p>
            <a:r>
              <a:rPr lang="en-US" sz="800" dirty="0"/>
              <a:t>                     "Blowfish": [112, 224, 448], "DES": [56]}</a:t>
            </a:r>
          </a:p>
          <a:p>
            <a:endParaRPr lang="en-US" sz="800" dirty="0"/>
          </a:p>
          <a:p>
            <a:endParaRPr lang="en-US" sz="800" dirty="0"/>
          </a:p>
          <a:p>
            <a:r>
              <a:rPr lang="en-US" sz="800" dirty="0" err="1"/>
              <a:t>def</a:t>
            </a:r>
            <a:r>
              <a:rPr lang="en-US" sz="800" dirty="0"/>
              <a:t> </a:t>
            </a:r>
            <a:r>
              <a:rPr lang="en-US" sz="800" dirty="0" err="1"/>
              <a:t>generate_cipher_proposal</a:t>
            </a:r>
            <a:r>
              <a:rPr lang="en-US" sz="800" dirty="0"/>
              <a:t>(supported: </a:t>
            </a:r>
            <a:r>
              <a:rPr lang="en-US" sz="800" dirty="0" err="1"/>
              <a:t>dict</a:t>
            </a:r>
            <a:r>
              <a:rPr lang="en-US" sz="800" dirty="0"/>
              <a:t>) -&gt; </a:t>
            </a:r>
            <a:r>
              <a:rPr lang="en-US" sz="800" dirty="0" err="1"/>
              <a:t>str</a:t>
            </a:r>
            <a:r>
              <a:rPr lang="en-US" sz="800" dirty="0"/>
              <a:t>:</a:t>
            </a:r>
          </a:p>
          <a:p>
            <a:r>
              <a:rPr lang="en-US" sz="800" dirty="0"/>
              <a:t>    """Generate a cipher proposal message</a:t>
            </a:r>
          </a:p>
          <a:p>
            <a:endParaRPr lang="en-US" sz="800" dirty="0"/>
          </a:p>
          <a:p>
            <a:r>
              <a:rPr lang="en-US" sz="800" dirty="0"/>
              <a:t>    :</a:t>
            </a:r>
            <a:r>
              <a:rPr lang="en-US" sz="800" dirty="0" err="1"/>
              <a:t>param</a:t>
            </a:r>
            <a:r>
              <a:rPr lang="en-US" sz="800" dirty="0"/>
              <a:t> supported: cryptosystems supported by the client</a:t>
            </a:r>
          </a:p>
          <a:p>
            <a:r>
              <a:rPr lang="en-US" sz="800" dirty="0"/>
              <a:t>    :return: proposal as a string</a:t>
            </a:r>
          </a:p>
          <a:p>
            <a:r>
              <a:rPr lang="en-US" sz="800" dirty="0"/>
              <a:t>    """</a:t>
            </a:r>
          </a:p>
          <a:p>
            <a:endParaRPr lang="en-US" sz="800" dirty="0"/>
          </a:p>
          <a:p>
            <a:r>
              <a:rPr lang="en-US" sz="800" dirty="0"/>
              <a:t>    out = "</a:t>
            </a:r>
            <a:r>
              <a:rPr lang="en-US" sz="800" dirty="0" err="1"/>
              <a:t>ProposedCiphers</a:t>
            </a:r>
            <a:r>
              <a:rPr lang="en-US" sz="800" dirty="0"/>
              <a:t>:"</a:t>
            </a:r>
          </a:p>
          <a:p>
            <a:r>
              <a:rPr lang="en-US" sz="800" dirty="0"/>
              <a:t>    out += ','.join([cipher + ':[' + ','.join([</a:t>
            </a:r>
            <a:r>
              <a:rPr lang="en-US" sz="800" dirty="0" err="1"/>
              <a:t>str</a:t>
            </a:r>
            <a:r>
              <a:rPr lang="en-US" sz="800" dirty="0"/>
              <a:t>(x) for x in bits]) + ']'</a:t>
            </a:r>
          </a:p>
          <a:p>
            <a:r>
              <a:rPr lang="en-US" sz="800" dirty="0"/>
              <a:t>                     for cipher, bits in </a:t>
            </a:r>
            <a:r>
              <a:rPr lang="en-US" sz="800" dirty="0" err="1"/>
              <a:t>supported.items</a:t>
            </a:r>
            <a:r>
              <a:rPr lang="en-US" sz="800" dirty="0"/>
              <a:t>()])</a:t>
            </a:r>
          </a:p>
          <a:p>
            <a:endParaRPr lang="en-US" sz="800" dirty="0"/>
          </a:p>
          <a:p>
            <a:r>
              <a:rPr lang="en-US" sz="800" dirty="0"/>
              <a:t>    return out</a:t>
            </a:r>
          </a:p>
          <a:p>
            <a:endParaRPr lang="en-US" sz="800" dirty="0"/>
          </a:p>
          <a:p>
            <a:endParaRPr lang="en-US" sz="800" dirty="0"/>
          </a:p>
          <a:p>
            <a:r>
              <a:rPr lang="en-US" sz="800" dirty="0" err="1"/>
              <a:t>def</a:t>
            </a:r>
            <a:r>
              <a:rPr lang="en-US" sz="800" dirty="0"/>
              <a:t> </a:t>
            </a:r>
            <a:r>
              <a:rPr lang="en-US" sz="800" dirty="0" err="1"/>
              <a:t>parse_cipher_selection</a:t>
            </a:r>
            <a:r>
              <a:rPr lang="en-US" sz="800" dirty="0"/>
              <a:t>(</a:t>
            </a:r>
            <a:r>
              <a:rPr lang="en-US" sz="800" dirty="0" err="1"/>
              <a:t>msg</a:t>
            </a:r>
            <a:r>
              <a:rPr lang="en-US" sz="800" dirty="0"/>
              <a:t>: </a:t>
            </a:r>
            <a:r>
              <a:rPr lang="en-US" sz="800" dirty="0" err="1"/>
              <a:t>str</a:t>
            </a:r>
            <a:r>
              <a:rPr lang="en-US" sz="800" dirty="0"/>
              <a:t>) -&gt; Tuple[</a:t>
            </a:r>
            <a:r>
              <a:rPr lang="en-US" sz="800" dirty="0" err="1"/>
              <a:t>str</a:t>
            </a:r>
            <a:r>
              <a:rPr lang="en-US" sz="800" dirty="0"/>
              <a:t>, </a:t>
            </a:r>
            <a:r>
              <a:rPr lang="en-US" sz="800" dirty="0" err="1"/>
              <a:t>int</a:t>
            </a:r>
            <a:r>
              <a:rPr lang="en-US" sz="800" dirty="0"/>
              <a:t>]:</a:t>
            </a:r>
          </a:p>
          <a:p>
            <a:r>
              <a:rPr lang="en-US" sz="800" dirty="0"/>
              <a:t>    """Parse server's response</a:t>
            </a:r>
          </a:p>
          <a:p>
            <a:endParaRPr lang="en-US" sz="800" dirty="0"/>
          </a:p>
          <a:p>
            <a:r>
              <a:rPr lang="en-US" sz="800" dirty="0"/>
              <a:t>    :</a:t>
            </a:r>
            <a:r>
              <a:rPr lang="en-US" sz="800" dirty="0" err="1"/>
              <a:t>param</a:t>
            </a:r>
            <a:r>
              <a:rPr lang="en-US" sz="800" dirty="0"/>
              <a:t> </a:t>
            </a:r>
            <a:r>
              <a:rPr lang="en-US" sz="800" dirty="0" err="1"/>
              <a:t>msg</a:t>
            </a:r>
            <a:r>
              <a:rPr lang="en-US" sz="800" dirty="0"/>
              <a:t>: server's message with the selected cryptosystem</a:t>
            </a:r>
          </a:p>
          <a:p>
            <a:r>
              <a:rPr lang="en-US" sz="800" dirty="0"/>
              <a:t>    :return: (</a:t>
            </a:r>
            <a:r>
              <a:rPr lang="en-US" sz="800" dirty="0" err="1"/>
              <a:t>cipher_name</a:t>
            </a:r>
            <a:r>
              <a:rPr lang="en-US" sz="800" dirty="0"/>
              <a:t>, </a:t>
            </a:r>
            <a:r>
              <a:rPr lang="en-US" sz="800" dirty="0" err="1"/>
              <a:t>key_size</a:t>
            </a:r>
            <a:r>
              <a:rPr lang="en-US" sz="800" dirty="0"/>
              <a:t>) tuple extracted from the message</a:t>
            </a:r>
          </a:p>
          <a:p>
            <a:r>
              <a:rPr lang="en-US" sz="800" dirty="0"/>
              <a:t>    """</a:t>
            </a:r>
          </a:p>
          <a:p>
            <a:endParaRPr lang="en-US" sz="800" dirty="0"/>
          </a:p>
          <a:p>
            <a:r>
              <a:rPr lang="en-US" sz="800" dirty="0"/>
              <a:t>    </a:t>
            </a:r>
            <a:r>
              <a:rPr lang="en-US" sz="800" dirty="0" err="1"/>
              <a:t>msg_list</a:t>
            </a:r>
            <a:r>
              <a:rPr lang="en-US" sz="800" dirty="0"/>
              <a:t> = </a:t>
            </a:r>
            <a:r>
              <a:rPr lang="en-US" sz="800" dirty="0" err="1"/>
              <a:t>msg.split</a:t>
            </a:r>
            <a:r>
              <a:rPr lang="en-US" sz="800" dirty="0"/>
              <a:t>(':')[1].split(',')</a:t>
            </a:r>
          </a:p>
          <a:p>
            <a:r>
              <a:rPr lang="en-US" sz="800" dirty="0"/>
              <a:t>    </a:t>
            </a:r>
            <a:r>
              <a:rPr lang="en-US" sz="800" dirty="0" err="1"/>
              <a:t>cipher_name</a:t>
            </a:r>
            <a:r>
              <a:rPr lang="en-US" sz="800" dirty="0"/>
              <a:t> = </a:t>
            </a:r>
            <a:r>
              <a:rPr lang="en-US" sz="800" dirty="0" err="1"/>
              <a:t>msg_list</a:t>
            </a:r>
            <a:r>
              <a:rPr lang="en-US" sz="800" dirty="0"/>
              <a:t>[0]</a:t>
            </a:r>
          </a:p>
          <a:p>
            <a:r>
              <a:rPr lang="en-US" sz="800" dirty="0"/>
              <a:t>    </a:t>
            </a:r>
            <a:r>
              <a:rPr lang="en-US" sz="800" dirty="0" err="1"/>
              <a:t>key_size</a:t>
            </a:r>
            <a:r>
              <a:rPr lang="en-US" sz="800" dirty="0"/>
              <a:t> = </a:t>
            </a:r>
            <a:r>
              <a:rPr lang="en-US" sz="800" dirty="0" err="1"/>
              <a:t>int</a:t>
            </a:r>
            <a:r>
              <a:rPr lang="en-US" sz="800" dirty="0"/>
              <a:t>(</a:t>
            </a:r>
            <a:r>
              <a:rPr lang="en-US" sz="800" dirty="0" err="1"/>
              <a:t>msg_list</a:t>
            </a:r>
            <a:r>
              <a:rPr lang="en-US" sz="800" dirty="0"/>
              <a:t>[1])</a:t>
            </a:r>
          </a:p>
          <a:p>
            <a:endParaRPr lang="en-US" sz="800" dirty="0"/>
          </a:p>
          <a:p>
            <a:r>
              <a:rPr lang="en-US" sz="800" dirty="0"/>
              <a:t>    return </a:t>
            </a:r>
            <a:r>
              <a:rPr lang="en-US" sz="800" dirty="0" err="1"/>
              <a:t>cipher_name</a:t>
            </a:r>
            <a:r>
              <a:rPr lang="en-US" sz="800" dirty="0"/>
              <a:t>, </a:t>
            </a:r>
            <a:r>
              <a:rPr lang="en-US" sz="800" dirty="0" err="1"/>
              <a:t>key_size</a:t>
            </a:r>
            <a:endParaRPr lang="en-US" sz="800" dirty="0"/>
          </a:p>
          <a:p>
            <a:endParaRPr lang="en-US" sz="800" dirty="0"/>
          </a:p>
          <a:p>
            <a:endParaRPr lang="en-US" sz="800" dirty="0"/>
          </a:p>
          <a:p>
            <a:r>
              <a:rPr lang="en-US" sz="800" dirty="0" err="1"/>
              <a:t>def</a:t>
            </a:r>
            <a:r>
              <a:rPr lang="en-US" sz="800" dirty="0"/>
              <a:t> </a:t>
            </a:r>
            <a:r>
              <a:rPr lang="en-US" sz="800" dirty="0" err="1"/>
              <a:t>generate_dhm_request</a:t>
            </a:r>
            <a:r>
              <a:rPr lang="en-US" sz="800" dirty="0"/>
              <a:t>(</a:t>
            </a:r>
            <a:r>
              <a:rPr lang="en-US" sz="800" dirty="0" err="1"/>
              <a:t>public_key</a:t>
            </a:r>
            <a:r>
              <a:rPr lang="en-US" sz="800" dirty="0"/>
              <a:t>: </a:t>
            </a:r>
            <a:r>
              <a:rPr lang="en-US" sz="800" dirty="0" err="1"/>
              <a:t>int</a:t>
            </a:r>
            <a:r>
              <a:rPr lang="en-US" sz="800" dirty="0"/>
              <a:t>) -&gt; </a:t>
            </a:r>
            <a:r>
              <a:rPr lang="en-US" sz="800" dirty="0" err="1"/>
              <a:t>str</a:t>
            </a:r>
            <a:r>
              <a:rPr lang="en-US" sz="800" dirty="0"/>
              <a:t>:</a:t>
            </a:r>
          </a:p>
          <a:p>
            <a:r>
              <a:rPr lang="en-US" sz="800" dirty="0"/>
              <a:t>    """Generate DHM key exchange request</a:t>
            </a:r>
          </a:p>
          <a:p>
            <a:endParaRPr lang="en-US" sz="800" dirty="0"/>
          </a:p>
          <a:p>
            <a:r>
              <a:rPr lang="en-US" sz="800" dirty="0"/>
              <a:t>    :</a:t>
            </a:r>
            <a:r>
              <a:rPr lang="en-US" sz="800" dirty="0" err="1"/>
              <a:t>param</a:t>
            </a:r>
            <a:r>
              <a:rPr lang="en-US" sz="800" dirty="0"/>
              <a:t>: client's DHM public key</a:t>
            </a:r>
          </a:p>
          <a:p>
            <a:r>
              <a:rPr lang="en-US" sz="800" dirty="0"/>
              <a:t>    :return: string according to the specification</a:t>
            </a:r>
          </a:p>
          <a:p>
            <a:r>
              <a:rPr lang="en-US" sz="800" dirty="0"/>
              <a:t>    """</a:t>
            </a:r>
          </a:p>
          <a:p>
            <a:r>
              <a:rPr lang="en-US" sz="800" dirty="0"/>
              <a:t>    return "DHMKE:" + </a:t>
            </a:r>
            <a:r>
              <a:rPr lang="en-US" sz="800" dirty="0" err="1"/>
              <a:t>str</a:t>
            </a:r>
            <a:r>
              <a:rPr lang="en-US" sz="800" dirty="0"/>
              <a:t>(</a:t>
            </a:r>
            <a:r>
              <a:rPr lang="en-US" sz="800" dirty="0" err="1"/>
              <a:t>public_key</a:t>
            </a:r>
            <a:r>
              <a:rPr lang="en-US" sz="800" dirty="0"/>
              <a:t>)</a:t>
            </a:r>
          </a:p>
          <a:p>
            <a:endParaRPr lang="en-US" sz="800" dirty="0"/>
          </a:p>
          <a:p>
            <a:endParaRPr lang="en-US" sz="800" dirty="0"/>
          </a:p>
          <a:p>
            <a:r>
              <a:rPr lang="en-US" sz="800" dirty="0" err="1"/>
              <a:t>def</a:t>
            </a:r>
            <a:r>
              <a:rPr lang="en-US" sz="800" dirty="0"/>
              <a:t> </a:t>
            </a:r>
            <a:r>
              <a:rPr lang="en-US" sz="800" dirty="0" err="1"/>
              <a:t>parse_dhm_response</a:t>
            </a:r>
            <a:r>
              <a:rPr lang="en-US" sz="800" dirty="0"/>
              <a:t>(</a:t>
            </a:r>
            <a:r>
              <a:rPr lang="en-US" sz="800" dirty="0" err="1"/>
              <a:t>msg</a:t>
            </a:r>
            <a:r>
              <a:rPr lang="en-US" sz="800" dirty="0"/>
              <a:t>: </a:t>
            </a:r>
            <a:r>
              <a:rPr lang="en-US" sz="800" dirty="0" err="1"/>
              <a:t>str</a:t>
            </a:r>
            <a:r>
              <a:rPr lang="en-US" sz="800" dirty="0"/>
              <a:t>) -&gt; </a:t>
            </a:r>
            <a:r>
              <a:rPr lang="en-US" sz="800" dirty="0" err="1"/>
              <a:t>int</a:t>
            </a:r>
            <a:r>
              <a:rPr lang="en-US" sz="800" dirty="0"/>
              <a:t>:</a:t>
            </a:r>
          </a:p>
          <a:p>
            <a:r>
              <a:rPr lang="en-US" sz="800" dirty="0"/>
              <a:t>    """Parse server's DHM key exchange request</a:t>
            </a:r>
          </a:p>
          <a:p>
            <a:endParaRPr lang="en-US" sz="800" dirty="0"/>
          </a:p>
          <a:p>
            <a:r>
              <a:rPr lang="en-US" sz="800" dirty="0"/>
              <a:t>    :</a:t>
            </a:r>
            <a:r>
              <a:rPr lang="en-US" sz="800" dirty="0" err="1"/>
              <a:t>param</a:t>
            </a:r>
            <a:r>
              <a:rPr lang="en-US" sz="800" dirty="0"/>
              <a:t> </a:t>
            </a:r>
            <a:r>
              <a:rPr lang="en-US" sz="800" dirty="0" err="1"/>
              <a:t>msg</a:t>
            </a:r>
            <a:r>
              <a:rPr lang="en-US" sz="800" dirty="0"/>
              <a:t>: server's DHMKE message</a:t>
            </a:r>
          </a:p>
          <a:p>
            <a:r>
              <a:rPr lang="en-US" sz="800" dirty="0"/>
              <a:t>    :return: number in the server's message</a:t>
            </a:r>
          </a:p>
          <a:p>
            <a:r>
              <a:rPr lang="en-US" sz="800" dirty="0"/>
              <a:t>    """</a:t>
            </a:r>
          </a:p>
          <a:p>
            <a:r>
              <a:rPr lang="en-US" sz="800" dirty="0"/>
              <a:t>    return </a:t>
            </a:r>
            <a:r>
              <a:rPr lang="en-US" sz="800" dirty="0" err="1"/>
              <a:t>int</a:t>
            </a:r>
            <a:r>
              <a:rPr lang="en-US" sz="800" dirty="0"/>
              <a:t>(</a:t>
            </a:r>
            <a:r>
              <a:rPr lang="en-US" sz="800" dirty="0" err="1"/>
              <a:t>msg.split</a:t>
            </a:r>
            <a:r>
              <a:rPr lang="en-US" sz="800" dirty="0"/>
              <a:t>(':')[1])</a:t>
            </a:r>
          </a:p>
          <a:p>
            <a:endParaRPr lang="en-US" sz="800" dirty="0"/>
          </a:p>
          <a:p>
            <a:endParaRPr lang="en-US" sz="800" dirty="0"/>
          </a:p>
          <a:p>
            <a:r>
              <a:rPr lang="en-US" sz="800" dirty="0" err="1"/>
              <a:t>def</a:t>
            </a:r>
            <a:r>
              <a:rPr lang="en-US" sz="800" dirty="0"/>
              <a:t> </a:t>
            </a:r>
            <a:r>
              <a:rPr lang="en-US" sz="800" dirty="0" err="1"/>
              <a:t>get_key_and_iv</a:t>
            </a:r>
            <a:r>
              <a:rPr lang="en-US" sz="800" dirty="0"/>
              <a:t>(</a:t>
            </a:r>
          </a:p>
          <a:p>
            <a:r>
              <a:rPr lang="en-US" sz="800" dirty="0"/>
              <a:t>    </a:t>
            </a:r>
            <a:r>
              <a:rPr lang="en-US" sz="800" dirty="0" err="1"/>
              <a:t>shared_key</a:t>
            </a:r>
            <a:r>
              <a:rPr lang="en-US" sz="800" dirty="0"/>
              <a:t>: </a:t>
            </a:r>
            <a:r>
              <a:rPr lang="en-US" sz="800" dirty="0" err="1"/>
              <a:t>str</a:t>
            </a:r>
            <a:r>
              <a:rPr lang="en-US" sz="800" dirty="0"/>
              <a:t>, </a:t>
            </a:r>
            <a:r>
              <a:rPr lang="en-US" sz="800" dirty="0" err="1"/>
              <a:t>cipher_name</a:t>
            </a:r>
            <a:r>
              <a:rPr lang="en-US" sz="800" dirty="0"/>
              <a:t>: </a:t>
            </a:r>
            <a:r>
              <a:rPr lang="en-US" sz="800" dirty="0" err="1"/>
              <a:t>str</a:t>
            </a:r>
            <a:r>
              <a:rPr lang="en-US" sz="800" dirty="0"/>
              <a:t>, </a:t>
            </a:r>
            <a:r>
              <a:rPr lang="en-US" sz="800" dirty="0" err="1"/>
              <a:t>key_size</a:t>
            </a:r>
            <a:r>
              <a:rPr lang="en-US" sz="800" dirty="0"/>
              <a:t>: </a:t>
            </a:r>
            <a:r>
              <a:rPr lang="en-US" sz="800" dirty="0" err="1"/>
              <a:t>int</a:t>
            </a:r>
            <a:endParaRPr lang="en-US" sz="800" dirty="0"/>
          </a:p>
          <a:p>
            <a:r>
              <a:rPr lang="en-US" sz="800" dirty="0"/>
              <a:t>) -&gt; Tuple[object, bytes, bytes]:</a:t>
            </a:r>
          </a:p>
          <a:p>
            <a:r>
              <a:rPr lang="en-US" sz="800" dirty="0"/>
              <a:t>    """Get key and IV from the generated shared secret key</a:t>
            </a:r>
          </a:p>
          <a:p>
            <a:endParaRPr lang="en-US" sz="800" dirty="0"/>
          </a:p>
          <a:p>
            <a:r>
              <a:rPr lang="en-US" sz="800" dirty="0"/>
              <a:t>    :</a:t>
            </a:r>
            <a:r>
              <a:rPr lang="en-US" sz="800" dirty="0" err="1"/>
              <a:t>param</a:t>
            </a:r>
            <a:r>
              <a:rPr lang="en-US" sz="800" dirty="0"/>
              <a:t> </a:t>
            </a:r>
            <a:r>
              <a:rPr lang="en-US" sz="800" dirty="0" err="1"/>
              <a:t>shared_key</a:t>
            </a:r>
            <a:r>
              <a:rPr lang="en-US" sz="800" dirty="0"/>
              <a:t>: shared key as computed by `</a:t>
            </a:r>
            <a:r>
              <a:rPr lang="en-US" sz="800" dirty="0" err="1"/>
              <a:t>diffiehellman</a:t>
            </a:r>
            <a:r>
              <a:rPr lang="en-US" sz="800" dirty="0"/>
              <a:t>`</a:t>
            </a:r>
          </a:p>
          <a:p>
            <a:r>
              <a:rPr lang="en-US" sz="800" dirty="0"/>
              <a:t>    :</a:t>
            </a:r>
            <a:r>
              <a:rPr lang="en-US" sz="800" dirty="0" err="1"/>
              <a:t>param</a:t>
            </a:r>
            <a:r>
              <a:rPr lang="en-US" sz="800" dirty="0"/>
              <a:t> </a:t>
            </a:r>
            <a:r>
              <a:rPr lang="en-US" sz="800" dirty="0" err="1"/>
              <a:t>cipher_name</a:t>
            </a:r>
            <a:r>
              <a:rPr lang="en-US" sz="800" dirty="0"/>
              <a:t>: negotiated cipher's name</a:t>
            </a:r>
          </a:p>
          <a:p>
            <a:r>
              <a:rPr lang="en-US" sz="800" dirty="0"/>
              <a:t>    :</a:t>
            </a:r>
            <a:r>
              <a:rPr lang="en-US" sz="800" dirty="0" err="1"/>
              <a:t>param</a:t>
            </a:r>
            <a:r>
              <a:rPr lang="en-US" sz="800" dirty="0"/>
              <a:t> </a:t>
            </a:r>
            <a:r>
              <a:rPr lang="en-US" sz="800" dirty="0" err="1"/>
              <a:t>key_size</a:t>
            </a:r>
            <a:r>
              <a:rPr lang="en-US" sz="800" dirty="0"/>
              <a:t>: negotiated key size</a:t>
            </a:r>
          </a:p>
          <a:p>
            <a:r>
              <a:rPr lang="en-US" sz="800" dirty="0"/>
              <a:t>    :return: (cipher, key, IV) tuple</a:t>
            </a:r>
          </a:p>
          <a:p>
            <a:r>
              <a:rPr lang="en-US" sz="800" dirty="0"/>
              <a:t>    </a:t>
            </a:r>
            <a:r>
              <a:rPr lang="en-US" sz="800" dirty="0" err="1"/>
              <a:t>cipher_name</a:t>
            </a:r>
            <a:r>
              <a:rPr lang="en-US" sz="800" dirty="0"/>
              <a:t> must be mapped to a </a:t>
            </a:r>
            <a:r>
              <a:rPr lang="en-US" sz="800" dirty="0" err="1"/>
              <a:t>Crypto.Cipher</a:t>
            </a:r>
            <a:r>
              <a:rPr lang="en-US" sz="800" dirty="0"/>
              <a:t> object</a:t>
            </a:r>
          </a:p>
          <a:p>
            <a:r>
              <a:rPr lang="en-US" sz="800" dirty="0"/>
              <a:t>    `key` is the *first* `</a:t>
            </a:r>
            <a:r>
              <a:rPr lang="en-US" sz="800" dirty="0" err="1"/>
              <a:t>key_size</a:t>
            </a:r>
            <a:r>
              <a:rPr lang="en-US" sz="800" dirty="0"/>
              <a:t>` bytes of the `</a:t>
            </a:r>
            <a:r>
              <a:rPr lang="en-US" sz="800" dirty="0" err="1"/>
              <a:t>shared_key</a:t>
            </a:r>
            <a:r>
              <a:rPr lang="en-US" sz="800" dirty="0"/>
              <a:t>`</a:t>
            </a:r>
          </a:p>
          <a:p>
            <a:r>
              <a:rPr lang="en-US" sz="800" dirty="0"/>
              <a:t>    DES key must be padded to 64 bits with 0</a:t>
            </a:r>
          </a:p>
          <a:p>
            <a:r>
              <a:rPr lang="en-US" sz="800" dirty="0"/>
              <a:t>    Length `</a:t>
            </a:r>
            <a:r>
              <a:rPr lang="en-US" sz="800" dirty="0" err="1"/>
              <a:t>ivlen</a:t>
            </a:r>
            <a:r>
              <a:rPr lang="en-US" sz="800" dirty="0"/>
              <a:t>` of IV depends on a cipher</a:t>
            </a:r>
          </a:p>
          <a:p>
            <a:r>
              <a:rPr lang="en-US" sz="800" dirty="0"/>
              <a:t>    `iv` is the *last* `</a:t>
            </a:r>
            <a:r>
              <a:rPr lang="en-US" sz="800" dirty="0" err="1"/>
              <a:t>ivlen</a:t>
            </a:r>
            <a:r>
              <a:rPr lang="en-US" sz="800" dirty="0"/>
              <a:t>` bytes of the shared key</a:t>
            </a:r>
          </a:p>
          <a:p>
            <a:r>
              <a:rPr lang="en-US" sz="800" dirty="0"/>
              <a:t>    Both key and IV must be returned as bytes</a:t>
            </a:r>
          </a:p>
          <a:p>
            <a:r>
              <a:rPr lang="en-US" sz="800" dirty="0"/>
              <a:t>    """</a:t>
            </a:r>
          </a:p>
          <a:p>
            <a:endParaRPr lang="en-US" sz="800" dirty="0"/>
          </a:p>
          <a:p>
            <a:r>
              <a:rPr lang="en-US" sz="800" dirty="0"/>
              <a:t>    </a:t>
            </a:r>
            <a:r>
              <a:rPr lang="en-US" sz="800" dirty="0" err="1"/>
              <a:t>cipher_map</a:t>
            </a:r>
            <a:r>
              <a:rPr lang="en-US" sz="800" dirty="0"/>
              <a:t> = {</a:t>
            </a:r>
          </a:p>
          <a:p>
            <a:r>
              <a:rPr lang="en-US" sz="800" dirty="0"/>
              <a:t>        "DES": DES, "AES": AES, "Blowfish": Blowfish</a:t>
            </a:r>
          </a:p>
          <a:p>
            <a:r>
              <a:rPr lang="en-US" sz="800" dirty="0"/>
              <a:t>    }</a:t>
            </a:r>
          </a:p>
          <a:p>
            <a:endParaRPr lang="en-US" sz="800" dirty="0"/>
          </a:p>
          <a:p>
            <a:r>
              <a:rPr lang="en-US" sz="800" dirty="0"/>
              <a:t>    </a:t>
            </a:r>
            <a:r>
              <a:rPr lang="en-US" sz="800" dirty="0" err="1"/>
              <a:t>ivlen</a:t>
            </a:r>
            <a:r>
              <a:rPr lang="en-US" sz="800" dirty="0"/>
              <a:t> = {</a:t>
            </a:r>
          </a:p>
          <a:p>
            <a:r>
              <a:rPr lang="en-US" sz="800" dirty="0"/>
              <a:t>        "DES": 8, "AES": 16, "Blowfish": 8</a:t>
            </a:r>
          </a:p>
          <a:p>
            <a:r>
              <a:rPr lang="en-US" sz="800" dirty="0"/>
              <a:t>    }</a:t>
            </a:r>
          </a:p>
          <a:p>
            <a:endParaRPr lang="en-US" sz="800" dirty="0"/>
          </a:p>
          <a:p>
            <a:r>
              <a:rPr lang="en-US" sz="800" dirty="0"/>
              <a:t>    cipher = </a:t>
            </a:r>
            <a:r>
              <a:rPr lang="en-US" sz="800" dirty="0" err="1"/>
              <a:t>cipher_map.get</a:t>
            </a:r>
            <a:r>
              <a:rPr lang="en-US" sz="800" dirty="0"/>
              <a:t>(</a:t>
            </a:r>
            <a:r>
              <a:rPr lang="en-US" sz="800" dirty="0" err="1"/>
              <a:t>cipher_name</a:t>
            </a:r>
            <a:r>
              <a:rPr lang="en-US" sz="800" dirty="0"/>
              <a:t>)</a:t>
            </a:r>
          </a:p>
          <a:p>
            <a:r>
              <a:rPr lang="en-US" sz="800" dirty="0"/>
              <a:t>    key = </a:t>
            </a:r>
            <a:r>
              <a:rPr lang="en-US" sz="800" dirty="0" err="1"/>
              <a:t>shared_key</a:t>
            </a:r>
            <a:r>
              <a:rPr lang="en-US" sz="800" dirty="0"/>
              <a:t>[:</a:t>
            </a:r>
            <a:r>
              <a:rPr lang="en-US" sz="800" dirty="0" err="1"/>
              <a:t>key_size</a:t>
            </a:r>
            <a:r>
              <a:rPr lang="en-US" sz="800" dirty="0"/>
              <a:t>//8]</a:t>
            </a:r>
          </a:p>
          <a:p>
            <a:r>
              <a:rPr lang="en-US" sz="800" dirty="0"/>
              <a:t>    if </a:t>
            </a:r>
            <a:r>
              <a:rPr lang="en-US" sz="800" dirty="0" err="1"/>
              <a:t>cipher_name</a:t>
            </a:r>
            <a:r>
              <a:rPr lang="en-US" sz="800" dirty="0"/>
              <a:t> == "DES":</a:t>
            </a:r>
          </a:p>
          <a:p>
            <a:r>
              <a:rPr lang="en-US" sz="800" dirty="0"/>
              <a:t>        key += '\0'</a:t>
            </a:r>
          </a:p>
          <a:p>
            <a:r>
              <a:rPr lang="en-US" sz="800" dirty="0"/>
              <a:t>    key = </a:t>
            </a:r>
            <a:r>
              <a:rPr lang="en-US" sz="800" dirty="0" err="1"/>
              <a:t>key.encode</a:t>
            </a:r>
            <a:r>
              <a:rPr lang="en-US" sz="800" dirty="0"/>
              <a:t>()</a:t>
            </a:r>
          </a:p>
          <a:p>
            <a:r>
              <a:rPr lang="en-US" sz="800" dirty="0"/>
              <a:t>    iv = </a:t>
            </a:r>
            <a:r>
              <a:rPr lang="en-US" sz="800" dirty="0" err="1"/>
              <a:t>shared_key</a:t>
            </a:r>
            <a:r>
              <a:rPr lang="en-US" sz="800" dirty="0"/>
              <a:t>[-1 * </a:t>
            </a:r>
            <a:r>
              <a:rPr lang="en-US" sz="800" dirty="0" err="1"/>
              <a:t>ivlen.get</a:t>
            </a:r>
            <a:r>
              <a:rPr lang="en-US" sz="800" dirty="0"/>
              <a:t>(</a:t>
            </a:r>
            <a:r>
              <a:rPr lang="en-US" sz="800" dirty="0" err="1"/>
              <a:t>cipher_name</a:t>
            </a:r>
            <a:r>
              <a:rPr lang="en-US" sz="800" dirty="0"/>
              <a:t>):].encode()</a:t>
            </a:r>
          </a:p>
          <a:p>
            <a:endParaRPr lang="en-US" sz="800" dirty="0"/>
          </a:p>
          <a:p>
            <a:r>
              <a:rPr lang="en-US" sz="800" dirty="0"/>
              <a:t>    return cipher, key, iv</a:t>
            </a:r>
          </a:p>
          <a:p>
            <a:endParaRPr lang="en-US" sz="800" dirty="0"/>
          </a:p>
          <a:p>
            <a:endParaRPr lang="en-US" sz="800" dirty="0"/>
          </a:p>
          <a:p>
            <a:r>
              <a:rPr lang="en-US" sz="800" dirty="0" err="1"/>
              <a:t>def</a:t>
            </a:r>
            <a:r>
              <a:rPr lang="en-US" sz="800" dirty="0"/>
              <a:t> </a:t>
            </a:r>
            <a:r>
              <a:rPr lang="en-US" sz="800" dirty="0" err="1"/>
              <a:t>add_padding</a:t>
            </a:r>
            <a:r>
              <a:rPr lang="en-US" sz="800" dirty="0"/>
              <a:t>(message: </a:t>
            </a:r>
            <a:r>
              <a:rPr lang="en-US" sz="800" dirty="0" err="1"/>
              <a:t>str</a:t>
            </a:r>
            <a:r>
              <a:rPr lang="en-US" sz="800" dirty="0"/>
              <a:t>) -&gt; </a:t>
            </a:r>
            <a:r>
              <a:rPr lang="en-US" sz="800" dirty="0" err="1"/>
              <a:t>str</a:t>
            </a:r>
            <a:r>
              <a:rPr lang="en-US" sz="800" dirty="0"/>
              <a:t>:</a:t>
            </a:r>
          </a:p>
          <a:p>
            <a:r>
              <a:rPr lang="en-US" sz="800" dirty="0"/>
              <a:t>    """Add padding (0x0) to the message to make its length a multiple of 16</a:t>
            </a:r>
          </a:p>
          <a:p>
            <a:endParaRPr lang="en-US" sz="800" dirty="0"/>
          </a:p>
          <a:p>
            <a:r>
              <a:rPr lang="en-US" sz="800" dirty="0"/>
              <a:t>    :</a:t>
            </a:r>
            <a:r>
              <a:rPr lang="en-US" sz="800" dirty="0" err="1"/>
              <a:t>param</a:t>
            </a:r>
            <a:r>
              <a:rPr lang="en-US" sz="800" dirty="0"/>
              <a:t> message: message to pad</a:t>
            </a:r>
          </a:p>
          <a:p>
            <a:r>
              <a:rPr lang="en-US" sz="800" dirty="0"/>
              <a:t>    :return: padded message</a:t>
            </a:r>
          </a:p>
          <a:p>
            <a:r>
              <a:rPr lang="en-US" sz="800" dirty="0"/>
              <a:t>    """</a:t>
            </a:r>
          </a:p>
          <a:p>
            <a:endParaRPr lang="en-US" sz="800" dirty="0"/>
          </a:p>
          <a:p>
            <a:r>
              <a:rPr lang="en-US" sz="800" dirty="0"/>
              <a:t>    padding = </a:t>
            </a:r>
            <a:r>
              <a:rPr lang="en-US" sz="800" dirty="0" err="1"/>
              <a:t>len</a:t>
            </a:r>
            <a:r>
              <a:rPr lang="en-US" sz="800" dirty="0"/>
              <a:t>(message)</a:t>
            </a:r>
          </a:p>
          <a:p>
            <a:r>
              <a:rPr lang="en-US" sz="800" dirty="0"/>
              <a:t>    while padding % 16 != 0:</a:t>
            </a:r>
          </a:p>
          <a:p>
            <a:r>
              <a:rPr lang="en-US" sz="800" dirty="0"/>
              <a:t>        padding += 1</a:t>
            </a:r>
          </a:p>
          <a:p>
            <a:r>
              <a:rPr lang="en-US" sz="800" dirty="0"/>
              <a:t>    padding -= </a:t>
            </a:r>
            <a:r>
              <a:rPr lang="en-US" sz="800" dirty="0" err="1"/>
              <a:t>len</a:t>
            </a:r>
            <a:r>
              <a:rPr lang="en-US" sz="800" dirty="0"/>
              <a:t>(message)</a:t>
            </a:r>
          </a:p>
          <a:p>
            <a:r>
              <a:rPr lang="en-US" sz="800" dirty="0"/>
              <a:t>    return message + '\0' * padding</a:t>
            </a:r>
          </a:p>
          <a:p>
            <a:endParaRPr lang="en-US" sz="800" dirty="0"/>
          </a:p>
          <a:p>
            <a:endParaRPr lang="en-US" sz="800" dirty="0"/>
          </a:p>
          <a:p>
            <a:r>
              <a:rPr lang="en-US" sz="800" dirty="0" err="1"/>
              <a:t>def</a:t>
            </a:r>
            <a:r>
              <a:rPr lang="en-US" sz="800" dirty="0"/>
              <a:t> </a:t>
            </a:r>
            <a:r>
              <a:rPr lang="en-US" sz="800" dirty="0" err="1"/>
              <a:t>encrypt_message</a:t>
            </a:r>
            <a:r>
              <a:rPr lang="en-US" sz="800" dirty="0"/>
              <a:t>(message: </a:t>
            </a:r>
            <a:r>
              <a:rPr lang="en-US" sz="800" dirty="0" err="1"/>
              <a:t>str</a:t>
            </a:r>
            <a:r>
              <a:rPr lang="en-US" sz="800" dirty="0"/>
              <a:t>, crypto: object, hashing: object) -&gt; Tuple[bytes, </a:t>
            </a:r>
            <a:r>
              <a:rPr lang="en-US" sz="800" dirty="0" err="1"/>
              <a:t>str</a:t>
            </a:r>
            <a:r>
              <a:rPr lang="en-US" sz="800" dirty="0"/>
              <a:t>]:</a:t>
            </a:r>
          </a:p>
          <a:p>
            <a:r>
              <a:rPr lang="en-US" sz="800" dirty="0"/>
              <a:t>    """</a:t>
            </a:r>
          </a:p>
          <a:p>
            <a:r>
              <a:rPr lang="en-US" sz="800" dirty="0"/>
              <a:t>    Encrypt the message</a:t>
            </a:r>
          </a:p>
          <a:p>
            <a:endParaRPr lang="en-US" sz="800" dirty="0"/>
          </a:p>
          <a:p>
            <a:r>
              <a:rPr lang="en-US" sz="800" dirty="0"/>
              <a:t>    :</a:t>
            </a:r>
            <a:r>
              <a:rPr lang="en-US" sz="800" dirty="0" err="1"/>
              <a:t>param</a:t>
            </a:r>
            <a:r>
              <a:rPr lang="en-US" sz="800" dirty="0"/>
              <a:t> message: plaintext to encrypt</a:t>
            </a:r>
          </a:p>
          <a:p>
            <a:r>
              <a:rPr lang="en-US" sz="800" dirty="0"/>
              <a:t>    :</a:t>
            </a:r>
            <a:r>
              <a:rPr lang="en-US" sz="800" dirty="0" err="1"/>
              <a:t>param</a:t>
            </a:r>
            <a:r>
              <a:rPr lang="en-US" sz="800" dirty="0"/>
              <a:t> crypto: chosen cipher, must be initialized in the `main`</a:t>
            </a:r>
          </a:p>
          <a:p>
            <a:r>
              <a:rPr lang="en-US" sz="800" dirty="0"/>
              <a:t>    :</a:t>
            </a:r>
            <a:r>
              <a:rPr lang="en-US" sz="800" dirty="0" err="1"/>
              <a:t>param</a:t>
            </a:r>
            <a:r>
              <a:rPr lang="en-US" sz="800" dirty="0"/>
              <a:t> hashing: hashing object, must be initialized in the `main`</a:t>
            </a:r>
          </a:p>
          <a:p>
            <a:r>
              <a:rPr lang="en-US" sz="800" dirty="0"/>
              <a:t>    :return: (</a:t>
            </a:r>
            <a:r>
              <a:rPr lang="en-US" sz="800" dirty="0" err="1"/>
              <a:t>ciphertext</a:t>
            </a:r>
            <a:r>
              <a:rPr lang="en-US" sz="800" dirty="0"/>
              <a:t>, </a:t>
            </a:r>
            <a:r>
              <a:rPr lang="en-US" sz="800" dirty="0" err="1"/>
              <a:t>hmac</a:t>
            </a:r>
            <a:r>
              <a:rPr lang="en-US" sz="800" dirty="0"/>
              <a:t>) tuple</a:t>
            </a:r>
          </a:p>
          <a:p>
            <a:endParaRPr lang="en-US" sz="800" dirty="0"/>
          </a:p>
          <a:p>
            <a:r>
              <a:rPr lang="en-US" sz="800" dirty="0"/>
              <a:t>    1. Pad the message, if necessary</a:t>
            </a:r>
          </a:p>
          <a:p>
            <a:r>
              <a:rPr lang="en-US" sz="800" dirty="0"/>
              <a:t>    2. Encrypt using cipher `crypto`</a:t>
            </a:r>
          </a:p>
          <a:p>
            <a:r>
              <a:rPr lang="en-US" sz="800" dirty="0"/>
              <a:t>    3. Compute HMAC using `hashing`</a:t>
            </a:r>
          </a:p>
          <a:p>
            <a:r>
              <a:rPr lang="en-US" sz="800" dirty="0"/>
              <a:t>    """</a:t>
            </a:r>
          </a:p>
          <a:p>
            <a:endParaRPr lang="en-US" sz="800" dirty="0"/>
          </a:p>
          <a:p>
            <a:r>
              <a:rPr lang="en-US" sz="800" dirty="0"/>
              <a:t>    message = </a:t>
            </a:r>
            <a:r>
              <a:rPr lang="en-US" sz="800" dirty="0" err="1"/>
              <a:t>add_padding</a:t>
            </a:r>
            <a:r>
              <a:rPr lang="en-US" sz="800" dirty="0"/>
              <a:t>(message)</a:t>
            </a:r>
          </a:p>
          <a:p>
            <a:r>
              <a:rPr lang="en-US" sz="800" dirty="0"/>
              <a:t>    </a:t>
            </a:r>
            <a:r>
              <a:rPr lang="en-US" sz="800" dirty="0" err="1"/>
              <a:t>ciphertext</a:t>
            </a:r>
            <a:r>
              <a:rPr lang="en-US" sz="800" dirty="0"/>
              <a:t> = </a:t>
            </a:r>
            <a:r>
              <a:rPr lang="en-US" sz="800" dirty="0" err="1"/>
              <a:t>crypto.encrypt</a:t>
            </a:r>
            <a:r>
              <a:rPr lang="en-US" sz="800" dirty="0"/>
              <a:t>(message)</a:t>
            </a:r>
          </a:p>
          <a:p>
            <a:r>
              <a:rPr lang="en-US" sz="800" dirty="0"/>
              <a:t>    </a:t>
            </a:r>
            <a:r>
              <a:rPr lang="en-US" sz="800" dirty="0" err="1"/>
              <a:t>hashing.update</a:t>
            </a:r>
            <a:r>
              <a:rPr lang="en-US" sz="800" dirty="0"/>
              <a:t>(</a:t>
            </a:r>
            <a:r>
              <a:rPr lang="en-US" sz="800" dirty="0" err="1"/>
              <a:t>ciphertext</a:t>
            </a:r>
            <a:r>
              <a:rPr lang="en-US" sz="800" dirty="0"/>
              <a:t>)</a:t>
            </a:r>
          </a:p>
          <a:p>
            <a:r>
              <a:rPr lang="en-US" sz="800" dirty="0"/>
              <a:t>    </a:t>
            </a:r>
            <a:r>
              <a:rPr lang="en-US" sz="800" dirty="0" err="1"/>
              <a:t>hashvalue</a:t>
            </a:r>
            <a:r>
              <a:rPr lang="en-US" sz="800" dirty="0"/>
              <a:t> = </a:t>
            </a:r>
            <a:r>
              <a:rPr lang="en-US" sz="800" dirty="0" err="1"/>
              <a:t>hashing.hexdigest</a:t>
            </a:r>
            <a:r>
              <a:rPr lang="en-US" sz="800" dirty="0"/>
              <a:t>()</a:t>
            </a:r>
          </a:p>
          <a:p>
            <a:r>
              <a:rPr lang="en-US" sz="800" dirty="0"/>
              <a:t>    return </a:t>
            </a:r>
            <a:r>
              <a:rPr lang="en-US" sz="800" dirty="0" err="1"/>
              <a:t>ciphertext</a:t>
            </a:r>
            <a:r>
              <a:rPr lang="en-US" sz="800" dirty="0"/>
              <a:t>, </a:t>
            </a:r>
            <a:r>
              <a:rPr lang="en-US" sz="800" dirty="0" err="1"/>
              <a:t>hashvalue</a:t>
            </a:r>
            <a:endParaRPr lang="en-US" sz="800" dirty="0"/>
          </a:p>
          <a:p>
            <a:endParaRPr lang="en-US" sz="800" dirty="0"/>
          </a:p>
          <a:p>
            <a:endParaRPr lang="en-US" sz="800" dirty="0"/>
          </a:p>
          <a:p>
            <a:r>
              <a:rPr lang="en-US" sz="800" dirty="0" err="1"/>
              <a:t>def</a:t>
            </a:r>
            <a:r>
              <a:rPr lang="en-US" sz="800" dirty="0"/>
              <a:t> main():</a:t>
            </a:r>
          </a:p>
          <a:p>
            <a:r>
              <a:rPr lang="en-US" sz="800" dirty="0"/>
              <a:t>    """Main event loop</a:t>
            </a:r>
          </a:p>
          <a:p>
            <a:endParaRPr lang="en-US" sz="800" dirty="0"/>
          </a:p>
          <a:p>
            <a:r>
              <a:rPr lang="en-US" sz="800" dirty="0"/>
              <a:t>    See vpn.md for details</a:t>
            </a:r>
          </a:p>
          <a:p>
            <a:r>
              <a:rPr lang="en-US" sz="800" dirty="0"/>
              <a:t>    """</a:t>
            </a:r>
          </a:p>
          <a:p>
            <a:endParaRPr lang="en-US" sz="800" dirty="0"/>
          </a:p>
          <a:p>
            <a:r>
              <a:rPr lang="en-US" sz="800" dirty="0"/>
              <a:t>    # Start the server</a:t>
            </a:r>
          </a:p>
          <a:p>
            <a:r>
              <a:rPr lang="en-US" sz="800" dirty="0"/>
              <a:t>    </a:t>
            </a:r>
            <a:r>
              <a:rPr lang="en-US" sz="800" dirty="0" err="1"/>
              <a:t>client_sckt</a:t>
            </a:r>
            <a:r>
              <a:rPr lang="en-US" sz="800" dirty="0"/>
              <a:t> = socket(AF_INET, SOCK_STREAM)</a:t>
            </a:r>
          </a:p>
          <a:p>
            <a:r>
              <a:rPr lang="en-US" sz="800" dirty="0"/>
              <a:t>    </a:t>
            </a:r>
            <a:r>
              <a:rPr lang="en-US" sz="800" dirty="0" err="1"/>
              <a:t>client_sckt.connect</a:t>
            </a:r>
            <a:r>
              <a:rPr lang="en-US" sz="800" dirty="0"/>
              <a:t>((HOST, PORT))</a:t>
            </a:r>
          </a:p>
          <a:p>
            <a:r>
              <a:rPr lang="en-US" sz="800" dirty="0"/>
              <a:t>    print(</a:t>
            </a:r>
            <a:r>
              <a:rPr lang="en-US" sz="800" dirty="0" err="1"/>
              <a:t>f"Connected</a:t>
            </a:r>
            <a:r>
              <a:rPr lang="en-US" sz="800" dirty="0"/>
              <a:t> to {HOST}:{PORT}")</a:t>
            </a:r>
          </a:p>
          <a:p>
            <a:endParaRPr lang="en-US" sz="800" dirty="0"/>
          </a:p>
          <a:p>
            <a:r>
              <a:rPr lang="en-US" sz="800" dirty="0"/>
              <a:t>    # Negotiating the cipher</a:t>
            </a:r>
          </a:p>
          <a:p>
            <a:r>
              <a:rPr lang="en-US" sz="800" dirty="0"/>
              <a:t>    print("Negotiating the cipher")</a:t>
            </a:r>
          </a:p>
          <a:p>
            <a:r>
              <a:rPr lang="en-US" sz="800" dirty="0"/>
              <a:t>    # Send proposal to the server</a:t>
            </a:r>
          </a:p>
          <a:p>
            <a:r>
              <a:rPr lang="en-US" sz="800" dirty="0"/>
              <a:t>    </a:t>
            </a:r>
            <a:r>
              <a:rPr lang="en-US" sz="800" dirty="0" err="1"/>
              <a:t>msg_out</a:t>
            </a:r>
            <a:r>
              <a:rPr lang="en-US" sz="800" dirty="0"/>
              <a:t> = </a:t>
            </a:r>
            <a:r>
              <a:rPr lang="en-US" sz="800" dirty="0" err="1"/>
              <a:t>generate_cipher_proposal</a:t>
            </a:r>
            <a:r>
              <a:rPr lang="en-US" sz="800" dirty="0"/>
              <a:t>(SUPPORTED_CIPHERS)</a:t>
            </a:r>
          </a:p>
          <a:p>
            <a:r>
              <a:rPr lang="en-US" sz="800" dirty="0"/>
              <a:t>    </a:t>
            </a:r>
            <a:r>
              <a:rPr lang="en-US" sz="800" dirty="0" err="1"/>
              <a:t>client_sckt.send</a:t>
            </a:r>
            <a:r>
              <a:rPr lang="en-US" sz="800" dirty="0"/>
              <a:t>(</a:t>
            </a:r>
            <a:r>
              <a:rPr lang="en-US" sz="800" dirty="0" err="1"/>
              <a:t>msg_out.encode</a:t>
            </a:r>
            <a:r>
              <a:rPr lang="en-US" sz="800" dirty="0"/>
              <a:t>())</a:t>
            </a:r>
          </a:p>
          <a:p>
            <a:r>
              <a:rPr lang="en-US" sz="800" dirty="0"/>
              <a:t>    </a:t>
            </a:r>
            <a:r>
              <a:rPr lang="en-US" sz="800" dirty="0" err="1"/>
              <a:t>msg_in</a:t>
            </a:r>
            <a:r>
              <a:rPr lang="en-US" sz="800" dirty="0"/>
              <a:t> = </a:t>
            </a:r>
            <a:r>
              <a:rPr lang="en-US" sz="800" dirty="0" err="1"/>
              <a:t>client_sckt.recv</a:t>
            </a:r>
            <a:r>
              <a:rPr lang="en-US" sz="800" dirty="0"/>
              <a:t>(4096).decode('utf-8')</a:t>
            </a:r>
          </a:p>
          <a:p>
            <a:r>
              <a:rPr lang="en-US" sz="800" dirty="0"/>
              <a:t>    </a:t>
            </a:r>
            <a:r>
              <a:rPr lang="en-US" sz="800" dirty="0" err="1"/>
              <a:t>cipher_name</a:t>
            </a:r>
            <a:r>
              <a:rPr lang="en-US" sz="800" dirty="0"/>
              <a:t>, </a:t>
            </a:r>
            <a:r>
              <a:rPr lang="en-US" sz="800" dirty="0" err="1"/>
              <a:t>key_size</a:t>
            </a:r>
            <a:r>
              <a:rPr lang="en-US" sz="800" dirty="0"/>
              <a:t> = </a:t>
            </a:r>
            <a:r>
              <a:rPr lang="en-US" sz="800" dirty="0" err="1"/>
              <a:t>parse_cipher_selection</a:t>
            </a:r>
            <a:r>
              <a:rPr lang="en-US" sz="800" dirty="0"/>
              <a:t>(</a:t>
            </a:r>
            <a:r>
              <a:rPr lang="en-US" sz="800" dirty="0" err="1"/>
              <a:t>msg_in</a:t>
            </a:r>
            <a:r>
              <a:rPr lang="en-US" sz="800" dirty="0"/>
              <a:t>)</a:t>
            </a:r>
          </a:p>
          <a:p>
            <a:r>
              <a:rPr lang="en-US" sz="800" dirty="0"/>
              <a:t>    print(</a:t>
            </a:r>
            <a:r>
              <a:rPr lang="en-US" sz="800" dirty="0" err="1"/>
              <a:t>f"We</a:t>
            </a:r>
            <a:r>
              <a:rPr lang="en-US" sz="800" dirty="0"/>
              <a:t> are going to use {</a:t>
            </a:r>
            <a:r>
              <a:rPr lang="en-US" sz="800" dirty="0" err="1"/>
              <a:t>cipher_name</a:t>
            </a:r>
            <a:r>
              <a:rPr lang="en-US" sz="800" dirty="0"/>
              <a:t>}{</a:t>
            </a:r>
            <a:r>
              <a:rPr lang="en-US" sz="800" dirty="0" err="1"/>
              <a:t>key_size</a:t>
            </a:r>
            <a:r>
              <a:rPr lang="en-US" sz="800" dirty="0"/>
              <a:t>}")</a:t>
            </a:r>
          </a:p>
          <a:p>
            <a:endParaRPr lang="en-US" sz="800" dirty="0"/>
          </a:p>
          <a:p>
            <a:r>
              <a:rPr lang="en-US" sz="800" dirty="0"/>
              <a:t>    # Negotiating the key</a:t>
            </a:r>
          </a:p>
          <a:p>
            <a:r>
              <a:rPr lang="en-US" sz="800" dirty="0"/>
              <a:t>    print("Negotiating the key")</a:t>
            </a:r>
          </a:p>
          <a:p>
            <a:r>
              <a:rPr lang="en-US" sz="800" dirty="0"/>
              <a:t>    dh = </a:t>
            </a:r>
            <a:r>
              <a:rPr lang="en-US" sz="800" dirty="0" err="1"/>
              <a:t>DiffieHellman</a:t>
            </a:r>
            <a:r>
              <a:rPr lang="en-US" sz="800" dirty="0"/>
              <a:t>()</a:t>
            </a:r>
          </a:p>
          <a:p>
            <a:r>
              <a:rPr lang="en-US" sz="800" dirty="0"/>
              <a:t>    </a:t>
            </a:r>
            <a:r>
              <a:rPr lang="en-US" sz="800" dirty="0" err="1"/>
              <a:t>dh.generate_public_key</a:t>
            </a:r>
            <a:r>
              <a:rPr lang="en-US" sz="800" dirty="0"/>
              <a:t>()</a:t>
            </a:r>
          </a:p>
          <a:p>
            <a:r>
              <a:rPr lang="en-US" sz="800" dirty="0"/>
              <a:t>    </a:t>
            </a:r>
            <a:r>
              <a:rPr lang="en-US" sz="800" dirty="0" err="1"/>
              <a:t>msg_out</a:t>
            </a:r>
            <a:r>
              <a:rPr lang="en-US" sz="800" dirty="0"/>
              <a:t> = </a:t>
            </a:r>
            <a:r>
              <a:rPr lang="en-US" sz="800" dirty="0" err="1"/>
              <a:t>generate_dhm_request</a:t>
            </a:r>
            <a:r>
              <a:rPr lang="en-US" sz="800" dirty="0"/>
              <a:t>(</a:t>
            </a:r>
            <a:r>
              <a:rPr lang="en-US" sz="800" dirty="0" err="1"/>
              <a:t>dh.public_key</a:t>
            </a:r>
            <a:r>
              <a:rPr lang="en-US" sz="800" dirty="0"/>
              <a:t>)</a:t>
            </a:r>
          </a:p>
          <a:p>
            <a:r>
              <a:rPr lang="en-US" sz="800" dirty="0"/>
              <a:t>    </a:t>
            </a:r>
            <a:r>
              <a:rPr lang="en-US" sz="800" dirty="0" err="1"/>
              <a:t>client_sckt.send</a:t>
            </a:r>
            <a:r>
              <a:rPr lang="en-US" sz="800" dirty="0"/>
              <a:t>(</a:t>
            </a:r>
            <a:r>
              <a:rPr lang="en-US" sz="800" dirty="0" err="1"/>
              <a:t>msg_out.encode</a:t>
            </a:r>
            <a:r>
              <a:rPr lang="en-US" sz="800" dirty="0"/>
              <a:t>())</a:t>
            </a:r>
          </a:p>
          <a:p>
            <a:r>
              <a:rPr lang="en-US" sz="800" dirty="0"/>
              <a:t>    </a:t>
            </a:r>
            <a:r>
              <a:rPr lang="en-US" sz="800" dirty="0" err="1"/>
              <a:t>msg_in</a:t>
            </a:r>
            <a:r>
              <a:rPr lang="en-US" sz="800" dirty="0"/>
              <a:t> = </a:t>
            </a:r>
            <a:r>
              <a:rPr lang="en-US" sz="800" dirty="0" err="1"/>
              <a:t>client_sckt.recv</a:t>
            </a:r>
            <a:r>
              <a:rPr lang="en-US" sz="800" dirty="0"/>
              <a:t>(4096).decode('utf-8')</a:t>
            </a:r>
          </a:p>
          <a:p>
            <a:r>
              <a:rPr lang="en-US" sz="800" dirty="0"/>
              <a:t>    </a:t>
            </a:r>
            <a:r>
              <a:rPr lang="en-US" sz="800" dirty="0" err="1"/>
              <a:t>server_public_key</a:t>
            </a:r>
            <a:r>
              <a:rPr lang="en-US" sz="800" dirty="0"/>
              <a:t> = </a:t>
            </a:r>
            <a:r>
              <a:rPr lang="en-US" sz="800" dirty="0" err="1"/>
              <a:t>parse_dhm_response</a:t>
            </a:r>
            <a:r>
              <a:rPr lang="en-US" sz="800" dirty="0"/>
              <a:t>(</a:t>
            </a:r>
            <a:r>
              <a:rPr lang="en-US" sz="800" dirty="0" err="1"/>
              <a:t>msg_in</a:t>
            </a:r>
            <a:r>
              <a:rPr lang="en-US" sz="800" dirty="0"/>
              <a:t>)</a:t>
            </a:r>
          </a:p>
          <a:p>
            <a:r>
              <a:rPr lang="en-US" sz="800" dirty="0"/>
              <a:t>    </a:t>
            </a:r>
            <a:r>
              <a:rPr lang="en-US" sz="800" dirty="0" err="1"/>
              <a:t>dh.generate_shared_secret</a:t>
            </a:r>
            <a:r>
              <a:rPr lang="en-US" sz="800" dirty="0"/>
              <a:t>(</a:t>
            </a:r>
            <a:r>
              <a:rPr lang="en-US" sz="800" dirty="0" err="1"/>
              <a:t>server_public_key</a:t>
            </a:r>
            <a:r>
              <a:rPr lang="en-US" sz="800" dirty="0"/>
              <a:t>)</a:t>
            </a:r>
          </a:p>
          <a:p>
            <a:r>
              <a:rPr lang="en-US" sz="800" dirty="0"/>
              <a:t>    cipher, key, iv = </a:t>
            </a:r>
            <a:r>
              <a:rPr lang="en-US" sz="800" dirty="0" err="1"/>
              <a:t>get_key_and_iv</a:t>
            </a:r>
            <a:r>
              <a:rPr lang="en-US" sz="800" dirty="0"/>
              <a:t>(</a:t>
            </a:r>
            <a:r>
              <a:rPr lang="en-US" sz="800" dirty="0" err="1"/>
              <a:t>dh.shared_key</a:t>
            </a:r>
            <a:r>
              <a:rPr lang="en-US" sz="800" dirty="0"/>
              <a:t>, </a:t>
            </a:r>
            <a:r>
              <a:rPr lang="en-US" sz="800" dirty="0" err="1"/>
              <a:t>cipher_name</a:t>
            </a:r>
            <a:r>
              <a:rPr lang="en-US" sz="800" dirty="0"/>
              <a:t>, </a:t>
            </a:r>
            <a:r>
              <a:rPr lang="en-US" sz="800" dirty="0" err="1"/>
              <a:t>key_size</a:t>
            </a:r>
            <a:r>
              <a:rPr lang="en-US" sz="800" dirty="0"/>
              <a:t>)</a:t>
            </a:r>
          </a:p>
          <a:p>
            <a:r>
              <a:rPr lang="en-US" sz="800" dirty="0"/>
              <a:t>    print("The key has been established")</a:t>
            </a:r>
          </a:p>
          <a:p>
            <a:endParaRPr lang="en-US" sz="800" dirty="0"/>
          </a:p>
          <a:p>
            <a:r>
              <a:rPr lang="en-US" sz="800" dirty="0"/>
              <a:t>    # Initialize Cryptosystem</a:t>
            </a:r>
          </a:p>
          <a:p>
            <a:r>
              <a:rPr lang="en-US" sz="800" dirty="0"/>
              <a:t>    print("Initializing cryptosystem")</a:t>
            </a:r>
          </a:p>
          <a:p>
            <a:r>
              <a:rPr lang="en-US" sz="800" dirty="0"/>
              <a:t>    crypto = </a:t>
            </a:r>
            <a:r>
              <a:rPr lang="en-US" sz="800" dirty="0" err="1"/>
              <a:t>cipher.new</a:t>
            </a:r>
            <a:r>
              <a:rPr lang="en-US" sz="800" dirty="0"/>
              <a:t>(key, </a:t>
            </a:r>
            <a:r>
              <a:rPr lang="en-US" sz="800" dirty="0" err="1"/>
              <a:t>cipher.MODE_CBC</a:t>
            </a:r>
            <a:r>
              <a:rPr lang="en-US" sz="800" dirty="0"/>
              <a:t>, iv)</a:t>
            </a:r>
          </a:p>
          <a:p>
            <a:r>
              <a:rPr lang="en-US" sz="800" dirty="0"/>
              <a:t>    hashing = </a:t>
            </a:r>
            <a:r>
              <a:rPr lang="en-US" sz="800" dirty="0" err="1"/>
              <a:t>HMAC.new</a:t>
            </a:r>
            <a:r>
              <a:rPr lang="en-US" sz="800" dirty="0"/>
              <a:t>(key, </a:t>
            </a:r>
            <a:r>
              <a:rPr lang="en-US" sz="800" dirty="0" err="1"/>
              <a:t>digestmod</a:t>
            </a:r>
            <a:r>
              <a:rPr lang="en-US" sz="800" dirty="0"/>
              <a:t>=SHA256)</a:t>
            </a:r>
          </a:p>
          <a:p>
            <a:r>
              <a:rPr lang="en-US" sz="800" dirty="0"/>
              <a:t>    print("All systems ready")</a:t>
            </a:r>
          </a:p>
          <a:p>
            <a:endParaRPr lang="en-US" sz="800" dirty="0"/>
          </a:p>
          <a:p>
            <a:r>
              <a:rPr lang="en-US" sz="800" dirty="0"/>
              <a:t>    while True:</a:t>
            </a:r>
          </a:p>
          <a:p>
            <a:r>
              <a:rPr lang="en-US" sz="800" dirty="0"/>
              <a:t>        </a:t>
            </a:r>
            <a:r>
              <a:rPr lang="en-US" sz="800" dirty="0" err="1"/>
              <a:t>msg</a:t>
            </a:r>
            <a:r>
              <a:rPr lang="en-US" sz="800" dirty="0"/>
              <a:t> = input("Enter message: ")</a:t>
            </a:r>
          </a:p>
          <a:p>
            <a:r>
              <a:rPr lang="en-US" sz="800" dirty="0"/>
              <a:t>        if </a:t>
            </a:r>
            <a:r>
              <a:rPr lang="en-US" sz="800" dirty="0" err="1"/>
              <a:t>msg</a:t>
            </a:r>
            <a:r>
              <a:rPr lang="en-US" sz="800" dirty="0"/>
              <a:t> == "\\quit":</a:t>
            </a:r>
          </a:p>
          <a:p>
            <a:r>
              <a:rPr lang="en-US" sz="800" dirty="0"/>
              <a:t>            </a:t>
            </a:r>
            <a:r>
              <a:rPr lang="en-US" sz="800" dirty="0" err="1"/>
              <a:t>client_sckt.close</a:t>
            </a:r>
            <a:r>
              <a:rPr lang="en-US" sz="800" dirty="0"/>
              <a:t>()</a:t>
            </a:r>
          </a:p>
          <a:p>
            <a:r>
              <a:rPr lang="en-US" sz="800" dirty="0"/>
              <a:t>            break</a:t>
            </a:r>
          </a:p>
          <a:p>
            <a:r>
              <a:rPr lang="en-US" sz="800" dirty="0"/>
              <a:t>        </a:t>
            </a:r>
            <a:r>
              <a:rPr lang="en-US" sz="800" dirty="0" err="1"/>
              <a:t>ciph_out</a:t>
            </a:r>
            <a:r>
              <a:rPr lang="en-US" sz="800" dirty="0"/>
              <a:t>, </a:t>
            </a:r>
            <a:r>
              <a:rPr lang="en-US" sz="800" dirty="0" err="1"/>
              <a:t>hmac_out</a:t>
            </a:r>
            <a:r>
              <a:rPr lang="en-US" sz="800" dirty="0"/>
              <a:t> = </a:t>
            </a:r>
            <a:r>
              <a:rPr lang="en-US" sz="800" dirty="0" err="1"/>
              <a:t>encrypt_message</a:t>
            </a:r>
            <a:r>
              <a:rPr lang="en-US" sz="800" dirty="0"/>
              <a:t>(</a:t>
            </a:r>
            <a:r>
              <a:rPr lang="en-US" sz="800" dirty="0" err="1"/>
              <a:t>msg</a:t>
            </a:r>
            <a:r>
              <a:rPr lang="en-US" sz="800" dirty="0"/>
              <a:t>, crypto, hashing)</a:t>
            </a:r>
          </a:p>
          <a:p>
            <a:r>
              <a:rPr lang="en-US" sz="800" dirty="0"/>
              <a:t>        </a:t>
            </a:r>
            <a:r>
              <a:rPr lang="en-US" sz="800" dirty="0" err="1"/>
              <a:t>client_sckt.send</a:t>
            </a:r>
            <a:r>
              <a:rPr lang="en-US" sz="800" dirty="0"/>
              <a:t>(</a:t>
            </a:r>
            <a:r>
              <a:rPr lang="en-US" sz="800" dirty="0" err="1"/>
              <a:t>ciph_out</a:t>
            </a:r>
            <a:r>
              <a:rPr lang="en-US" sz="800" dirty="0"/>
              <a:t> + </a:t>
            </a:r>
            <a:r>
              <a:rPr lang="en-US" sz="800" dirty="0" err="1"/>
              <a:t>hmac_out.encode</a:t>
            </a:r>
            <a:r>
              <a:rPr lang="en-US" sz="800" dirty="0"/>
              <a:t>())</a:t>
            </a:r>
          </a:p>
          <a:p>
            <a:r>
              <a:rPr lang="en-US" sz="800" dirty="0"/>
              <a:t>        </a:t>
            </a:r>
            <a:r>
              <a:rPr lang="en-US" sz="800" dirty="0" err="1"/>
              <a:t>msg_in</a:t>
            </a:r>
            <a:r>
              <a:rPr lang="en-US" sz="800" dirty="0"/>
              <a:t> = </a:t>
            </a:r>
            <a:r>
              <a:rPr lang="en-US" sz="800" dirty="0" err="1"/>
              <a:t>client_sckt.recv</a:t>
            </a:r>
            <a:r>
              <a:rPr lang="en-US" sz="800" dirty="0"/>
              <a:t>(4096)</a:t>
            </a:r>
          </a:p>
          <a:p>
            <a:r>
              <a:rPr lang="en-US" sz="800" dirty="0"/>
              <a:t>        print(</a:t>
            </a:r>
            <a:r>
              <a:rPr lang="en-US" sz="800" dirty="0" err="1"/>
              <a:t>msg_in.decode</a:t>
            </a:r>
            <a:r>
              <a:rPr lang="en-US" sz="800" dirty="0"/>
              <a:t>("utf-8"))</a:t>
            </a:r>
          </a:p>
          <a:p>
            <a:endParaRPr lang="en-US" sz="800" dirty="0"/>
          </a:p>
          <a:p>
            <a:endParaRPr lang="en-US" sz="800" dirty="0"/>
          </a:p>
          <a:p>
            <a:r>
              <a:rPr lang="en-US" sz="800" dirty="0"/>
              <a:t>if __name__ == "__main__":</a:t>
            </a:r>
          </a:p>
          <a:p>
            <a:r>
              <a:rPr lang="en-US" sz="800" dirty="0"/>
              <a:t>    main()</a:t>
            </a:r>
          </a:p>
        </p:txBody>
      </p:sp>
      <p:sp>
        <p:nvSpPr>
          <p:cNvPr id="5" name="Rectangle 4"/>
          <p:cNvSpPr/>
          <p:nvPr/>
        </p:nvSpPr>
        <p:spPr>
          <a:xfrm>
            <a:off x="5595641" y="200416"/>
            <a:ext cx="4572000" cy="22375356"/>
          </a:xfrm>
          <a:prstGeom prst="rect">
            <a:avLst/>
          </a:prstGeom>
        </p:spPr>
        <p:txBody>
          <a:bodyPr>
            <a:spAutoFit/>
          </a:bodyPr>
          <a:lstStyle/>
          <a:p>
            <a:endParaRPr lang="en-US" sz="800" dirty="0"/>
          </a:p>
          <a:p>
            <a:endParaRPr lang="en-US" sz="800" dirty="0"/>
          </a:p>
          <a:p>
            <a:r>
              <a:rPr lang="en-US" sz="800" dirty="0"/>
              <a:t>from socket import socket, </a:t>
            </a:r>
            <a:r>
              <a:rPr lang="en-US" sz="800" dirty="0" err="1"/>
              <a:t>gethostname</a:t>
            </a:r>
            <a:r>
              <a:rPr lang="en-US" sz="800" dirty="0"/>
              <a:t>, AF_INET, SOCK_STREAM</a:t>
            </a:r>
          </a:p>
          <a:p>
            <a:r>
              <a:rPr lang="en-US" sz="800" dirty="0"/>
              <a:t>from typing import Tuple, </a:t>
            </a:r>
            <a:r>
              <a:rPr lang="en-US" sz="800" dirty="0" err="1"/>
              <a:t>Dict</a:t>
            </a:r>
            <a:endParaRPr lang="en-US" sz="800" dirty="0"/>
          </a:p>
          <a:p>
            <a:r>
              <a:rPr lang="en-US" sz="800" dirty="0"/>
              <a:t>from </a:t>
            </a:r>
            <a:r>
              <a:rPr lang="en-US" sz="800" dirty="0" err="1"/>
              <a:t>Crypto.Hash</a:t>
            </a:r>
            <a:r>
              <a:rPr lang="en-US" sz="800" dirty="0"/>
              <a:t> import SHA256, HMAC</a:t>
            </a:r>
          </a:p>
          <a:p>
            <a:r>
              <a:rPr lang="en-US" sz="800" dirty="0"/>
              <a:t>from </a:t>
            </a:r>
            <a:r>
              <a:rPr lang="en-US" sz="800" dirty="0" err="1"/>
              <a:t>Crypto.Cipher</a:t>
            </a:r>
            <a:r>
              <a:rPr lang="en-US" sz="800" dirty="0"/>
              <a:t> import AES, DES, Blowfish</a:t>
            </a:r>
          </a:p>
          <a:p>
            <a:r>
              <a:rPr lang="en-US" sz="800" dirty="0"/>
              <a:t>from </a:t>
            </a:r>
            <a:r>
              <a:rPr lang="en-US" sz="800" dirty="0" err="1"/>
              <a:t>diffiehellman.diffiehellman</a:t>
            </a:r>
            <a:r>
              <a:rPr lang="en-US" sz="800" dirty="0"/>
              <a:t> import </a:t>
            </a:r>
            <a:r>
              <a:rPr lang="en-US" sz="800" dirty="0" err="1"/>
              <a:t>DiffieHellman</a:t>
            </a:r>
            <a:endParaRPr lang="en-US" sz="800" dirty="0"/>
          </a:p>
          <a:p>
            <a:endParaRPr lang="en-US" sz="800" dirty="0"/>
          </a:p>
          <a:p>
            <a:r>
              <a:rPr lang="en-US" sz="800" dirty="0"/>
              <a:t>HOST = </a:t>
            </a:r>
            <a:r>
              <a:rPr lang="en-US" sz="800" dirty="0" err="1"/>
              <a:t>gethostname</a:t>
            </a:r>
            <a:r>
              <a:rPr lang="en-US" sz="800" dirty="0"/>
              <a:t>()</a:t>
            </a:r>
          </a:p>
          <a:p>
            <a:r>
              <a:rPr lang="en-US" sz="800" dirty="0"/>
              <a:t>PORT = 4600</a:t>
            </a:r>
          </a:p>
          <a:p>
            <a:r>
              <a:rPr lang="en-US" sz="800" dirty="0"/>
              <a:t>SUPPORTED_CIPHERS = {"AES": [128, 192, 256],</a:t>
            </a:r>
          </a:p>
          <a:p>
            <a:r>
              <a:rPr lang="en-US" sz="800" dirty="0"/>
              <a:t>                     "Blowfish": [112, 224, 448], "DES": [56]}</a:t>
            </a:r>
          </a:p>
          <a:p>
            <a:endParaRPr lang="en-US" sz="800" dirty="0"/>
          </a:p>
          <a:p>
            <a:endParaRPr lang="en-US" sz="800" dirty="0"/>
          </a:p>
          <a:p>
            <a:r>
              <a:rPr lang="en-US" sz="800" dirty="0" err="1"/>
              <a:t>def</a:t>
            </a:r>
            <a:r>
              <a:rPr lang="en-US" sz="800" dirty="0"/>
              <a:t> </a:t>
            </a:r>
            <a:r>
              <a:rPr lang="en-US" sz="800" dirty="0" err="1"/>
              <a:t>generate_cipher_proposal</a:t>
            </a:r>
            <a:r>
              <a:rPr lang="en-US" sz="800" dirty="0"/>
              <a:t>(supported: </a:t>
            </a:r>
            <a:r>
              <a:rPr lang="en-US" sz="800" dirty="0" err="1"/>
              <a:t>dict</a:t>
            </a:r>
            <a:r>
              <a:rPr lang="en-US" sz="800" dirty="0"/>
              <a:t>) -&gt; </a:t>
            </a:r>
            <a:r>
              <a:rPr lang="en-US" sz="800" dirty="0" err="1"/>
              <a:t>str</a:t>
            </a:r>
            <a:r>
              <a:rPr lang="en-US" sz="800" dirty="0"/>
              <a:t>:</a:t>
            </a:r>
          </a:p>
          <a:p>
            <a:r>
              <a:rPr lang="en-US" sz="800" dirty="0"/>
              <a:t>    """Generate a cipher proposal message</a:t>
            </a:r>
          </a:p>
          <a:p>
            <a:endParaRPr lang="en-US" sz="800" dirty="0"/>
          </a:p>
          <a:p>
            <a:r>
              <a:rPr lang="en-US" sz="800" dirty="0"/>
              <a:t>    :</a:t>
            </a:r>
            <a:r>
              <a:rPr lang="en-US" sz="800" dirty="0" err="1"/>
              <a:t>param</a:t>
            </a:r>
            <a:r>
              <a:rPr lang="en-US" sz="800" dirty="0"/>
              <a:t> supported: cryptosystems supported by the client</a:t>
            </a:r>
          </a:p>
          <a:p>
            <a:r>
              <a:rPr lang="en-US" sz="800" dirty="0"/>
              <a:t>    :return: proposal as a string</a:t>
            </a:r>
          </a:p>
          <a:p>
            <a:r>
              <a:rPr lang="en-US" sz="800" dirty="0"/>
              <a:t>    """</a:t>
            </a:r>
          </a:p>
          <a:p>
            <a:endParaRPr lang="en-US" sz="800" dirty="0"/>
          </a:p>
          <a:p>
            <a:r>
              <a:rPr lang="en-US" sz="800" dirty="0"/>
              <a:t>    out = "</a:t>
            </a:r>
            <a:r>
              <a:rPr lang="en-US" sz="800" dirty="0" err="1"/>
              <a:t>ProposedCiphers</a:t>
            </a:r>
            <a:r>
              <a:rPr lang="en-US" sz="800" dirty="0"/>
              <a:t>:"</a:t>
            </a:r>
          </a:p>
          <a:p>
            <a:r>
              <a:rPr lang="en-US" sz="800" dirty="0"/>
              <a:t>    out += ','.join([cipher + ':[' + ','.join([</a:t>
            </a:r>
            <a:r>
              <a:rPr lang="en-US" sz="800" dirty="0" err="1"/>
              <a:t>str</a:t>
            </a:r>
            <a:r>
              <a:rPr lang="en-US" sz="800" dirty="0"/>
              <a:t>(x) for x in bits]) + ']'</a:t>
            </a:r>
          </a:p>
          <a:p>
            <a:r>
              <a:rPr lang="en-US" sz="800" dirty="0"/>
              <a:t>                     for cipher, bits in </a:t>
            </a:r>
            <a:r>
              <a:rPr lang="en-US" sz="800" dirty="0" err="1"/>
              <a:t>supported.items</a:t>
            </a:r>
            <a:r>
              <a:rPr lang="en-US" sz="800" dirty="0"/>
              <a:t>()])</a:t>
            </a:r>
          </a:p>
          <a:p>
            <a:endParaRPr lang="en-US" sz="800" dirty="0"/>
          </a:p>
          <a:p>
            <a:r>
              <a:rPr lang="en-US" sz="800" dirty="0"/>
              <a:t>    return out</a:t>
            </a:r>
          </a:p>
          <a:p>
            <a:endParaRPr lang="en-US" sz="800" dirty="0"/>
          </a:p>
          <a:p>
            <a:endParaRPr lang="en-US" sz="800" dirty="0"/>
          </a:p>
          <a:p>
            <a:r>
              <a:rPr lang="en-US" sz="800" dirty="0" err="1"/>
              <a:t>def</a:t>
            </a:r>
            <a:r>
              <a:rPr lang="en-US" sz="800" dirty="0"/>
              <a:t> </a:t>
            </a:r>
            <a:r>
              <a:rPr lang="en-US" sz="800" dirty="0" err="1"/>
              <a:t>parse_cipher_selection</a:t>
            </a:r>
            <a:r>
              <a:rPr lang="en-US" sz="800" dirty="0"/>
              <a:t>(</a:t>
            </a:r>
            <a:r>
              <a:rPr lang="en-US" sz="800" dirty="0" err="1"/>
              <a:t>msg</a:t>
            </a:r>
            <a:r>
              <a:rPr lang="en-US" sz="800" dirty="0"/>
              <a:t>: </a:t>
            </a:r>
            <a:r>
              <a:rPr lang="en-US" sz="800" dirty="0" err="1"/>
              <a:t>str</a:t>
            </a:r>
            <a:r>
              <a:rPr lang="en-US" sz="800" dirty="0"/>
              <a:t>) -&gt; Tuple[</a:t>
            </a:r>
            <a:r>
              <a:rPr lang="en-US" sz="800" dirty="0" err="1"/>
              <a:t>str</a:t>
            </a:r>
            <a:r>
              <a:rPr lang="en-US" sz="800" dirty="0"/>
              <a:t>, </a:t>
            </a:r>
            <a:r>
              <a:rPr lang="en-US" sz="800" dirty="0" err="1"/>
              <a:t>int</a:t>
            </a:r>
            <a:r>
              <a:rPr lang="en-US" sz="800" dirty="0"/>
              <a:t>]:</a:t>
            </a:r>
          </a:p>
          <a:p>
            <a:r>
              <a:rPr lang="en-US" sz="800" dirty="0"/>
              <a:t>    """Parse server's response</a:t>
            </a:r>
          </a:p>
          <a:p>
            <a:endParaRPr lang="en-US" sz="800" dirty="0"/>
          </a:p>
          <a:p>
            <a:r>
              <a:rPr lang="en-US" sz="800" dirty="0"/>
              <a:t>    :</a:t>
            </a:r>
            <a:r>
              <a:rPr lang="en-US" sz="800" dirty="0" err="1"/>
              <a:t>param</a:t>
            </a:r>
            <a:r>
              <a:rPr lang="en-US" sz="800" dirty="0"/>
              <a:t> </a:t>
            </a:r>
            <a:r>
              <a:rPr lang="en-US" sz="800" dirty="0" err="1"/>
              <a:t>msg</a:t>
            </a:r>
            <a:r>
              <a:rPr lang="en-US" sz="800" dirty="0"/>
              <a:t>: server's message with the selected cryptosystem</a:t>
            </a:r>
          </a:p>
          <a:p>
            <a:r>
              <a:rPr lang="en-US" sz="800" dirty="0"/>
              <a:t>    :return: (</a:t>
            </a:r>
            <a:r>
              <a:rPr lang="en-US" sz="800" dirty="0" err="1"/>
              <a:t>cipher_name</a:t>
            </a:r>
            <a:r>
              <a:rPr lang="en-US" sz="800" dirty="0"/>
              <a:t>, </a:t>
            </a:r>
            <a:r>
              <a:rPr lang="en-US" sz="800" dirty="0" err="1"/>
              <a:t>key_size</a:t>
            </a:r>
            <a:r>
              <a:rPr lang="en-US" sz="800" dirty="0"/>
              <a:t>) tuple extracted from the message</a:t>
            </a:r>
          </a:p>
          <a:p>
            <a:r>
              <a:rPr lang="en-US" sz="800" dirty="0"/>
              <a:t>    """</a:t>
            </a:r>
          </a:p>
          <a:p>
            <a:endParaRPr lang="en-US" sz="800" dirty="0"/>
          </a:p>
          <a:p>
            <a:r>
              <a:rPr lang="en-US" sz="800" dirty="0"/>
              <a:t>    </a:t>
            </a:r>
            <a:r>
              <a:rPr lang="en-US" sz="800" dirty="0" err="1"/>
              <a:t>msg_list</a:t>
            </a:r>
            <a:r>
              <a:rPr lang="en-US" sz="800" dirty="0"/>
              <a:t> = </a:t>
            </a:r>
            <a:r>
              <a:rPr lang="en-US" sz="800" dirty="0" err="1"/>
              <a:t>msg.split</a:t>
            </a:r>
            <a:r>
              <a:rPr lang="en-US" sz="800" dirty="0"/>
              <a:t>(':')[1].split(',')</a:t>
            </a:r>
          </a:p>
          <a:p>
            <a:r>
              <a:rPr lang="en-US" sz="800" dirty="0"/>
              <a:t>    </a:t>
            </a:r>
            <a:r>
              <a:rPr lang="en-US" sz="800" dirty="0" err="1"/>
              <a:t>cipher_name</a:t>
            </a:r>
            <a:r>
              <a:rPr lang="en-US" sz="800" dirty="0"/>
              <a:t> = </a:t>
            </a:r>
            <a:r>
              <a:rPr lang="en-US" sz="800" dirty="0" err="1"/>
              <a:t>msg_list</a:t>
            </a:r>
            <a:r>
              <a:rPr lang="en-US" sz="800" dirty="0"/>
              <a:t>[0]</a:t>
            </a:r>
          </a:p>
          <a:p>
            <a:r>
              <a:rPr lang="en-US" sz="800" dirty="0"/>
              <a:t>    </a:t>
            </a:r>
            <a:r>
              <a:rPr lang="en-US" sz="800" dirty="0" err="1"/>
              <a:t>key_size</a:t>
            </a:r>
            <a:r>
              <a:rPr lang="en-US" sz="800" dirty="0"/>
              <a:t> = </a:t>
            </a:r>
            <a:r>
              <a:rPr lang="en-US" sz="800" dirty="0" err="1"/>
              <a:t>int</a:t>
            </a:r>
            <a:r>
              <a:rPr lang="en-US" sz="800" dirty="0"/>
              <a:t>(</a:t>
            </a:r>
            <a:r>
              <a:rPr lang="en-US" sz="800" dirty="0" err="1"/>
              <a:t>msg_list</a:t>
            </a:r>
            <a:r>
              <a:rPr lang="en-US" sz="800" dirty="0"/>
              <a:t>[1])</a:t>
            </a:r>
          </a:p>
          <a:p>
            <a:endParaRPr lang="en-US" sz="800" dirty="0"/>
          </a:p>
          <a:p>
            <a:r>
              <a:rPr lang="en-US" sz="800" dirty="0"/>
              <a:t>    return </a:t>
            </a:r>
            <a:r>
              <a:rPr lang="en-US" sz="800" dirty="0" err="1"/>
              <a:t>cipher_name</a:t>
            </a:r>
            <a:r>
              <a:rPr lang="en-US" sz="800" dirty="0"/>
              <a:t>, </a:t>
            </a:r>
            <a:r>
              <a:rPr lang="en-US" sz="800" dirty="0" err="1"/>
              <a:t>key_size</a:t>
            </a:r>
            <a:endParaRPr lang="en-US" sz="800" dirty="0"/>
          </a:p>
          <a:p>
            <a:endParaRPr lang="en-US" sz="800" dirty="0"/>
          </a:p>
          <a:p>
            <a:endParaRPr lang="en-US" sz="800" dirty="0"/>
          </a:p>
          <a:p>
            <a:r>
              <a:rPr lang="en-US" sz="800" dirty="0" err="1"/>
              <a:t>def</a:t>
            </a:r>
            <a:r>
              <a:rPr lang="en-US" sz="800" dirty="0"/>
              <a:t> </a:t>
            </a:r>
            <a:r>
              <a:rPr lang="en-US" sz="800" dirty="0" err="1"/>
              <a:t>generate_dhm_request</a:t>
            </a:r>
            <a:r>
              <a:rPr lang="en-US" sz="800" dirty="0"/>
              <a:t>(</a:t>
            </a:r>
            <a:r>
              <a:rPr lang="en-US" sz="800" dirty="0" err="1"/>
              <a:t>public_key</a:t>
            </a:r>
            <a:r>
              <a:rPr lang="en-US" sz="800" dirty="0"/>
              <a:t>: </a:t>
            </a:r>
            <a:r>
              <a:rPr lang="en-US" sz="800" dirty="0" err="1"/>
              <a:t>int</a:t>
            </a:r>
            <a:r>
              <a:rPr lang="en-US" sz="800" dirty="0"/>
              <a:t>) -&gt; </a:t>
            </a:r>
            <a:r>
              <a:rPr lang="en-US" sz="800" dirty="0" err="1"/>
              <a:t>str</a:t>
            </a:r>
            <a:r>
              <a:rPr lang="en-US" sz="800" dirty="0"/>
              <a:t>:</a:t>
            </a:r>
          </a:p>
          <a:p>
            <a:r>
              <a:rPr lang="en-US" sz="800" dirty="0"/>
              <a:t>    """Generate DHM key exchange request</a:t>
            </a:r>
          </a:p>
          <a:p>
            <a:endParaRPr lang="en-US" sz="800" dirty="0"/>
          </a:p>
          <a:p>
            <a:r>
              <a:rPr lang="en-US" sz="800" dirty="0"/>
              <a:t>    :</a:t>
            </a:r>
            <a:r>
              <a:rPr lang="en-US" sz="800" dirty="0" err="1"/>
              <a:t>param</a:t>
            </a:r>
            <a:r>
              <a:rPr lang="en-US" sz="800" dirty="0"/>
              <a:t>: client's DHM public key</a:t>
            </a:r>
          </a:p>
          <a:p>
            <a:r>
              <a:rPr lang="en-US" sz="800" dirty="0"/>
              <a:t>    :return: string according to the specification</a:t>
            </a:r>
          </a:p>
          <a:p>
            <a:r>
              <a:rPr lang="en-US" sz="800" dirty="0"/>
              <a:t>    """</a:t>
            </a:r>
          </a:p>
          <a:p>
            <a:r>
              <a:rPr lang="en-US" sz="800" dirty="0"/>
              <a:t>    return "DHMKE:" + </a:t>
            </a:r>
            <a:r>
              <a:rPr lang="en-US" sz="800" dirty="0" err="1"/>
              <a:t>str</a:t>
            </a:r>
            <a:r>
              <a:rPr lang="en-US" sz="800" dirty="0"/>
              <a:t>(</a:t>
            </a:r>
            <a:r>
              <a:rPr lang="en-US" sz="800" dirty="0" err="1"/>
              <a:t>public_key</a:t>
            </a:r>
            <a:r>
              <a:rPr lang="en-US" sz="800" dirty="0"/>
              <a:t>)</a:t>
            </a:r>
          </a:p>
          <a:p>
            <a:endParaRPr lang="en-US" sz="800" dirty="0"/>
          </a:p>
          <a:p>
            <a:endParaRPr lang="en-US" sz="800" dirty="0"/>
          </a:p>
          <a:p>
            <a:r>
              <a:rPr lang="en-US" sz="800" dirty="0" err="1"/>
              <a:t>def</a:t>
            </a:r>
            <a:r>
              <a:rPr lang="en-US" sz="800" dirty="0"/>
              <a:t> </a:t>
            </a:r>
            <a:r>
              <a:rPr lang="en-US" sz="800" dirty="0" err="1"/>
              <a:t>parse_dhm_response</a:t>
            </a:r>
            <a:r>
              <a:rPr lang="en-US" sz="800" dirty="0"/>
              <a:t>(</a:t>
            </a:r>
            <a:r>
              <a:rPr lang="en-US" sz="800" dirty="0" err="1"/>
              <a:t>msg</a:t>
            </a:r>
            <a:r>
              <a:rPr lang="en-US" sz="800" dirty="0"/>
              <a:t>: </a:t>
            </a:r>
            <a:r>
              <a:rPr lang="en-US" sz="800" dirty="0" err="1"/>
              <a:t>str</a:t>
            </a:r>
            <a:r>
              <a:rPr lang="en-US" sz="800" dirty="0"/>
              <a:t>) -&gt; </a:t>
            </a:r>
            <a:r>
              <a:rPr lang="en-US" sz="800" dirty="0" err="1"/>
              <a:t>int</a:t>
            </a:r>
            <a:r>
              <a:rPr lang="en-US" sz="800" dirty="0"/>
              <a:t>:</a:t>
            </a:r>
          </a:p>
          <a:p>
            <a:r>
              <a:rPr lang="en-US" sz="800" dirty="0"/>
              <a:t>    """Parse server's DHM key exchange request</a:t>
            </a:r>
          </a:p>
          <a:p>
            <a:endParaRPr lang="en-US" sz="800" dirty="0"/>
          </a:p>
          <a:p>
            <a:r>
              <a:rPr lang="en-US" sz="800" dirty="0"/>
              <a:t>    :</a:t>
            </a:r>
            <a:r>
              <a:rPr lang="en-US" sz="800" dirty="0" err="1"/>
              <a:t>param</a:t>
            </a:r>
            <a:r>
              <a:rPr lang="en-US" sz="800" dirty="0"/>
              <a:t> </a:t>
            </a:r>
            <a:r>
              <a:rPr lang="en-US" sz="800" dirty="0" err="1"/>
              <a:t>msg</a:t>
            </a:r>
            <a:r>
              <a:rPr lang="en-US" sz="800" dirty="0"/>
              <a:t>: server's DHMKE message</a:t>
            </a:r>
          </a:p>
          <a:p>
            <a:r>
              <a:rPr lang="en-US" sz="800" dirty="0"/>
              <a:t>    :return: number in the server's message</a:t>
            </a:r>
          </a:p>
          <a:p>
            <a:r>
              <a:rPr lang="en-US" sz="800" dirty="0"/>
              <a:t>    """</a:t>
            </a:r>
          </a:p>
          <a:p>
            <a:r>
              <a:rPr lang="en-US" sz="800" dirty="0"/>
              <a:t>    return </a:t>
            </a:r>
            <a:r>
              <a:rPr lang="en-US" sz="800" dirty="0" err="1"/>
              <a:t>int</a:t>
            </a:r>
            <a:r>
              <a:rPr lang="en-US" sz="800" dirty="0"/>
              <a:t>(</a:t>
            </a:r>
            <a:r>
              <a:rPr lang="en-US" sz="800" dirty="0" err="1"/>
              <a:t>msg.split</a:t>
            </a:r>
            <a:r>
              <a:rPr lang="en-US" sz="800" dirty="0"/>
              <a:t>(':')[1])</a:t>
            </a:r>
          </a:p>
          <a:p>
            <a:endParaRPr lang="en-US" sz="800" dirty="0"/>
          </a:p>
          <a:p>
            <a:endParaRPr lang="en-US" sz="800" dirty="0"/>
          </a:p>
          <a:p>
            <a:r>
              <a:rPr lang="en-US" sz="800" dirty="0" err="1"/>
              <a:t>def</a:t>
            </a:r>
            <a:r>
              <a:rPr lang="en-US" sz="800" dirty="0"/>
              <a:t> </a:t>
            </a:r>
            <a:r>
              <a:rPr lang="en-US" sz="800" dirty="0" err="1"/>
              <a:t>get_key_and_iv</a:t>
            </a:r>
            <a:r>
              <a:rPr lang="en-US" sz="800" dirty="0"/>
              <a:t>(</a:t>
            </a:r>
          </a:p>
          <a:p>
            <a:r>
              <a:rPr lang="en-US" sz="800" dirty="0"/>
              <a:t>    </a:t>
            </a:r>
            <a:r>
              <a:rPr lang="en-US" sz="800" dirty="0" err="1"/>
              <a:t>shared_key</a:t>
            </a:r>
            <a:r>
              <a:rPr lang="en-US" sz="800" dirty="0"/>
              <a:t>: </a:t>
            </a:r>
            <a:r>
              <a:rPr lang="en-US" sz="800" dirty="0" err="1"/>
              <a:t>str</a:t>
            </a:r>
            <a:r>
              <a:rPr lang="en-US" sz="800" dirty="0"/>
              <a:t>, </a:t>
            </a:r>
            <a:r>
              <a:rPr lang="en-US" sz="800" dirty="0" err="1"/>
              <a:t>cipher_name</a:t>
            </a:r>
            <a:r>
              <a:rPr lang="en-US" sz="800" dirty="0"/>
              <a:t>: </a:t>
            </a:r>
            <a:r>
              <a:rPr lang="en-US" sz="800" dirty="0" err="1"/>
              <a:t>str</a:t>
            </a:r>
            <a:r>
              <a:rPr lang="en-US" sz="800" dirty="0"/>
              <a:t>, </a:t>
            </a:r>
            <a:r>
              <a:rPr lang="en-US" sz="800" dirty="0" err="1"/>
              <a:t>key_size</a:t>
            </a:r>
            <a:r>
              <a:rPr lang="en-US" sz="800" dirty="0"/>
              <a:t>: </a:t>
            </a:r>
            <a:r>
              <a:rPr lang="en-US" sz="800" dirty="0" err="1"/>
              <a:t>int</a:t>
            </a:r>
            <a:endParaRPr lang="en-US" sz="800" dirty="0"/>
          </a:p>
          <a:p>
            <a:r>
              <a:rPr lang="en-US" sz="800" dirty="0"/>
              <a:t>) -&gt; Tuple[object, bytes, bytes]:</a:t>
            </a:r>
          </a:p>
          <a:p>
            <a:r>
              <a:rPr lang="en-US" sz="800" dirty="0"/>
              <a:t>    """Get key and IV from the generated shared secret key</a:t>
            </a:r>
          </a:p>
          <a:p>
            <a:endParaRPr lang="en-US" sz="800" dirty="0"/>
          </a:p>
          <a:p>
            <a:r>
              <a:rPr lang="en-US" sz="800" dirty="0"/>
              <a:t>    :</a:t>
            </a:r>
            <a:r>
              <a:rPr lang="en-US" sz="800" dirty="0" err="1"/>
              <a:t>param</a:t>
            </a:r>
            <a:r>
              <a:rPr lang="en-US" sz="800" dirty="0"/>
              <a:t> </a:t>
            </a:r>
            <a:r>
              <a:rPr lang="en-US" sz="800" dirty="0" err="1"/>
              <a:t>shared_key</a:t>
            </a:r>
            <a:r>
              <a:rPr lang="en-US" sz="800" dirty="0"/>
              <a:t>: shared key as computed by `</a:t>
            </a:r>
            <a:r>
              <a:rPr lang="en-US" sz="800" dirty="0" err="1"/>
              <a:t>diffiehellman</a:t>
            </a:r>
            <a:r>
              <a:rPr lang="en-US" sz="800" dirty="0"/>
              <a:t>`</a:t>
            </a:r>
          </a:p>
          <a:p>
            <a:r>
              <a:rPr lang="en-US" sz="800" dirty="0"/>
              <a:t>    :</a:t>
            </a:r>
            <a:r>
              <a:rPr lang="en-US" sz="800" dirty="0" err="1"/>
              <a:t>param</a:t>
            </a:r>
            <a:r>
              <a:rPr lang="en-US" sz="800" dirty="0"/>
              <a:t> </a:t>
            </a:r>
            <a:r>
              <a:rPr lang="en-US" sz="800" dirty="0" err="1"/>
              <a:t>cipher_name</a:t>
            </a:r>
            <a:r>
              <a:rPr lang="en-US" sz="800" dirty="0"/>
              <a:t>: negotiated cipher's name</a:t>
            </a:r>
          </a:p>
          <a:p>
            <a:r>
              <a:rPr lang="en-US" sz="800" dirty="0"/>
              <a:t>    :</a:t>
            </a:r>
            <a:r>
              <a:rPr lang="en-US" sz="800" dirty="0" err="1"/>
              <a:t>param</a:t>
            </a:r>
            <a:r>
              <a:rPr lang="en-US" sz="800" dirty="0"/>
              <a:t> </a:t>
            </a:r>
            <a:r>
              <a:rPr lang="en-US" sz="800" dirty="0" err="1"/>
              <a:t>key_size</a:t>
            </a:r>
            <a:r>
              <a:rPr lang="en-US" sz="800" dirty="0"/>
              <a:t>: negotiated key size</a:t>
            </a:r>
          </a:p>
          <a:p>
            <a:r>
              <a:rPr lang="en-US" sz="800" dirty="0"/>
              <a:t>    :return: (cipher, key, IV) tuple</a:t>
            </a:r>
          </a:p>
          <a:p>
            <a:r>
              <a:rPr lang="en-US" sz="800" dirty="0"/>
              <a:t>    </a:t>
            </a:r>
            <a:r>
              <a:rPr lang="en-US" sz="800" dirty="0" err="1"/>
              <a:t>cipher_name</a:t>
            </a:r>
            <a:r>
              <a:rPr lang="en-US" sz="800" dirty="0"/>
              <a:t> must be mapped to a </a:t>
            </a:r>
            <a:r>
              <a:rPr lang="en-US" sz="800" dirty="0" err="1"/>
              <a:t>Crypto.Cipher</a:t>
            </a:r>
            <a:r>
              <a:rPr lang="en-US" sz="800" dirty="0"/>
              <a:t> object</a:t>
            </a:r>
          </a:p>
          <a:p>
            <a:r>
              <a:rPr lang="en-US" sz="800" dirty="0"/>
              <a:t>    `key` is the *first* `</a:t>
            </a:r>
            <a:r>
              <a:rPr lang="en-US" sz="800" dirty="0" err="1"/>
              <a:t>key_size</a:t>
            </a:r>
            <a:r>
              <a:rPr lang="en-US" sz="800" dirty="0"/>
              <a:t>` bytes of the `</a:t>
            </a:r>
            <a:r>
              <a:rPr lang="en-US" sz="800" dirty="0" err="1"/>
              <a:t>shared_key</a:t>
            </a:r>
            <a:r>
              <a:rPr lang="en-US" sz="800" dirty="0"/>
              <a:t>`</a:t>
            </a:r>
          </a:p>
          <a:p>
            <a:r>
              <a:rPr lang="en-US" sz="800" dirty="0"/>
              <a:t>    DES key must be padded to 64 bits with 0</a:t>
            </a:r>
          </a:p>
          <a:p>
            <a:r>
              <a:rPr lang="en-US" sz="800" dirty="0"/>
              <a:t>    Length `</a:t>
            </a:r>
            <a:r>
              <a:rPr lang="en-US" sz="800" dirty="0" err="1"/>
              <a:t>ivlen</a:t>
            </a:r>
            <a:r>
              <a:rPr lang="en-US" sz="800" dirty="0"/>
              <a:t>` of IV depends on a cipher</a:t>
            </a:r>
          </a:p>
          <a:p>
            <a:r>
              <a:rPr lang="en-US" sz="800" dirty="0"/>
              <a:t>    `iv` is the *last* `</a:t>
            </a:r>
            <a:r>
              <a:rPr lang="en-US" sz="800" dirty="0" err="1"/>
              <a:t>ivlen</a:t>
            </a:r>
            <a:r>
              <a:rPr lang="en-US" sz="800" dirty="0"/>
              <a:t>` bytes of the shared key</a:t>
            </a:r>
          </a:p>
          <a:p>
            <a:r>
              <a:rPr lang="en-US" sz="800" dirty="0"/>
              <a:t>    Both key and IV must be returned as bytes</a:t>
            </a:r>
          </a:p>
          <a:p>
            <a:r>
              <a:rPr lang="en-US" sz="800" dirty="0"/>
              <a:t>    """</a:t>
            </a:r>
          </a:p>
          <a:p>
            <a:endParaRPr lang="en-US" sz="800" dirty="0"/>
          </a:p>
          <a:p>
            <a:r>
              <a:rPr lang="en-US" sz="800" dirty="0"/>
              <a:t>    </a:t>
            </a:r>
            <a:r>
              <a:rPr lang="en-US" sz="800" dirty="0" err="1"/>
              <a:t>cipher_map</a:t>
            </a:r>
            <a:r>
              <a:rPr lang="en-US" sz="800" dirty="0"/>
              <a:t> = {</a:t>
            </a:r>
          </a:p>
          <a:p>
            <a:r>
              <a:rPr lang="en-US" sz="800" dirty="0"/>
              <a:t>        "DES": DES, "AES": AES, "Blowfish": Blowfish</a:t>
            </a:r>
          </a:p>
          <a:p>
            <a:r>
              <a:rPr lang="en-US" sz="800" dirty="0"/>
              <a:t>    }</a:t>
            </a:r>
          </a:p>
          <a:p>
            <a:endParaRPr lang="en-US" sz="800" dirty="0"/>
          </a:p>
          <a:p>
            <a:r>
              <a:rPr lang="en-US" sz="800" dirty="0"/>
              <a:t>    </a:t>
            </a:r>
            <a:r>
              <a:rPr lang="en-US" sz="800" dirty="0" err="1"/>
              <a:t>ivlen</a:t>
            </a:r>
            <a:r>
              <a:rPr lang="en-US" sz="800" dirty="0"/>
              <a:t> = {</a:t>
            </a:r>
          </a:p>
          <a:p>
            <a:r>
              <a:rPr lang="en-US" sz="800" dirty="0"/>
              <a:t>        "DES": 8, "AES": 16, "Blowfish": 8</a:t>
            </a:r>
          </a:p>
          <a:p>
            <a:r>
              <a:rPr lang="en-US" sz="800" dirty="0"/>
              <a:t>    }</a:t>
            </a:r>
          </a:p>
          <a:p>
            <a:endParaRPr lang="en-US" sz="800" dirty="0"/>
          </a:p>
          <a:p>
            <a:r>
              <a:rPr lang="en-US" sz="800" dirty="0"/>
              <a:t>    cipher = </a:t>
            </a:r>
            <a:r>
              <a:rPr lang="en-US" sz="800" dirty="0" err="1"/>
              <a:t>cipher_map.get</a:t>
            </a:r>
            <a:r>
              <a:rPr lang="en-US" sz="800" dirty="0"/>
              <a:t>(</a:t>
            </a:r>
            <a:r>
              <a:rPr lang="en-US" sz="800" dirty="0" err="1"/>
              <a:t>cipher_name</a:t>
            </a:r>
            <a:r>
              <a:rPr lang="en-US" sz="800" dirty="0"/>
              <a:t>)</a:t>
            </a:r>
          </a:p>
          <a:p>
            <a:r>
              <a:rPr lang="en-US" sz="800" dirty="0"/>
              <a:t>    key = </a:t>
            </a:r>
            <a:r>
              <a:rPr lang="en-US" sz="800" dirty="0" err="1"/>
              <a:t>shared_key</a:t>
            </a:r>
            <a:r>
              <a:rPr lang="en-US" sz="800" dirty="0"/>
              <a:t>[:</a:t>
            </a:r>
            <a:r>
              <a:rPr lang="en-US" sz="800" dirty="0" err="1"/>
              <a:t>key_size</a:t>
            </a:r>
            <a:r>
              <a:rPr lang="en-US" sz="800" dirty="0"/>
              <a:t>//8]</a:t>
            </a:r>
          </a:p>
          <a:p>
            <a:r>
              <a:rPr lang="en-US" sz="800" dirty="0"/>
              <a:t>    if </a:t>
            </a:r>
            <a:r>
              <a:rPr lang="en-US" sz="800" dirty="0" err="1"/>
              <a:t>cipher_name</a:t>
            </a:r>
            <a:r>
              <a:rPr lang="en-US" sz="800" dirty="0"/>
              <a:t> == "DES":</a:t>
            </a:r>
          </a:p>
          <a:p>
            <a:r>
              <a:rPr lang="en-US" sz="800" dirty="0"/>
              <a:t>        key += '\0'</a:t>
            </a:r>
          </a:p>
          <a:p>
            <a:r>
              <a:rPr lang="en-US" sz="800" dirty="0"/>
              <a:t>    key = </a:t>
            </a:r>
            <a:r>
              <a:rPr lang="en-US" sz="800" dirty="0" err="1"/>
              <a:t>key.encode</a:t>
            </a:r>
            <a:r>
              <a:rPr lang="en-US" sz="800" dirty="0"/>
              <a:t>()</a:t>
            </a:r>
          </a:p>
          <a:p>
            <a:r>
              <a:rPr lang="en-US" sz="800" dirty="0"/>
              <a:t>    iv = </a:t>
            </a:r>
            <a:r>
              <a:rPr lang="en-US" sz="800" dirty="0" err="1"/>
              <a:t>shared_key</a:t>
            </a:r>
            <a:r>
              <a:rPr lang="en-US" sz="800" dirty="0"/>
              <a:t>[-1 * </a:t>
            </a:r>
            <a:r>
              <a:rPr lang="en-US" sz="800" dirty="0" err="1"/>
              <a:t>ivlen.get</a:t>
            </a:r>
            <a:r>
              <a:rPr lang="en-US" sz="800" dirty="0"/>
              <a:t>(</a:t>
            </a:r>
            <a:r>
              <a:rPr lang="en-US" sz="800" dirty="0" err="1"/>
              <a:t>cipher_name</a:t>
            </a:r>
            <a:r>
              <a:rPr lang="en-US" sz="800" dirty="0"/>
              <a:t>):].encode()</a:t>
            </a:r>
          </a:p>
          <a:p>
            <a:endParaRPr lang="en-US" sz="800" dirty="0"/>
          </a:p>
          <a:p>
            <a:r>
              <a:rPr lang="en-US" sz="800" dirty="0"/>
              <a:t>    return cipher, key, iv</a:t>
            </a:r>
          </a:p>
          <a:p>
            <a:endParaRPr lang="en-US" sz="800" dirty="0"/>
          </a:p>
          <a:p>
            <a:endParaRPr lang="en-US" sz="800" dirty="0"/>
          </a:p>
          <a:p>
            <a:r>
              <a:rPr lang="en-US" sz="800" dirty="0" err="1"/>
              <a:t>def</a:t>
            </a:r>
            <a:r>
              <a:rPr lang="en-US" sz="800" dirty="0"/>
              <a:t> </a:t>
            </a:r>
            <a:r>
              <a:rPr lang="en-US" sz="800" dirty="0" err="1"/>
              <a:t>add_padding</a:t>
            </a:r>
            <a:r>
              <a:rPr lang="en-US" sz="800" dirty="0"/>
              <a:t>(message: </a:t>
            </a:r>
            <a:r>
              <a:rPr lang="en-US" sz="800" dirty="0" err="1"/>
              <a:t>str</a:t>
            </a:r>
            <a:r>
              <a:rPr lang="en-US" sz="800" dirty="0"/>
              <a:t>) -&gt; </a:t>
            </a:r>
            <a:r>
              <a:rPr lang="en-US" sz="800" dirty="0" err="1"/>
              <a:t>str</a:t>
            </a:r>
            <a:r>
              <a:rPr lang="en-US" sz="800" dirty="0"/>
              <a:t>:</a:t>
            </a:r>
          </a:p>
          <a:p>
            <a:r>
              <a:rPr lang="en-US" sz="800" dirty="0"/>
              <a:t>    """Add padding (0x0) to the message to make its length a multiple of 16</a:t>
            </a:r>
          </a:p>
          <a:p>
            <a:endParaRPr lang="en-US" sz="800" dirty="0"/>
          </a:p>
          <a:p>
            <a:r>
              <a:rPr lang="en-US" sz="800" dirty="0"/>
              <a:t>    :</a:t>
            </a:r>
            <a:r>
              <a:rPr lang="en-US" sz="800" dirty="0" err="1"/>
              <a:t>param</a:t>
            </a:r>
            <a:r>
              <a:rPr lang="en-US" sz="800" dirty="0"/>
              <a:t> message: message to pad</a:t>
            </a:r>
          </a:p>
          <a:p>
            <a:r>
              <a:rPr lang="en-US" sz="800" dirty="0"/>
              <a:t>    :return: padded message</a:t>
            </a:r>
          </a:p>
          <a:p>
            <a:r>
              <a:rPr lang="en-US" sz="800" dirty="0"/>
              <a:t>    """</a:t>
            </a:r>
          </a:p>
          <a:p>
            <a:endParaRPr lang="en-US" sz="800" dirty="0"/>
          </a:p>
          <a:p>
            <a:r>
              <a:rPr lang="en-US" sz="800" dirty="0"/>
              <a:t>    padding = </a:t>
            </a:r>
            <a:r>
              <a:rPr lang="en-US" sz="800" dirty="0" err="1"/>
              <a:t>len</a:t>
            </a:r>
            <a:r>
              <a:rPr lang="en-US" sz="800" dirty="0"/>
              <a:t>(message)</a:t>
            </a:r>
          </a:p>
          <a:p>
            <a:r>
              <a:rPr lang="en-US" sz="800" dirty="0"/>
              <a:t>    while padding % 16 != 0:</a:t>
            </a:r>
          </a:p>
          <a:p>
            <a:r>
              <a:rPr lang="en-US" sz="800" dirty="0"/>
              <a:t>        padding += 1</a:t>
            </a:r>
          </a:p>
          <a:p>
            <a:r>
              <a:rPr lang="en-US" sz="800" dirty="0"/>
              <a:t>    padding -= </a:t>
            </a:r>
            <a:r>
              <a:rPr lang="en-US" sz="800" dirty="0" err="1"/>
              <a:t>len</a:t>
            </a:r>
            <a:r>
              <a:rPr lang="en-US" sz="800" dirty="0"/>
              <a:t>(message)</a:t>
            </a:r>
          </a:p>
          <a:p>
            <a:r>
              <a:rPr lang="en-US" sz="800" dirty="0"/>
              <a:t>    return message + '\0' * padding</a:t>
            </a:r>
          </a:p>
          <a:p>
            <a:endParaRPr lang="en-US" sz="800" dirty="0"/>
          </a:p>
          <a:p>
            <a:endParaRPr lang="en-US" sz="800" dirty="0"/>
          </a:p>
          <a:p>
            <a:r>
              <a:rPr lang="en-US" sz="800" dirty="0" err="1"/>
              <a:t>def</a:t>
            </a:r>
            <a:r>
              <a:rPr lang="en-US" sz="800" dirty="0"/>
              <a:t> </a:t>
            </a:r>
            <a:r>
              <a:rPr lang="en-US" sz="800" dirty="0" err="1"/>
              <a:t>encrypt_message</a:t>
            </a:r>
            <a:r>
              <a:rPr lang="en-US" sz="800" dirty="0"/>
              <a:t>(message: </a:t>
            </a:r>
            <a:r>
              <a:rPr lang="en-US" sz="800" dirty="0" err="1"/>
              <a:t>str</a:t>
            </a:r>
            <a:r>
              <a:rPr lang="en-US" sz="800" dirty="0"/>
              <a:t>, crypto: object, hashing: object) -&gt; Tuple[bytes, </a:t>
            </a:r>
            <a:r>
              <a:rPr lang="en-US" sz="800" dirty="0" err="1"/>
              <a:t>str</a:t>
            </a:r>
            <a:r>
              <a:rPr lang="en-US" sz="800" dirty="0"/>
              <a:t>]:</a:t>
            </a:r>
          </a:p>
          <a:p>
            <a:r>
              <a:rPr lang="en-US" sz="800" dirty="0"/>
              <a:t>    """</a:t>
            </a:r>
          </a:p>
          <a:p>
            <a:r>
              <a:rPr lang="en-US" sz="800" dirty="0"/>
              <a:t>    Encrypt the message</a:t>
            </a:r>
          </a:p>
          <a:p>
            <a:endParaRPr lang="en-US" sz="800" dirty="0"/>
          </a:p>
          <a:p>
            <a:r>
              <a:rPr lang="en-US" sz="800" dirty="0"/>
              <a:t>    :</a:t>
            </a:r>
            <a:r>
              <a:rPr lang="en-US" sz="800" dirty="0" err="1"/>
              <a:t>param</a:t>
            </a:r>
            <a:r>
              <a:rPr lang="en-US" sz="800" dirty="0"/>
              <a:t> message: plaintext to encrypt</a:t>
            </a:r>
          </a:p>
          <a:p>
            <a:r>
              <a:rPr lang="en-US" sz="800" dirty="0"/>
              <a:t>    :</a:t>
            </a:r>
            <a:r>
              <a:rPr lang="en-US" sz="800" dirty="0" err="1"/>
              <a:t>param</a:t>
            </a:r>
            <a:r>
              <a:rPr lang="en-US" sz="800" dirty="0"/>
              <a:t> crypto: chosen cipher, must be initialized in the `main`</a:t>
            </a:r>
          </a:p>
          <a:p>
            <a:r>
              <a:rPr lang="en-US" sz="800" dirty="0"/>
              <a:t>    :</a:t>
            </a:r>
            <a:r>
              <a:rPr lang="en-US" sz="800" dirty="0" err="1"/>
              <a:t>param</a:t>
            </a:r>
            <a:r>
              <a:rPr lang="en-US" sz="800" dirty="0"/>
              <a:t> hashing: hashing object, must be initialized in the `main`</a:t>
            </a:r>
          </a:p>
          <a:p>
            <a:r>
              <a:rPr lang="en-US" sz="800" dirty="0"/>
              <a:t>    :return: (</a:t>
            </a:r>
            <a:r>
              <a:rPr lang="en-US" sz="800" dirty="0" err="1"/>
              <a:t>ciphertext</a:t>
            </a:r>
            <a:r>
              <a:rPr lang="en-US" sz="800" dirty="0"/>
              <a:t>, </a:t>
            </a:r>
            <a:r>
              <a:rPr lang="en-US" sz="800" dirty="0" err="1"/>
              <a:t>hmac</a:t>
            </a:r>
            <a:r>
              <a:rPr lang="en-US" sz="800" dirty="0"/>
              <a:t>) tuple</a:t>
            </a:r>
          </a:p>
          <a:p>
            <a:endParaRPr lang="en-US" sz="800" dirty="0"/>
          </a:p>
          <a:p>
            <a:r>
              <a:rPr lang="en-US" sz="800" dirty="0"/>
              <a:t>    1. Pad the message, if necessary</a:t>
            </a:r>
          </a:p>
          <a:p>
            <a:r>
              <a:rPr lang="en-US" sz="800" dirty="0"/>
              <a:t>    2. Encrypt using cipher `crypto`</a:t>
            </a:r>
          </a:p>
          <a:p>
            <a:r>
              <a:rPr lang="en-US" sz="800" dirty="0"/>
              <a:t>    3. Compute HMAC using `hashing`</a:t>
            </a:r>
          </a:p>
          <a:p>
            <a:r>
              <a:rPr lang="en-US" sz="800" dirty="0"/>
              <a:t>    """</a:t>
            </a:r>
          </a:p>
          <a:p>
            <a:endParaRPr lang="en-US" sz="800" dirty="0"/>
          </a:p>
          <a:p>
            <a:r>
              <a:rPr lang="en-US" sz="800" dirty="0"/>
              <a:t>    message = </a:t>
            </a:r>
            <a:r>
              <a:rPr lang="en-US" sz="800" dirty="0" err="1"/>
              <a:t>add_padding</a:t>
            </a:r>
            <a:r>
              <a:rPr lang="en-US" sz="800" dirty="0"/>
              <a:t>(message)</a:t>
            </a:r>
          </a:p>
          <a:p>
            <a:r>
              <a:rPr lang="en-US" sz="800" dirty="0"/>
              <a:t>    </a:t>
            </a:r>
            <a:r>
              <a:rPr lang="en-US" sz="800" dirty="0" err="1"/>
              <a:t>ciphertext</a:t>
            </a:r>
            <a:r>
              <a:rPr lang="en-US" sz="800" dirty="0"/>
              <a:t> = </a:t>
            </a:r>
            <a:r>
              <a:rPr lang="en-US" sz="800" dirty="0" err="1"/>
              <a:t>crypto.encrypt</a:t>
            </a:r>
            <a:r>
              <a:rPr lang="en-US" sz="800" dirty="0"/>
              <a:t>(message)</a:t>
            </a:r>
          </a:p>
          <a:p>
            <a:r>
              <a:rPr lang="en-US" sz="800" dirty="0"/>
              <a:t>    </a:t>
            </a:r>
            <a:r>
              <a:rPr lang="en-US" sz="800" dirty="0" err="1"/>
              <a:t>hashing.update</a:t>
            </a:r>
            <a:r>
              <a:rPr lang="en-US" sz="800" dirty="0"/>
              <a:t>(</a:t>
            </a:r>
            <a:r>
              <a:rPr lang="en-US" sz="800" dirty="0" err="1"/>
              <a:t>ciphertext</a:t>
            </a:r>
            <a:r>
              <a:rPr lang="en-US" sz="800" dirty="0"/>
              <a:t>)</a:t>
            </a:r>
          </a:p>
          <a:p>
            <a:r>
              <a:rPr lang="en-US" sz="800" dirty="0"/>
              <a:t>    </a:t>
            </a:r>
            <a:r>
              <a:rPr lang="en-US" sz="800" dirty="0" err="1"/>
              <a:t>hashvalue</a:t>
            </a:r>
            <a:r>
              <a:rPr lang="en-US" sz="800" dirty="0"/>
              <a:t> = </a:t>
            </a:r>
            <a:r>
              <a:rPr lang="en-US" sz="800" dirty="0" err="1"/>
              <a:t>hashing.hexdigest</a:t>
            </a:r>
            <a:r>
              <a:rPr lang="en-US" sz="800" dirty="0"/>
              <a:t>()</a:t>
            </a:r>
          </a:p>
          <a:p>
            <a:r>
              <a:rPr lang="en-US" sz="800" dirty="0"/>
              <a:t>    return </a:t>
            </a:r>
            <a:r>
              <a:rPr lang="en-US" sz="800" dirty="0" err="1"/>
              <a:t>ciphertext</a:t>
            </a:r>
            <a:r>
              <a:rPr lang="en-US" sz="800" dirty="0"/>
              <a:t>, </a:t>
            </a:r>
            <a:r>
              <a:rPr lang="en-US" sz="800" dirty="0" err="1"/>
              <a:t>hashvalue</a:t>
            </a:r>
            <a:endParaRPr lang="en-US" sz="800" dirty="0"/>
          </a:p>
          <a:p>
            <a:endParaRPr lang="en-US" sz="800" dirty="0"/>
          </a:p>
          <a:p>
            <a:endParaRPr lang="en-US" sz="800" dirty="0"/>
          </a:p>
          <a:p>
            <a:r>
              <a:rPr lang="en-US" sz="800" dirty="0" err="1"/>
              <a:t>def</a:t>
            </a:r>
            <a:r>
              <a:rPr lang="en-US" sz="800" dirty="0"/>
              <a:t> main():</a:t>
            </a:r>
          </a:p>
          <a:p>
            <a:r>
              <a:rPr lang="en-US" sz="800" dirty="0"/>
              <a:t>    """Main event loop</a:t>
            </a:r>
          </a:p>
          <a:p>
            <a:endParaRPr lang="en-US" sz="800" dirty="0"/>
          </a:p>
          <a:p>
            <a:r>
              <a:rPr lang="en-US" sz="800" dirty="0"/>
              <a:t>    See vpn.md for details</a:t>
            </a:r>
          </a:p>
          <a:p>
            <a:r>
              <a:rPr lang="en-US" sz="800" dirty="0"/>
              <a:t>    """</a:t>
            </a:r>
          </a:p>
          <a:p>
            <a:endParaRPr lang="en-US" sz="800" dirty="0"/>
          </a:p>
          <a:p>
            <a:r>
              <a:rPr lang="en-US" sz="800" dirty="0"/>
              <a:t>    # Start the server</a:t>
            </a:r>
          </a:p>
          <a:p>
            <a:r>
              <a:rPr lang="en-US" sz="800" dirty="0"/>
              <a:t>    </a:t>
            </a:r>
            <a:r>
              <a:rPr lang="en-US" sz="800" dirty="0" err="1"/>
              <a:t>client_sckt</a:t>
            </a:r>
            <a:r>
              <a:rPr lang="en-US" sz="800" dirty="0"/>
              <a:t> = socket(AF_INET, SOCK_STREAM)</a:t>
            </a:r>
          </a:p>
          <a:p>
            <a:r>
              <a:rPr lang="en-US" sz="800" dirty="0"/>
              <a:t>    </a:t>
            </a:r>
            <a:r>
              <a:rPr lang="en-US" sz="800" dirty="0" err="1"/>
              <a:t>client_sckt.connect</a:t>
            </a:r>
            <a:r>
              <a:rPr lang="en-US" sz="800" dirty="0"/>
              <a:t>((HOST, PORT))</a:t>
            </a:r>
          </a:p>
          <a:p>
            <a:r>
              <a:rPr lang="en-US" sz="800" dirty="0"/>
              <a:t>    print(</a:t>
            </a:r>
            <a:r>
              <a:rPr lang="en-US" sz="800" dirty="0" err="1"/>
              <a:t>f"Connected</a:t>
            </a:r>
            <a:r>
              <a:rPr lang="en-US" sz="800" dirty="0"/>
              <a:t> to {HOST}:{PORT}")</a:t>
            </a:r>
          </a:p>
          <a:p>
            <a:endParaRPr lang="en-US" sz="800" dirty="0"/>
          </a:p>
          <a:p>
            <a:r>
              <a:rPr lang="en-US" sz="800" dirty="0"/>
              <a:t>    # Negotiating the cipher</a:t>
            </a:r>
          </a:p>
          <a:p>
            <a:r>
              <a:rPr lang="en-US" sz="800" dirty="0"/>
              <a:t>    print("Negotiating the cipher")</a:t>
            </a:r>
          </a:p>
          <a:p>
            <a:r>
              <a:rPr lang="en-US" sz="800" dirty="0"/>
              <a:t>    # Send proposal to the server</a:t>
            </a:r>
          </a:p>
          <a:p>
            <a:r>
              <a:rPr lang="en-US" sz="800" dirty="0"/>
              <a:t>    </a:t>
            </a:r>
            <a:r>
              <a:rPr lang="en-US" sz="800" dirty="0" err="1"/>
              <a:t>msg_out</a:t>
            </a:r>
            <a:r>
              <a:rPr lang="en-US" sz="800" dirty="0"/>
              <a:t> = </a:t>
            </a:r>
            <a:r>
              <a:rPr lang="en-US" sz="800" dirty="0" err="1"/>
              <a:t>generate_cipher_proposal</a:t>
            </a:r>
            <a:r>
              <a:rPr lang="en-US" sz="800" dirty="0"/>
              <a:t>(SUPPORTED_CIPHERS)</a:t>
            </a:r>
          </a:p>
          <a:p>
            <a:r>
              <a:rPr lang="en-US" sz="800" dirty="0"/>
              <a:t>    </a:t>
            </a:r>
            <a:r>
              <a:rPr lang="en-US" sz="800" dirty="0" err="1"/>
              <a:t>client_sckt.send</a:t>
            </a:r>
            <a:r>
              <a:rPr lang="en-US" sz="800" dirty="0"/>
              <a:t>(</a:t>
            </a:r>
            <a:r>
              <a:rPr lang="en-US" sz="800" dirty="0" err="1"/>
              <a:t>msg_out.encode</a:t>
            </a:r>
            <a:r>
              <a:rPr lang="en-US" sz="800" dirty="0"/>
              <a:t>())</a:t>
            </a:r>
          </a:p>
          <a:p>
            <a:r>
              <a:rPr lang="en-US" sz="800" dirty="0"/>
              <a:t>    </a:t>
            </a:r>
            <a:r>
              <a:rPr lang="en-US" sz="800" dirty="0" err="1"/>
              <a:t>msg_in</a:t>
            </a:r>
            <a:r>
              <a:rPr lang="en-US" sz="800" dirty="0"/>
              <a:t> = </a:t>
            </a:r>
            <a:r>
              <a:rPr lang="en-US" sz="800" dirty="0" err="1"/>
              <a:t>client_sckt.recv</a:t>
            </a:r>
            <a:r>
              <a:rPr lang="en-US" sz="800" dirty="0"/>
              <a:t>(4096).decode('utf-8')</a:t>
            </a:r>
          </a:p>
          <a:p>
            <a:r>
              <a:rPr lang="en-US" sz="800" dirty="0"/>
              <a:t>    </a:t>
            </a:r>
            <a:r>
              <a:rPr lang="en-US" sz="800" dirty="0" err="1"/>
              <a:t>cipher_name</a:t>
            </a:r>
            <a:r>
              <a:rPr lang="en-US" sz="800" dirty="0"/>
              <a:t>, </a:t>
            </a:r>
            <a:r>
              <a:rPr lang="en-US" sz="800" dirty="0" err="1"/>
              <a:t>key_size</a:t>
            </a:r>
            <a:r>
              <a:rPr lang="en-US" sz="800" dirty="0"/>
              <a:t> = </a:t>
            </a:r>
            <a:r>
              <a:rPr lang="en-US" sz="800" dirty="0" err="1"/>
              <a:t>parse_cipher_selection</a:t>
            </a:r>
            <a:r>
              <a:rPr lang="en-US" sz="800" dirty="0"/>
              <a:t>(</a:t>
            </a:r>
            <a:r>
              <a:rPr lang="en-US" sz="800" dirty="0" err="1"/>
              <a:t>msg_in</a:t>
            </a:r>
            <a:r>
              <a:rPr lang="en-US" sz="800" dirty="0"/>
              <a:t>)</a:t>
            </a:r>
          </a:p>
          <a:p>
            <a:r>
              <a:rPr lang="en-US" sz="800" dirty="0"/>
              <a:t>    print(</a:t>
            </a:r>
            <a:r>
              <a:rPr lang="en-US" sz="800" dirty="0" err="1"/>
              <a:t>f"We</a:t>
            </a:r>
            <a:r>
              <a:rPr lang="en-US" sz="800" dirty="0"/>
              <a:t> are going to use {</a:t>
            </a:r>
            <a:r>
              <a:rPr lang="en-US" sz="800" dirty="0" err="1"/>
              <a:t>cipher_name</a:t>
            </a:r>
            <a:r>
              <a:rPr lang="en-US" sz="800" dirty="0"/>
              <a:t>}{</a:t>
            </a:r>
            <a:r>
              <a:rPr lang="en-US" sz="800" dirty="0" err="1"/>
              <a:t>key_size</a:t>
            </a:r>
            <a:r>
              <a:rPr lang="en-US" sz="800" dirty="0"/>
              <a:t>}")</a:t>
            </a:r>
          </a:p>
          <a:p>
            <a:endParaRPr lang="en-US" sz="800" dirty="0"/>
          </a:p>
          <a:p>
            <a:r>
              <a:rPr lang="en-US" sz="800" dirty="0"/>
              <a:t>    # Negotiating the key</a:t>
            </a:r>
          </a:p>
          <a:p>
            <a:r>
              <a:rPr lang="en-US" sz="800" dirty="0"/>
              <a:t>    print("Negotiating the key")</a:t>
            </a:r>
          </a:p>
          <a:p>
            <a:r>
              <a:rPr lang="en-US" sz="800" dirty="0"/>
              <a:t>    dh = </a:t>
            </a:r>
            <a:r>
              <a:rPr lang="en-US" sz="800" dirty="0" err="1"/>
              <a:t>DiffieHellman</a:t>
            </a:r>
            <a:r>
              <a:rPr lang="en-US" sz="800" dirty="0"/>
              <a:t>()</a:t>
            </a:r>
          </a:p>
          <a:p>
            <a:r>
              <a:rPr lang="en-US" sz="800" dirty="0"/>
              <a:t>    </a:t>
            </a:r>
            <a:r>
              <a:rPr lang="en-US" sz="800" dirty="0" err="1"/>
              <a:t>dh.generate_public_key</a:t>
            </a:r>
            <a:r>
              <a:rPr lang="en-US" sz="800" dirty="0"/>
              <a:t>()</a:t>
            </a:r>
          </a:p>
          <a:p>
            <a:r>
              <a:rPr lang="en-US" sz="800" dirty="0"/>
              <a:t>    </a:t>
            </a:r>
            <a:r>
              <a:rPr lang="en-US" sz="800" dirty="0" err="1"/>
              <a:t>msg_out</a:t>
            </a:r>
            <a:r>
              <a:rPr lang="en-US" sz="800" dirty="0"/>
              <a:t> = </a:t>
            </a:r>
            <a:r>
              <a:rPr lang="en-US" sz="800" dirty="0" err="1"/>
              <a:t>generate_dhm_request</a:t>
            </a:r>
            <a:r>
              <a:rPr lang="en-US" sz="800" dirty="0"/>
              <a:t>(</a:t>
            </a:r>
            <a:r>
              <a:rPr lang="en-US" sz="800" dirty="0" err="1"/>
              <a:t>dh.public_key</a:t>
            </a:r>
            <a:r>
              <a:rPr lang="en-US" sz="800" dirty="0"/>
              <a:t>)</a:t>
            </a:r>
          </a:p>
          <a:p>
            <a:r>
              <a:rPr lang="en-US" sz="800" dirty="0"/>
              <a:t>    </a:t>
            </a:r>
            <a:r>
              <a:rPr lang="en-US" sz="800" dirty="0" err="1"/>
              <a:t>client_sckt.send</a:t>
            </a:r>
            <a:r>
              <a:rPr lang="en-US" sz="800" dirty="0"/>
              <a:t>(</a:t>
            </a:r>
            <a:r>
              <a:rPr lang="en-US" sz="800" dirty="0" err="1"/>
              <a:t>msg_out.encode</a:t>
            </a:r>
            <a:r>
              <a:rPr lang="en-US" sz="800" dirty="0"/>
              <a:t>())</a:t>
            </a:r>
          </a:p>
          <a:p>
            <a:r>
              <a:rPr lang="en-US" sz="800" dirty="0"/>
              <a:t>    </a:t>
            </a:r>
            <a:r>
              <a:rPr lang="en-US" sz="800" dirty="0" err="1"/>
              <a:t>msg_in</a:t>
            </a:r>
            <a:r>
              <a:rPr lang="en-US" sz="800" dirty="0"/>
              <a:t> = </a:t>
            </a:r>
            <a:r>
              <a:rPr lang="en-US" sz="800" dirty="0" err="1"/>
              <a:t>client_sckt.recv</a:t>
            </a:r>
            <a:r>
              <a:rPr lang="en-US" sz="800" dirty="0"/>
              <a:t>(4096).decode('utf-8')</a:t>
            </a:r>
          </a:p>
          <a:p>
            <a:r>
              <a:rPr lang="en-US" sz="800" dirty="0"/>
              <a:t>    </a:t>
            </a:r>
            <a:r>
              <a:rPr lang="en-US" sz="800" dirty="0" err="1"/>
              <a:t>server_public_key</a:t>
            </a:r>
            <a:r>
              <a:rPr lang="en-US" sz="800" dirty="0"/>
              <a:t> = </a:t>
            </a:r>
            <a:r>
              <a:rPr lang="en-US" sz="800" dirty="0" err="1"/>
              <a:t>parse_dhm_response</a:t>
            </a:r>
            <a:r>
              <a:rPr lang="en-US" sz="800" dirty="0"/>
              <a:t>(</a:t>
            </a:r>
            <a:r>
              <a:rPr lang="en-US" sz="800" dirty="0" err="1"/>
              <a:t>msg_in</a:t>
            </a:r>
            <a:r>
              <a:rPr lang="en-US" sz="800" dirty="0"/>
              <a:t>)</a:t>
            </a:r>
          </a:p>
          <a:p>
            <a:r>
              <a:rPr lang="en-US" sz="800" dirty="0"/>
              <a:t>    </a:t>
            </a:r>
            <a:r>
              <a:rPr lang="en-US" sz="800" dirty="0" err="1"/>
              <a:t>dh.generate_shared_secret</a:t>
            </a:r>
            <a:r>
              <a:rPr lang="en-US" sz="800" dirty="0"/>
              <a:t>(</a:t>
            </a:r>
            <a:r>
              <a:rPr lang="en-US" sz="800" dirty="0" err="1"/>
              <a:t>server_public_key</a:t>
            </a:r>
            <a:r>
              <a:rPr lang="en-US" sz="800" dirty="0"/>
              <a:t>)</a:t>
            </a:r>
          </a:p>
          <a:p>
            <a:r>
              <a:rPr lang="en-US" sz="800" dirty="0"/>
              <a:t>    cipher, key, iv = </a:t>
            </a:r>
            <a:r>
              <a:rPr lang="en-US" sz="800" dirty="0" err="1"/>
              <a:t>get_key_and_iv</a:t>
            </a:r>
            <a:r>
              <a:rPr lang="en-US" sz="800" dirty="0"/>
              <a:t>(</a:t>
            </a:r>
            <a:r>
              <a:rPr lang="en-US" sz="800" dirty="0" err="1"/>
              <a:t>dh.shared_key</a:t>
            </a:r>
            <a:r>
              <a:rPr lang="en-US" sz="800" dirty="0"/>
              <a:t>, </a:t>
            </a:r>
            <a:r>
              <a:rPr lang="en-US" sz="800" dirty="0" err="1"/>
              <a:t>cipher_name</a:t>
            </a:r>
            <a:r>
              <a:rPr lang="en-US" sz="800" dirty="0"/>
              <a:t>, </a:t>
            </a:r>
            <a:r>
              <a:rPr lang="en-US" sz="800" dirty="0" err="1"/>
              <a:t>key_size</a:t>
            </a:r>
            <a:r>
              <a:rPr lang="en-US" sz="800" dirty="0"/>
              <a:t>)</a:t>
            </a:r>
          </a:p>
          <a:p>
            <a:r>
              <a:rPr lang="en-US" sz="800" dirty="0"/>
              <a:t>    print("The key has been established")</a:t>
            </a:r>
          </a:p>
          <a:p>
            <a:endParaRPr lang="en-US" sz="800" dirty="0"/>
          </a:p>
          <a:p>
            <a:r>
              <a:rPr lang="en-US" sz="800" dirty="0"/>
              <a:t>    # Initialize Cryptosystem</a:t>
            </a:r>
          </a:p>
          <a:p>
            <a:r>
              <a:rPr lang="en-US" sz="800" dirty="0"/>
              <a:t>    print("Initializing cryptosystem")</a:t>
            </a:r>
          </a:p>
          <a:p>
            <a:r>
              <a:rPr lang="en-US" sz="800" dirty="0"/>
              <a:t>    crypto = </a:t>
            </a:r>
            <a:r>
              <a:rPr lang="en-US" sz="800" dirty="0" err="1"/>
              <a:t>cipher.new</a:t>
            </a:r>
            <a:r>
              <a:rPr lang="en-US" sz="800" dirty="0"/>
              <a:t>(key, </a:t>
            </a:r>
            <a:r>
              <a:rPr lang="en-US" sz="800" dirty="0" err="1"/>
              <a:t>cipher.MODE_CBC</a:t>
            </a:r>
            <a:r>
              <a:rPr lang="en-US" sz="800" dirty="0"/>
              <a:t>, iv)</a:t>
            </a:r>
          </a:p>
          <a:p>
            <a:r>
              <a:rPr lang="en-US" sz="800" dirty="0"/>
              <a:t>    hashing = </a:t>
            </a:r>
            <a:r>
              <a:rPr lang="en-US" sz="800" dirty="0" err="1"/>
              <a:t>HMAC.new</a:t>
            </a:r>
            <a:r>
              <a:rPr lang="en-US" sz="800" dirty="0"/>
              <a:t>(key, </a:t>
            </a:r>
            <a:r>
              <a:rPr lang="en-US" sz="800" dirty="0" err="1"/>
              <a:t>digestmod</a:t>
            </a:r>
            <a:r>
              <a:rPr lang="en-US" sz="800" dirty="0"/>
              <a:t>=SHA256)</a:t>
            </a:r>
          </a:p>
          <a:p>
            <a:r>
              <a:rPr lang="en-US" sz="800" dirty="0"/>
              <a:t>    print("All systems ready")</a:t>
            </a:r>
          </a:p>
          <a:p>
            <a:endParaRPr lang="en-US" sz="800" dirty="0"/>
          </a:p>
          <a:p>
            <a:r>
              <a:rPr lang="en-US" sz="800" dirty="0"/>
              <a:t>    while True:</a:t>
            </a:r>
          </a:p>
          <a:p>
            <a:r>
              <a:rPr lang="en-US" sz="800" dirty="0"/>
              <a:t>        </a:t>
            </a:r>
            <a:r>
              <a:rPr lang="en-US" sz="800" dirty="0" err="1"/>
              <a:t>msg</a:t>
            </a:r>
            <a:r>
              <a:rPr lang="en-US" sz="800" dirty="0"/>
              <a:t> = input("Enter message: ")</a:t>
            </a:r>
          </a:p>
          <a:p>
            <a:r>
              <a:rPr lang="en-US" sz="800" dirty="0"/>
              <a:t>        if </a:t>
            </a:r>
            <a:r>
              <a:rPr lang="en-US" sz="800" dirty="0" err="1"/>
              <a:t>msg</a:t>
            </a:r>
            <a:r>
              <a:rPr lang="en-US" sz="800" dirty="0"/>
              <a:t> == "\\quit":</a:t>
            </a:r>
          </a:p>
          <a:p>
            <a:r>
              <a:rPr lang="en-US" sz="800" dirty="0"/>
              <a:t>            </a:t>
            </a:r>
            <a:r>
              <a:rPr lang="en-US" sz="800" dirty="0" err="1"/>
              <a:t>client_sckt.close</a:t>
            </a:r>
            <a:r>
              <a:rPr lang="en-US" sz="800" dirty="0"/>
              <a:t>()</a:t>
            </a:r>
          </a:p>
          <a:p>
            <a:r>
              <a:rPr lang="en-US" sz="800" dirty="0"/>
              <a:t>            break</a:t>
            </a:r>
          </a:p>
          <a:p>
            <a:r>
              <a:rPr lang="en-US" sz="800" dirty="0"/>
              <a:t>        </a:t>
            </a:r>
            <a:r>
              <a:rPr lang="en-US" sz="800" dirty="0" err="1"/>
              <a:t>ciph_out</a:t>
            </a:r>
            <a:r>
              <a:rPr lang="en-US" sz="800" dirty="0"/>
              <a:t>, </a:t>
            </a:r>
            <a:r>
              <a:rPr lang="en-US" sz="800" dirty="0" err="1"/>
              <a:t>hmac_out</a:t>
            </a:r>
            <a:r>
              <a:rPr lang="en-US" sz="800" dirty="0"/>
              <a:t> = </a:t>
            </a:r>
            <a:r>
              <a:rPr lang="en-US" sz="800" dirty="0" err="1"/>
              <a:t>encrypt_message</a:t>
            </a:r>
            <a:r>
              <a:rPr lang="en-US" sz="800" dirty="0"/>
              <a:t>(</a:t>
            </a:r>
            <a:r>
              <a:rPr lang="en-US" sz="800" dirty="0" err="1"/>
              <a:t>msg</a:t>
            </a:r>
            <a:r>
              <a:rPr lang="en-US" sz="800" dirty="0"/>
              <a:t>, crypto, hashing)</a:t>
            </a:r>
          </a:p>
          <a:p>
            <a:r>
              <a:rPr lang="en-US" sz="800" dirty="0"/>
              <a:t>        </a:t>
            </a:r>
            <a:r>
              <a:rPr lang="en-US" sz="800" dirty="0" err="1"/>
              <a:t>client_sckt.send</a:t>
            </a:r>
            <a:r>
              <a:rPr lang="en-US" sz="800" dirty="0"/>
              <a:t>(</a:t>
            </a:r>
            <a:r>
              <a:rPr lang="en-US" sz="800" dirty="0" err="1"/>
              <a:t>ciph_out</a:t>
            </a:r>
            <a:r>
              <a:rPr lang="en-US" sz="800" dirty="0"/>
              <a:t> + </a:t>
            </a:r>
            <a:r>
              <a:rPr lang="en-US" sz="800" dirty="0" err="1"/>
              <a:t>hmac_out.encode</a:t>
            </a:r>
            <a:r>
              <a:rPr lang="en-US" sz="800" dirty="0"/>
              <a:t>())</a:t>
            </a:r>
          </a:p>
          <a:p>
            <a:r>
              <a:rPr lang="en-US" sz="800" dirty="0"/>
              <a:t>        </a:t>
            </a:r>
            <a:r>
              <a:rPr lang="en-US" sz="800" dirty="0" err="1"/>
              <a:t>msg_in</a:t>
            </a:r>
            <a:r>
              <a:rPr lang="en-US" sz="800" dirty="0"/>
              <a:t> = </a:t>
            </a:r>
            <a:r>
              <a:rPr lang="en-US" sz="800" dirty="0" err="1"/>
              <a:t>client_sckt.recv</a:t>
            </a:r>
            <a:r>
              <a:rPr lang="en-US" sz="800" dirty="0"/>
              <a:t>(4096)</a:t>
            </a:r>
          </a:p>
          <a:p>
            <a:r>
              <a:rPr lang="en-US" sz="800" dirty="0"/>
              <a:t>        print(</a:t>
            </a:r>
            <a:r>
              <a:rPr lang="en-US" sz="800" dirty="0" err="1"/>
              <a:t>msg_in.decode</a:t>
            </a:r>
            <a:r>
              <a:rPr lang="en-US" sz="800" dirty="0"/>
              <a:t>("utf-8"))</a:t>
            </a:r>
          </a:p>
          <a:p>
            <a:endParaRPr lang="en-US" sz="800" dirty="0"/>
          </a:p>
          <a:p>
            <a:endParaRPr lang="en-US" sz="800" dirty="0"/>
          </a:p>
          <a:p>
            <a:r>
              <a:rPr lang="en-US" sz="800" dirty="0"/>
              <a:t>if __name__ == "__main__":</a:t>
            </a:r>
          </a:p>
          <a:p>
            <a:r>
              <a:rPr lang="en-US" sz="800" dirty="0"/>
              <a:t>    main()</a:t>
            </a:r>
          </a:p>
        </p:txBody>
      </p:sp>
    </p:spTree>
    <p:custDataLst>
      <p:tags r:id="rId1"/>
    </p:custDataLst>
    <p:extLst>
      <p:ext uri="{BB962C8B-B14F-4D97-AF65-F5344CB8AC3E}">
        <p14:creationId xmlns:p14="http://schemas.microsoft.com/office/powerpoint/2010/main" val="2224108157"/>
      </p:ext>
    </p:extLst>
  </p:cSld>
  <p:clrMapOvr>
    <a:masterClrMapping/>
  </p:clrMapOvr>
  <p:transition spd="slow">
    <p:wip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10978</TotalTime>
  <Words>7675</Words>
  <Application>Microsoft Office PowerPoint</Application>
  <PresentationFormat>On-screen Show (16:9)</PresentationFormat>
  <Paragraphs>1166</Paragraphs>
  <Slides>38</Slides>
  <Notes>36</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ＭＳ Ｐゴシック</vt:lpstr>
      <vt:lpstr>Arial</vt:lpstr>
      <vt:lpstr>Calibri</vt:lpstr>
      <vt:lpstr>CiscoSans</vt:lpstr>
      <vt:lpstr>CiscoSans ExtraLight</vt:lpstr>
      <vt:lpstr>CiscoSans Thin</vt:lpstr>
      <vt:lpstr>Times New Roman</vt:lpstr>
      <vt:lpstr>Wingdings</vt:lpstr>
      <vt:lpstr>Default Theme</vt:lpstr>
      <vt:lpstr>Module 8: VPN and IPsec Concepts</vt:lpstr>
      <vt:lpstr>Module Objectives</vt:lpstr>
      <vt:lpstr>8.1 VPN Technology</vt:lpstr>
      <vt:lpstr>VPN Technology Virtual Private Networks</vt:lpstr>
      <vt:lpstr>VPN Technology VPN Benefits</vt:lpstr>
      <vt:lpstr>VPN Technology Site-to-Site and Remote Access VPNs</vt:lpstr>
      <vt:lpstr>VPN Technology Site-to-Site and Remote Access VPNs (Cont.)</vt:lpstr>
      <vt:lpstr>VPN Technology Enterprise and Service Provider VPNs</vt:lpstr>
      <vt:lpstr>8.2 Types of VPNs</vt:lpstr>
      <vt:lpstr>Types of VPNs Remote-Access VPNs</vt:lpstr>
      <vt:lpstr>Types of VPNs SSL VPNs</vt:lpstr>
      <vt:lpstr>Types of VPNs Site-to-Site IPsec VPNs</vt:lpstr>
      <vt:lpstr>Types of VPNs GRE over IPsec</vt:lpstr>
      <vt:lpstr>Types of VPNs GRE over IPsec (Cont.)</vt:lpstr>
      <vt:lpstr>Types of VPNs GRE over IPsec (Cont.)</vt:lpstr>
      <vt:lpstr>Types of VPNs Dynamic Multipoint VPNs</vt:lpstr>
      <vt:lpstr>Types of VPNs IPsec Virtual Tunnel Interface</vt:lpstr>
      <vt:lpstr>Types of VPNs Service Provider MPLS VPNs</vt:lpstr>
      <vt:lpstr>8.3 IPsec</vt:lpstr>
      <vt:lpstr>IPSec Video – IPsec Concepts</vt:lpstr>
      <vt:lpstr>IPSec IPsec Technologies</vt:lpstr>
      <vt:lpstr>IPSec IPsec Technologies (Cont.)</vt:lpstr>
      <vt:lpstr>IPSec IPsec Protocol Encapsulation</vt:lpstr>
      <vt:lpstr>IPSec Confidentiality</vt:lpstr>
      <vt:lpstr>IPSec Confidentiality (Cont.)</vt:lpstr>
      <vt:lpstr>IPSec Integrity</vt:lpstr>
      <vt:lpstr>IPSec Authentication</vt:lpstr>
      <vt:lpstr>IPSec Secure Key Exchange with Diffie - Hellman</vt:lpstr>
      <vt:lpstr>IPSec Video – IPsec Transport and Tunnel Mode</vt:lpstr>
      <vt:lpstr>8.4 Module Practice and Quiz</vt:lpstr>
      <vt:lpstr>Module Practice and Quiz What did I learn in this module?</vt:lpstr>
      <vt:lpstr>Module Practice and Quiz What did I learn in this module? (Cont.)</vt:lpstr>
      <vt:lpstr>Module 8: VPN and IPsec Concepts New Terms and Commands</vt:lpstr>
      <vt:lpstr>PowerPoint Presentation</vt:lpstr>
      <vt:lpstr>Virtual Private Network (VPN) </vt:lpstr>
      <vt:lpstr>Algorithm</vt:lpstr>
      <vt:lpstr>PowerPoint Presentation</vt:lpstr>
      <vt:lpstr>Example_Python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Gde</cp:lastModifiedBy>
  <cp:revision>262</cp:revision>
  <dcterms:created xsi:type="dcterms:W3CDTF">2019-10-18T06:21:22Z</dcterms:created>
  <dcterms:modified xsi:type="dcterms:W3CDTF">2025-03-05T01:18:50Z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