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
  </p:notesMasterIdLst>
  <p:sldIdLst>
    <p:sldId id="339" r:id="rId2"/>
    <p:sldId id="395" r:id="rId3"/>
    <p:sldId id="398" r:id="rId4"/>
    <p:sldId id="397" r:id="rId5"/>
    <p:sldId id="396" r:id="rId6"/>
    <p:sldId id="394" r:id="rId7"/>
    <p:sldId id="393" r:id="rId8"/>
    <p:sldId id="392" r:id="rId9"/>
    <p:sldId id="387" r:id="rId10"/>
    <p:sldId id="388" r:id="rId11"/>
    <p:sldId id="389" r:id="rId12"/>
    <p:sldId id="390" r:id="rId13"/>
    <p:sldId id="391" r:id="rId14"/>
    <p:sldId id="385" r:id="rId15"/>
    <p:sldId id="386" r:id="rId16"/>
    <p:sldId id="38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nuel Fradinho" initials="M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DFF"/>
    <a:srgbClr val="00B2A5"/>
    <a:srgbClr val="00D9C7"/>
    <a:srgbClr val="73FDD6"/>
    <a:srgbClr val="FF40FF"/>
    <a:srgbClr val="A92C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79922" autoAdjust="0"/>
  </p:normalViewPr>
  <p:slideViewPr>
    <p:cSldViewPr snapToGrid="0">
      <p:cViewPr varScale="1">
        <p:scale>
          <a:sx n="62" d="100"/>
          <a:sy n="62" d="100"/>
        </p:scale>
        <p:origin x="360" y="6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A3E45-57A9-44A4-8D02-ECC452318D6C}"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232A1-099D-4B50-B749-7C373A0D848E}" type="slidenum">
              <a:rPr lang="en-US" smtClean="0"/>
              <a:t>‹#›</a:t>
            </a:fld>
            <a:endParaRPr lang="en-US"/>
          </a:p>
        </p:txBody>
      </p:sp>
    </p:spTree>
    <p:extLst>
      <p:ext uri="{BB962C8B-B14F-4D97-AF65-F5344CB8AC3E}">
        <p14:creationId xmlns:p14="http://schemas.microsoft.com/office/powerpoint/2010/main" val="263854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https://github.com/Rakibul73/Cisco_Network_Routing_Switching</a:t>
            </a:r>
          </a:p>
          <a:p>
            <a:r>
              <a:rPr lang="en-US" dirty="0" smtClean="0"/>
              <a:t>https://github.com/Rakibul73/Cisco_Network_Routing_Switching/tree/main/Problem_Lab_BGP</a:t>
            </a:r>
          </a:p>
          <a:p>
            <a:r>
              <a:rPr lang="en-US" dirty="0" smtClean="0"/>
              <a:t>https://networklessons.com/labs/bgp-professional-lab-1#BGP_Prefer_eBGP_over_iBGP</a:t>
            </a:r>
          </a:p>
          <a:p>
            <a:endParaRPr lang="en-US" dirty="0" smtClean="0"/>
          </a:p>
          <a:p>
            <a:endParaRPr lang="en-US" dirty="0" smtClean="0"/>
          </a:p>
          <a:p>
            <a:r>
              <a:rPr lang="en-US" dirty="0" smtClean="0"/>
              <a:t>https://github.com/Rakibul73/whiteboard-app</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a:t>
            </a:fld>
            <a:endParaRPr lang="en-US"/>
          </a:p>
        </p:txBody>
      </p:sp>
    </p:spTree>
    <p:extLst>
      <p:ext uri="{BB962C8B-B14F-4D97-AF65-F5344CB8AC3E}">
        <p14:creationId xmlns:p14="http://schemas.microsoft.com/office/powerpoint/2010/main" val="326982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Lab #2 Two LANs connected by a router</a:t>
            </a:r>
          </a:p>
          <a:p>
            <a:r>
              <a:rPr lang="en-US" dirty="0" smtClean="0"/>
              <a:t>http://wpage.unina.it/rcanonic/didattica/gns3-labs/lab2/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Lab #16 </a:t>
            </a:r>
            <a:r>
              <a:rPr lang="en-US" sz="1200" b="1" i="0" kern="1200" dirty="0" smtClean="0">
                <a:solidFill>
                  <a:schemeClr val="tx1"/>
                </a:solidFill>
                <a:effectLst/>
                <a:latin typeface="+mn-lt"/>
                <a:ea typeface="+mn-ea"/>
                <a:cs typeface="+mn-cs"/>
              </a:rPr>
              <a:t>MPLS with static Label Switched Path (LSP)</a:t>
            </a:r>
          </a:p>
          <a:p>
            <a:r>
              <a:rPr lang="en-US" dirty="0" smtClean="0"/>
              <a:t>http://wpage.unina.it/rcanonic/didattica/gns3-labs/lab16/</a:t>
            </a:r>
          </a:p>
          <a:p>
            <a:endParaRPr lang="en-US" dirty="0" smtClean="0"/>
          </a:p>
          <a:p>
            <a:r>
              <a:rPr lang="en-US" dirty="0" smtClean="0"/>
              <a:t>https://www.quisted.net/index.php/2018/04/30/lab-viii-mpls-mp-bgp-eompls/</a:t>
            </a:r>
          </a:p>
          <a:p>
            <a:endParaRPr lang="en-US" dirty="0" smtClean="0"/>
          </a:p>
          <a:p>
            <a:r>
              <a:rPr lang="en-US" dirty="0" smtClean="0"/>
              <a:t>https://blog.pierky.com/gns3-lab-bgp-multihoming-to-a-single-provider-with-partial-routing/</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2</a:t>
            </a:fld>
            <a:endParaRPr lang="en-US"/>
          </a:p>
        </p:txBody>
      </p:sp>
    </p:spTree>
    <p:extLst>
      <p:ext uri="{BB962C8B-B14F-4D97-AF65-F5344CB8AC3E}">
        <p14:creationId xmlns:p14="http://schemas.microsoft.com/office/powerpoint/2010/main" val="3936311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http://wpage.unina.it/rcanonic/didattica/gns3-labs/lab2/</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4</a:t>
            </a:fld>
            <a:endParaRPr lang="en-US"/>
          </a:p>
        </p:txBody>
      </p:sp>
    </p:spTree>
    <p:extLst>
      <p:ext uri="{BB962C8B-B14F-4D97-AF65-F5344CB8AC3E}">
        <p14:creationId xmlns:p14="http://schemas.microsoft.com/office/powerpoint/2010/main" val="225634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https://www.slideserve.com/hatten/lecture-7-l2-mpls-vpn-vpws-h-vpls-powerpoint-ppt-presentation</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5</a:t>
            </a:fld>
            <a:endParaRPr lang="en-US"/>
          </a:p>
        </p:txBody>
      </p:sp>
    </p:spTree>
    <p:extLst>
      <p:ext uri="{BB962C8B-B14F-4D97-AF65-F5344CB8AC3E}">
        <p14:creationId xmlns:p14="http://schemas.microsoft.com/office/powerpoint/2010/main" val="4199519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http://wpage.unina.it/rcanonic/didattica/gns3-labs/lab16/</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7</a:t>
            </a:fld>
            <a:endParaRPr lang="en-US"/>
          </a:p>
        </p:txBody>
      </p:sp>
    </p:spTree>
    <p:extLst>
      <p:ext uri="{BB962C8B-B14F-4D97-AF65-F5344CB8AC3E}">
        <p14:creationId xmlns:p14="http://schemas.microsoft.com/office/powerpoint/2010/main" val="1859360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https://www.quisted.net/index.php/2018/04/30/lab-viii-mpls-mp-bgp-eompls/</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16</a:t>
            </a:fld>
            <a:endParaRPr lang="en-US"/>
          </a:p>
        </p:txBody>
      </p:sp>
    </p:spTree>
    <p:extLst>
      <p:ext uri="{BB962C8B-B14F-4D97-AF65-F5344CB8AC3E}">
        <p14:creationId xmlns:p14="http://schemas.microsoft.com/office/powerpoint/2010/main" val="3530619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167355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58064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25550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28CD25-4015-481E-94C9-A931395C8E35}"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52555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28CD25-4015-481E-94C9-A931395C8E35}"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48262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28CD25-4015-481E-94C9-A931395C8E35}"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63555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8CD25-4015-481E-94C9-A931395C8E35}"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8050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479311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466610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81033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08497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8CD25-4015-481E-94C9-A931395C8E35}" type="datetimeFigureOut">
              <a:rPr lang="en-US" smtClean="0"/>
              <a:t>4/23/2026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35205-7406-4E96-85E9-F173CE5CBA86}" type="slidenum">
              <a:rPr lang="en-US" smtClean="0"/>
              <a:t>‹#›</a:t>
            </a:fld>
            <a:endParaRPr lang="en-US"/>
          </a:p>
        </p:txBody>
      </p:sp>
    </p:spTree>
    <p:extLst>
      <p:ext uri="{BB962C8B-B14F-4D97-AF65-F5344CB8AC3E}">
        <p14:creationId xmlns:p14="http://schemas.microsoft.com/office/powerpoint/2010/main" val="33831171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46290" y="549166"/>
            <a:ext cx="1980634" cy="1262343"/>
          </a:xfrm>
          <a:prstGeom prst="rect">
            <a:avLst/>
          </a:prstGeom>
        </p:spPr>
      </p:pic>
      <p:pic>
        <p:nvPicPr>
          <p:cNvPr id="30" name="Picture 29"/>
          <p:cNvPicPr>
            <a:picLocks noChangeAspect="1"/>
          </p:cNvPicPr>
          <p:nvPr/>
        </p:nvPicPr>
        <p:blipFill rotWithShape="1">
          <a:blip r:embed="rId4"/>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7"/>
          <a:stretch>
            <a:fillRect/>
          </a:stretch>
        </p:blipFill>
        <p:spPr>
          <a:xfrm>
            <a:off x="1489692" y="1368919"/>
            <a:ext cx="195549" cy="278741"/>
          </a:xfrm>
          <a:prstGeom prst="rect">
            <a:avLst/>
          </a:prstGeom>
        </p:spPr>
      </p:pic>
      <p:pic>
        <p:nvPicPr>
          <p:cNvPr id="19" name="Picture 18"/>
          <p:cNvPicPr>
            <a:picLocks noChangeAspect="1"/>
          </p:cNvPicPr>
          <p:nvPr/>
        </p:nvPicPr>
        <p:blipFill>
          <a:blip r:embed="rId8"/>
          <a:stretch>
            <a:fillRect/>
          </a:stretch>
        </p:blipFill>
        <p:spPr>
          <a:xfrm>
            <a:off x="928964" y="1347118"/>
            <a:ext cx="268890" cy="255445"/>
          </a:xfrm>
          <a:prstGeom prst="rect">
            <a:avLst/>
          </a:prstGeom>
        </p:spPr>
      </p:pic>
      <p:pic>
        <p:nvPicPr>
          <p:cNvPr id="20" name="Picture 19"/>
          <p:cNvPicPr>
            <a:picLocks noChangeAspect="1"/>
          </p:cNvPicPr>
          <p:nvPr/>
        </p:nvPicPr>
        <p:blipFill>
          <a:blip r:embed="rId9"/>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849474" y="332644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3" name="Title 1"/>
          <p:cNvSpPr txBox="1">
            <a:spLocks/>
          </p:cNvSpPr>
          <p:nvPr/>
        </p:nvSpPr>
        <p:spPr>
          <a:xfrm>
            <a:off x="2450600" y="2921357"/>
            <a:ext cx="9347200" cy="771712"/>
          </a:xfrm>
          <a:prstGeom prst="rect">
            <a:avLst/>
          </a:prstGeom>
        </p:spPr>
        <p:txBody>
          <a:bodyPr vert="horz" lIns="81280" tIns="40640" rIns="81280" bIns="4064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a:solidFill>
                  <a:schemeClr val="bg1">
                    <a:lumMod val="75000"/>
                  </a:schemeClr>
                </a:solidFill>
              </a:rPr>
              <a:t>BGP </a:t>
            </a:r>
            <a:r>
              <a:rPr lang="en-US" b="1" dirty="0" smtClean="0">
                <a:solidFill>
                  <a:schemeClr val="bg1">
                    <a:lumMod val="75000"/>
                  </a:schemeClr>
                </a:solidFill>
              </a:rPr>
              <a:t>message with </a:t>
            </a:r>
            <a:r>
              <a:rPr lang="en-US" b="1" dirty="0">
                <a:solidFill>
                  <a:schemeClr val="bg1">
                    <a:lumMod val="75000"/>
                  </a:schemeClr>
                </a:solidFill>
              </a:rPr>
              <a:t>Wireshark </a:t>
            </a:r>
            <a:r>
              <a:rPr lang="en-US" b="1" dirty="0" smtClean="0">
                <a:solidFill>
                  <a:schemeClr val="bg1">
                    <a:lumMod val="75000"/>
                  </a:schemeClr>
                </a:solidFill>
              </a:rPr>
              <a:t>on </a:t>
            </a:r>
            <a:r>
              <a:rPr lang="en-US" b="1" dirty="0">
                <a:solidFill>
                  <a:schemeClr val="bg1">
                    <a:lumMod val="75000"/>
                  </a:schemeClr>
                </a:solidFill>
              </a:rPr>
              <a:t>GNS3</a:t>
            </a:r>
          </a:p>
        </p:txBody>
      </p:sp>
      <p:sp>
        <p:nvSpPr>
          <p:cNvPr id="26" name="Rectangle 25"/>
          <p:cNvSpPr/>
          <p:nvPr/>
        </p:nvSpPr>
        <p:spPr>
          <a:xfrm>
            <a:off x="9463375" y="5949106"/>
            <a:ext cx="2487830" cy="215444"/>
          </a:xfrm>
          <a:prstGeom prst="rect">
            <a:avLst/>
          </a:prstGeom>
        </p:spPr>
        <p:txBody>
          <a:bodyPr wrap="square">
            <a:spAutoFit/>
          </a:bodyPr>
          <a:lstStyle/>
          <a:p>
            <a:r>
              <a:rPr lang="en-US" sz="800" dirty="0"/>
              <a:t>https://www.youtube.com/@AmelOline/videos</a:t>
            </a:r>
          </a:p>
        </p:txBody>
      </p:sp>
      <p:sp>
        <p:nvSpPr>
          <p:cNvPr id="27" name="Rectangle 26"/>
          <p:cNvSpPr/>
          <p:nvPr/>
        </p:nvSpPr>
        <p:spPr>
          <a:xfrm>
            <a:off x="10252570" y="5810607"/>
            <a:ext cx="1545230" cy="215444"/>
          </a:xfrm>
          <a:prstGeom prst="rect">
            <a:avLst/>
          </a:prstGeom>
        </p:spPr>
        <p:txBody>
          <a:bodyPr wrap="square">
            <a:spAutoFit/>
          </a:bodyPr>
          <a:lstStyle/>
          <a:p>
            <a:r>
              <a:rPr lang="en-US" sz="800" dirty="0"/>
              <a:t>https://github.com/siagianp</a:t>
            </a:r>
          </a:p>
        </p:txBody>
      </p:sp>
      <p:sp>
        <p:nvSpPr>
          <p:cNvPr id="29" name="Rectangle 28"/>
          <p:cNvSpPr/>
          <p:nvPr/>
        </p:nvSpPr>
        <p:spPr>
          <a:xfrm>
            <a:off x="8537735" y="6087606"/>
            <a:ext cx="3490509" cy="215444"/>
          </a:xfrm>
          <a:prstGeom prst="rect">
            <a:avLst/>
          </a:prstGeom>
        </p:spPr>
        <p:txBody>
          <a:bodyPr wrap="square">
            <a:spAutoFit/>
          </a:bodyPr>
          <a:lstStyle/>
          <a:p>
            <a:r>
              <a:rPr lang="en-US" sz="800" dirty="0"/>
              <a:t>https://github.com/amelcharolinesgn2/IoT_simulator-mqtt-NodeRed</a:t>
            </a:r>
          </a:p>
        </p:txBody>
      </p:sp>
      <p:sp>
        <p:nvSpPr>
          <p:cNvPr id="32" name="Rectangle 31"/>
          <p:cNvSpPr/>
          <p:nvPr/>
        </p:nvSpPr>
        <p:spPr>
          <a:xfrm>
            <a:off x="8945775" y="6226105"/>
            <a:ext cx="2746692" cy="338554"/>
          </a:xfrm>
          <a:prstGeom prst="rect">
            <a:avLst/>
          </a:prstGeom>
        </p:spPr>
        <p:txBody>
          <a:bodyPr wrap="square">
            <a:spAutoFit/>
          </a:bodyPr>
          <a:lstStyle/>
          <a:p>
            <a:r>
              <a:rPr lang="en-US" sz="800" dirty="0"/>
              <a:t>https://github.com/amelcharolinesgn2/Cloud-Infrastructures</a:t>
            </a:r>
          </a:p>
        </p:txBody>
      </p:sp>
      <p:sp>
        <p:nvSpPr>
          <p:cNvPr id="33" name="Rectangle 32"/>
          <p:cNvSpPr/>
          <p:nvPr/>
        </p:nvSpPr>
        <p:spPr>
          <a:xfrm>
            <a:off x="8441267" y="6341521"/>
            <a:ext cx="3286814" cy="338554"/>
          </a:xfrm>
          <a:prstGeom prst="rect">
            <a:avLst/>
          </a:prstGeom>
        </p:spPr>
        <p:txBody>
          <a:bodyPr wrap="square">
            <a:spAutoFit/>
          </a:bodyPr>
          <a:lstStyle/>
          <a:p>
            <a:r>
              <a:rPr lang="en-US" sz="800" dirty="0"/>
              <a:t>https://github.com/amelcharolinesgn2/ClouD-Infrastructure-SISKA-2025</a:t>
            </a:r>
          </a:p>
        </p:txBody>
      </p:sp>
      <p:sp>
        <p:nvSpPr>
          <p:cNvPr id="34" name="Rectangle 33"/>
          <p:cNvSpPr/>
          <p:nvPr/>
        </p:nvSpPr>
        <p:spPr>
          <a:xfrm>
            <a:off x="8252935" y="6472372"/>
            <a:ext cx="3775310" cy="215444"/>
          </a:xfrm>
          <a:prstGeom prst="rect">
            <a:avLst/>
          </a:prstGeom>
        </p:spPr>
        <p:txBody>
          <a:bodyPr wrap="square">
            <a:spAutoFit/>
          </a:bodyPr>
          <a:lstStyle/>
          <a:p>
            <a:r>
              <a:rPr lang="en-US" sz="800" dirty="0"/>
              <a:t>https://github.com/amelcharolinesgn2/Gyroscope-Sensor-Data-Accelerometer</a:t>
            </a:r>
          </a:p>
        </p:txBody>
      </p:sp>
      <p:sp>
        <p:nvSpPr>
          <p:cNvPr id="25" name="Title 1"/>
          <p:cNvSpPr txBox="1">
            <a:spLocks/>
          </p:cNvSpPr>
          <p:nvPr/>
        </p:nvSpPr>
        <p:spPr>
          <a:xfrm>
            <a:off x="2471382" y="3406089"/>
            <a:ext cx="4493125" cy="49083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b="1" dirty="0" smtClean="0">
                <a:solidFill>
                  <a:schemeClr val="bg1">
                    <a:lumMod val="75000"/>
                  </a:schemeClr>
                </a:solidFill>
              </a:rPr>
              <a:t>Border Gateway protocol (BGP)</a:t>
            </a:r>
            <a:endParaRPr lang="en-US" sz="1600" b="1" dirty="0">
              <a:solidFill>
                <a:schemeClr val="bg1">
                  <a:lumMod val="75000"/>
                </a:schemeClr>
              </a:solidFill>
            </a:endParaRPr>
          </a:p>
        </p:txBody>
      </p:sp>
      <p:sp>
        <p:nvSpPr>
          <p:cNvPr id="35" name="Title 1"/>
          <p:cNvSpPr txBox="1">
            <a:spLocks/>
          </p:cNvSpPr>
          <p:nvPr/>
        </p:nvSpPr>
        <p:spPr>
          <a:xfrm>
            <a:off x="2450600" y="2164269"/>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smtClean="0">
                <a:solidFill>
                  <a:schemeClr val="bg1">
                    <a:lumMod val="75000"/>
                  </a:schemeClr>
                </a:solidFill>
              </a:rPr>
              <a:t>MPLS VPN &amp;</a:t>
            </a:r>
            <a:endParaRPr lang="en-US" b="1" dirty="0">
              <a:solidFill>
                <a:schemeClr val="bg1">
                  <a:lumMod val="75000"/>
                </a:schemeClr>
              </a:solidFill>
            </a:endParaRPr>
          </a:p>
        </p:txBody>
      </p:sp>
      <p:sp>
        <p:nvSpPr>
          <p:cNvPr id="36" name="Title 1"/>
          <p:cNvSpPr txBox="1">
            <a:spLocks/>
          </p:cNvSpPr>
          <p:nvPr/>
        </p:nvSpPr>
        <p:spPr>
          <a:xfrm>
            <a:off x="2492164" y="2487440"/>
            <a:ext cx="4493125" cy="49083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b="1" dirty="0" smtClean="0">
                <a:solidFill>
                  <a:schemeClr val="bg1">
                    <a:lumMod val="75000"/>
                  </a:schemeClr>
                </a:solidFill>
              </a:rPr>
              <a:t>Border Gateway protocol (BGP)</a:t>
            </a:r>
            <a:endParaRPr lang="en-US" sz="1600" b="1" dirty="0">
              <a:solidFill>
                <a:schemeClr val="bg1">
                  <a:lumMod val="75000"/>
                </a:schemeClr>
              </a:solidFill>
            </a:endParaRPr>
          </a:p>
        </p:txBody>
      </p:sp>
    </p:spTree>
    <p:extLst>
      <p:ext uri="{BB962C8B-B14F-4D97-AF65-F5344CB8AC3E}">
        <p14:creationId xmlns:p14="http://schemas.microsoft.com/office/powerpoint/2010/main" val="3016832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706681" y="3807089"/>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smtClean="0">
                <a:solidFill>
                  <a:schemeClr val="bg1">
                    <a:lumMod val="75000"/>
                  </a:schemeClr>
                </a:solidFill>
              </a:rPr>
              <a:t>MPLS BGP VPN </a:t>
            </a:r>
            <a:endParaRPr lang="en-US" b="1" dirty="0">
              <a:solidFill>
                <a:schemeClr val="bg1">
                  <a:lumMod val="75000"/>
                </a:schemeClr>
              </a:solidFill>
            </a:endParaRPr>
          </a:p>
        </p:txBody>
      </p:sp>
      <p:sp>
        <p:nvSpPr>
          <p:cNvPr id="5" name="Title 1"/>
          <p:cNvSpPr txBox="1">
            <a:spLocks/>
          </p:cNvSpPr>
          <p:nvPr/>
        </p:nvSpPr>
        <p:spPr>
          <a:xfrm>
            <a:off x="1748245" y="4130260"/>
            <a:ext cx="4493125" cy="49083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b="1" dirty="0">
                <a:solidFill>
                  <a:schemeClr val="bg1">
                    <a:lumMod val="75000"/>
                  </a:schemeClr>
                </a:solidFill>
              </a:rPr>
              <a:t>Multi-Protocol Label </a:t>
            </a:r>
            <a:r>
              <a:rPr lang="en-US" sz="1600" b="1" dirty="0" smtClean="0">
                <a:solidFill>
                  <a:schemeClr val="bg1">
                    <a:lumMod val="75000"/>
                  </a:schemeClr>
                </a:solidFill>
              </a:rPr>
              <a:t>Switching</a:t>
            </a:r>
            <a:endParaRPr lang="en-US" sz="1600" b="1" dirty="0">
              <a:solidFill>
                <a:schemeClr val="bg1">
                  <a:lumMod val="75000"/>
                </a:schemeClr>
              </a:solidFill>
            </a:endParaRPr>
          </a:p>
        </p:txBody>
      </p:sp>
    </p:spTree>
    <p:extLst>
      <p:ext uri="{BB962C8B-B14F-4D97-AF65-F5344CB8AC3E}">
        <p14:creationId xmlns:p14="http://schemas.microsoft.com/office/powerpoint/2010/main" val="39813982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1769" y="361649"/>
            <a:ext cx="4171270" cy="369332"/>
          </a:xfrm>
          <a:prstGeom prst="rect">
            <a:avLst/>
          </a:prstGeom>
        </p:spPr>
        <p:txBody>
          <a:bodyPr wrap="none">
            <a:spAutoFit/>
          </a:bodyPr>
          <a:lstStyle/>
          <a:p>
            <a:r>
              <a:rPr lang="en-US" dirty="0"/>
              <a:t>MPLS with static Label Switched Path (LSP)</a:t>
            </a:r>
          </a:p>
        </p:txBody>
      </p:sp>
      <p:sp>
        <p:nvSpPr>
          <p:cNvPr id="5" name="Rectangle 4"/>
          <p:cNvSpPr/>
          <p:nvPr/>
        </p:nvSpPr>
        <p:spPr>
          <a:xfrm>
            <a:off x="321769" y="730981"/>
            <a:ext cx="5507531" cy="9787295"/>
          </a:xfrm>
          <a:prstGeom prst="rect">
            <a:avLst/>
          </a:prstGeom>
        </p:spPr>
        <p:txBody>
          <a:bodyPr wrap="square">
            <a:spAutoFit/>
          </a:bodyPr>
          <a:lstStyle/>
          <a:p>
            <a:pPr algn="just"/>
            <a:r>
              <a:rPr lang="en-US" dirty="0"/>
              <a:t>Multiprotocol Label Switching (MPLS) is a routing technique that allows moving data from one node to the next based on external labels rather than destination IP addresses. Packets are routed along pre-established Label Switched Paths (LSPs).</a:t>
            </a:r>
          </a:p>
          <a:p>
            <a:pPr algn="just"/>
            <a:r>
              <a:rPr lang="en-US" dirty="0"/>
              <a:t>Label Switch Routers (LSR), located in the inner part of an MPLS network, forward packets based on MPLS labels.</a:t>
            </a:r>
          </a:p>
          <a:p>
            <a:pPr algn="just"/>
            <a:r>
              <a:rPr lang="en-US" dirty="0"/>
              <a:t>Label Edge Routers (LER), located at the edge of an MPLS network, encapsulate IP packets by adding the MPLS header (push operation) to traffic coming from adjacent routers external to the MPLS network and </a:t>
            </a:r>
            <a:r>
              <a:rPr lang="en-US" dirty="0" err="1"/>
              <a:t>decapsulate</a:t>
            </a:r>
            <a:r>
              <a:rPr lang="en-US" dirty="0"/>
              <a:t> IP packets by removing the MPLS header (pop operation) from traffic coming from adjacent MPLS routers.</a:t>
            </a:r>
          </a:p>
          <a:p>
            <a:pPr algn="just"/>
            <a:r>
              <a:rPr lang="en-US" dirty="0"/>
              <a:t>In MPLS, packets can carry multiple labels in a stack. An LSR can swap the label at the top of the stack, pop the stack, or swap the label and push one or more labels into the stack. The processing of a packet is always based on the top label.</a:t>
            </a:r>
          </a:p>
          <a:p>
            <a:pPr algn="just"/>
            <a:r>
              <a:rPr lang="en-US" dirty="0"/>
              <a:t>As described in RFC 3032, MPLS Label Stack Encoding, the label stack is represented as a sequence of label stack entries. Each label stack entry consists of 4 octets comprising a 20-bits label field. Hence, the maximum label value is 1048575. The S bit, if 1, marks the last entry of the label stack (Bottom of Stack). create a static LSP in an MPLS network consisting of two LERs and a single LSR. Packets towards host H5 are labeled by LER R1 with label 100. The intermediate LSR R2 swaps label 100 into label 200 and forwards packets to the LER R3 which, in turn, pops the label and delivers the packets to the destination H5.</a:t>
            </a:r>
          </a:p>
          <a:p>
            <a:pPr algn="just"/>
            <a:r>
              <a:rPr lang="en-US" dirty="0"/>
              <a:t>For packets generated by H5, the LER R3 encapsulates them with label 300. The intermediate LSR R2 swaps label 300 into label 400 and delivers the packets to the LER R1. Finally, R1 pops the MPLS label and delivers the packets to the destination H4</a:t>
            </a:r>
          </a:p>
        </p:txBody>
      </p:sp>
      <p:pic>
        <p:nvPicPr>
          <p:cNvPr id="6" name="Picture 5"/>
          <p:cNvPicPr>
            <a:picLocks noChangeAspect="1"/>
          </p:cNvPicPr>
          <p:nvPr/>
        </p:nvPicPr>
        <p:blipFill>
          <a:blip r:embed="rId2"/>
          <a:stretch>
            <a:fillRect/>
          </a:stretch>
        </p:blipFill>
        <p:spPr>
          <a:xfrm>
            <a:off x="6090557" y="730981"/>
            <a:ext cx="5767408" cy="1070214"/>
          </a:xfrm>
          <a:prstGeom prst="rect">
            <a:avLst/>
          </a:prstGeom>
        </p:spPr>
      </p:pic>
      <p:sp>
        <p:nvSpPr>
          <p:cNvPr id="7" name="Rectangle 6"/>
          <p:cNvSpPr/>
          <p:nvPr/>
        </p:nvSpPr>
        <p:spPr>
          <a:xfrm>
            <a:off x="6090557" y="1830047"/>
            <a:ext cx="5507531" cy="4801314"/>
          </a:xfrm>
          <a:prstGeom prst="rect">
            <a:avLst/>
          </a:prstGeom>
        </p:spPr>
        <p:txBody>
          <a:bodyPr wrap="square">
            <a:spAutoFit/>
          </a:bodyPr>
          <a:lstStyle/>
          <a:p>
            <a:pPr algn="just"/>
            <a:r>
              <a:rPr lang="en-US" dirty="0" smtClean="0"/>
              <a:t>As </a:t>
            </a:r>
            <a:r>
              <a:rPr lang="en-US" dirty="0"/>
              <a:t>described in RFC 3032, MPLS Label Stack Encoding, the label stack is represented as a sequence of label stack entries. Each label stack entry consists of 4 octets comprising a 20-bits label field. Hence, the maximum label value is 1048575. The S bit, if 1, marks the last entry of the label stack (Bottom of Stack). create a static LSP in an MPLS network consisting of two LERs and a single LSR. Packets towards host H5 are labeled by LER R1 with label 100. The intermediate LSR R2 swaps label 100 into label 200 and forwards packets to the LER R3 which, in turn, pops the label and delivers the packets to the destination H5.</a:t>
            </a:r>
          </a:p>
          <a:p>
            <a:pPr algn="just"/>
            <a:r>
              <a:rPr lang="en-US" dirty="0"/>
              <a:t>For packets generated by H5, the LER R3 encapsulates them with label 300. The intermediate LSR R2 swaps label 300 into label 400 and delivers the packets to the LER R1. Finally, R1 pops the MPLS label and delivers the packets to the destination H4</a:t>
            </a:r>
          </a:p>
        </p:txBody>
      </p:sp>
    </p:spTree>
    <p:extLst>
      <p:ext uri="{BB962C8B-B14F-4D97-AF65-F5344CB8AC3E}">
        <p14:creationId xmlns:p14="http://schemas.microsoft.com/office/powerpoint/2010/main" val="28194120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785537" y="978154"/>
            <a:ext cx="6329605" cy="4657373"/>
          </a:xfrm>
          <a:prstGeom prst="rect">
            <a:avLst/>
          </a:prstGeom>
        </p:spPr>
      </p:pic>
      <p:sp>
        <p:nvSpPr>
          <p:cNvPr id="4" name="TextBox 3"/>
          <p:cNvSpPr txBox="1"/>
          <p:nvPr/>
        </p:nvSpPr>
        <p:spPr>
          <a:xfrm>
            <a:off x="3812583" y="2937508"/>
            <a:ext cx="431528" cy="369332"/>
          </a:xfrm>
          <a:prstGeom prst="rect">
            <a:avLst/>
          </a:prstGeom>
          <a:noFill/>
        </p:spPr>
        <p:txBody>
          <a:bodyPr wrap="none" rtlCol="0">
            <a:spAutoFit/>
          </a:bodyPr>
          <a:lstStyle/>
          <a:p>
            <a:r>
              <a:rPr lang="en-US" b="1" dirty="0" smtClean="0"/>
              <a:t>R1</a:t>
            </a:r>
            <a:endParaRPr lang="en-US" b="1" dirty="0"/>
          </a:p>
        </p:txBody>
      </p:sp>
      <p:sp>
        <p:nvSpPr>
          <p:cNvPr id="5" name="TextBox 4"/>
          <p:cNvSpPr txBox="1"/>
          <p:nvPr/>
        </p:nvSpPr>
        <p:spPr>
          <a:xfrm>
            <a:off x="5730117" y="2341558"/>
            <a:ext cx="431528" cy="369332"/>
          </a:xfrm>
          <a:prstGeom prst="rect">
            <a:avLst/>
          </a:prstGeom>
          <a:noFill/>
        </p:spPr>
        <p:txBody>
          <a:bodyPr wrap="none" rtlCol="0">
            <a:spAutoFit/>
          </a:bodyPr>
          <a:lstStyle/>
          <a:p>
            <a:r>
              <a:rPr lang="en-US" b="1" dirty="0" smtClean="0"/>
              <a:t>R2</a:t>
            </a:r>
            <a:endParaRPr lang="en-US" b="1" dirty="0"/>
          </a:p>
        </p:txBody>
      </p:sp>
      <p:sp>
        <p:nvSpPr>
          <p:cNvPr id="6" name="TextBox 5"/>
          <p:cNvSpPr txBox="1"/>
          <p:nvPr/>
        </p:nvSpPr>
        <p:spPr>
          <a:xfrm>
            <a:off x="7036230" y="2937508"/>
            <a:ext cx="431528" cy="369332"/>
          </a:xfrm>
          <a:prstGeom prst="rect">
            <a:avLst/>
          </a:prstGeom>
          <a:noFill/>
        </p:spPr>
        <p:txBody>
          <a:bodyPr wrap="none" rtlCol="0">
            <a:spAutoFit/>
          </a:bodyPr>
          <a:lstStyle/>
          <a:p>
            <a:r>
              <a:rPr lang="en-US" b="1" dirty="0" smtClean="0"/>
              <a:t>R3</a:t>
            </a:r>
            <a:endParaRPr lang="en-US" b="1" dirty="0"/>
          </a:p>
        </p:txBody>
      </p:sp>
      <p:cxnSp>
        <p:nvCxnSpPr>
          <p:cNvPr id="10" name="Curved Connector 9"/>
          <p:cNvCxnSpPr/>
          <p:nvPr/>
        </p:nvCxnSpPr>
        <p:spPr>
          <a:xfrm flipV="1">
            <a:off x="3436417" y="1580394"/>
            <a:ext cx="2211321" cy="945831"/>
          </a:xfrm>
          <a:prstGeom prst="curvedConnector3">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1" name="Curved Connector 10"/>
          <p:cNvCxnSpPr/>
          <p:nvPr/>
        </p:nvCxnSpPr>
        <p:spPr>
          <a:xfrm>
            <a:off x="5872859" y="1571989"/>
            <a:ext cx="2188982" cy="883390"/>
          </a:xfrm>
          <a:prstGeom prst="curvedConnector3">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 name="Curved Connector 12"/>
          <p:cNvCxnSpPr/>
          <p:nvPr/>
        </p:nvCxnSpPr>
        <p:spPr>
          <a:xfrm rot="10800000" flipV="1">
            <a:off x="3661978" y="1752189"/>
            <a:ext cx="1985760" cy="1013523"/>
          </a:xfrm>
          <a:prstGeom prst="curvedConnector3">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4" name="Curved Connector 13"/>
          <p:cNvCxnSpPr/>
          <p:nvPr/>
        </p:nvCxnSpPr>
        <p:spPr>
          <a:xfrm rot="10800000">
            <a:off x="5838629" y="1752189"/>
            <a:ext cx="2213857" cy="958702"/>
          </a:xfrm>
          <a:prstGeom prst="curvedConnector3">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8" name="TextBox 17"/>
          <p:cNvSpPr txBox="1"/>
          <p:nvPr/>
        </p:nvSpPr>
        <p:spPr>
          <a:xfrm>
            <a:off x="4181236" y="1499311"/>
            <a:ext cx="1500732" cy="369332"/>
          </a:xfrm>
          <a:prstGeom prst="rect">
            <a:avLst/>
          </a:prstGeom>
          <a:noFill/>
        </p:spPr>
        <p:txBody>
          <a:bodyPr wrap="none" rtlCol="0">
            <a:spAutoFit/>
          </a:bodyPr>
          <a:lstStyle/>
          <a:p>
            <a:r>
              <a:rPr lang="en-US" b="1" dirty="0" smtClean="0">
                <a:solidFill>
                  <a:schemeClr val="accent4">
                    <a:lumMod val="60000"/>
                    <a:lumOff val="40000"/>
                  </a:schemeClr>
                </a:solidFill>
              </a:rPr>
              <a:t>LSP: </a:t>
            </a:r>
            <a:r>
              <a:rPr lang="en-US" b="1" dirty="0" smtClean="0"/>
              <a:t>label </a:t>
            </a:r>
            <a:r>
              <a:rPr lang="en-US" b="1" dirty="0" smtClean="0">
                <a:solidFill>
                  <a:schemeClr val="accent4">
                    <a:lumMod val="60000"/>
                    <a:lumOff val="40000"/>
                  </a:schemeClr>
                </a:solidFill>
              </a:rPr>
              <a:t>100</a:t>
            </a:r>
            <a:endParaRPr lang="en-US" b="1" dirty="0">
              <a:solidFill>
                <a:schemeClr val="accent4">
                  <a:lumMod val="60000"/>
                  <a:lumOff val="40000"/>
                </a:schemeClr>
              </a:solidFill>
            </a:endParaRPr>
          </a:p>
        </p:txBody>
      </p:sp>
      <p:sp>
        <p:nvSpPr>
          <p:cNvPr id="24" name="TextBox 23"/>
          <p:cNvSpPr txBox="1"/>
          <p:nvPr/>
        </p:nvSpPr>
        <p:spPr>
          <a:xfrm>
            <a:off x="5980324" y="1426248"/>
            <a:ext cx="1500732" cy="369332"/>
          </a:xfrm>
          <a:prstGeom prst="rect">
            <a:avLst/>
          </a:prstGeom>
          <a:noFill/>
        </p:spPr>
        <p:txBody>
          <a:bodyPr wrap="none" rtlCol="0">
            <a:spAutoFit/>
          </a:bodyPr>
          <a:lstStyle/>
          <a:p>
            <a:r>
              <a:rPr lang="en-US" b="1" dirty="0" smtClean="0">
                <a:solidFill>
                  <a:schemeClr val="accent4">
                    <a:lumMod val="60000"/>
                    <a:lumOff val="40000"/>
                  </a:schemeClr>
                </a:solidFill>
              </a:rPr>
              <a:t>LSP: </a:t>
            </a:r>
            <a:r>
              <a:rPr lang="en-US" b="1" dirty="0" smtClean="0"/>
              <a:t>label </a:t>
            </a:r>
            <a:r>
              <a:rPr lang="en-US" b="1" dirty="0" smtClean="0">
                <a:solidFill>
                  <a:schemeClr val="accent4">
                    <a:lumMod val="60000"/>
                    <a:lumOff val="40000"/>
                  </a:schemeClr>
                </a:solidFill>
              </a:rPr>
              <a:t>200</a:t>
            </a:r>
            <a:endParaRPr lang="en-US" b="1" dirty="0">
              <a:solidFill>
                <a:schemeClr val="accent4">
                  <a:lumMod val="60000"/>
                  <a:lumOff val="40000"/>
                </a:schemeClr>
              </a:solidFill>
            </a:endParaRPr>
          </a:p>
        </p:txBody>
      </p:sp>
      <p:sp>
        <p:nvSpPr>
          <p:cNvPr id="25" name="TextBox 24"/>
          <p:cNvSpPr txBox="1"/>
          <p:nvPr/>
        </p:nvSpPr>
        <p:spPr>
          <a:xfrm>
            <a:off x="3979593" y="1868643"/>
            <a:ext cx="1500732" cy="369332"/>
          </a:xfrm>
          <a:prstGeom prst="rect">
            <a:avLst/>
          </a:prstGeom>
          <a:noFill/>
        </p:spPr>
        <p:txBody>
          <a:bodyPr wrap="none" rtlCol="0">
            <a:spAutoFit/>
          </a:bodyPr>
          <a:lstStyle/>
          <a:p>
            <a:r>
              <a:rPr lang="en-US" b="1" dirty="0" smtClean="0">
                <a:solidFill>
                  <a:srgbClr val="FF0000"/>
                </a:solidFill>
              </a:rPr>
              <a:t>LSP</a:t>
            </a:r>
            <a:r>
              <a:rPr lang="en-US" b="1" dirty="0" smtClean="0">
                <a:solidFill>
                  <a:schemeClr val="accent4">
                    <a:lumMod val="60000"/>
                    <a:lumOff val="40000"/>
                  </a:schemeClr>
                </a:solidFill>
              </a:rPr>
              <a:t>: </a:t>
            </a:r>
            <a:r>
              <a:rPr lang="en-US" b="1" dirty="0" smtClean="0"/>
              <a:t>label </a:t>
            </a:r>
            <a:r>
              <a:rPr lang="en-US" b="1" dirty="0">
                <a:solidFill>
                  <a:srgbClr val="FF0000"/>
                </a:solidFill>
              </a:rPr>
              <a:t>4</a:t>
            </a:r>
            <a:r>
              <a:rPr lang="en-US" b="1" dirty="0" smtClean="0">
                <a:solidFill>
                  <a:srgbClr val="FF0000"/>
                </a:solidFill>
              </a:rPr>
              <a:t>00</a:t>
            </a:r>
            <a:endParaRPr lang="en-US" b="1" dirty="0">
              <a:solidFill>
                <a:srgbClr val="FF0000"/>
              </a:solidFill>
            </a:endParaRPr>
          </a:p>
        </p:txBody>
      </p:sp>
      <p:sp>
        <p:nvSpPr>
          <p:cNvPr id="26" name="TextBox 25"/>
          <p:cNvSpPr txBox="1"/>
          <p:nvPr/>
        </p:nvSpPr>
        <p:spPr>
          <a:xfrm>
            <a:off x="6216984" y="1885680"/>
            <a:ext cx="1500732" cy="369332"/>
          </a:xfrm>
          <a:prstGeom prst="rect">
            <a:avLst/>
          </a:prstGeom>
          <a:noFill/>
        </p:spPr>
        <p:txBody>
          <a:bodyPr wrap="none" rtlCol="0">
            <a:spAutoFit/>
          </a:bodyPr>
          <a:lstStyle/>
          <a:p>
            <a:r>
              <a:rPr lang="en-US" b="1" dirty="0" smtClean="0">
                <a:solidFill>
                  <a:srgbClr val="FF0000"/>
                </a:solidFill>
              </a:rPr>
              <a:t>LSP</a:t>
            </a:r>
            <a:r>
              <a:rPr lang="en-US" b="1" dirty="0" smtClean="0">
                <a:solidFill>
                  <a:schemeClr val="accent4">
                    <a:lumMod val="60000"/>
                    <a:lumOff val="40000"/>
                  </a:schemeClr>
                </a:solidFill>
              </a:rPr>
              <a:t>: </a:t>
            </a:r>
            <a:r>
              <a:rPr lang="en-US" b="1" dirty="0" smtClean="0"/>
              <a:t>label </a:t>
            </a:r>
            <a:r>
              <a:rPr lang="en-US" b="1" dirty="0" smtClean="0">
                <a:solidFill>
                  <a:srgbClr val="FF0000"/>
                </a:solidFill>
              </a:rPr>
              <a:t>300</a:t>
            </a:r>
            <a:endParaRPr lang="en-US" b="1" dirty="0">
              <a:solidFill>
                <a:srgbClr val="FF0000"/>
              </a:solidFill>
            </a:endParaRPr>
          </a:p>
        </p:txBody>
      </p:sp>
      <p:sp>
        <p:nvSpPr>
          <p:cNvPr id="27" name="TextBox 26"/>
          <p:cNvSpPr txBox="1"/>
          <p:nvPr/>
        </p:nvSpPr>
        <p:spPr>
          <a:xfrm>
            <a:off x="3099924" y="2568176"/>
            <a:ext cx="524503" cy="369332"/>
          </a:xfrm>
          <a:prstGeom prst="rect">
            <a:avLst/>
          </a:prstGeom>
          <a:noFill/>
        </p:spPr>
        <p:txBody>
          <a:bodyPr wrap="none" rtlCol="0">
            <a:spAutoFit/>
          </a:bodyPr>
          <a:lstStyle/>
          <a:p>
            <a:r>
              <a:rPr lang="en-US" b="1" dirty="0" smtClean="0">
                <a:solidFill>
                  <a:srgbClr val="00FDFF"/>
                </a:solidFill>
              </a:rPr>
              <a:t>LER</a:t>
            </a:r>
            <a:endParaRPr lang="en-US" b="1" dirty="0">
              <a:solidFill>
                <a:srgbClr val="00FDFF"/>
              </a:solidFill>
            </a:endParaRPr>
          </a:p>
        </p:txBody>
      </p:sp>
      <p:sp>
        <p:nvSpPr>
          <p:cNvPr id="28" name="TextBox 27"/>
          <p:cNvSpPr txBox="1"/>
          <p:nvPr/>
        </p:nvSpPr>
        <p:spPr>
          <a:xfrm>
            <a:off x="8300135" y="2937508"/>
            <a:ext cx="524503" cy="369332"/>
          </a:xfrm>
          <a:prstGeom prst="rect">
            <a:avLst/>
          </a:prstGeom>
          <a:noFill/>
        </p:spPr>
        <p:txBody>
          <a:bodyPr wrap="none" rtlCol="0">
            <a:spAutoFit/>
          </a:bodyPr>
          <a:lstStyle/>
          <a:p>
            <a:r>
              <a:rPr lang="en-US" b="1" dirty="0" smtClean="0">
                <a:solidFill>
                  <a:srgbClr val="00FDFF"/>
                </a:solidFill>
              </a:rPr>
              <a:t>LER</a:t>
            </a:r>
            <a:endParaRPr lang="en-US" b="1" dirty="0">
              <a:solidFill>
                <a:srgbClr val="00FDFF"/>
              </a:solidFill>
            </a:endParaRPr>
          </a:p>
        </p:txBody>
      </p:sp>
      <p:sp>
        <p:nvSpPr>
          <p:cNvPr id="29" name="TextBox 28"/>
          <p:cNvSpPr txBox="1"/>
          <p:nvPr/>
        </p:nvSpPr>
        <p:spPr>
          <a:xfrm>
            <a:off x="3782907" y="4644949"/>
            <a:ext cx="447558" cy="369332"/>
          </a:xfrm>
          <a:prstGeom prst="rect">
            <a:avLst/>
          </a:prstGeom>
          <a:noFill/>
        </p:spPr>
        <p:txBody>
          <a:bodyPr wrap="none" rtlCol="0">
            <a:spAutoFit/>
          </a:bodyPr>
          <a:lstStyle/>
          <a:p>
            <a:r>
              <a:rPr lang="en-US" b="1" dirty="0" smtClean="0"/>
              <a:t>H4</a:t>
            </a:r>
            <a:endParaRPr lang="en-US" b="1" dirty="0"/>
          </a:p>
        </p:txBody>
      </p:sp>
      <p:sp>
        <p:nvSpPr>
          <p:cNvPr id="30" name="TextBox 29"/>
          <p:cNvSpPr txBox="1"/>
          <p:nvPr/>
        </p:nvSpPr>
        <p:spPr>
          <a:xfrm>
            <a:off x="8392006" y="4777264"/>
            <a:ext cx="447558" cy="369332"/>
          </a:xfrm>
          <a:prstGeom prst="rect">
            <a:avLst/>
          </a:prstGeom>
          <a:noFill/>
        </p:spPr>
        <p:txBody>
          <a:bodyPr wrap="none" rtlCol="0">
            <a:spAutoFit/>
          </a:bodyPr>
          <a:lstStyle/>
          <a:p>
            <a:r>
              <a:rPr lang="en-US" b="1" dirty="0" smtClean="0"/>
              <a:t>H5</a:t>
            </a:r>
            <a:endParaRPr lang="en-US" b="1" dirty="0"/>
          </a:p>
        </p:txBody>
      </p:sp>
      <p:sp>
        <p:nvSpPr>
          <p:cNvPr id="31" name="TextBox 30"/>
          <p:cNvSpPr txBox="1"/>
          <p:nvPr/>
        </p:nvSpPr>
        <p:spPr>
          <a:xfrm>
            <a:off x="3411971" y="3896141"/>
            <a:ext cx="1636987" cy="369332"/>
          </a:xfrm>
          <a:prstGeom prst="rect">
            <a:avLst/>
          </a:prstGeom>
          <a:noFill/>
        </p:spPr>
        <p:txBody>
          <a:bodyPr wrap="none" rtlCol="0">
            <a:spAutoFit/>
          </a:bodyPr>
          <a:lstStyle/>
          <a:p>
            <a:r>
              <a:rPr lang="en-US" b="1" dirty="0" smtClean="0">
                <a:solidFill>
                  <a:schemeClr val="accent4">
                    <a:lumMod val="60000"/>
                    <a:lumOff val="40000"/>
                  </a:schemeClr>
                </a:solidFill>
              </a:rPr>
              <a:t>192.168.1.0/24</a:t>
            </a:r>
            <a:endParaRPr lang="en-US" b="1" dirty="0">
              <a:solidFill>
                <a:schemeClr val="accent4">
                  <a:lumMod val="60000"/>
                  <a:lumOff val="40000"/>
                </a:schemeClr>
              </a:solidFill>
            </a:endParaRPr>
          </a:p>
        </p:txBody>
      </p:sp>
      <p:sp>
        <p:nvSpPr>
          <p:cNvPr id="32" name="TextBox 31"/>
          <p:cNvSpPr txBox="1"/>
          <p:nvPr/>
        </p:nvSpPr>
        <p:spPr>
          <a:xfrm>
            <a:off x="3032541" y="4371511"/>
            <a:ext cx="417102" cy="369332"/>
          </a:xfrm>
          <a:prstGeom prst="rect">
            <a:avLst/>
          </a:prstGeom>
          <a:noFill/>
        </p:spPr>
        <p:txBody>
          <a:bodyPr wrap="none" rtlCol="0">
            <a:spAutoFit/>
          </a:bodyPr>
          <a:lstStyle/>
          <a:p>
            <a:r>
              <a:rPr lang="en-US" b="1" dirty="0" smtClean="0">
                <a:solidFill>
                  <a:schemeClr val="accent4">
                    <a:lumMod val="60000"/>
                    <a:lumOff val="40000"/>
                  </a:schemeClr>
                </a:solidFill>
              </a:rPr>
              <a:t>e0</a:t>
            </a:r>
            <a:endParaRPr lang="en-US" b="1" dirty="0">
              <a:solidFill>
                <a:schemeClr val="accent4">
                  <a:lumMod val="60000"/>
                  <a:lumOff val="40000"/>
                </a:schemeClr>
              </a:solidFill>
            </a:endParaRPr>
          </a:p>
        </p:txBody>
      </p:sp>
      <p:sp>
        <p:nvSpPr>
          <p:cNvPr id="33" name="TextBox 32"/>
          <p:cNvSpPr txBox="1"/>
          <p:nvPr/>
        </p:nvSpPr>
        <p:spPr>
          <a:xfrm>
            <a:off x="3559285" y="4267293"/>
            <a:ext cx="415498" cy="369332"/>
          </a:xfrm>
          <a:prstGeom prst="rect">
            <a:avLst/>
          </a:prstGeom>
          <a:noFill/>
        </p:spPr>
        <p:txBody>
          <a:bodyPr wrap="none" rtlCol="0">
            <a:spAutoFit/>
          </a:bodyPr>
          <a:lstStyle/>
          <a:p>
            <a:r>
              <a:rPr lang="en-US" b="1" dirty="0" smtClean="0">
                <a:solidFill>
                  <a:schemeClr val="accent4">
                    <a:lumMod val="60000"/>
                    <a:lumOff val="40000"/>
                  </a:schemeClr>
                </a:solidFill>
              </a:rPr>
              <a:t>. 2</a:t>
            </a:r>
            <a:endParaRPr lang="en-US" b="1" dirty="0">
              <a:solidFill>
                <a:schemeClr val="accent4">
                  <a:lumMod val="60000"/>
                  <a:lumOff val="40000"/>
                </a:schemeClr>
              </a:solidFill>
            </a:endParaRPr>
          </a:p>
        </p:txBody>
      </p:sp>
      <p:sp>
        <p:nvSpPr>
          <p:cNvPr id="34" name="TextBox 33"/>
          <p:cNvSpPr txBox="1"/>
          <p:nvPr/>
        </p:nvSpPr>
        <p:spPr>
          <a:xfrm>
            <a:off x="7628905" y="4371511"/>
            <a:ext cx="417102" cy="369332"/>
          </a:xfrm>
          <a:prstGeom prst="rect">
            <a:avLst/>
          </a:prstGeom>
          <a:noFill/>
        </p:spPr>
        <p:txBody>
          <a:bodyPr wrap="none" rtlCol="0">
            <a:spAutoFit/>
          </a:bodyPr>
          <a:lstStyle/>
          <a:p>
            <a:r>
              <a:rPr lang="en-US" b="1" dirty="0" smtClean="0">
                <a:solidFill>
                  <a:schemeClr val="accent4">
                    <a:lumMod val="60000"/>
                    <a:lumOff val="40000"/>
                  </a:schemeClr>
                </a:solidFill>
              </a:rPr>
              <a:t>e0</a:t>
            </a:r>
            <a:endParaRPr lang="en-US" b="1" dirty="0">
              <a:solidFill>
                <a:schemeClr val="accent4">
                  <a:lumMod val="60000"/>
                  <a:lumOff val="40000"/>
                </a:schemeClr>
              </a:solidFill>
            </a:endParaRPr>
          </a:p>
        </p:txBody>
      </p:sp>
      <p:sp>
        <p:nvSpPr>
          <p:cNvPr id="35" name="TextBox 34"/>
          <p:cNvSpPr txBox="1"/>
          <p:nvPr/>
        </p:nvSpPr>
        <p:spPr>
          <a:xfrm>
            <a:off x="8031336" y="3462844"/>
            <a:ext cx="415498" cy="369332"/>
          </a:xfrm>
          <a:prstGeom prst="rect">
            <a:avLst/>
          </a:prstGeom>
          <a:noFill/>
        </p:spPr>
        <p:txBody>
          <a:bodyPr wrap="none" rtlCol="0">
            <a:spAutoFit/>
          </a:bodyPr>
          <a:lstStyle/>
          <a:p>
            <a:r>
              <a:rPr lang="en-US" b="1" dirty="0" smtClean="0">
                <a:solidFill>
                  <a:schemeClr val="accent4">
                    <a:lumMod val="60000"/>
                    <a:lumOff val="40000"/>
                  </a:schemeClr>
                </a:solidFill>
              </a:rPr>
              <a:t>. 1</a:t>
            </a:r>
            <a:endParaRPr lang="en-US" b="1" dirty="0">
              <a:solidFill>
                <a:schemeClr val="accent4">
                  <a:lumMod val="60000"/>
                  <a:lumOff val="40000"/>
                </a:schemeClr>
              </a:solidFill>
            </a:endParaRPr>
          </a:p>
        </p:txBody>
      </p:sp>
      <p:sp>
        <p:nvSpPr>
          <p:cNvPr id="36" name="TextBox 35"/>
          <p:cNvSpPr txBox="1"/>
          <p:nvPr/>
        </p:nvSpPr>
        <p:spPr>
          <a:xfrm>
            <a:off x="6433500" y="3872316"/>
            <a:ext cx="1636987" cy="369332"/>
          </a:xfrm>
          <a:prstGeom prst="rect">
            <a:avLst/>
          </a:prstGeom>
          <a:noFill/>
        </p:spPr>
        <p:txBody>
          <a:bodyPr wrap="none" rtlCol="0">
            <a:spAutoFit/>
          </a:bodyPr>
          <a:lstStyle/>
          <a:p>
            <a:r>
              <a:rPr lang="en-US" b="1" dirty="0" smtClean="0">
                <a:solidFill>
                  <a:schemeClr val="accent4">
                    <a:lumMod val="60000"/>
                    <a:lumOff val="40000"/>
                  </a:schemeClr>
                </a:solidFill>
              </a:rPr>
              <a:t>192.168.2.0/24</a:t>
            </a:r>
            <a:endParaRPr lang="en-US" b="1" dirty="0">
              <a:solidFill>
                <a:schemeClr val="accent4">
                  <a:lumMod val="60000"/>
                  <a:lumOff val="40000"/>
                </a:schemeClr>
              </a:solidFill>
            </a:endParaRPr>
          </a:p>
        </p:txBody>
      </p:sp>
      <p:sp>
        <p:nvSpPr>
          <p:cNvPr id="37" name="TextBox 36"/>
          <p:cNvSpPr txBox="1"/>
          <p:nvPr/>
        </p:nvSpPr>
        <p:spPr>
          <a:xfrm>
            <a:off x="5568895" y="1156240"/>
            <a:ext cx="521297" cy="369332"/>
          </a:xfrm>
          <a:prstGeom prst="rect">
            <a:avLst/>
          </a:prstGeom>
          <a:noFill/>
        </p:spPr>
        <p:txBody>
          <a:bodyPr wrap="none" rtlCol="0">
            <a:spAutoFit/>
          </a:bodyPr>
          <a:lstStyle/>
          <a:p>
            <a:r>
              <a:rPr lang="en-US" b="1" dirty="0" smtClean="0">
                <a:solidFill>
                  <a:srgbClr val="00FDFF"/>
                </a:solidFill>
              </a:rPr>
              <a:t>LSR</a:t>
            </a:r>
            <a:endParaRPr lang="en-US" b="1" dirty="0">
              <a:solidFill>
                <a:srgbClr val="00FDFF"/>
              </a:solidFill>
            </a:endParaRPr>
          </a:p>
        </p:txBody>
      </p:sp>
      <p:sp>
        <p:nvSpPr>
          <p:cNvPr id="38" name="TextBox 37"/>
          <p:cNvSpPr txBox="1"/>
          <p:nvPr/>
        </p:nvSpPr>
        <p:spPr>
          <a:xfrm>
            <a:off x="3040331" y="3403045"/>
            <a:ext cx="415498" cy="369332"/>
          </a:xfrm>
          <a:prstGeom prst="rect">
            <a:avLst/>
          </a:prstGeom>
          <a:noFill/>
        </p:spPr>
        <p:txBody>
          <a:bodyPr wrap="none" rtlCol="0">
            <a:spAutoFit/>
          </a:bodyPr>
          <a:lstStyle/>
          <a:p>
            <a:r>
              <a:rPr lang="en-US" b="1" dirty="0" smtClean="0">
                <a:solidFill>
                  <a:schemeClr val="accent4">
                    <a:lumMod val="60000"/>
                    <a:lumOff val="40000"/>
                  </a:schemeClr>
                </a:solidFill>
              </a:rPr>
              <a:t>. 1</a:t>
            </a:r>
            <a:endParaRPr lang="en-US" b="1" dirty="0">
              <a:solidFill>
                <a:schemeClr val="accent4">
                  <a:lumMod val="60000"/>
                  <a:lumOff val="40000"/>
                </a:schemeClr>
              </a:solidFill>
            </a:endParaRPr>
          </a:p>
        </p:txBody>
      </p:sp>
      <p:sp>
        <p:nvSpPr>
          <p:cNvPr id="39" name="TextBox 38"/>
          <p:cNvSpPr txBox="1"/>
          <p:nvPr/>
        </p:nvSpPr>
        <p:spPr>
          <a:xfrm>
            <a:off x="8092386" y="4364519"/>
            <a:ext cx="415498" cy="369332"/>
          </a:xfrm>
          <a:prstGeom prst="rect">
            <a:avLst/>
          </a:prstGeom>
          <a:noFill/>
        </p:spPr>
        <p:txBody>
          <a:bodyPr wrap="none" rtlCol="0">
            <a:spAutoFit/>
          </a:bodyPr>
          <a:lstStyle/>
          <a:p>
            <a:r>
              <a:rPr lang="en-US" b="1" dirty="0" smtClean="0">
                <a:solidFill>
                  <a:schemeClr val="accent4">
                    <a:lumMod val="60000"/>
                    <a:lumOff val="40000"/>
                  </a:schemeClr>
                </a:solidFill>
              </a:rPr>
              <a:t>. 2</a:t>
            </a:r>
            <a:endParaRPr lang="en-US" b="1" dirty="0">
              <a:solidFill>
                <a:schemeClr val="accent4">
                  <a:lumMod val="60000"/>
                  <a:lumOff val="40000"/>
                </a:schemeClr>
              </a:solidFill>
            </a:endParaRPr>
          </a:p>
        </p:txBody>
      </p:sp>
      <p:sp>
        <p:nvSpPr>
          <p:cNvPr id="40" name="TextBox 39"/>
          <p:cNvSpPr txBox="1"/>
          <p:nvPr/>
        </p:nvSpPr>
        <p:spPr>
          <a:xfrm>
            <a:off x="4427431" y="2566356"/>
            <a:ext cx="1285929" cy="369332"/>
          </a:xfrm>
          <a:prstGeom prst="rect">
            <a:avLst/>
          </a:prstGeom>
          <a:noFill/>
        </p:spPr>
        <p:txBody>
          <a:bodyPr wrap="none" rtlCol="0">
            <a:spAutoFit/>
          </a:bodyPr>
          <a:lstStyle/>
          <a:p>
            <a:r>
              <a:rPr lang="en-US" b="1" dirty="0" smtClean="0">
                <a:solidFill>
                  <a:schemeClr val="accent4">
                    <a:lumMod val="60000"/>
                    <a:lumOff val="40000"/>
                  </a:schemeClr>
                </a:solidFill>
              </a:rPr>
              <a:t>10.0.0.0/30</a:t>
            </a:r>
            <a:endParaRPr lang="en-US" b="1" dirty="0">
              <a:solidFill>
                <a:schemeClr val="accent4">
                  <a:lumMod val="60000"/>
                  <a:lumOff val="40000"/>
                </a:schemeClr>
              </a:solidFill>
            </a:endParaRPr>
          </a:p>
        </p:txBody>
      </p:sp>
      <p:sp>
        <p:nvSpPr>
          <p:cNvPr id="41" name="TextBox 40"/>
          <p:cNvSpPr txBox="1"/>
          <p:nvPr/>
        </p:nvSpPr>
        <p:spPr>
          <a:xfrm>
            <a:off x="7005680" y="2366782"/>
            <a:ext cx="1285929" cy="369332"/>
          </a:xfrm>
          <a:prstGeom prst="rect">
            <a:avLst/>
          </a:prstGeom>
          <a:noFill/>
        </p:spPr>
        <p:txBody>
          <a:bodyPr wrap="none" rtlCol="0">
            <a:spAutoFit/>
          </a:bodyPr>
          <a:lstStyle/>
          <a:p>
            <a:r>
              <a:rPr lang="en-US" b="1" dirty="0" smtClean="0">
                <a:solidFill>
                  <a:schemeClr val="accent4">
                    <a:lumMod val="60000"/>
                    <a:lumOff val="40000"/>
                  </a:schemeClr>
                </a:solidFill>
              </a:rPr>
              <a:t>10.0.1.0/30</a:t>
            </a:r>
            <a:endParaRPr lang="en-US" b="1" dirty="0">
              <a:solidFill>
                <a:schemeClr val="accent4">
                  <a:lumMod val="60000"/>
                  <a:lumOff val="40000"/>
                </a:schemeClr>
              </a:solidFill>
            </a:endParaRPr>
          </a:p>
        </p:txBody>
      </p:sp>
      <p:sp>
        <p:nvSpPr>
          <p:cNvPr id="42" name="TextBox 41"/>
          <p:cNvSpPr txBox="1"/>
          <p:nvPr/>
        </p:nvSpPr>
        <p:spPr>
          <a:xfrm>
            <a:off x="3679390" y="2537844"/>
            <a:ext cx="415498" cy="369332"/>
          </a:xfrm>
          <a:prstGeom prst="rect">
            <a:avLst/>
          </a:prstGeom>
          <a:noFill/>
        </p:spPr>
        <p:txBody>
          <a:bodyPr wrap="none" rtlCol="0">
            <a:spAutoFit/>
          </a:bodyPr>
          <a:lstStyle/>
          <a:p>
            <a:r>
              <a:rPr lang="en-US" b="1" dirty="0" smtClean="0">
                <a:solidFill>
                  <a:schemeClr val="accent4">
                    <a:lumMod val="60000"/>
                    <a:lumOff val="40000"/>
                  </a:schemeClr>
                </a:solidFill>
              </a:rPr>
              <a:t>. 1</a:t>
            </a:r>
            <a:endParaRPr lang="en-US" b="1" dirty="0">
              <a:solidFill>
                <a:schemeClr val="accent4">
                  <a:lumMod val="60000"/>
                  <a:lumOff val="40000"/>
                </a:schemeClr>
              </a:solidFill>
            </a:endParaRPr>
          </a:p>
        </p:txBody>
      </p:sp>
      <p:sp>
        <p:nvSpPr>
          <p:cNvPr id="43" name="TextBox 42"/>
          <p:cNvSpPr txBox="1"/>
          <p:nvPr/>
        </p:nvSpPr>
        <p:spPr>
          <a:xfrm>
            <a:off x="5198267" y="2145856"/>
            <a:ext cx="415498" cy="369332"/>
          </a:xfrm>
          <a:prstGeom prst="rect">
            <a:avLst/>
          </a:prstGeom>
          <a:noFill/>
        </p:spPr>
        <p:txBody>
          <a:bodyPr wrap="none" rtlCol="0">
            <a:spAutoFit/>
          </a:bodyPr>
          <a:lstStyle/>
          <a:p>
            <a:r>
              <a:rPr lang="en-US" b="1" dirty="0" smtClean="0">
                <a:solidFill>
                  <a:schemeClr val="accent4">
                    <a:lumMod val="60000"/>
                    <a:lumOff val="40000"/>
                  </a:schemeClr>
                </a:solidFill>
              </a:rPr>
              <a:t>. 2</a:t>
            </a:r>
            <a:endParaRPr lang="en-US" b="1" dirty="0">
              <a:solidFill>
                <a:schemeClr val="accent4">
                  <a:lumMod val="60000"/>
                  <a:lumOff val="40000"/>
                </a:schemeClr>
              </a:solidFill>
            </a:endParaRPr>
          </a:p>
        </p:txBody>
      </p:sp>
      <p:sp>
        <p:nvSpPr>
          <p:cNvPr id="44" name="TextBox 43"/>
          <p:cNvSpPr txBox="1"/>
          <p:nvPr/>
        </p:nvSpPr>
        <p:spPr>
          <a:xfrm>
            <a:off x="6161645" y="2014962"/>
            <a:ext cx="415498" cy="369332"/>
          </a:xfrm>
          <a:prstGeom prst="rect">
            <a:avLst/>
          </a:prstGeom>
          <a:noFill/>
        </p:spPr>
        <p:txBody>
          <a:bodyPr wrap="none" rtlCol="0">
            <a:spAutoFit/>
          </a:bodyPr>
          <a:lstStyle/>
          <a:p>
            <a:r>
              <a:rPr lang="en-US" b="1" dirty="0" smtClean="0">
                <a:solidFill>
                  <a:schemeClr val="accent4">
                    <a:lumMod val="60000"/>
                    <a:lumOff val="40000"/>
                  </a:schemeClr>
                </a:solidFill>
              </a:rPr>
              <a:t>. 2</a:t>
            </a:r>
            <a:endParaRPr lang="en-US" b="1" dirty="0">
              <a:solidFill>
                <a:schemeClr val="accent4">
                  <a:lumMod val="60000"/>
                  <a:lumOff val="40000"/>
                </a:schemeClr>
              </a:solidFill>
            </a:endParaRPr>
          </a:p>
        </p:txBody>
      </p:sp>
      <p:sp>
        <p:nvSpPr>
          <p:cNvPr id="45" name="TextBox 44"/>
          <p:cNvSpPr txBox="1"/>
          <p:nvPr/>
        </p:nvSpPr>
        <p:spPr>
          <a:xfrm>
            <a:off x="7615838" y="2684040"/>
            <a:ext cx="415498" cy="369332"/>
          </a:xfrm>
          <a:prstGeom prst="rect">
            <a:avLst/>
          </a:prstGeom>
          <a:noFill/>
        </p:spPr>
        <p:txBody>
          <a:bodyPr wrap="none" rtlCol="0">
            <a:spAutoFit/>
          </a:bodyPr>
          <a:lstStyle/>
          <a:p>
            <a:r>
              <a:rPr lang="en-US" b="1" dirty="0" smtClean="0">
                <a:solidFill>
                  <a:schemeClr val="accent4">
                    <a:lumMod val="60000"/>
                    <a:lumOff val="40000"/>
                  </a:schemeClr>
                </a:solidFill>
              </a:rPr>
              <a:t>. 1</a:t>
            </a:r>
            <a:endParaRPr lang="en-US" b="1" dirty="0">
              <a:solidFill>
                <a:schemeClr val="accent4">
                  <a:lumMod val="60000"/>
                  <a:lumOff val="40000"/>
                </a:schemeClr>
              </a:solidFill>
            </a:endParaRPr>
          </a:p>
        </p:txBody>
      </p:sp>
    </p:spTree>
    <p:extLst>
      <p:ext uri="{BB962C8B-B14F-4D97-AF65-F5344CB8AC3E}">
        <p14:creationId xmlns:p14="http://schemas.microsoft.com/office/powerpoint/2010/main" val="33132119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706681" y="3807089"/>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smtClean="0">
                <a:solidFill>
                  <a:schemeClr val="bg1">
                    <a:lumMod val="75000"/>
                  </a:schemeClr>
                </a:solidFill>
              </a:rPr>
              <a:t>BGP Message</a:t>
            </a:r>
            <a:endParaRPr lang="en-US" b="1" dirty="0">
              <a:solidFill>
                <a:schemeClr val="bg1">
                  <a:lumMod val="75000"/>
                </a:schemeClr>
              </a:solidFill>
            </a:endParaRPr>
          </a:p>
        </p:txBody>
      </p:sp>
      <p:sp>
        <p:nvSpPr>
          <p:cNvPr id="5" name="Title 1"/>
          <p:cNvSpPr txBox="1">
            <a:spLocks/>
          </p:cNvSpPr>
          <p:nvPr/>
        </p:nvSpPr>
        <p:spPr>
          <a:xfrm>
            <a:off x="1748245" y="4130260"/>
            <a:ext cx="4493125" cy="49083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b="1" dirty="0">
                <a:solidFill>
                  <a:schemeClr val="bg1">
                    <a:lumMod val="75000"/>
                  </a:schemeClr>
                </a:solidFill>
              </a:rPr>
              <a:t>Border Gateway protocol (BGP</a:t>
            </a:r>
          </a:p>
        </p:txBody>
      </p:sp>
      <p:sp>
        <p:nvSpPr>
          <p:cNvPr id="2" name="Rectangle 1"/>
          <p:cNvSpPr/>
          <p:nvPr/>
        </p:nvSpPr>
        <p:spPr>
          <a:xfrm>
            <a:off x="7302144" y="4159426"/>
            <a:ext cx="4414575" cy="923330"/>
          </a:xfrm>
          <a:prstGeom prst="rect">
            <a:avLst/>
          </a:prstGeom>
        </p:spPr>
        <p:txBody>
          <a:bodyPr wrap="square">
            <a:spAutoFit/>
          </a:bodyPr>
          <a:lstStyle/>
          <a:p>
            <a:r>
              <a:rPr lang="en-US" dirty="0">
                <a:solidFill>
                  <a:schemeClr val="bg1">
                    <a:lumMod val="75000"/>
                  </a:schemeClr>
                </a:solidFill>
              </a:rPr>
              <a:t>BGP MPLS Layer 3 VPNs GNS3 </a:t>
            </a:r>
            <a:r>
              <a:rPr lang="en-US" dirty="0" smtClean="0">
                <a:solidFill>
                  <a:schemeClr val="bg1">
                    <a:lumMod val="75000"/>
                  </a:schemeClr>
                </a:solidFill>
              </a:rPr>
              <a:t>Lab </a:t>
            </a:r>
          </a:p>
          <a:p>
            <a:r>
              <a:rPr lang="en-US" dirty="0" smtClean="0">
                <a:solidFill>
                  <a:schemeClr val="bg1">
                    <a:lumMod val="75000"/>
                  </a:schemeClr>
                </a:solidFill>
              </a:rPr>
              <a:t>MPLS </a:t>
            </a:r>
            <a:r>
              <a:rPr lang="en-US" dirty="0">
                <a:solidFill>
                  <a:schemeClr val="bg1">
                    <a:lumMod val="75000"/>
                  </a:schemeClr>
                </a:solidFill>
              </a:rPr>
              <a:t>L3 VPN </a:t>
            </a:r>
            <a:endParaRPr lang="en-US" dirty="0" smtClean="0">
              <a:solidFill>
                <a:schemeClr val="bg1">
                  <a:lumMod val="75000"/>
                </a:schemeClr>
              </a:solidFill>
            </a:endParaRPr>
          </a:p>
          <a:p>
            <a:r>
              <a:rPr lang="en-US" dirty="0" smtClean="0">
                <a:solidFill>
                  <a:schemeClr val="bg1">
                    <a:lumMod val="75000"/>
                  </a:schemeClr>
                </a:solidFill>
              </a:rPr>
              <a:t>Cisco </a:t>
            </a:r>
            <a:r>
              <a:rPr lang="en-US" dirty="0">
                <a:solidFill>
                  <a:schemeClr val="bg1">
                    <a:lumMod val="75000"/>
                  </a:schemeClr>
                </a:solidFill>
              </a:rPr>
              <a:t>MPLS VPN Configuration Guide </a:t>
            </a:r>
          </a:p>
        </p:txBody>
      </p:sp>
    </p:spTree>
    <p:extLst>
      <p:ext uri="{BB962C8B-B14F-4D97-AF65-F5344CB8AC3E}">
        <p14:creationId xmlns:p14="http://schemas.microsoft.com/office/powerpoint/2010/main" val="13715330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stretch>
            <a:fillRect/>
          </a:stretch>
        </p:blipFill>
        <p:spPr>
          <a:xfrm>
            <a:off x="1923333" y="715418"/>
            <a:ext cx="8212471" cy="4541284"/>
          </a:xfrm>
          <a:prstGeom prst="rect">
            <a:avLst/>
          </a:prstGeom>
          <a:ln>
            <a:solidFill>
              <a:schemeClr val="bg1"/>
            </a:solidFill>
          </a:ln>
        </p:spPr>
      </p:pic>
      <p:sp>
        <p:nvSpPr>
          <p:cNvPr id="6" name="TextBox 5"/>
          <p:cNvSpPr txBox="1"/>
          <p:nvPr/>
        </p:nvSpPr>
        <p:spPr>
          <a:xfrm>
            <a:off x="8813074" y="1375954"/>
            <a:ext cx="795411" cy="1366528"/>
          </a:xfrm>
          <a:prstGeom prst="rect">
            <a:avLst/>
          </a:prstGeom>
          <a:noFill/>
        </p:spPr>
        <p:txBody>
          <a:bodyPr wrap="none" rtlCol="0">
            <a:spAutoFit/>
          </a:bodyPr>
          <a:lstStyle/>
          <a:p>
            <a:r>
              <a:rPr lang="en-US" sz="920" dirty="0"/>
              <a:t>SGB-600</a:t>
            </a:r>
          </a:p>
          <a:p>
            <a:r>
              <a:rPr lang="en-US" sz="920" dirty="0"/>
              <a:t>BLG-700</a:t>
            </a:r>
          </a:p>
          <a:p>
            <a:r>
              <a:rPr lang="en-US" sz="920" dirty="0"/>
              <a:t>AMA-AS200</a:t>
            </a:r>
          </a:p>
          <a:p>
            <a:r>
              <a:rPr lang="en-US" sz="920" dirty="0" smtClean="0"/>
              <a:t>13.13.0.0/16</a:t>
            </a:r>
          </a:p>
          <a:p>
            <a:r>
              <a:rPr lang="en-US" sz="920" dirty="0" smtClean="0"/>
              <a:t>14.14.0.0/16</a:t>
            </a:r>
          </a:p>
          <a:p>
            <a:r>
              <a:rPr lang="en-US" sz="920" dirty="0" smtClean="0"/>
              <a:t>Cisco.net</a:t>
            </a:r>
          </a:p>
          <a:p>
            <a:r>
              <a:rPr lang="en-US" sz="920" dirty="0" smtClean="0"/>
              <a:t>L3-AS_100</a:t>
            </a:r>
          </a:p>
          <a:p>
            <a:r>
              <a:rPr lang="en-US" sz="920" dirty="0" smtClean="0"/>
              <a:t>ISP-901</a:t>
            </a:r>
          </a:p>
          <a:p>
            <a:endParaRPr lang="en-US" sz="920" dirty="0"/>
          </a:p>
        </p:txBody>
      </p:sp>
      <p:sp>
        <p:nvSpPr>
          <p:cNvPr id="8" name="TextBox 7"/>
          <p:cNvSpPr txBox="1"/>
          <p:nvPr/>
        </p:nvSpPr>
        <p:spPr>
          <a:xfrm>
            <a:off x="1979395" y="1454472"/>
            <a:ext cx="862224" cy="523220"/>
          </a:xfrm>
          <a:prstGeom prst="rect">
            <a:avLst/>
          </a:prstGeom>
          <a:noFill/>
        </p:spPr>
        <p:txBody>
          <a:bodyPr wrap="none" rtlCol="0">
            <a:spAutoFit/>
          </a:bodyPr>
          <a:lstStyle/>
          <a:p>
            <a:r>
              <a:rPr lang="en-US" sz="1400" b="1" dirty="0" smtClean="0"/>
              <a:t>Cisco.net</a:t>
            </a:r>
          </a:p>
          <a:p>
            <a:endParaRPr lang="en-US" sz="1400" b="1" dirty="0"/>
          </a:p>
        </p:txBody>
      </p:sp>
      <p:sp>
        <p:nvSpPr>
          <p:cNvPr id="9" name="TextBox 8"/>
          <p:cNvSpPr txBox="1"/>
          <p:nvPr/>
        </p:nvSpPr>
        <p:spPr>
          <a:xfrm>
            <a:off x="2506714" y="1742208"/>
            <a:ext cx="963725" cy="523220"/>
          </a:xfrm>
          <a:prstGeom prst="rect">
            <a:avLst/>
          </a:prstGeom>
          <a:noFill/>
        </p:spPr>
        <p:txBody>
          <a:bodyPr wrap="none" rtlCol="0">
            <a:spAutoFit/>
          </a:bodyPr>
          <a:lstStyle/>
          <a:p>
            <a:r>
              <a:rPr lang="en-US" sz="1400" b="1" dirty="0" smtClean="0"/>
              <a:t>L3-AS_100</a:t>
            </a:r>
          </a:p>
          <a:p>
            <a:endParaRPr lang="en-US" sz="1400" b="1" dirty="0"/>
          </a:p>
        </p:txBody>
      </p:sp>
      <p:sp>
        <p:nvSpPr>
          <p:cNvPr id="10" name="TextBox 9"/>
          <p:cNvSpPr txBox="1"/>
          <p:nvPr/>
        </p:nvSpPr>
        <p:spPr>
          <a:xfrm>
            <a:off x="2156909" y="3154021"/>
            <a:ext cx="813043" cy="523220"/>
          </a:xfrm>
          <a:prstGeom prst="rect">
            <a:avLst/>
          </a:prstGeom>
          <a:noFill/>
        </p:spPr>
        <p:txBody>
          <a:bodyPr wrap="none" rtlCol="0">
            <a:spAutoFit/>
          </a:bodyPr>
          <a:lstStyle/>
          <a:p>
            <a:r>
              <a:rPr lang="en-US" sz="1400" b="1" dirty="0" smtClean="0"/>
              <a:t>SBG-600</a:t>
            </a:r>
          </a:p>
          <a:p>
            <a:endParaRPr lang="en-US" sz="1400" b="1" dirty="0"/>
          </a:p>
        </p:txBody>
      </p:sp>
      <p:sp>
        <p:nvSpPr>
          <p:cNvPr id="11" name="TextBox 10"/>
          <p:cNvSpPr txBox="1"/>
          <p:nvPr/>
        </p:nvSpPr>
        <p:spPr>
          <a:xfrm>
            <a:off x="3985710" y="4213785"/>
            <a:ext cx="742511" cy="307777"/>
          </a:xfrm>
          <a:prstGeom prst="rect">
            <a:avLst/>
          </a:prstGeom>
          <a:noFill/>
        </p:spPr>
        <p:txBody>
          <a:bodyPr wrap="none" rtlCol="0">
            <a:spAutoFit/>
          </a:bodyPr>
          <a:lstStyle/>
          <a:p>
            <a:r>
              <a:rPr lang="en-US" sz="1400" b="1" dirty="0" smtClean="0"/>
              <a:t>ISP-901</a:t>
            </a:r>
            <a:endParaRPr lang="en-US" sz="1400" b="1" dirty="0"/>
          </a:p>
        </p:txBody>
      </p:sp>
      <p:sp>
        <p:nvSpPr>
          <p:cNvPr id="14" name="TextBox 13"/>
          <p:cNvSpPr txBox="1"/>
          <p:nvPr/>
        </p:nvSpPr>
        <p:spPr>
          <a:xfrm>
            <a:off x="2262454" y="4159194"/>
            <a:ext cx="1158330" cy="307777"/>
          </a:xfrm>
          <a:prstGeom prst="rect">
            <a:avLst/>
          </a:prstGeom>
          <a:noFill/>
        </p:spPr>
        <p:txBody>
          <a:bodyPr wrap="none" rtlCol="0">
            <a:spAutoFit/>
          </a:bodyPr>
          <a:lstStyle/>
          <a:p>
            <a:r>
              <a:rPr lang="en-US" sz="1400" b="1" dirty="0" smtClean="0"/>
              <a:t>myVPCS.com</a:t>
            </a:r>
            <a:endParaRPr lang="en-US" sz="1400" b="1" dirty="0"/>
          </a:p>
        </p:txBody>
      </p:sp>
      <p:sp>
        <p:nvSpPr>
          <p:cNvPr id="15" name="TextBox 14"/>
          <p:cNvSpPr txBox="1"/>
          <p:nvPr/>
        </p:nvSpPr>
        <p:spPr>
          <a:xfrm>
            <a:off x="4621560" y="3072256"/>
            <a:ext cx="799899" cy="523220"/>
          </a:xfrm>
          <a:prstGeom prst="rect">
            <a:avLst/>
          </a:prstGeom>
          <a:noFill/>
        </p:spPr>
        <p:txBody>
          <a:bodyPr wrap="none" rtlCol="0">
            <a:spAutoFit/>
          </a:bodyPr>
          <a:lstStyle/>
          <a:p>
            <a:r>
              <a:rPr lang="en-US" sz="1400" b="1" dirty="0" smtClean="0"/>
              <a:t>BLG-700</a:t>
            </a:r>
          </a:p>
          <a:p>
            <a:endParaRPr lang="en-US" sz="1400" b="1" dirty="0"/>
          </a:p>
        </p:txBody>
      </p:sp>
      <p:sp>
        <p:nvSpPr>
          <p:cNvPr id="16" name="TextBox 15"/>
          <p:cNvSpPr txBox="1"/>
          <p:nvPr/>
        </p:nvSpPr>
        <p:spPr>
          <a:xfrm>
            <a:off x="3815791" y="1913804"/>
            <a:ext cx="1082348" cy="523220"/>
          </a:xfrm>
          <a:prstGeom prst="rect">
            <a:avLst/>
          </a:prstGeom>
          <a:noFill/>
        </p:spPr>
        <p:txBody>
          <a:bodyPr wrap="none" rtlCol="0">
            <a:spAutoFit/>
          </a:bodyPr>
          <a:lstStyle/>
          <a:p>
            <a:r>
              <a:rPr lang="en-US" sz="1400" b="1" dirty="0" smtClean="0"/>
              <a:t>AMA-AS200</a:t>
            </a:r>
          </a:p>
          <a:p>
            <a:endParaRPr lang="en-US" sz="1400" b="1" dirty="0"/>
          </a:p>
        </p:txBody>
      </p:sp>
    </p:spTree>
    <p:extLst>
      <p:ext uri="{BB962C8B-B14F-4D97-AF65-F5344CB8AC3E}">
        <p14:creationId xmlns:p14="http://schemas.microsoft.com/office/powerpoint/2010/main" val="34366071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0788"/>
          </a:xfrm>
        </p:spPr>
        <p:txBody>
          <a:bodyPr>
            <a:normAutofit/>
          </a:bodyPr>
          <a:lstStyle/>
          <a:p>
            <a:r>
              <a:rPr lang="en-US" dirty="0" smtClean="0">
                <a:solidFill>
                  <a:schemeClr val="bg1">
                    <a:lumMod val="65000"/>
                  </a:schemeClr>
                </a:solidFill>
              </a:rPr>
              <a:t>MPLS</a:t>
            </a:r>
            <a:endParaRPr lang="en-US" dirty="0">
              <a:solidFill>
                <a:schemeClr val="bg1">
                  <a:lumMod val="65000"/>
                </a:schemeClr>
              </a:solidFill>
            </a:endParaRPr>
          </a:p>
        </p:txBody>
      </p:sp>
      <p:sp>
        <p:nvSpPr>
          <p:cNvPr id="4" name="Rectangle 3"/>
          <p:cNvSpPr/>
          <p:nvPr/>
        </p:nvSpPr>
        <p:spPr>
          <a:xfrm>
            <a:off x="0" y="6488668"/>
            <a:ext cx="3830857" cy="276999"/>
          </a:xfrm>
          <a:prstGeom prst="rect">
            <a:avLst/>
          </a:prstGeom>
        </p:spPr>
        <p:txBody>
          <a:bodyPr wrap="none">
            <a:spAutoFit/>
          </a:bodyPr>
          <a:lstStyle/>
          <a:p>
            <a:r>
              <a:rPr lang="en-US" sz="1200" dirty="0">
                <a:solidFill>
                  <a:schemeClr val="bg1">
                    <a:lumMod val="85000"/>
                  </a:schemeClr>
                </a:solidFill>
              </a:rPr>
              <a:t>http://wpage.unina.it/rcanonic/didattica/gns3-labs/lab16/</a:t>
            </a:r>
          </a:p>
        </p:txBody>
      </p:sp>
      <p:sp>
        <p:nvSpPr>
          <p:cNvPr id="5" name="Rectangle 4"/>
          <p:cNvSpPr/>
          <p:nvPr/>
        </p:nvSpPr>
        <p:spPr>
          <a:xfrm>
            <a:off x="838200" y="1104107"/>
            <a:ext cx="2305050" cy="276999"/>
          </a:xfrm>
          <a:prstGeom prst="rect">
            <a:avLst/>
          </a:prstGeom>
        </p:spPr>
        <p:txBody>
          <a:bodyPr wrap="square">
            <a:spAutoFit/>
          </a:bodyPr>
          <a:lstStyle/>
          <a:p>
            <a:r>
              <a:rPr lang="en-US" sz="1200" dirty="0" smtClean="0">
                <a:solidFill>
                  <a:schemeClr val="bg1">
                    <a:lumMod val="85000"/>
                  </a:schemeClr>
                </a:solidFill>
              </a:rPr>
              <a:t>(Multiprotocol </a:t>
            </a:r>
            <a:r>
              <a:rPr lang="en-US" sz="1200" dirty="0">
                <a:solidFill>
                  <a:schemeClr val="bg1">
                    <a:lumMod val="85000"/>
                  </a:schemeClr>
                </a:solidFill>
              </a:rPr>
              <a:t>Label </a:t>
            </a:r>
            <a:r>
              <a:rPr lang="en-US" sz="1200" dirty="0" smtClean="0">
                <a:solidFill>
                  <a:schemeClr val="bg1">
                    <a:lumMod val="85000"/>
                  </a:schemeClr>
                </a:solidFill>
              </a:rPr>
              <a:t>Switching)</a:t>
            </a:r>
            <a:endParaRPr lang="en-US" sz="1200" dirty="0">
              <a:solidFill>
                <a:schemeClr val="bg1">
                  <a:lumMod val="85000"/>
                </a:schemeClr>
              </a:solidFill>
            </a:endParaRPr>
          </a:p>
        </p:txBody>
      </p:sp>
      <p:sp>
        <p:nvSpPr>
          <p:cNvPr id="6" name="Rectangle 5"/>
          <p:cNvSpPr/>
          <p:nvPr/>
        </p:nvSpPr>
        <p:spPr>
          <a:xfrm>
            <a:off x="838200" y="1318986"/>
            <a:ext cx="4171270" cy="369332"/>
          </a:xfrm>
          <a:prstGeom prst="rect">
            <a:avLst/>
          </a:prstGeom>
        </p:spPr>
        <p:txBody>
          <a:bodyPr wrap="none">
            <a:spAutoFit/>
          </a:bodyPr>
          <a:lstStyle/>
          <a:p>
            <a:r>
              <a:rPr lang="en-US" dirty="0"/>
              <a:t>MPLS with static Label Switched Path (LSP)</a:t>
            </a:r>
          </a:p>
        </p:txBody>
      </p:sp>
    </p:spTree>
    <p:extLst>
      <p:ext uri="{BB962C8B-B14F-4D97-AF65-F5344CB8AC3E}">
        <p14:creationId xmlns:p14="http://schemas.microsoft.com/office/powerpoint/2010/main" val="29380677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Konfigurasi</a:t>
            </a:r>
            <a:r>
              <a:rPr lang="en-US" dirty="0" smtClean="0"/>
              <a:t> </a:t>
            </a:r>
            <a:r>
              <a:rPr lang="en-US" dirty="0"/>
              <a:t>autonomous system (AS), </a:t>
            </a:r>
            <a:r>
              <a:rPr lang="en-US" dirty="0" err="1"/>
              <a:t>pembentukan</a:t>
            </a:r>
            <a:r>
              <a:rPr lang="en-US" dirty="0"/>
              <a:t> neighbor (</a:t>
            </a:r>
            <a:r>
              <a:rPr lang="en-US" dirty="0" err="1"/>
              <a:t>tetangga</a:t>
            </a:r>
            <a:r>
              <a:rPr lang="en-US" dirty="0"/>
              <a:t>) EBGP/IBGP, </a:t>
            </a:r>
            <a:r>
              <a:rPr lang="en-US" dirty="0" err="1"/>
              <a:t>dan</a:t>
            </a:r>
            <a:r>
              <a:rPr lang="en-US" dirty="0"/>
              <a:t> advertising network</a:t>
            </a:r>
          </a:p>
        </p:txBody>
      </p:sp>
      <p:sp>
        <p:nvSpPr>
          <p:cNvPr id="3" name="Content Placeholder 2"/>
          <p:cNvSpPr>
            <a:spLocks noGrp="1"/>
          </p:cNvSpPr>
          <p:nvPr>
            <p:ph idx="1"/>
          </p:nvPr>
        </p:nvSpPr>
        <p:spPr/>
        <p:txBody>
          <a:bodyPr/>
          <a:lstStyle/>
          <a:p>
            <a:r>
              <a:rPr lang="en-US" dirty="0" err="1" smtClean="0"/>
              <a:t>Pertukaran</a:t>
            </a:r>
            <a:r>
              <a:rPr lang="en-US" dirty="0" smtClean="0"/>
              <a:t> </a:t>
            </a:r>
            <a:r>
              <a:rPr lang="en-US" dirty="0" err="1"/>
              <a:t>rute</a:t>
            </a:r>
            <a:r>
              <a:rPr lang="en-US" dirty="0"/>
              <a:t> </a:t>
            </a:r>
            <a:r>
              <a:rPr lang="en-US" dirty="0" err="1"/>
              <a:t>antar-jaringan</a:t>
            </a:r>
            <a:r>
              <a:rPr lang="en-US" dirty="0"/>
              <a:t> </a:t>
            </a:r>
            <a:r>
              <a:rPr lang="en-US" dirty="0" err="1"/>
              <a:t>berbeda</a:t>
            </a:r>
            <a:r>
              <a:rPr lang="en-US" dirty="0"/>
              <a:t>, </a:t>
            </a:r>
            <a:r>
              <a:rPr lang="en-US" dirty="0" err="1"/>
              <a:t>manipulasi</a:t>
            </a:r>
            <a:r>
              <a:rPr lang="en-US" dirty="0"/>
              <a:t> </a:t>
            </a:r>
            <a:r>
              <a:rPr lang="en-US" dirty="0" err="1"/>
              <a:t>jalur</a:t>
            </a:r>
            <a:r>
              <a:rPr lang="en-US" dirty="0"/>
              <a:t> </a:t>
            </a:r>
            <a:r>
              <a:rPr lang="en-US" dirty="0" err="1"/>
              <a:t>menggunakan</a:t>
            </a:r>
            <a:r>
              <a:rPr lang="en-US" dirty="0"/>
              <a:t> </a:t>
            </a:r>
            <a:r>
              <a:rPr lang="en-US" dirty="0" err="1"/>
              <a:t>atribut</a:t>
            </a:r>
            <a:r>
              <a:rPr lang="en-US" dirty="0"/>
              <a:t>, </a:t>
            </a:r>
            <a:r>
              <a:rPr lang="en-US" dirty="0" err="1"/>
              <a:t>dan</a:t>
            </a:r>
            <a:r>
              <a:rPr lang="en-US" dirty="0"/>
              <a:t> </a:t>
            </a:r>
            <a:r>
              <a:rPr lang="en-US" dirty="0" err="1"/>
              <a:t>verifikasi</a:t>
            </a:r>
            <a:r>
              <a:rPr lang="en-US" dirty="0"/>
              <a:t> </a:t>
            </a:r>
            <a:r>
              <a:rPr lang="en-US" dirty="0" err="1"/>
              <a:t>sesi</a:t>
            </a:r>
            <a:endParaRPr lang="en-US" dirty="0"/>
          </a:p>
        </p:txBody>
      </p:sp>
    </p:spTree>
    <p:extLst>
      <p:ext uri="{BB962C8B-B14F-4D97-AF65-F5344CB8AC3E}">
        <p14:creationId xmlns:p14="http://schemas.microsoft.com/office/powerpoint/2010/main" val="27458052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IP </a:t>
            </a:r>
            <a:r>
              <a:rPr lang="en-US" dirty="0" err="1" smtClean="0"/>
              <a:t>addres</a:t>
            </a:r>
            <a:r>
              <a:rPr lang="en-US" dirty="0" smtClean="0"/>
              <a:t> </a:t>
            </a:r>
            <a:r>
              <a:rPr lang="en-US" dirty="0" err="1" smtClean="0"/>
              <a:t>telah</a:t>
            </a:r>
            <a:r>
              <a:rPr lang="en-US" dirty="0" smtClean="0"/>
              <a:t> di configure BGP</a:t>
            </a:r>
            <a:endParaRPr lang="en-US" dirty="0"/>
          </a:p>
        </p:txBody>
      </p:sp>
      <p:pic>
        <p:nvPicPr>
          <p:cNvPr id="4" name="Content Placeholder 3"/>
          <p:cNvPicPr>
            <a:picLocks noGrp="1" noChangeAspect="1"/>
          </p:cNvPicPr>
          <p:nvPr>
            <p:ph idx="1"/>
          </p:nvPr>
        </p:nvPicPr>
        <p:blipFill>
          <a:blip r:embed="rId2"/>
          <a:stretch>
            <a:fillRect/>
          </a:stretch>
        </p:blipFill>
        <p:spPr>
          <a:xfrm>
            <a:off x="1004887" y="2282031"/>
            <a:ext cx="5724525" cy="2752725"/>
          </a:xfrm>
          <a:prstGeom prst="rect">
            <a:avLst/>
          </a:prstGeom>
        </p:spPr>
      </p:pic>
    </p:spTree>
    <p:extLst>
      <p:ext uri="{BB962C8B-B14F-4D97-AF65-F5344CB8AC3E}">
        <p14:creationId xmlns:p14="http://schemas.microsoft.com/office/powerpoint/2010/main" val="8028198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163" y="112710"/>
            <a:ext cx="10515600" cy="1325563"/>
          </a:xfrm>
        </p:spPr>
        <p:txBody>
          <a:bodyPr/>
          <a:lstStyle/>
          <a:p>
            <a:r>
              <a:rPr lang="en-US" dirty="0" smtClean="0"/>
              <a:t>Run </a:t>
            </a:r>
            <a:r>
              <a:rPr lang="en-US" dirty="0" err="1" smtClean="0"/>
              <a:t>Wiresark</a:t>
            </a:r>
            <a:endParaRPr lang="en-US" dirty="0"/>
          </a:p>
        </p:txBody>
      </p:sp>
      <p:sp>
        <p:nvSpPr>
          <p:cNvPr id="3" name="Content Placeholder 2"/>
          <p:cNvSpPr>
            <a:spLocks noGrp="1"/>
          </p:cNvSpPr>
          <p:nvPr>
            <p:ph idx="1"/>
          </p:nvPr>
        </p:nvSpPr>
        <p:spPr/>
        <p:txBody>
          <a:bodyPr/>
          <a:lstStyle/>
          <a:p>
            <a:r>
              <a:rPr lang="en-US" dirty="0" smtClean="0"/>
              <a:t>Start Capture</a:t>
            </a:r>
            <a:endParaRPr lang="en-US" dirty="0"/>
          </a:p>
        </p:txBody>
      </p:sp>
      <p:pic>
        <p:nvPicPr>
          <p:cNvPr id="4" name="Picture 3"/>
          <p:cNvPicPr>
            <a:picLocks noChangeAspect="1"/>
          </p:cNvPicPr>
          <p:nvPr/>
        </p:nvPicPr>
        <p:blipFill>
          <a:blip r:embed="rId2"/>
          <a:stretch>
            <a:fillRect/>
          </a:stretch>
        </p:blipFill>
        <p:spPr>
          <a:xfrm>
            <a:off x="1347787" y="2328862"/>
            <a:ext cx="3495675" cy="1800225"/>
          </a:xfrm>
          <a:prstGeom prst="rect">
            <a:avLst/>
          </a:prstGeom>
        </p:spPr>
      </p:pic>
      <p:sp>
        <p:nvSpPr>
          <p:cNvPr id="5" name="Content Placeholder 2"/>
          <p:cNvSpPr txBox="1">
            <a:spLocks/>
          </p:cNvSpPr>
          <p:nvPr/>
        </p:nvSpPr>
        <p:spPr>
          <a:xfrm>
            <a:off x="538163" y="1053305"/>
            <a:ext cx="10515600" cy="546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Kita </a:t>
            </a:r>
            <a:r>
              <a:rPr lang="en-US" dirty="0" err="1" smtClean="0"/>
              <a:t>adalah</a:t>
            </a:r>
            <a:r>
              <a:rPr lang="en-US" dirty="0" smtClean="0"/>
              <a:t> Admin </a:t>
            </a:r>
            <a:r>
              <a:rPr lang="en-US" dirty="0" err="1" smtClean="0"/>
              <a:t>dari</a:t>
            </a:r>
            <a:r>
              <a:rPr lang="en-US" dirty="0" smtClean="0"/>
              <a:t> My ISP</a:t>
            </a:r>
            <a:endParaRPr lang="en-US" dirty="0"/>
          </a:p>
        </p:txBody>
      </p:sp>
      <p:pic>
        <p:nvPicPr>
          <p:cNvPr id="6" name="Picture 5"/>
          <p:cNvPicPr>
            <a:picLocks noChangeAspect="1"/>
          </p:cNvPicPr>
          <p:nvPr/>
        </p:nvPicPr>
        <p:blipFill>
          <a:blip r:embed="rId3"/>
          <a:stretch>
            <a:fillRect/>
          </a:stretch>
        </p:blipFill>
        <p:spPr>
          <a:xfrm>
            <a:off x="5448298" y="1438273"/>
            <a:ext cx="6067425" cy="4286250"/>
          </a:xfrm>
          <a:prstGeom prst="rect">
            <a:avLst/>
          </a:prstGeom>
        </p:spPr>
      </p:pic>
      <p:sp>
        <p:nvSpPr>
          <p:cNvPr id="7" name="Content Placeholder 2"/>
          <p:cNvSpPr txBox="1">
            <a:spLocks/>
          </p:cNvSpPr>
          <p:nvPr/>
        </p:nvSpPr>
        <p:spPr>
          <a:xfrm>
            <a:off x="5448298" y="891378"/>
            <a:ext cx="10515600" cy="546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Kita </a:t>
            </a:r>
            <a:r>
              <a:rPr lang="en-US" dirty="0" err="1" smtClean="0"/>
              <a:t>adalah</a:t>
            </a:r>
            <a:r>
              <a:rPr lang="en-US" dirty="0" smtClean="0"/>
              <a:t> Admin </a:t>
            </a:r>
            <a:r>
              <a:rPr lang="en-US" dirty="0" err="1" smtClean="0"/>
              <a:t>dari</a:t>
            </a:r>
            <a:r>
              <a:rPr lang="en-US" dirty="0" smtClean="0"/>
              <a:t> My ISP</a:t>
            </a:r>
            <a:endParaRPr lang="en-US" dirty="0"/>
          </a:p>
        </p:txBody>
      </p:sp>
    </p:spTree>
    <p:extLst>
      <p:ext uri="{BB962C8B-B14F-4D97-AF65-F5344CB8AC3E}">
        <p14:creationId xmlns:p14="http://schemas.microsoft.com/office/powerpoint/2010/main" val="42793270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CDP</a:t>
            </a:r>
            <a:endParaRPr lang="en-US" dirty="0"/>
          </a:p>
        </p:txBody>
      </p:sp>
      <p:pic>
        <p:nvPicPr>
          <p:cNvPr id="4" name="Picture 3"/>
          <p:cNvPicPr>
            <a:picLocks noChangeAspect="1"/>
          </p:cNvPicPr>
          <p:nvPr/>
        </p:nvPicPr>
        <p:blipFill>
          <a:blip r:embed="rId2"/>
          <a:stretch>
            <a:fillRect/>
          </a:stretch>
        </p:blipFill>
        <p:spPr>
          <a:xfrm>
            <a:off x="219075" y="1400175"/>
            <a:ext cx="6067425" cy="4286250"/>
          </a:xfrm>
          <a:prstGeom prst="rect">
            <a:avLst/>
          </a:prstGeom>
        </p:spPr>
      </p:pic>
      <p:pic>
        <p:nvPicPr>
          <p:cNvPr id="5" name="Picture 4"/>
          <p:cNvPicPr>
            <a:picLocks noChangeAspect="1"/>
          </p:cNvPicPr>
          <p:nvPr/>
        </p:nvPicPr>
        <p:blipFill>
          <a:blip r:embed="rId3"/>
          <a:stretch>
            <a:fillRect/>
          </a:stretch>
        </p:blipFill>
        <p:spPr>
          <a:xfrm>
            <a:off x="5934075" y="0"/>
            <a:ext cx="6038850" cy="4305300"/>
          </a:xfrm>
          <a:prstGeom prst="rect">
            <a:avLst/>
          </a:prstGeom>
        </p:spPr>
      </p:pic>
      <p:pic>
        <p:nvPicPr>
          <p:cNvPr id="6" name="Picture 5"/>
          <p:cNvPicPr>
            <a:picLocks noChangeAspect="1"/>
          </p:cNvPicPr>
          <p:nvPr/>
        </p:nvPicPr>
        <p:blipFill>
          <a:blip r:embed="rId4"/>
          <a:stretch>
            <a:fillRect/>
          </a:stretch>
        </p:blipFill>
        <p:spPr>
          <a:xfrm>
            <a:off x="5872163" y="3507581"/>
            <a:ext cx="5895975" cy="4210050"/>
          </a:xfrm>
          <a:prstGeom prst="rect">
            <a:avLst/>
          </a:prstGeom>
        </p:spPr>
      </p:pic>
    </p:spTree>
    <p:extLst>
      <p:ext uri="{BB962C8B-B14F-4D97-AF65-F5344CB8AC3E}">
        <p14:creationId xmlns:p14="http://schemas.microsoft.com/office/powerpoint/2010/main" val="14017767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Int</a:t>
            </a:r>
            <a:r>
              <a:rPr lang="en-US" dirty="0" smtClean="0"/>
              <a:t> 0/0 no </a:t>
            </a:r>
            <a:r>
              <a:rPr lang="en-US" dirty="0" err="1" smtClean="0"/>
              <a:t>cdp</a:t>
            </a:r>
            <a:endParaRPr lang="en-US" dirty="0"/>
          </a:p>
        </p:txBody>
      </p:sp>
      <p:pic>
        <p:nvPicPr>
          <p:cNvPr id="4" name="Picture 3"/>
          <p:cNvPicPr>
            <a:picLocks noChangeAspect="1"/>
          </p:cNvPicPr>
          <p:nvPr/>
        </p:nvPicPr>
        <p:blipFill>
          <a:blip r:embed="rId2"/>
          <a:stretch>
            <a:fillRect/>
          </a:stretch>
        </p:blipFill>
        <p:spPr>
          <a:xfrm>
            <a:off x="838199" y="1457324"/>
            <a:ext cx="6038850" cy="4248150"/>
          </a:xfrm>
          <a:prstGeom prst="rect">
            <a:avLst/>
          </a:prstGeom>
        </p:spPr>
      </p:pic>
      <p:sp>
        <p:nvSpPr>
          <p:cNvPr id="5" name="Title 1"/>
          <p:cNvSpPr txBox="1">
            <a:spLocks/>
          </p:cNvSpPr>
          <p:nvPr/>
        </p:nvSpPr>
        <p:spPr>
          <a:xfrm>
            <a:off x="6343650" y="3651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t>CDP </a:t>
            </a:r>
            <a:r>
              <a:rPr lang="en-US" dirty="0" err="1" smtClean="0"/>
              <a:t>ke</a:t>
            </a:r>
            <a:r>
              <a:rPr lang="en-US" dirty="0" smtClean="0"/>
              <a:t> </a:t>
            </a:r>
            <a:r>
              <a:rPr lang="en-US" dirty="0" err="1" smtClean="0"/>
              <a:t>cdp</a:t>
            </a:r>
            <a:r>
              <a:rPr lang="en-US" dirty="0" smtClean="0"/>
              <a:t> </a:t>
            </a:r>
            <a:r>
              <a:rPr lang="en-US" dirty="0" err="1" smtClean="0"/>
              <a:t>berikutnya</a:t>
            </a:r>
            <a:r>
              <a:rPr lang="en-US" dirty="0" smtClean="0"/>
              <a:t> : s3etiap 1 </a:t>
            </a:r>
            <a:r>
              <a:rPr lang="en-US" dirty="0" err="1" smtClean="0"/>
              <a:t>menit</a:t>
            </a:r>
            <a:endParaRPr lang="en-US" dirty="0"/>
          </a:p>
        </p:txBody>
      </p:sp>
      <p:pic>
        <p:nvPicPr>
          <p:cNvPr id="6" name="Picture 5"/>
          <p:cNvPicPr>
            <a:picLocks noChangeAspect="1"/>
          </p:cNvPicPr>
          <p:nvPr/>
        </p:nvPicPr>
        <p:blipFill>
          <a:blip r:embed="rId3"/>
          <a:stretch>
            <a:fillRect/>
          </a:stretch>
        </p:blipFill>
        <p:spPr>
          <a:xfrm>
            <a:off x="6877049" y="1457324"/>
            <a:ext cx="6029325" cy="4086225"/>
          </a:xfrm>
          <a:prstGeom prst="rect">
            <a:avLst/>
          </a:prstGeom>
        </p:spPr>
      </p:pic>
      <p:sp>
        <p:nvSpPr>
          <p:cNvPr id="7" name="Title 1"/>
          <p:cNvSpPr txBox="1">
            <a:spLocks/>
          </p:cNvSpPr>
          <p:nvPr/>
        </p:nvSpPr>
        <p:spPr>
          <a:xfrm>
            <a:off x="5957887" y="424021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t>Send mac address 7.7.7.1 </a:t>
            </a:r>
            <a:r>
              <a:rPr lang="en-US" dirty="0" err="1" smtClean="0"/>
              <a:t>tidak</a:t>
            </a:r>
            <a:r>
              <a:rPr lang="en-US" dirty="0" smtClean="0"/>
              <a:t> </a:t>
            </a:r>
            <a:r>
              <a:rPr lang="en-US" dirty="0" err="1" smtClean="0"/>
              <a:t>ketahuan</a:t>
            </a:r>
            <a:endParaRPr lang="en-US" dirty="0"/>
          </a:p>
        </p:txBody>
      </p:sp>
    </p:spTree>
    <p:extLst>
      <p:ext uri="{BB962C8B-B14F-4D97-AF65-F5344CB8AC3E}">
        <p14:creationId xmlns:p14="http://schemas.microsoft.com/office/powerpoint/2010/main" val="16805733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NAPY </a:t>
            </a:r>
            <a:r>
              <a:rPr lang="en-US" dirty="0" err="1" smtClean="0"/>
              <a:t>telah</a:t>
            </a:r>
            <a:r>
              <a:rPr lang="en-US" dirty="0" smtClean="0"/>
              <a:t> </a:t>
            </a:r>
            <a:r>
              <a:rPr lang="en-US" dirty="0" err="1" smtClean="0"/>
              <a:t>hidup</a:t>
            </a:r>
            <a:endParaRPr lang="en-US" dirty="0"/>
          </a:p>
        </p:txBody>
      </p:sp>
      <p:pic>
        <p:nvPicPr>
          <p:cNvPr id="4" name="Content Placeholder 3"/>
          <p:cNvPicPr>
            <a:picLocks noGrp="1" noChangeAspect="1"/>
          </p:cNvPicPr>
          <p:nvPr>
            <p:ph idx="1"/>
          </p:nvPr>
        </p:nvPicPr>
        <p:blipFill>
          <a:blip r:embed="rId2"/>
          <a:stretch>
            <a:fillRect/>
          </a:stretch>
        </p:blipFill>
        <p:spPr>
          <a:xfrm>
            <a:off x="838200" y="1505743"/>
            <a:ext cx="6000750" cy="4276725"/>
          </a:xfrm>
          <a:prstGeom prst="rect">
            <a:avLst/>
          </a:prstGeom>
        </p:spPr>
      </p:pic>
      <p:sp>
        <p:nvSpPr>
          <p:cNvPr id="5" name="Title 1"/>
          <p:cNvSpPr txBox="1">
            <a:spLocks/>
          </p:cNvSpPr>
          <p:nvPr/>
        </p:nvSpPr>
        <p:spPr>
          <a:xfrm>
            <a:off x="7038975" y="1801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mtClean="0"/>
              <a:t>NAPY telah hidup</a:t>
            </a:r>
            <a:endParaRPr lang="en-US" dirty="0"/>
          </a:p>
        </p:txBody>
      </p:sp>
    </p:spTree>
    <p:extLst>
      <p:ext uri="{BB962C8B-B14F-4D97-AF65-F5344CB8AC3E}">
        <p14:creationId xmlns:p14="http://schemas.microsoft.com/office/powerpoint/2010/main" val="17264803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CDP</a:t>
            </a:r>
            <a:endParaRPr lang="en-US" dirty="0"/>
          </a:p>
        </p:txBody>
      </p:sp>
      <p:sp>
        <p:nvSpPr>
          <p:cNvPr id="3" name="Content Placeholder 2"/>
          <p:cNvSpPr>
            <a:spLocks noGrp="1"/>
          </p:cNvSpPr>
          <p:nvPr>
            <p:ph idx="1"/>
          </p:nvPr>
        </p:nvSpPr>
        <p:spPr/>
        <p:txBody>
          <a:bodyPr/>
          <a:lstStyle/>
          <a:p>
            <a:r>
              <a:rPr lang="en-US" dirty="0" smtClean="0"/>
              <a:t>No CDP</a:t>
            </a:r>
          </a:p>
          <a:p>
            <a:r>
              <a:rPr lang="en-US" dirty="0" smtClean="0"/>
              <a:t>Yang </a:t>
            </a:r>
            <a:r>
              <a:rPr lang="en-US" dirty="0" err="1" smtClean="0"/>
              <a:t>Tampil</a:t>
            </a:r>
            <a:r>
              <a:rPr lang="en-US" dirty="0" smtClean="0"/>
              <a:t> Packet ARP</a:t>
            </a:r>
            <a:endParaRPr lang="en-US" dirty="0"/>
          </a:p>
        </p:txBody>
      </p:sp>
      <p:pic>
        <p:nvPicPr>
          <p:cNvPr id="4" name="Picture 3"/>
          <p:cNvPicPr>
            <a:picLocks noChangeAspect="1"/>
          </p:cNvPicPr>
          <p:nvPr/>
        </p:nvPicPr>
        <p:blipFill>
          <a:blip r:embed="rId2"/>
          <a:stretch>
            <a:fillRect/>
          </a:stretch>
        </p:blipFill>
        <p:spPr>
          <a:xfrm>
            <a:off x="1257300" y="2828984"/>
            <a:ext cx="4186237" cy="3024127"/>
          </a:xfrm>
          <a:prstGeom prst="rect">
            <a:avLst/>
          </a:prstGeom>
        </p:spPr>
      </p:pic>
    </p:spTree>
    <p:extLst>
      <p:ext uri="{BB962C8B-B14F-4D97-AF65-F5344CB8AC3E}">
        <p14:creationId xmlns:p14="http://schemas.microsoft.com/office/powerpoint/2010/main" val="29519231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Aktifkan</a:t>
            </a:r>
            <a:r>
              <a:rPr lang="en-US" dirty="0" smtClean="0"/>
              <a:t> Router MKPY</a:t>
            </a:r>
            <a:endParaRPr lang="en-US" dirty="0"/>
          </a:p>
        </p:txBody>
      </p:sp>
      <p:pic>
        <p:nvPicPr>
          <p:cNvPr id="4" name="Content Placeholder 3"/>
          <p:cNvPicPr>
            <a:picLocks noGrp="1" noChangeAspect="1"/>
          </p:cNvPicPr>
          <p:nvPr>
            <p:ph idx="1"/>
          </p:nvPr>
        </p:nvPicPr>
        <p:blipFill>
          <a:blip r:embed="rId2"/>
          <a:stretch>
            <a:fillRect/>
          </a:stretch>
        </p:blipFill>
        <p:spPr>
          <a:xfrm>
            <a:off x="1166812" y="1690688"/>
            <a:ext cx="6029325" cy="4305300"/>
          </a:xfrm>
          <a:prstGeom prst="rect">
            <a:avLst/>
          </a:prstGeom>
        </p:spPr>
      </p:pic>
      <p:sp>
        <p:nvSpPr>
          <p:cNvPr id="5" name="Title 1"/>
          <p:cNvSpPr txBox="1">
            <a:spLocks/>
          </p:cNvSpPr>
          <p:nvPr/>
        </p:nvSpPr>
        <p:spPr>
          <a:xfrm>
            <a:off x="7353300" y="6223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t>771 send to 772</a:t>
            </a:r>
            <a:endParaRPr lang="en-US" dirty="0"/>
          </a:p>
        </p:txBody>
      </p:sp>
      <p:pic>
        <p:nvPicPr>
          <p:cNvPr id="6" name="Picture 5"/>
          <p:cNvPicPr>
            <a:picLocks noChangeAspect="1"/>
          </p:cNvPicPr>
          <p:nvPr/>
        </p:nvPicPr>
        <p:blipFill>
          <a:blip r:embed="rId3"/>
          <a:stretch>
            <a:fillRect/>
          </a:stretch>
        </p:blipFill>
        <p:spPr>
          <a:xfrm>
            <a:off x="7524749" y="1947863"/>
            <a:ext cx="3623222" cy="2536824"/>
          </a:xfrm>
          <a:prstGeom prst="rect">
            <a:avLst/>
          </a:prstGeom>
        </p:spPr>
      </p:pic>
    </p:spTree>
    <p:extLst>
      <p:ext uri="{BB962C8B-B14F-4D97-AF65-F5344CB8AC3E}">
        <p14:creationId xmlns:p14="http://schemas.microsoft.com/office/powerpoint/2010/main" val="38858430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sldNum" sz="quarter" idx="12"/>
          </p:nvPr>
        </p:nvSpPr>
        <p:spPr>
          <a:xfrm>
            <a:off x="1524000" y="6356351"/>
            <a:ext cx="2133600" cy="365125"/>
          </a:xfrm>
        </p:spPr>
        <p:txBody>
          <a:bodyPr/>
          <a:lstStyle/>
          <a:p>
            <a:fld id="{C38E2C20-2DF8-4B52-967A-5C30C9D77195}" type="slidenum">
              <a:rPr lang="en-US"/>
              <a:pPr/>
              <a:t>16</a:t>
            </a:fld>
            <a:endParaRPr lang="en-US"/>
          </a:p>
        </p:txBody>
      </p:sp>
      <p:sp>
        <p:nvSpPr>
          <p:cNvPr id="472068" name="Rectangle 4"/>
          <p:cNvSpPr>
            <a:spLocks noChangeArrowheads="1"/>
          </p:cNvSpPr>
          <p:nvPr/>
        </p:nvSpPr>
        <p:spPr bwMode="auto">
          <a:xfrm>
            <a:off x="1828800" y="0"/>
            <a:ext cx="8610600" cy="762000"/>
          </a:xfrm>
          <a:prstGeom prst="rect">
            <a:avLst/>
          </a:prstGeom>
          <a:noFill/>
          <a:ln w="9525">
            <a:noFill/>
            <a:miter lim="800000"/>
            <a:headEnd/>
            <a:tailEnd/>
          </a:ln>
          <a:effectLst/>
        </p:spPr>
        <p:txBody>
          <a:bodyPr anchor="ctr"/>
          <a:lstStyle/>
          <a:p>
            <a:pPr algn="ctr"/>
            <a:r>
              <a:rPr lang="en-US" sz="2800" b="1">
                <a:solidFill>
                  <a:srgbClr val="FF0066"/>
                </a:solidFill>
                <a:effectLst>
                  <a:outerShdw blurRad="38100" dist="38100" dir="2700000" algn="tl">
                    <a:srgbClr val="000000"/>
                  </a:outerShdw>
                </a:effectLst>
                <a:latin typeface="Arial" pitchFamily="34" charset="0"/>
              </a:rPr>
              <a:t>Gateway</a:t>
            </a:r>
          </a:p>
        </p:txBody>
      </p:sp>
      <p:sp>
        <p:nvSpPr>
          <p:cNvPr id="472070" name="Oval 6"/>
          <p:cNvSpPr>
            <a:spLocks noChangeArrowheads="1"/>
          </p:cNvSpPr>
          <p:nvPr/>
        </p:nvSpPr>
        <p:spPr bwMode="auto">
          <a:xfrm>
            <a:off x="2971800" y="4953000"/>
            <a:ext cx="1219200" cy="685800"/>
          </a:xfrm>
          <a:prstGeom prst="ellipse">
            <a:avLst/>
          </a:prstGeom>
          <a:noFill/>
          <a:ln w="57150">
            <a:solidFill>
              <a:srgbClr val="FF5050"/>
            </a:solidFill>
            <a:round/>
            <a:headEnd/>
            <a:tailEnd/>
          </a:ln>
          <a:effectLst/>
        </p:spPr>
        <p:txBody>
          <a:bodyPr wrap="none" anchor="ctr"/>
          <a:lstStyle/>
          <a:p>
            <a:endParaRPr lang="en-SG"/>
          </a:p>
        </p:txBody>
      </p:sp>
      <p:sp>
        <p:nvSpPr>
          <p:cNvPr id="472071" name="Oval 7"/>
          <p:cNvSpPr>
            <a:spLocks noChangeArrowheads="1"/>
          </p:cNvSpPr>
          <p:nvPr/>
        </p:nvSpPr>
        <p:spPr bwMode="auto">
          <a:xfrm>
            <a:off x="8458200" y="4572000"/>
            <a:ext cx="1219200" cy="685800"/>
          </a:xfrm>
          <a:prstGeom prst="ellipse">
            <a:avLst/>
          </a:prstGeom>
          <a:noFill/>
          <a:ln w="57150">
            <a:solidFill>
              <a:srgbClr val="FF5050"/>
            </a:solidFill>
            <a:round/>
            <a:headEnd/>
            <a:tailEnd/>
          </a:ln>
          <a:effectLst/>
        </p:spPr>
        <p:txBody>
          <a:bodyPr wrap="none" anchor="ctr"/>
          <a:lstStyle/>
          <a:p>
            <a:endParaRPr lang="en-SG"/>
          </a:p>
        </p:txBody>
      </p:sp>
    </p:spTree>
    <p:extLst>
      <p:ext uri="{BB962C8B-B14F-4D97-AF65-F5344CB8AC3E}">
        <p14:creationId xmlns:p14="http://schemas.microsoft.com/office/powerpoint/2010/main" val="27772521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3312</TotalTime>
  <Words>866</Words>
  <Application>Microsoft Office PowerPoint</Application>
  <PresentationFormat>Widescreen</PresentationFormat>
  <Paragraphs>118</Paragraphs>
  <Slides>16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맑은 고딕</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MPLS</vt:lpstr>
      <vt:lpstr>Konfigurasi autonomous system (AS), pembentukan neighbor (tetangga) EBGP/IBGP, dan advertising network</vt:lpstr>
      <vt:lpstr>IP addres telah di configure BGP</vt:lpstr>
      <vt:lpstr>Run Wiresark</vt:lpstr>
      <vt:lpstr>CDP</vt:lpstr>
      <vt:lpstr>Int 0/0 no cdp</vt:lpstr>
      <vt:lpstr>NAPY telah hidup</vt:lpstr>
      <vt:lpstr>CDP</vt:lpstr>
      <vt:lpstr>Aktifkan Router MKPY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Gde</cp:lastModifiedBy>
  <cp:revision>106</cp:revision>
  <dcterms:created xsi:type="dcterms:W3CDTF">2022-08-25T13:17:53Z</dcterms:created>
  <dcterms:modified xsi:type="dcterms:W3CDTF">2026-04-23T05:02:42Z</dcterms:modified>
</cp:coreProperties>
</file>