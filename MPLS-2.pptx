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26"/>
  </p:notesMasterIdLst>
  <p:sldIdLst>
    <p:sldId id="339" r:id="rId2"/>
    <p:sldId id="425" r:id="rId3"/>
    <p:sldId id="428" r:id="rId4"/>
    <p:sldId id="411" r:id="rId5"/>
    <p:sldId id="423" r:id="rId6"/>
    <p:sldId id="413" r:id="rId7"/>
    <p:sldId id="420" r:id="rId8"/>
    <p:sldId id="422" r:id="rId9"/>
    <p:sldId id="412" r:id="rId10"/>
    <p:sldId id="414" r:id="rId11"/>
    <p:sldId id="427" r:id="rId12"/>
    <p:sldId id="430" r:id="rId13"/>
    <p:sldId id="431" r:id="rId14"/>
    <p:sldId id="432" r:id="rId15"/>
    <p:sldId id="416" r:id="rId16"/>
    <p:sldId id="426" r:id="rId17"/>
    <p:sldId id="424" r:id="rId18"/>
    <p:sldId id="429" r:id="rId19"/>
    <p:sldId id="417" r:id="rId20"/>
    <p:sldId id="418" r:id="rId21"/>
    <p:sldId id="415" r:id="rId22"/>
    <p:sldId id="419" r:id="rId23"/>
    <p:sldId id="421" r:id="rId24"/>
    <p:sldId id="340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Manuel Fradinho" initials="MF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66"/>
    <a:srgbClr val="FFFFCC"/>
    <a:srgbClr val="A92C01"/>
    <a:srgbClr val="FF40FF"/>
    <a:srgbClr val="00B2A5"/>
    <a:srgbClr val="00FDFF"/>
    <a:srgbClr val="00D9C7"/>
    <a:srgbClr val="73FD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588" autoAdjust="0"/>
    <p:restoredTop sz="95474" autoAdjust="0"/>
  </p:normalViewPr>
  <p:slideViewPr>
    <p:cSldViewPr snapToGrid="0">
      <p:cViewPr varScale="1">
        <p:scale>
          <a:sx n="65" d="100"/>
          <a:sy n="65" d="100"/>
        </p:scale>
        <p:origin x="96" y="57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commentAuthors" Target="commentAuthors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AA3E45-57A9-44A4-8D02-ECC452318D6C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B232A1-099D-4B50-B749-7C373A0D8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85431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https://dzikrafathintech.blogspot.com/2017/04/konfigurasi-dasar-mpls-ldp-pada-cisco.html</a:t>
            </a:r>
          </a:p>
          <a:p>
            <a:r>
              <a:rPr lang="en-US" dirty="0" smtClean="0"/>
              <a:t>https://www.quisted.net/index.php/2024/11/11/mpls-segment-routing-mpls-sr-lab/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B232A1-099D-4B50-B749-7C373A0D848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59431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https://citraweb.com/artikel/242/#:~:text=Konfigurasi%20Dasar%20MPLS%20di%20MikroTik%20P%20(,di%20customer%20yang%20akan%20berkomunikasi%20dengan%20PE.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B232A1-099D-4B50-B749-7C373A0D848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94497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https://dzikrafathintech.blogspot.com/2017/04/konfigurasi-dasar-mpls-ldp-pada-cisco.html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B232A1-099D-4B50-B749-7C373A0D848E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32015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https://citraweb.com/artikel/242/#:~:text=Konfigurasi%20Dasar%20MPLS%20di%20MikroTik%20P%20(,di%20customer%20yang%20akan%20berkomunikasi%20dengan%20PE.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B232A1-099D-4B50-B749-7C373A0D848E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88418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https://citraweb.com/artikel_lihat.php?id=154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B232A1-099D-4B50-B749-7C373A0D848E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73483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https://citraweb.com/artikel_lihat.php?id=154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B232A1-099D-4B50-B749-7C373A0D848E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957390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https://citraweb.com/artikel_lihat.php?id=154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B232A1-099D-4B50-B749-7C373A0D848E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31817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https://citraweb.com/artikel_lihat.php?id=154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B232A1-099D-4B50-B749-7C373A0D848E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70562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https://citraweb.com/artikel_lihat.php?id=154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B232A1-099D-4B50-B749-7C373A0D848E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2166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https://citraweb.com/artikel_lihat.php?id=154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B232A1-099D-4B50-B749-7C373A0D848E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114479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https://citraweb.com/artikel_lihat.php?id=154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B232A1-099D-4B50-B749-7C373A0D848E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163743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https://citraweb.com/artikel_lihat.php?id=154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B232A1-099D-4B50-B749-7C373A0D848E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28587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https://citraweb.com/artikel_lihat.php?id=154</a:t>
            </a:r>
          </a:p>
          <a:p>
            <a:r>
              <a:rPr lang="en-US" dirty="0" smtClean="0"/>
              <a:t>https://www.quisted.net/index.php/2024/11/11/mpls-segment-routing-mpls-sr-lab/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B232A1-099D-4B50-B749-7C373A0D848E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0620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8CD25-4015-481E-94C9-A931395C8E35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35205-7406-4E96-85E9-F173CE5CBA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73555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8CD25-4015-481E-94C9-A931395C8E35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35205-7406-4E96-85E9-F173CE5CBA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06458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8CD25-4015-481E-94C9-A931395C8E35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35205-7406-4E96-85E9-F173CE5CBA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55023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8CD25-4015-481E-94C9-A931395C8E35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35205-7406-4E96-85E9-F173CE5CBA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55570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8CD25-4015-481E-94C9-A931395C8E35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35205-7406-4E96-85E9-F173CE5CBA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26250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8CD25-4015-481E-94C9-A931395C8E35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35205-7406-4E96-85E9-F173CE5CBA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55597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8CD25-4015-481E-94C9-A931395C8E35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35205-7406-4E96-85E9-F173CE5CBA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5060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8CD25-4015-481E-94C9-A931395C8E35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35205-7406-4E96-85E9-F173CE5CBA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3117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8CD25-4015-481E-94C9-A931395C8E35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35205-7406-4E96-85E9-F173CE5CBA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66102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8CD25-4015-481E-94C9-A931395C8E35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35205-7406-4E96-85E9-F173CE5CBA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03397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8CD25-4015-481E-94C9-A931395C8E35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35205-7406-4E96-85E9-F173CE5CBA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84972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28CD25-4015-481E-94C9-A931395C8E35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F35205-7406-4E96-85E9-F173CE5CBA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1171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cisco.com/c/en/us/support/docs/multiprotocol-label-switching-mpls/mpls/13733-mpls-vpn-basic.html" TargetMode="Externa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9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isco.com/c/en/us/support/docs/multiprotocol-label-switching-mpls/mpls/13733-mpls-vpn-basic.html" TargetMode="External"/><Relationship Id="rId2" Type="http://schemas.openxmlformats.org/officeDocument/2006/relationships/hyperlink" Target="https://www.quisted.net/index.php/2024/11/11/mpls-segment-routing-mpls-sr-lab/" TargetMode="External"/><Relationship Id="rId1" Type="http://schemas.openxmlformats.org/officeDocument/2006/relationships/slideLayout" Target="../slideLayouts/slideLayout6.xml"/><Relationship Id="rId4" Type="http://schemas.openxmlformats.org/officeDocument/2006/relationships/hyperlink" Target="https://ipcisco.com/lesson/enabling-mpls-on-cisco-routers/" TargetMode="Externa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7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6290" y="549166"/>
            <a:ext cx="1980634" cy="1262343"/>
          </a:xfrm>
          <a:prstGeom prst="rect">
            <a:avLst/>
          </a:prstGeom>
        </p:spPr>
      </p:pic>
      <p:pic>
        <p:nvPicPr>
          <p:cNvPr id="30" name="Picture 29"/>
          <p:cNvPicPr>
            <a:picLocks noChangeAspect="1"/>
          </p:cNvPicPr>
          <p:nvPr/>
        </p:nvPicPr>
        <p:blipFill rotWithShape="1">
          <a:blip r:embed="rId4"/>
          <a:srcRect l="8646" t="12924" r="16013" b="9596"/>
          <a:stretch/>
        </p:blipFill>
        <p:spPr>
          <a:xfrm>
            <a:off x="348892" y="2278144"/>
            <a:ext cx="1209868" cy="124421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31" name="Picture 30"/>
          <p:cNvPicPr>
            <a:picLocks noChangeAspect="1"/>
          </p:cNvPicPr>
          <p:nvPr/>
        </p:nvPicPr>
        <p:blipFill rotWithShape="1">
          <a:blip r:embed="rId5"/>
          <a:srcRect t="31519" b="32047"/>
          <a:stretch/>
        </p:blipFill>
        <p:spPr>
          <a:xfrm>
            <a:off x="478321" y="2904448"/>
            <a:ext cx="1018759" cy="32394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6070" y="1596944"/>
            <a:ext cx="1896069" cy="213322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2AABCB87-2ECC-4C03-B5BB-6EE11C8A4485}"/>
              </a:ext>
            </a:extLst>
          </p:cNvPr>
          <p:cNvGrpSpPr/>
          <p:nvPr/>
        </p:nvGrpSpPr>
        <p:grpSpPr>
          <a:xfrm>
            <a:off x="477502" y="1251268"/>
            <a:ext cx="976966" cy="369285"/>
            <a:chOff x="4853562" y="1589418"/>
            <a:chExt cx="2609520" cy="1291565"/>
          </a:xfrm>
        </p:grpSpPr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03546B24-FABC-4B2A-A80F-B03654D56A7D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4853562" y="1589418"/>
              <a:ext cx="2232248" cy="1202698"/>
            </a:xfrm>
            <a:custGeom>
              <a:avLst/>
              <a:gdLst/>
              <a:ahLst/>
              <a:cxnLst/>
              <a:rect l="l" t="t" r="r" b="b"/>
              <a:pathLst>
                <a:path w="1872168" h="1008693">
                  <a:moveTo>
                    <a:pt x="699542" y="162"/>
                  </a:moveTo>
                  <a:cubicBezTo>
                    <a:pt x="683169" y="534"/>
                    <a:pt x="666273" y="1556"/>
                    <a:pt x="648845" y="3291"/>
                  </a:cubicBezTo>
                  <a:cubicBezTo>
                    <a:pt x="357120" y="49686"/>
                    <a:pt x="273885" y="284789"/>
                    <a:pt x="274981" y="413694"/>
                  </a:cubicBezTo>
                  <a:cubicBezTo>
                    <a:pt x="4451" y="471904"/>
                    <a:pt x="-11347" y="662854"/>
                    <a:pt x="4101" y="753457"/>
                  </a:cubicBezTo>
                  <a:cubicBezTo>
                    <a:pt x="42383" y="946818"/>
                    <a:pt x="296257" y="1004273"/>
                    <a:pt x="384912" y="1005378"/>
                  </a:cubicBezTo>
                  <a:lnTo>
                    <a:pt x="1507196" y="1008693"/>
                  </a:lnTo>
                  <a:cubicBezTo>
                    <a:pt x="1646895" y="1000406"/>
                    <a:pt x="1746295" y="947371"/>
                    <a:pt x="1825546" y="854557"/>
                  </a:cubicBezTo>
                  <a:cubicBezTo>
                    <a:pt x="1897410" y="760086"/>
                    <a:pt x="1873973" y="626012"/>
                    <a:pt x="1836613" y="558208"/>
                  </a:cubicBezTo>
                  <a:cubicBezTo>
                    <a:pt x="1808089" y="509360"/>
                    <a:pt x="1675919" y="402617"/>
                    <a:pt x="1507617" y="430504"/>
                  </a:cubicBezTo>
                  <a:cubicBezTo>
                    <a:pt x="1525469" y="335682"/>
                    <a:pt x="1477961" y="244522"/>
                    <a:pt x="1398003" y="206286"/>
                  </a:cubicBezTo>
                  <a:cubicBezTo>
                    <a:pt x="1299806" y="153261"/>
                    <a:pt x="1182195" y="177294"/>
                    <a:pt x="1108176" y="215068"/>
                  </a:cubicBezTo>
                  <a:cubicBezTo>
                    <a:pt x="1072916" y="135306"/>
                    <a:pt x="945134" y="-5422"/>
                    <a:pt x="699542" y="162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373" tIns="54187" rIns="108373" bIns="54187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3201">
                <a:solidFill>
                  <a:schemeClr val="tx1"/>
                </a:solidFill>
              </a:endParaRPr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02E1A011-CDEA-4BBC-B725-C88AF5464891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5230834" y="1678285"/>
              <a:ext cx="2232248" cy="1202698"/>
            </a:xfrm>
            <a:custGeom>
              <a:avLst/>
              <a:gdLst/>
              <a:ahLst/>
              <a:cxnLst/>
              <a:rect l="l" t="t" r="r" b="b"/>
              <a:pathLst>
                <a:path w="1872168" h="1008693">
                  <a:moveTo>
                    <a:pt x="699542" y="162"/>
                  </a:moveTo>
                  <a:cubicBezTo>
                    <a:pt x="683169" y="534"/>
                    <a:pt x="666273" y="1556"/>
                    <a:pt x="648845" y="3291"/>
                  </a:cubicBezTo>
                  <a:cubicBezTo>
                    <a:pt x="357120" y="49686"/>
                    <a:pt x="273885" y="284789"/>
                    <a:pt x="274981" y="413694"/>
                  </a:cubicBezTo>
                  <a:cubicBezTo>
                    <a:pt x="4451" y="471904"/>
                    <a:pt x="-11347" y="662854"/>
                    <a:pt x="4101" y="753457"/>
                  </a:cubicBezTo>
                  <a:cubicBezTo>
                    <a:pt x="42383" y="946818"/>
                    <a:pt x="296257" y="1004273"/>
                    <a:pt x="384912" y="1005378"/>
                  </a:cubicBezTo>
                  <a:lnTo>
                    <a:pt x="1507196" y="1008693"/>
                  </a:lnTo>
                  <a:cubicBezTo>
                    <a:pt x="1646895" y="1000406"/>
                    <a:pt x="1746295" y="947371"/>
                    <a:pt x="1825546" y="854557"/>
                  </a:cubicBezTo>
                  <a:cubicBezTo>
                    <a:pt x="1897410" y="760086"/>
                    <a:pt x="1873973" y="626012"/>
                    <a:pt x="1836613" y="558208"/>
                  </a:cubicBezTo>
                  <a:cubicBezTo>
                    <a:pt x="1808089" y="509360"/>
                    <a:pt x="1675919" y="402617"/>
                    <a:pt x="1507617" y="430504"/>
                  </a:cubicBezTo>
                  <a:cubicBezTo>
                    <a:pt x="1525469" y="335682"/>
                    <a:pt x="1477961" y="244522"/>
                    <a:pt x="1398003" y="206286"/>
                  </a:cubicBezTo>
                  <a:cubicBezTo>
                    <a:pt x="1299806" y="153261"/>
                    <a:pt x="1182195" y="177294"/>
                    <a:pt x="1108176" y="215068"/>
                  </a:cubicBezTo>
                  <a:cubicBezTo>
                    <a:pt x="1072916" y="135306"/>
                    <a:pt x="945134" y="-5422"/>
                    <a:pt x="699542" y="162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373" tIns="54187" rIns="108373" bIns="54187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320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AB8BC7BC-BF58-402E-9A69-AA9226DE7CAA}"/>
              </a:ext>
            </a:extLst>
          </p:cNvPr>
          <p:cNvGrpSpPr/>
          <p:nvPr/>
        </p:nvGrpSpPr>
        <p:grpSpPr>
          <a:xfrm>
            <a:off x="431212" y="1225859"/>
            <a:ext cx="336493" cy="171515"/>
            <a:chOff x="7439031" y="1585639"/>
            <a:chExt cx="2143740" cy="996849"/>
          </a:xfrm>
          <a:solidFill>
            <a:schemeClr val="accent6"/>
          </a:solidFill>
        </p:grpSpPr>
        <p:sp>
          <p:nvSpPr>
            <p:cNvPr id="11" name="Freeform: Shape 66">
              <a:extLst>
                <a:ext uri="{FF2B5EF4-FFF2-40B4-BE49-F238E27FC236}">
                  <a16:creationId xmlns:a16="http://schemas.microsoft.com/office/drawing/2014/main" id="{2A081543-B9FF-49B1-8EEF-ABDF5438EDCD}"/>
                </a:ext>
              </a:extLst>
            </p:cNvPr>
            <p:cNvSpPr/>
            <p:nvPr/>
          </p:nvSpPr>
          <p:spPr>
            <a:xfrm>
              <a:off x="7439031" y="1585639"/>
              <a:ext cx="2143740" cy="996849"/>
            </a:xfrm>
            <a:custGeom>
              <a:avLst/>
              <a:gdLst/>
              <a:ahLst/>
              <a:cxnLst/>
              <a:rect l="l" t="t" r="r" b="b"/>
              <a:pathLst>
                <a:path w="1862733" h="866179">
                  <a:moveTo>
                    <a:pt x="794147" y="204787"/>
                  </a:moveTo>
                  <a:cubicBezTo>
                    <a:pt x="745605" y="204787"/>
                    <a:pt x="701637" y="218416"/>
                    <a:pt x="662244" y="245673"/>
                  </a:cubicBezTo>
                  <a:cubicBezTo>
                    <a:pt x="622851" y="272930"/>
                    <a:pt x="594798" y="309240"/>
                    <a:pt x="578086" y="354601"/>
                  </a:cubicBezTo>
                  <a:cubicBezTo>
                    <a:pt x="568536" y="380467"/>
                    <a:pt x="563761" y="406729"/>
                    <a:pt x="563761" y="433387"/>
                  </a:cubicBezTo>
                  <a:cubicBezTo>
                    <a:pt x="563761" y="488299"/>
                    <a:pt x="582064" y="537440"/>
                    <a:pt x="618670" y="580811"/>
                  </a:cubicBezTo>
                  <a:cubicBezTo>
                    <a:pt x="664031" y="634532"/>
                    <a:pt x="722524" y="661392"/>
                    <a:pt x="794147" y="661392"/>
                  </a:cubicBezTo>
                  <a:cubicBezTo>
                    <a:pt x="865771" y="661392"/>
                    <a:pt x="924462" y="634733"/>
                    <a:pt x="970220" y="581415"/>
                  </a:cubicBezTo>
                  <a:cubicBezTo>
                    <a:pt x="1006826" y="538838"/>
                    <a:pt x="1025128" y="489496"/>
                    <a:pt x="1025128" y="433387"/>
                  </a:cubicBezTo>
                  <a:cubicBezTo>
                    <a:pt x="1025128" y="376088"/>
                    <a:pt x="1006826" y="326547"/>
                    <a:pt x="970220" y="284764"/>
                  </a:cubicBezTo>
                  <a:cubicBezTo>
                    <a:pt x="923265" y="231446"/>
                    <a:pt x="864574" y="204787"/>
                    <a:pt x="794147" y="204787"/>
                  </a:cubicBezTo>
                  <a:close/>
                  <a:moveTo>
                    <a:pt x="1304330" y="24408"/>
                  </a:moveTo>
                  <a:lnTo>
                    <a:pt x="1862733" y="24408"/>
                  </a:lnTo>
                  <a:lnTo>
                    <a:pt x="1862733" y="200620"/>
                  </a:lnTo>
                  <a:lnTo>
                    <a:pt x="1687711" y="200620"/>
                  </a:lnTo>
                  <a:lnTo>
                    <a:pt x="1687711" y="837009"/>
                  </a:lnTo>
                  <a:lnTo>
                    <a:pt x="1476375" y="837009"/>
                  </a:lnTo>
                  <a:lnTo>
                    <a:pt x="1476375" y="200620"/>
                  </a:lnTo>
                  <a:lnTo>
                    <a:pt x="1304330" y="200620"/>
                  </a:lnTo>
                  <a:close/>
                  <a:moveTo>
                    <a:pt x="0" y="24408"/>
                  </a:moveTo>
                  <a:lnTo>
                    <a:pt x="211336" y="24408"/>
                  </a:lnTo>
                  <a:lnTo>
                    <a:pt x="211336" y="837009"/>
                  </a:lnTo>
                  <a:lnTo>
                    <a:pt x="0" y="837009"/>
                  </a:lnTo>
                  <a:close/>
                  <a:moveTo>
                    <a:pt x="794147" y="0"/>
                  </a:moveTo>
                  <a:cubicBezTo>
                    <a:pt x="937022" y="0"/>
                    <a:pt x="1050330" y="47426"/>
                    <a:pt x="1134071" y="142280"/>
                  </a:cubicBezTo>
                  <a:cubicBezTo>
                    <a:pt x="1207493" y="225623"/>
                    <a:pt x="1244204" y="322659"/>
                    <a:pt x="1244204" y="433387"/>
                  </a:cubicBezTo>
                  <a:cubicBezTo>
                    <a:pt x="1244204" y="543719"/>
                    <a:pt x="1207493" y="640556"/>
                    <a:pt x="1134071" y="723900"/>
                  </a:cubicBezTo>
                  <a:cubicBezTo>
                    <a:pt x="1050330" y="818753"/>
                    <a:pt x="937022" y="866179"/>
                    <a:pt x="794147" y="866179"/>
                  </a:cubicBezTo>
                  <a:cubicBezTo>
                    <a:pt x="651669" y="866179"/>
                    <a:pt x="538560" y="818753"/>
                    <a:pt x="454819" y="723900"/>
                  </a:cubicBezTo>
                  <a:cubicBezTo>
                    <a:pt x="381397" y="640556"/>
                    <a:pt x="344686" y="543719"/>
                    <a:pt x="344686" y="433387"/>
                  </a:cubicBezTo>
                  <a:cubicBezTo>
                    <a:pt x="344686" y="382984"/>
                    <a:pt x="354608" y="331291"/>
                    <a:pt x="374452" y="278308"/>
                  </a:cubicBezTo>
                  <a:cubicBezTo>
                    <a:pt x="394296" y="225326"/>
                    <a:pt x="420886" y="179983"/>
                    <a:pt x="454224" y="142280"/>
                  </a:cubicBezTo>
                  <a:cubicBezTo>
                    <a:pt x="537964" y="47426"/>
                    <a:pt x="651272" y="0"/>
                    <a:pt x="794147" y="0"/>
                  </a:cubicBezTo>
                  <a:close/>
                </a:path>
              </a:pathLst>
            </a:cu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2133" dirty="0"/>
            </a:p>
          </p:txBody>
        </p:sp>
        <p:sp>
          <p:nvSpPr>
            <p:cNvPr id="12" name="Freeform: Shape 67">
              <a:extLst>
                <a:ext uri="{FF2B5EF4-FFF2-40B4-BE49-F238E27FC236}">
                  <a16:creationId xmlns:a16="http://schemas.microsoft.com/office/drawing/2014/main" id="{275D1FAA-C13F-4A6B-BA37-7704CFB7ADCD}"/>
                </a:ext>
              </a:extLst>
            </p:cNvPr>
            <p:cNvSpPr/>
            <p:nvPr/>
          </p:nvSpPr>
          <p:spPr>
            <a:xfrm>
              <a:off x="8174174" y="1963600"/>
              <a:ext cx="443936" cy="326799"/>
            </a:xfrm>
            <a:custGeom>
              <a:avLst/>
              <a:gdLst>
                <a:gd name="connsiteX0" fmla="*/ 1869041 w 3738080"/>
                <a:gd name="connsiteY0" fmla="*/ 1997576 h 2751770"/>
                <a:gd name="connsiteX1" fmla="*/ 2246138 w 3738080"/>
                <a:gd name="connsiteY1" fmla="*/ 2374673 h 2751770"/>
                <a:gd name="connsiteX2" fmla="*/ 1869041 w 3738080"/>
                <a:gd name="connsiteY2" fmla="*/ 2751770 h 2751770"/>
                <a:gd name="connsiteX3" fmla="*/ 1491944 w 3738080"/>
                <a:gd name="connsiteY3" fmla="*/ 2374673 h 2751770"/>
                <a:gd name="connsiteX4" fmla="*/ 1869041 w 3738080"/>
                <a:gd name="connsiteY4" fmla="*/ 1997576 h 2751770"/>
                <a:gd name="connsiteX5" fmla="*/ 2788485 w 3738080"/>
                <a:gd name="connsiteY5" fmla="*/ 1841061 h 2751770"/>
                <a:gd name="connsiteX6" fmla="*/ 2632248 w 3738080"/>
                <a:gd name="connsiteY6" fmla="*/ 1992174 h 2751770"/>
                <a:gd name="connsiteX7" fmla="*/ 2624294 w 3738080"/>
                <a:gd name="connsiteY7" fmla="*/ 1992174 h 2751770"/>
                <a:gd name="connsiteX8" fmla="*/ 1858846 w 3738080"/>
                <a:gd name="connsiteY8" fmla="*/ 1306247 h 2751770"/>
                <a:gd name="connsiteX9" fmla="*/ 2645621 w 3738080"/>
                <a:gd name="connsiteY9" fmla="*/ 1504218 h 2751770"/>
                <a:gd name="connsiteX10" fmla="*/ 2795575 w 3738080"/>
                <a:gd name="connsiteY10" fmla="*/ 1757331 h 2751770"/>
                <a:gd name="connsiteX11" fmla="*/ 2539052 w 3738080"/>
                <a:gd name="connsiteY11" fmla="*/ 1841672 h 2751770"/>
                <a:gd name="connsiteX12" fmla="*/ 1353947 w 3738080"/>
                <a:gd name="connsiteY12" fmla="*/ 1778974 h 2751770"/>
                <a:gd name="connsiteX13" fmla="*/ 982333 w 3738080"/>
                <a:gd name="connsiteY13" fmla="*/ 1780833 h 2751770"/>
                <a:gd name="connsiteX14" fmla="*/ 966756 w 3738080"/>
                <a:gd name="connsiteY14" fmla="*/ 1667407 h 2751770"/>
                <a:gd name="connsiteX15" fmla="*/ 1217540 w 3738080"/>
                <a:gd name="connsiteY15" fmla="*/ 1445700 h 2751770"/>
                <a:gd name="connsiteX16" fmla="*/ 1858846 w 3738080"/>
                <a:gd name="connsiteY16" fmla="*/ 1306247 h 2751770"/>
                <a:gd name="connsiteX17" fmla="*/ 1828129 w 3738080"/>
                <a:gd name="connsiteY17" fmla="*/ 650059 h 2751770"/>
                <a:gd name="connsiteX18" fmla="*/ 3108200 w 3738080"/>
                <a:gd name="connsiteY18" fmla="*/ 1008980 h 2751770"/>
                <a:gd name="connsiteX19" fmla="*/ 3258155 w 3738080"/>
                <a:gd name="connsiteY19" fmla="*/ 1319033 h 2751770"/>
                <a:gd name="connsiteX20" fmla="*/ 2937692 w 3738080"/>
                <a:gd name="connsiteY20" fmla="*/ 1304637 h 2751770"/>
                <a:gd name="connsiteX21" fmla="*/ 763561 w 3738080"/>
                <a:gd name="connsiteY21" fmla="*/ 1325535 h 2751770"/>
                <a:gd name="connsiteX22" fmla="*/ 464412 w 3738080"/>
                <a:gd name="connsiteY22" fmla="*/ 1278813 h 2751770"/>
                <a:gd name="connsiteX23" fmla="*/ 450482 w 3738080"/>
                <a:gd name="connsiteY23" fmla="*/ 1202928 h 2751770"/>
                <a:gd name="connsiteX24" fmla="*/ 622892 w 3738080"/>
                <a:gd name="connsiteY24" fmla="*/ 1008979 h 2751770"/>
                <a:gd name="connsiteX25" fmla="*/ 1828129 w 3738080"/>
                <a:gd name="connsiteY25" fmla="*/ 650059 h 2751770"/>
                <a:gd name="connsiteX26" fmla="*/ 1764313 w 3738080"/>
                <a:gd name="connsiteY26" fmla="*/ 591 h 2751770"/>
                <a:gd name="connsiteX27" fmla="*/ 3559697 w 3738080"/>
                <a:gd name="connsiteY27" fmla="*/ 547180 h 2751770"/>
                <a:gd name="connsiteX28" fmla="*/ 3709650 w 3738080"/>
                <a:gd name="connsiteY28" fmla="*/ 882310 h 2751770"/>
                <a:gd name="connsiteX29" fmla="*/ 3367875 w 3738080"/>
                <a:gd name="connsiteY29" fmla="*/ 834477 h 2751770"/>
                <a:gd name="connsiteX30" fmla="*/ 318417 w 3738080"/>
                <a:gd name="connsiteY30" fmla="*/ 884635 h 2751770"/>
                <a:gd name="connsiteX31" fmla="*/ 19267 w 3738080"/>
                <a:gd name="connsiteY31" fmla="*/ 846272 h 2751770"/>
                <a:gd name="connsiteX32" fmla="*/ 275 w 3738080"/>
                <a:gd name="connsiteY32" fmla="*/ 760137 h 2751770"/>
                <a:gd name="connsiteX33" fmla="*/ 173484 w 3738080"/>
                <a:gd name="connsiteY33" fmla="*/ 547180 h 2751770"/>
                <a:gd name="connsiteX34" fmla="*/ 1764313 w 3738080"/>
                <a:gd name="connsiteY34" fmla="*/ 591 h 2751770"/>
                <a:gd name="connsiteX0" fmla="*/ 1869041 w 3738080"/>
                <a:gd name="connsiteY0" fmla="*/ 1997576 h 2751770"/>
                <a:gd name="connsiteX1" fmla="*/ 2246138 w 3738080"/>
                <a:gd name="connsiteY1" fmla="*/ 2374673 h 2751770"/>
                <a:gd name="connsiteX2" fmla="*/ 1869041 w 3738080"/>
                <a:gd name="connsiteY2" fmla="*/ 2751770 h 2751770"/>
                <a:gd name="connsiteX3" fmla="*/ 1491944 w 3738080"/>
                <a:gd name="connsiteY3" fmla="*/ 2374673 h 2751770"/>
                <a:gd name="connsiteX4" fmla="*/ 1869041 w 3738080"/>
                <a:gd name="connsiteY4" fmla="*/ 1997576 h 2751770"/>
                <a:gd name="connsiteX5" fmla="*/ 2624294 w 3738080"/>
                <a:gd name="connsiteY5" fmla="*/ 1992174 h 2751770"/>
                <a:gd name="connsiteX6" fmla="*/ 2632248 w 3738080"/>
                <a:gd name="connsiteY6" fmla="*/ 1992174 h 2751770"/>
                <a:gd name="connsiteX7" fmla="*/ 2624294 w 3738080"/>
                <a:gd name="connsiteY7" fmla="*/ 1992174 h 2751770"/>
                <a:gd name="connsiteX8" fmla="*/ 1858846 w 3738080"/>
                <a:gd name="connsiteY8" fmla="*/ 1306247 h 2751770"/>
                <a:gd name="connsiteX9" fmla="*/ 2645621 w 3738080"/>
                <a:gd name="connsiteY9" fmla="*/ 1504218 h 2751770"/>
                <a:gd name="connsiteX10" fmla="*/ 2795575 w 3738080"/>
                <a:gd name="connsiteY10" fmla="*/ 1757331 h 2751770"/>
                <a:gd name="connsiteX11" fmla="*/ 2539052 w 3738080"/>
                <a:gd name="connsiteY11" fmla="*/ 1841672 h 2751770"/>
                <a:gd name="connsiteX12" fmla="*/ 1353947 w 3738080"/>
                <a:gd name="connsiteY12" fmla="*/ 1778974 h 2751770"/>
                <a:gd name="connsiteX13" fmla="*/ 982333 w 3738080"/>
                <a:gd name="connsiteY13" fmla="*/ 1780833 h 2751770"/>
                <a:gd name="connsiteX14" fmla="*/ 966756 w 3738080"/>
                <a:gd name="connsiteY14" fmla="*/ 1667407 h 2751770"/>
                <a:gd name="connsiteX15" fmla="*/ 1217540 w 3738080"/>
                <a:gd name="connsiteY15" fmla="*/ 1445700 h 2751770"/>
                <a:gd name="connsiteX16" fmla="*/ 1858846 w 3738080"/>
                <a:gd name="connsiteY16" fmla="*/ 1306247 h 2751770"/>
                <a:gd name="connsiteX17" fmla="*/ 1828129 w 3738080"/>
                <a:gd name="connsiteY17" fmla="*/ 650059 h 2751770"/>
                <a:gd name="connsiteX18" fmla="*/ 3108200 w 3738080"/>
                <a:gd name="connsiteY18" fmla="*/ 1008980 h 2751770"/>
                <a:gd name="connsiteX19" fmla="*/ 3258155 w 3738080"/>
                <a:gd name="connsiteY19" fmla="*/ 1319033 h 2751770"/>
                <a:gd name="connsiteX20" fmla="*/ 2937692 w 3738080"/>
                <a:gd name="connsiteY20" fmla="*/ 1304637 h 2751770"/>
                <a:gd name="connsiteX21" fmla="*/ 763561 w 3738080"/>
                <a:gd name="connsiteY21" fmla="*/ 1325535 h 2751770"/>
                <a:gd name="connsiteX22" fmla="*/ 464412 w 3738080"/>
                <a:gd name="connsiteY22" fmla="*/ 1278813 h 2751770"/>
                <a:gd name="connsiteX23" fmla="*/ 450482 w 3738080"/>
                <a:gd name="connsiteY23" fmla="*/ 1202928 h 2751770"/>
                <a:gd name="connsiteX24" fmla="*/ 622892 w 3738080"/>
                <a:gd name="connsiteY24" fmla="*/ 1008979 h 2751770"/>
                <a:gd name="connsiteX25" fmla="*/ 1828129 w 3738080"/>
                <a:gd name="connsiteY25" fmla="*/ 650059 h 2751770"/>
                <a:gd name="connsiteX26" fmla="*/ 1764313 w 3738080"/>
                <a:gd name="connsiteY26" fmla="*/ 591 h 2751770"/>
                <a:gd name="connsiteX27" fmla="*/ 3559697 w 3738080"/>
                <a:gd name="connsiteY27" fmla="*/ 547180 h 2751770"/>
                <a:gd name="connsiteX28" fmla="*/ 3709650 w 3738080"/>
                <a:gd name="connsiteY28" fmla="*/ 882310 h 2751770"/>
                <a:gd name="connsiteX29" fmla="*/ 3367875 w 3738080"/>
                <a:gd name="connsiteY29" fmla="*/ 834477 h 2751770"/>
                <a:gd name="connsiteX30" fmla="*/ 318417 w 3738080"/>
                <a:gd name="connsiteY30" fmla="*/ 884635 h 2751770"/>
                <a:gd name="connsiteX31" fmla="*/ 19267 w 3738080"/>
                <a:gd name="connsiteY31" fmla="*/ 846272 h 2751770"/>
                <a:gd name="connsiteX32" fmla="*/ 275 w 3738080"/>
                <a:gd name="connsiteY32" fmla="*/ 760137 h 2751770"/>
                <a:gd name="connsiteX33" fmla="*/ 173484 w 3738080"/>
                <a:gd name="connsiteY33" fmla="*/ 547180 h 2751770"/>
                <a:gd name="connsiteX34" fmla="*/ 1764313 w 3738080"/>
                <a:gd name="connsiteY34" fmla="*/ 591 h 2751770"/>
                <a:gd name="connsiteX0" fmla="*/ 1869041 w 3738080"/>
                <a:gd name="connsiteY0" fmla="*/ 1997576 h 2751770"/>
                <a:gd name="connsiteX1" fmla="*/ 2246138 w 3738080"/>
                <a:gd name="connsiteY1" fmla="*/ 2374673 h 2751770"/>
                <a:gd name="connsiteX2" fmla="*/ 1869041 w 3738080"/>
                <a:gd name="connsiteY2" fmla="*/ 2751770 h 2751770"/>
                <a:gd name="connsiteX3" fmla="*/ 1491944 w 3738080"/>
                <a:gd name="connsiteY3" fmla="*/ 2374673 h 2751770"/>
                <a:gd name="connsiteX4" fmla="*/ 1869041 w 3738080"/>
                <a:gd name="connsiteY4" fmla="*/ 1997576 h 2751770"/>
                <a:gd name="connsiteX5" fmla="*/ 1858846 w 3738080"/>
                <a:gd name="connsiteY5" fmla="*/ 1306247 h 2751770"/>
                <a:gd name="connsiteX6" fmla="*/ 2645621 w 3738080"/>
                <a:gd name="connsiteY6" fmla="*/ 1504218 h 2751770"/>
                <a:gd name="connsiteX7" fmla="*/ 2795575 w 3738080"/>
                <a:gd name="connsiteY7" fmla="*/ 1757331 h 2751770"/>
                <a:gd name="connsiteX8" fmla="*/ 2539052 w 3738080"/>
                <a:gd name="connsiteY8" fmla="*/ 1841672 h 2751770"/>
                <a:gd name="connsiteX9" fmla="*/ 1353947 w 3738080"/>
                <a:gd name="connsiteY9" fmla="*/ 1778974 h 2751770"/>
                <a:gd name="connsiteX10" fmla="*/ 982333 w 3738080"/>
                <a:gd name="connsiteY10" fmla="*/ 1780833 h 2751770"/>
                <a:gd name="connsiteX11" fmla="*/ 966756 w 3738080"/>
                <a:gd name="connsiteY11" fmla="*/ 1667407 h 2751770"/>
                <a:gd name="connsiteX12" fmla="*/ 1217540 w 3738080"/>
                <a:gd name="connsiteY12" fmla="*/ 1445700 h 2751770"/>
                <a:gd name="connsiteX13" fmla="*/ 1858846 w 3738080"/>
                <a:gd name="connsiteY13" fmla="*/ 1306247 h 2751770"/>
                <a:gd name="connsiteX14" fmla="*/ 1828129 w 3738080"/>
                <a:gd name="connsiteY14" fmla="*/ 650059 h 2751770"/>
                <a:gd name="connsiteX15" fmla="*/ 3108200 w 3738080"/>
                <a:gd name="connsiteY15" fmla="*/ 1008980 h 2751770"/>
                <a:gd name="connsiteX16" fmla="*/ 3258155 w 3738080"/>
                <a:gd name="connsiteY16" fmla="*/ 1319033 h 2751770"/>
                <a:gd name="connsiteX17" fmla="*/ 2937692 w 3738080"/>
                <a:gd name="connsiteY17" fmla="*/ 1304637 h 2751770"/>
                <a:gd name="connsiteX18" fmla="*/ 763561 w 3738080"/>
                <a:gd name="connsiteY18" fmla="*/ 1325535 h 2751770"/>
                <a:gd name="connsiteX19" fmla="*/ 464412 w 3738080"/>
                <a:gd name="connsiteY19" fmla="*/ 1278813 h 2751770"/>
                <a:gd name="connsiteX20" fmla="*/ 450482 w 3738080"/>
                <a:gd name="connsiteY20" fmla="*/ 1202928 h 2751770"/>
                <a:gd name="connsiteX21" fmla="*/ 622892 w 3738080"/>
                <a:gd name="connsiteY21" fmla="*/ 1008979 h 2751770"/>
                <a:gd name="connsiteX22" fmla="*/ 1828129 w 3738080"/>
                <a:gd name="connsiteY22" fmla="*/ 650059 h 2751770"/>
                <a:gd name="connsiteX23" fmla="*/ 1764313 w 3738080"/>
                <a:gd name="connsiteY23" fmla="*/ 591 h 2751770"/>
                <a:gd name="connsiteX24" fmla="*/ 3559697 w 3738080"/>
                <a:gd name="connsiteY24" fmla="*/ 547180 h 2751770"/>
                <a:gd name="connsiteX25" fmla="*/ 3709650 w 3738080"/>
                <a:gd name="connsiteY25" fmla="*/ 882310 h 2751770"/>
                <a:gd name="connsiteX26" fmla="*/ 3367875 w 3738080"/>
                <a:gd name="connsiteY26" fmla="*/ 834477 h 2751770"/>
                <a:gd name="connsiteX27" fmla="*/ 318417 w 3738080"/>
                <a:gd name="connsiteY27" fmla="*/ 884635 h 2751770"/>
                <a:gd name="connsiteX28" fmla="*/ 19267 w 3738080"/>
                <a:gd name="connsiteY28" fmla="*/ 846272 h 2751770"/>
                <a:gd name="connsiteX29" fmla="*/ 275 w 3738080"/>
                <a:gd name="connsiteY29" fmla="*/ 760137 h 2751770"/>
                <a:gd name="connsiteX30" fmla="*/ 173484 w 3738080"/>
                <a:gd name="connsiteY30" fmla="*/ 547180 h 2751770"/>
                <a:gd name="connsiteX31" fmla="*/ 1764313 w 3738080"/>
                <a:gd name="connsiteY31" fmla="*/ 591 h 27517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738080" h="2751770">
                  <a:moveTo>
                    <a:pt x="1869041" y="1997576"/>
                  </a:moveTo>
                  <a:cubicBezTo>
                    <a:pt x="2077306" y="1997576"/>
                    <a:pt x="2246138" y="2166408"/>
                    <a:pt x="2246138" y="2374673"/>
                  </a:cubicBezTo>
                  <a:cubicBezTo>
                    <a:pt x="2246138" y="2582938"/>
                    <a:pt x="2077306" y="2751770"/>
                    <a:pt x="1869041" y="2751770"/>
                  </a:cubicBezTo>
                  <a:cubicBezTo>
                    <a:pt x="1660776" y="2751770"/>
                    <a:pt x="1491944" y="2582938"/>
                    <a:pt x="1491944" y="2374673"/>
                  </a:cubicBezTo>
                  <a:cubicBezTo>
                    <a:pt x="1491944" y="2166408"/>
                    <a:pt x="1660776" y="1997576"/>
                    <a:pt x="1869041" y="1997576"/>
                  </a:cubicBezTo>
                  <a:close/>
                  <a:moveTo>
                    <a:pt x="1858846" y="1306247"/>
                  </a:moveTo>
                  <a:cubicBezTo>
                    <a:pt x="2165924" y="1301758"/>
                    <a:pt x="2404940" y="1399722"/>
                    <a:pt x="2645621" y="1504218"/>
                  </a:cubicBezTo>
                  <a:cubicBezTo>
                    <a:pt x="2813424" y="1597955"/>
                    <a:pt x="2823993" y="1678797"/>
                    <a:pt x="2795575" y="1757331"/>
                  </a:cubicBezTo>
                  <a:cubicBezTo>
                    <a:pt x="2761471" y="1842158"/>
                    <a:pt x="2685239" y="1908552"/>
                    <a:pt x="2539052" y="1841672"/>
                  </a:cubicBezTo>
                  <a:cubicBezTo>
                    <a:pt x="2347207" y="1684231"/>
                    <a:pt x="1733351" y="1556050"/>
                    <a:pt x="1353947" y="1778974"/>
                  </a:cubicBezTo>
                  <a:cubicBezTo>
                    <a:pt x="1250080" y="1855218"/>
                    <a:pt x="1037749" y="1915097"/>
                    <a:pt x="982333" y="1780833"/>
                  </a:cubicBezTo>
                  <a:cubicBezTo>
                    <a:pt x="968480" y="1736637"/>
                    <a:pt x="963386" y="1699601"/>
                    <a:pt x="966756" y="1667407"/>
                  </a:cubicBezTo>
                  <a:cubicBezTo>
                    <a:pt x="976866" y="1570822"/>
                    <a:pt x="1063141" y="1517802"/>
                    <a:pt x="1217540" y="1445700"/>
                  </a:cubicBezTo>
                  <a:cubicBezTo>
                    <a:pt x="1465851" y="1348519"/>
                    <a:pt x="1674601" y="1308942"/>
                    <a:pt x="1858846" y="1306247"/>
                  </a:cubicBezTo>
                  <a:close/>
                  <a:moveTo>
                    <a:pt x="1828129" y="650059"/>
                  </a:moveTo>
                  <a:cubicBezTo>
                    <a:pt x="2445754" y="646836"/>
                    <a:pt x="2937662" y="894034"/>
                    <a:pt x="3108200" y="1008980"/>
                  </a:cubicBezTo>
                  <a:cubicBezTo>
                    <a:pt x="3228810" y="1075858"/>
                    <a:pt x="3343409" y="1171509"/>
                    <a:pt x="3258155" y="1319033"/>
                  </a:cubicBezTo>
                  <a:cubicBezTo>
                    <a:pt x="3134282" y="1435449"/>
                    <a:pt x="3057301" y="1393031"/>
                    <a:pt x="2937692" y="1304637"/>
                  </a:cubicBezTo>
                  <a:cubicBezTo>
                    <a:pt x="2647778" y="1191783"/>
                    <a:pt x="2008321" y="619142"/>
                    <a:pt x="763561" y="1325535"/>
                  </a:cubicBezTo>
                  <a:cubicBezTo>
                    <a:pt x="621636" y="1425852"/>
                    <a:pt x="511304" y="1376178"/>
                    <a:pt x="464412" y="1278813"/>
                  </a:cubicBezTo>
                  <a:cubicBezTo>
                    <a:pt x="452398" y="1252494"/>
                    <a:pt x="448110" y="1227223"/>
                    <a:pt x="450482" y="1202928"/>
                  </a:cubicBezTo>
                  <a:cubicBezTo>
                    <a:pt x="457599" y="1130049"/>
                    <a:pt x="524660" y="1065987"/>
                    <a:pt x="622892" y="1008979"/>
                  </a:cubicBezTo>
                  <a:cubicBezTo>
                    <a:pt x="1041721" y="744082"/>
                    <a:pt x="1457554" y="651995"/>
                    <a:pt x="1828129" y="650059"/>
                  </a:cubicBezTo>
                  <a:close/>
                  <a:moveTo>
                    <a:pt x="1764313" y="591"/>
                  </a:moveTo>
                  <a:cubicBezTo>
                    <a:pt x="2430887" y="-13278"/>
                    <a:pt x="3056659" y="218017"/>
                    <a:pt x="3559697" y="547180"/>
                  </a:cubicBezTo>
                  <a:cubicBezTo>
                    <a:pt x="3671781" y="597338"/>
                    <a:pt x="3794905" y="759863"/>
                    <a:pt x="3709650" y="882310"/>
                  </a:cubicBezTo>
                  <a:cubicBezTo>
                    <a:pt x="3594303" y="984791"/>
                    <a:pt x="3449118" y="907547"/>
                    <a:pt x="3367875" y="834477"/>
                  </a:cubicBezTo>
                  <a:cubicBezTo>
                    <a:pt x="3193985" y="725799"/>
                    <a:pt x="1920315" y="-235561"/>
                    <a:pt x="318417" y="884635"/>
                  </a:cubicBezTo>
                  <a:cubicBezTo>
                    <a:pt x="189280" y="993311"/>
                    <a:pt x="70419" y="922739"/>
                    <a:pt x="19267" y="846272"/>
                  </a:cubicBezTo>
                  <a:cubicBezTo>
                    <a:pt x="4410" y="817516"/>
                    <a:pt x="-1388" y="788500"/>
                    <a:pt x="275" y="760137"/>
                  </a:cubicBezTo>
                  <a:cubicBezTo>
                    <a:pt x="5260" y="675044"/>
                    <a:pt x="77384" y="595829"/>
                    <a:pt x="173484" y="547180"/>
                  </a:cubicBezTo>
                  <a:cubicBezTo>
                    <a:pt x="702741" y="170471"/>
                    <a:pt x="1245868" y="11376"/>
                    <a:pt x="1764313" y="591"/>
                  </a:cubicBezTo>
                  <a:close/>
                </a:path>
              </a:pathLst>
            </a:cu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133"/>
            </a:p>
          </p:txBody>
        </p:sp>
      </p:grpSp>
      <p:sp>
        <p:nvSpPr>
          <p:cNvPr id="10" name="Subtitle 2">
            <a:extLst>
              <a:ext uri="{FF2B5EF4-FFF2-40B4-BE49-F238E27FC236}">
                <a16:creationId xmlns:a16="http://schemas.microsoft.com/office/drawing/2014/main" id="{53858C97-DA2F-8866-47CC-CDF4077BBF9D}"/>
              </a:ext>
            </a:extLst>
          </p:cNvPr>
          <p:cNvSpPr txBox="1">
            <a:spLocks/>
          </p:cNvSpPr>
          <p:nvPr/>
        </p:nvSpPr>
        <p:spPr>
          <a:xfrm>
            <a:off x="469976" y="1256395"/>
            <a:ext cx="365801" cy="125217"/>
          </a:xfrm>
          <a:prstGeom prst="rect">
            <a:avLst/>
          </a:prstGeom>
        </p:spPr>
        <p:txBody>
          <a:bodyPr vert="horz" lIns="81280" tIns="40640" rIns="81280" bIns="40640" rtlCol="0">
            <a:normAutofit fontScale="2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22" dirty="0">
                <a:solidFill>
                  <a:srgbClr val="7030A0"/>
                </a:solidFill>
              </a:rPr>
              <a:t>PDS</a:t>
            </a: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89692" y="1368919"/>
            <a:ext cx="195549" cy="278741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8964" y="1347118"/>
            <a:ext cx="268890" cy="255445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8583" y="1380076"/>
            <a:ext cx="262872" cy="253181"/>
          </a:xfrm>
          <a:prstGeom prst="rect">
            <a:avLst/>
          </a:prstGeom>
        </p:spPr>
      </p:pic>
      <p:sp>
        <p:nvSpPr>
          <p:cNvPr id="7" name="Title 4">
            <a:extLst>
              <a:ext uri="{FF2B5EF4-FFF2-40B4-BE49-F238E27FC236}">
                <a16:creationId xmlns:a16="http://schemas.microsoft.com/office/drawing/2014/main" id="{27228BAE-048B-681E-DD8D-BD96B22560E0}"/>
              </a:ext>
            </a:extLst>
          </p:cNvPr>
          <p:cNvSpPr txBox="1">
            <a:spLocks/>
          </p:cNvSpPr>
          <p:nvPr/>
        </p:nvSpPr>
        <p:spPr>
          <a:xfrm>
            <a:off x="258279" y="1456524"/>
            <a:ext cx="1837447" cy="261117"/>
          </a:xfrm>
          <a:prstGeom prst="rect">
            <a:avLst/>
          </a:prstGeom>
        </p:spPr>
        <p:txBody>
          <a:bodyPr vert="horz" lIns="81280" tIns="40640" rIns="81280" bIns="40640" rtlCol="0" anchor="b">
            <a:normAutofit fontScale="8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en-US" sz="1867" dirty="0">
                <a:solidFill>
                  <a:schemeClr val="accent1">
                    <a:lumMod val="75000"/>
                  </a:schemeClr>
                </a:solidFill>
              </a:rPr>
              <a:t>Computer </a:t>
            </a:r>
            <a:r>
              <a:rPr lang="en-US" sz="1867" dirty="0">
                <a:solidFill>
                  <a:srgbClr val="00B0F0"/>
                </a:solidFill>
              </a:rPr>
              <a:t>Vision</a:t>
            </a:r>
          </a:p>
        </p:txBody>
      </p:sp>
      <p:sp>
        <p:nvSpPr>
          <p:cNvPr id="28" name="Title 1"/>
          <p:cNvSpPr txBox="1">
            <a:spLocks/>
          </p:cNvSpPr>
          <p:nvPr/>
        </p:nvSpPr>
        <p:spPr>
          <a:xfrm>
            <a:off x="6403824" y="4344608"/>
            <a:ext cx="3825765" cy="451201"/>
          </a:xfrm>
          <a:prstGeom prst="rect">
            <a:avLst/>
          </a:prstGeom>
        </p:spPr>
        <p:txBody>
          <a:bodyPr vert="horz" lIns="81280" tIns="40640" rIns="81280" bIns="4064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133" b="1" dirty="0">
                <a:solidFill>
                  <a:schemeClr val="bg1">
                    <a:lumMod val="75000"/>
                  </a:schemeClr>
                </a:solidFill>
              </a:rPr>
              <a:t>@ P. </a:t>
            </a:r>
            <a:r>
              <a:rPr lang="en-US" sz="2133" b="1" dirty="0" err="1">
                <a:solidFill>
                  <a:schemeClr val="bg1">
                    <a:lumMod val="75000"/>
                  </a:schemeClr>
                </a:solidFill>
              </a:rPr>
              <a:t>Siagian</a:t>
            </a:r>
            <a:endParaRPr lang="en-US" sz="2133" b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356505" y="2183132"/>
            <a:ext cx="8493747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D" sz="3200" dirty="0" smtClean="0">
                <a:solidFill>
                  <a:schemeClr val="bg2">
                    <a:lumMod val="50000"/>
                  </a:schemeClr>
                </a:solidFill>
                <a:latin typeface="Segoe UI Symbol" panose="020B0502040204020203" pitchFamily="34" charset="0"/>
                <a:ea typeface="Segoe UI Symbol" panose="020B0502040204020203" pitchFamily="34" charset="0"/>
                <a:cs typeface="Arial" panose="020B0604020202020204" pitchFamily="34" charset="0"/>
              </a:rPr>
              <a:t>MPLS</a:t>
            </a:r>
          </a:p>
          <a:p>
            <a:r>
              <a:rPr lang="en-US" sz="3200" dirty="0"/>
              <a:t>MPLS (Multiprotocol Label Switching)</a:t>
            </a:r>
            <a:endParaRPr lang="en-US" sz="3200" dirty="0"/>
          </a:p>
        </p:txBody>
      </p:sp>
      <p:sp>
        <p:nvSpPr>
          <p:cNvPr id="5" name="Rectangle 4"/>
          <p:cNvSpPr/>
          <p:nvPr/>
        </p:nvSpPr>
        <p:spPr>
          <a:xfrm>
            <a:off x="2095726" y="6297133"/>
            <a:ext cx="486043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https://www.youtube.com/watch?v=4v7vCZ1p6EI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627130" y="5958533"/>
            <a:ext cx="2487830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800" dirty="0"/>
              <a:t>https://www.youtube.com/@AmelOline/videos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416325" y="5820034"/>
            <a:ext cx="1545230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800" dirty="0"/>
              <a:t>https://github.com/siagianp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701490" y="6097033"/>
            <a:ext cx="3490509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800" dirty="0"/>
              <a:t>https://github.com/amelcharolinesgn2/IoT_simulator-mqtt-NodeRed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109530" y="6235532"/>
            <a:ext cx="27466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800" dirty="0"/>
              <a:t>https://github.com/amelcharolinesgn2/Cloud-Infrastructures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605022" y="6350948"/>
            <a:ext cx="328681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800" dirty="0"/>
              <a:t>https://github.com/amelcharolinesgn2/ClouD-Infrastructure-SISKA-2025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416690" y="6481799"/>
            <a:ext cx="3775310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800" dirty="0"/>
              <a:t>https://github.com/amelcharolinesgn2/Gyroscope-Sensor-Data-Accelerometer</a:t>
            </a:r>
          </a:p>
        </p:txBody>
      </p:sp>
    </p:spTree>
    <p:extLst>
      <p:ext uri="{BB962C8B-B14F-4D97-AF65-F5344CB8AC3E}">
        <p14:creationId xmlns:p14="http://schemas.microsoft.com/office/powerpoint/2010/main" val="30168323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52536"/>
            <a:ext cx="5900738" cy="491966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5461" y="1785937"/>
            <a:ext cx="6396991" cy="2957513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1243013" y="1985963"/>
            <a:ext cx="3986212" cy="3043237"/>
          </a:xfrm>
          <a:prstGeom prst="ellipse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6958489" y="2643188"/>
            <a:ext cx="3986212" cy="2486025"/>
          </a:xfrm>
          <a:prstGeom prst="ellipse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81674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5450" y="804862"/>
            <a:ext cx="8860096" cy="4238626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3971925" y="1600201"/>
            <a:ext cx="3986212" cy="3043237"/>
          </a:xfrm>
          <a:prstGeom prst="ellipse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8257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4932" y="236897"/>
            <a:ext cx="10515600" cy="739056"/>
          </a:xfrm>
        </p:spPr>
        <p:txBody>
          <a:bodyPr>
            <a:normAutofit/>
          </a:bodyPr>
          <a:lstStyle/>
          <a:p>
            <a:r>
              <a:rPr lang="en-ID" sz="1600" dirty="0" smtClean="0">
                <a:solidFill>
                  <a:srgbClr val="000000"/>
                </a:solidFill>
                <a:latin typeface="Segoe UI Symbol" panose="020B0502040204020203" pitchFamily="34" charset="0"/>
                <a:ea typeface="Segoe UI Symbol" panose="020B0502040204020203" pitchFamily="34" charset="0"/>
                <a:cs typeface="Arial" panose="020B0604020202020204" pitchFamily="34" charset="0"/>
              </a:rPr>
              <a:t>MPLS</a:t>
            </a:r>
            <a:endParaRPr lang="en-US" sz="1600" dirty="0"/>
          </a:p>
        </p:txBody>
      </p:sp>
      <p:sp>
        <p:nvSpPr>
          <p:cNvPr id="6" name="Rectangle 5"/>
          <p:cNvSpPr/>
          <p:nvPr/>
        </p:nvSpPr>
        <p:spPr>
          <a:xfrm>
            <a:off x="474932" y="812358"/>
            <a:ext cx="11399568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000" dirty="0"/>
              <a:t>MPLS </a:t>
            </a:r>
            <a:r>
              <a:rPr lang="en-US" sz="2000" dirty="0" err="1"/>
              <a:t>pada</a:t>
            </a:r>
            <a:r>
              <a:rPr lang="en-US" sz="2000" dirty="0"/>
              <a:t> Cisco Router, </a:t>
            </a:r>
            <a:r>
              <a:rPr lang="en-US" sz="2000" dirty="0" err="1"/>
              <a:t>termasuk</a:t>
            </a:r>
            <a:r>
              <a:rPr lang="en-US" sz="2000" dirty="0"/>
              <a:t> </a:t>
            </a:r>
            <a:r>
              <a:rPr lang="en-US" sz="2000" dirty="0" err="1"/>
              <a:t>seri</a:t>
            </a:r>
            <a:r>
              <a:rPr lang="en-US" sz="2000" dirty="0"/>
              <a:t> yang </a:t>
            </a:r>
            <a:r>
              <a:rPr lang="en-US" sz="2000" dirty="0" err="1"/>
              <a:t>lebih</a:t>
            </a:r>
            <a:r>
              <a:rPr lang="en-US" sz="2000" dirty="0"/>
              <a:t> lama </a:t>
            </a:r>
            <a:r>
              <a:rPr lang="en-US" sz="2000" dirty="0" err="1"/>
              <a:t>atau</a:t>
            </a:r>
            <a:r>
              <a:rPr lang="en-US" sz="2000" dirty="0"/>
              <a:t> yang </a:t>
            </a:r>
            <a:r>
              <a:rPr lang="en-US" sz="2000" dirty="0" err="1"/>
              <a:t>setara</a:t>
            </a:r>
            <a:r>
              <a:rPr lang="en-US" sz="2000" dirty="0"/>
              <a:t> </a:t>
            </a:r>
            <a:r>
              <a:rPr lang="en-US" sz="2000" dirty="0" err="1"/>
              <a:t>fungsinya</a:t>
            </a:r>
            <a:r>
              <a:rPr lang="en-US" sz="2000" dirty="0"/>
              <a:t>, </a:t>
            </a:r>
            <a:r>
              <a:rPr lang="en-US" sz="2000" dirty="0" err="1"/>
              <a:t>umumnya</a:t>
            </a:r>
            <a:r>
              <a:rPr lang="en-US" sz="2000" dirty="0"/>
              <a:t> </a:t>
            </a:r>
            <a:r>
              <a:rPr lang="en-US" sz="2000" dirty="0" err="1"/>
              <a:t>mengikuti</a:t>
            </a:r>
            <a:r>
              <a:rPr lang="en-US" sz="2000" dirty="0"/>
              <a:t> </a:t>
            </a:r>
            <a:r>
              <a:rPr lang="en-US" sz="2000" dirty="0" err="1"/>
              <a:t>standar</a:t>
            </a:r>
            <a:r>
              <a:rPr lang="en-US" sz="2000" dirty="0"/>
              <a:t> Cisco IOS. </a:t>
            </a:r>
            <a:r>
              <a:rPr lang="en-US" sz="2000" dirty="0" err="1"/>
              <a:t>Komponen</a:t>
            </a:r>
            <a:r>
              <a:rPr lang="en-US" sz="2000" dirty="0"/>
              <a:t> </a:t>
            </a:r>
            <a:r>
              <a:rPr lang="en-US" sz="2000" dirty="0" err="1"/>
              <a:t>utamanya</a:t>
            </a:r>
            <a:r>
              <a:rPr lang="en-US" sz="2000" dirty="0"/>
              <a:t> </a:t>
            </a:r>
            <a:r>
              <a:rPr lang="en-US" sz="2000" dirty="0" err="1"/>
              <a:t>melibatkan</a:t>
            </a:r>
            <a:r>
              <a:rPr lang="en-US" sz="2000" dirty="0"/>
              <a:t> IP routing (OSPF/ISIS), LDP (Label Distribution Protocol), </a:t>
            </a:r>
            <a:r>
              <a:rPr lang="en-US" sz="2000" dirty="0" err="1"/>
              <a:t>dan</a:t>
            </a:r>
            <a:r>
              <a:rPr lang="en-US" sz="2000" dirty="0"/>
              <a:t> MPLS </a:t>
            </a:r>
            <a:r>
              <a:rPr lang="en-US" sz="2000" dirty="0" err="1"/>
              <a:t>ip</a:t>
            </a:r>
            <a:r>
              <a:rPr lang="en-US" sz="2000" dirty="0"/>
              <a:t> </a:t>
            </a:r>
            <a:r>
              <a:rPr lang="en-US" sz="2000" dirty="0" err="1"/>
              <a:t>pada</a:t>
            </a:r>
            <a:r>
              <a:rPr lang="en-US" sz="2000" dirty="0"/>
              <a:t> interface</a:t>
            </a:r>
            <a:r>
              <a:rPr lang="en-US" sz="2000" dirty="0" smtClean="0"/>
              <a:t>.</a:t>
            </a:r>
          </a:p>
          <a:p>
            <a:pPr algn="just"/>
            <a:endParaRPr lang="en-US" sz="2000" dirty="0"/>
          </a:p>
          <a:p>
            <a:pPr algn="just"/>
            <a:r>
              <a:rPr lang="en-US" sz="2000" dirty="0" err="1" smtClean="0"/>
              <a:t>Pembagian</a:t>
            </a:r>
            <a:r>
              <a:rPr lang="en-US" sz="2000" dirty="0" smtClean="0"/>
              <a:t> </a:t>
            </a:r>
            <a:r>
              <a:rPr lang="en-US" sz="2000" dirty="0" err="1"/>
              <a:t>peran</a:t>
            </a:r>
            <a:r>
              <a:rPr lang="en-US" sz="2000" dirty="0"/>
              <a:t> router </a:t>
            </a:r>
            <a:r>
              <a:rPr lang="en-US" sz="2000" dirty="0" err="1"/>
              <a:t>menjadi</a:t>
            </a:r>
            <a:r>
              <a:rPr lang="en-US" sz="2000" dirty="0"/>
              <a:t> LER (Label Edge Router) </a:t>
            </a:r>
            <a:r>
              <a:rPr lang="en-US" sz="2000" dirty="0" err="1"/>
              <a:t>dan</a:t>
            </a:r>
            <a:r>
              <a:rPr lang="en-US" sz="2000" dirty="0"/>
              <a:t> LSR (Label Switch Router). </a:t>
            </a:r>
            <a:endParaRPr lang="en-US" sz="2000" dirty="0" smtClean="0"/>
          </a:p>
          <a:p>
            <a:pPr algn="just"/>
            <a:endParaRPr lang="en-US" sz="2000" dirty="0"/>
          </a:p>
          <a:p>
            <a:pPr algn="just"/>
            <a:r>
              <a:rPr lang="en-US" sz="2000" dirty="0" err="1" smtClean="0"/>
              <a:t>Tujuan</a:t>
            </a:r>
            <a:r>
              <a:rPr lang="en-US" sz="2000" dirty="0" smtClean="0"/>
              <a:t> </a:t>
            </a:r>
            <a:r>
              <a:rPr lang="en-US" sz="2000" dirty="0" err="1"/>
              <a:t>utamanya</a:t>
            </a:r>
            <a:r>
              <a:rPr lang="en-US" sz="2000" dirty="0"/>
              <a:t> : </a:t>
            </a:r>
            <a:endParaRPr lang="en-US" sz="2000" dirty="0" smtClean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 smtClean="0"/>
              <a:t>MPLS </a:t>
            </a:r>
            <a:r>
              <a:rPr lang="en-US" sz="1600" dirty="0" err="1"/>
              <a:t>memang</a:t>
            </a:r>
            <a:r>
              <a:rPr lang="en-US" sz="1600" dirty="0"/>
              <a:t> </a:t>
            </a:r>
            <a:r>
              <a:rPr lang="en-US" sz="1600" dirty="0" err="1"/>
              <a:t>didesain</a:t>
            </a:r>
            <a:r>
              <a:rPr lang="en-US" sz="1600" dirty="0"/>
              <a:t> </a:t>
            </a:r>
            <a:r>
              <a:rPr lang="en-US" sz="1600" dirty="0" err="1"/>
              <a:t>untuk</a:t>
            </a:r>
            <a:r>
              <a:rPr lang="en-US" sz="1600" dirty="0"/>
              <a:t> </a:t>
            </a:r>
            <a:r>
              <a:rPr lang="en-US" sz="1600" dirty="0" err="1"/>
              <a:t>mengatasi</a:t>
            </a:r>
            <a:r>
              <a:rPr lang="en-US" sz="1600" dirty="0"/>
              <a:t> </a:t>
            </a:r>
            <a:r>
              <a:rPr lang="en-US" sz="1600" dirty="0" err="1"/>
              <a:t>solusi</a:t>
            </a:r>
            <a:r>
              <a:rPr lang="en-US" sz="1600" dirty="0"/>
              <a:t> </a:t>
            </a:r>
            <a:r>
              <a:rPr lang="en-US" sz="1600" dirty="0" err="1"/>
              <a:t>jaringan</a:t>
            </a:r>
            <a:r>
              <a:rPr lang="en-US" sz="1600" dirty="0"/>
              <a:t> </a:t>
            </a:r>
            <a:r>
              <a:rPr lang="en-US" sz="1600" dirty="0" err="1"/>
              <a:t>untuk</a:t>
            </a:r>
            <a:r>
              <a:rPr lang="en-US" sz="1600" dirty="0"/>
              <a:t> </a:t>
            </a:r>
            <a:r>
              <a:rPr lang="en-US" sz="1600" dirty="0" err="1"/>
              <a:t>menunjang</a:t>
            </a:r>
            <a:r>
              <a:rPr lang="en-US" sz="1600" dirty="0"/>
              <a:t> </a:t>
            </a:r>
            <a:r>
              <a:rPr lang="en-US" sz="1600" dirty="0" err="1"/>
              <a:t>kecepatan</a:t>
            </a:r>
            <a:r>
              <a:rPr lang="en-US" sz="1600" dirty="0"/>
              <a:t> </a:t>
            </a:r>
            <a:r>
              <a:rPr lang="en-US" sz="1600" dirty="0" err="1"/>
              <a:t>pada</a:t>
            </a:r>
            <a:r>
              <a:rPr lang="en-US" sz="1600" dirty="0"/>
              <a:t> IP routing </a:t>
            </a:r>
            <a:r>
              <a:rPr lang="en-US" sz="1600" dirty="0" err="1"/>
              <a:t>dan</a:t>
            </a:r>
            <a:r>
              <a:rPr lang="en-US" sz="1600" dirty="0"/>
              <a:t> MPLS </a:t>
            </a:r>
            <a:r>
              <a:rPr lang="en-US" sz="1600" dirty="0" err="1"/>
              <a:t>tersebut</a:t>
            </a:r>
            <a:r>
              <a:rPr lang="en-US" sz="1600" dirty="0"/>
              <a:t> </a:t>
            </a:r>
            <a:r>
              <a:rPr lang="en-US" sz="1600" dirty="0" err="1"/>
              <a:t>juga</a:t>
            </a:r>
            <a:r>
              <a:rPr lang="en-US" sz="1600" dirty="0"/>
              <a:t> </a:t>
            </a:r>
            <a:r>
              <a:rPr lang="en-US" sz="1600" dirty="0" err="1"/>
              <a:t>merupakan</a:t>
            </a:r>
            <a:r>
              <a:rPr lang="en-US" sz="1600" dirty="0"/>
              <a:t> </a:t>
            </a:r>
            <a:r>
              <a:rPr lang="en-US" sz="1600" dirty="0" err="1"/>
              <a:t>teknologi</a:t>
            </a:r>
            <a:r>
              <a:rPr lang="en-US" sz="1600" dirty="0"/>
              <a:t> </a:t>
            </a:r>
            <a:r>
              <a:rPr lang="en-US" sz="1600" dirty="0" err="1"/>
              <a:t>untuk</a:t>
            </a:r>
            <a:r>
              <a:rPr lang="en-US" sz="1600" dirty="0"/>
              <a:t> </a:t>
            </a:r>
            <a:r>
              <a:rPr lang="en-US" sz="1600" dirty="0" err="1"/>
              <a:t>mengembangkan</a:t>
            </a:r>
            <a:r>
              <a:rPr lang="en-US" sz="1600" dirty="0"/>
              <a:t> </a:t>
            </a:r>
            <a:r>
              <a:rPr lang="en-US" sz="1600" dirty="0" err="1"/>
              <a:t>teknologi</a:t>
            </a:r>
            <a:r>
              <a:rPr lang="en-US" sz="1600" dirty="0"/>
              <a:t> VPN (Virtual Private Network) </a:t>
            </a:r>
            <a:r>
              <a:rPr lang="en-US" sz="1600" dirty="0" err="1"/>
              <a:t>dimana</a:t>
            </a:r>
            <a:r>
              <a:rPr lang="en-US" sz="1600" dirty="0"/>
              <a:t> </a:t>
            </a:r>
            <a:r>
              <a:rPr lang="en-US" sz="1600" dirty="0" err="1"/>
              <a:t>teknologi</a:t>
            </a:r>
            <a:r>
              <a:rPr lang="en-US" sz="1600" dirty="0"/>
              <a:t> </a:t>
            </a:r>
            <a:r>
              <a:rPr lang="en-US" sz="1600" dirty="0" err="1"/>
              <a:t>tersebut</a:t>
            </a:r>
            <a:r>
              <a:rPr lang="en-US" sz="1600" dirty="0"/>
              <a:t> </a:t>
            </a:r>
            <a:r>
              <a:rPr lang="en-US" sz="1600" dirty="0" err="1"/>
              <a:t>dapat</a:t>
            </a:r>
            <a:r>
              <a:rPr lang="en-US" sz="1600" dirty="0"/>
              <a:t> </a:t>
            </a:r>
            <a:r>
              <a:rPr lang="en-US" sz="1600" dirty="0" err="1"/>
              <a:t>mengirimkan</a:t>
            </a:r>
            <a:r>
              <a:rPr lang="en-US" sz="1600" dirty="0"/>
              <a:t> </a:t>
            </a:r>
            <a:r>
              <a:rPr lang="en-US" sz="1600" dirty="0" err="1"/>
              <a:t>sautu</a:t>
            </a:r>
            <a:r>
              <a:rPr lang="en-US" sz="1600" dirty="0"/>
              <a:t> data </a:t>
            </a:r>
            <a:r>
              <a:rPr lang="en-US" sz="1600" dirty="0" err="1"/>
              <a:t>pada</a:t>
            </a:r>
            <a:r>
              <a:rPr lang="en-US" sz="1600" dirty="0"/>
              <a:t> </a:t>
            </a:r>
            <a:r>
              <a:rPr lang="en-US" sz="1600" dirty="0" err="1"/>
              <a:t>jalur</a:t>
            </a:r>
            <a:r>
              <a:rPr lang="en-US" sz="1600" dirty="0"/>
              <a:t> </a:t>
            </a:r>
            <a:r>
              <a:rPr lang="en-US" sz="1600" dirty="0" err="1"/>
              <a:t>khusus</a:t>
            </a:r>
            <a:r>
              <a:rPr lang="en-US" sz="1600" dirty="0"/>
              <a:t> yang </a:t>
            </a:r>
            <a:r>
              <a:rPr lang="en-US" sz="1600" dirty="0" err="1"/>
              <a:t>ditumpangkan</a:t>
            </a:r>
            <a:r>
              <a:rPr lang="en-US" sz="1600" dirty="0"/>
              <a:t> </a:t>
            </a:r>
            <a:r>
              <a:rPr lang="en-US" sz="1600" dirty="0" err="1"/>
              <a:t>pada</a:t>
            </a:r>
            <a:r>
              <a:rPr lang="en-US" sz="1600" dirty="0"/>
              <a:t> </a:t>
            </a:r>
            <a:r>
              <a:rPr lang="en-US" sz="1600" dirty="0" err="1"/>
              <a:t>jalur</a:t>
            </a:r>
            <a:r>
              <a:rPr lang="en-US" sz="1600" dirty="0"/>
              <a:t> </a:t>
            </a:r>
            <a:r>
              <a:rPr lang="en-US" sz="1600" dirty="0" err="1"/>
              <a:t>umum</a:t>
            </a:r>
            <a:r>
              <a:rPr lang="en-US" sz="1600" dirty="0"/>
              <a:t> </a:t>
            </a:r>
            <a:r>
              <a:rPr lang="en-US" sz="1600" dirty="0" err="1"/>
              <a:t>seperti</a:t>
            </a:r>
            <a:r>
              <a:rPr lang="en-US" sz="1600" dirty="0"/>
              <a:t> internet. </a:t>
            </a:r>
            <a:endParaRPr lang="en-US" sz="1600" dirty="0" smtClean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 err="1" smtClean="0"/>
              <a:t>mempercepat</a:t>
            </a:r>
            <a:r>
              <a:rPr lang="en-US" sz="1600" dirty="0" smtClean="0"/>
              <a:t> </a:t>
            </a:r>
            <a:r>
              <a:rPr lang="en-US" sz="1600" dirty="0" err="1"/>
              <a:t>pengiriman</a:t>
            </a:r>
            <a:r>
              <a:rPr lang="en-US" sz="1600" dirty="0"/>
              <a:t> </a:t>
            </a:r>
            <a:r>
              <a:rPr lang="en-US" sz="1600" dirty="0" err="1"/>
              <a:t>paket</a:t>
            </a:r>
            <a:r>
              <a:rPr lang="en-US" sz="1600" dirty="0"/>
              <a:t> </a:t>
            </a:r>
            <a:r>
              <a:rPr lang="en-US" sz="1600" dirty="0" err="1"/>
              <a:t>dengan</a:t>
            </a:r>
            <a:r>
              <a:rPr lang="en-US" sz="1600" dirty="0"/>
              <a:t> </a:t>
            </a:r>
            <a:r>
              <a:rPr lang="en-US" sz="1600" dirty="0" err="1"/>
              <a:t>teknik</a:t>
            </a:r>
            <a:r>
              <a:rPr lang="en-US" sz="1600" dirty="0"/>
              <a:t> label switching </a:t>
            </a:r>
            <a:r>
              <a:rPr lang="en-US" sz="1600" dirty="0" err="1"/>
              <a:t>dan</a:t>
            </a:r>
            <a:r>
              <a:rPr lang="en-US" sz="1600" dirty="0"/>
              <a:t> </a:t>
            </a:r>
            <a:r>
              <a:rPr lang="en-US" sz="1600" dirty="0" err="1"/>
              <a:t>mengaktifkan</a:t>
            </a:r>
            <a:r>
              <a:rPr lang="en-US" sz="1600" dirty="0"/>
              <a:t> routing </a:t>
            </a:r>
            <a:r>
              <a:rPr lang="en-US" sz="1600" dirty="0" err="1"/>
              <a:t>protokol</a:t>
            </a:r>
            <a:r>
              <a:rPr lang="en-US" sz="1600" dirty="0"/>
              <a:t> </a:t>
            </a:r>
            <a:r>
              <a:rPr lang="en-US" sz="1600" dirty="0" err="1"/>
              <a:t>seperti</a:t>
            </a:r>
            <a:r>
              <a:rPr lang="en-US" sz="1600" dirty="0"/>
              <a:t> OSPF/IS-IS </a:t>
            </a:r>
            <a:r>
              <a:rPr lang="en-US" sz="1600" dirty="0" err="1"/>
              <a:t>untuk</a:t>
            </a:r>
            <a:r>
              <a:rPr lang="en-US" sz="1600" dirty="0"/>
              <a:t> </a:t>
            </a:r>
            <a:r>
              <a:rPr lang="en-US" sz="1600" dirty="0" err="1"/>
              <a:t>mendistribusikan</a:t>
            </a:r>
            <a:r>
              <a:rPr lang="en-US" sz="1600" dirty="0"/>
              <a:t> </a:t>
            </a:r>
            <a:r>
              <a:rPr lang="en-US" sz="1600" dirty="0" err="1"/>
              <a:t>informasi</a:t>
            </a:r>
            <a:r>
              <a:rPr lang="en-US" sz="1600" dirty="0"/>
              <a:t> </a:t>
            </a:r>
            <a:r>
              <a:rPr lang="en-US" sz="1600" dirty="0" smtClean="0"/>
              <a:t>label.</a:t>
            </a:r>
          </a:p>
          <a:p>
            <a:pPr algn="just"/>
            <a:endParaRPr lang="en-US" sz="2000" dirty="0"/>
          </a:p>
          <a:p>
            <a:pPr algn="just"/>
            <a:r>
              <a:rPr lang="en-US" sz="2000" dirty="0" err="1"/>
              <a:t>Topologi</a:t>
            </a:r>
            <a:r>
              <a:rPr lang="en-US" sz="2000" dirty="0"/>
              <a:t> </a:t>
            </a:r>
            <a:r>
              <a:rPr lang="en-US" sz="2000" dirty="0" err="1"/>
              <a:t>standar</a:t>
            </a:r>
            <a:r>
              <a:rPr lang="en-US" sz="2000" dirty="0"/>
              <a:t> yang </a:t>
            </a:r>
            <a:r>
              <a:rPr lang="en-US" sz="2000" dirty="0" err="1"/>
              <a:t>digunakan</a:t>
            </a:r>
            <a:r>
              <a:rPr lang="en-US" sz="2000" dirty="0"/>
              <a:t> </a:t>
            </a:r>
            <a:r>
              <a:rPr lang="en-US" sz="2000" dirty="0" smtClean="0"/>
              <a:t>:</a:t>
            </a:r>
            <a:endParaRPr lang="en-US" sz="2000" dirty="0"/>
          </a:p>
          <a:p>
            <a:pPr marL="800100" lvl="1" indent="-342900" algn="just">
              <a:buFont typeface="Wingdings" panose="05000000000000000000" pitchFamily="2" charset="2"/>
              <a:buChar char="ü"/>
            </a:pPr>
            <a:r>
              <a:rPr lang="en-US" sz="2000" dirty="0"/>
              <a:t>Customer Router (</a:t>
            </a:r>
            <a:r>
              <a:rPr lang="en-US" sz="2000" b="1" dirty="0">
                <a:solidFill>
                  <a:srgbClr val="002060"/>
                </a:solidFill>
              </a:rPr>
              <a:t>CE</a:t>
            </a:r>
            <a:r>
              <a:rPr lang="en-US" sz="2000" dirty="0"/>
              <a:t> - Customer Edge</a:t>
            </a:r>
            <a:r>
              <a:rPr lang="en-US" sz="2000" dirty="0" smtClean="0"/>
              <a:t>)	    : </a:t>
            </a:r>
            <a:r>
              <a:rPr lang="en-US" sz="2000" dirty="0" err="1"/>
              <a:t>Terhubung</a:t>
            </a:r>
            <a:r>
              <a:rPr lang="en-US" sz="2000" dirty="0"/>
              <a:t> </a:t>
            </a:r>
            <a:r>
              <a:rPr lang="en-US" sz="2000" dirty="0" err="1"/>
              <a:t>ke</a:t>
            </a:r>
            <a:r>
              <a:rPr lang="en-US" sz="2000" dirty="0"/>
              <a:t> </a:t>
            </a:r>
            <a:r>
              <a:rPr lang="en-US" sz="2000" dirty="0" err="1"/>
              <a:t>pelanggan</a:t>
            </a:r>
            <a:r>
              <a:rPr lang="en-US" sz="2000" dirty="0"/>
              <a:t>.</a:t>
            </a:r>
          </a:p>
          <a:p>
            <a:pPr marL="800100" lvl="1" indent="-342900" algn="just">
              <a:buFont typeface="Wingdings" panose="05000000000000000000" pitchFamily="2" charset="2"/>
              <a:buChar char="ü"/>
            </a:pPr>
            <a:r>
              <a:rPr lang="en-US" sz="2000" dirty="0"/>
              <a:t>Provider Router (</a:t>
            </a:r>
            <a:r>
              <a:rPr lang="en-US" sz="2000" b="1" dirty="0">
                <a:solidFill>
                  <a:srgbClr val="002060"/>
                </a:solidFill>
              </a:rPr>
              <a:t>PE</a:t>
            </a:r>
            <a:r>
              <a:rPr lang="en-US" sz="2000" dirty="0"/>
              <a:t> - Provider Edge / LER</a:t>
            </a:r>
            <a:r>
              <a:rPr lang="en-US" sz="2000" dirty="0" smtClean="0"/>
              <a:t>) : </a:t>
            </a:r>
            <a:r>
              <a:rPr lang="en-US" sz="2000" dirty="0"/>
              <a:t>Router di </a:t>
            </a:r>
            <a:r>
              <a:rPr lang="en-US" sz="2000" dirty="0" err="1"/>
              <a:t>perbatasan</a:t>
            </a:r>
            <a:r>
              <a:rPr lang="en-US" sz="2000" dirty="0"/>
              <a:t> yang </a:t>
            </a:r>
            <a:r>
              <a:rPr lang="en-US" sz="2000" dirty="0" err="1"/>
              <a:t>melakukan</a:t>
            </a:r>
            <a:r>
              <a:rPr lang="en-US" sz="2000" dirty="0"/>
              <a:t> labeling (R1 </a:t>
            </a:r>
            <a:r>
              <a:rPr lang="en-US" sz="2000" dirty="0" err="1"/>
              <a:t>dan</a:t>
            </a:r>
            <a:r>
              <a:rPr lang="en-US" sz="2000" dirty="0"/>
              <a:t> R3).</a:t>
            </a:r>
          </a:p>
          <a:p>
            <a:pPr marL="800100" lvl="1" indent="-342900" algn="just">
              <a:buFont typeface="Wingdings" panose="05000000000000000000" pitchFamily="2" charset="2"/>
              <a:buChar char="ü"/>
            </a:pPr>
            <a:r>
              <a:rPr lang="en-US" sz="2000" dirty="0"/>
              <a:t>Provider Router (</a:t>
            </a:r>
            <a:r>
              <a:rPr lang="en-US" sz="2000" b="1" dirty="0">
                <a:solidFill>
                  <a:srgbClr val="002060"/>
                </a:solidFill>
              </a:rPr>
              <a:t>P</a:t>
            </a:r>
            <a:r>
              <a:rPr lang="en-US" sz="2000" dirty="0"/>
              <a:t> - Core / LSR</a:t>
            </a:r>
            <a:r>
              <a:rPr lang="en-US" sz="2000" dirty="0" smtClean="0"/>
              <a:t>)	    : </a:t>
            </a:r>
            <a:r>
              <a:rPr lang="en-US" sz="2000" dirty="0"/>
              <a:t>Router di inti </a:t>
            </a:r>
            <a:r>
              <a:rPr lang="en-US" sz="2000" dirty="0" err="1"/>
              <a:t>jaringan</a:t>
            </a:r>
            <a:r>
              <a:rPr lang="en-US" sz="2000" dirty="0"/>
              <a:t> yang </a:t>
            </a:r>
            <a:r>
              <a:rPr lang="en-US" sz="2000" dirty="0" err="1"/>
              <a:t>melakukan</a:t>
            </a:r>
            <a:r>
              <a:rPr lang="en-US" sz="2000" dirty="0"/>
              <a:t> label switching (R2).</a:t>
            </a:r>
          </a:p>
          <a:p>
            <a:pPr marL="800100" lvl="1" indent="-342900" algn="just">
              <a:buFont typeface="Wingdings" panose="05000000000000000000" pitchFamily="2" charset="2"/>
              <a:buChar char="ü"/>
            </a:pPr>
            <a:r>
              <a:rPr lang="en-US" sz="2000" dirty="0" err="1"/>
              <a:t>Alur</a:t>
            </a:r>
            <a:r>
              <a:rPr lang="en-US" sz="2000" dirty="0"/>
              <a:t>: CE -- PE1 (R1) -- P (R2) -- PE2 (R3) -- CE </a:t>
            </a:r>
          </a:p>
        </p:txBody>
      </p:sp>
    </p:spTree>
    <p:extLst>
      <p:ext uri="{BB962C8B-B14F-4D97-AF65-F5344CB8AC3E}">
        <p14:creationId xmlns:p14="http://schemas.microsoft.com/office/powerpoint/2010/main" val="5456876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225778" y="351683"/>
            <a:ext cx="5779910" cy="56938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400" dirty="0" err="1" smtClean="0"/>
              <a:t>Teknologi</a:t>
            </a:r>
            <a:r>
              <a:rPr lang="en-US" sz="1400" dirty="0" smtClean="0"/>
              <a:t> </a:t>
            </a:r>
            <a:r>
              <a:rPr lang="en-US" sz="1400" dirty="0"/>
              <a:t>MPLS </a:t>
            </a:r>
            <a:r>
              <a:rPr lang="en-US" sz="1400" dirty="0" err="1"/>
              <a:t>banyak</a:t>
            </a:r>
            <a:r>
              <a:rPr lang="en-US" sz="1400" dirty="0"/>
              <a:t> </a:t>
            </a:r>
            <a:r>
              <a:rPr lang="en-US" sz="1400" dirty="0" err="1"/>
              <a:t>digunakan</a:t>
            </a:r>
            <a:r>
              <a:rPr lang="en-US" sz="1400" dirty="0"/>
              <a:t> </a:t>
            </a:r>
            <a:r>
              <a:rPr lang="en-US" sz="1400" dirty="0" err="1"/>
              <a:t>oleh</a:t>
            </a:r>
            <a:r>
              <a:rPr lang="en-US" sz="1400" dirty="0"/>
              <a:t> </a:t>
            </a:r>
            <a:r>
              <a:rPr lang="en-US" sz="1400" dirty="0" err="1"/>
              <a:t>penyedia</a:t>
            </a:r>
            <a:r>
              <a:rPr lang="en-US" sz="1400" dirty="0"/>
              <a:t> </a:t>
            </a:r>
            <a:r>
              <a:rPr lang="en-US" sz="1400" dirty="0" err="1"/>
              <a:t>layanan</a:t>
            </a:r>
            <a:r>
              <a:rPr lang="en-US" sz="1400" dirty="0"/>
              <a:t> </a:t>
            </a:r>
            <a:r>
              <a:rPr lang="en-US" sz="1400" dirty="0" err="1"/>
              <a:t>jaringan</a:t>
            </a:r>
            <a:r>
              <a:rPr lang="en-US" sz="1400" dirty="0"/>
              <a:t> </a:t>
            </a:r>
            <a:r>
              <a:rPr lang="en-US" sz="1400" dirty="0" err="1"/>
              <a:t>karena</a:t>
            </a:r>
            <a:r>
              <a:rPr lang="en-US" sz="1400" dirty="0"/>
              <a:t> </a:t>
            </a:r>
            <a:r>
              <a:rPr lang="en-US" sz="1400" dirty="0" err="1"/>
              <a:t>dapat</a:t>
            </a:r>
            <a:r>
              <a:rPr lang="en-US" sz="1400" dirty="0"/>
              <a:t> </a:t>
            </a:r>
            <a:r>
              <a:rPr lang="en-US" sz="1400" dirty="0" err="1"/>
              <a:t>mewujudkan</a:t>
            </a:r>
            <a:r>
              <a:rPr lang="en-US" sz="1400" dirty="0"/>
              <a:t> </a:t>
            </a:r>
            <a:r>
              <a:rPr lang="en-US" sz="1400" dirty="0" err="1"/>
              <a:t>pengoptimalan</a:t>
            </a:r>
            <a:r>
              <a:rPr lang="en-US" sz="1400" dirty="0"/>
              <a:t> </a:t>
            </a:r>
            <a:r>
              <a:rPr lang="en-US" sz="1400" dirty="0" err="1"/>
              <a:t>performansi</a:t>
            </a:r>
            <a:r>
              <a:rPr lang="en-US" sz="1400" dirty="0"/>
              <a:t> </a:t>
            </a:r>
            <a:r>
              <a:rPr lang="en-US" sz="1400" dirty="0" err="1"/>
              <a:t>pengiriman</a:t>
            </a:r>
            <a:r>
              <a:rPr lang="en-US" sz="1400" dirty="0"/>
              <a:t> data </a:t>
            </a:r>
            <a:r>
              <a:rPr lang="en-US" sz="1400" dirty="0" err="1"/>
              <a:t>dengan</a:t>
            </a:r>
            <a:r>
              <a:rPr lang="en-US" sz="1400" dirty="0"/>
              <a:t> </a:t>
            </a:r>
            <a:r>
              <a:rPr lang="en-US" sz="1400" dirty="0" err="1"/>
              <a:t>harga</a:t>
            </a:r>
            <a:r>
              <a:rPr lang="en-US" sz="1400" dirty="0"/>
              <a:t> operational yang </a:t>
            </a:r>
            <a:r>
              <a:rPr lang="en-US" sz="1400" dirty="0" err="1"/>
              <a:t>lebih</a:t>
            </a:r>
            <a:r>
              <a:rPr lang="en-US" sz="1400" dirty="0"/>
              <a:t> </a:t>
            </a:r>
            <a:r>
              <a:rPr lang="en-US" sz="1400" dirty="0" err="1"/>
              <a:t>murah</a:t>
            </a:r>
            <a:r>
              <a:rPr lang="en-US" sz="1400" dirty="0"/>
              <a:t> </a:t>
            </a:r>
            <a:r>
              <a:rPr lang="en-US" sz="1400" dirty="0" err="1"/>
              <a:t>dari</a:t>
            </a:r>
            <a:r>
              <a:rPr lang="en-US" sz="1400" dirty="0"/>
              <a:t> </a:t>
            </a:r>
            <a:r>
              <a:rPr lang="en-US" sz="1400" dirty="0" err="1"/>
              <a:t>teknologi</a:t>
            </a:r>
            <a:r>
              <a:rPr lang="en-US" sz="1400" dirty="0"/>
              <a:t> </a:t>
            </a:r>
            <a:r>
              <a:rPr lang="en-US" sz="1400" dirty="0" err="1"/>
              <a:t>sebelumnya</a:t>
            </a:r>
            <a:r>
              <a:rPr lang="en-US" sz="1400" dirty="0"/>
              <a:t> </a:t>
            </a:r>
            <a:r>
              <a:rPr lang="en-US" sz="1400" dirty="0" err="1"/>
              <a:t>seperti</a:t>
            </a:r>
            <a:r>
              <a:rPr lang="en-US" sz="1400" dirty="0"/>
              <a:t> ATM </a:t>
            </a:r>
            <a:r>
              <a:rPr lang="en-US" sz="1400" dirty="0" err="1"/>
              <a:t>dan</a:t>
            </a:r>
            <a:r>
              <a:rPr lang="en-US" sz="1400" dirty="0"/>
              <a:t> proses </a:t>
            </a:r>
            <a:r>
              <a:rPr lang="en-US" sz="1400" dirty="0" err="1"/>
              <a:t>pengiriman</a:t>
            </a:r>
            <a:r>
              <a:rPr lang="en-US" sz="1400" dirty="0"/>
              <a:t> data </a:t>
            </a:r>
            <a:r>
              <a:rPr lang="en-US" sz="1400" dirty="0" err="1"/>
              <a:t>bisa</a:t>
            </a:r>
            <a:r>
              <a:rPr lang="en-US" sz="1400" dirty="0"/>
              <a:t> </a:t>
            </a:r>
            <a:r>
              <a:rPr lang="en-US" sz="1400" dirty="0" err="1"/>
              <a:t>lebih</a:t>
            </a:r>
            <a:r>
              <a:rPr lang="en-US" sz="1400" dirty="0"/>
              <a:t> </a:t>
            </a:r>
            <a:r>
              <a:rPr lang="en-US" sz="1400" dirty="0" err="1" smtClean="0"/>
              <a:t>handal</a:t>
            </a:r>
            <a:r>
              <a:rPr lang="en-US" sz="1400" dirty="0" smtClean="0"/>
              <a:t>. </a:t>
            </a:r>
          </a:p>
          <a:p>
            <a:pPr algn="just"/>
            <a:endParaRPr lang="en-US" sz="1400" dirty="0" smtClean="0"/>
          </a:p>
          <a:p>
            <a:pPr algn="just"/>
            <a:r>
              <a:rPr lang="en-US" sz="1400" dirty="0"/>
              <a:t>MPLS backbone </a:t>
            </a:r>
            <a:r>
              <a:rPr lang="en-US" sz="1400" dirty="0" smtClean="0"/>
              <a:t>involves </a:t>
            </a:r>
            <a:r>
              <a:rPr lang="en-US" sz="1400" dirty="0"/>
              <a:t>setting up Provider (P) and Provider Edge (PE) routers using an Interior Gateway Protocol (IGP) like OSPF or IS-IS for connectivity, followed by Label Distribution Protocol (LDP) for label switching. Core requirements include Cisco Express Forwarding (CEF) and MPLS IP enabled on </a:t>
            </a:r>
            <a:r>
              <a:rPr lang="en-US" sz="1400" dirty="0" smtClean="0"/>
              <a:t>core-facing interfaces.</a:t>
            </a:r>
          </a:p>
          <a:p>
            <a:pPr algn="just"/>
            <a:r>
              <a:rPr lang="en-US" sz="1400" dirty="0" smtClean="0"/>
              <a:t>Configuration:</a:t>
            </a:r>
            <a:endParaRPr lang="en-US" sz="14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dirty="0"/>
              <a:t>IGP Setup (OSPF/IS-IS): Configure OSPF on P and PE routers to ensure full L3 reachability between loopback interfaces.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dirty="0"/>
              <a:t>MPLS LDP: Enable </a:t>
            </a:r>
            <a:r>
              <a:rPr lang="en-US" sz="1400" dirty="0" err="1"/>
              <a:t>mpls</a:t>
            </a:r>
            <a:r>
              <a:rPr lang="en-US" sz="1400" dirty="0"/>
              <a:t> </a:t>
            </a:r>
            <a:r>
              <a:rPr lang="en-US" sz="1400" dirty="0" err="1"/>
              <a:t>ip</a:t>
            </a:r>
            <a:r>
              <a:rPr lang="en-US" sz="1400" dirty="0"/>
              <a:t> or </a:t>
            </a:r>
            <a:r>
              <a:rPr lang="en-US" sz="1400" dirty="0" err="1"/>
              <a:t>mpls</a:t>
            </a:r>
            <a:r>
              <a:rPr lang="en-US" sz="1400" dirty="0"/>
              <a:t> </a:t>
            </a:r>
            <a:r>
              <a:rPr lang="en-US" sz="1400" dirty="0" err="1"/>
              <a:t>ldp</a:t>
            </a:r>
            <a:r>
              <a:rPr lang="en-US" sz="1400" dirty="0"/>
              <a:t> </a:t>
            </a:r>
            <a:r>
              <a:rPr lang="en-US" sz="1400" dirty="0" err="1"/>
              <a:t>autoconfig</a:t>
            </a:r>
            <a:r>
              <a:rPr lang="en-US" sz="1400" dirty="0"/>
              <a:t> on all provider-facing interfaces to establish label switched paths.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dirty="0"/>
              <a:t>BGP Configuration: Use </a:t>
            </a:r>
            <a:r>
              <a:rPr lang="en-US" sz="1400" dirty="0" err="1"/>
              <a:t>iBGP</a:t>
            </a:r>
            <a:r>
              <a:rPr lang="en-US" sz="1400" dirty="0"/>
              <a:t> between PE routers to exchange VPNv4 routes for Layer 3 VPN services.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dirty="0"/>
              <a:t>VRF Definition: Create VRFs on PE routers to isolate customer traffic, assigning interfaces to specific </a:t>
            </a:r>
            <a:r>
              <a:rPr lang="en-US" sz="1400" dirty="0" smtClean="0"/>
              <a:t>VRFs</a:t>
            </a:r>
          </a:p>
          <a:p>
            <a:pPr algn="just"/>
            <a:endParaRPr lang="en-US" sz="1400" dirty="0" smtClean="0"/>
          </a:p>
          <a:p>
            <a:pPr algn="just"/>
            <a:r>
              <a:rPr lang="en-US" sz="1400" dirty="0" smtClean="0"/>
              <a:t>Command IOS/IOS-XE: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sz="1400" dirty="0"/>
              <a:t>Enable CEF: </a:t>
            </a:r>
            <a:r>
              <a:rPr lang="en-US" sz="1400" dirty="0" err="1"/>
              <a:t>ip</a:t>
            </a:r>
            <a:r>
              <a:rPr lang="en-US" sz="1400" dirty="0"/>
              <a:t> </a:t>
            </a:r>
            <a:r>
              <a:rPr lang="en-US" sz="1400" dirty="0" err="1"/>
              <a:t>cef</a:t>
            </a:r>
            <a:r>
              <a:rPr lang="en-US" sz="1400" dirty="0"/>
              <a:t> (Global </a:t>
            </a:r>
            <a:r>
              <a:rPr lang="en-US" sz="1400" dirty="0" err="1"/>
              <a:t>config</a:t>
            </a:r>
            <a:r>
              <a:rPr lang="en-US" sz="1400" dirty="0"/>
              <a:t>)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sz="1400" dirty="0"/>
              <a:t>Enable MPLS: </a:t>
            </a:r>
            <a:r>
              <a:rPr lang="en-US" sz="1400" dirty="0" err="1"/>
              <a:t>mpls</a:t>
            </a:r>
            <a:r>
              <a:rPr lang="en-US" sz="1400" dirty="0"/>
              <a:t> </a:t>
            </a:r>
            <a:r>
              <a:rPr lang="en-US" sz="1400" dirty="0" err="1"/>
              <a:t>ip</a:t>
            </a:r>
            <a:r>
              <a:rPr lang="en-US" sz="1400" dirty="0"/>
              <a:t> (Interface </a:t>
            </a:r>
            <a:r>
              <a:rPr lang="en-US" sz="1400" dirty="0" err="1"/>
              <a:t>config</a:t>
            </a:r>
            <a:r>
              <a:rPr lang="en-US" sz="1400" dirty="0"/>
              <a:t>)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sz="1400" dirty="0"/>
              <a:t>LDP </a:t>
            </a:r>
            <a:r>
              <a:rPr lang="en-US" sz="1400" dirty="0" err="1"/>
              <a:t>Autoconfig</a:t>
            </a:r>
            <a:r>
              <a:rPr lang="en-US" sz="1400" dirty="0"/>
              <a:t>: </a:t>
            </a:r>
            <a:r>
              <a:rPr lang="en-US" sz="1400" dirty="0" err="1"/>
              <a:t>mpls</a:t>
            </a:r>
            <a:r>
              <a:rPr lang="en-US" sz="1400" dirty="0"/>
              <a:t> </a:t>
            </a:r>
            <a:r>
              <a:rPr lang="en-US" sz="1400" dirty="0" err="1"/>
              <a:t>ldp</a:t>
            </a:r>
            <a:r>
              <a:rPr lang="en-US" sz="1400" dirty="0"/>
              <a:t> </a:t>
            </a:r>
            <a:r>
              <a:rPr lang="en-US" sz="1400" dirty="0" err="1"/>
              <a:t>autoconfig</a:t>
            </a:r>
            <a:r>
              <a:rPr lang="en-US" sz="1400" dirty="0"/>
              <a:t> (OSPF/IS-IS router </a:t>
            </a:r>
            <a:r>
              <a:rPr lang="en-US" sz="1400" dirty="0" err="1"/>
              <a:t>config</a:t>
            </a:r>
            <a:r>
              <a:rPr lang="en-US" sz="1400" dirty="0"/>
              <a:t>)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sz="1400" dirty="0"/>
              <a:t>Verify MPLS: show </a:t>
            </a:r>
            <a:r>
              <a:rPr lang="en-US" sz="1400" dirty="0" err="1"/>
              <a:t>mpls</a:t>
            </a:r>
            <a:r>
              <a:rPr lang="en-US" sz="1400" dirty="0"/>
              <a:t> </a:t>
            </a:r>
            <a:r>
              <a:rPr lang="en-US" sz="1400" dirty="0" err="1"/>
              <a:t>ldp</a:t>
            </a:r>
            <a:r>
              <a:rPr lang="en-US" sz="1400" dirty="0"/>
              <a:t> neighbor, show </a:t>
            </a:r>
            <a:r>
              <a:rPr lang="en-US" sz="1400" dirty="0" err="1"/>
              <a:t>mpls</a:t>
            </a:r>
            <a:r>
              <a:rPr lang="en-US" sz="1400" dirty="0"/>
              <a:t> interfaces, show </a:t>
            </a:r>
            <a:r>
              <a:rPr lang="en-US" sz="1400" dirty="0" err="1"/>
              <a:t>mpls</a:t>
            </a:r>
            <a:r>
              <a:rPr lang="en-US" sz="1400" dirty="0"/>
              <a:t> forwarding-table</a:t>
            </a:r>
          </a:p>
        </p:txBody>
      </p:sp>
      <p:sp>
        <p:nvSpPr>
          <p:cNvPr id="4" name="Rectangle 3"/>
          <p:cNvSpPr/>
          <p:nvPr/>
        </p:nvSpPr>
        <p:spPr>
          <a:xfrm>
            <a:off x="67733" y="6211669"/>
            <a:ext cx="6096000" cy="55399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000" dirty="0">
                <a:hlinkClick r:id="rId2"/>
              </a:rPr>
              <a:t>https://</a:t>
            </a:r>
            <a:r>
              <a:rPr lang="en-US" sz="1000" dirty="0" smtClean="0">
                <a:hlinkClick r:id="rId2"/>
              </a:rPr>
              <a:t>www.cisco.com/c/en/us/support/docs/multiprotocol-label-switching-mpls/mpls/13733-mpls-vpn-basic.html</a:t>
            </a:r>
            <a:endParaRPr lang="en-US" sz="1000" dirty="0" smtClean="0"/>
          </a:p>
          <a:p>
            <a:r>
              <a:rPr lang="en-US" sz="1000" dirty="0"/>
              <a:t>https://www.quisted.net/index.php/2024/11/11/mpls-segment-routing-mpls-sr-lab/</a:t>
            </a:r>
          </a:p>
        </p:txBody>
      </p:sp>
    </p:spTree>
    <p:extLst>
      <p:ext uri="{BB962C8B-B14F-4D97-AF65-F5344CB8AC3E}">
        <p14:creationId xmlns:p14="http://schemas.microsoft.com/office/powerpoint/2010/main" val="27594253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985" y="555096"/>
            <a:ext cx="3952875" cy="2428875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203998" y="3295913"/>
            <a:ext cx="5463024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400" dirty="0"/>
              <a:t>MPLS </a:t>
            </a:r>
            <a:r>
              <a:rPr lang="en-US" sz="1400" dirty="0" err="1"/>
              <a:t>pada</a:t>
            </a:r>
            <a:r>
              <a:rPr lang="en-US" sz="1400" dirty="0"/>
              <a:t> Cisco Router, </a:t>
            </a:r>
            <a:r>
              <a:rPr lang="en-US" sz="1400" dirty="0" err="1"/>
              <a:t>termasuk</a:t>
            </a:r>
            <a:r>
              <a:rPr lang="en-US" sz="1400" dirty="0"/>
              <a:t> </a:t>
            </a:r>
            <a:r>
              <a:rPr lang="en-US" sz="1400" dirty="0" err="1"/>
              <a:t>seri</a:t>
            </a:r>
            <a:r>
              <a:rPr lang="en-US" sz="1400" dirty="0"/>
              <a:t> yang </a:t>
            </a:r>
            <a:r>
              <a:rPr lang="en-US" sz="1400" dirty="0" err="1"/>
              <a:t>lebih</a:t>
            </a:r>
            <a:r>
              <a:rPr lang="en-US" sz="1400" dirty="0"/>
              <a:t> lama </a:t>
            </a:r>
            <a:r>
              <a:rPr lang="en-US" sz="1400" dirty="0" err="1"/>
              <a:t>atau</a:t>
            </a:r>
            <a:r>
              <a:rPr lang="en-US" sz="1400" dirty="0"/>
              <a:t> yang </a:t>
            </a:r>
            <a:r>
              <a:rPr lang="en-US" sz="1400" dirty="0" err="1"/>
              <a:t>setara</a:t>
            </a:r>
            <a:r>
              <a:rPr lang="en-US" sz="1400" dirty="0"/>
              <a:t> </a:t>
            </a:r>
            <a:r>
              <a:rPr lang="en-US" sz="1400" dirty="0" err="1"/>
              <a:t>fungsinya</a:t>
            </a:r>
            <a:r>
              <a:rPr lang="en-US" sz="1400" dirty="0"/>
              <a:t>, </a:t>
            </a:r>
            <a:r>
              <a:rPr lang="en-US" sz="1400" dirty="0" err="1"/>
              <a:t>umumnya</a:t>
            </a:r>
            <a:r>
              <a:rPr lang="en-US" sz="1400" dirty="0"/>
              <a:t> </a:t>
            </a:r>
            <a:r>
              <a:rPr lang="en-US" sz="1400" dirty="0" err="1"/>
              <a:t>mengikuti</a:t>
            </a:r>
            <a:r>
              <a:rPr lang="en-US" sz="1400" dirty="0"/>
              <a:t> </a:t>
            </a:r>
            <a:r>
              <a:rPr lang="en-US" sz="1400" dirty="0" err="1"/>
              <a:t>standar</a:t>
            </a:r>
            <a:r>
              <a:rPr lang="en-US" sz="1400" dirty="0"/>
              <a:t> Cisco IOS. </a:t>
            </a:r>
            <a:r>
              <a:rPr lang="en-US" sz="1400" dirty="0" err="1"/>
              <a:t>Komponen</a:t>
            </a:r>
            <a:r>
              <a:rPr lang="en-US" sz="1400" dirty="0"/>
              <a:t> </a:t>
            </a:r>
            <a:r>
              <a:rPr lang="en-US" sz="1400" dirty="0" err="1"/>
              <a:t>utamanya</a:t>
            </a:r>
            <a:r>
              <a:rPr lang="en-US" sz="1400" dirty="0"/>
              <a:t> </a:t>
            </a:r>
            <a:r>
              <a:rPr lang="en-US" sz="1400" dirty="0" err="1"/>
              <a:t>melibatkan</a:t>
            </a:r>
            <a:r>
              <a:rPr lang="en-US" sz="1400" dirty="0"/>
              <a:t> IP routing (OSPF/ISIS), LDP (Label Distribution Protocol), </a:t>
            </a:r>
            <a:r>
              <a:rPr lang="en-US" sz="1400" dirty="0" err="1"/>
              <a:t>dan</a:t>
            </a:r>
            <a:r>
              <a:rPr lang="en-US" sz="1400" dirty="0"/>
              <a:t> MPLS </a:t>
            </a:r>
            <a:r>
              <a:rPr lang="en-US" sz="1400" dirty="0" err="1"/>
              <a:t>ip</a:t>
            </a:r>
            <a:r>
              <a:rPr lang="en-US" sz="1400" dirty="0"/>
              <a:t> </a:t>
            </a:r>
            <a:r>
              <a:rPr lang="en-US" sz="1400" dirty="0" err="1"/>
              <a:t>pada</a:t>
            </a:r>
            <a:r>
              <a:rPr lang="en-US" sz="1400" dirty="0"/>
              <a:t> interface</a:t>
            </a:r>
            <a:r>
              <a:rPr lang="en-US" sz="1400" dirty="0" smtClean="0"/>
              <a:t>.</a:t>
            </a:r>
          </a:p>
          <a:p>
            <a:pPr algn="just"/>
            <a:r>
              <a:rPr lang="en-US" sz="1400" dirty="0"/>
              <a:t>MPLS </a:t>
            </a:r>
            <a:r>
              <a:rPr lang="en-US" sz="1400" dirty="0" err="1"/>
              <a:t>sendiri</a:t>
            </a:r>
            <a:r>
              <a:rPr lang="en-US" sz="1400" dirty="0"/>
              <a:t> </a:t>
            </a:r>
            <a:r>
              <a:rPr lang="en-US" sz="1400" dirty="0" err="1"/>
              <a:t>dikenal</a:t>
            </a:r>
            <a:r>
              <a:rPr lang="en-US" sz="1400" dirty="0"/>
              <a:t> </a:t>
            </a:r>
            <a:r>
              <a:rPr lang="en-US" sz="1400" dirty="0" err="1"/>
              <a:t>sebagai</a:t>
            </a:r>
            <a:r>
              <a:rPr lang="en-US" sz="1400" dirty="0"/>
              <a:t> </a:t>
            </a:r>
            <a:r>
              <a:rPr lang="en-US" sz="1400" b="1" dirty="0"/>
              <a:t>layer 2,5</a:t>
            </a:r>
            <a:r>
              <a:rPr lang="en-US" sz="1400" dirty="0"/>
              <a:t> (</a:t>
            </a:r>
            <a:r>
              <a:rPr lang="en-US" sz="1400" dirty="0" err="1"/>
              <a:t>karena</a:t>
            </a:r>
            <a:r>
              <a:rPr lang="en-US" sz="1400" dirty="0"/>
              <a:t> </a:t>
            </a:r>
            <a:r>
              <a:rPr lang="en-US" sz="1400" dirty="0" err="1"/>
              <a:t>dalam</a:t>
            </a:r>
            <a:r>
              <a:rPr lang="en-US" sz="1400" dirty="0"/>
              <a:t> system OSI </a:t>
            </a:r>
            <a:r>
              <a:rPr lang="en-US" sz="1400" dirty="0" err="1"/>
              <a:t>terletak</a:t>
            </a:r>
            <a:r>
              <a:rPr lang="en-US" sz="1400" dirty="0"/>
              <a:t> </a:t>
            </a:r>
            <a:r>
              <a:rPr lang="en-US" sz="1400" dirty="0" err="1"/>
              <a:t>antara</a:t>
            </a:r>
            <a:r>
              <a:rPr lang="en-US" sz="1400" dirty="0"/>
              <a:t> OSI </a:t>
            </a:r>
            <a:r>
              <a:rPr lang="en-US" sz="1400" i="1" dirty="0"/>
              <a:t>layer 2</a:t>
            </a:r>
            <a:r>
              <a:rPr lang="en-US" sz="1400" dirty="0"/>
              <a:t> </a:t>
            </a:r>
            <a:r>
              <a:rPr lang="en-US" sz="1400" dirty="0" err="1"/>
              <a:t>dan</a:t>
            </a:r>
            <a:r>
              <a:rPr lang="en-US" sz="1400" dirty="0"/>
              <a:t> </a:t>
            </a:r>
            <a:r>
              <a:rPr lang="en-US" sz="1400" i="1" dirty="0"/>
              <a:t>layer 3</a:t>
            </a:r>
            <a:r>
              <a:rPr lang="en-US" sz="1400" dirty="0"/>
              <a:t>). </a:t>
            </a:r>
            <a:r>
              <a:rPr lang="en-US" sz="1400" dirty="0" err="1"/>
              <a:t>Untuk</a:t>
            </a:r>
            <a:r>
              <a:rPr lang="en-US" sz="1400" dirty="0"/>
              <a:t> </a:t>
            </a:r>
            <a:r>
              <a:rPr lang="en-US" sz="1400" dirty="0" err="1"/>
              <a:t>penambahan</a:t>
            </a:r>
            <a:r>
              <a:rPr lang="en-US" sz="1400" dirty="0"/>
              <a:t> header MPLS </a:t>
            </a:r>
            <a:r>
              <a:rPr lang="en-US" sz="1400" dirty="0" err="1"/>
              <a:t>memanfaatkan</a:t>
            </a:r>
            <a:r>
              <a:rPr lang="en-US" sz="1400" dirty="0"/>
              <a:t> L2MTU yang mana </a:t>
            </a:r>
            <a:r>
              <a:rPr lang="en-US" sz="1400" dirty="0" err="1"/>
              <a:t>disetiap</a:t>
            </a:r>
            <a:r>
              <a:rPr lang="en-US" sz="1400" dirty="0"/>
              <a:t> header </a:t>
            </a:r>
            <a:r>
              <a:rPr lang="en-US" sz="1400" dirty="0" err="1"/>
              <a:t>dapat</a:t>
            </a:r>
            <a:r>
              <a:rPr lang="en-US" sz="1400" dirty="0"/>
              <a:t> </a:t>
            </a:r>
            <a:r>
              <a:rPr lang="en-US" sz="1400" dirty="0" err="1"/>
              <a:t>mengandung</a:t>
            </a:r>
            <a:r>
              <a:rPr lang="en-US" sz="1400" dirty="0"/>
              <a:t> </a:t>
            </a:r>
            <a:r>
              <a:rPr lang="en-US" sz="1400" dirty="0" err="1"/>
              <a:t>satu</a:t>
            </a:r>
            <a:r>
              <a:rPr lang="en-US" sz="1400" dirty="0"/>
              <a:t> </a:t>
            </a:r>
            <a:r>
              <a:rPr lang="en-US" sz="1400" dirty="0" err="1"/>
              <a:t>atau</a:t>
            </a:r>
            <a:r>
              <a:rPr lang="en-US" sz="1400" dirty="0"/>
              <a:t> </a:t>
            </a:r>
            <a:r>
              <a:rPr lang="en-US" sz="1400" dirty="0" err="1"/>
              <a:t>beberapa</a:t>
            </a:r>
            <a:r>
              <a:rPr lang="en-US" sz="1400" dirty="0"/>
              <a:t> label (</a:t>
            </a:r>
            <a:r>
              <a:rPr lang="en-US" sz="1400" i="1" dirty="0"/>
              <a:t>shims</a:t>
            </a:r>
            <a:r>
              <a:rPr lang="en-US" sz="1400" dirty="0"/>
              <a:t>) yang </a:t>
            </a:r>
            <a:r>
              <a:rPr lang="en-US" sz="1400" dirty="0" err="1"/>
              <a:t>masing-masing</a:t>
            </a:r>
            <a:r>
              <a:rPr lang="en-US" sz="1400" dirty="0"/>
              <a:t> </a:t>
            </a:r>
            <a:r>
              <a:rPr lang="en-US" sz="1400" dirty="0" err="1"/>
              <a:t>berukuran</a:t>
            </a:r>
            <a:r>
              <a:rPr lang="en-US" sz="1400" dirty="0"/>
              <a:t> 32bit (</a:t>
            </a:r>
            <a:r>
              <a:rPr lang="en-US" sz="1400" i="1" dirty="0"/>
              <a:t>Label - 20bits, EXP - 3bits class of services, End of stack flag - 1bit, TTL - 8 bits</a:t>
            </a:r>
            <a:r>
              <a:rPr lang="en-US" sz="1400" dirty="0" smtClean="0"/>
              <a:t>).</a:t>
            </a:r>
          </a:p>
          <a:p>
            <a:pPr algn="just"/>
            <a:r>
              <a:rPr lang="en-US" sz="1400" dirty="0"/>
              <a:t/>
            </a:r>
            <a:br>
              <a:rPr lang="en-US" sz="1400" dirty="0"/>
            </a:br>
            <a:endParaRPr lang="en-US" sz="1400" dirty="0"/>
          </a:p>
        </p:txBody>
      </p:sp>
      <p:sp>
        <p:nvSpPr>
          <p:cNvPr id="5" name="Rectangle 4"/>
          <p:cNvSpPr/>
          <p:nvPr/>
        </p:nvSpPr>
        <p:spPr>
          <a:xfrm>
            <a:off x="5758130" y="430705"/>
            <a:ext cx="6083913" cy="28931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400" dirty="0" err="1"/>
              <a:t>Prinsip</a:t>
            </a:r>
            <a:r>
              <a:rPr lang="en-US" sz="1400" dirty="0"/>
              <a:t> </a:t>
            </a:r>
            <a:r>
              <a:rPr lang="en-US" sz="1400" dirty="0" err="1"/>
              <a:t>kerja</a:t>
            </a:r>
            <a:r>
              <a:rPr lang="en-US" sz="1400" dirty="0"/>
              <a:t> </a:t>
            </a:r>
            <a:r>
              <a:rPr lang="en-US" sz="1400" dirty="0" err="1"/>
              <a:t>dari</a:t>
            </a:r>
            <a:r>
              <a:rPr lang="en-US" sz="1400" dirty="0"/>
              <a:t> MPLS </a:t>
            </a:r>
            <a:r>
              <a:rPr lang="en-US" sz="1400" dirty="0" err="1"/>
              <a:t>ini</a:t>
            </a:r>
            <a:r>
              <a:rPr lang="en-US" sz="1400" dirty="0"/>
              <a:t> </a:t>
            </a:r>
            <a:r>
              <a:rPr lang="en-US" sz="1400" dirty="0" err="1"/>
              <a:t>adalah</a:t>
            </a:r>
            <a:r>
              <a:rPr lang="en-US" sz="1400" dirty="0"/>
              <a:t> </a:t>
            </a:r>
            <a:r>
              <a:rPr lang="en-US" sz="1400" dirty="0" err="1"/>
              <a:t>menggabungkan</a:t>
            </a:r>
            <a:r>
              <a:rPr lang="en-US" sz="1400" dirty="0"/>
              <a:t> </a:t>
            </a:r>
            <a:r>
              <a:rPr lang="en-US" sz="1400" dirty="0" err="1"/>
              <a:t>kecepatan</a:t>
            </a:r>
            <a:r>
              <a:rPr lang="en-US" sz="1400" dirty="0"/>
              <a:t> switching </a:t>
            </a:r>
            <a:r>
              <a:rPr lang="en-US" sz="1400" dirty="0" err="1"/>
              <a:t>pada</a:t>
            </a:r>
            <a:r>
              <a:rPr lang="en-US" sz="1400" dirty="0"/>
              <a:t> layer 2 </a:t>
            </a:r>
            <a:r>
              <a:rPr lang="en-US" sz="1400" dirty="0" err="1"/>
              <a:t>dengan</a:t>
            </a:r>
            <a:r>
              <a:rPr lang="en-US" sz="1400" dirty="0"/>
              <a:t> </a:t>
            </a:r>
            <a:r>
              <a:rPr lang="en-US" sz="1400" dirty="0" err="1"/>
              <a:t>kemampuan</a:t>
            </a:r>
            <a:r>
              <a:rPr lang="en-US" sz="1400" dirty="0"/>
              <a:t> routing </a:t>
            </a:r>
            <a:r>
              <a:rPr lang="en-US" sz="1400" dirty="0" err="1"/>
              <a:t>dan</a:t>
            </a:r>
            <a:r>
              <a:rPr lang="en-US" sz="1400" dirty="0"/>
              <a:t> </a:t>
            </a:r>
            <a:r>
              <a:rPr lang="en-US" sz="1400" dirty="0" err="1"/>
              <a:t>skalabilitas</a:t>
            </a:r>
            <a:r>
              <a:rPr lang="en-US" sz="1400" dirty="0"/>
              <a:t> </a:t>
            </a:r>
            <a:r>
              <a:rPr lang="en-US" sz="1400" dirty="0" err="1"/>
              <a:t>pada</a:t>
            </a:r>
            <a:r>
              <a:rPr lang="en-US" sz="1400" dirty="0"/>
              <a:t> layer 3. MPLS </a:t>
            </a:r>
            <a:r>
              <a:rPr lang="en-US" sz="1400" dirty="0" err="1"/>
              <a:t>akan</a:t>
            </a:r>
            <a:r>
              <a:rPr lang="en-US" sz="1400" dirty="0"/>
              <a:t> </a:t>
            </a:r>
            <a:r>
              <a:rPr lang="en-US" sz="1400" dirty="0" err="1"/>
              <a:t>menyelipkan</a:t>
            </a:r>
            <a:r>
              <a:rPr lang="en-US" sz="1400" dirty="0"/>
              <a:t> label </a:t>
            </a:r>
            <a:r>
              <a:rPr lang="en-US" sz="1400" dirty="0" err="1"/>
              <a:t>diantara</a:t>
            </a:r>
            <a:r>
              <a:rPr lang="en-US" sz="1400" dirty="0"/>
              <a:t> header layer 2 </a:t>
            </a:r>
            <a:r>
              <a:rPr lang="en-US" sz="1400" dirty="0" err="1"/>
              <a:t>dan</a:t>
            </a:r>
            <a:r>
              <a:rPr lang="en-US" sz="1400" dirty="0"/>
              <a:t> layer 3 </a:t>
            </a:r>
            <a:r>
              <a:rPr lang="en-US" sz="1400" dirty="0" err="1"/>
              <a:t>pada</a:t>
            </a:r>
            <a:r>
              <a:rPr lang="en-US" sz="1400" dirty="0"/>
              <a:t> </a:t>
            </a:r>
            <a:r>
              <a:rPr lang="en-US" sz="1400" dirty="0" err="1"/>
              <a:t>paket</a:t>
            </a:r>
            <a:r>
              <a:rPr lang="en-US" sz="1400" dirty="0"/>
              <a:t> yang </a:t>
            </a:r>
            <a:r>
              <a:rPr lang="en-US" sz="1400" dirty="0" err="1"/>
              <a:t>diteruskan</a:t>
            </a:r>
            <a:r>
              <a:rPr lang="en-US" sz="1400" dirty="0" smtClean="0"/>
              <a:t>.</a:t>
            </a:r>
          </a:p>
          <a:p>
            <a:pPr algn="just"/>
            <a:endParaRPr lang="en-US" sz="1400" dirty="0"/>
          </a:p>
          <a:p>
            <a:pPr algn="just"/>
            <a:r>
              <a:rPr lang="en-US" sz="1400" dirty="0"/>
              <a:t>Label </a:t>
            </a:r>
            <a:r>
              <a:rPr lang="en-US" sz="1400" dirty="0" err="1"/>
              <a:t>ini</a:t>
            </a:r>
            <a:r>
              <a:rPr lang="en-US" sz="1400" dirty="0"/>
              <a:t> </a:t>
            </a:r>
            <a:r>
              <a:rPr lang="en-US" sz="1400" dirty="0" err="1"/>
              <a:t>ditambahakan</a:t>
            </a:r>
            <a:r>
              <a:rPr lang="en-US" sz="1400" dirty="0"/>
              <a:t> </a:t>
            </a:r>
            <a:r>
              <a:rPr lang="en-US" sz="1400" dirty="0" err="1"/>
              <a:t>dan</a:t>
            </a:r>
            <a:r>
              <a:rPr lang="en-US" sz="1400" dirty="0"/>
              <a:t> </a:t>
            </a:r>
            <a:r>
              <a:rPr lang="en-US" sz="1400" dirty="0" err="1"/>
              <a:t>juga</a:t>
            </a:r>
            <a:r>
              <a:rPr lang="en-US" sz="1400" dirty="0"/>
              <a:t> </a:t>
            </a:r>
            <a:r>
              <a:rPr lang="en-US" sz="1400" dirty="0" err="1"/>
              <a:t>akan</a:t>
            </a:r>
            <a:r>
              <a:rPr lang="en-US" sz="1400" dirty="0"/>
              <a:t> </a:t>
            </a:r>
            <a:r>
              <a:rPr lang="en-US" sz="1400" dirty="0" err="1"/>
              <a:t>dihilangkan</a:t>
            </a:r>
            <a:r>
              <a:rPr lang="en-US" sz="1400" dirty="0"/>
              <a:t> </a:t>
            </a:r>
            <a:r>
              <a:rPr lang="en-US" sz="1400" dirty="0" err="1"/>
              <a:t>oleh</a:t>
            </a:r>
            <a:r>
              <a:rPr lang="en-US" sz="1400" dirty="0"/>
              <a:t> LER (Label Edge Router) yang mana </a:t>
            </a:r>
            <a:r>
              <a:rPr lang="en-US" sz="1400" dirty="0" err="1"/>
              <a:t>sebagai</a:t>
            </a:r>
            <a:r>
              <a:rPr lang="en-US" sz="1400" dirty="0"/>
              <a:t> </a:t>
            </a:r>
            <a:r>
              <a:rPr lang="en-US" sz="1400" dirty="0" err="1"/>
              <a:t>penghubung</a:t>
            </a:r>
            <a:r>
              <a:rPr lang="en-US" sz="1400" dirty="0"/>
              <a:t> </a:t>
            </a:r>
            <a:r>
              <a:rPr lang="en-US" sz="1400" dirty="0" err="1"/>
              <a:t>antara</a:t>
            </a:r>
            <a:r>
              <a:rPr lang="en-US" sz="1400" dirty="0"/>
              <a:t> </a:t>
            </a:r>
            <a:r>
              <a:rPr lang="en-US" sz="1400" dirty="0" err="1"/>
              <a:t>jaringan</a:t>
            </a:r>
            <a:r>
              <a:rPr lang="en-US" sz="1400" dirty="0"/>
              <a:t> MPLS </a:t>
            </a:r>
            <a:r>
              <a:rPr lang="en-US" sz="1400" dirty="0" err="1"/>
              <a:t>dan</a:t>
            </a:r>
            <a:r>
              <a:rPr lang="en-US" sz="1400" dirty="0"/>
              <a:t> </a:t>
            </a:r>
            <a:r>
              <a:rPr lang="en-US" sz="1400" dirty="0" err="1"/>
              <a:t>jaringan</a:t>
            </a:r>
            <a:r>
              <a:rPr lang="en-US" sz="1400" dirty="0"/>
              <a:t> </a:t>
            </a:r>
            <a:r>
              <a:rPr lang="en-US" sz="1400" dirty="0" err="1"/>
              <a:t>luar</a:t>
            </a:r>
            <a:r>
              <a:rPr lang="en-US" sz="1400" dirty="0"/>
              <a:t>. Label </a:t>
            </a:r>
            <a:r>
              <a:rPr lang="en-US" sz="1400" dirty="0" err="1"/>
              <a:t>ini</a:t>
            </a:r>
            <a:r>
              <a:rPr lang="en-US" sz="1400" dirty="0"/>
              <a:t> </a:t>
            </a:r>
            <a:r>
              <a:rPr lang="en-US" sz="1400" dirty="0" err="1"/>
              <a:t>berisi</a:t>
            </a:r>
            <a:r>
              <a:rPr lang="en-US" sz="1400" dirty="0"/>
              <a:t> </a:t>
            </a:r>
            <a:r>
              <a:rPr lang="en-US" sz="1400" dirty="0" err="1"/>
              <a:t>informasi</a:t>
            </a:r>
            <a:r>
              <a:rPr lang="en-US" sz="1400" dirty="0"/>
              <a:t> </a:t>
            </a:r>
            <a:r>
              <a:rPr lang="en-US" sz="1400" dirty="0" err="1"/>
              <a:t>tujuan</a:t>
            </a:r>
            <a:r>
              <a:rPr lang="en-US" sz="1400" dirty="0"/>
              <a:t> node </a:t>
            </a:r>
            <a:r>
              <a:rPr lang="en-US" sz="1400" dirty="0" err="1"/>
              <a:t>selanjutnya</a:t>
            </a:r>
            <a:r>
              <a:rPr lang="en-US" sz="1400" dirty="0"/>
              <a:t> </a:t>
            </a:r>
            <a:r>
              <a:rPr lang="en-US" sz="1400" dirty="0" err="1"/>
              <a:t>kemana</a:t>
            </a:r>
            <a:r>
              <a:rPr lang="en-US" sz="1400" dirty="0"/>
              <a:t> </a:t>
            </a:r>
            <a:r>
              <a:rPr lang="en-US" sz="1400" dirty="0" err="1"/>
              <a:t>paket</a:t>
            </a:r>
            <a:r>
              <a:rPr lang="en-US" sz="1400" dirty="0"/>
              <a:t> </a:t>
            </a:r>
            <a:r>
              <a:rPr lang="en-US" sz="1400" dirty="0" err="1"/>
              <a:t>harus</a:t>
            </a:r>
            <a:r>
              <a:rPr lang="en-US" sz="1400" dirty="0"/>
              <a:t> </a:t>
            </a:r>
            <a:r>
              <a:rPr lang="en-US" sz="1400" dirty="0" err="1"/>
              <a:t>dikirim</a:t>
            </a:r>
            <a:r>
              <a:rPr lang="en-US" sz="1400" dirty="0"/>
              <a:t>. MPLS </a:t>
            </a:r>
            <a:r>
              <a:rPr lang="en-US" sz="1400" dirty="0" err="1"/>
              <a:t>sudah</a:t>
            </a:r>
            <a:r>
              <a:rPr lang="en-US" sz="1400" dirty="0"/>
              <a:t> </a:t>
            </a:r>
            <a:r>
              <a:rPr lang="en-US" sz="1400" dirty="0" err="1"/>
              <a:t>menyiapkan</a:t>
            </a:r>
            <a:r>
              <a:rPr lang="en-US" sz="1400" dirty="0"/>
              <a:t> </a:t>
            </a:r>
            <a:r>
              <a:rPr lang="en-US" sz="1400" dirty="0" err="1"/>
              <a:t>jalur</a:t>
            </a:r>
            <a:r>
              <a:rPr lang="en-US" sz="1400" dirty="0"/>
              <a:t> </a:t>
            </a:r>
            <a:r>
              <a:rPr lang="en-US" sz="1400" dirty="0" err="1"/>
              <a:t>aliran</a:t>
            </a:r>
            <a:r>
              <a:rPr lang="en-US" sz="1400" dirty="0"/>
              <a:t> data </a:t>
            </a:r>
            <a:r>
              <a:rPr lang="en-US" sz="1400" dirty="0" err="1"/>
              <a:t>ke</a:t>
            </a:r>
            <a:r>
              <a:rPr lang="en-US" sz="1400" dirty="0"/>
              <a:t> </a:t>
            </a:r>
            <a:r>
              <a:rPr lang="en-US" sz="1400" dirty="0" err="1"/>
              <a:t>semua</a:t>
            </a:r>
            <a:r>
              <a:rPr lang="en-US" sz="1400" dirty="0"/>
              <a:t> </a:t>
            </a:r>
            <a:r>
              <a:rPr lang="en-US" sz="1400" dirty="0" err="1"/>
              <a:t>kombinasi</a:t>
            </a:r>
            <a:r>
              <a:rPr lang="en-US" sz="1400" dirty="0"/>
              <a:t> node yang </a:t>
            </a:r>
            <a:r>
              <a:rPr lang="en-US" sz="1400" dirty="0" err="1"/>
              <a:t>disebut</a:t>
            </a:r>
            <a:r>
              <a:rPr lang="en-US" sz="1400" dirty="0"/>
              <a:t> </a:t>
            </a:r>
            <a:r>
              <a:rPr lang="en-US" sz="1400" dirty="0" err="1"/>
              <a:t>sebagai</a:t>
            </a:r>
            <a:r>
              <a:rPr lang="en-US" sz="1400" dirty="0"/>
              <a:t> LSP (Label Switching Path). </a:t>
            </a:r>
            <a:r>
              <a:rPr lang="en-US" sz="1400" dirty="0" err="1"/>
              <a:t>Setiap</a:t>
            </a:r>
            <a:r>
              <a:rPr lang="en-US" sz="1400" dirty="0"/>
              <a:t> router yang </a:t>
            </a:r>
            <a:r>
              <a:rPr lang="en-US" sz="1400" dirty="0" err="1"/>
              <a:t>tergabung</a:t>
            </a:r>
            <a:r>
              <a:rPr lang="en-US" sz="1400" dirty="0"/>
              <a:t> </a:t>
            </a:r>
            <a:r>
              <a:rPr lang="en-US" sz="1400" dirty="0" err="1"/>
              <a:t>dalam</a:t>
            </a:r>
            <a:r>
              <a:rPr lang="en-US" sz="1400" dirty="0"/>
              <a:t> </a:t>
            </a:r>
            <a:r>
              <a:rPr lang="en-US" sz="1400" dirty="0" err="1"/>
              <a:t>jarinagn</a:t>
            </a:r>
            <a:r>
              <a:rPr lang="en-US" sz="1400" dirty="0"/>
              <a:t> MPLS </a:t>
            </a:r>
            <a:r>
              <a:rPr lang="en-US" sz="1400" dirty="0" err="1"/>
              <a:t>berperan</a:t>
            </a:r>
            <a:r>
              <a:rPr lang="en-US" sz="1400" dirty="0"/>
              <a:t> </a:t>
            </a:r>
            <a:r>
              <a:rPr lang="en-US" sz="1400" dirty="0" err="1"/>
              <a:t>serta</a:t>
            </a:r>
            <a:r>
              <a:rPr lang="en-US" sz="1400" dirty="0"/>
              <a:t> </a:t>
            </a:r>
            <a:r>
              <a:rPr lang="en-US" sz="1400" dirty="0" err="1"/>
              <a:t>dalam</a:t>
            </a:r>
            <a:r>
              <a:rPr lang="en-US" sz="1400" dirty="0"/>
              <a:t> </a:t>
            </a:r>
            <a:r>
              <a:rPr lang="en-US" sz="1400" dirty="0" err="1"/>
              <a:t>pembuatan</a:t>
            </a:r>
            <a:r>
              <a:rPr lang="en-US" sz="1400" dirty="0"/>
              <a:t> LSP </a:t>
            </a:r>
            <a:r>
              <a:rPr lang="en-US" sz="1400" dirty="0" err="1"/>
              <a:t>ini</a:t>
            </a:r>
            <a:r>
              <a:rPr lang="en-US" sz="1400" dirty="0"/>
              <a:t>. </a:t>
            </a:r>
            <a:r>
              <a:rPr lang="en-US" sz="1400" dirty="0" err="1"/>
              <a:t>Selanjutnya</a:t>
            </a:r>
            <a:r>
              <a:rPr lang="en-US" sz="1400" dirty="0"/>
              <a:t> </a:t>
            </a:r>
            <a:r>
              <a:rPr lang="en-US" sz="1400" dirty="0" err="1"/>
              <a:t>paket</a:t>
            </a:r>
            <a:r>
              <a:rPr lang="en-US" sz="1400" dirty="0"/>
              <a:t> data </a:t>
            </a:r>
            <a:r>
              <a:rPr lang="en-US" sz="1400" dirty="0" err="1"/>
              <a:t>disalurkan</a:t>
            </a:r>
            <a:r>
              <a:rPr lang="en-US" sz="1400" dirty="0"/>
              <a:t> </a:t>
            </a:r>
            <a:r>
              <a:rPr lang="en-US" sz="1400" dirty="0" err="1"/>
              <a:t>ke</a:t>
            </a:r>
            <a:r>
              <a:rPr lang="en-US" sz="1400" dirty="0"/>
              <a:t> </a:t>
            </a:r>
            <a:r>
              <a:rPr lang="en-US" sz="1400" dirty="0" err="1"/>
              <a:t>setiap</a:t>
            </a:r>
            <a:r>
              <a:rPr lang="en-US" sz="1400" dirty="0"/>
              <a:t> LSR (Label Switching Router) </a:t>
            </a:r>
            <a:r>
              <a:rPr lang="en-US" sz="1400" dirty="0" err="1"/>
              <a:t>sesuai</a:t>
            </a:r>
            <a:r>
              <a:rPr lang="en-US" sz="1400" dirty="0"/>
              <a:t> LSP yang </a:t>
            </a:r>
            <a:r>
              <a:rPr lang="en-US" sz="1400" dirty="0" err="1"/>
              <a:t>sudah</a:t>
            </a:r>
            <a:r>
              <a:rPr lang="en-US" sz="1400" dirty="0"/>
              <a:t> </a:t>
            </a:r>
            <a:r>
              <a:rPr lang="en-US" sz="1400" dirty="0" err="1"/>
              <a:t>ditentukan</a:t>
            </a:r>
            <a:r>
              <a:rPr lang="en-US" sz="1400" dirty="0"/>
              <a:t> </a:t>
            </a:r>
            <a:r>
              <a:rPr lang="en-US" sz="1400" dirty="0" err="1"/>
              <a:t>sebelumnya</a:t>
            </a:r>
            <a:r>
              <a:rPr lang="en-US" sz="1400" dirty="0"/>
              <a:t>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5548" y="3323805"/>
            <a:ext cx="4029075" cy="14097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958155" y="4831401"/>
            <a:ext cx="608391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400" dirty="0" err="1" smtClean="0"/>
              <a:t>Encapsulasi</a:t>
            </a:r>
            <a:endParaRPr lang="en-US" sz="1400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2365" y="5139178"/>
            <a:ext cx="3802258" cy="1507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6526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271463"/>
            <a:ext cx="6123073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400" dirty="0" err="1"/>
              <a:t>Prinsip</a:t>
            </a:r>
            <a:r>
              <a:rPr lang="en-US" sz="1400" dirty="0"/>
              <a:t> </a:t>
            </a:r>
            <a:r>
              <a:rPr lang="en-US" sz="1400" dirty="0" err="1"/>
              <a:t>kerja</a:t>
            </a:r>
            <a:r>
              <a:rPr lang="en-US" sz="1400" dirty="0"/>
              <a:t> </a:t>
            </a:r>
            <a:r>
              <a:rPr lang="en-US" sz="1400" dirty="0" err="1"/>
              <a:t>dari</a:t>
            </a:r>
            <a:r>
              <a:rPr lang="en-US" sz="1400" dirty="0"/>
              <a:t> MPLS </a:t>
            </a:r>
            <a:r>
              <a:rPr lang="en-US" sz="1400" dirty="0" err="1"/>
              <a:t>ini</a:t>
            </a:r>
            <a:r>
              <a:rPr lang="en-US" sz="1400" dirty="0"/>
              <a:t> </a:t>
            </a:r>
            <a:r>
              <a:rPr lang="en-US" sz="1400" dirty="0" err="1"/>
              <a:t>adalah</a:t>
            </a:r>
            <a:r>
              <a:rPr lang="en-US" sz="1400" dirty="0"/>
              <a:t> </a:t>
            </a:r>
            <a:r>
              <a:rPr lang="en-US" sz="1400" dirty="0" err="1"/>
              <a:t>menggabungkan</a:t>
            </a:r>
            <a:r>
              <a:rPr lang="en-US" sz="1400" dirty="0"/>
              <a:t> </a:t>
            </a:r>
            <a:r>
              <a:rPr lang="en-US" sz="1400" dirty="0" err="1"/>
              <a:t>kecepatan</a:t>
            </a:r>
            <a:r>
              <a:rPr lang="en-US" sz="1400" dirty="0"/>
              <a:t> switching </a:t>
            </a:r>
            <a:r>
              <a:rPr lang="en-US" sz="1400" dirty="0" err="1"/>
              <a:t>pada</a:t>
            </a:r>
            <a:r>
              <a:rPr lang="en-US" sz="1400" dirty="0"/>
              <a:t> layer 2 </a:t>
            </a:r>
            <a:r>
              <a:rPr lang="en-US" sz="1400" dirty="0" err="1"/>
              <a:t>dengan</a:t>
            </a:r>
            <a:r>
              <a:rPr lang="en-US" sz="1400" dirty="0"/>
              <a:t> </a:t>
            </a:r>
            <a:r>
              <a:rPr lang="en-US" sz="1400" dirty="0" err="1"/>
              <a:t>kemampuan</a:t>
            </a:r>
            <a:r>
              <a:rPr lang="en-US" sz="1400" dirty="0"/>
              <a:t> routing </a:t>
            </a:r>
            <a:r>
              <a:rPr lang="en-US" sz="1400" dirty="0" err="1"/>
              <a:t>dan</a:t>
            </a:r>
            <a:r>
              <a:rPr lang="en-US" sz="1400" dirty="0"/>
              <a:t> </a:t>
            </a:r>
            <a:r>
              <a:rPr lang="en-US" sz="1400" dirty="0" err="1"/>
              <a:t>skalabilitas</a:t>
            </a:r>
            <a:r>
              <a:rPr lang="en-US" sz="1400" dirty="0"/>
              <a:t> </a:t>
            </a:r>
            <a:r>
              <a:rPr lang="en-US" sz="1400" dirty="0" err="1"/>
              <a:t>pada</a:t>
            </a:r>
            <a:r>
              <a:rPr lang="en-US" sz="1400" dirty="0"/>
              <a:t> layer 3. MPLS </a:t>
            </a:r>
            <a:r>
              <a:rPr lang="en-US" sz="1400" dirty="0" err="1"/>
              <a:t>akan</a:t>
            </a:r>
            <a:r>
              <a:rPr lang="en-US" sz="1400" dirty="0"/>
              <a:t> </a:t>
            </a:r>
            <a:r>
              <a:rPr lang="en-US" sz="1400" dirty="0" err="1"/>
              <a:t>menyelipkan</a:t>
            </a:r>
            <a:r>
              <a:rPr lang="en-US" sz="1400" dirty="0"/>
              <a:t> label </a:t>
            </a:r>
            <a:r>
              <a:rPr lang="en-US" sz="1400" dirty="0" err="1"/>
              <a:t>diantara</a:t>
            </a:r>
            <a:r>
              <a:rPr lang="en-US" sz="1400" dirty="0"/>
              <a:t> header layer 2 </a:t>
            </a:r>
            <a:r>
              <a:rPr lang="en-US" sz="1400" dirty="0" err="1"/>
              <a:t>dan</a:t>
            </a:r>
            <a:r>
              <a:rPr lang="en-US" sz="1400" dirty="0"/>
              <a:t> layer 3 </a:t>
            </a:r>
            <a:r>
              <a:rPr lang="en-US" sz="1400" dirty="0" err="1"/>
              <a:t>pada</a:t>
            </a:r>
            <a:r>
              <a:rPr lang="en-US" sz="1400" dirty="0"/>
              <a:t> </a:t>
            </a:r>
            <a:r>
              <a:rPr lang="en-US" sz="1400" dirty="0" err="1"/>
              <a:t>paket</a:t>
            </a:r>
            <a:r>
              <a:rPr lang="en-US" sz="1400" dirty="0"/>
              <a:t> yang </a:t>
            </a:r>
            <a:r>
              <a:rPr lang="en-US" sz="1400" dirty="0" err="1"/>
              <a:t>diteruskan</a:t>
            </a:r>
            <a:r>
              <a:rPr lang="en-US" sz="1400" dirty="0" smtClean="0"/>
              <a:t>.</a:t>
            </a:r>
          </a:p>
          <a:p>
            <a:pPr algn="just"/>
            <a:endParaRPr lang="en-US" sz="1400" dirty="0"/>
          </a:p>
          <a:p>
            <a:pPr algn="just"/>
            <a:r>
              <a:rPr lang="en-US" sz="1400" dirty="0"/>
              <a:t>Label </a:t>
            </a:r>
            <a:r>
              <a:rPr lang="en-US" sz="1400" dirty="0" err="1"/>
              <a:t>ini</a:t>
            </a:r>
            <a:r>
              <a:rPr lang="en-US" sz="1400" dirty="0"/>
              <a:t> </a:t>
            </a:r>
            <a:r>
              <a:rPr lang="en-US" sz="1400" dirty="0" err="1"/>
              <a:t>ditambahakan</a:t>
            </a:r>
            <a:r>
              <a:rPr lang="en-US" sz="1400" dirty="0"/>
              <a:t> </a:t>
            </a:r>
            <a:r>
              <a:rPr lang="en-US" sz="1400" dirty="0" err="1"/>
              <a:t>dan</a:t>
            </a:r>
            <a:r>
              <a:rPr lang="en-US" sz="1400" dirty="0"/>
              <a:t> </a:t>
            </a:r>
            <a:r>
              <a:rPr lang="en-US" sz="1400" dirty="0" err="1"/>
              <a:t>juga</a:t>
            </a:r>
            <a:r>
              <a:rPr lang="en-US" sz="1400" dirty="0"/>
              <a:t> </a:t>
            </a:r>
            <a:r>
              <a:rPr lang="en-US" sz="1400" dirty="0" err="1"/>
              <a:t>akan</a:t>
            </a:r>
            <a:r>
              <a:rPr lang="en-US" sz="1400" dirty="0"/>
              <a:t> </a:t>
            </a:r>
            <a:r>
              <a:rPr lang="en-US" sz="1400" dirty="0" err="1"/>
              <a:t>dihilangkan</a:t>
            </a:r>
            <a:r>
              <a:rPr lang="en-US" sz="1400" dirty="0"/>
              <a:t> </a:t>
            </a:r>
            <a:r>
              <a:rPr lang="en-US" sz="1400" dirty="0" err="1"/>
              <a:t>oleh</a:t>
            </a:r>
            <a:r>
              <a:rPr lang="en-US" sz="1400" dirty="0"/>
              <a:t> LER (Label Edge Router) yang mana </a:t>
            </a:r>
            <a:r>
              <a:rPr lang="en-US" sz="1400" dirty="0" err="1"/>
              <a:t>sebagai</a:t>
            </a:r>
            <a:r>
              <a:rPr lang="en-US" sz="1400" dirty="0"/>
              <a:t> </a:t>
            </a:r>
            <a:r>
              <a:rPr lang="en-US" sz="1400" dirty="0" err="1"/>
              <a:t>penghubung</a:t>
            </a:r>
            <a:r>
              <a:rPr lang="en-US" sz="1400" dirty="0"/>
              <a:t> </a:t>
            </a:r>
            <a:r>
              <a:rPr lang="en-US" sz="1400" dirty="0" err="1"/>
              <a:t>antara</a:t>
            </a:r>
            <a:r>
              <a:rPr lang="en-US" sz="1400" dirty="0"/>
              <a:t> </a:t>
            </a:r>
            <a:r>
              <a:rPr lang="en-US" sz="1400" dirty="0" err="1"/>
              <a:t>jaringan</a:t>
            </a:r>
            <a:r>
              <a:rPr lang="en-US" sz="1400" dirty="0"/>
              <a:t> MPLS </a:t>
            </a:r>
            <a:r>
              <a:rPr lang="en-US" sz="1400" dirty="0" err="1"/>
              <a:t>dan</a:t>
            </a:r>
            <a:r>
              <a:rPr lang="en-US" sz="1400" dirty="0"/>
              <a:t> </a:t>
            </a:r>
            <a:r>
              <a:rPr lang="en-US" sz="1400" dirty="0" err="1"/>
              <a:t>jaringan</a:t>
            </a:r>
            <a:r>
              <a:rPr lang="en-US" sz="1400" dirty="0"/>
              <a:t> </a:t>
            </a:r>
            <a:r>
              <a:rPr lang="en-US" sz="1400" dirty="0" err="1"/>
              <a:t>luar</a:t>
            </a:r>
            <a:r>
              <a:rPr lang="en-US" sz="1400" dirty="0"/>
              <a:t>. Label </a:t>
            </a:r>
            <a:r>
              <a:rPr lang="en-US" sz="1400" dirty="0" err="1"/>
              <a:t>ini</a:t>
            </a:r>
            <a:r>
              <a:rPr lang="en-US" sz="1400" dirty="0"/>
              <a:t> </a:t>
            </a:r>
            <a:r>
              <a:rPr lang="en-US" sz="1400" dirty="0" err="1"/>
              <a:t>berisi</a:t>
            </a:r>
            <a:r>
              <a:rPr lang="en-US" sz="1400" dirty="0"/>
              <a:t> </a:t>
            </a:r>
            <a:r>
              <a:rPr lang="en-US" sz="1400" dirty="0" err="1"/>
              <a:t>informasi</a:t>
            </a:r>
            <a:r>
              <a:rPr lang="en-US" sz="1400" dirty="0"/>
              <a:t> </a:t>
            </a:r>
            <a:r>
              <a:rPr lang="en-US" sz="1400" dirty="0" err="1"/>
              <a:t>tujuan</a:t>
            </a:r>
            <a:r>
              <a:rPr lang="en-US" sz="1400" dirty="0"/>
              <a:t> node </a:t>
            </a:r>
            <a:r>
              <a:rPr lang="en-US" sz="1400" dirty="0" err="1"/>
              <a:t>selanjutnya</a:t>
            </a:r>
            <a:r>
              <a:rPr lang="en-US" sz="1400" dirty="0"/>
              <a:t> </a:t>
            </a:r>
            <a:r>
              <a:rPr lang="en-US" sz="1400" dirty="0" err="1"/>
              <a:t>kemana</a:t>
            </a:r>
            <a:r>
              <a:rPr lang="en-US" sz="1400" dirty="0"/>
              <a:t> </a:t>
            </a:r>
            <a:r>
              <a:rPr lang="en-US" sz="1400" dirty="0" err="1"/>
              <a:t>paket</a:t>
            </a:r>
            <a:r>
              <a:rPr lang="en-US" sz="1400" dirty="0"/>
              <a:t> </a:t>
            </a:r>
            <a:r>
              <a:rPr lang="en-US" sz="1400" dirty="0" err="1"/>
              <a:t>harus</a:t>
            </a:r>
            <a:r>
              <a:rPr lang="en-US" sz="1400" dirty="0"/>
              <a:t> </a:t>
            </a:r>
            <a:r>
              <a:rPr lang="en-US" sz="1400" dirty="0" err="1"/>
              <a:t>dikirim</a:t>
            </a:r>
            <a:r>
              <a:rPr lang="en-US" sz="1400" dirty="0"/>
              <a:t>. MPLS </a:t>
            </a:r>
            <a:r>
              <a:rPr lang="en-US" sz="1400" dirty="0" err="1"/>
              <a:t>sudah</a:t>
            </a:r>
            <a:r>
              <a:rPr lang="en-US" sz="1400" dirty="0"/>
              <a:t> </a:t>
            </a:r>
            <a:r>
              <a:rPr lang="en-US" sz="1400" dirty="0" err="1"/>
              <a:t>menyiapkan</a:t>
            </a:r>
            <a:r>
              <a:rPr lang="en-US" sz="1400" dirty="0"/>
              <a:t> </a:t>
            </a:r>
            <a:r>
              <a:rPr lang="en-US" sz="1400" dirty="0" err="1"/>
              <a:t>jalur</a:t>
            </a:r>
            <a:r>
              <a:rPr lang="en-US" sz="1400" dirty="0"/>
              <a:t> </a:t>
            </a:r>
            <a:r>
              <a:rPr lang="en-US" sz="1400" dirty="0" err="1"/>
              <a:t>aliran</a:t>
            </a:r>
            <a:r>
              <a:rPr lang="en-US" sz="1400" dirty="0"/>
              <a:t> data </a:t>
            </a:r>
            <a:r>
              <a:rPr lang="en-US" sz="1400" dirty="0" err="1"/>
              <a:t>ke</a:t>
            </a:r>
            <a:r>
              <a:rPr lang="en-US" sz="1400" dirty="0"/>
              <a:t> </a:t>
            </a:r>
            <a:r>
              <a:rPr lang="en-US" sz="1400" dirty="0" err="1"/>
              <a:t>semua</a:t>
            </a:r>
            <a:r>
              <a:rPr lang="en-US" sz="1400" dirty="0"/>
              <a:t> </a:t>
            </a:r>
            <a:r>
              <a:rPr lang="en-US" sz="1400" dirty="0" err="1"/>
              <a:t>kombinasi</a:t>
            </a:r>
            <a:r>
              <a:rPr lang="en-US" sz="1400" dirty="0"/>
              <a:t> node yang </a:t>
            </a:r>
            <a:r>
              <a:rPr lang="en-US" sz="1400" dirty="0" err="1"/>
              <a:t>disebut</a:t>
            </a:r>
            <a:r>
              <a:rPr lang="en-US" sz="1400" dirty="0"/>
              <a:t> </a:t>
            </a:r>
            <a:r>
              <a:rPr lang="en-US" sz="1400" dirty="0" err="1"/>
              <a:t>sebagai</a:t>
            </a:r>
            <a:r>
              <a:rPr lang="en-US" sz="1400" dirty="0"/>
              <a:t> LSP (Label Switching Path). </a:t>
            </a:r>
            <a:r>
              <a:rPr lang="en-US" sz="1400" dirty="0" err="1"/>
              <a:t>Setiap</a:t>
            </a:r>
            <a:r>
              <a:rPr lang="en-US" sz="1400" dirty="0"/>
              <a:t> router yang </a:t>
            </a:r>
            <a:r>
              <a:rPr lang="en-US" sz="1400" dirty="0" err="1"/>
              <a:t>tergabung</a:t>
            </a:r>
            <a:r>
              <a:rPr lang="en-US" sz="1400" dirty="0"/>
              <a:t> </a:t>
            </a:r>
            <a:r>
              <a:rPr lang="en-US" sz="1400" dirty="0" err="1"/>
              <a:t>dalam</a:t>
            </a:r>
            <a:r>
              <a:rPr lang="en-US" sz="1400" dirty="0"/>
              <a:t> </a:t>
            </a:r>
            <a:r>
              <a:rPr lang="en-US" sz="1400" dirty="0" err="1"/>
              <a:t>jarinagn</a:t>
            </a:r>
            <a:r>
              <a:rPr lang="en-US" sz="1400" dirty="0"/>
              <a:t> MPLS </a:t>
            </a:r>
            <a:r>
              <a:rPr lang="en-US" sz="1400" dirty="0" err="1"/>
              <a:t>berperan</a:t>
            </a:r>
            <a:r>
              <a:rPr lang="en-US" sz="1400" dirty="0"/>
              <a:t> </a:t>
            </a:r>
            <a:r>
              <a:rPr lang="en-US" sz="1400" dirty="0" err="1"/>
              <a:t>serta</a:t>
            </a:r>
            <a:r>
              <a:rPr lang="en-US" sz="1400" dirty="0"/>
              <a:t> </a:t>
            </a:r>
            <a:r>
              <a:rPr lang="en-US" sz="1400" dirty="0" err="1"/>
              <a:t>dalam</a:t>
            </a:r>
            <a:r>
              <a:rPr lang="en-US" sz="1400" dirty="0"/>
              <a:t> </a:t>
            </a:r>
            <a:r>
              <a:rPr lang="en-US" sz="1400" dirty="0" err="1"/>
              <a:t>pembuatan</a:t>
            </a:r>
            <a:r>
              <a:rPr lang="en-US" sz="1400" dirty="0"/>
              <a:t> LSP </a:t>
            </a:r>
            <a:r>
              <a:rPr lang="en-US" sz="1400" dirty="0" err="1"/>
              <a:t>ini</a:t>
            </a:r>
            <a:r>
              <a:rPr lang="en-US" sz="1400" dirty="0"/>
              <a:t>. </a:t>
            </a:r>
            <a:r>
              <a:rPr lang="en-US" sz="1400" dirty="0" err="1"/>
              <a:t>Selanjutnya</a:t>
            </a:r>
            <a:r>
              <a:rPr lang="en-US" sz="1400" dirty="0"/>
              <a:t> </a:t>
            </a:r>
            <a:r>
              <a:rPr lang="en-US" sz="1400" dirty="0" err="1"/>
              <a:t>paket</a:t>
            </a:r>
            <a:r>
              <a:rPr lang="en-US" sz="1400" dirty="0"/>
              <a:t> data </a:t>
            </a:r>
            <a:r>
              <a:rPr lang="en-US" sz="1400" dirty="0" err="1"/>
              <a:t>disalurkan</a:t>
            </a:r>
            <a:r>
              <a:rPr lang="en-US" sz="1400" dirty="0"/>
              <a:t> </a:t>
            </a:r>
            <a:r>
              <a:rPr lang="en-US" sz="1400" dirty="0" err="1"/>
              <a:t>ke</a:t>
            </a:r>
            <a:r>
              <a:rPr lang="en-US" sz="1400" dirty="0"/>
              <a:t> </a:t>
            </a:r>
            <a:r>
              <a:rPr lang="en-US" sz="1400" dirty="0" err="1"/>
              <a:t>setiap</a:t>
            </a:r>
            <a:r>
              <a:rPr lang="en-US" sz="1400" dirty="0"/>
              <a:t> LSR (Label Switching Router) </a:t>
            </a:r>
            <a:r>
              <a:rPr lang="en-US" sz="1400" dirty="0" err="1"/>
              <a:t>sesuai</a:t>
            </a:r>
            <a:r>
              <a:rPr lang="en-US" sz="1400" dirty="0"/>
              <a:t> LSP yang </a:t>
            </a:r>
            <a:r>
              <a:rPr lang="en-US" sz="1400" dirty="0" err="1"/>
              <a:t>sudah</a:t>
            </a:r>
            <a:r>
              <a:rPr lang="en-US" sz="1400" dirty="0"/>
              <a:t> </a:t>
            </a:r>
            <a:r>
              <a:rPr lang="en-US" sz="1400" dirty="0" err="1"/>
              <a:t>ditentukan</a:t>
            </a:r>
            <a:r>
              <a:rPr lang="en-US" sz="1400" dirty="0"/>
              <a:t> </a:t>
            </a:r>
            <a:r>
              <a:rPr lang="en-US" sz="1400" dirty="0" err="1"/>
              <a:t>sebelumnya</a:t>
            </a:r>
            <a:r>
              <a:rPr lang="en-US" sz="1400" dirty="0" smtClean="0"/>
              <a:t>.</a:t>
            </a:r>
          </a:p>
          <a:p>
            <a:pPr algn="just"/>
            <a:endParaRPr lang="en-US" sz="1400" dirty="0"/>
          </a:p>
          <a:p>
            <a:pPr algn="just"/>
            <a:r>
              <a:rPr lang="en-US" sz="1400" dirty="0" err="1" smtClean="0"/>
              <a:t>Komponen</a:t>
            </a:r>
            <a:r>
              <a:rPr lang="en-US" sz="1400" dirty="0" smtClean="0"/>
              <a:t> </a:t>
            </a:r>
            <a:r>
              <a:rPr lang="en-US" sz="1400" dirty="0"/>
              <a:t>MPLS </a:t>
            </a:r>
            <a:r>
              <a:rPr lang="en-US" sz="1400" dirty="0" err="1"/>
              <a:t>diatas</a:t>
            </a:r>
            <a:r>
              <a:rPr lang="en-US" sz="1400" dirty="0"/>
              <a:t> (LER &amp; LSR) </a:t>
            </a:r>
            <a:r>
              <a:rPr lang="en-US" sz="1400" dirty="0" err="1" smtClean="0"/>
              <a:t>dan</a:t>
            </a:r>
            <a:r>
              <a:rPr lang="en-US" sz="1400" dirty="0" smtClean="0"/>
              <a:t> </a:t>
            </a:r>
            <a:r>
              <a:rPr lang="en-US" sz="1400" dirty="0" err="1" smtClean="0"/>
              <a:t>tugasnya</a:t>
            </a:r>
            <a:r>
              <a:rPr lang="en-US" sz="1400" dirty="0" smtClean="0"/>
              <a:t>:</a:t>
            </a:r>
            <a:endParaRPr lang="en-US" sz="1400" dirty="0"/>
          </a:p>
          <a:p>
            <a:pPr algn="just"/>
            <a:endParaRPr lang="en-US" sz="1400" dirty="0"/>
          </a:p>
          <a:p>
            <a:pPr algn="just"/>
            <a:r>
              <a:rPr lang="en-US" sz="1400" dirty="0"/>
              <a:t>LSP (Label Switched Path)</a:t>
            </a:r>
          </a:p>
          <a:p>
            <a:pPr lvl="1" algn="just"/>
            <a:r>
              <a:rPr lang="en-US" sz="1400" dirty="0"/>
              <a:t>LSP </a:t>
            </a:r>
            <a:r>
              <a:rPr lang="en-US" sz="1400" dirty="0" err="1"/>
              <a:t>merupakan</a:t>
            </a:r>
            <a:r>
              <a:rPr lang="en-US" sz="1400" dirty="0"/>
              <a:t> </a:t>
            </a:r>
            <a:r>
              <a:rPr lang="en-US" sz="1400" dirty="0" err="1"/>
              <a:t>singkatan</a:t>
            </a:r>
            <a:r>
              <a:rPr lang="en-US" sz="1400" dirty="0"/>
              <a:t> </a:t>
            </a:r>
            <a:r>
              <a:rPr lang="en-US" sz="1400" dirty="0" err="1"/>
              <a:t>dari</a:t>
            </a:r>
            <a:r>
              <a:rPr lang="en-US" sz="1400" dirty="0"/>
              <a:t> Label Switched </a:t>
            </a:r>
            <a:r>
              <a:rPr lang="en-US" sz="1400" dirty="0" smtClean="0"/>
              <a:t>Path yang </a:t>
            </a:r>
            <a:r>
              <a:rPr lang="en-US" sz="1400" dirty="0" err="1"/>
              <a:t>memiliki</a:t>
            </a:r>
            <a:r>
              <a:rPr lang="en-US" sz="1400" dirty="0"/>
              <a:t> </a:t>
            </a:r>
            <a:r>
              <a:rPr lang="en-US" sz="1400" dirty="0" err="1"/>
              <a:t>fungsi</a:t>
            </a:r>
            <a:r>
              <a:rPr lang="en-US" sz="1400" dirty="0"/>
              <a:t> </a:t>
            </a:r>
            <a:r>
              <a:rPr lang="en-US" sz="1400" dirty="0" err="1"/>
              <a:t>sebagai</a:t>
            </a:r>
            <a:r>
              <a:rPr lang="en-US" sz="1400" dirty="0"/>
              <a:t> </a:t>
            </a:r>
            <a:r>
              <a:rPr lang="en-US" sz="1400" dirty="0" err="1"/>
              <a:t>jalur</a:t>
            </a:r>
            <a:r>
              <a:rPr lang="en-US" sz="1400" dirty="0"/>
              <a:t> </a:t>
            </a:r>
            <a:r>
              <a:rPr lang="en-US" sz="1400" dirty="0" err="1"/>
              <a:t>suatu</a:t>
            </a:r>
            <a:r>
              <a:rPr lang="en-US" sz="1400" dirty="0"/>
              <a:t> packet </a:t>
            </a:r>
            <a:r>
              <a:rPr lang="en-US" sz="1400" dirty="0" smtClean="0"/>
              <a:t>yang </a:t>
            </a:r>
            <a:r>
              <a:rPr lang="en-US" sz="1400" dirty="0" err="1" smtClean="0"/>
              <a:t>disediakan</a:t>
            </a:r>
            <a:r>
              <a:rPr lang="en-US" sz="1400" dirty="0" smtClean="0"/>
              <a:t> </a:t>
            </a:r>
            <a:r>
              <a:rPr lang="en-US" sz="1400" dirty="0" err="1"/>
              <a:t>untuk</a:t>
            </a:r>
            <a:r>
              <a:rPr lang="en-US" sz="1400" dirty="0"/>
              <a:t> </a:t>
            </a:r>
            <a:r>
              <a:rPr lang="en-US" sz="1400" dirty="0" err="1"/>
              <a:t>perjalanan</a:t>
            </a:r>
            <a:r>
              <a:rPr lang="en-US" sz="1400" dirty="0"/>
              <a:t> FEC yang </a:t>
            </a:r>
            <a:r>
              <a:rPr lang="en-US" sz="1400" dirty="0" err="1"/>
              <a:t>ditetapkan</a:t>
            </a:r>
            <a:r>
              <a:rPr lang="en-US" sz="1400" dirty="0"/>
              <a:t> </a:t>
            </a:r>
            <a:r>
              <a:rPr lang="en-US" sz="1400" dirty="0" err="1" smtClean="0"/>
              <a:t>pada</a:t>
            </a:r>
            <a:r>
              <a:rPr lang="en-US" sz="1400" dirty="0" smtClean="0"/>
              <a:t> </a:t>
            </a:r>
            <a:r>
              <a:rPr lang="en-US" sz="1400" dirty="0" err="1" smtClean="0"/>
              <a:t>sebuah</a:t>
            </a:r>
            <a:r>
              <a:rPr lang="en-US" sz="1400" dirty="0" smtClean="0"/>
              <a:t> </a:t>
            </a:r>
            <a:r>
              <a:rPr lang="en-US" sz="1400" dirty="0" err="1"/>
              <a:t>pengaturan</a:t>
            </a:r>
            <a:r>
              <a:rPr lang="en-US" sz="1400" dirty="0"/>
              <a:t> </a:t>
            </a:r>
            <a:r>
              <a:rPr lang="en-US" sz="1400" dirty="0" err="1"/>
              <a:t>transmisi</a:t>
            </a:r>
            <a:r>
              <a:rPr lang="en-US" sz="1400" dirty="0"/>
              <a:t> data , </a:t>
            </a:r>
            <a:r>
              <a:rPr lang="en-US" sz="1400" dirty="0" err="1"/>
              <a:t>atau</a:t>
            </a:r>
            <a:r>
              <a:rPr lang="en-US" sz="1400" dirty="0"/>
              <a:t> </a:t>
            </a:r>
            <a:r>
              <a:rPr lang="en-US" sz="1400" dirty="0" err="1"/>
              <a:t>bisa</a:t>
            </a:r>
            <a:r>
              <a:rPr lang="en-US" sz="1400" dirty="0"/>
              <a:t> </a:t>
            </a:r>
            <a:r>
              <a:rPr lang="en-US" sz="1400" dirty="0" err="1" smtClean="0"/>
              <a:t>juga</a:t>
            </a:r>
            <a:r>
              <a:rPr lang="en-US" sz="1400" dirty="0" smtClean="0"/>
              <a:t> </a:t>
            </a:r>
            <a:r>
              <a:rPr lang="en-US" sz="1400" dirty="0" err="1" smtClean="0"/>
              <a:t>merupakan</a:t>
            </a:r>
            <a:r>
              <a:rPr lang="en-US" sz="1400" dirty="0" smtClean="0"/>
              <a:t> </a:t>
            </a:r>
            <a:r>
              <a:rPr lang="en-US" sz="1400" dirty="0" err="1"/>
              <a:t>sebuah</a:t>
            </a:r>
            <a:r>
              <a:rPr lang="en-US" sz="1400" dirty="0"/>
              <a:t> </a:t>
            </a:r>
            <a:r>
              <a:rPr lang="en-US" sz="1400" dirty="0" err="1"/>
              <a:t>jalur</a:t>
            </a:r>
            <a:r>
              <a:rPr lang="en-US" sz="1400" dirty="0"/>
              <a:t> traffic </a:t>
            </a:r>
            <a:r>
              <a:rPr lang="en-US" sz="1400" dirty="0" err="1"/>
              <a:t>pada</a:t>
            </a:r>
            <a:r>
              <a:rPr lang="en-US" sz="1400" dirty="0"/>
              <a:t> </a:t>
            </a:r>
            <a:r>
              <a:rPr lang="en-US" sz="1400" dirty="0" err="1"/>
              <a:t>rangkaian</a:t>
            </a:r>
            <a:r>
              <a:rPr lang="en-US" sz="1400" dirty="0"/>
              <a:t> </a:t>
            </a:r>
            <a:r>
              <a:rPr lang="en-US" sz="1400" dirty="0" smtClean="0"/>
              <a:t>LSR yang </a:t>
            </a:r>
            <a:r>
              <a:rPr lang="en-US" sz="1400" dirty="0"/>
              <a:t>mana </a:t>
            </a:r>
            <a:r>
              <a:rPr lang="en-US" sz="1400" dirty="0" err="1"/>
              <a:t>paket</a:t>
            </a:r>
            <a:r>
              <a:rPr lang="en-US" sz="1400" dirty="0"/>
              <a:t> </a:t>
            </a:r>
            <a:r>
              <a:rPr lang="en-US" sz="1400" dirty="0" err="1"/>
              <a:t>diteruskan</a:t>
            </a:r>
            <a:r>
              <a:rPr lang="en-US" sz="1400" dirty="0"/>
              <a:t> </a:t>
            </a:r>
            <a:r>
              <a:rPr lang="en-US" sz="1400" dirty="0" err="1"/>
              <a:t>oleh</a:t>
            </a:r>
            <a:r>
              <a:rPr lang="en-US" sz="1400" dirty="0"/>
              <a:t> label swapping </a:t>
            </a:r>
            <a:r>
              <a:rPr lang="en-US" sz="1400" dirty="0" err="1" smtClean="0"/>
              <a:t>dari</a:t>
            </a:r>
            <a:r>
              <a:rPr lang="en-US" sz="1400" dirty="0" smtClean="0"/>
              <a:t> </a:t>
            </a:r>
            <a:r>
              <a:rPr lang="en-US" sz="1400" dirty="0" err="1" smtClean="0"/>
              <a:t>satu</a:t>
            </a:r>
            <a:r>
              <a:rPr lang="en-US" sz="1400" dirty="0" smtClean="0"/>
              <a:t> </a:t>
            </a:r>
            <a:r>
              <a:rPr lang="en-US" sz="1400" dirty="0"/>
              <a:t>MPLS node </a:t>
            </a:r>
            <a:r>
              <a:rPr lang="en-US" sz="1400" dirty="0" err="1"/>
              <a:t>ke</a:t>
            </a:r>
            <a:r>
              <a:rPr lang="en-US" sz="1400" dirty="0"/>
              <a:t> MPLS node yang lain</a:t>
            </a:r>
            <a:r>
              <a:rPr lang="en-US" sz="1400" dirty="0" smtClean="0"/>
              <a:t>.</a:t>
            </a:r>
          </a:p>
          <a:p>
            <a:pPr algn="just"/>
            <a:endParaRPr lang="en-US" sz="1400" dirty="0"/>
          </a:p>
          <a:p>
            <a:pPr algn="just"/>
            <a:r>
              <a:rPr lang="en-US" sz="1400" dirty="0" smtClean="0"/>
              <a:t>LER </a:t>
            </a:r>
            <a:r>
              <a:rPr lang="en-US" sz="1400" dirty="0"/>
              <a:t>(Label Edge Router)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sz="1400" dirty="0" err="1" smtClean="0"/>
              <a:t>Menambahkan</a:t>
            </a:r>
            <a:r>
              <a:rPr lang="en-US" sz="1400" dirty="0" smtClean="0"/>
              <a:t> </a:t>
            </a:r>
            <a:r>
              <a:rPr lang="en-US" sz="1400" dirty="0"/>
              <a:t>Label (Insert) </a:t>
            </a:r>
            <a:r>
              <a:rPr lang="en-US" sz="1400" dirty="0" err="1"/>
              <a:t>ketika</a:t>
            </a:r>
            <a:r>
              <a:rPr lang="en-US" sz="1400" dirty="0"/>
              <a:t> </a:t>
            </a:r>
            <a:r>
              <a:rPr lang="en-US" sz="1400" dirty="0" err="1"/>
              <a:t>trafik</a:t>
            </a:r>
            <a:r>
              <a:rPr lang="en-US" sz="1400" dirty="0"/>
              <a:t> </a:t>
            </a:r>
            <a:r>
              <a:rPr lang="en-US" sz="1400" dirty="0" err="1"/>
              <a:t>datang</a:t>
            </a:r>
            <a:r>
              <a:rPr lang="en-US" sz="1400" dirty="0"/>
              <a:t> (Ingress).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sz="1400" dirty="0" err="1"/>
              <a:t>Menambah</a:t>
            </a:r>
            <a:r>
              <a:rPr lang="en-US" sz="1400" dirty="0"/>
              <a:t> label </a:t>
            </a:r>
            <a:r>
              <a:rPr lang="en-US" sz="1400" dirty="0" err="1"/>
              <a:t>lagi</a:t>
            </a:r>
            <a:r>
              <a:rPr lang="en-US" sz="1400" dirty="0"/>
              <a:t> (Stack) </a:t>
            </a:r>
            <a:r>
              <a:rPr lang="en-US" sz="1400" dirty="0" err="1"/>
              <a:t>jika</a:t>
            </a:r>
            <a:r>
              <a:rPr lang="en-US" sz="1400" dirty="0"/>
              <a:t> </a:t>
            </a:r>
            <a:r>
              <a:rPr lang="en-US" sz="1400" dirty="0" err="1"/>
              <a:t>ada</a:t>
            </a:r>
            <a:r>
              <a:rPr lang="en-US" sz="1400" dirty="0"/>
              <a:t> service </a:t>
            </a:r>
            <a:r>
              <a:rPr lang="en-US" sz="1400" dirty="0" err="1"/>
              <a:t>tambahan</a:t>
            </a:r>
            <a:r>
              <a:rPr lang="en-US" sz="1400" dirty="0"/>
              <a:t>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sz="1400" dirty="0" err="1"/>
              <a:t>Menghilangkan</a:t>
            </a:r>
            <a:r>
              <a:rPr lang="en-US" sz="1400" dirty="0"/>
              <a:t> </a:t>
            </a:r>
            <a:r>
              <a:rPr lang="en-US" sz="1400" dirty="0" err="1"/>
              <a:t>semua</a:t>
            </a:r>
            <a:r>
              <a:rPr lang="en-US" sz="1400" dirty="0"/>
              <a:t> label (POP) </a:t>
            </a:r>
            <a:r>
              <a:rPr lang="en-US" sz="1400" dirty="0" err="1"/>
              <a:t>pada</a:t>
            </a:r>
            <a:r>
              <a:rPr lang="en-US" sz="1400" dirty="0"/>
              <a:t> </a:t>
            </a:r>
            <a:r>
              <a:rPr lang="en-US" sz="1400" dirty="0" err="1"/>
              <a:t>trafik</a:t>
            </a:r>
            <a:r>
              <a:rPr lang="en-US" sz="1400" dirty="0"/>
              <a:t> </a:t>
            </a:r>
            <a:r>
              <a:rPr lang="en-US" sz="1400" dirty="0" err="1"/>
              <a:t>keluar</a:t>
            </a:r>
            <a:r>
              <a:rPr lang="en-US" sz="1400" dirty="0"/>
              <a:t> </a:t>
            </a:r>
            <a:r>
              <a:rPr lang="en-US" sz="1400" dirty="0" err="1"/>
              <a:t>dari</a:t>
            </a:r>
            <a:r>
              <a:rPr lang="en-US" sz="1400" dirty="0"/>
              <a:t> MPLS (Egress</a:t>
            </a:r>
            <a:r>
              <a:rPr lang="en-US" sz="1400" dirty="0" smtClean="0"/>
              <a:t>).</a:t>
            </a:r>
            <a:endParaRPr lang="en-US" sz="1400" dirty="0"/>
          </a:p>
        </p:txBody>
      </p:sp>
      <p:sp>
        <p:nvSpPr>
          <p:cNvPr id="4" name="Rectangle 3"/>
          <p:cNvSpPr/>
          <p:nvPr/>
        </p:nvSpPr>
        <p:spPr>
          <a:xfrm>
            <a:off x="6300788" y="271463"/>
            <a:ext cx="5775852" cy="24622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400" dirty="0" smtClean="0"/>
              <a:t>LSR </a:t>
            </a:r>
            <a:r>
              <a:rPr lang="en-US" sz="1400" dirty="0"/>
              <a:t>(Label Switching Router)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sz="1400" dirty="0" err="1"/>
              <a:t>Melakukan</a:t>
            </a:r>
            <a:r>
              <a:rPr lang="en-US" sz="1400" dirty="0"/>
              <a:t> forwarding packet (SWAP) </a:t>
            </a:r>
            <a:r>
              <a:rPr lang="en-US" sz="1400" dirty="0" err="1"/>
              <a:t>berdasarkan</a:t>
            </a:r>
            <a:r>
              <a:rPr lang="en-US" sz="1400" dirty="0"/>
              <a:t> label (LSP) yang </a:t>
            </a:r>
            <a:r>
              <a:rPr lang="en-US" sz="1400" dirty="0" err="1"/>
              <a:t>sudah</a:t>
            </a:r>
            <a:r>
              <a:rPr lang="en-US" sz="1400" dirty="0"/>
              <a:t> </a:t>
            </a:r>
            <a:r>
              <a:rPr lang="en-US" sz="1400" dirty="0" err="1"/>
              <a:t>dibuat</a:t>
            </a:r>
            <a:r>
              <a:rPr lang="en-US" sz="1400" dirty="0"/>
              <a:t>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sz="1400" dirty="0" err="1"/>
              <a:t>Menghilangkan</a:t>
            </a:r>
            <a:r>
              <a:rPr lang="en-US" sz="1400" dirty="0"/>
              <a:t> Label </a:t>
            </a:r>
            <a:r>
              <a:rPr lang="en-US" sz="1400" dirty="0" err="1"/>
              <a:t>terluar</a:t>
            </a:r>
            <a:r>
              <a:rPr lang="en-US" sz="1400" dirty="0"/>
              <a:t> (POP) </a:t>
            </a:r>
            <a:r>
              <a:rPr lang="en-US" sz="1400" dirty="0" err="1"/>
              <a:t>jika</a:t>
            </a:r>
            <a:r>
              <a:rPr lang="en-US" sz="1400" dirty="0"/>
              <a:t> </a:t>
            </a:r>
            <a:r>
              <a:rPr lang="en-US" sz="1400" dirty="0" err="1"/>
              <a:t>terjadi</a:t>
            </a:r>
            <a:r>
              <a:rPr lang="en-US" sz="1400" dirty="0"/>
              <a:t> Label Stack.</a:t>
            </a:r>
          </a:p>
          <a:p>
            <a:pPr algn="just"/>
            <a:endParaRPr lang="en-US" sz="1400" dirty="0" smtClean="0"/>
          </a:p>
          <a:p>
            <a:pPr algn="just"/>
            <a:r>
              <a:rPr lang="en-US" sz="1400" dirty="0" smtClean="0"/>
              <a:t>Forward </a:t>
            </a:r>
            <a:r>
              <a:rPr lang="en-US" sz="1400" dirty="0"/>
              <a:t>Equivalence Class (FEC) </a:t>
            </a:r>
            <a:endParaRPr lang="en-US" sz="1400" dirty="0" smtClean="0"/>
          </a:p>
          <a:p>
            <a:pPr lvl="1" algn="just"/>
            <a:r>
              <a:rPr lang="en-US" sz="1400" dirty="0" err="1" smtClean="0"/>
              <a:t>Sekelompok</a:t>
            </a:r>
            <a:r>
              <a:rPr lang="en-US" sz="1400" dirty="0" smtClean="0"/>
              <a:t> </a:t>
            </a:r>
            <a:r>
              <a:rPr lang="en-US" sz="1400" dirty="0" err="1"/>
              <a:t>paket</a:t>
            </a:r>
            <a:r>
              <a:rPr lang="en-US" sz="1400" dirty="0"/>
              <a:t> yang </a:t>
            </a:r>
            <a:r>
              <a:rPr lang="en-US" sz="1400" dirty="0" err="1"/>
              <a:t>memiliki</a:t>
            </a:r>
            <a:r>
              <a:rPr lang="en-US" sz="1400" dirty="0"/>
              <a:t> </a:t>
            </a:r>
            <a:r>
              <a:rPr lang="en-US" sz="1400" dirty="0" err="1"/>
              <a:t>jalur</a:t>
            </a:r>
            <a:r>
              <a:rPr lang="en-US" sz="1400" dirty="0"/>
              <a:t> </a:t>
            </a:r>
            <a:r>
              <a:rPr lang="en-US" sz="1400" dirty="0" err="1"/>
              <a:t>transmisi</a:t>
            </a:r>
            <a:r>
              <a:rPr lang="en-US" sz="1400" dirty="0"/>
              <a:t> yang </a:t>
            </a:r>
            <a:r>
              <a:rPr lang="en-US" sz="1400" dirty="0" err="1"/>
              <a:t>sama</a:t>
            </a:r>
            <a:r>
              <a:rPr lang="en-US" sz="1400" dirty="0"/>
              <a:t> </a:t>
            </a:r>
            <a:r>
              <a:rPr lang="en-US" sz="1400" dirty="0" err="1"/>
              <a:t>dan</a:t>
            </a:r>
            <a:r>
              <a:rPr lang="en-US" sz="1400" dirty="0"/>
              <a:t> forwarding </a:t>
            </a:r>
            <a:r>
              <a:rPr lang="en-US" sz="1400" dirty="0" err="1"/>
              <a:t>mekanisme</a:t>
            </a:r>
            <a:r>
              <a:rPr lang="en-US" sz="1400" dirty="0"/>
              <a:t> </a:t>
            </a:r>
            <a:r>
              <a:rPr lang="en-US" sz="1400" dirty="0" err="1"/>
              <a:t>dikenal</a:t>
            </a:r>
            <a:r>
              <a:rPr lang="en-US" sz="1400" dirty="0"/>
              <a:t> </a:t>
            </a:r>
            <a:r>
              <a:rPr lang="en-US" sz="1400" dirty="0" err="1"/>
              <a:t>sebagai</a:t>
            </a:r>
            <a:r>
              <a:rPr lang="en-US" sz="1400" dirty="0"/>
              <a:t> FEC. </a:t>
            </a:r>
            <a:r>
              <a:rPr lang="en-US" sz="1400" dirty="0" err="1"/>
              <a:t>Paket</a:t>
            </a:r>
            <a:r>
              <a:rPr lang="en-US" sz="1400" dirty="0"/>
              <a:t> </a:t>
            </a:r>
            <a:r>
              <a:rPr lang="en-US" sz="1400" dirty="0" err="1"/>
              <a:t>milik</a:t>
            </a:r>
            <a:r>
              <a:rPr lang="en-US" sz="1400" dirty="0"/>
              <a:t> FEC yang </a:t>
            </a:r>
            <a:r>
              <a:rPr lang="en-US" sz="1400" dirty="0" err="1"/>
              <a:t>sama</a:t>
            </a:r>
            <a:r>
              <a:rPr lang="en-US" sz="1400" dirty="0"/>
              <a:t> </a:t>
            </a:r>
            <a:r>
              <a:rPr lang="en-US" sz="1400" dirty="0" err="1"/>
              <a:t>memiliki</a:t>
            </a:r>
            <a:r>
              <a:rPr lang="en-US" sz="1400" dirty="0"/>
              <a:t> label yang </a:t>
            </a:r>
            <a:r>
              <a:rPr lang="en-US" sz="1400" dirty="0" err="1"/>
              <a:t>sama</a:t>
            </a:r>
            <a:r>
              <a:rPr lang="en-US" sz="1400" dirty="0"/>
              <a:t>. </a:t>
            </a:r>
            <a:r>
              <a:rPr lang="en-US" sz="1400" dirty="0" err="1"/>
              <a:t>Tapi</a:t>
            </a:r>
            <a:r>
              <a:rPr lang="en-US" sz="1400" dirty="0"/>
              <a:t> </a:t>
            </a:r>
            <a:r>
              <a:rPr lang="en-US" sz="1400" dirty="0" err="1"/>
              <a:t>beberapa</a:t>
            </a:r>
            <a:r>
              <a:rPr lang="en-US" sz="1400" dirty="0"/>
              <a:t> </a:t>
            </a:r>
            <a:r>
              <a:rPr lang="en-US" sz="1400" dirty="0" err="1"/>
              <a:t>paket</a:t>
            </a:r>
            <a:r>
              <a:rPr lang="en-US" sz="1400" dirty="0"/>
              <a:t> </a:t>
            </a:r>
            <a:r>
              <a:rPr lang="en-US" sz="1400" dirty="0" err="1"/>
              <a:t>tidak</a:t>
            </a:r>
            <a:r>
              <a:rPr lang="en-US" sz="1400" dirty="0"/>
              <a:t> </a:t>
            </a:r>
            <a:r>
              <a:rPr lang="en-US" sz="1400" dirty="0" err="1"/>
              <a:t>termasuk</a:t>
            </a:r>
            <a:r>
              <a:rPr lang="en-US" sz="1400" dirty="0"/>
              <a:t> </a:t>
            </a:r>
            <a:r>
              <a:rPr lang="en-US" sz="1400" dirty="0" err="1"/>
              <a:t>mekanisme</a:t>
            </a:r>
            <a:r>
              <a:rPr lang="en-US" sz="1400" dirty="0"/>
              <a:t> FEC </a:t>
            </a:r>
            <a:r>
              <a:rPr lang="en-US" sz="1400" dirty="0" err="1"/>
              <a:t>dan</a:t>
            </a:r>
            <a:r>
              <a:rPr lang="en-US" sz="1400" dirty="0"/>
              <a:t> forwarding yang </a:t>
            </a:r>
            <a:r>
              <a:rPr lang="en-US" sz="1400" dirty="0" err="1"/>
              <a:t>sama</a:t>
            </a:r>
            <a:r>
              <a:rPr lang="en-US" sz="1400" dirty="0"/>
              <a:t> </a:t>
            </a:r>
            <a:r>
              <a:rPr lang="en-US" sz="1400" dirty="0" err="1"/>
              <a:t>karena</a:t>
            </a:r>
            <a:r>
              <a:rPr lang="en-US" sz="1400" dirty="0"/>
              <a:t> </a:t>
            </a:r>
            <a:r>
              <a:rPr lang="en-US" sz="1400" dirty="0" err="1"/>
              <a:t>berbeda</a:t>
            </a:r>
            <a:r>
              <a:rPr lang="en-US" sz="1400" dirty="0"/>
              <a:t> </a:t>
            </a:r>
            <a:r>
              <a:rPr lang="en-US" sz="1400" dirty="0" err="1"/>
              <a:t>Nilai</a:t>
            </a:r>
            <a:r>
              <a:rPr lang="en-US" sz="1400" dirty="0"/>
              <a:t> EXP</a:t>
            </a:r>
            <a:r>
              <a:rPr lang="en-US" sz="1400" dirty="0" smtClean="0"/>
              <a:t>.</a:t>
            </a:r>
          </a:p>
          <a:p>
            <a:pPr algn="just"/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9406614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16088" y="543594"/>
            <a:ext cx="5633155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400" dirty="0" err="1" smtClean="0"/>
              <a:t>Keunggulan</a:t>
            </a:r>
            <a:r>
              <a:rPr lang="en-US" sz="1400" dirty="0" smtClean="0"/>
              <a:t> </a:t>
            </a:r>
            <a:r>
              <a:rPr lang="en-US" sz="1400" dirty="0" err="1"/>
              <a:t>dari</a:t>
            </a:r>
            <a:r>
              <a:rPr lang="en-US" sz="1400" dirty="0"/>
              <a:t> </a:t>
            </a:r>
            <a:r>
              <a:rPr lang="en-US" sz="1400" dirty="0" err="1"/>
              <a:t>teknologi</a:t>
            </a:r>
            <a:r>
              <a:rPr lang="en-US" sz="1400" dirty="0"/>
              <a:t> </a:t>
            </a:r>
            <a:r>
              <a:rPr lang="en-US" sz="1400" dirty="0" err="1"/>
              <a:t>jaringan</a:t>
            </a:r>
            <a:r>
              <a:rPr lang="en-US" sz="1400" dirty="0"/>
              <a:t> MPLS </a:t>
            </a:r>
            <a:r>
              <a:rPr lang="en-US" sz="1400" dirty="0" err="1"/>
              <a:t>tersebut</a:t>
            </a:r>
            <a:r>
              <a:rPr lang="en-US" sz="1400" dirty="0"/>
              <a:t> </a:t>
            </a:r>
            <a:r>
              <a:rPr lang="en-US" sz="1400" dirty="0" err="1"/>
              <a:t>diantaranya</a:t>
            </a:r>
            <a:r>
              <a:rPr lang="en-US" sz="1400" dirty="0"/>
              <a:t>[1] : </a:t>
            </a:r>
            <a:endParaRPr lang="en-US" sz="1400" dirty="0" smtClean="0"/>
          </a:p>
          <a:p>
            <a:pPr marL="342900" indent="-342900" algn="just">
              <a:buAutoNum type="arabicPeriod"/>
            </a:pPr>
            <a:r>
              <a:rPr lang="en-US" sz="1400" dirty="0" smtClean="0"/>
              <a:t>MPLS </a:t>
            </a:r>
            <a:r>
              <a:rPr lang="en-US" sz="1400" dirty="0" err="1"/>
              <a:t>dapat</a:t>
            </a:r>
            <a:r>
              <a:rPr lang="en-US" sz="1400" dirty="0"/>
              <a:t> </a:t>
            </a:r>
            <a:r>
              <a:rPr lang="en-US" sz="1400" dirty="0" err="1"/>
              <a:t>mengurangi</a:t>
            </a:r>
            <a:r>
              <a:rPr lang="en-US" sz="1400" dirty="0"/>
              <a:t> </a:t>
            </a:r>
            <a:r>
              <a:rPr lang="en-US" sz="1400" dirty="0" err="1"/>
              <a:t>banyaknya</a:t>
            </a:r>
            <a:r>
              <a:rPr lang="en-US" sz="1400" dirty="0"/>
              <a:t> proses </a:t>
            </a:r>
            <a:r>
              <a:rPr lang="en-US" sz="1400" dirty="0" err="1"/>
              <a:t>pengolahan</a:t>
            </a:r>
            <a:r>
              <a:rPr lang="en-US" sz="1400" dirty="0"/>
              <a:t> </a:t>
            </a:r>
            <a:r>
              <a:rPr lang="en-US" sz="1400" dirty="0" err="1"/>
              <a:t>trafik</a:t>
            </a:r>
            <a:r>
              <a:rPr lang="en-US" sz="1400" dirty="0"/>
              <a:t> yang </a:t>
            </a:r>
            <a:r>
              <a:rPr lang="en-US" sz="1400" dirty="0" err="1"/>
              <a:t>terjadi</a:t>
            </a:r>
            <a:r>
              <a:rPr lang="en-US" sz="1400" dirty="0"/>
              <a:t> </a:t>
            </a:r>
            <a:r>
              <a:rPr lang="en-US" sz="1400" dirty="0" err="1"/>
              <a:t>pada</a:t>
            </a:r>
            <a:r>
              <a:rPr lang="en-US" sz="1400" dirty="0"/>
              <a:t> router, </a:t>
            </a:r>
            <a:r>
              <a:rPr lang="en-US" sz="1400" dirty="0" err="1"/>
              <a:t>dikarenakan</a:t>
            </a:r>
            <a:r>
              <a:rPr lang="en-US" sz="1400" dirty="0"/>
              <a:t> MPLS </a:t>
            </a:r>
            <a:r>
              <a:rPr lang="en-US" sz="1400" dirty="0" err="1"/>
              <a:t>merupakan</a:t>
            </a:r>
            <a:r>
              <a:rPr lang="en-US" sz="1400" dirty="0"/>
              <a:t> </a:t>
            </a:r>
            <a:r>
              <a:rPr lang="en-US" sz="1400" dirty="0" err="1"/>
              <a:t>suatu</a:t>
            </a:r>
            <a:r>
              <a:rPr lang="en-US" sz="1400" dirty="0"/>
              <a:t> </a:t>
            </a:r>
            <a:r>
              <a:rPr lang="en-US" sz="1400" dirty="0" err="1"/>
              <a:t>metode</a:t>
            </a:r>
            <a:r>
              <a:rPr lang="en-US" sz="1400" dirty="0"/>
              <a:t> forwarding yang </a:t>
            </a:r>
            <a:r>
              <a:rPr lang="en-US" sz="1400" dirty="0" err="1"/>
              <a:t>merupakan</a:t>
            </a:r>
            <a:r>
              <a:rPr lang="en-US" sz="1400" dirty="0"/>
              <a:t> </a:t>
            </a:r>
            <a:r>
              <a:rPr lang="en-US" sz="1400" dirty="0" err="1"/>
              <a:t>peningkatan</a:t>
            </a:r>
            <a:r>
              <a:rPr lang="en-US" sz="1400" dirty="0"/>
              <a:t> </a:t>
            </a:r>
            <a:r>
              <a:rPr lang="en-US" sz="1400" dirty="0" err="1"/>
              <a:t>teknik</a:t>
            </a:r>
            <a:r>
              <a:rPr lang="en-US" sz="1400" dirty="0"/>
              <a:t> forwarding </a:t>
            </a:r>
            <a:r>
              <a:rPr lang="en-US" sz="1400" dirty="0" err="1"/>
              <a:t>pada</a:t>
            </a:r>
            <a:r>
              <a:rPr lang="en-US" sz="1400" dirty="0"/>
              <a:t> </a:t>
            </a:r>
            <a:r>
              <a:rPr lang="en-US" sz="1400" dirty="0" err="1"/>
              <a:t>koneksi</a:t>
            </a:r>
            <a:r>
              <a:rPr lang="en-US" sz="1400" dirty="0"/>
              <a:t> </a:t>
            </a:r>
            <a:r>
              <a:rPr lang="en-US" sz="1400" dirty="0" err="1"/>
              <a:t>tradisional</a:t>
            </a:r>
            <a:r>
              <a:rPr lang="en-US" sz="1400" dirty="0"/>
              <a:t> </a:t>
            </a:r>
            <a:r>
              <a:rPr lang="en-US" sz="1400" dirty="0" err="1"/>
              <a:t>dalam</a:t>
            </a:r>
            <a:r>
              <a:rPr lang="en-US" sz="1400" dirty="0"/>
              <a:t> </a:t>
            </a:r>
            <a:r>
              <a:rPr lang="en-US" sz="1400" dirty="0" err="1"/>
              <a:t>perpindahan</a:t>
            </a:r>
            <a:r>
              <a:rPr lang="en-US" sz="1400" dirty="0"/>
              <a:t> data </a:t>
            </a:r>
            <a:r>
              <a:rPr lang="en-US" sz="1400" dirty="0" err="1"/>
              <a:t>paket</a:t>
            </a:r>
            <a:r>
              <a:rPr lang="en-US" sz="1400" dirty="0"/>
              <a:t> yang </a:t>
            </a:r>
            <a:r>
              <a:rPr lang="en-US" sz="1400" dirty="0" err="1"/>
              <a:t>besar</a:t>
            </a:r>
            <a:r>
              <a:rPr lang="en-US" sz="1400" dirty="0"/>
              <a:t>, </a:t>
            </a:r>
            <a:r>
              <a:rPr lang="en-US" sz="1400" dirty="0" err="1"/>
              <a:t>tingkat</a:t>
            </a:r>
            <a:r>
              <a:rPr lang="en-US" sz="1400" dirty="0"/>
              <a:t> </a:t>
            </a:r>
            <a:r>
              <a:rPr lang="en-US" sz="1400" dirty="0" err="1"/>
              <a:t>keefisienan</a:t>
            </a:r>
            <a:r>
              <a:rPr lang="en-US" sz="1400" dirty="0"/>
              <a:t> </a:t>
            </a:r>
            <a:r>
              <a:rPr lang="en-US" sz="1400" dirty="0" err="1"/>
              <a:t>pada</a:t>
            </a:r>
            <a:r>
              <a:rPr lang="en-US" sz="1400" dirty="0"/>
              <a:t> MPLS </a:t>
            </a:r>
            <a:r>
              <a:rPr lang="en-US" sz="1400" dirty="0" err="1"/>
              <a:t>lebih</a:t>
            </a:r>
            <a:r>
              <a:rPr lang="en-US" sz="1400" dirty="0"/>
              <a:t> </a:t>
            </a:r>
            <a:r>
              <a:rPr lang="en-US" sz="1400" dirty="0" err="1"/>
              <a:t>baik</a:t>
            </a:r>
            <a:r>
              <a:rPr lang="en-US" sz="1400" dirty="0"/>
              <a:t> </a:t>
            </a:r>
            <a:r>
              <a:rPr lang="en-US" sz="1400" dirty="0" err="1"/>
              <a:t>dan</a:t>
            </a:r>
            <a:r>
              <a:rPr lang="en-US" sz="1400" dirty="0"/>
              <a:t> </a:t>
            </a:r>
            <a:r>
              <a:rPr lang="en-US" sz="1400" dirty="0" err="1"/>
              <a:t>lebih</a:t>
            </a:r>
            <a:r>
              <a:rPr lang="en-US" sz="1400" dirty="0"/>
              <a:t> </a:t>
            </a:r>
            <a:r>
              <a:rPr lang="en-US" sz="1400" dirty="0" err="1"/>
              <a:t>tinggi</a:t>
            </a:r>
            <a:r>
              <a:rPr lang="en-US" sz="1400" dirty="0"/>
              <a:t>. </a:t>
            </a:r>
            <a:endParaRPr lang="en-US" sz="1400" dirty="0" smtClean="0"/>
          </a:p>
          <a:p>
            <a:pPr marL="342900" indent="-342900" algn="just">
              <a:buAutoNum type="arabicPeriod"/>
            </a:pPr>
            <a:r>
              <a:rPr lang="en-US" sz="1400" dirty="0" smtClean="0"/>
              <a:t>MPLS </a:t>
            </a:r>
            <a:r>
              <a:rPr lang="en-US" sz="1400" dirty="0" err="1"/>
              <a:t>menjaga</a:t>
            </a:r>
            <a:r>
              <a:rPr lang="en-US" sz="1400" dirty="0"/>
              <a:t> Quality of Service (</a:t>
            </a:r>
            <a:r>
              <a:rPr lang="en-US" sz="1400" dirty="0" err="1"/>
              <a:t>QoS</a:t>
            </a:r>
            <a:r>
              <a:rPr lang="en-US" sz="1400" dirty="0"/>
              <a:t>) </a:t>
            </a:r>
            <a:r>
              <a:rPr lang="en-US" sz="1400" dirty="0" err="1"/>
              <a:t>pada</a:t>
            </a:r>
            <a:r>
              <a:rPr lang="en-US" sz="1400" dirty="0"/>
              <a:t> </a:t>
            </a:r>
            <a:r>
              <a:rPr lang="en-US" sz="1400" dirty="0" err="1"/>
              <a:t>jaringan</a:t>
            </a:r>
            <a:r>
              <a:rPr lang="en-US" sz="1400" dirty="0"/>
              <a:t>. </a:t>
            </a:r>
            <a:endParaRPr lang="en-US" sz="1400" dirty="0" smtClean="0"/>
          </a:p>
          <a:p>
            <a:pPr marL="342900" indent="-342900" algn="just">
              <a:buAutoNum type="arabicPeriod"/>
            </a:pPr>
            <a:r>
              <a:rPr lang="en-US" sz="1400" dirty="0" err="1" smtClean="0"/>
              <a:t>Digunakan</a:t>
            </a:r>
            <a:r>
              <a:rPr lang="en-US" sz="1400" dirty="0" smtClean="0"/>
              <a:t> </a:t>
            </a:r>
            <a:r>
              <a:rPr lang="en-US" sz="1400" dirty="0" err="1"/>
              <a:t>untuk</a:t>
            </a:r>
            <a:r>
              <a:rPr lang="en-US" sz="1400" dirty="0"/>
              <a:t> </a:t>
            </a:r>
            <a:r>
              <a:rPr lang="en-US" sz="1400" dirty="0" err="1"/>
              <a:t>memetakan</a:t>
            </a:r>
            <a:r>
              <a:rPr lang="en-US" sz="1400" dirty="0"/>
              <a:t> IP </a:t>
            </a:r>
            <a:r>
              <a:rPr lang="en-US" sz="1400" dirty="0" err="1"/>
              <a:t>secara</a:t>
            </a:r>
            <a:r>
              <a:rPr lang="en-US" sz="1400" dirty="0"/>
              <a:t> </a:t>
            </a:r>
            <a:r>
              <a:rPr lang="en-US" sz="1400" dirty="0" err="1"/>
              <a:t>sederhana</a:t>
            </a:r>
            <a:r>
              <a:rPr lang="en-US" sz="1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993040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73976" y="310634"/>
            <a:ext cx="249420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err="1">
                <a:solidFill>
                  <a:srgbClr val="002060"/>
                </a:solidFill>
              </a:rPr>
              <a:t>Konfigurasi</a:t>
            </a:r>
            <a:r>
              <a:rPr lang="en-US" b="1" dirty="0">
                <a:solidFill>
                  <a:srgbClr val="002060"/>
                </a:solidFill>
              </a:rPr>
              <a:t> Cisco Router</a:t>
            </a:r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73976" y="679966"/>
            <a:ext cx="5098149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sv-SE" sz="1600" dirty="0" smtClean="0"/>
              <a:t>- Konfigurasi i</a:t>
            </a:r>
            <a:r>
              <a:rPr lang="sv-SE" sz="1600" b="1" dirty="0" smtClean="0">
                <a:solidFill>
                  <a:srgbClr val="002060"/>
                </a:solidFill>
              </a:rPr>
              <a:t>nterface</a:t>
            </a:r>
            <a:r>
              <a:rPr lang="sv-SE" sz="1600" dirty="0" smtClean="0"/>
              <a:t> </a:t>
            </a:r>
            <a:r>
              <a:rPr lang="sv-SE" sz="1600" dirty="0"/>
              <a:t>yang saling terhubung (internal jaringan </a:t>
            </a:r>
            <a:r>
              <a:rPr lang="sv-SE" sz="1600" b="1" dirty="0">
                <a:solidFill>
                  <a:srgbClr val="002060"/>
                </a:solidFill>
              </a:rPr>
              <a:t>provider/backbone</a:t>
            </a:r>
            <a:r>
              <a:rPr lang="sv-SE" sz="1600" dirty="0" smtClean="0"/>
              <a:t>)</a:t>
            </a:r>
          </a:p>
          <a:p>
            <a:endParaRPr lang="sv-SE" sz="1600" dirty="0" smtClean="0"/>
          </a:p>
          <a:p>
            <a:r>
              <a:rPr lang="en-US" sz="1600" dirty="0" smtClean="0"/>
              <a:t>- </a:t>
            </a:r>
            <a:r>
              <a:rPr lang="en-US" sz="1600" b="1" dirty="0" err="1" smtClean="0">
                <a:solidFill>
                  <a:srgbClr val="002060"/>
                </a:solidFill>
              </a:rPr>
              <a:t>Konfigurasi</a:t>
            </a:r>
            <a:r>
              <a:rPr lang="en-US" sz="1600" b="1" dirty="0" smtClean="0">
                <a:solidFill>
                  <a:srgbClr val="002060"/>
                </a:solidFill>
              </a:rPr>
              <a:t> </a:t>
            </a:r>
            <a:r>
              <a:rPr lang="en-US" sz="1600" b="1" dirty="0" err="1">
                <a:solidFill>
                  <a:srgbClr val="002060"/>
                </a:solidFill>
              </a:rPr>
              <a:t>Dasar</a:t>
            </a:r>
            <a:r>
              <a:rPr lang="en-US" sz="1600" b="1" dirty="0">
                <a:solidFill>
                  <a:srgbClr val="002060"/>
                </a:solidFill>
              </a:rPr>
              <a:t> (IP Address &amp; Loopback)</a:t>
            </a:r>
          </a:p>
          <a:p>
            <a:r>
              <a:rPr lang="en-US" sz="1600" dirty="0"/>
              <a:t> </a:t>
            </a:r>
            <a:r>
              <a:rPr lang="en-US" sz="1600" dirty="0" smtClean="0"/>
              <a:t>  </a:t>
            </a:r>
            <a:r>
              <a:rPr lang="en-US" sz="1600" dirty="0" err="1" smtClean="0"/>
              <a:t>Pastikan</a:t>
            </a:r>
            <a:r>
              <a:rPr lang="en-US" sz="1600" dirty="0" smtClean="0"/>
              <a:t> </a:t>
            </a:r>
            <a:r>
              <a:rPr lang="en-US" sz="1600" dirty="0"/>
              <a:t>IP Address </a:t>
            </a:r>
            <a:r>
              <a:rPr lang="en-US" sz="1600" dirty="0" err="1"/>
              <a:t>terpasang</a:t>
            </a:r>
            <a:r>
              <a:rPr lang="en-US" sz="1600" dirty="0"/>
              <a:t> </a:t>
            </a:r>
            <a:r>
              <a:rPr lang="en-US" sz="1600" dirty="0" err="1"/>
              <a:t>dan</a:t>
            </a:r>
            <a:r>
              <a:rPr lang="en-US" sz="1600" dirty="0"/>
              <a:t> interface </a:t>
            </a:r>
            <a:r>
              <a:rPr lang="en-US" sz="1600" dirty="0" err="1" smtClean="0"/>
              <a:t>aktif</a:t>
            </a:r>
            <a:r>
              <a:rPr lang="en-US" sz="1600" dirty="0" smtClean="0"/>
              <a:t>.  </a:t>
            </a:r>
          </a:p>
          <a:p>
            <a:r>
              <a:rPr lang="en-US" sz="1600" dirty="0"/>
              <a:t> </a:t>
            </a:r>
            <a:r>
              <a:rPr lang="en-US" sz="1600" dirty="0" smtClean="0"/>
              <a:t>  Loopback </a:t>
            </a:r>
            <a:r>
              <a:rPr lang="en-US" sz="1600" dirty="0" err="1"/>
              <a:t>wajib</a:t>
            </a:r>
            <a:r>
              <a:rPr lang="en-US" sz="1600" dirty="0"/>
              <a:t> </a:t>
            </a:r>
            <a:r>
              <a:rPr lang="en-US" sz="1600" dirty="0" err="1"/>
              <a:t>dikonfigurasi</a:t>
            </a:r>
            <a:r>
              <a:rPr lang="en-US" sz="1600" dirty="0"/>
              <a:t> </a:t>
            </a:r>
            <a:r>
              <a:rPr lang="en-US" sz="1600" dirty="0" err="1"/>
              <a:t>untuk</a:t>
            </a:r>
            <a:r>
              <a:rPr lang="en-US" sz="1600" dirty="0"/>
              <a:t> ID Router.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790575" y="2226543"/>
            <a:ext cx="402431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002060"/>
                </a:solidFill>
              </a:rPr>
              <a:t>R1(</a:t>
            </a:r>
            <a:r>
              <a:rPr lang="en-US" sz="1200" dirty="0" err="1">
                <a:solidFill>
                  <a:srgbClr val="002060"/>
                </a:solidFill>
              </a:rPr>
              <a:t>config</a:t>
            </a:r>
            <a:r>
              <a:rPr lang="en-US" sz="1200" dirty="0">
                <a:solidFill>
                  <a:srgbClr val="002060"/>
                </a:solidFill>
              </a:rPr>
              <a:t>)# interface loopback </a:t>
            </a:r>
            <a:r>
              <a:rPr lang="en-US" sz="1200" dirty="0" smtClean="0">
                <a:solidFill>
                  <a:srgbClr val="002060"/>
                </a:solidFill>
              </a:rPr>
              <a:t>0</a:t>
            </a:r>
          </a:p>
          <a:p>
            <a:r>
              <a:rPr lang="en-US" sz="1200" dirty="0" smtClean="0">
                <a:solidFill>
                  <a:srgbClr val="002060"/>
                </a:solidFill>
              </a:rPr>
              <a:t>R1(</a:t>
            </a:r>
            <a:r>
              <a:rPr lang="en-US" sz="1200" dirty="0" err="1" smtClean="0">
                <a:solidFill>
                  <a:srgbClr val="002060"/>
                </a:solidFill>
              </a:rPr>
              <a:t>config</a:t>
            </a:r>
            <a:r>
              <a:rPr lang="en-US" sz="1200" dirty="0" smtClean="0">
                <a:solidFill>
                  <a:srgbClr val="002060"/>
                </a:solidFill>
              </a:rPr>
              <a:t>-if</a:t>
            </a:r>
            <a:r>
              <a:rPr lang="en-US" sz="1200" dirty="0">
                <a:solidFill>
                  <a:srgbClr val="002060"/>
                </a:solidFill>
              </a:rPr>
              <a:t>)# </a:t>
            </a:r>
            <a:r>
              <a:rPr lang="en-US" sz="1200" dirty="0" err="1">
                <a:solidFill>
                  <a:srgbClr val="002060"/>
                </a:solidFill>
              </a:rPr>
              <a:t>ip</a:t>
            </a:r>
            <a:r>
              <a:rPr lang="en-US" sz="1200" dirty="0">
                <a:solidFill>
                  <a:srgbClr val="002060"/>
                </a:solidFill>
              </a:rPr>
              <a:t> address 1.1.1.1 </a:t>
            </a:r>
            <a:r>
              <a:rPr lang="en-US" sz="1200" dirty="0" smtClean="0">
                <a:solidFill>
                  <a:srgbClr val="002060"/>
                </a:solidFill>
              </a:rPr>
              <a:t>255.255.255.255</a:t>
            </a:r>
          </a:p>
          <a:p>
            <a:r>
              <a:rPr lang="en-US" sz="1200" dirty="0" smtClean="0">
                <a:solidFill>
                  <a:srgbClr val="002060"/>
                </a:solidFill>
              </a:rPr>
              <a:t>R1(</a:t>
            </a:r>
            <a:r>
              <a:rPr lang="en-US" sz="1200" dirty="0" err="1" smtClean="0">
                <a:solidFill>
                  <a:srgbClr val="002060"/>
                </a:solidFill>
              </a:rPr>
              <a:t>config</a:t>
            </a:r>
            <a:r>
              <a:rPr lang="en-US" sz="1200" dirty="0" smtClean="0">
                <a:solidFill>
                  <a:srgbClr val="002060"/>
                </a:solidFill>
              </a:rPr>
              <a:t>-if</a:t>
            </a:r>
            <a:r>
              <a:rPr lang="en-US" sz="1200" dirty="0">
                <a:solidFill>
                  <a:srgbClr val="002060"/>
                </a:solidFill>
              </a:rPr>
              <a:t>)# interface </a:t>
            </a:r>
            <a:r>
              <a:rPr lang="en-US" sz="1200" dirty="0" err="1">
                <a:solidFill>
                  <a:srgbClr val="002060"/>
                </a:solidFill>
              </a:rPr>
              <a:t>fastEthernet</a:t>
            </a:r>
            <a:r>
              <a:rPr lang="en-US" sz="1200" dirty="0">
                <a:solidFill>
                  <a:srgbClr val="002060"/>
                </a:solidFill>
              </a:rPr>
              <a:t> </a:t>
            </a:r>
            <a:r>
              <a:rPr lang="en-US" sz="1200" dirty="0" smtClean="0">
                <a:solidFill>
                  <a:srgbClr val="002060"/>
                </a:solidFill>
              </a:rPr>
              <a:t>0/0</a:t>
            </a:r>
          </a:p>
          <a:p>
            <a:r>
              <a:rPr lang="en-US" sz="1200" dirty="0" smtClean="0">
                <a:solidFill>
                  <a:srgbClr val="002060"/>
                </a:solidFill>
              </a:rPr>
              <a:t>R1(</a:t>
            </a:r>
            <a:r>
              <a:rPr lang="en-US" sz="1200" dirty="0" err="1" smtClean="0">
                <a:solidFill>
                  <a:srgbClr val="002060"/>
                </a:solidFill>
              </a:rPr>
              <a:t>config</a:t>
            </a:r>
            <a:r>
              <a:rPr lang="en-US" sz="1200" dirty="0" smtClean="0">
                <a:solidFill>
                  <a:srgbClr val="002060"/>
                </a:solidFill>
              </a:rPr>
              <a:t>-if</a:t>
            </a:r>
            <a:r>
              <a:rPr lang="en-US" sz="1200" dirty="0">
                <a:solidFill>
                  <a:srgbClr val="002060"/>
                </a:solidFill>
              </a:rPr>
              <a:t>)# </a:t>
            </a:r>
            <a:r>
              <a:rPr lang="en-US" sz="1200" dirty="0" err="1">
                <a:solidFill>
                  <a:srgbClr val="002060"/>
                </a:solidFill>
              </a:rPr>
              <a:t>ip</a:t>
            </a:r>
            <a:r>
              <a:rPr lang="en-US" sz="1200" dirty="0">
                <a:solidFill>
                  <a:srgbClr val="002060"/>
                </a:solidFill>
              </a:rPr>
              <a:t> address 10.10.10.1 255.255.255.252</a:t>
            </a:r>
          </a:p>
        </p:txBody>
      </p:sp>
      <p:sp>
        <p:nvSpPr>
          <p:cNvPr id="7" name="Rectangle 6"/>
          <p:cNvSpPr/>
          <p:nvPr/>
        </p:nvSpPr>
        <p:spPr>
          <a:xfrm>
            <a:off x="473976" y="3034456"/>
            <a:ext cx="5269599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sv-SE" sz="1600" b="1" dirty="0">
                <a:solidFill>
                  <a:srgbClr val="002060"/>
                </a:solidFill>
              </a:rPr>
              <a:t>- </a:t>
            </a:r>
            <a:r>
              <a:rPr lang="sv-SE" sz="1600" b="1" dirty="0" smtClean="0">
                <a:solidFill>
                  <a:srgbClr val="002060"/>
                </a:solidFill>
              </a:rPr>
              <a:t>Konfigurasi </a:t>
            </a:r>
            <a:r>
              <a:rPr lang="sv-SE" sz="1600" b="1" dirty="0">
                <a:solidFill>
                  <a:srgbClr val="002060"/>
                </a:solidFill>
              </a:rPr>
              <a:t>Interior Gateway Protocol (OSPF)</a:t>
            </a:r>
          </a:p>
          <a:p>
            <a:r>
              <a:rPr lang="sv-SE" sz="1600" dirty="0" smtClean="0"/>
              <a:t>   Semua </a:t>
            </a:r>
            <a:r>
              <a:rPr lang="sv-SE" sz="1600" dirty="0"/>
              <a:t>router wajib menjalankan protokol routing </a:t>
            </a:r>
            <a:endParaRPr lang="sv-SE" sz="1600" dirty="0" smtClean="0"/>
          </a:p>
          <a:p>
            <a:r>
              <a:rPr lang="sv-SE" sz="1600" dirty="0"/>
              <a:t> </a:t>
            </a:r>
            <a:r>
              <a:rPr lang="sv-SE" sz="1600" dirty="0" smtClean="0"/>
              <a:t>  (</a:t>
            </a:r>
            <a:r>
              <a:rPr lang="sv-SE" sz="1600" dirty="0"/>
              <a:t>contoh: OSPF) untuk mengenali network backbone. </a:t>
            </a:r>
            <a:endParaRPr lang="sv-SE" sz="1600" dirty="0" smtClean="0"/>
          </a:p>
          <a:p>
            <a:endParaRPr lang="sv-SE" sz="1600" dirty="0"/>
          </a:p>
          <a:p>
            <a:endParaRPr lang="sv-SE" sz="1600" dirty="0" smtClean="0"/>
          </a:p>
          <a:p>
            <a:endParaRPr lang="sv-SE" sz="1600" dirty="0"/>
          </a:p>
          <a:p>
            <a:pPr marL="285750" indent="-285750">
              <a:buFontTx/>
              <a:buChar char="-"/>
            </a:pPr>
            <a:r>
              <a:rPr lang="en-US" sz="1600" b="1" dirty="0" err="1" smtClean="0"/>
              <a:t>Mengaktifkan</a:t>
            </a:r>
            <a:r>
              <a:rPr lang="en-US" sz="1600" b="1" dirty="0" smtClean="0"/>
              <a:t> </a:t>
            </a:r>
            <a:r>
              <a:rPr lang="en-US" sz="1600" b="1" dirty="0"/>
              <a:t>Cisco Express Forwarding (CEF)</a:t>
            </a:r>
            <a:r>
              <a:rPr lang="en-US" sz="1600" dirty="0"/>
              <a:t/>
            </a:r>
            <a:br>
              <a:rPr lang="en-US" sz="1600" dirty="0"/>
            </a:br>
            <a:r>
              <a:rPr lang="en-US" sz="1600" dirty="0" smtClean="0"/>
              <a:t>  MPLS </a:t>
            </a:r>
            <a:r>
              <a:rPr lang="en-US" sz="1600" dirty="0" err="1"/>
              <a:t>membutuhkan</a:t>
            </a:r>
            <a:r>
              <a:rPr lang="en-US" sz="1600" dirty="0"/>
              <a:t> CEF </a:t>
            </a:r>
            <a:r>
              <a:rPr lang="en-US" sz="1600" dirty="0" err="1"/>
              <a:t>untuk</a:t>
            </a:r>
            <a:r>
              <a:rPr lang="en-US" sz="1600" dirty="0"/>
              <a:t> </a:t>
            </a:r>
            <a:r>
              <a:rPr lang="en-US" sz="1600" dirty="0" err="1"/>
              <a:t>beroperasi</a:t>
            </a:r>
            <a:r>
              <a:rPr lang="en-US" sz="1600" dirty="0" smtClean="0"/>
              <a:t>.  </a:t>
            </a:r>
          </a:p>
          <a:p>
            <a:pPr marL="285750" indent="-285750">
              <a:buFontTx/>
              <a:buChar char="-"/>
            </a:pPr>
            <a:endParaRPr lang="en-US" sz="1600" dirty="0"/>
          </a:p>
          <a:p>
            <a:pPr marL="285750" indent="-285750">
              <a:buFontTx/>
              <a:buChar char="-"/>
            </a:pPr>
            <a:endParaRPr lang="en-US" sz="1600" dirty="0"/>
          </a:p>
          <a:p>
            <a:pPr marL="285750" indent="-285750">
              <a:buFontTx/>
              <a:buChar char="-"/>
            </a:pPr>
            <a:r>
              <a:rPr lang="en-US" b="1" dirty="0" err="1"/>
              <a:t>Mengaktifkan</a:t>
            </a:r>
            <a:r>
              <a:rPr lang="en-US" b="1" dirty="0"/>
              <a:t> MPLS LDP (Label Distribution Protocol)</a:t>
            </a:r>
            <a:r>
              <a:rPr lang="en-US" sz="1600" dirty="0"/>
              <a:t/>
            </a:r>
            <a:br>
              <a:rPr lang="en-US" sz="1600" dirty="0"/>
            </a:br>
            <a:r>
              <a:rPr lang="en-US" dirty="0" err="1"/>
              <a:t>Aktifkan</a:t>
            </a:r>
            <a:r>
              <a:rPr lang="en-US" dirty="0"/>
              <a:t> MPLS </a:t>
            </a:r>
            <a:r>
              <a:rPr lang="en-US" dirty="0" err="1"/>
              <a:t>pada</a:t>
            </a:r>
            <a:r>
              <a:rPr lang="en-US" dirty="0"/>
              <a:t> interface yang </a:t>
            </a:r>
            <a:r>
              <a:rPr lang="en-US" dirty="0" err="1"/>
              <a:t>mengarah</a:t>
            </a:r>
            <a:r>
              <a:rPr lang="en-US" dirty="0"/>
              <a:t> </a:t>
            </a:r>
            <a:r>
              <a:rPr lang="en-US" dirty="0" err="1"/>
              <a:t>ke</a:t>
            </a:r>
            <a:r>
              <a:rPr lang="en-US" dirty="0"/>
              <a:t> router provider lain.</a:t>
            </a:r>
            <a:endParaRPr lang="en-US" sz="1600" dirty="0" smtClean="0"/>
          </a:p>
          <a:p>
            <a:pPr marL="285750" indent="-285750">
              <a:buFontTx/>
              <a:buChar char="-"/>
            </a:pPr>
            <a:endParaRPr lang="en-US" sz="1600" dirty="0"/>
          </a:p>
          <a:p>
            <a:pPr marL="285750" indent="-285750">
              <a:buFontTx/>
              <a:buChar char="-"/>
            </a:pPr>
            <a:endParaRPr lang="en-US" sz="1600" dirty="0" smtClean="0"/>
          </a:p>
          <a:p>
            <a:pPr marL="285750" indent="-285750">
              <a:buFontTx/>
              <a:buChar char="-"/>
            </a:pPr>
            <a:endParaRPr lang="en-US" sz="1600" dirty="0"/>
          </a:p>
        </p:txBody>
      </p:sp>
      <p:sp>
        <p:nvSpPr>
          <p:cNvPr id="8" name="Rectangle 7"/>
          <p:cNvSpPr/>
          <p:nvPr/>
        </p:nvSpPr>
        <p:spPr>
          <a:xfrm>
            <a:off x="790575" y="3773120"/>
            <a:ext cx="402431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002060"/>
                </a:solidFill>
              </a:rPr>
              <a:t>R1(</a:t>
            </a:r>
            <a:r>
              <a:rPr lang="en-US" sz="1200" dirty="0" err="1">
                <a:solidFill>
                  <a:srgbClr val="002060"/>
                </a:solidFill>
              </a:rPr>
              <a:t>config</a:t>
            </a:r>
            <a:r>
              <a:rPr lang="en-US" sz="1200" dirty="0">
                <a:solidFill>
                  <a:srgbClr val="002060"/>
                </a:solidFill>
              </a:rPr>
              <a:t>)# router </a:t>
            </a:r>
            <a:r>
              <a:rPr lang="en-US" sz="1200" dirty="0" err="1">
                <a:solidFill>
                  <a:srgbClr val="002060"/>
                </a:solidFill>
              </a:rPr>
              <a:t>ospf</a:t>
            </a:r>
            <a:r>
              <a:rPr lang="en-US" sz="1200" dirty="0">
                <a:solidFill>
                  <a:srgbClr val="002060"/>
                </a:solidFill>
              </a:rPr>
              <a:t> </a:t>
            </a:r>
            <a:r>
              <a:rPr lang="en-US" sz="1200" dirty="0" smtClean="0">
                <a:solidFill>
                  <a:srgbClr val="002060"/>
                </a:solidFill>
              </a:rPr>
              <a:t>1</a:t>
            </a:r>
          </a:p>
          <a:p>
            <a:r>
              <a:rPr lang="en-US" sz="1200" dirty="0" smtClean="0">
                <a:solidFill>
                  <a:srgbClr val="002060"/>
                </a:solidFill>
              </a:rPr>
              <a:t>R1(</a:t>
            </a:r>
            <a:r>
              <a:rPr lang="en-US" sz="1200" dirty="0" err="1" smtClean="0">
                <a:solidFill>
                  <a:srgbClr val="002060"/>
                </a:solidFill>
              </a:rPr>
              <a:t>config</a:t>
            </a:r>
            <a:r>
              <a:rPr lang="en-US" sz="1200" dirty="0" smtClean="0">
                <a:solidFill>
                  <a:srgbClr val="002060"/>
                </a:solidFill>
              </a:rPr>
              <a:t>-router</a:t>
            </a:r>
            <a:r>
              <a:rPr lang="en-US" sz="1200" dirty="0">
                <a:solidFill>
                  <a:srgbClr val="002060"/>
                </a:solidFill>
              </a:rPr>
              <a:t>)# network 1.1.1.1 0.0.0.0 area </a:t>
            </a:r>
            <a:r>
              <a:rPr lang="en-US" sz="1200" dirty="0" smtClean="0">
                <a:solidFill>
                  <a:srgbClr val="002060"/>
                </a:solidFill>
              </a:rPr>
              <a:t>0</a:t>
            </a:r>
          </a:p>
          <a:p>
            <a:r>
              <a:rPr lang="en-US" sz="1200" dirty="0" smtClean="0">
                <a:solidFill>
                  <a:srgbClr val="002060"/>
                </a:solidFill>
              </a:rPr>
              <a:t>R1(</a:t>
            </a:r>
            <a:r>
              <a:rPr lang="en-US" sz="1200" dirty="0" err="1" smtClean="0">
                <a:solidFill>
                  <a:srgbClr val="002060"/>
                </a:solidFill>
              </a:rPr>
              <a:t>config</a:t>
            </a:r>
            <a:r>
              <a:rPr lang="en-US" sz="1200" dirty="0" smtClean="0">
                <a:solidFill>
                  <a:srgbClr val="002060"/>
                </a:solidFill>
              </a:rPr>
              <a:t>-router</a:t>
            </a:r>
            <a:r>
              <a:rPr lang="en-US" sz="1200" dirty="0">
                <a:solidFill>
                  <a:srgbClr val="002060"/>
                </a:solidFill>
              </a:rPr>
              <a:t>)# network 10.10.10.0 0.0.0.3 area 0</a:t>
            </a:r>
          </a:p>
        </p:txBody>
      </p:sp>
      <p:sp>
        <p:nvSpPr>
          <p:cNvPr id="9" name="Rectangle 8"/>
          <p:cNvSpPr/>
          <p:nvPr/>
        </p:nvSpPr>
        <p:spPr>
          <a:xfrm>
            <a:off x="790575" y="5130759"/>
            <a:ext cx="4024313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002060"/>
                </a:solidFill>
              </a:rPr>
              <a:t>R1(</a:t>
            </a:r>
            <a:r>
              <a:rPr lang="en-US" sz="1200" dirty="0" err="1">
                <a:solidFill>
                  <a:srgbClr val="002060"/>
                </a:solidFill>
              </a:rPr>
              <a:t>config</a:t>
            </a:r>
            <a:r>
              <a:rPr lang="en-US" sz="1200" dirty="0">
                <a:solidFill>
                  <a:srgbClr val="002060"/>
                </a:solidFill>
              </a:rPr>
              <a:t>)# </a:t>
            </a:r>
            <a:r>
              <a:rPr lang="en-US" sz="1200" dirty="0" err="1" smtClean="0">
                <a:solidFill>
                  <a:srgbClr val="002060"/>
                </a:solidFill>
              </a:rPr>
              <a:t>ip</a:t>
            </a:r>
            <a:r>
              <a:rPr lang="en-US" sz="1200" dirty="0" smtClean="0">
                <a:solidFill>
                  <a:srgbClr val="002060"/>
                </a:solidFill>
              </a:rPr>
              <a:t> </a:t>
            </a:r>
            <a:r>
              <a:rPr lang="en-US" sz="1200" dirty="0" err="1" smtClean="0">
                <a:solidFill>
                  <a:srgbClr val="002060"/>
                </a:solidFill>
              </a:rPr>
              <a:t>cef</a:t>
            </a:r>
            <a:endParaRPr lang="en-US" sz="1200" dirty="0" smtClean="0">
              <a:solidFill>
                <a:srgbClr val="002060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060174" y="777922"/>
            <a:ext cx="5798452" cy="47705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sv-SE" sz="1200" dirty="0">
                <a:solidFill>
                  <a:srgbClr val="002060"/>
                </a:solidFill>
              </a:rPr>
              <a:t>R1(config)# mpls </a:t>
            </a:r>
            <a:r>
              <a:rPr lang="sv-SE" sz="1200" dirty="0" smtClean="0">
                <a:solidFill>
                  <a:srgbClr val="002060"/>
                </a:solidFill>
              </a:rPr>
              <a:t>ip</a:t>
            </a:r>
          </a:p>
          <a:p>
            <a:r>
              <a:rPr lang="sv-SE" sz="1200" dirty="0" smtClean="0">
                <a:solidFill>
                  <a:srgbClr val="002060"/>
                </a:solidFill>
              </a:rPr>
              <a:t>R1(config</a:t>
            </a:r>
            <a:r>
              <a:rPr lang="sv-SE" sz="1200" dirty="0">
                <a:solidFill>
                  <a:srgbClr val="002060"/>
                </a:solidFill>
              </a:rPr>
              <a:t>)# mpls label protocol </a:t>
            </a:r>
            <a:r>
              <a:rPr lang="sv-SE" sz="1200" dirty="0" smtClean="0">
                <a:solidFill>
                  <a:srgbClr val="002060"/>
                </a:solidFill>
              </a:rPr>
              <a:t>ldp</a:t>
            </a:r>
          </a:p>
          <a:p>
            <a:r>
              <a:rPr lang="sv-SE" sz="1200" dirty="0" smtClean="0">
                <a:solidFill>
                  <a:srgbClr val="002060"/>
                </a:solidFill>
              </a:rPr>
              <a:t>R1(config</a:t>
            </a:r>
            <a:r>
              <a:rPr lang="sv-SE" sz="1200" dirty="0">
                <a:solidFill>
                  <a:srgbClr val="002060"/>
                </a:solidFill>
              </a:rPr>
              <a:t>)# interface fastEthernet </a:t>
            </a:r>
            <a:r>
              <a:rPr lang="sv-SE" sz="1200" dirty="0" smtClean="0">
                <a:solidFill>
                  <a:srgbClr val="002060"/>
                </a:solidFill>
              </a:rPr>
              <a:t>0/0</a:t>
            </a:r>
          </a:p>
          <a:p>
            <a:r>
              <a:rPr lang="sv-SE" sz="1200" dirty="0" smtClean="0">
                <a:solidFill>
                  <a:srgbClr val="002060"/>
                </a:solidFill>
              </a:rPr>
              <a:t>R1(config-if</a:t>
            </a:r>
            <a:r>
              <a:rPr lang="sv-SE" sz="1200" dirty="0">
                <a:solidFill>
                  <a:srgbClr val="002060"/>
                </a:solidFill>
              </a:rPr>
              <a:t>)# mpls ip</a:t>
            </a:r>
            <a:endParaRPr lang="sv-SE" sz="1200" dirty="0" smtClean="0">
              <a:solidFill>
                <a:srgbClr val="002060"/>
              </a:solidFill>
            </a:endParaRPr>
          </a:p>
          <a:p>
            <a:endParaRPr lang="sv-SE" sz="1600" b="1" dirty="0" smtClean="0">
              <a:solidFill>
                <a:srgbClr val="002060"/>
              </a:solidFill>
            </a:endParaRPr>
          </a:p>
          <a:p>
            <a:pPr marL="285750" indent="-285750">
              <a:buFontTx/>
              <a:buChar char="-"/>
            </a:pPr>
            <a:r>
              <a:rPr lang="sv-SE" sz="1600" b="1" dirty="0" smtClean="0">
                <a:solidFill>
                  <a:srgbClr val="002060"/>
                </a:solidFill>
              </a:rPr>
              <a:t>Verifikasi </a:t>
            </a:r>
            <a:r>
              <a:rPr lang="sv-SE" sz="1600" b="1" dirty="0">
                <a:solidFill>
                  <a:srgbClr val="002060"/>
                </a:solidFill>
              </a:rPr>
              <a:t>Konfigurasi </a:t>
            </a:r>
            <a:r>
              <a:rPr lang="sv-SE" sz="1600" b="1" dirty="0" smtClean="0">
                <a:solidFill>
                  <a:srgbClr val="002060"/>
                </a:solidFill>
              </a:rPr>
              <a:t>MPLS</a:t>
            </a:r>
          </a:p>
          <a:p>
            <a:pPr marL="285750" indent="-285750">
              <a:buFontTx/>
              <a:buChar char="-"/>
            </a:pPr>
            <a:r>
              <a:rPr lang="sv-SE" sz="1600" dirty="0"/>
              <a:t>show mpls interfaces: Memastikan MPLS aktif di interface.</a:t>
            </a:r>
          </a:p>
          <a:p>
            <a:pPr marL="285750" indent="-285750">
              <a:buFontTx/>
              <a:buChar char="-"/>
            </a:pPr>
            <a:r>
              <a:rPr lang="sv-SE" sz="1600" dirty="0"/>
              <a:t>show mpls ldp neighbor: Memastikan hubungan tetangga LDP dengan router lain.</a:t>
            </a:r>
          </a:p>
          <a:p>
            <a:pPr marL="285750" indent="-285750">
              <a:buFontTx/>
              <a:buChar char="-"/>
            </a:pPr>
            <a:r>
              <a:rPr lang="sv-SE" sz="1600" dirty="0"/>
              <a:t>show mpls forwarding-table: Melihat label MPLS yang terpasang.</a:t>
            </a:r>
          </a:p>
          <a:p>
            <a:pPr marL="285750" indent="-285750">
              <a:buFontTx/>
              <a:buChar char="-"/>
            </a:pPr>
            <a:r>
              <a:rPr lang="sv-SE" sz="1600" dirty="0"/>
              <a:t>traceroute [IP-Loopback-Tujuan] : Jika muncul label (contoh: 16, 17), maka MPLS </a:t>
            </a:r>
            <a:r>
              <a:rPr lang="sv-SE" sz="1600" dirty="0" smtClean="0"/>
              <a:t>berhasil</a:t>
            </a:r>
          </a:p>
          <a:p>
            <a:pPr marL="285750" indent="-285750">
              <a:buFontTx/>
              <a:buChar char="-"/>
            </a:pPr>
            <a:endParaRPr lang="sv-SE" sz="1600" b="1" dirty="0">
              <a:solidFill>
                <a:srgbClr val="002060"/>
              </a:solidFill>
            </a:endParaRPr>
          </a:p>
          <a:p>
            <a:pPr marL="285750" indent="-285750">
              <a:buFontTx/>
              <a:buChar char="-"/>
            </a:pPr>
            <a:r>
              <a:rPr lang="sv-SE" sz="1600" b="1" dirty="0" smtClean="0">
                <a:solidFill>
                  <a:srgbClr val="002060"/>
                </a:solidFill>
              </a:rPr>
              <a:t>Konfigurasi tambahan</a:t>
            </a:r>
            <a:endParaRPr lang="sv-SE" sz="1600" b="1" dirty="0">
              <a:solidFill>
                <a:srgbClr val="002060"/>
              </a:solidFill>
            </a:endParaRP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sv-SE" sz="1600" dirty="0" smtClean="0"/>
              <a:t>Menyembunyikan </a:t>
            </a:r>
            <a:r>
              <a:rPr lang="sv-SE" sz="1600" dirty="0"/>
              <a:t>Rute Inti: Menonaktifkan propagasi TTL agar jalur inti tidak terlihat dari jaringan pelanggan.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sv-SE" sz="1600" dirty="0"/>
              <a:t>MPLS VPN (L3VPN): Menggunakan BGP untuk melayani pelanggan VPN antar cabang.</a:t>
            </a:r>
          </a:p>
          <a:p>
            <a:endParaRPr lang="sv-SE" sz="1600" dirty="0" smtClean="0"/>
          </a:p>
        </p:txBody>
      </p:sp>
    </p:spTree>
    <p:extLst>
      <p:ext uri="{BB962C8B-B14F-4D97-AF65-F5344CB8AC3E}">
        <p14:creationId xmlns:p14="http://schemas.microsoft.com/office/powerpoint/2010/main" val="37722069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4895332" y="1422400"/>
            <a:ext cx="6743512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600" dirty="0" smtClean="0"/>
              <a:t>Install </a:t>
            </a:r>
            <a:r>
              <a:rPr lang="en-US" sz="1600" dirty="0" err="1"/>
              <a:t>fitur</a:t>
            </a:r>
            <a:r>
              <a:rPr lang="en-US" sz="1600" dirty="0"/>
              <a:t> MPLS </a:t>
            </a:r>
            <a:r>
              <a:rPr lang="en-US" sz="1600" dirty="0" err="1"/>
              <a:t>akan</a:t>
            </a:r>
            <a:r>
              <a:rPr lang="en-US" sz="1600" dirty="0"/>
              <a:t> </a:t>
            </a:r>
            <a:r>
              <a:rPr lang="en-US" sz="1600" dirty="0" err="1"/>
              <a:t>bisa</a:t>
            </a:r>
            <a:r>
              <a:rPr lang="en-US" sz="1600" dirty="0"/>
              <a:t> </a:t>
            </a:r>
            <a:r>
              <a:rPr lang="en-US" sz="1600" dirty="0" err="1"/>
              <a:t>digunakan</a:t>
            </a:r>
            <a:r>
              <a:rPr lang="en-US" sz="1600" dirty="0"/>
              <a:t> </a:t>
            </a:r>
            <a:r>
              <a:rPr lang="en-US" sz="1600" dirty="0" err="1"/>
              <a:t>ketika</a:t>
            </a:r>
            <a:r>
              <a:rPr lang="en-US" sz="1600" dirty="0"/>
              <a:t> package </a:t>
            </a:r>
            <a:r>
              <a:rPr lang="en-US" sz="1600" dirty="0" err="1" smtClean="0"/>
              <a:t>MPLS.npk</a:t>
            </a:r>
            <a:endParaRPr lang="en-US" sz="1600" dirty="0" smtClean="0"/>
          </a:p>
          <a:p>
            <a:pPr algn="just"/>
            <a:endParaRPr lang="en-US" sz="1600" dirty="0"/>
          </a:p>
          <a:p>
            <a:pPr algn="just"/>
            <a:endParaRPr lang="en-US" sz="1600" dirty="0" smtClean="0"/>
          </a:p>
          <a:p>
            <a:pPr algn="just"/>
            <a:r>
              <a:rPr lang="en-US" sz="1600" dirty="0" err="1" smtClean="0"/>
              <a:t>Topologi</a:t>
            </a:r>
            <a:r>
              <a:rPr lang="en-US" sz="1600" dirty="0" smtClean="0"/>
              <a:t> : </a:t>
            </a:r>
            <a:r>
              <a:rPr lang="en-US" sz="1600" dirty="0" err="1" smtClean="0"/>
              <a:t>Konfigurasinya</a:t>
            </a:r>
            <a:r>
              <a:rPr lang="en-US" sz="1600" dirty="0" smtClean="0"/>
              <a:t> </a:t>
            </a:r>
            <a:r>
              <a:rPr lang="en-US" sz="1600" dirty="0" err="1"/>
              <a:t>kita</a:t>
            </a:r>
            <a:r>
              <a:rPr lang="en-US" sz="1600" dirty="0"/>
              <a:t> </a:t>
            </a:r>
            <a:r>
              <a:rPr lang="en-US" sz="1600" dirty="0" err="1"/>
              <a:t>kan</a:t>
            </a:r>
            <a:r>
              <a:rPr lang="en-US" sz="1600" dirty="0"/>
              <a:t> </a:t>
            </a:r>
            <a:r>
              <a:rPr lang="en-US" sz="1600" dirty="0" err="1"/>
              <a:t>membangun</a:t>
            </a:r>
            <a:r>
              <a:rPr lang="en-US" sz="1600" dirty="0"/>
              <a:t> </a:t>
            </a:r>
            <a:r>
              <a:rPr lang="en-US" sz="1600" dirty="0" err="1"/>
              <a:t>jaringan</a:t>
            </a:r>
            <a:r>
              <a:rPr lang="en-US" sz="1600" dirty="0"/>
              <a:t> </a:t>
            </a:r>
            <a:r>
              <a:rPr lang="en-US" sz="1600" dirty="0" err="1"/>
              <a:t>dari</a:t>
            </a:r>
            <a:r>
              <a:rPr lang="en-US" sz="1600" dirty="0"/>
              <a:t> 7 </a:t>
            </a:r>
            <a:r>
              <a:rPr lang="en-US" sz="1600" dirty="0" err="1"/>
              <a:t>routerboard</a:t>
            </a:r>
            <a:r>
              <a:rPr lang="en-US" sz="1600" dirty="0"/>
              <a:t> yang </a:t>
            </a:r>
            <a:r>
              <a:rPr lang="en-US" sz="1600" dirty="0" err="1"/>
              <a:t>masing-masing</a:t>
            </a:r>
            <a:r>
              <a:rPr lang="en-US" sz="1600" dirty="0"/>
              <a:t> </a:t>
            </a:r>
            <a:r>
              <a:rPr lang="en-US" sz="1600" dirty="0" err="1"/>
              <a:t>ada</a:t>
            </a:r>
            <a:r>
              <a:rPr lang="en-US" sz="1600" dirty="0"/>
              <a:t> yang </a:t>
            </a:r>
            <a:r>
              <a:rPr lang="en-US" sz="1600" dirty="0" err="1"/>
              <a:t>menjadi</a:t>
            </a:r>
            <a:r>
              <a:rPr lang="en-US" sz="1600" dirty="0"/>
              <a:t> P (Provider), PE (Provider Edge) </a:t>
            </a:r>
            <a:r>
              <a:rPr lang="en-US" sz="1600" dirty="0" err="1"/>
              <a:t>dan</a:t>
            </a:r>
            <a:r>
              <a:rPr lang="en-US" sz="1600" dirty="0"/>
              <a:t> CE (Customer Edge). </a:t>
            </a:r>
            <a:endParaRPr lang="en-US" sz="1600" dirty="0" smtClean="0"/>
          </a:p>
          <a:p>
            <a:pPr algn="just"/>
            <a:endParaRPr lang="en-US" sz="1600" dirty="0"/>
          </a:p>
          <a:p>
            <a:pPr algn="just"/>
            <a:r>
              <a:rPr lang="en-US" sz="1600" dirty="0"/>
              <a:t>5 router </a:t>
            </a:r>
            <a:r>
              <a:rPr lang="en-US" sz="1600" dirty="0" err="1"/>
              <a:t>akan</a:t>
            </a:r>
            <a:r>
              <a:rPr lang="en-US" sz="1600" dirty="0"/>
              <a:t> </a:t>
            </a:r>
            <a:r>
              <a:rPr lang="en-US" sz="1600" dirty="0" err="1"/>
              <a:t>tergabung</a:t>
            </a:r>
            <a:r>
              <a:rPr lang="en-US" sz="1600" dirty="0"/>
              <a:t> </a:t>
            </a:r>
            <a:r>
              <a:rPr lang="en-US" sz="1600" dirty="0" err="1"/>
              <a:t>dalam</a:t>
            </a:r>
            <a:r>
              <a:rPr lang="en-US" sz="1600" dirty="0"/>
              <a:t> </a:t>
            </a:r>
            <a:r>
              <a:rPr lang="en-US" sz="1600" dirty="0" err="1"/>
              <a:t>jaringan</a:t>
            </a:r>
            <a:r>
              <a:rPr lang="en-US" sz="1600" dirty="0"/>
              <a:t> MPLS (P &amp; PE) </a:t>
            </a:r>
            <a:r>
              <a:rPr lang="en-US" sz="1600" dirty="0" err="1"/>
              <a:t>kemudian</a:t>
            </a:r>
            <a:r>
              <a:rPr lang="en-US" sz="1600" dirty="0"/>
              <a:t> </a:t>
            </a:r>
            <a:r>
              <a:rPr lang="en-US" sz="1600" dirty="0" err="1"/>
              <a:t>dimasing-masing</a:t>
            </a:r>
            <a:r>
              <a:rPr lang="en-US" sz="1600" dirty="0"/>
              <a:t> PE </a:t>
            </a:r>
            <a:r>
              <a:rPr lang="en-US" sz="1600" dirty="0" err="1"/>
              <a:t>terhubung</a:t>
            </a:r>
            <a:r>
              <a:rPr lang="en-US" sz="1600" dirty="0"/>
              <a:t> </a:t>
            </a:r>
            <a:r>
              <a:rPr lang="en-US" sz="1600" dirty="0" err="1"/>
              <a:t>ke</a:t>
            </a:r>
            <a:r>
              <a:rPr lang="en-US" sz="1600" dirty="0"/>
              <a:t> CE yang mana </a:t>
            </a:r>
            <a:r>
              <a:rPr lang="en-US" sz="1600" dirty="0" err="1"/>
              <a:t>komunikasi</a:t>
            </a:r>
            <a:r>
              <a:rPr lang="en-US" sz="1600" dirty="0"/>
              <a:t> LAN </a:t>
            </a:r>
            <a:r>
              <a:rPr lang="en-US" sz="1600" dirty="0" err="1"/>
              <a:t>antar</a:t>
            </a:r>
            <a:r>
              <a:rPr lang="en-US" sz="1600" dirty="0"/>
              <a:t> CE </a:t>
            </a:r>
            <a:r>
              <a:rPr lang="en-US" sz="1600" dirty="0" err="1"/>
              <a:t>adalah</a:t>
            </a:r>
            <a:r>
              <a:rPr lang="en-US" sz="1600" dirty="0"/>
              <a:t> </a:t>
            </a:r>
            <a:r>
              <a:rPr lang="en-US" sz="1600" dirty="0" err="1"/>
              <a:t>satu</a:t>
            </a:r>
            <a:r>
              <a:rPr lang="en-US" sz="1600" dirty="0"/>
              <a:t> segment. </a:t>
            </a:r>
            <a:r>
              <a:rPr lang="en-US" sz="1600" dirty="0" err="1"/>
              <a:t>Supaya</a:t>
            </a:r>
            <a:r>
              <a:rPr lang="en-US" sz="1600" dirty="0"/>
              <a:t> </a:t>
            </a:r>
            <a:r>
              <a:rPr lang="en-US" sz="1600" dirty="0" err="1"/>
              <a:t>dapat</a:t>
            </a:r>
            <a:r>
              <a:rPr lang="en-US" sz="1600" dirty="0"/>
              <a:t> </a:t>
            </a:r>
            <a:r>
              <a:rPr lang="en-US" sz="1600" dirty="0" err="1"/>
              <a:t>komunikasi</a:t>
            </a:r>
            <a:r>
              <a:rPr lang="en-US" sz="1600" dirty="0"/>
              <a:t> </a:t>
            </a:r>
            <a:r>
              <a:rPr lang="en-US" sz="1600" dirty="0" err="1"/>
              <a:t>satu</a:t>
            </a:r>
            <a:r>
              <a:rPr lang="en-US" sz="1600" dirty="0"/>
              <a:t> segment </a:t>
            </a:r>
            <a:r>
              <a:rPr lang="en-US" sz="1600" dirty="0" err="1"/>
              <a:t>nanti</a:t>
            </a:r>
            <a:r>
              <a:rPr lang="en-US" sz="1600" dirty="0"/>
              <a:t> </a:t>
            </a:r>
            <a:r>
              <a:rPr lang="en-US" sz="1600" dirty="0" err="1"/>
              <a:t>kita</a:t>
            </a:r>
            <a:r>
              <a:rPr lang="en-US" sz="1600" dirty="0"/>
              <a:t> </a:t>
            </a:r>
            <a:r>
              <a:rPr lang="en-US" sz="1600" dirty="0" err="1"/>
              <a:t>akan</a:t>
            </a:r>
            <a:r>
              <a:rPr lang="en-US" sz="1600" dirty="0"/>
              <a:t> </a:t>
            </a:r>
            <a:r>
              <a:rPr lang="en-US" sz="1600" dirty="0" err="1"/>
              <a:t>membuat</a:t>
            </a:r>
            <a:r>
              <a:rPr lang="en-US" sz="1600" dirty="0"/>
              <a:t> VPLS Interface yang </a:t>
            </a:r>
            <a:r>
              <a:rPr lang="en-US" sz="1600" dirty="0" err="1"/>
              <a:t>menghubungkan</a:t>
            </a:r>
            <a:r>
              <a:rPr lang="en-US" sz="1600" dirty="0"/>
              <a:t> </a:t>
            </a:r>
            <a:r>
              <a:rPr lang="en-US" sz="1600" dirty="0" err="1"/>
              <a:t>antar</a:t>
            </a:r>
            <a:r>
              <a:rPr lang="en-US" sz="1600" dirty="0"/>
              <a:t> PE </a:t>
            </a:r>
            <a:r>
              <a:rPr lang="en-US" sz="1600" dirty="0" err="1"/>
              <a:t>kemudian</a:t>
            </a:r>
            <a:r>
              <a:rPr lang="en-US" sz="1600" dirty="0"/>
              <a:t> </a:t>
            </a:r>
            <a:r>
              <a:rPr lang="en-US" sz="1600" dirty="0" err="1"/>
              <a:t>dilakukan</a:t>
            </a:r>
            <a:r>
              <a:rPr lang="en-US" sz="1600" dirty="0"/>
              <a:t> Bridging </a:t>
            </a:r>
            <a:r>
              <a:rPr lang="en-US" sz="1600" dirty="0" err="1"/>
              <a:t>dengan</a:t>
            </a:r>
            <a:r>
              <a:rPr lang="en-US" sz="1600" dirty="0"/>
              <a:t> interface yang </a:t>
            </a:r>
            <a:r>
              <a:rPr lang="en-US" sz="1600" dirty="0" err="1"/>
              <a:t>terhubung</a:t>
            </a:r>
            <a:r>
              <a:rPr lang="en-US" sz="1600" dirty="0"/>
              <a:t> </a:t>
            </a:r>
            <a:r>
              <a:rPr lang="en-US" sz="1600" dirty="0" err="1"/>
              <a:t>ke</a:t>
            </a:r>
            <a:r>
              <a:rPr lang="en-US" sz="1600" dirty="0"/>
              <a:t> CE</a:t>
            </a:r>
            <a:r>
              <a:rPr lang="en-US" sz="1600" dirty="0" smtClean="0"/>
              <a:t>.</a:t>
            </a:r>
          </a:p>
          <a:p>
            <a:pPr algn="just"/>
            <a:endParaRPr lang="en-US" sz="1600" dirty="0"/>
          </a:p>
          <a:p>
            <a:pPr algn="just"/>
            <a:r>
              <a:rPr lang="en-US" sz="1600" dirty="0" err="1"/>
              <a:t>komunikasi</a:t>
            </a:r>
            <a:r>
              <a:rPr lang="en-US" sz="1600" dirty="0"/>
              <a:t> </a:t>
            </a:r>
            <a:r>
              <a:rPr lang="en-US" sz="1600" dirty="0" err="1"/>
              <a:t>perangkat</a:t>
            </a:r>
            <a:r>
              <a:rPr lang="en-US" sz="1600" dirty="0"/>
              <a:t> di </a:t>
            </a:r>
            <a:r>
              <a:rPr lang="en-US" sz="1600" dirty="0" err="1"/>
              <a:t>jaringan</a:t>
            </a:r>
            <a:r>
              <a:rPr lang="en-US" sz="1600" dirty="0"/>
              <a:t> MPLS </a:t>
            </a:r>
            <a:r>
              <a:rPr lang="en-US" sz="1600" dirty="0" err="1"/>
              <a:t>kita</a:t>
            </a:r>
            <a:r>
              <a:rPr lang="en-US" sz="1600" dirty="0"/>
              <a:t> </a:t>
            </a:r>
            <a:r>
              <a:rPr lang="en-US" sz="1600" dirty="0" err="1"/>
              <a:t>akan</a:t>
            </a:r>
            <a:r>
              <a:rPr lang="en-US" sz="1600" dirty="0"/>
              <a:t> </a:t>
            </a:r>
            <a:r>
              <a:rPr lang="en-US" sz="1600" dirty="0" err="1"/>
              <a:t>menggunakan</a:t>
            </a:r>
            <a:r>
              <a:rPr lang="en-US" sz="1600" dirty="0"/>
              <a:t> IP Loopback </a:t>
            </a:r>
            <a:r>
              <a:rPr lang="en-US" sz="1600" dirty="0" err="1"/>
              <a:t>dimasing-masing</a:t>
            </a:r>
            <a:r>
              <a:rPr lang="en-US" sz="1600" dirty="0"/>
              <a:t> </a:t>
            </a:r>
            <a:r>
              <a:rPr lang="en-US" sz="1600" dirty="0" err="1"/>
              <a:t>perangkat</a:t>
            </a:r>
            <a:r>
              <a:rPr lang="en-US" sz="1600" dirty="0"/>
              <a:t>. </a:t>
            </a:r>
            <a:r>
              <a:rPr lang="en-US" sz="1600" dirty="0" err="1"/>
              <a:t>Supaya</a:t>
            </a:r>
            <a:r>
              <a:rPr lang="en-US" sz="1600" dirty="0"/>
              <a:t> IP Loopback </a:t>
            </a:r>
            <a:r>
              <a:rPr lang="en-US" sz="1600" dirty="0" err="1"/>
              <a:t>ini</a:t>
            </a:r>
            <a:r>
              <a:rPr lang="en-US" sz="1600" dirty="0"/>
              <a:t> </a:t>
            </a:r>
            <a:r>
              <a:rPr lang="en-US" sz="1600" dirty="0" err="1"/>
              <a:t>dapat</a:t>
            </a:r>
            <a:r>
              <a:rPr lang="en-US" sz="1600" dirty="0"/>
              <a:t> </a:t>
            </a:r>
            <a:r>
              <a:rPr lang="en-US" sz="1600" dirty="0" err="1"/>
              <a:t>diakses</a:t>
            </a:r>
            <a:r>
              <a:rPr lang="en-US" sz="1600" dirty="0"/>
              <a:t> di </a:t>
            </a:r>
            <a:r>
              <a:rPr lang="en-US" sz="1600" dirty="0" err="1"/>
              <a:t>semua</a:t>
            </a:r>
            <a:r>
              <a:rPr lang="en-US" sz="1600" dirty="0"/>
              <a:t> </a:t>
            </a:r>
            <a:r>
              <a:rPr lang="en-US" sz="1600" dirty="0" err="1"/>
              <a:t>perangkat</a:t>
            </a:r>
            <a:r>
              <a:rPr lang="en-US" sz="1600" dirty="0"/>
              <a:t> </a:t>
            </a:r>
            <a:r>
              <a:rPr lang="en-US" sz="1600" dirty="0" err="1"/>
              <a:t>kita</a:t>
            </a:r>
            <a:r>
              <a:rPr lang="en-US" sz="1600" dirty="0"/>
              <a:t> </a:t>
            </a:r>
            <a:r>
              <a:rPr lang="en-US" sz="1600" dirty="0" err="1"/>
              <a:t>akan</a:t>
            </a:r>
            <a:r>
              <a:rPr lang="en-US" sz="1600" dirty="0"/>
              <a:t> </a:t>
            </a:r>
            <a:r>
              <a:rPr lang="en-US" sz="1600" dirty="0" err="1"/>
              <a:t>melakukan</a:t>
            </a:r>
            <a:r>
              <a:rPr lang="en-US" sz="1600" dirty="0"/>
              <a:t> routing </a:t>
            </a:r>
            <a:r>
              <a:rPr lang="en-US" sz="1600" dirty="0" err="1"/>
              <a:t>dinamic</a:t>
            </a:r>
            <a:r>
              <a:rPr lang="en-US" sz="1600" dirty="0"/>
              <a:t> </a:t>
            </a:r>
            <a:r>
              <a:rPr lang="en-US" sz="1600" dirty="0" err="1"/>
              <a:t>menggunakan</a:t>
            </a:r>
            <a:r>
              <a:rPr lang="en-US" sz="1600" dirty="0"/>
              <a:t> OSPF. IP Loopback </a:t>
            </a:r>
            <a:r>
              <a:rPr lang="en-US" sz="1600" dirty="0" err="1"/>
              <a:t>ini</a:t>
            </a:r>
            <a:r>
              <a:rPr lang="en-US" sz="1600" dirty="0"/>
              <a:t> </a:t>
            </a:r>
            <a:r>
              <a:rPr lang="en-US" sz="1600" dirty="0" err="1"/>
              <a:t>akan</a:t>
            </a:r>
            <a:r>
              <a:rPr lang="en-US" sz="1600" dirty="0"/>
              <a:t> </a:t>
            </a:r>
            <a:r>
              <a:rPr lang="en-US" sz="1600" dirty="0" err="1"/>
              <a:t>digunakan</a:t>
            </a:r>
            <a:r>
              <a:rPr lang="en-US" sz="1600" dirty="0"/>
              <a:t> </a:t>
            </a:r>
            <a:r>
              <a:rPr lang="en-US" sz="1600" dirty="0" err="1"/>
              <a:t>sebagai</a:t>
            </a:r>
            <a:r>
              <a:rPr lang="en-US" sz="1600" dirty="0"/>
              <a:t> LSR-ID </a:t>
            </a:r>
            <a:r>
              <a:rPr lang="en-US" sz="1600" dirty="0" err="1"/>
              <a:t>dan</a:t>
            </a:r>
            <a:r>
              <a:rPr lang="en-US" sz="1600" dirty="0"/>
              <a:t> </a:t>
            </a:r>
            <a:r>
              <a:rPr lang="en-US" sz="1600" dirty="0" err="1"/>
              <a:t>juga</a:t>
            </a:r>
            <a:r>
              <a:rPr lang="en-US" sz="1600" dirty="0"/>
              <a:t> Transport Address </a:t>
            </a:r>
            <a:r>
              <a:rPr lang="en-US" sz="1600" dirty="0" err="1"/>
              <a:t>untuk</a:t>
            </a:r>
            <a:r>
              <a:rPr lang="en-US" sz="1600" dirty="0"/>
              <a:t> </a:t>
            </a:r>
            <a:r>
              <a:rPr lang="en-US" sz="1600" dirty="0" err="1"/>
              <a:t>komunikasi</a:t>
            </a:r>
            <a:r>
              <a:rPr lang="en-US" sz="1600" dirty="0"/>
              <a:t> MPLS.</a:t>
            </a:r>
            <a:endParaRPr lang="en-US" sz="1600" dirty="0"/>
          </a:p>
        </p:txBody>
      </p:sp>
      <p:sp>
        <p:nvSpPr>
          <p:cNvPr id="2" name="Rectangle 1"/>
          <p:cNvSpPr/>
          <p:nvPr/>
        </p:nvSpPr>
        <p:spPr>
          <a:xfrm>
            <a:off x="4615932" y="501134"/>
            <a:ext cx="316048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chemeClr val="bg2">
                    <a:lumMod val="50000"/>
                  </a:schemeClr>
                </a:solidFill>
              </a:rPr>
              <a:t>MPLS </a:t>
            </a:r>
            <a:r>
              <a:rPr lang="en-US" sz="2800" dirty="0" err="1">
                <a:solidFill>
                  <a:schemeClr val="bg2">
                    <a:lumMod val="50000"/>
                  </a:schemeClr>
                </a:solidFill>
              </a:rPr>
              <a:t>pada</a:t>
            </a:r>
            <a:r>
              <a:rPr lang="en-US" sz="28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bg2">
                    <a:lumMod val="50000"/>
                  </a:schemeClr>
                </a:solidFill>
              </a:rPr>
              <a:t>MikroTik</a:t>
            </a:r>
            <a:endParaRPr lang="en-US" sz="2800" dirty="0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900" y="1024354"/>
            <a:ext cx="3886200" cy="380047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850900" y="5009495"/>
            <a:ext cx="387067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 smtClean="0">
                <a:solidFill>
                  <a:schemeClr val="bg2">
                    <a:lumMod val="50000"/>
                  </a:schemeClr>
                </a:solidFill>
              </a:rPr>
              <a:t>Fig 1.Topologi Router Board </a:t>
            </a:r>
            <a:r>
              <a:rPr lang="en-US" sz="1600" dirty="0" err="1" smtClean="0">
                <a:solidFill>
                  <a:schemeClr val="bg2">
                    <a:lumMod val="50000"/>
                  </a:schemeClr>
                </a:solidFill>
              </a:rPr>
              <a:t>dengan</a:t>
            </a:r>
            <a:r>
              <a:rPr lang="en-US" sz="1600" dirty="0" smtClean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sz="1600" dirty="0" err="1" smtClean="0">
                <a:solidFill>
                  <a:schemeClr val="bg2">
                    <a:lumMod val="50000"/>
                  </a:schemeClr>
                </a:solidFill>
              </a:rPr>
              <a:t>MikroTik</a:t>
            </a:r>
            <a:endParaRPr lang="en-US" sz="16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143456" y="4423"/>
            <a:ext cx="415754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chemeClr val="bg2">
                    <a:lumMod val="50000"/>
                  </a:schemeClr>
                </a:solidFill>
              </a:rPr>
              <a:t>MPLS </a:t>
            </a:r>
            <a:r>
              <a:rPr lang="en-US" sz="2800" dirty="0" err="1">
                <a:solidFill>
                  <a:schemeClr val="bg2">
                    <a:lumMod val="50000"/>
                  </a:schemeClr>
                </a:solidFill>
              </a:rPr>
              <a:t>pada</a:t>
            </a:r>
            <a:r>
              <a:rPr lang="en-US" sz="28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sz="2800" dirty="0" err="1" smtClean="0">
                <a:solidFill>
                  <a:schemeClr val="bg2">
                    <a:lumMod val="50000"/>
                  </a:schemeClr>
                </a:solidFill>
              </a:rPr>
              <a:t>MikroTik</a:t>
            </a:r>
            <a:r>
              <a:rPr lang="en-US" sz="2800" dirty="0" smtClean="0">
                <a:solidFill>
                  <a:schemeClr val="bg2">
                    <a:lumMod val="50000"/>
                  </a:schemeClr>
                </a:solidFill>
              </a:rPr>
              <a:t>(</a:t>
            </a:r>
            <a:r>
              <a:rPr lang="en-US" sz="2800" dirty="0" err="1" smtClean="0">
                <a:solidFill>
                  <a:schemeClr val="bg2">
                    <a:lumMod val="50000"/>
                  </a:schemeClr>
                </a:solidFill>
              </a:rPr>
              <a:t>Con’t</a:t>
            </a:r>
            <a:r>
              <a:rPr lang="en-US" sz="2800" dirty="0" smtClean="0">
                <a:solidFill>
                  <a:schemeClr val="bg2">
                    <a:lumMod val="50000"/>
                  </a:schemeClr>
                </a:solidFill>
              </a:rPr>
              <a:t>)</a:t>
            </a:r>
            <a:endParaRPr lang="en-US" sz="2800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12817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274759" y="854052"/>
            <a:ext cx="4898929" cy="60016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600" dirty="0"/>
              <a:t>ROUTING </a:t>
            </a:r>
            <a:r>
              <a:rPr lang="en-US" sz="1600" dirty="0" smtClean="0"/>
              <a:t>PROTOCOL</a:t>
            </a:r>
          </a:p>
          <a:p>
            <a:pPr algn="just"/>
            <a:r>
              <a:rPr lang="en-US" sz="1600" dirty="0"/>
              <a:t>Routing protocol </a:t>
            </a:r>
            <a:r>
              <a:rPr lang="en-US" sz="1600" dirty="0" err="1"/>
              <a:t>adalah</a:t>
            </a:r>
            <a:r>
              <a:rPr lang="en-US" sz="1600" dirty="0"/>
              <a:t> proses </a:t>
            </a:r>
            <a:r>
              <a:rPr lang="en-US" sz="1600" dirty="0" err="1"/>
              <a:t>mengkomunikasikan</a:t>
            </a:r>
            <a:r>
              <a:rPr lang="en-US" sz="1600" dirty="0"/>
              <a:t> </a:t>
            </a:r>
            <a:r>
              <a:rPr lang="en-US" sz="1600" dirty="0" err="1"/>
              <a:t>antara</a:t>
            </a:r>
            <a:r>
              <a:rPr lang="en-US" sz="1600" dirty="0"/>
              <a:t> </a:t>
            </a:r>
            <a:r>
              <a:rPr lang="en-US" sz="1600" dirty="0" err="1"/>
              <a:t>routerrouter</a:t>
            </a:r>
            <a:r>
              <a:rPr lang="en-US" sz="1600" dirty="0"/>
              <a:t>, routing protocol </a:t>
            </a:r>
            <a:r>
              <a:rPr lang="en-US" sz="1600" dirty="0" err="1"/>
              <a:t>juga</a:t>
            </a:r>
            <a:r>
              <a:rPr lang="en-US" sz="1600" dirty="0"/>
              <a:t> </a:t>
            </a:r>
            <a:r>
              <a:rPr lang="en-US" sz="1600" dirty="0" err="1"/>
              <a:t>mengijinkan</a:t>
            </a:r>
            <a:r>
              <a:rPr lang="en-US" sz="1600" dirty="0"/>
              <a:t> router </a:t>
            </a:r>
            <a:r>
              <a:rPr lang="en-US" sz="1600" dirty="0" err="1"/>
              <a:t>untuk</a:t>
            </a:r>
            <a:r>
              <a:rPr lang="en-US" sz="1600" dirty="0"/>
              <a:t> sharing </a:t>
            </a:r>
            <a:r>
              <a:rPr lang="en-US" sz="1600" dirty="0" err="1" smtClean="0"/>
              <a:t>informasi</a:t>
            </a:r>
            <a:r>
              <a:rPr lang="en-US" sz="1600" dirty="0"/>
              <a:t> </a:t>
            </a:r>
            <a:r>
              <a:rPr lang="en-US" sz="1600" dirty="0" err="1"/>
              <a:t>tentang</a:t>
            </a:r>
            <a:r>
              <a:rPr lang="en-US" sz="1600" dirty="0"/>
              <a:t> </a:t>
            </a:r>
            <a:r>
              <a:rPr lang="en-US" sz="1600" dirty="0" err="1"/>
              <a:t>jaringan</a:t>
            </a:r>
            <a:r>
              <a:rPr lang="en-US" sz="1600" dirty="0"/>
              <a:t> </a:t>
            </a:r>
            <a:r>
              <a:rPr lang="en-US" sz="1600" dirty="0" err="1"/>
              <a:t>dan</a:t>
            </a:r>
            <a:r>
              <a:rPr lang="en-US" sz="1600" dirty="0"/>
              <a:t> </a:t>
            </a:r>
            <a:r>
              <a:rPr lang="en-US" sz="1600" dirty="0" err="1"/>
              <a:t>koneksi</a:t>
            </a:r>
            <a:r>
              <a:rPr lang="en-US" sz="1600" dirty="0"/>
              <a:t> </a:t>
            </a:r>
            <a:r>
              <a:rPr lang="en-US" sz="1600" dirty="0" err="1"/>
              <a:t>antar</a:t>
            </a:r>
            <a:r>
              <a:rPr lang="en-US" sz="1600" dirty="0"/>
              <a:t> router. Router </a:t>
            </a:r>
            <a:r>
              <a:rPr lang="en-US" sz="1600" dirty="0" err="1"/>
              <a:t>menggunakan</a:t>
            </a:r>
            <a:r>
              <a:rPr lang="en-US" sz="1600" dirty="0"/>
              <a:t> </a:t>
            </a:r>
            <a:r>
              <a:rPr lang="en-US" sz="1600" dirty="0" err="1"/>
              <a:t>informasi</a:t>
            </a:r>
            <a:r>
              <a:rPr lang="en-US" sz="1600" dirty="0"/>
              <a:t> </a:t>
            </a:r>
            <a:r>
              <a:rPr lang="en-US" sz="1600" dirty="0" err="1"/>
              <a:t>ini</a:t>
            </a:r>
            <a:r>
              <a:rPr lang="en-US" sz="1600" dirty="0"/>
              <a:t> </a:t>
            </a:r>
            <a:r>
              <a:rPr lang="en-US" sz="1600" dirty="0" err="1"/>
              <a:t>untuk</a:t>
            </a:r>
            <a:r>
              <a:rPr lang="en-US" sz="1600" dirty="0"/>
              <a:t> </a:t>
            </a:r>
            <a:r>
              <a:rPr lang="en-US" sz="1600" dirty="0" err="1"/>
              <a:t>membangun</a:t>
            </a:r>
            <a:r>
              <a:rPr lang="en-US" sz="1600" dirty="0"/>
              <a:t> </a:t>
            </a:r>
            <a:r>
              <a:rPr lang="en-US" sz="1600" dirty="0" err="1"/>
              <a:t>dan</a:t>
            </a:r>
            <a:r>
              <a:rPr lang="en-US" sz="1600" dirty="0"/>
              <a:t> </a:t>
            </a:r>
            <a:r>
              <a:rPr lang="en-US" sz="1600" dirty="0" err="1"/>
              <a:t>memperbaiki</a:t>
            </a:r>
            <a:r>
              <a:rPr lang="en-US" sz="1600" dirty="0"/>
              <a:t> </a:t>
            </a:r>
            <a:r>
              <a:rPr lang="en-US" sz="1600" dirty="0" err="1"/>
              <a:t>tabel</a:t>
            </a:r>
            <a:r>
              <a:rPr lang="en-US" sz="1600" dirty="0"/>
              <a:t> </a:t>
            </a:r>
            <a:r>
              <a:rPr lang="en-US" sz="1600" dirty="0" err="1" smtClean="0"/>
              <a:t>routingnya</a:t>
            </a:r>
            <a:r>
              <a:rPr lang="en-US" sz="1600" dirty="0" smtClean="0"/>
              <a:t>.</a:t>
            </a:r>
          </a:p>
          <a:p>
            <a:pPr algn="just"/>
            <a:endParaRPr lang="en-US" sz="1600" dirty="0"/>
          </a:p>
          <a:p>
            <a:pPr algn="just"/>
            <a:r>
              <a:rPr lang="en-US" sz="1600" dirty="0" smtClean="0"/>
              <a:t>Router </a:t>
            </a:r>
            <a:r>
              <a:rPr lang="en-US" sz="1600" dirty="0" err="1"/>
              <a:t>adalah</a:t>
            </a:r>
            <a:r>
              <a:rPr lang="en-US" sz="1600" dirty="0"/>
              <a:t> </a:t>
            </a:r>
            <a:r>
              <a:rPr lang="en-US" sz="1600" dirty="0" err="1"/>
              <a:t>sebuah</a:t>
            </a:r>
            <a:r>
              <a:rPr lang="en-US" sz="1600" dirty="0"/>
              <a:t> </a:t>
            </a:r>
            <a:r>
              <a:rPr lang="en-US" sz="1600" dirty="0" err="1"/>
              <a:t>alat</a:t>
            </a:r>
            <a:r>
              <a:rPr lang="en-US" sz="1600" dirty="0"/>
              <a:t> yang </a:t>
            </a:r>
            <a:r>
              <a:rPr lang="en-US" sz="1600" dirty="0" err="1"/>
              <a:t>mengirimkan</a:t>
            </a:r>
            <a:r>
              <a:rPr lang="en-US" sz="1600" dirty="0"/>
              <a:t> </a:t>
            </a:r>
            <a:r>
              <a:rPr lang="en-US" sz="1600" dirty="0" err="1"/>
              <a:t>paket</a:t>
            </a:r>
            <a:r>
              <a:rPr lang="en-US" sz="1600" dirty="0"/>
              <a:t> data </a:t>
            </a:r>
            <a:r>
              <a:rPr lang="en-US" sz="1600" dirty="0" err="1"/>
              <a:t>melalui</a:t>
            </a:r>
            <a:r>
              <a:rPr lang="en-US" sz="1600" dirty="0"/>
              <a:t> </a:t>
            </a:r>
            <a:r>
              <a:rPr lang="en-US" sz="1600" dirty="0" err="1"/>
              <a:t>sebuah</a:t>
            </a:r>
            <a:r>
              <a:rPr lang="en-US" sz="1600" dirty="0"/>
              <a:t> </a:t>
            </a:r>
            <a:r>
              <a:rPr lang="en-US" sz="1600" dirty="0" err="1"/>
              <a:t>jaringan</a:t>
            </a:r>
            <a:r>
              <a:rPr lang="en-US" sz="1600" dirty="0"/>
              <a:t> </a:t>
            </a:r>
            <a:r>
              <a:rPr lang="en-US" sz="1600" dirty="0" err="1"/>
              <a:t>atau</a:t>
            </a:r>
            <a:r>
              <a:rPr lang="en-US" sz="1600" dirty="0"/>
              <a:t> internet </a:t>
            </a:r>
            <a:r>
              <a:rPr lang="en-US" sz="1600" dirty="0" err="1"/>
              <a:t>menuju</a:t>
            </a:r>
            <a:r>
              <a:rPr lang="en-US" sz="1600" dirty="0"/>
              <a:t> </a:t>
            </a:r>
            <a:r>
              <a:rPr lang="en-US" sz="1600" dirty="0" err="1"/>
              <a:t>tujuannya</a:t>
            </a:r>
            <a:r>
              <a:rPr lang="en-US" sz="1600" dirty="0"/>
              <a:t>, </a:t>
            </a:r>
            <a:r>
              <a:rPr lang="en-US" sz="1600" dirty="0" err="1"/>
              <a:t>melalui</a:t>
            </a:r>
            <a:r>
              <a:rPr lang="en-US" sz="1600" dirty="0"/>
              <a:t> </a:t>
            </a:r>
            <a:r>
              <a:rPr lang="en-US" sz="1600" dirty="0" err="1"/>
              <a:t>sebuah</a:t>
            </a:r>
            <a:r>
              <a:rPr lang="en-US" sz="1600" dirty="0"/>
              <a:t> proses yang </a:t>
            </a:r>
            <a:r>
              <a:rPr lang="en-US" sz="1600" dirty="0" err="1"/>
              <a:t>dikenal</a:t>
            </a:r>
            <a:r>
              <a:rPr lang="en-US" sz="1600" dirty="0"/>
              <a:t> </a:t>
            </a:r>
            <a:r>
              <a:rPr lang="en-US" sz="1600" dirty="0" err="1"/>
              <a:t>sebagai</a:t>
            </a:r>
            <a:r>
              <a:rPr lang="en-US" sz="1600" dirty="0"/>
              <a:t> routing. Router </a:t>
            </a:r>
            <a:r>
              <a:rPr lang="en-US" sz="1600" dirty="0" err="1"/>
              <a:t>sering</a:t>
            </a:r>
            <a:r>
              <a:rPr lang="en-US" sz="1600" dirty="0"/>
              <a:t> </a:t>
            </a:r>
            <a:r>
              <a:rPr lang="en-US" sz="1600" dirty="0" err="1"/>
              <a:t>digunakan</a:t>
            </a:r>
            <a:r>
              <a:rPr lang="en-US" sz="1600" dirty="0"/>
              <a:t> </a:t>
            </a:r>
            <a:r>
              <a:rPr lang="en-US" sz="1600" dirty="0" err="1"/>
              <a:t>untuk</a:t>
            </a:r>
            <a:r>
              <a:rPr lang="en-US" sz="1600" dirty="0"/>
              <a:t> </a:t>
            </a:r>
            <a:r>
              <a:rPr lang="en-US" sz="1600" dirty="0" err="1"/>
              <a:t>menghubungkan</a:t>
            </a:r>
            <a:r>
              <a:rPr lang="en-US" sz="1600" dirty="0"/>
              <a:t> </a:t>
            </a:r>
            <a:r>
              <a:rPr lang="en-US" sz="1600" dirty="0" err="1"/>
              <a:t>beberapa</a:t>
            </a:r>
            <a:r>
              <a:rPr lang="en-US" sz="1600" dirty="0"/>
              <a:t> </a:t>
            </a:r>
            <a:r>
              <a:rPr lang="en-US" sz="1600" dirty="0" err="1"/>
              <a:t>jaringan</a:t>
            </a:r>
            <a:r>
              <a:rPr lang="en-US" sz="1600" dirty="0"/>
              <a:t>. </a:t>
            </a:r>
            <a:r>
              <a:rPr lang="en-US" sz="1600" dirty="0" err="1"/>
              <a:t>Baik</a:t>
            </a:r>
            <a:r>
              <a:rPr lang="en-US" sz="1600" dirty="0"/>
              <a:t> </a:t>
            </a:r>
            <a:r>
              <a:rPr lang="en-US" sz="1600" dirty="0" err="1"/>
              <a:t>jaringan</a:t>
            </a:r>
            <a:r>
              <a:rPr lang="en-US" sz="1600" dirty="0"/>
              <a:t> yang </a:t>
            </a:r>
            <a:r>
              <a:rPr lang="en-US" sz="1600" dirty="0" err="1"/>
              <a:t>sama</a:t>
            </a:r>
            <a:r>
              <a:rPr lang="en-US" sz="1600" dirty="0"/>
              <a:t> </a:t>
            </a:r>
            <a:r>
              <a:rPr lang="en-US" sz="1600" dirty="0" err="1"/>
              <a:t>maupun</a:t>
            </a:r>
            <a:r>
              <a:rPr lang="en-US" sz="1600" dirty="0"/>
              <a:t> </a:t>
            </a:r>
            <a:r>
              <a:rPr lang="en-US" sz="1600" dirty="0" err="1"/>
              <a:t>berbeda</a:t>
            </a:r>
            <a:r>
              <a:rPr lang="en-US" sz="1600" dirty="0"/>
              <a:t>. Router </a:t>
            </a:r>
            <a:r>
              <a:rPr lang="en-US" sz="1600" dirty="0" err="1"/>
              <a:t>juga</a:t>
            </a:r>
            <a:r>
              <a:rPr lang="en-US" sz="1600" dirty="0"/>
              <a:t> </a:t>
            </a:r>
            <a:r>
              <a:rPr lang="en-US" sz="1600" dirty="0" err="1"/>
              <a:t>digunakan</a:t>
            </a:r>
            <a:r>
              <a:rPr lang="en-US" sz="1600" dirty="0"/>
              <a:t> </a:t>
            </a:r>
            <a:r>
              <a:rPr lang="en-US" sz="1600" dirty="0" err="1"/>
              <a:t>untuk</a:t>
            </a:r>
            <a:r>
              <a:rPr lang="en-US" sz="1600" dirty="0"/>
              <a:t> </a:t>
            </a:r>
            <a:r>
              <a:rPr lang="en-US" sz="1600" dirty="0" err="1"/>
              <a:t>membagi</a:t>
            </a:r>
            <a:r>
              <a:rPr lang="en-US" sz="1600" dirty="0"/>
              <a:t> </a:t>
            </a:r>
            <a:r>
              <a:rPr lang="en-US" sz="1600" dirty="0" err="1"/>
              <a:t>jaringan</a:t>
            </a:r>
            <a:r>
              <a:rPr lang="en-US" sz="1600" dirty="0"/>
              <a:t> </a:t>
            </a:r>
            <a:r>
              <a:rPr lang="en-US" sz="1600" dirty="0" err="1"/>
              <a:t>besar</a:t>
            </a:r>
            <a:r>
              <a:rPr lang="en-US" sz="1600" dirty="0"/>
              <a:t> </a:t>
            </a:r>
            <a:r>
              <a:rPr lang="en-US" sz="1600" dirty="0" err="1"/>
              <a:t>menjadi</a:t>
            </a:r>
            <a:r>
              <a:rPr lang="en-US" sz="1600" dirty="0"/>
              <a:t> </a:t>
            </a:r>
            <a:r>
              <a:rPr lang="en-US" sz="1600" dirty="0" err="1"/>
              <a:t>beberapa</a:t>
            </a:r>
            <a:r>
              <a:rPr lang="en-US" sz="1600" dirty="0"/>
              <a:t> </a:t>
            </a:r>
            <a:r>
              <a:rPr lang="en-US" sz="1600" dirty="0" err="1"/>
              <a:t>buah</a:t>
            </a:r>
            <a:r>
              <a:rPr lang="en-US" sz="1600" dirty="0"/>
              <a:t> subnetwork (network-network </a:t>
            </a:r>
            <a:r>
              <a:rPr lang="en-US" sz="1600" dirty="0" err="1"/>
              <a:t>kecil</a:t>
            </a:r>
            <a:r>
              <a:rPr lang="en-US" sz="1600" dirty="0"/>
              <a:t>). </a:t>
            </a:r>
            <a:r>
              <a:rPr lang="en-US" sz="1600" dirty="0" err="1"/>
              <a:t>Informasi</a:t>
            </a:r>
            <a:r>
              <a:rPr lang="en-US" sz="1600" dirty="0"/>
              <a:t> yang </a:t>
            </a:r>
            <a:r>
              <a:rPr lang="en-US" sz="1600" dirty="0" err="1"/>
              <a:t>dibutuhkan</a:t>
            </a:r>
            <a:r>
              <a:rPr lang="en-US" sz="1600" dirty="0"/>
              <a:t> router </a:t>
            </a:r>
            <a:r>
              <a:rPr lang="en-US" sz="1600" dirty="0" err="1"/>
              <a:t>dalam</a:t>
            </a:r>
            <a:r>
              <a:rPr lang="en-US" sz="1600" dirty="0"/>
              <a:t> </a:t>
            </a:r>
            <a:r>
              <a:rPr lang="en-US" sz="1600" dirty="0" err="1"/>
              <a:t>melakukan</a:t>
            </a:r>
            <a:r>
              <a:rPr lang="en-US" sz="1600" dirty="0"/>
              <a:t> routing </a:t>
            </a:r>
            <a:r>
              <a:rPr lang="en-US" sz="1600" dirty="0" err="1" smtClean="0"/>
              <a:t>yaitu</a:t>
            </a:r>
            <a:r>
              <a:rPr lang="en-US" sz="1600" dirty="0" smtClean="0"/>
              <a:t>: </a:t>
            </a:r>
          </a:p>
          <a:p>
            <a:pPr marL="342900" indent="-342900" algn="just">
              <a:buAutoNum type="arabicPeriod"/>
            </a:pPr>
            <a:r>
              <a:rPr lang="en-US" sz="1600" dirty="0" err="1" smtClean="0"/>
              <a:t>Alamat</a:t>
            </a:r>
            <a:r>
              <a:rPr lang="en-US" sz="1600" dirty="0" smtClean="0"/>
              <a:t> </a:t>
            </a:r>
            <a:r>
              <a:rPr lang="en-US" sz="1600" dirty="0" err="1"/>
              <a:t>tujuan</a:t>
            </a:r>
            <a:r>
              <a:rPr lang="en-US" sz="1600" dirty="0"/>
              <a:t>/ destination address </a:t>
            </a:r>
            <a:endParaRPr lang="en-US" sz="1600" dirty="0" smtClean="0"/>
          </a:p>
          <a:p>
            <a:pPr marL="342900" indent="-342900" algn="just">
              <a:buAutoNum type="arabicPeriod"/>
            </a:pPr>
            <a:r>
              <a:rPr lang="en-US" sz="1600" dirty="0" err="1" smtClean="0"/>
              <a:t>Mengenal</a:t>
            </a:r>
            <a:r>
              <a:rPr lang="en-US" sz="1600" dirty="0" smtClean="0"/>
              <a:t> </a:t>
            </a:r>
            <a:r>
              <a:rPr lang="en-US" sz="1600" dirty="0" err="1"/>
              <a:t>sumber</a:t>
            </a:r>
            <a:r>
              <a:rPr lang="en-US" sz="1600" dirty="0"/>
              <a:t> </a:t>
            </a:r>
            <a:r>
              <a:rPr lang="en-US" sz="1600" dirty="0" err="1"/>
              <a:t>informasi</a:t>
            </a:r>
            <a:r>
              <a:rPr lang="en-US" sz="1600" dirty="0"/>
              <a:t> </a:t>
            </a:r>
            <a:endParaRPr lang="en-US" sz="1600" dirty="0" smtClean="0"/>
          </a:p>
          <a:p>
            <a:pPr marL="342900" indent="-342900" algn="just">
              <a:buAutoNum type="arabicPeriod"/>
            </a:pPr>
            <a:r>
              <a:rPr lang="en-US" sz="1600" dirty="0" err="1" smtClean="0"/>
              <a:t>Menemukan</a:t>
            </a:r>
            <a:r>
              <a:rPr lang="en-US" sz="1600" dirty="0" smtClean="0"/>
              <a:t> </a:t>
            </a:r>
            <a:r>
              <a:rPr lang="en-US" sz="1600" dirty="0"/>
              <a:t>route </a:t>
            </a:r>
            <a:endParaRPr lang="en-US" sz="1600" dirty="0" smtClean="0"/>
          </a:p>
          <a:p>
            <a:pPr marL="342900" indent="-342900" algn="just">
              <a:buAutoNum type="arabicPeriod"/>
            </a:pPr>
            <a:r>
              <a:rPr lang="en-US" sz="1600" dirty="0" err="1" smtClean="0"/>
              <a:t>Pemilihan</a:t>
            </a:r>
            <a:r>
              <a:rPr lang="en-US" sz="1600" dirty="0" smtClean="0"/>
              <a:t> </a:t>
            </a:r>
            <a:r>
              <a:rPr lang="en-US" sz="1600" dirty="0"/>
              <a:t>route </a:t>
            </a:r>
            <a:endParaRPr lang="en-US" sz="1600" dirty="0" smtClean="0"/>
          </a:p>
          <a:p>
            <a:pPr marL="342900" indent="-342900" algn="just">
              <a:buAutoNum type="arabicPeriod"/>
            </a:pPr>
            <a:r>
              <a:rPr lang="en-US" sz="1600" dirty="0" err="1" smtClean="0"/>
              <a:t>Menjaga</a:t>
            </a:r>
            <a:r>
              <a:rPr lang="en-US" sz="1600" dirty="0" smtClean="0"/>
              <a:t> </a:t>
            </a:r>
            <a:r>
              <a:rPr lang="en-US" sz="1600" dirty="0" err="1"/>
              <a:t>informasi</a:t>
            </a:r>
            <a:r>
              <a:rPr lang="en-US" sz="1600" dirty="0"/>
              <a:t> </a:t>
            </a:r>
            <a:r>
              <a:rPr lang="en-US" sz="1600" dirty="0" smtClean="0"/>
              <a:t>routing</a:t>
            </a:r>
          </a:p>
          <a:p>
            <a:pPr algn="just"/>
            <a:r>
              <a:rPr lang="en-US" sz="1600" dirty="0" smtClean="0"/>
              <a:t>Routing </a:t>
            </a:r>
            <a:r>
              <a:rPr lang="en-US" sz="1600" dirty="0" err="1"/>
              <a:t>melibatkan</a:t>
            </a:r>
            <a:r>
              <a:rPr lang="en-US" sz="1600" dirty="0"/>
              <a:t> </a:t>
            </a:r>
            <a:r>
              <a:rPr lang="en-US" sz="1600" dirty="0" err="1"/>
              <a:t>dua</a:t>
            </a:r>
            <a:r>
              <a:rPr lang="en-US" sz="1600" dirty="0"/>
              <a:t> </a:t>
            </a:r>
            <a:r>
              <a:rPr lang="en-US" sz="1600" dirty="0" err="1"/>
              <a:t>aktifitas</a:t>
            </a:r>
            <a:r>
              <a:rPr lang="en-US" sz="1600" dirty="0"/>
              <a:t> </a:t>
            </a:r>
            <a:r>
              <a:rPr lang="en-US" sz="1600" dirty="0" err="1"/>
              <a:t>dasar</a:t>
            </a:r>
            <a:r>
              <a:rPr lang="en-US" sz="1600" dirty="0"/>
              <a:t>, </a:t>
            </a:r>
            <a:r>
              <a:rPr lang="en-US" sz="1600" dirty="0" err="1"/>
              <a:t>yaitu</a:t>
            </a:r>
            <a:r>
              <a:rPr lang="en-US" sz="1600" dirty="0"/>
              <a:t> </a:t>
            </a:r>
            <a:r>
              <a:rPr lang="en-US" sz="1600" dirty="0" err="1"/>
              <a:t>menentukan</a:t>
            </a:r>
            <a:r>
              <a:rPr lang="en-US" sz="1600" dirty="0"/>
              <a:t> path routing yang paling optimal </a:t>
            </a:r>
            <a:r>
              <a:rPr lang="en-US" sz="1600" dirty="0" err="1"/>
              <a:t>dan</a:t>
            </a:r>
            <a:r>
              <a:rPr lang="en-US" sz="1600" dirty="0"/>
              <a:t> </a:t>
            </a:r>
            <a:r>
              <a:rPr lang="en-US" sz="1600" dirty="0" err="1"/>
              <a:t>membawa</a:t>
            </a:r>
            <a:r>
              <a:rPr lang="en-US" sz="1600" dirty="0"/>
              <a:t> </a:t>
            </a:r>
            <a:r>
              <a:rPr lang="en-US" sz="1600" dirty="0" err="1"/>
              <a:t>paket</a:t>
            </a:r>
            <a:r>
              <a:rPr lang="en-US" sz="1600" dirty="0"/>
              <a:t> </a:t>
            </a:r>
            <a:r>
              <a:rPr lang="en-US" sz="1600" dirty="0" err="1"/>
              <a:t>informasi</a:t>
            </a:r>
            <a:r>
              <a:rPr lang="en-US" sz="1600" dirty="0"/>
              <a:t> </a:t>
            </a:r>
            <a:r>
              <a:rPr lang="en-US" sz="1600" dirty="0" err="1"/>
              <a:t>melalui</a:t>
            </a:r>
            <a:r>
              <a:rPr lang="en-US" sz="1600" dirty="0"/>
              <a:t> </a:t>
            </a:r>
            <a:r>
              <a:rPr lang="en-US" sz="1600" dirty="0" err="1"/>
              <a:t>suatu</a:t>
            </a:r>
            <a:r>
              <a:rPr lang="en-US" sz="1600" dirty="0"/>
              <a:t> </a:t>
            </a:r>
            <a:r>
              <a:rPr lang="en-US" sz="1600" dirty="0" err="1"/>
              <a:t>jaringan</a:t>
            </a:r>
            <a:r>
              <a:rPr lang="en-US" sz="1600" dirty="0"/>
              <a:t>. </a:t>
            </a:r>
            <a:endParaRPr lang="en-US" sz="1600" dirty="0"/>
          </a:p>
        </p:txBody>
      </p:sp>
      <p:sp>
        <p:nvSpPr>
          <p:cNvPr id="4" name="Rectangle 3"/>
          <p:cNvSpPr/>
          <p:nvPr/>
        </p:nvSpPr>
        <p:spPr>
          <a:xfrm>
            <a:off x="8143456" y="4423"/>
            <a:ext cx="415754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chemeClr val="bg2">
                    <a:lumMod val="50000"/>
                  </a:schemeClr>
                </a:solidFill>
              </a:rPr>
              <a:t>MPLS </a:t>
            </a:r>
            <a:r>
              <a:rPr lang="en-US" sz="2800" dirty="0" err="1">
                <a:solidFill>
                  <a:schemeClr val="bg2">
                    <a:lumMod val="50000"/>
                  </a:schemeClr>
                </a:solidFill>
              </a:rPr>
              <a:t>pada</a:t>
            </a:r>
            <a:r>
              <a:rPr lang="en-US" sz="28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sz="2800" dirty="0" err="1" smtClean="0">
                <a:solidFill>
                  <a:schemeClr val="bg2">
                    <a:lumMod val="50000"/>
                  </a:schemeClr>
                </a:solidFill>
              </a:rPr>
              <a:t>MikroTik</a:t>
            </a:r>
            <a:r>
              <a:rPr lang="en-US" sz="2800" dirty="0" smtClean="0">
                <a:solidFill>
                  <a:schemeClr val="bg2">
                    <a:lumMod val="50000"/>
                  </a:schemeClr>
                </a:solidFill>
              </a:rPr>
              <a:t>(</a:t>
            </a:r>
            <a:r>
              <a:rPr lang="en-US" sz="2800" dirty="0" err="1" smtClean="0">
                <a:solidFill>
                  <a:schemeClr val="bg2">
                    <a:lumMod val="50000"/>
                  </a:schemeClr>
                </a:solidFill>
              </a:rPr>
              <a:t>Con’t</a:t>
            </a:r>
            <a:r>
              <a:rPr lang="en-US" sz="2800" dirty="0" smtClean="0">
                <a:solidFill>
                  <a:schemeClr val="bg2">
                    <a:lumMod val="50000"/>
                  </a:schemeClr>
                </a:solidFill>
              </a:rPr>
              <a:t>)</a:t>
            </a:r>
            <a:endParaRPr lang="en-US" sz="28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893443" y="330832"/>
            <a:ext cx="323242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chemeClr val="bg2">
                    <a:lumMod val="50000"/>
                  </a:schemeClr>
                </a:solidFill>
              </a:rPr>
              <a:t>ROUTING </a:t>
            </a:r>
            <a:r>
              <a:rPr lang="en-US" sz="2800" dirty="0" smtClean="0">
                <a:solidFill>
                  <a:schemeClr val="bg2">
                    <a:lumMod val="50000"/>
                  </a:schemeClr>
                </a:solidFill>
              </a:rPr>
              <a:t>PROTOCOL</a:t>
            </a:r>
            <a:endParaRPr lang="en-US" sz="28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5373511" y="854052"/>
            <a:ext cx="6096000" cy="1569660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/>
            <a:r>
              <a:rPr lang="en-US" sz="1600" dirty="0" err="1"/>
              <a:t>Alur</a:t>
            </a:r>
            <a:r>
              <a:rPr lang="en-US" sz="1600" dirty="0"/>
              <a:t> yang paling optimal </a:t>
            </a:r>
            <a:r>
              <a:rPr lang="en-US" sz="1600" dirty="0" err="1"/>
              <a:t>diperoleh</a:t>
            </a:r>
            <a:r>
              <a:rPr lang="en-US" sz="1600" dirty="0"/>
              <a:t> </a:t>
            </a:r>
            <a:r>
              <a:rPr lang="en-US" sz="1600" dirty="0" err="1"/>
              <a:t>dari</a:t>
            </a:r>
            <a:r>
              <a:rPr lang="en-US" sz="1600" dirty="0"/>
              <a:t> </a:t>
            </a:r>
            <a:r>
              <a:rPr lang="en-US" sz="1600" dirty="0" err="1"/>
              <a:t>hasil</a:t>
            </a:r>
            <a:r>
              <a:rPr lang="en-US" sz="1600" dirty="0"/>
              <a:t> </a:t>
            </a:r>
            <a:r>
              <a:rPr lang="en-US" sz="1600" dirty="0" err="1"/>
              <a:t>penelusuran</a:t>
            </a:r>
            <a:r>
              <a:rPr lang="en-US" sz="1600" dirty="0"/>
              <a:t> </a:t>
            </a:r>
            <a:r>
              <a:rPr lang="en-US" sz="1600" dirty="0" err="1"/>
              <a:t>algoritma</a:t>
            </a:r>
            <a:r>
              <a:rPr lang="en-US" sz="1600" dirty="0"/>
              <a:t> routing. </a:t>
            </a:r>
            <a:r>
              <a:rPr lang="en-US" sz="1600" dirty="0" err="1"/>
              <a:t>Untuk</a:t>
            </a:r>
            <a:r>
              <a:rPr lang="en-US" sz="1600" dirty="0"/>
              <a:t> </a:t>
            </a:r>
            <a:r>
              <a:rPr lang="en-US" sz="1600" dirty="0" err="1"/>
              <a:t>membantu</a:t>
            </a:r>
            <a:r>
              <a:rPr lang="en-US" sz="1600" dirty="0"/>
              <a:t> proses </a:t>
            </a:r>
            <a:r>
              <a:rPr lang="en-US" sz="1600" dirty="0" err="1"/>
              <a:t>penentuan</a:t>
            </a:r>
            <a:r>
              <a:rPr lang="en-US" sz="1600" dirty="0"/>
              <a:t> </a:t>
            </a:r>
            <a:r>
              <a:rPr lang="en-US" sz="1600" dirty="0" err="1"/>
              <a:t>alur</a:t>
            </a:r>
            <a:r>
              <a:rPr lang="en-US" sz="1600" dirty="0"/>
              <a:t>, </a:t>
            </a:r>
            <a:r>
              <a:rPr lang="en-US" sz="1600" dirty="0" err="1"/>
              <a:t>algoritma</a:t>
            </a:r>
            <a:r>
              <a:rPr lang="en-US" sz="1600" dirty="0"/>
              <a:t> routing </a:t>
            </a:r>
            <a:r>
              <a:rPr lang="en-US" sz="1600" dirty="0" err="1"/>
              <a:t>menginisialisasi</a:t>
            </a:r>
            <a:r>
              <a:rPr lang="en-US" sz="1600" dirty="0"/>
              <a:t> </a:t>
            </a:r>
            <a:r>
              <a:rPr lang="en-US" sz="1600" dirty="0" err="1"/>
              <a:t>dan</a:t>
            </a:r>
            <a:r>
              <a:rPr lang="en-US" sz="1600" dirty="0"/>
              <a:t> </a:t>
            </a:r>
            <a:r>
              <a:rPr lang="en-US" sz="1600" dirty="0" err="1"/>
              <a:t>memelihara</a:t>
            </a:r>
            <a:r>
              <a:rPr lang="en-US" sz="1600" dirty="0"/>
              <a:t> </a:t>
            </a:r>
            <a:r>
              <a:rPr lang="en-US" sz="1600" dirty="0" err="1"/>
              <a:t>tabel</a:t>
            </a:r>
            <a:r>
              <a:rPr lang="en-US" sz="1600" dirty="0"/>
              <a:t> routing, yang </a:t>
            </a:r>
            <a:r>
              <a:rPr lang="en-US" sz="1600" dirty="0" err="1"/>
              <a:t>berisi</a:t>
            </a:r>
            <a:r>
              <a:rPr lang="en-US" sz="1600" dirty="0"/>
              <a:t> </a:t>
            </a:r>
            <a:r>
              <a:rPr lang="en-US" sz="1600" dirty="0" err="1"/>
              <a:t>informasi</a:t>
            </a:r>
            <a:r>
              <a:rPr lang="en-US" sz="1600" dirty="0"/>
              <a:t> routing. </a:t>
            </a:r>
            <a:r>
              <a:rPr lang="en-US" sz="1600" dirty="0" err="1"/>
              <a:t>Informasi</a:t>
            </a:r>
            <a:r>
              <a:rPr lang="en-US" sz="1600" dirty="0"/>
              <a:t> routing </a:t>
            </a:r>
            <a:r>
              <a:rPr lang="en-US" sz="1600" dirty="0" err="1"/>
              <a:t>bervariasi</a:t>
            </a:r>
            <a:r>
              <a:rPr lang="en-US" sz="1600" dirty="0"/>
              <a:t> </a:t>
            </a:r>
            <a:r>
              <a:rPr lang="en-US" sz="1600" dirty="0" err="1"/>
              <a:t>tergantung</a:t>
            </a:r>
            <a:r>
              <a:rPr lang="en-US" sz="1600" dirty="0"/>
              <a:t> </a:t>
            </a:r>
            <a:r>
              <a:rPr lang="en-US" sz="1600" dirty="0" err="1"/>
              <a:t>pada</a:t>
            </a:r>
            <a:r>
              <a:rPr lang="en-US" sz="1600" dirty="0"/>
              <a:t> </a:t>
            </a:r>
            <a:r>
              <a:rPr lang="en-US" sz="1600" dirty="0" err="1"/>
              <a:t>algoritma</a:t>
            </a:r>
            <a:r>
              <a:rPr lang="en-US" sz="1600" dirty="0"/>
              <a:t> routing yang </a:t>
            </a:r>
            <a:r>
              <a:rPr lang="en-US" sz="1600" dirty="0" err="1"/>
              <a:t>digunakan</a:t>
            </a:r>
            <a:r>
              <a:rPr lang="en-US" sz="1600" dirty="0"/>
              <a:t>. </a:t>
            </a:r>
            <a:r>
              <a:rPr lang="en-US" sz="1600" dirty="0" err="1"/>
              <a:t>Informasi</a:t>
            </a:r>
            <a:r>
              <a:rPr lang="en-US" sz="1600" dirty="0"/>
              <a:t> routing </a:t>
            </a:r>
            <a:r>
              <a:rPr lang="en-US" sz="1600" dirty="0" err="1"/>
              <a:t>tersbebut</a:t>
            </a:r>
            <a:r>
              <a:rPr lang="en-US" sz="1600" dirty="0"/>
              <a:t> </a:t>
            </a:r>
            <a:r>
              <a:rPr lang="en-US" sz="1600" dirty="0" err="1"/>
              <a:t>merupakan</a:t>
            </a:r>
            <a:r>
              <a:rPr lang="en-US" sz="1600" dirty="0"/>
              <a:t> </a:t>
            </a:r>
            <a:r>
              <a:rPr lang="en-US" sz="1600" dirty="0" err="1"/>
              <a:t>hasil</a:t>
            </a:r>
            <a:r>
              <a:rPr lang="en-US" sz="1600" dirty="0"/>
              <a:t> </a:t>
            </a:r>
            <a:r>
              <a:rPr lang="en-US" sz="1600" dirty="0" err="1"/>
              <a:t>pengukuran</a:t>
            </a:r>
            <a:r>
              <a:rPr lang="en-US" sz="1600" dirty="0"/>
              <a:t> </a:t>
            </a:r>
            <a:r>
              <a:rPr lang="en-US" sz="1600" dirty="0" err="1"/>
              <a:t>standar</a:t>
            </a:r>
            <a:r>
              <a:rPr lang="en-US" sz="1600" dirty="0"/>
              <a:t> </a:t>
            </a:r>
            <a:r>
              <a:rPr lang="en-US" sz="1600" dirty="0" err="1"/>
              <a:t>tertentu</a:t>
            </a:r>
            <a:r>
              <a:rPr lang="en-US" sz="1600" dirty="0"/>
              <a:t> yang </a:t>
            </a:r>
            <a:r>
              <a:rPr lang="en-US" sz="1600" dirty="0" err="1"/>
              <a:t>disebut</a:t>
            </a:r>
            <a:r>
              <a:rPr lang="en-US" sz="1600" dirty="0"/>
              <a:t> metric. 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8288370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274759" y="854052"/>
            <a:ext cx="4898929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600" dirty="0"/>
              <a:t>INTERMEDIATE SYSTEM TO INTERMEDIATE SYSTEM (ISIS</a:t>
            </a:r>
            <a:r>
              <a:rPr lang="en-US" sz="1600" dirty="0" smtClean="0"/>
              <a:t>)</a:t>
            </a:r>
          </a:p>
          <a:p>
            <a:pPr algn="just"/>
            <a:r>
              <a:rPr lang="en-US" sz="1600" dirty="0"/>
              <a:t>ISIS </a:t>
            </a:r>
            <a:r>
              <a:rPr lang="en-US" sz="1600" dirty="0" err="1"/>
              <a:t>menggunakan</a:t>
            </a:r>
            <a:r>
              <a:rPr lang="en-US" sz="1600" dirty="0"/>
              <a:t> </a:t>
            </a:r>
            <a:r>
              <a:rPr lang="en-US" sz="1600" dirty="0" err="1"/>
              <a:t>metode</a:t>
            </a:r>
            <a:r>
              <a:rPr lang="en-US" sz="1600" dirty="0"/>
              <a:t> link state </a:t>
            </a:r>
            <a:r>
              <a:rPr lang="en-US" sz="1600" dirty="0" err="1"/>
              <a:t>sebagai</a:t>
            </a:r>
            <a:r>
              <a:rPr lang="en-US" sz="1600" dirty="0"/>
              <a:t> </a:t>
            </a:r>
            <a:r>
              <a:rPr lang="en-US" sz="1600" dirty="0" err="1"/>
              <a:t>metode</a:t>
            </a:r>
            <a:r>
              <a:rPr lang="en-US" sz="1600" dirty="0"/>
              <a:t> </a:t>
            </a:r>
            <a:r>
              <a:rPr lang="en-US" sz="1600" dirty="0" err="1" smtClean="0"/>
              <a:t>pengumpulan</a:t>
            </a:r>
            <a:r>
              <a:rPr lang="en-US" sz="1600" dirty="0" smtClean="0"/>
              <a:t> </a:t>
            </a:r>
            <a:r>
              <a:rPr lang="en-US" sz="1600" dirty="0" err="1" smtClean="0"/>
              <a:t>routenya</a:t>
            </a:r>
            <a:r>
              <a:rPr lang="en-US" sz="1600" dirty="0" smtClean="0"/>
              <a:t> </a:t>
            </a:r>
            <a:r>
              <a:rPr lang="en-US" sz="1600" dirty="0" err="1"/>
              <a:t>dan</a:t>
            </a:r>
            <a:r>
              <a:rPr lang="en-US" sz="1600" dirty="0"/>
              <a:t> </a:t>
            </a:r>
            <a:r>
              <a:rPr lang="en-US" sz="1600" dirty="0" err="1"/>
              <a:t>menggunakan</a:t>
            </a:r>
            <a:r>
              <a:rPr lang="en-US" sz="1600" dirty="0"/>
              <a:t> </a:t>
            </a:r>
            <a:r>
              <a:rPr lang="en-US" sz="1600" dirty="0" err="1"/>
              <a:t>algoritma</a:t>
            </a:r>
            <a:r>
              <a:rPr lang="en-US" sz="1600" dirty="0"/>
              <a:t> Shortest Path First (</a:t>
            </a:r>
            <a:r>
              <a:rPr lang="en-US" sz="1600" dirty="0" err="1" smtClean="0"/>
              <a:t>algoritma</a:t>
            </a:r>
            <a:r>
              <a:rPr lang="en-US" sz="1600" dirty="0" smtClean="0"/>
              <a:t> </a:t>
            </a:r>
            <a:r>
              <a:rPr lang="en-US" sz="1600" dirty="0" err="1" smtClean="0"/>
              <a:t>Djikstra</a:t>
            </a:r>
            <a:r>
              <a:rPr lang="en-US" sz="1600" dirty="0"/>
              <a:t>) </a:t>
            </a:r>
            <a:r>
              <a:rPr lang="en-US" sz="1600" dirty="0" err="1"/>
              <a:t>dalam</a:t>
            </a:r>
            <a:r>
              <a:rPr lang="en-US" sz="1600" dirty="0"/>
              <a:t> </a:t>
            </a:r>
            <a:r>
              <a:rPr lang="en-US" sz="1600" dirty="0" err="1"/>
              <a:t>melakukan</a:t>
            </a:r>
            <a:r>
              <a:rPr lang="en-US" sz="1600" dirty="0"/>
              <a:t> </a:t>
            </a:r>
            <a:r>
              <a:rPr lang="en-US" sz="1600" dirty="0" err="1"/>
              <a:t>perhitungannya</a:t>
            </a:r>
            <a:r>
              <a:rPr lang="en-US" sz="1600" dirty="0"/>
              <a:t>. Protocol </a:t>
            </a:r>
            <a:r>
              <a:rPr lang="en-US" sz="1600" dirty="0" err="1"/>
              <a:t>ini</a:t>
            </a:r>
            <a:r>
              <a:rPr lang="en-US" sz="1600" dirty="0"/>
              <a:t> </a:t>
            </a:r>
            <a:r>
              <a:rPr lang="en-US" sz="1600" dirty="0" err="1"/>
              <a:t>dirancang</a:t>
            </a:r>
            <a:r>
              <a:rPr lang="en-US" sz="1600" dirty="0"/>
              <a:t> </a:t>
            </a:r>
            <a:r>
              <a:rPr lang="en-US" sz="1600" dirty="0" err="1" smtClean="0"/>
              <a:t>untuk</a:t>
            </a:r>
            <a:r>
              <a:rPr lang="en-US" sz="1600" dirty="0" smtClean="0"/>
              <a:t> </a:t>
            </a:r>
            <a:r>
              <a:rPr lang="en-US" sz="1600" dirty="0" err="1" smtClean="0"/>
              <a:t>beroperasi</a:t>
            </a:r>
            <a:r>
              <a:rPr lang="en-US" sz="1600" dirty="0" smtClean="0"/>
              <a:t> </a:t>
            </a:r>
            <a:r>
              <a:rPr lang="en-US" sz="1600" dirty="0"/>
              <a:t>di OSI Connectionless Network Service (CLNS). </a:t>
            </a:r>
            <a:r>
              <a:rPr lang="en-US" sz="1600" dirty="0" smtClean="0"/>
              <a:t>ISIS </a:t>
            </a:r>
            <a:r>
              <a:rPr lang="en-US" sz="1600" dirty="0" err="1" smtClean="0"/>
              <a:t>mempunyai</a:t>
            </a:r>
            <a:r>
              <a:rPr lang="en-US" sz="1600" dirty="0" smtClean="0"/>
              <a:t> </a:t>
            </a:r>
            <a:r>
              <a:rPr lang="en-US" sz="1600" dirty="0" err="1"/>
              <a:t>prinsip</a:t>
            </a:r>
            <a:r>
              <a:rPr lang="en-US" sz="1600" dirty="0"/>
              <a:t> </a:t>
            </a:r>
            <a:r>
              <a:rPr lang="en-US" sz="1600" dirty="0" err="1"/>
              <a:t>kerja</a:t>
            </a:r>
            <a:r>
              <a:rPr lang="en-US" sz="1600" dirty="0"/>
              <a:t> yang </a:t>
            </a:r>
            <a:r>
              <a:rPr lang="en-US" sz="1600" dirty="0" err="1"/>
              <a:t>mirip</a:t>
            </a:r>
            <a:r>
              <a:rPr lang="en-US" sz="1600" dirty="0"/>
              <a:t> </a:t>
            </a:r>
            <a:r>
              <a:rPr lang="en-US" sz="1600" dirty="0" err="1"/>
              <a:t>dengan</a:t>
            </a:r>
            <a:r>
              <a:rPr lang="en-US" sz="1600" dirty="0"/>
              <a:t> protocol OSPF, </a:t>
            </a:r>
            <a:r>
              <a:rPr lang="en-US" sz="1600" dirty="0" err="1"/>
              <a:t>tetapi</a:t>
            </a:r>
            <a:r>
              <a:rPr lang="en-US" sz="1600" dirty="0"/>
              <a:t> </a:t>
            </a:r>
            <a:r>
              <a:rPr lang="en-US" sz="1600" dirty="0" err="1" smtClean="0"/>
              <a:t>berbeda</a:t>
            </a:r>
            <a:r>
              <a:rPr lang="en-US" sz="1600" dirty="0" smtClean="0"/>
              <a:t> </a:t>
            </a:r>
            <a:r>
              <a:rPr lang="en-US" sz="1600" dirty="0" err="1" smtClean="0"/>
              <a:t>dalam</a:t>
            </a:r>
            <a:r>
              <a:rPr lang="en-US" sz="1600" dirty="0" smtClean="0"/>
              <a:t> </a:t>
            </a:r>
            <a:r>
              <a:rPr lang="en-US" sz="1600" dirty="0" err="1"/>
              <a:t>sistem</a:t>
            </a:r>
            <a:r>
              <a:rPr lang="en-US" sz="1600" dirty="0"/>
              <a:t> </a:t>
            </a:r>
            <a:r>
              <a:rPr lang="en-US" sz="1600" dirty="0" err="1"/>
              <a:t>pengalamatan</a:t>
            </a:r>
            <a:r>
              <a:rPr lang="en-US" sz="1600" dirty="0"/>
              <a:t> </a:t>
            </a:r>
            <a:r>
              <a:rPr lang="en-US" sz="1600" dirty="0" err="1"/>
              <a:t>dan</a:t>
            </a:r>
            <a:r>
              <a:rPr lang="en-US" sz="1600" dirty="0"/>
              <a:t> </a:t>
            </a:r>
            <a:r>
              <a:rPr lang="en-US" sz="1600" dirty="0" err="1"/>
              <a:t>struktur</a:t>
            </a:r>
            <a:r>
              <a:rPr lang="en-US" sz="1600" dirty="0"/>
              <a:t> </a:t>
            </a:r>
            <a:r>
              <a:rPr lang="en-US" sz="1600" dirty="0" err="1"/>
              <a:t>hirarki</a:t>
            </a:r>
            <a:r>
              <a:rPr lang="en-US" sz="1600" dirty="0"/>
              <a:t>. </a:t>
            </a:r>
            <a:r>
              <a:rPr lang="en-US" sz="1600" dirty="0" err="1"/>
              <a:t>Sistem</a:t>
            </a:r>
            <a:r>
              <a:rPr lang="en-US" sz="1600" dirty="0"/>
              <a:t> </a:t>
            </a:r>
            <a:r>
              <a:rPr lang="en-US" sz="1600" dirty="0" err="1"/>
              <a:t>pengalamatan</a:t>
            </a:r>
            <a:r>
              <a:rPr lang="en-US" sz="1600" dirty="0"/>
              <a:t> </a:t>
            </a:r>
            <a:r>
              <a:rPr lang="en-US" sz="1600" dirty="0" smtClean="0"/>
              <a:t>yang </a:t>
            </a:r>
            <a:r>
              <a:rPr lang="en-US" sz="1600" dirty="0" err="1" smtClean="0"/>
              <a:t>digunakan</a:t>
            </a:r>
            <a:r>
              <a:rPr lang="en-US" sz="1600" dirty="0" smtClean="0"/>
              <a:t> </a:t>
            </a:r>
            <a:r>
              <a:rPr lang="en-US" sz="1600" dirty="0"/>
              <a:t>ISIS </a:t>
            </a:r>
            <a:r>
              <a:rPr lang="en-US" sz="1600" dirty="0" err="1"/>
              <a:t>dalam</a:t>
            </a:r>
            <a:r>
              <a:rPr lang="en-US" sz="1600" dirty="0"/>
              <a:t> </a:t>
            </a:r>
            <a:r>
              <a:rPr lang="en-US" sz="1600" dirty="0" err="1"/>
              <a:t>sistem</a:t>
            </a:r>
            <a:r>
              <a:rPr lang="en-US" sz="1600" dirty="0"/>
              <a:t> </a:t>
            </a:r>
            <a:r>
              <a:rPr lang="en-US" sz="1600" dirty="0" err="1"/>
              <a:t>pengalamatan</a:t>
            </a:r>
            <a:r>
              <a:rPr lang="en-US" sz="1600" dirty="0"/>
              <a:t> </a:t>
            </a:r>
            <a:r>
              <a:rPr lang="en-US" sz="1600" dirty="0" err="1"/>
              <a:t>ciptaan</a:t>
            </a:r>
            <a:r>
              <a:rPr lang="en-US" sz="1600" dirty="0"/>
              <a:t> ISO </a:t>
            </a:r>
            <a:r>
              <a:rPr lang="en-US" sz="1600" dirty="0" err="1"/>
              <a:t>sendiri</a:t>
            </a:r>
            <a:r>
              <a:rPr lang="en-US" sz="1600" dirty="0"/>
              <a:t>, </a:t>
            </a:r>
            <a:r>
              <a:rPr lang="en-US" sz="1600" dirty="0" err="1" smtClean="0"/>
              <a:t>yaitu</a:t>
            </a:r>
            <a:r>
              <a:rPr lang="en-US" sz="1600" dirty="0" smtClean="0"/>
              <a:t> </a:t>
            </a:r>
            <a:r>
              <a:rPr lang="en-US" sz="1600" dirty="0" err="1" smtClean="0"/>
              <a:t>sistem</a:t>
            </a:r>
            <a:r>
              <a:rPr lang="en-US" sz="1600" dirty="0" smtClean="0"/>
              <a:t> </a:t>
            </a:r>
            <a:r>
              <a:rPr lang="en-US" sz="1600" dirty="0" err="1"/>
              <a:t>pengalamatan</a:t>
            </a:r>
            <a:r>
              <a:rPr lang="en-US" sz="1600" dirty="0"/>
              <a:t> ISO (ISO Addressing). </a:t>
            </a:r>
            <a:r>
              <a:rPr lang="en-US" sz="1600" dirty="0" err="1"/>
              <a:t>Jadi</a:t>
            </a:r>
            <a:r>
              <a:rPr lang="en-US" sz="1600" dirty="0"/>
              <a:t> </a:t>
            </a:r>
            <a:r>
              <a:rPr lang="en-US" sz="1600" dirty="0" err="1"/>
              <a:t>semua</a:t>
            </a:r>
            <a:r>
              <a:rPr lang="en-US" sz="1600" dirty="0"/>
              <a:t> </a:t>
            </a:r>
            <a:r>
              <a:rPr lang="en-US" sz="1600" dirty="0" err="1"/>
              <a:t>perangkat</a:t>
            </a:r>
            <a:r>
              <a:rPr lang="en-US" sz="1600" dirty="0"/>
              <a:t> </a:t>
            </a:r>
            <a:r>
              <a:rPr lang="en-US" sz="1600" dirty="0" smtClean="0"/>
              <a:t>yang </a:t>
            </a:r>
            <a:r>
              <a:rPr lang="en-US" sz="1600" dirty="0" err="1" smtClean="0"/>
              <a:t>ingin</a:t>
            </a:r>
            <a:r>
              <a:rPr lang="en-US" sz="1600" dirty="0" smtClean="0"/>
              <a:t> </a:t>
            </a:r>
            <a:r>
              <a:rPr lang="en-US" sz="1600" dirty="0" err="1"/>
              <a:t>digunakan</a:t>
            </a:r>
            <a:r>
              <a:rPr lang="en-US" sz="1600" dirty="0"/>
              <a:t> </a:t>
            </a:r>
            <a:r>
              <a:rPr lang="en-US" sz="1600" dirty="0" err="1"/>
              <a:t>untuk</a:t>
            </a:r>
            <a:r>
              <a:rPr lang="en-US" sz="1600" dirty="0"/>
              <a:t> </a:t>
            </a:r>
            <a:r>
              <a:rPr lang="en-US" sz="1600" dirty="0" err="1"/>
              <a:t>menjalankan</a:t>
            </a:r>
            <a:r>
              <a:rPr lang="en-US" sz="1600" dirty="0"/>
              <a:t> ISIS </a:t>
            </a:r>
            <a:r>
              <a:rPr lang="en-US" sz="1600" dirty="0" err="1"/>
              <a:t>harus</a:t>
            </a:r>
            <a:r>
              <a:rPr lang="en-US" sz="1600" dirty="0"/>
              <a:t> </a:t>
            </a:r>
            <a:r>
              <a:rPr lang="en-US" sz="1600" dirty="0" err="1"/>
              <a:t>dapat</a:t>
            </a:r>
            <a:r>
              <a:rPr lang="en-US" sz="1600" dirty="0"/>
              <a:t> </a:t>
            </a:r>
            <a:r>
              <a:rPr lang="en-US" sz="1600" dirty="0" err="1"/>
              <a:t>dikonfigurasi</a:t>
            </a:r>
            <a:r>
              <a:rPr lang="en-US" sz="1600" dirty="0"/>
              <a:t> </a:t>
            </a:r>
            <a:r>
              <a:rPr lang="en-US" sz="1600" dirty="0" err="1" smtClean="0"/>
              <a:t>dengan</a:t>
            </a:r>
            <a:r>
              <a:rPr lang="en-US" sz="1600" dirty="0" smtClean="0"/>
              <a:t> </a:t>
            </a:r>
            <a:r>
              <a:rPr lang="en-US" sz="1600" dirty="0" err="1" smtClean="0"/>
              <a:t>alamat</a:t>
            </a:r>
            <a:r>
              <a:rPr lang="en-US" sz="1600" dirty="0" smtClean="0"/>
              <a:t> </a:t>
            </a:r>
            <a:r>
              <a:rPr lang="en-US" sz="1600" dirty="0"/>
              <a:t>ISO. </a:t>
            </a:r>
            <a:r>
              <a:rPr lang="en-US" sz="1600" dirty="0" err="1"/>
              <a:t>Tetapi</a:t>
            </a:r>
            <a:r>
              <a:rPr lang="en-US" sz="1600" dirty="0"/>
              <a:t> </a:t>
            </a:r>
            <a:r>
              <a:rPr lang="en-US" sz="1600" dirty="0" err="1"/>
              <a:t>karena</a:t>
            </a:r>
            <a:r>
              <a:rPr lang="en-US" sz="1600" dirty="0"/>
              <a:t> </a:t>
            </a:r>
            <a:r>
              <a:rPr lang="en-US" sz="1600" dirty="0" err="1"/>
              <a:t>sistem</a:t>
            </a:r>
            <a:r>
              <a:rPr lang="en-US" sz="1600" dirty="0"/>
              <a:t> </a:t>
            </a:r>
            <a:r>
              <a:rPr lang="en-US" sz="1600" dirty="0" err="1"/>
              <a:t>pengalamatan</a:t>
            </a:r>
            <a:r>
              <a:rPr lang="en-US" sz="1600" dirty="0"/>
              <a:t> IP </a:t>
            </a:r>
            <a:r>
              <a:rPr lang="en-US" sz="1600" dirty="0" err="1"/>
              <a:t>lah</a:t>
            </a:r>
            <a:r>
              <a:rPr lang="en-US" sz="1600" dirty="0"/>
              <a:t> yang </a:t>
            </a:r>
            <a:r>
              <a:rPr lang="en-US" sz="1600" dirty="0" err="1" smtClean="0"/>
              <a:t>banyak</a:t>
            </a:r>
            <a:r>
              <a:rPr lang="en-US" sz="1600" dirty="0" smtClean="0"/>
              <a:t> </a:t>
            </a:r>
            <a:r>
              <a:rPr lang="en-US" sz="1600" dirty="0" err="1" smtClean="0"/>
              <a:t>digunakan</a:t>
            </a:r>
            <a:r>
              <a:rPr lang="en-US" sz="1600" dirty="0"/>
              <a:t>, </a:t>
            </a:r>
            <a:r>
              <a:rPr lang="en-US" sz="1600" dirty="0" err="1"/>
              <a:t>maka</a:t>
            </a:r>
            <a:r>
              <a:rPr lang="en-US" sz="1600" dirty="0"/>
              <a:t> </a:t>
            </a:r>
            <a:r>
              <a:rPr lang="en-US" sz="1600" dirty="0" err="1"/>
              <a:t>sistem</a:t>
            </a:r>
            <a:r>
              <a:rPr lang="en-US" sz="1600" dirty="0"/>
              <a:t> </a:t>
            </a:r>
            <a:r>
              <a:rPr lang="en-US" sz="1600" dirty="0" err="1"/>
              <a:t>pengalamatan</a:t>
            </a:r>
            <a:r>
              <a:rPr lang="en-US" sz="1600" dirty="0"/>
              <a:t> ISO </a:t>
            </a:r>
            <a:r>
              <a:rPr lang="en-US" sz="1600" dirty="0" err="1"/>
              <a:t>juga</a:t>
            </a:r>
            <a:r>
              <a:rPr lang="en-US" sz="1600" dirty="0"/>
              <a:t> </a:t>
            </a:r>
            <a:r>
              <a:rPr lang="en-US" sz="1600" dirty="0" err="1"/>
              <a:t>dibuat</a:t>
            </a:r>
            <a:r>
              <a:rPr lang="en-US" sz="1600" dirty="0"/>
              <a:t> </a:t>
            </a:r>
            <a:r>
              <a:rPr lang="en-US" sz="1600" dirty="0" err="1"/>
              <a:t>kompatibel</a:t>
            </a:r>
            <a:r>
              <a:rPr lang="en-US" sz="1600" dirty="0"/>
              <a:t> </a:t>
            </a:r>
            <a:r>
              <a:rPr lang="en-US" sz="1600" dirty="0" err="1" smtClean="0"/>
              <a:t>dengan</a:t>
            </a:r>
            <a:r>
              <a:rPr lang="en-US" sz="1600" dirty="0" smtClean="0"/>
              <a:t> IP</a:t>
            </a:r>
            <a:r>
              <a:rPr lang="en-US" sz="1600" dirty="0"/>
              <a:t>. ISIS </a:t>
            </a:r>
            <a:r>
              <a:rPr lang="en-US" sz="1600" dirty="0" err="1"/>
              <a:t>menggunakan</a:t>
            </a:r>
            <a:r>
              <a:rPr lang="en-US" sz="1600" dirty="0"/>
              <a:t> </a:t>
            </a:r>
            <a:r>
              <a:rPr lang="en-US" sz="1600" dirty="0" err="1"/>
              <a:t>ConnectionLess</a:t>
            </a:r>
            <a:r>
              <a:rPr lang="en-US" sz="1600" dirty="0"/>
              <a:t> Network Protocol (CLNP) address</a:t>
            </a:r>
            <a:r>
              <a:rPr lang="en-US" sz="1600" dirty="0" smtClean="0"/>
              <a:t>, </a:t>
            </a:r>
            <a:r>
              <a:rPr lang="en-US" sz="1600" dirty="0" err="1" smtClean="0"/>
              <a:t>dan</a:t>
            </a:r>
            <a:r>
              <a:rPr lang="en-US" sz="1600" dirty="0" smtClean="0"/>
              <a:t> </a:t>
            </a:r>
            <a:r>
              <a:rPr lang="en-US" sz="1600" dirty="0" err="1"/>
              <a:t>ketika</a:t>
            </a:r>
            <a:r>
              <a:rPr lang="en-US" sz="1600" dirty="0"/>
              <a:t> CLNP address </a:t>
            </a:r>
            <a:r>
              <a:rPr lang="en-US" sz="1600" dirty="0" err="1"/>
              <a:t>digunakan</a:t>
            </a:r>
            <a:r>
              <a:rPr lang="en-US" sz="1600" dirty="0"/>
              <a:t> di router </a:t>
            </a:r>
            <a:r>
              <a:rPr lang="en-US" sz="1600" dirty="0" err="1"/>
              <a:t>maka</a:t>
            </a:r>
            <a:r>
              <a:rPr lang="en-US" sz="1600" dirty="0"/>
              <a:t> </a:t>
            </a:r>
            <a:r>
              <a:rPr lang="en-US" sz="1600" dirty="0" err="1"/>
              <a:t>disebut</a:t>
            </a:r>
            <a:r>
              <a:rPr lang="en-US" sz="1600" dirty="0"/>
              <a:t> </a:t>
            </a:r>
            <a:r>
              <a:rPr lang="en-US" sz="1600" dirty="0" smtClean="0"/>
              <a:t>Network Service </a:t>
            </a:r>
            <a:r>
              <a:rPr lang="en-US" sz="1600" dirty="0"/>
              <a:t>Access Point (NSAP) </a:t>
            </a:r>
            <a:r>
              <a:rPr lang="en-US" sz="1600" dirty="0" err="1"/>
              <a:t>dan</a:t>
            </a:r>
            <a:r>
              <a:rPr lang="en-US" sz="1600" dirty="0"/>
              <a:t> NSAP </a:t>
            </a:r>
            <a:r>
              <a:rPr lang="en-US" sz="1600" dirty="0" err="1"/>
              <a:t>ini</a:t>
            </a:r>
            <a:r>
              <a:rPr lang="en-US" sz="1600" dirty="0"/>
              <a:t> yang </a:t>
            </a:r>
            <a:r>
              <a:rPr lang="en-US" sz="1600" dirty="0" err="1"/>
              <a:t>digunakan</a:t>
            </a:r>
            <a:r>
              <a:rPr lang="en-US" sz="1600" dirty="0"/>
              <a:t> </a:t>
            </a:r>
            <a:r>
              <a:rPr lang="en-US" sz="1600" dirty="0" err="1"/>
              <a:t>dalam</a:t>
            </a:r>
            <a:r>
              <a:rPr lang="en-US" sz="1600" dirty="0"/>
              <a:t> </a:t>
            </a:r>
            <a:r>
              <a:rPr lang="en-US" sz="1600" dirty="0" smtClean="0"/>
              <a:t>system </a:t>
            </a:r>
            <a:r>
              <a:rPr lang="en-US" sz="1600" dirty="0" err="1" smtClean="0"/>
              <a:t>pengalamatan</a:t>
            </a:r>
            <a:r>
              <a:rPr lang="en-US" sz="1600" dirty="0" smtClean="0"/>
              <a:t> </a:t>
            </a:r>
            <a:r>
              <a:rPr lang="en-US" sz="1600" dirty="0"/>
              <a:t>di </a:t>
            </a:r>
            <a:r>
              <a:rPr lang="en-US" sz="1600" dirty="0" smtClean="0"/>
              <a:t>ISIS. </a:t>
            </a:r>
            <a:endParaRPr lang="en-US" sz="1600" dirty="0"/>
          </a:p>
        </p:txBody>
      </p:sp>
      <p:sp>
        <p:nvSpPr>
          <p:cNvPr id="4" name="Rectangle 3"/>
          <p:cNvSpPr/>
          <p:nvPr/>
        </p:nvSpPr>
        <p:spPr>
          <a:xfrm>
            <a:off x="8143456" y="4423"/>
            <a:ext cx="415754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chemeClr val="bg2">
                    <a:lumMod val="50000"/>
                  </a:schemeClr>
                </a:solidFill>
              </a:rPr>
              <a:t>MPLS </a:t>
            </a:r>
            <a:r>
              <a:rPr lang="en-US" sz="2800" dirty="0" err="1">
                <a:solidFill>
                  <a:schemeClr val="bg2">
                    <a:lumMod val="50000"/>
                  </a:schemeClr>
                </a:solidFill>
              </a:rPr>
              <a:t>pada</a:t>
            </a:r>
            <a:r>
              <a:rPr lang="en-US" sz="28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sz="2800" dirty="0" err="1" smtClean="0">
                <a:solidFill>
                  <a:schemeClr val="bg2">
                    <a:lumMod val="50000"/>
                  </a:schemeClr>
                </a:solidFill>
              </a:rPr>
              <a:t>MikroTik</a:t>
            </a:r>
            <a:r>
              <a:rPr lang="en-US" sz="2800" dirty="0" smtClean="0">
                <a:solidFill>
                  <a:schemeClr val="bg2">
                    <a:lumMod val="50000"/>
                  </a:schemeClr>
                </a:solidFill>
              </a:rPr>
              <a:t>(</a:t>
            </a:r>
            <a:r>
              <a:rPr lang="en-US" sz="2800" dirty="0" err="1" smtClean="0">
                <a:solidFill>
                  <a:schemeClr val="bg2">
                    <a:lumMod val="50000"/>
                  </a:schemeClr>
                </a:solidFill>
              </a:rPr>
              <a:t>Con’t</a:t>
            </a:r>
            <a:r>
              <a:rPr lang="en-US" sz="2800" dirty="0" smtClean="0">
                <a:solidFill>
                  <a:schemeClr val="bg2">
                    <a:lumMod val="50000"/>
                  </a:schemeClr>
                </a:solidFill>
              </a:rPr>
              <a:t>)</a:t>
            </a:r>
            <a:endParaRPr lang="en-US" sz="28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221805" y="429238"/>
            <a:ext cx="856112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chemeClr val="bg2">
                    <a:lumMod val="50000"/>
                  </a:schemeClr>
                </a:solidFill>
              </a:rPr>
              <a:t>INTERMEDIATE SYSTEM TO INTERMEDIATE SYSTEM (</a:t>
            </a:r>
            <a:r>
              <a:rPr lang="en-US" sz="2800" dirty="0" smtClean="0">
                <a:solidFill>
                  <a:schemeClr val="bg2">
                    <a:lumMod val="50000"/>
                  </a:schemeClr>
                </a:solidFill>
              </a:rPr>
              <a:t>ISIS)</a:t>
            </a:r>
            <a:endParaRPr lang="en-US" sz="28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5373510" y="854052"/>
            <a:ext cx="6470827" cy="60016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600" dirty="0"/>
              <a:t>ISIS protocol </a:t>
            </a:r>
            <a:r>
              <a:rPr lang="en-US" sz="1600" dirty="0" err="1"/>
              <a:t>dikembangkan</a:t>
            </a:r>
            <a:r>
              <a:rPr lang="en-US" sz="1600" dirty="0"/>
              <a:t> </a:t>
            </a:r>
            <a:r>
              <a:rPr lang="en-US" sz="1600" dirty="0" err="1"/>
              <a:t>oleh</a:t>
            </a:r>
            <a:r>
              <a:rPr lang="en-US" sz="1600" dirty="0"/>
              <a:t> Digital Equipment Corporation </a:t>
            </a:r>
            <a:r>
              <a:rPr lang="en-US" sz="1600" dirty="0" err="1"/>
              <a:t>sebagai</a:t>
            </a:r>
            <a:r>
              <a:rPr lang="en-US" sz="1600" dirty="0"/>
              <a:t> </a:t>
            </a:r>
            <a:r>
              <a:rPr lang="en-US" sz="1600" dirty="0" err="1"/>
              <a:t>bagian</a:t>
            </a:r>
            <a:r>
              <a:rPr lang="en-US" sz="1600" dirty="0"/>
              <a:t> </a:t>
            </a:r>
            <a:r>
              <a:rPr lang="en-US" sz="1600" dirty="0" err="1"/>
              <a:t>dari</a:t>
            </a:r>
            <a:r>
              <a:rPr lang="en-US" sz="1600" dirty="0"/>
              <a:t> </a:t>
            </a:r>
            <a:r>
              <a:rPr lang="en-US" sz="1600" dirty="0" err="1"/>
              <a:t>Tahap</a:t>
            </a:r>
            <a:r>
              <a:rPr lang="en-US" sz="1600" dirty="0"/>
              <a:t> </a:t>
            </a:r>
            <a:r>
              <a:rPr lang="en-US" sz="1600" dirty="0" err="1"/>
              <a:t>DECnet</a:t>
            </a:r>
            <a:r>
              <a:rPr lang="en-US" sz="1600" dirty="0"/>
              <a:t> V </a:t>
            </a:r>
            <a:r>
              <a:rPr lang="en-US" sz="1600" dirty="0" err="1"/>
              <a:t>standar</a:t>
            </a:r>
            <a:r>
              <a:rPr lang="en-US" sz="1600" dirty="0"/>
              <a:t> </a:t>
            </a:r>
            <a:r>
              <a:rPr lang="en-US" sz="1600" dirty="0" err="1"/>
              <a:t>oleh</a:t>
            </a:r>
            <a:r>
              <a:rPr lang="en-US" sz="1600" dirty="0"/>
              <a:t> ISO </a:t>
            </a:r>
            <a:r>
              <a:rPr lang="en-US" sz="1600" dirty="0" err="1"/>
              <a:t>pada</a:t>
            </a:r>
            <a:r>
              <a:rPr lang="en-US" sz="1600" dirty="0"/>
              <a:t> </a:t>
            </a:r>
            <a:r>
              <a:rPr lang="en-US" sz="1600" dirty="0" err="1"/>
              <a:t>tahun</a:t>
            </a:r>
            <a:r>
              <a:rPr lang="en-US" sz="1600" dirty="0"/>
              <a:t> 1992 </a:t>
            </a:r>
            <a:r>
              <a:rPr lang="en-US" sz="1600" dirty="0" err="1"/>
              <a:t>sebagai</a:t>
            </a:r>
            <a:r>
              <a:rPr lang="en-US" sz="1600" dirty="0"/>
              <a:t> ISO 10589 </a:t>
            </a:r>
            <a:r>
              <a:rPr lang="en-US" sz="1600" dirty="0" err="1"/>
              <a:t>untuk</a:t>
            </a:r>
            <a:r>
              <a:rPr lang="en-US" sz="1600" dirty="0"/>
              <a:t> </a:t>
            </a:r>
            <a:r>
              <a:rPr lang="en-US" sz="1600" dirty="0" err="1"/>
              <a:t>komunikasi</a:t>
            </a:r>
            <a:r>
              <a:rPr lang="en-US" sz="1600" dirty="0"/>
              <a:t> </a:t>
            </a:r>
            <a:r>
              <a:rPr lang="en-US" sz="1600" dirty="0" err="1"/>
              <a:t>antara</a:t>
            </a:r>
            <a:r>
              <a:rPr lang="en-US" sz="1600" dirty="0"/>
              <a:t> </a:t>
            </a:r>
            <a:r>
              <a:rPr lang="en-US" sz="1600" dirty="0" err="1"/>
              <a:t>perangkat</a:t>
            </a:r>
            <a:r>
              <a:rPr lang="en-US" sz="1600" dirty="0"/>
              <a:t> </a:t>
            </a:r>
            <a:r>
              <a:rPr lang="en-US" sz="1600" dirty="0" err="1"/>
              <a:t>jaringan</a:t>
            </a:r>
            <a:r>
              <a:rPr lang="en-US" sz="1600" dirty="0"/>
              <a:t> yang </a:t>
            </a:r>
            <a:r>
              <a:rPr lang="en-US" sz="1600" dirty="0" err="1"/>
              <a:t>disebut</a:t>
            </a:r>
            <a:r>
              <a:rPr lang="en-US" sz="1600" dirty="0"/>
              <a:t> </a:t>
            </a:r>
            <a:r>
              <a:rPr lang="en-US" sz="1600" dirty="0" err="1"/>
              <a:t>Sistem</a:t>
            </a:r>
            <a:r>
              <a:rPr lang="en-US" sz="1600" dirty="0"/>
              <a:t> Intermediate </a:t>
            </a:r>
            <a:r>
              <a:rPr lang="en-US" sz="1600" dirty="0" err="1"/>
              <a:t>oleh</a:t>
            </a:r>
            <a:r>
              <a:rPr lang="en-US" sz="1600" dirty="0"/>
              <a:t> ISO. </a:t>
            </a:r>
            <a:r>
              <a:rPr lang="en-US" sz="1600" dirty="0" err="1"/>
              <a:t>Tujuan</a:t>
            </a:r>
            <a:r>
              <a:rPr lang="en-US" sz="1600" dirty="0"/>
              <a:t> </a:t>
            </a:r>
            <a:r>
              <a:rPr lang="en-US" sz="1600" dirty="0" err="1"/>
              <a:t>dari</a:t>
            </a:r>
            <a:r>
              <a:rPr lang="en-US" sz="1600" dirty="0"/>
              <a:t> ISIS </a:t>
            </a:r>
            <a:r>
              <a:rPr lang="en-US" sz="1600" dirty="0" err="1"/>
              <a:t>adalah</a:t>
            </a:r>
            <a:r>
              <a:rPr lang="en-US" sz="1600" dirty="0"/>
              <a:t> </a:t>
            </a:r>
            <a:r>
              <a:rPr lang="en-US" sz="1600" dirty="0" err="1"/>
              <a:t>untuk</a:t>
            </a:r>
            <a:r>
              <a:rPr lang="en-US" sz="1600" dirty="0"/>
              <a:t> </a:t>
            </a:r>
            <a:r>
              <a:rPr lang="en-US" sz="1600" dirty="0" err="1"/>
              <a:t>memungkinkan</a:t>
            </a:r>
            <a:r>
              <a:rPr lang="en-US" sz="1600" dirty="0"/>
              <a:t> routing datagram </a:t>
            </a:r>
            <a:r>
              <a:rPr lang="en-US" sz="1600" dirty="0" err="1"/>
              <a:t>menggunakan</a:t>
            </a:r>
            <a:r>
              <a:rPr lang="en-US" sz="1600" dirty="0"/>
              <a:t> ISO-OSI </a:t>
            </a:r>
            <a:r>
              <a:rPr lang="en-US" sz="1600" dirty="0" err="1"/>
              <a:t>dikembangkan</a:t>
            </a:r>
            <a:r>
              <a:rPr lang="en-US" sz="1600" dirty="0"/>
              <a:t> </a:t>
            </a:r>
            <a:r>
              <a:rPr lang="en-US" sz="1600" dirty="0" err="1"/>
              <a:t>tumpukan</a:t>
            </a:r>
            <a:r>
              <a:rPr lang="en-US" sz="1600" dirty="0"/>
              <a:t> protocol yang </a:t>
            </a:r>
            <a:r>
              <a:rPr lang="en-US" sz="1600" dirty="0" err="1"/>
              <a:t>disebut</a:t>
            </a:r>
            <a:r>
              <a:rPr lang="en-US" sz="1600" dirty="0"/>
              <a:t> CLNS. ISIS </a:t>
            </a:r>
            <a:r>
              <a:rPr lang="en-US" sz="1600" dirty="0" err="1"/>
              <a:t>dikembangkan</a:t>
            </a:r>
            <a:r>
              <a:rPr lang="en-US" sz="1600" dirty="0"/>
              <a:t> di </a:t>
            </a:r>
            <a:r>
              <a:rPr lang="en-US" sz="1600" dirty="0" err="1"/>
              <a:t>sekitar</a:t>
            </a:r>
            <a:r>
              <a:rPr lang="en-US" sz="1600" dirty="0"/>
              <a:t> </a:t>
            </a:r>
            <a:r>
              <a:rPr lang="en-US" sz="1600" dirty="0" err="1"/>
              <a:t>waktu</a:t>
            </a:r>
            <a:r>
              <a:rPr lang="en-US" sz="1600" dirty="0"/>
              <a:t> yang </a:t>
            </a:r>
            <a:r>
              <a:rPr lang="en-US" sz="1600" dirty="0" err="1"/>
              <a:t>sama</a:t>
            </a:r>
            <a:r>
              <a:rPr lang="en-US" sz="1600" dirty="0"/>
              <a:t> </a:t>
            </a:r>
            <a:r>
              <a:rPr lang="en-US" sz="1600" dirty="0" err="1"/>
              <a:t>bahwa</a:t>
            </a:r>
            <a:r>
              <a:rPr lang="en-US" sz="1600" dirty="0"/>
              <a:t> Internet Engineering Task Force IETF </a:t>
            </a:r>
            <a:r>
              <a:rPr lang="en-US" sz="1600" dirty="0" err="1"/>
              <a:t>mengembangkan</a:t>
            </a:r>
            <a:r>
              <a:rPr lang="en-US" sz="1600" dirty="0"/>
              <a:t> protocol yang </a:t>
            </a:r>
            <a:r>
              <a:rPr lang="en-US" sz="1600" dirty="0" err="1"/>
              <a:t>sama</a:t>
            </a:r>
            <a:r>
              <a:rPr lang="en-US" sz="1600" dirty="0"/>
              <a:t> </a:t>
            </a:r>
            <a:r>
              <a:rPr lang="en-US" sz="1600" dirty="0" err="1"/>
              <a:t>disebut</a:t>
            </a:r>
            <a:r>
              <a:rPr lang="en-US" sz="1600" dirty="0"/>
              <a:t> OSPF. ISIS </a:t>
            </a:r>
            <a:r>
              <a:rPr lang="en-US" sz="1600" dirty="0" err="1"/>
              <a:t>kemudian</a:t>
            </a:r>
            <a:r>
              <a:rPr lang="en-US" sz="1600" dirty="0"/>
              <a:t> </a:t>
            </a:r>
            <a:r>
              <a:rPr lang="en-US" sz="1600" dirty="0" err="1"/>
              <a:t>diperluas</a:t>
            </a:r>
            <a:r>
              <a:rPr lang="en-US" sz="1600" dirty="0"/>
              <a:t> </a:t>
            </a:r>
            <a:r>
              <a:rPr lang="en-US" sz="1600" dirty="0" err="1"/>
              <a:t>untuk</a:t>
            </a:r>
            <a:r>
              <a:rPr lang="en-US" sz="1600" dirty="0"/>
              <a:t> </a:t>
            </a:r>
            <a:r>
              <a:rPr lang="en-US" sz="1600" dirty="0" err="1"/>
              <a:t>mendukung</a:t>
            </a:r>
            <a:r>
              <a:rPr lang="en-US" sz="1600" dirty="0"/>
              <a:t> routing datagram </a:t>
            </a:r>
            <a:r>
              <a:rPr lang="en-US" sz="1600" dirty="0" err="1"/>
              <a:t>dalam</a:t>
            </a:r>
            <a:r>
              <a:rPr lang="en-US" sz="1600" dirty="0"/>
              <a:t> Internet Protocol (IP), Network Layer protocol Internet global. </a:t>
            </a:r>
            <a:r>
              <a:rPr lang="en-US" sz="1600" dirty="0" err="1"/>
              <a:t>Ini</a:t>
            </a:r>
            <a:r>
              <a:rPr lang="en-US" sz="1600" dirty="0"/>
              <a:t> </a:t>
            </a:r>
            <a:r>
              <a:rPr lang="en-US" sz="1600" dirty="0" err="1"/>
              <a:t>versi</a:t>
            </a:r>
            <a:r>
              <a:rPr lang="en-US" sz="1600" dirty="0"/>
              <a:t> ISIS routing protocol </a:t>
            </a:r>
            <a:r>
              <a:rPr lang="en-US" sz="1600" dirty="0" err="1"/>
              <a:t>kemudian</a:t>
            </a:r>
            <a:r>
              <a:rPr lang="en-US" sz="1600" dirty="0"/>
              <a:t> </a:t>
            </a:r>
            <a:r>
              <a:rPr lang="en-US" sz="1600" dirty="0" err="1"/>
              <a:t>disebut</a:t>
            </a:r>
            <a:r>
              <a:rPr lang="en-US" sz="1600" dirty="0"/>
              <a:t> </a:t>
            </a:r>
            <a:r>
              <a:rPr lang="en-US" sz="1600" dirty="0" err="1"/>
              <a:t>Terpadu</a:t>
            </a:r>
            <a:r>
              <a:rPr lang="en-US" sz="1600" dirty="0"/>
              <a:t> ISIS (RFC 1195</a:t>
            </a:r>
            <a:r>
              <a:rPr lang="en-US" sz="1600" dirty="0" smtClean="0"/>
              <a:t>).</a:t>
            </a:r>
          </a:p>
          <a:p>
            <a:pPr algn="just"/>
            <a:endParaRPr lang="en-US" sz="1600" dirty="0"/>
          </a:p>
          <a:p>
            <a:pPr algn="just"/>
            <a:r>
              <a:rPr lang="en-US" sz="1600" dirty="0"/>
              <a:t>ISIS </a:t>
            </a:r>
            <a:r>
              <a:rPr lang="en-US" sz="1600" dirty="0" err="1"/>
              <a:t>merupakan</a:t>
            </a:r>
            <a:r>
              <a:rPr lang="en-US" sz="1600" dirty="0"/>
              <a:t> </a:t>
            </a:r>
            <a:r>
              <a:rPr lang="en-US" sz="1600" dirty="0" err="1"/>
              <a:t>salah</a:t>
            </a:r>
            <a:r>
              <a:rPr lang="en-US" sz="1600" dirty="0"/>
              <a:t> </a:t>
            </a:r>
            <a:r>
              <a:rPr lang="en-US" sz="1600" dirty="0" err="1"/>
              <a:t>satu</a:t>
            </a:r>
            <a:r>
              <a:rPr lang="en-US" sz="1600" dirty="0"/>
              <a:t> routing protocol IGP (internal Gateway Protocol) yang </a:t>
            </a:r>
            <a:r>
              <a:rPr lang="en-US" sz="1600" dirty="0" err="1"/>
              <a:t>digunakan</a:t>
            </a:r>
            <a:r>
              <a:rPr lang="en-US" sz="1600" dirty="0"/>
              <a:t> </a:t>
            </a:r>
            <a:r>
              <a:rPr lang="en-US" sz="1600" dirty="0" err="1"/>
              <a:t>oleh</a:t>
            </a:r>
            <a:r>
              <a:rPr lang="en-US" sz="1600" dirty="0"/>
              <a:t> network device </a:t>
            </a:r>
            <a:r>
              <a:rPr lang="en-US" sz="1600" dirty="0" err="1"/>
              <a:t>dalam</a:t>
            </a:r>
            <a:r>
              <a:rPr lang="en-US" sz="1600" dirty="0"/>
              <a:t> </a:t>
            </a:r>
            <a:r>
              <a:rPr lang="en-US" sz="1600" dirty="0" err="1"/>
              <a:t>hal</a:t>
            </a:r>
            <a:r>
              <a:rPr lang="en-US" sz="1600" dirty="0"/>
              <a:t> </a:t>
            </a:r>
            <a:r>
              <a:rPr lang="en-US" sz="1600" dirty="0" err="1"/>
              <a:t>ini</a:t>
            </a:r>
            <a:r>
              <a:rPr lang="en-US" sz="1600" dirty="0"/>
              <a:t> router </a:t>
            </a:r>
            <a:r>
              <a:rPr lang="en-US" sz="1600" dirty="0" err="1"/>
              <a:t>untuk</a:t>
            </a:r>
            <a:r>
              <a:rPr lang="en-US" sz="1600" dirty="0"/>
              <a:t> </a:t>
            </a:r>
            <a:r>
              <a:rPr lang="en-US" sz="1600" dirty="0" err="1"/>
              <a:t>menentukan</a:t>
            </a:r>
            <a:r>
              <a:rPr lang="en-US" sz="1600" dirty="0"/>
              <a:t> best route (route </a:t>
            </a:r>
            <a:r>
              <a:rPr lang="en-US" sz="1600" dirty="0" err="1"/>
              <a:t>terbaik</a:t>
            </a:r>
            <a:r>
              <a:rPr lang="en-US" sz="1600" dirty="0"/>
              <a:t>) </a:t>
            </a:r>
            <a:r>
              <a:rPr lang="en-US" sz="1600" dirty="0" err="1"/>
              <a:t>untuk</a:t>
            </a:r>
            <a:r>
              <a:rPr lang="en-US" sz="1600" dirty="0"/>
              <a:t> </a:t>
            </a:r>
            <a:r>
              <a:rPr lang="en-US" sz="1600" dirty="0" err="1"/>
              <a:t>meneruskan</a:t>
            </a:r>
            <a:r>
              <a:rPr lang="en-US" sz="1600" dirty="0"/>
              <a:t> traffic data </a:t>
            </a:r>
            <a:r>
              <a:rPr lang="en-US" sz="1600" dirty="0" err="1"/>
              <a:t>ke</a:t>
            </a:r>
            <a:r>
              <a:rPr lang="en-US" sz="1600" dirty="0"/>
              <a:t> </a:t>
            </a:r>
            <a:r>
              <a:rPr lang="en-US" sz="1600" dirty="0" err="1"/>
              <a:t>suatu</a:t>
            </a:r>
            <a:r>
              <a:rPr lang="en-US" sz="1600" dirty="0"/>
              <a:t> </a:t>
            </a:r>
            <a:r>
              <a:rPr lang="en-US" sz="1600" dirty="0" err="1"/>
              <a:t>tujuan</a:t>
            </a:r>
            <a:r>
              <a:rPr lang="en-US" sz="1600" dirty="0"/>
              <a:t>. ISIS </a:t>
            </a:r>
            <a:r>
              <a:rPr lang="en-US" sz="1600" dirty="0" err="1"/>
              <a:t>didevelop</a:t>
            </a:r>
            <a:r>
              <a:rPr lang="en-US" sz="1600" dirty="0"/>
              <a:t> </a:t>
            </a:r>
            <a:r>
              <a:rPr lang="en-US" sz="1600" dirty="0" err="1"/>
              <a:t>oleh</a:t>
            </a:r>
            <a:r>
              <a:rPr lang="en-US" sz="1600" dirty="0"/>
              <a:t> </a:t>
            </a:r>
            <a:r>
              <a:rPr lang="en-US" sz="1600" dirty="0" err="1"/>
              <a:t>DECnet</a:t>
            </a:r>
            <a:r>
              <a:rPr lang="en-US" sz="1600" dirty="0"/>
              <a:t> </a:t>
            </a:r>
            <a:r>
              <a:rPr lang="en-US" sz="1600" dirty="0" err="1"/>
              <a:t>sekitar</a:t>
            </a:r>
            <a:r>
              <a:rPr lang="en-US" sz="1600" dirty="0"/>
              <a:t> </a:t>
            </a:r>
            <a:r>
              <a:rPr lang="en-US" sz="1600" dirty="0" err="1"/>
              <a:t>tahun</a:t>
            </a:r>
            <a:r>
              <a:rPr lang="en-US" sz="1600" dirty="0"/>
              <a:t> 1992 </a:t>
            </a:r>
            <a:r>
              <a:rPr lang="en-US" sz="1600" dirty="0" err="1"/>
              <a:t>dimana</a:t>
            </a:r>
            <a:r>
              <a:rPr lang="en-US" sz="1600" dirty="0"/>
              <a:t> </a:t>
            </a:r>
            <a:r>
              <a:rPr lang="en-US" sz="1600" dirty="0" err="1"/>
              <a:t>pada</a:t>
            </a:r>
            <a:r>
              <a:rPr lang="en-US" sz="1600" dirty="0"/>
              <a:t> </a:t>
            </a:r>
            <a:r>
              <a:rPr lang="en-US" sz="1600" dirty="0" err="1"/>
              <a:t>waktu</a:t>
            </a:r>
            <a:r>
              <a:rPr lang="en-US" sz="1600" dirty="0"/>
              <a:t> </a:t>
            </a:r>
            <a:r>
              <a:rPr lang="en-US" sz="1600" dirty="0" err="1"/>
              <a:t>itu</a:t>
            </a:r>
            <a:r>
              <a:rPr lang="en-US" sz="1600" dirty="0"/>
              <a:t> IETF </a:t>
            </a:r>
            <a:r>
              <a:rPr lang="en-US" sz="1600" dirty="0" err="1"/>
              <a:t>juga</a:t>
            </a:r>
            <a:r>
              <a:rPr lang="en-US" sz="1600" dirty="0"/>
              <a:t> </a:t>
            </a:r>
            <a:r>
              <a:rPr lang="en-US" sz="1600" dirty="0" err="1"/>
              <a:t>sedang</a:t>
            </a:r>
            <a:r>
              <a:rPr lang="en-US" sz="1600" dirty="0"/>
              <a:t> </a:t>
            </a:r>
            <a:r>
              <a:rPr lang="en-US" sz="1600" dirty="0" err="1"/>
              <a:t>mengembangkan</a:t>
            </a:r>
            <a:r>
              <a:rPr lang="en-US" sz="1600" dirty="0"/>
              <a:t> protocol OSPF. </a:t>
            </a:r>
            <a:r>
              <a:rPr lang="en-US" sz="1600" dirty="0" err="1"/>
              <a:t>sebagai</a:t>
            </a:r>
            <a:r>
              <a:rPr lang="en-US" sz="1600" dirty="0"/>
              <a:t> IGP routing protocol ISIS </a:t>
            </a:r>
            <a:r>
              <a:rPr lang="en-US" sz="1600" dirty="0" err="1"/>
              <a:t>ber-operasi</a:t>
            </a:r>
            <a:r>
              <a:rPr lang="en-US" sz="1600" dirty="0"/>
              <a:t> </a:t>
            </a:r>
            <a:r>
              <a:rPr lang="en-US" sz="1600" dirty="0" err="1"/>
              <a:t>didalam</a:t>
            </a:r>
            <a:r>
              <a:rPr lang="en-US" sz="1600" dirty="0"/>
              <a:t> Administrative Domain yang </a:t>
            </a:r>
            <a:r>
              <a:rPr lang="en-US" sz="1600" dirty="0" err="1"/>
              <a:t>sama</a:t>
            </a:r>
            <a:r>
              <a:rPr lang="en-US" sz="1600" dirty="0"/>
              <a:t>. </a:t>
            </a:r>
            <a:r>
              <a:rPr lang="en-US" sz="1600" dirty="0" err="1"/>
              <a:t>seperti</a:t>
            </a:r>
            <a:r>
              <a:rPr lang="en-US" sz="1600" dirty="0"/>
              <a:t> OSPF, protocol ISIS </a:t>
            </a:r>
            <a:r>
              <a:rPr lang="en-US" sz="1600" dirty="0" err="1"/>
              <a:t>juga</a:t>
            </a:r>
            <a:r>
              <a:rPr lang="en-US" sz="1600" dirty="0"/>
              <a:t> </a:t>
            </a:r>
            <a:r>
              <a:rPr lang="en-US" sz="1600" dirty="0" err="1"/>
              <a:t>merupakan</a:t>
            </a:r>
            <a:r>
              <a:rPr lang="en-US" sz="1600" dirty="0"/>
              <a:t> link-state protocol </a:t>
            </a:r>
            <a:r>
              <a:rPr lang="en-US" sz="1600" dirty="0" err="1"/>
              <a:t>dan</a:t>
            </a:r>
            <a:r>
              <a:rPr lang="en-US" sz="1600" dirty="0"/>
              <a:t> 15101115 20 </a:t>
            </a:r>
            <a:r>
              <a:rPr lang="en-US" sz="1600" dirty="0" err="1"/>
              <a:t>sama-sama</a:t>
            </a:r>
            <a:r>
              <a:rPr lang="en-US" sz="1600" dirty="0"/>
              <a:t> </a:t>
            </a:r>
            <a:r>
              <a:rPr lang="en-US" sz="1600" dirty="0" err="1"/>
              <a:t>menggunakan</a:t>
            </a:r>
            <a:r>
              <a:rPr lang="en-US" sz="1600" dirty="0"/>
              <a:t> </a:t>
            </a:r>
            <a:r>
              <a:rPr lang="en-US" sz="1600" dirty="0" err="1"/>
              <a:t>Djikstra</a:t>
            </a:r>
            <a:r>
              <a:rPr lang="en-US" sz="1600" dirty="0"/>
              <a:t> Algorithm </a:t>
            </a:r>
            <a:r>
              <a:rPr lang="en-US" sz="1600" dirty="0" err="1"/>
              <a:t>untuk</a:t>
            </a:r>
            <a:r>
              <a:rPr lang="en-US" sz="1600" dirty="0"/>
              <a:t> </a:t>
            </a:r>
            <a:r>
              <a:rPr lang="en-US" sz="1600" dirty="0" err="1"/>
              <a:t>melakukan</a:t>
            </a:r>
            <a:r>
              <a:rPr lang="en-US" sz="1600" dirty="0"/>
              <a:t> </a:t>
            </a:r>
            <a:r>
              <a:rPr lang="en-US" sz="1600" dirty="0" err="1"/>
              <a:t>perhitungan</a:t>
            </a:r>
            <a:r>
              <a:rPr lang="en-US" sz="1600" dirty="0"/>
              <a:t> </a:t>
            </a:r>
            <a:r>
              <a:rPr lang="en-US" sz="1600" dirty="0" err="1"/>
              <a:t>dalam</a:t>
            </a:r>
            <a:r>
              <a:rPr lang="en-US" sz="1600" dirty="0"/>
              <a:t> </a:t>
            </a:r>
            <a:r>
              <a:rPr lang="en-US" sz="1600" dirty="0" err="1"/>
              <a:t>memilih</a:t>
            </a:r>
            <a:r>
              <a:rPr lang="en-US" sz="1600" dirty="0"/>
              <a:t> best path. </a:t>
            </a:r>
            <a:r>
              <a:rPr lang="en-US" sz="1600" dirty="0" err="1"/>
              <a:t>Bila</a:t>
            </a:r>
            <a:r>
              <a:rPr lang="en-US" sz="1600" dirty="0"/>
              <a:t> </a:t>
            </a:r>
            <a:r>
              <a:rPr lang="en-US" sz="1600" dirty="0" err="1"/>
              <a:t>dalam</a:t>
            </a:r>
            <a:r>
              <a:rPr lang="en-US" sz="1600" dirty="0"/>
              <a:t> protocol OSPF </a:t>
            </a:r>
            <a:r>
              <a:rPr lang="en-US" sz="1600" dirty="0" err="1"/>
              <a:t>terdapat</a:t>
            </a:r>
            <a:r>
              <a:rPr lang="en-US" sz="1600" dirty="0"/>
              <a:t> </a:t>
            </a:r>
            <a:r>
              <a:rPr lang="en-US" sz="1600" dirty="0" err="1"/>
              <a:t>konsep</a:t>
            </a:r>
            <a:r>
              <a:rPr lang="en-US" sz="1600" dirty="0"/>
              <a:t> Area, di ISIS </a:t>
            </a:r>
            <a:r>
              <a:rPr lang="en-US" sz="1600" dirty="0" err="1"/>
              <a:t>terdapat</a:t>
            </a:r>
            <a:r>
              <a:rPr lang="en-US" sz="1600" dirty="0"/>
              <a:t> Level, Level </a:t>
            </a:r>
            <a:r>
              <a:rPr lang="en-US" sz="1600" dirty="0" err="1"/>
              <a:t>disini</a:t>
            </a:r>
            <a:r>
              <a:rPr lang="en-US" sz="1600" dirty="0"/>
              <a:t> </a:t>
            </a:r>
            <a:r>
              <a:rPr lang="en-US" sz="1600" dirty="0" err="1"/>
              <a:t>merupakan</a:t>
            </a:r>
            <a:r>
              <a:rPr lang="en-US" sz="1600" dirty="0"/>
              <a:t> </a:t>
            </a:r>
            <a:r>
              <a:rPr lang="en-US" sz="1600" dirty="0" err="1"/>
              <a:t>batasan</a:t>
            </a:r>
            <a:r>
              <a:rPr lang="en-US" sz="1600" dirty="0"/>
              <a:t> </a:t>
            </a:r>
            <a:r>
              <a:rPr lang="en-US" sz="1600" dirty="0" err="1"/>
              <a:t>dari</a:t>
            </a:r>
            <a:r>
              <a:rPr lang="en-US" sz="1600" dirty="0"/>
              <a:t> </a:t>
            </a:r>
            <a:r>
              <a:rPr lang="en-US" sz="1600" dirty="0" err="1"/>
              <a:t>pengkelompokan</a:t>
            </a:r>
            <a:r>
              <a:rPr lang="en-US" sz="1600" dirty="0"/>
              <a:t> router-router. </a:t>
            </a:r>
            <a:r>
              <a:rPr lang="en-US" sz="1600" dirty="0" err="1"/>
              <a:t>terdapat</a:t>
            </a:r>
            <a:r>
              <a:rPr lang="en-US" sz="1600" dirty="0"/>
              <a:t> Level 2, Level 1 </a:t>
            </a:r>
            <a:r>
              <a:rPr lang="en-US" sz="1600" dirty="0" err="1"/>
              <a:t>dan</a:t>
            </a:r>
            <a:r>
              <a:rPr lang="en-US" sz="1600" dirty="0"/>
              <a:t> L1/L2 level. Level 2 </a:t>
            </a:r>
            <a:r>
              <a:rPr lang="en-US" sz="1600" dirty="0" err="1"/>
              <a:t>merupakan</a:t>
            </a:r>
            <a:r>
              <a:rPr lang="en-US" sz="1600" dirty="0"/>
              <a:t> backbone area </a:t>
            </a:r>
            <a:r>
              <a:rPr lang="en-US" sz="1600" dirty="0" err="1"/>
              <a:t>dimana</a:t>
            </a:r>
            <a:r>
              <a:rPr lang="en-US" sz="1600" dirty="0"/>
              <a:t> Level 2 ISIS router </a:t>
            </a:r>
            <a:r>
              <a:rPr lang="en-US" sz="1600" dirty="0" err="1"/>
              <a:t>akan</a:t>
            </a:r>
            <a:r>
              <a:rPr lang="en-US" sz="1600" dirty="0"/>
              <a:t> </a:t>
            </a:r>
            <a:r>
              <a:rPr lang="en-US" sz="1600" dirty="0" err="1"/>
              <a:t>saling</a:t>
            </a:r>
            <a:r>
              <a:rPr lang="en-US" sz="1600" dirty="0"/>
              <a:t> </a:t>
            </a:r>
            <a:r>
              <a:rPr lang="en-US" sz="1600" dirty="0" err="1"/>
              <a:t>berbagi</a:t>
            </a:r>
            <a:r>
              <a:rPr lang="en-US" sz="1600" dirty="0"/>
              <a:t> </a:t>
            </a:r>
            <a:r>
              <a:rPr lang="en-US" sz="1600" dirty="0" err="1"/>
              <a:t>informasi</a:t>
            </a:r>
            <a:r>
              <a:rPr lang="en-US" sz="1600" dirty="0"/>
              <a:t> </a:t>
            </a:r>
            <a:r>
              <a:rPr lang="en-US" sz="1600" dirty="0" err="1"/>
              <a:t>bila</a:t>
            </a:r>
            <a:r>
              <a:rPr lang="en-US" sz="1600" dirty="0"/>
              <a:t> router-router </a:t>
            </a:r>
            <a:r>
              <a:rPr lang="en-US" sz="1600" dirty="0" err="1"/>
              <a:t>tersebut</a:t>
            </a:r>
            <a:r>
              <a:rPr lang="en-US" sz="1600" dirty="0"/>
              <a:t> </a:t>
            </a:r>
            <a:r>
              <a:rPr lang="en-US" sz="1600" dirty="0" err="1"/>
              <a:t>sama-sama</a:t>
            </a:r>
            <a:r>
              <a:rPr lang="en-US" sz="1600" dirty="0"/>
              <a:t> </a:t>
            </a:r>
            <a:r>
              <a:rPr lang="en-US" sz="1600" dirty="0" err="1"/>
              <a:t>dikonfigurasi</a:t>
            </a:r>
            <a:r>
              <a:rPr lang="en-US" sz="1600" dirty="0"/>
              <a:t> </a:t>
            </a:r>
            <a:r>
              <a:rPr lang="en-US" sz="1600" dirty="0" err="1"/>
              <a:t>sebagai</a:t>
            </a:r>
            <a:r>
              <a:rPr lang="en-US" sz="1600" dirty="0"/>
              <a:t> level 2 area. 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9693233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274759" y="854052"/>
            <a:ext cx="11509202" cy="32932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600" dirty="0" smtClean="0"/>
              <a:t>Router </a:t>
            </a:r>
            <a:r>
              <a:rPr lang="en-US" sz="1600" dirty="0"/>
              <a:t>yang </a:t>
            </a:r>
            <a:r>
              <a:rPr lang="en-US" sz="1600" dirty="0" err="1"/>
              <a:t>dikonfigurasi</a:t>
            </a:r>
            <a:r>
              <a:rPr lang="en-US" sz="1600" dirty="0"/>
              <a:t> </a:t>
            </a:r>
            <a:r>
              <a:rPr lang="en-US" sz="1600" dirty="0" err="1"/>
              <a:t>sebagai</a:t>
            </a:r>
            <a:r>
              <a:rPr lang="en-US" sz="1600" dirty="0"/>
              <a:t> </a:t>
            </a:r>
            <a:r>
              <a:rPr lang="en-US" sz="1600" dirty="0" smtClean="0"/>
              <a:t>Level 1 </a:t>
            </a:r>
            <a:r>
              <a:rPr lang="en-US" sz="1600" dirty="0" err="1"/>
              <a:t>makan</a:t>
            </a:r>
            <a:r>
              <a:rPr lang="en-US" sz="1600" dirty="0"/>
              <a:t> </a:t>
            </a:r>
            <a:r>
              <a:rPr lang="en-US" sz="1600" dirty="0" err="1"/>
              <a:t>akan</a:t>
            </a:r>
            <a:r>
              <a:rPr lang="en-US" sz="1600" dirty="0"/>
              <a:t> </a:t>
            </a:r>
            <a:r>
              <a:rPr lang="en-US" sz="1600" dirty="0" err="1"/>
              <a:t>berbagi</a:t>
            </a:r>
            <a:r>
              <a:rPr lang="en-US" sz="1600" dirty="0"/>
              <a:t> </a:t>
            </a:r>
            <a:r>
              <a:rPr lang="en-US" sz="1600" dirty="0" err="1"/>
              <a:t>informasi</a:t>
            </a:r>
            <a:r>
              <a:rPr lang="en-US" sz="1600" dirty="0"/>
              <a:t> routing </a:t>
            </a:r>
            <a:r>
              <a:rPr lang="en-US" sz="1600" dirty="0" err="1"/>
              <a:t>bila</a:t>
            </a:r>
            <a:r>
              <a:rPr lang="en-US" sz="1600" dirty="0"/>
              <a:t> </a:t>
            </a:r>
            <a:r>
              <a:rPr lang="en-US" sz="1600" dirty="0" err="1"/>
              <a:t>sama-sama</a:t>
            </a:r>
            <a:r>
              <a:rPr lang="en-US" sz="1600" dirty="0"/>
              <a:t> </a:t>
            </a:r>
            <a:r>
              <a:rPr lang="en-US" sz="1600" dirty="0" err="1" smtClean="0"/>
              <a:t>dikonfigurasi</a:t>
            </a:r>
            <a:r>
              <a:rPr lang="en-US" sz="1600" dirty="0" smtClean="0"/>
              <a:t> Level </a:t>
            </a:r>
            <a:r>
              <a:rPr lang="en-US" sz="1600" dirty="0"/>
              <a:t>1 </a:t>
            </a:r>
            <a:r>
              <a:rPr lang="en-US" sz="1600" dirty="0" err="1"/>
              <a:t>dan</a:t>
            </a:r>
            <a:r>
              <a:rPr lang="en-US" sz="1600" dirty="0"/>
              <a:t> </a:t>
            </a:r>
            <a:r>
              <a:rPr lang="en-US" sz="1600" dirty="0" err="1"/>
              <a:t>nilai</a:t>
            </a:r>
            <a:r>
              <a:rPr lang="en-US" sz="1600" dirty="0"/>
              <a:t> ISIS Area </a:t>
            </a:r>
            <a:r>
              <a:rPr lang="en-US" sz="1600" dirty="0" err="1"/>
              <a:t>nya</a:t>
            </a:r>
            <a:r>
              <a:rPr lang="en-US" sz="1600" dirty="0"/>
              <a:t> </a:t>
            </a:r>
            <a:r>
              <a:rPr lang="en-US" sz="1600" dirty="0" err="1"/>
              <a:t>sama</a:t>
            </a:r>
            <a:r>
              <a:rPr lang="en-US" sz="1600" dirty="0"/>
              <a:t>. </a:t>
            </a:r>
            <a:r>
              <a:rPr lang="en-US" sz="1600" dirty="0" err="1"/>
              <a:t>sebelum</a:t>
            </a:r>
            <a:r>
              <a:rPr lang="en-US" sz="1600" dirty="0"/>
              <a:t> ISIS router </a:t>
            </a:r>
            <a:r>
              <a:rPr lang="en-US" sz="1600" dirty="0" err="1"/>
              <a:t>dapat</a:t>
            </a:r>
            <a:r>
              <a:rPr lang="en-US" sz="1600" dirty="0"/>
              <a:t> </a:t>
            </a:r>
            <a:r>
              <a:rPr lang="en-US" sz="1600" dirty="0" err="1" smtClean="0"/>
              <a:t>saling</a:t>
            </a:r>
            <a:r>
              <a:rPr lang="en-US" sz="1600" dirty="0" smtClean="0"/>
              <a:t> </a:t>
            </a:r>
            <a:r>
              <a:rPr lang="en-US" sz="1600" dirty="0" err="1" smtClean="0"/>
              <a:t>bertukar</a:t>
            </a:r>
            <a:r>
              <a:rPr lang="en-US" sz="1600" dirty="0" smtClean="0"/>
              <a:t> </a:t>
            </a:r>
            <a:r>
              <a:rPr lang="en-US" sz="1600" dirty="0" err="1"/>
              <a:t>informasi</a:t>
            </a:r>
            <a:r>
              <a:rPr lang="en-US" sz="1600" dirty="0"/>
              <a:t>, </a:t>
            </a:r>
            <a:r>
              <a:rPr lang="en-US" sz="1600" dirty="0" err="1"/>
              <a:t>maka</a:t>
            </a:r>
            <a:r>
              <a:rPr lang="en-US" sz="1600" dirty="0"/>
              <a:t> router-router </a:t>
            </a:r>
            <a:r>
              <a:rPr lang="en-US" sz="1600" dirty="0" err="1"/>
              <a:t>tersebut</a:t>
            </a:r>
            <a:r>
              <a:rPr lang="en-US" sz="1600" dirty="0"/>
              <a:t> </a:t>
            </a:r>
            <a:r>
              <a:rPr lang="en-US" sz="1600" dirty="0" err="1"/>
              <a:t>harus</a:t>
            </a:r>
            <a:r>
              <a:rPr lang="en-US" sz="1600" dirty="0"/>
              <a:t> </a:t>
            </a:r>
            <a:r>
              <a:rPr lang="en-US" sz="1600" dirty="0" err="1" smtClean="0"/>
              <a:t>membentuk</a:t>
            </a:r>
            <a:r>
              <a:rPr lang="en-US" sz="1600" dirty="0" smtClean="0"/>
              <a:t> adjacency </a:t>
            </a:r>
            <a:r>
              <a:rPr lang="en-US" sz="1600" dirty="0" err="1"/>
              <a:t>terlebih</a:t>
            </a:r>
            <a:r>
              <a:rPr lang="en-US" sz="1600" dirty="0"/>
              <a:t> </a:t>
            </a:r>
            <a:r>
              <a:rPr lang="en-US" sz="1600" dirty="0" err="1"/>
              <a:t>dahulu</a:t>
            </a:r>
            <a:r>
              <a:rPr lang="en-US" sz="1600" dirty="0"/>
              <a:t>. </a:t>
            </a:r>
            <a:r>
              <a:rPr lang="en-US" sz="1600" dirty="0" err="1"/>
              <a:t>berikut</a:t>
            </a:r>
            <a:r>
              <a:rPr lang="en-US" sz="1600" dirty="0"/>
              <a:t> </a:t>
            </a:r>
            <a:r>
              <a:rPr lang="en-US" sz="1600" dirty="0" err="1"/>
              <a:t>merupakan</a:t>
            </a:r>
            <a:r>
              <a:rPr lang="en-US" sz="1600" dirty="0"/>
              <a:t> proses </a:t>
            </a:r>
            <a:r>
              <a:rPr lang="en-US" sz="1600" dirty="0" err="1" smtClean="0"/>
              <a:t>pengkomunikasian</a:t>
            </a:r>
            <a:r>
              <a:rPr lang="en-US" sz="1600" dirty="0" smtClean="0"/>
              <a:t> </a:t>
            </a:r>
            <a:r>
              <a:rPr lang="en-US" sz="1600" dirty="0" err="1" smtClean="0"/>
              <a:t>antara</a:t>
            </a:r>
            <a:r>
              <a:rPr lang="en-US" sz="1600" dirty="0" smtClean="0"/>
              <a:t> </a:t>
            </a:r>
            <a:r>
              <a:rPr lang="en-US" sz="1600" dirty="0"/>
              <a:t>router </a:t>
            </a:r>
            <a:r>
              <a:rPr lang="en-US" sz="1600" dirty="0" err="1"/>
              <a:t>terdekat</a:t>
            </a:r>
            <a:r>
              <a:rPr lang="en-US" sz="1600" dirty="0"/>
              <a:t> </a:t>
            </a:r>
            <a:r>
              <a:rPr lang="en-US" sz="1600" dirty="0" err="1"/>
              <a:t>pada</a:t>
            </a:r>
            <a:r>
              <a:rPr lang="en-US" sz="1600" dirty="0"/>
              <a:t> ISIS </a:t>
            </a:r>
            <a:r>
              <a:rPr lang="en-US" sz="1600" dirty="0" err="1"/>
              <a:t>sebagai</a:t>
            </a:r>
            <a:r>
              <a:rPr lang="en-US" sz="1600" dirty="0"/>
              <a:t> </a:t>
            </a:r>
            <a:r>
              <a:rPr lang="en-US" sz="1600" dirty="0" err="1"/>
              <a:t>berikut</a:t>
            </a:r>
            <a:r>
              <a:rPr lang="en-US" sz="1600" dirty="0"/>
              <a:t> </a:t>
            </a:r>
            <a:r>
              <a:rPr lang="en-US" sz="1600" dirty="0" smtClean="0"/>
              <a:t>:</a:t>
            </a:r>
          </a:p>
          <a:p>
            <a:pPr algn="just"/>
            <a:endParaRPr lang="en-US" sz="1600" dirty="0"/>
          </a:p>
          <a:p>
            <a:pPr marL="342900" indent="-342900" algn="just">
              <a:buFont typeface="+mj-lt"/>
              <a:buAutoNum type="alphaLcPeriod"/>
            </a:pPr>
            <a:r>
              <a:rPr lang="en-US" sz="1600" b="1" dirty="0" smtClean="0">
                <a:solidFill>
                  <a:srgbClr val="002060"/>
                </a:solidFill>
              </a:rPr>
              <a:t>New</a:t>
            </a:r>
            <a:r>
              <a:rPr lang="en-US" sz="1600" dirty="0" smtClean="0"/>
              <a:t> </a:t>
            </a:r>
            <a:r>
              <a:rPr lang="en-US" sz="1600" dirty="0"/>
              <a:t>: Proses ISIS adjacency </a:t>
            </a:r>
            <a:r>
              <a:rPr lang="en-US" sz="1600" dirty="0" err="1"/>
              <a:t>baru</a:t>
            </a:r>
            <a:r>
              <a:rPr lang="en-US" sz="1600" dirty="0"/>
              <a:t> </a:t>
            </a:r>
            <a:r>
              <a:rPr lang="en-US" sz="1600" dirty="0" err="1"/>
              <a:t>dimulai</a:t>
            </a:r>
            <a:endParaRPr lang="en-US" sz="1600" dirty="0"/>
          </a:p>
          <a:p>
            <a:pPr marL="342900" indent="-342900" algn="just">
              <a:buFont typeface="+mj-lt"/>
              <a:buAutoNum type="alphaLcPeriod"/>
            </a:pPr>
            <a:r>
              <a:rPr lang="en-US" sz="1600" b="1" dirty="0" smtClean="0">
                <a:solidFill>
                  <a:srgbClr val="002060"/>
                </a:solidFill>
              </a:rPr>
              <a:t>One-Way</a:t>
            </a:r>
            <a:r>
              <a:rPr lang="en-US" sz="1600" dirty="0" smtClean="0"/>
              <a:t> </a:t>
            </a:r>
            <a:r>
              <a:rPr lang="en-US" sz="1600" dirty="0"/>
              <a:t>: </a:t>
            </a:r>
            <a:r>
              <a:rPr lang="en-US" sz="1600" dirty="0" err="1"/>
              <a:t>Pada</a:t>
            </a:r>
            <a:r>
              <a:rPr lang="en-US" sz="1600" dirty="0"/>
              <a:t> </a:t>
            </a:r>
            <a:r>
              <a:rPr lang="en-US" sz="1600" dirty="0" err="1"/>
              <a:t>saat</a:t>
            </a:r>
            <a:r>
              <a:rPr lang="en-US" sz="1600" dirty="0"/>
              <a:t> ISIS router </a:t>
            </a:r>
            <a:r>
              <a:rPr lang="en-US" sz="1600" dirty="0" err="1"/>
              <a:t>mengirim</a:t>
            </a:r>
            <a:r>
              <a:rPr lang="en-US" sz="1600" dirty="0"/>
              <a:t> ISIS Hello PDU </a:t>
            </a:r>
            <a:r>
              <a:rPr lang="en-US" sz="1600" dirty="0" smtClean="0"/>
              <a:t>state router </a:t>
            </a:r>
            <a:r>
              <a:rPr lang="en-US" sz="1600" dirty="0" err="1"/>
              <a:t>akan</a:t>
            </a:r>
            <a:r>
              <a:rPr lang="en-US" sz="1600" dirty="0"/>
              <a:t> </a:t>
            </a:r>
            <a:r>
              <a:rPr lang="en-US" sz="1600" dirty="0" err="1"/>
              <a:t>berubah</a:t>
            </a:r>
            <a:r>
              <a:rPr lang="en-US" sz="1600" dirty="0"/>
              <a:t> </a:t>
            </a:r>
            <a:r>
              <a:rPr lang="en-US" sz="1600" dirty="0" err="1"/>
              <a:t>Menjadi</a:t>
            </a:r>
            <a:r>
              <a:rPr lang="en-US" sz="1600" dirty="0"/>
              <a:t> One-Way, </a:t>
            </a:r>
            <a:r>
              <a:rPr lang="en-US" sz="1600" dirty="0" err="1"/>
              <a:t>dalam</a:t>
            </a:r>
            <a:r>
              <a:rPr lang="en-US" sz="1600" dirty="0"/>
              <a:t> state </a:t>
            </a:r>
            <a:r>
              <a:rPr lang="en-US" sz="1600" dirty="0" err="1"/>
              <a:t>ini</a:t>
            </a:r>
            <a:r>
              <a:rPr lang="en-US" sz="1600" dirty="0"/>
              <a:t> </a:t>
            </a:r>
            <a:r>
              <a:rPr lang="en-US" sz="1600" dirty="0" smtClean="0"/>
              <a:t>local router </a:t>
            </a:r>
            <a:r>
              <a:rPr lang="en-US" sz="1600" dirty="0" err="1"/>
              <a:t>belum</a:t>
            </a:r>
            <a:r>
              <a:rPr lang="en-US" sz="1600" dirty="0"/>
              <a:t> </a:t>
            </a:r>
            <a:r>
              <a:rPr lang="en-US" sz="1600" dirty="0" err="1"/>
              <a:t>menerima</a:t>
            </a:r>
            <a:r>
              <a:rPr lang="en-US" sz="1600" dirty="0"/>
              <a:t> hello message </a:t>
            </a:r>
            <a:r>
              <a:rPr lang="en-US" sz="1600" dirty="0" err="1"/>
              <a:t>dimana</a:t>
            </a:r>
            <a:r>
              <a:rPr lang="en-US" sz="1600" dirty="0"/>
              <a:t> </a:t>
            </a:r>
            <a:r>
              <a:rPr lang="en-US" sz="1600" dirty="0" err="1" smtClean="0"/>
              <a:t>tercantum</a:t>
            </a:r>
            <a:r>
              <a:rPr lang="en-US" sz="1600" dirty="0" smtClean="0"/>
              <a:t> address </a:t>
            </a:r>
            <a:r>
              <a:rPr lang="en-US" sz="1600" dirty="0" err="1"/>
              <a:t>nya</a:t>
            </a:r>
            <a:r>
              <a:rPr lang="en-US" sz="1600" dirty="0"/>
              <a:t> </a:t>
            </a:r>
            <a:r>
              <a:rPr lang="en-US" sz="1600" dirty="0" err="1"/>
              <a:t>sebagai</a:t>
            </a:r>
            <a:r>
              <a:rPr lang="en-US" sz="1600" dirty="0"/>
              <a:t> neighbor</a:t>
            </a:r>
          </a:p>
          <a:p>
            <a:pPr marL="342900" indent="-342900" algn="just">
              <a:buFont typeface="+mj-lt"/>
              <a:buAutoNum type="alphaLcPeriod"/>
            </a:pPr>
            <a:r>
              <a:rPr lang="en-US" sz="1600" b="1" dirty="0" err="1" smtClean="0">
                <a:solidFill>
                  <a:srgbClr val="002060"/>
                </a:solidFill>
              </a:rPr>
              <a:t>Initializin</a:t>
            </a:r>
            <a:r>
              <a:rPr lang="en-US" sz="1600" b="1" dirty="0" smtClean="0">
                <a:solidFill>
                  <a:srgbClr val="002060"/>
                </a:solidFill>
              </a:rPr>
              <a:t> </a:t>
            </a:r>
            <a:r>
              <a:rPr lang="en-US" sz="1600" dirty="0"/>
              <a:t>: </a:t>
            </a:r>
            <a:r>
              <a:rPr lang="en-US" sz="1600" dirty="0" err="1"/>
              <a:t>Lokal</a:t>
            </a:r>
            <a:r>
              <a:rPr lang="en-US" sz="1600" dirty="0"/>
              <a:t> router </a:t>
            </a:r>
            <a:r>
              <a:rPr lang="en-US" sz="1600" dirty="0" err="1"/>
              <a:t>menerima</a:t>
            </a:r>
            <a:r>
              <a:rPr lang="en-US" sz="1600" dirty="0"/>
              <a:t> hello message </a:t>
            </a:r>
            <a:r>
              <a:rPr lang="en-US" sz="1600" dirty="0" smtClean="0"/>
              <a:t>yang </a:t>
            </a:r>
            <a:r>
              <a:rPr lang="en-US" sz="1600" dirty="0" err="1" smtClean="0"/>
              <a:t>mencantum</a:t>
            </a:r>
            <a:r>
              <a:rPr lang="en-US" sz="1600" dirty="0" smtClean="0"/>
              <a:t> </a:t>
            </a:r>
            <a:r>
              <a:rPr lang="en-US" sz="1600" dirty="0" err="1"/>
              <a:t>alamat</a:t>
            </a:r>
            <a:r>
              <a:rPr lang="en-US" sz="1600" dirty="0"/>
              <a:t> </a:t>
            </a:r>
            <a:r>
              <a:rPr lang="en-US" sz="1600" dirty="0" err="1"/>
              <a:t>lokal</a:t>
            </a:r>
            <a:r>
              <a:rPr lang="en-US" sz="1600" dirty="0"/>
              <a:t> router, </a:t>
            </a:r>
            <a:r>
              <a:rPr lang="en-US" sz="1600" dirty="0" err="1"/>
              <a:t>pada</a:t>
            </a:r>
            <a:r>
              <a:rPr lang="en-US" sz="1600" dirty="0"/>
              <a:t> state </a:t>
            </a:r>
            <a:r>
              <a:rPr lang="en-US" sz="1600" dirty="0" err="1"/>
              <a:t>ini</a:t>
            </a:r>
            <a:r>
              <a:rPr lang="en-US" sz="1600" dirty="0"/>
              <a:t> </a:t>
            </a:r>
            <a:r>
              <a:rPr lang="en-US" sz="1600" dirty="0" err="1"/>
              <a:t>komunikasi</a:t>
            </a:r>
            <a:r>
              <a:rPr lang="en-US" sz="1600" dirty="0"/>
              <a:t> </a:t>
            </a:r>
            <a:r>
              <a:rPr lang="en-US" sz="1600" dirty="0" smtClean="0"/>
              <a:t>2 </a:t>
            </a:r>
            <a:r>
              <a:rPr lang="en-US" sz="1600" dirty="0" err="1" smtClean="0"/>
              <a:t>arah</a:t>
            </a:r>
            <a:r>
              <a:rPr lang="en-US" sz="1600" dirty="0" smtClean="0"/>
              <a:t> </a:t>
            </a:r>
            <a:r>
              <a:rPr lang="en-US" sz="1600" dirty="0" err="1"/>
              <a:t>sudah</a:t>
            </a:r>
            <a:r>
              <a:rPr lang="en-US" sz="1600" dirty="0"/>
              <a:t> </a:t>
            </a:r>
            <a:r>
              <a:rPr lang="en-US" sz="1600" dirty="0" err="1"/>
              <a:t>terbentuk</a:t>
            </a:r>
            <a:endParaRPr lang="en-US" sz="1600" dirty="0"/>
          </a:p>
          <a:p>
            <a:pPr marL="342900" indent="-342900" algn="just">
              <a:buFont typeface="+mj-lt"/>
              <a:buAutoNum type="alphaLcPeriod"/>
            </a:pPr>
            <a:r>
              <a:rPr lang="en-US" sz="1600" b="1" dirty="0" smtClean="0">
                <a:solidFill>
                  <a:srgbClr val="002060"/>
                </a:solidFill>
              </a:rPr>
              <a:t>Up</a:t>
            </a:r>
            <a:r>
              <a:rPr lang="en-US" sz="1600" dirty="0" smtClean="0"/>
              <a:t> </a:t>
            </a:r>
            <a:r>
              <a:rPr lang="en-US" sz="1600" dirty="0"/>
              <a:t>: Adjacency </a:t>
            </a:r>
            <a:r>
              <a:rPr lang="en-US" sz="1600" dirty="0" err="1"/>
              <a:t>terbentuk</a:t>
            </a:r>
            <a:r>
              <a:rPr lang="en-US" sz="1600" dirty="0"/>
              <a:t> </a:t>
            </a:r>
            <a:r>
              <a:rPr lang="en-US" sz="1600" dirty="0" err="1"/>
              <a:t>dan</a:t>
            </a:r>
            <a:r>
              <a:rPr lang="en-US" sz="1600" dirty="0"/>
              <a:t> </a:t>
            </a:r>
            <a:r>
              <a:rPr lang="en-US" sz="1600" dirty="0" err="1"/>
              <a:t>pertukaran</a:t>
            </a:r>
            <a:r>
              <a:rPr lang="en-US" sz="1600" dirty="0"/>
              <a:t> database </a:t>
            </a:r>
            <a:r>
              <a:rPr lang="en-US" sz="1600" dirty="0" err="1"/>
              <a:t>sudah</a:t>
            </a:r>
            <a:r>
              <a:rPr lang="en-US" sz="1600" dirty="0"/>
              <a:t> </a:t>
            </a:r>
            <a:r>
              <a:rPr lang="en-US" sz="1600" dirty="0" err="1" smtClean="0"/>
              <a:t>dapat</a:t>
            </a:r>
            <a:r>
              <a:rPr lang="en-US" sz="1600" dirty="0" smtClean="0"/>
              <a:t> </a:t>
            </a:r>
            <a:r>
              <a:rPr lang="en-US" sz="1600" dirty="0" err="1" smtClean="0"/>
              <a:t>dilakukan</a:t>
            </a:r>
            <a:endParaRPr lang="en-US" sz="1600" dirty="0"/>
          </a:p>
          <a:p>
            <a:pPr marL="342900" indent="-342900" algn="just">
              <a:buFont typeface="+mj-lt"/>
              <a:buAutoNum type="alphaLcPeriod"/>
            </a:pPr>
            <a:r>
              <a:rPr lang="en-US" sz="1600" b="1" dirty="0" smtClean="0">
                <a:solidFill>
                  <a:srgbClr val="002060"/>
                </a:solidFill>
              </a:rPr>
              <a:t>Down</a:t>
            </a:r>
            <a:r>
              <a:rPr lang="en-US" sz="1600" dirty="0" smtClean="0"/>
              <a:t> </a:t>
            </a:r>
            <a:r>
              <a:rPr lang="en-US" sz="1600" dirty="0"/>
              <a:t>: Adjacency </a:t>
            </a:r>
            <a:r>
              <a:rPr lang="en-US" sz="1600" dirty="0" err="1"/>
              <a:t>tidak</a:t>
            </a:r>
            <a:r>
              <a:rPr lang="en-US" sz="1600" dirty="0"/>
              <a:t> </a:t>
            </a:r>
            <a:r>
              <a:rPr lang="en-US" sz="1600" dirty="0" err="1"/>
              <a:t>berhasil</a:t>
            </a:r>
            <a:r>
              <a:rPr lang="en-US" sz="1600" dirty="0"/>
              <a:t> </a:t>
            </a:r>
            <a:r>
              <a:rPr lang="en-US" sz="1600" dirty="0" err="1"/>
              <a:t>dibentuk</a:t>
            </a:r>
            <a:r>
              <a:rPr lang="en-US" sz="1600" dirty="0"/>
              <a:t> </a:t>
            </a:r>
            <a:r>
              <a:rPr lang="en-US" sz="1600" dirty="0" err="1" smtClean="0"/>
              <a:t>kemungkinan</a:t>
            </a:r>
            <a:r>
              <a:rPr lang="en-US" sz="1600" dirty="0" smtClean="0"/>
              <a:t> </a:t>
            </a:r>
            <a:r>
              <a:rPr lang="en-US" sz="1600" dirty="0" err="1" smtClean="0"/>
              <a:t>dikarenakan</a:t>
            </a:r>
            <a:r>
              <a:rPr lang="en-US" sz="1600" dirty="0" smtClean="0"/>
              <a:t> </a:t>
            </a:r>
            <a:r>
              <a:rPr lang="en-US" sz="1600" dirty="0" err="1"/>
              <a:t>konfigurasi</a:t>
            </a:r>
            <a:r>
              <a:rPr lang="en-US" sz="1600" dirty="0"/>
              <a:t> area yang </a:t>
            </a:r>
            <a:r>
              <a:rPr lang="en-US" sz="1600" dirty="0" err="1"/>
              <a:t>tidak</a:t>
            </a:r>
            <a:r>
              <a:rPr lang="en-US" sz="1600" dirty="0"/>
              <a:t> </a:t>
            </a:r>
            <a:r>
              <a:rPr lang="en-US" sz="1600" dirty="0" err="1"/>
              <a:t>cocok</a:t>
            </a:r>
            <a:r>
              <a:rPr lang="en-US" sz="1600" dirty="0"/>
              <a:t>, </a:t>
            </a:r>
            <a:r>
              <a:rPr lang="en-US" sz="1600" dirty="0" err="1" smtClean="0"/>
              <a:t>atau</a:t>
            </a:r>
            <a:r>
              <a:rPr lang="en-US" sz="1600" dirty="0" smtClean="0"/>
              <a:t> </a:t>
            </a:r>
            <a:r>
              <a:rPr lang="en-US" sz="1600" dirty="0" err="1" smtClean="0"/>
              <a:t>dikarenakan</a:t>
            </a:r>
            <a:r>
              <a:rPr lang="en-US" sz="1600" dirty="0" smtClean="0"/>
              <a:t> </a:t>
            </a:r>
            <a:r>
              <a:rPr lang="en-US" sz="1600" dirty="0" err="1"/>
              <a:t>kesalahan</a:t>
            </a:r>
            <a:r>
              <a:rPr lang="en-US" sz="1600" dirty="0"/>
              <a:t> </a:t>
            </a:r>
            <a:r>
              <a:rPr lang="en-US" sz="1600" dirty="0" err="1"/>
              <a:t>konfigurasi</a:t>
            </a:r>
            <a:r>
              <a:rPr lang="en-US" sz="1600" dirty="0"/>
              <a:t> parameter hold time </a:t>
            </a:r>
            <a:r>
              <a:rPr lang="en-US" sz="1600" dirty="0" err="1" smtClean="0"/>
              <a:t>atau</a:t>
            </a:r>
            <a:r>
              <a:rPr lang="en-US" sz="1600" dirty="0" smtClean="0"/>
              <a:t> parameter </a:t>
            </a:r>
            <a:r>
              <a:rPr lang="en-US" sz="1600" dirty="0" err="1"/>
              <a:t>authentikasi</a:t>
            </a:r>
            <a:endParaRPr lang="en-US" sz="1600" dirty="0"/>
          </a:p>
          <a:p>
            <a:pPr marL="342900" indent="-342900" algn="just">
              <a:buFont typeface="+mj-lt"/>
              <a:buAutoNum type="alphaLcPeriod"/>
            </a:pPr>
            <a:r>
              <a:rPr lang="en-US" sz="1600" b="1" dirty="0" smtClean="0">
                <a:solidFill>
                  <a:srgbClr val="002060"/>
                </a:solidFill>
              </a:rPr>
              <a:t>Reject</a:t>
            </a:r>
            <a:r>
              <a:rPr lang="en-US" sz="1600" dirty="0" smtClean="0"/>
              <a:t> </a:t>
            </a:r>
            <a:r>
              <a:rPr lang="en-US" sz="1600" dirty="0"/>
              <a:t>: </a:t>
            </a:r>
            <a:r>
              <a:rPr lang="en-US" sz="1600" dirty="0" err="1"/>
              <a:t>Apabila</a:t>
            </a:r>
            <a:r>
              <a:rPr lang="en-US" sz="1600" dirty="0"/>
              <a:t> </a:t>
            </a:r>
            <a:r>
              <a:rPr lang="en-US" sz="1600" dirty="0" err="1"/>
              <a:t>terjadi</a:t>
            </a:r>
            <a:r>
              <a:rPr lang="en-US" sz="1600" dirty="0"/>
              <a:t> </a:t>
            </a:r>
            <a:r>
              <a:rPr lang="en-US" sz="1600" dirty="0" err="1"/>
              <a:t>kesalahan</a:t>
            </a:r>
            <a:r>
              <a:rPr lang="en-US" sz="1600" dirty="0"/>
              <a:t> </a:t>
            </a:r>
            <a:r>
              <a:rPr lang="en-US" sz="1600" dirty="0" err="1"/>
              <a:t>authentikasi</a:t>
            </a:r>
            <a:r>
              <a:rPr lang="en-US" sz="1600" dirty="0"/>
              <a:t> </a:t>
            </a:r>
            <a:r>
              <a:rPr lang="en-US" sz="1600" dirty="0" err="1"/>
              <a:t>maka</a:t>
            </a:r>
            <a:r>
              <a:rPr lang="en-US" sz="1600" dirty="0"/>
              <a:t> state </a:t>
            </a:r>
            <a:r>
              <a:rPr lang="en-US" sz="1600" dirty="0" err="1" smtClean="0"/>
              <a:t>akan</a:t>
            </a:r>
            <a:r>
              <a:rPr lang="en-US" sz="1600" dirty="0" smtClean="0"/>
              <a:t> </a:t>
            </a:r>
            <a:r>
              <a:rPr lang="en-US" sz="1600" dirty="0" err="1" smtClean="0"/>
              <a:t>bergulir</a:t>
            </a:r>
            <a:r>
              <a:rPr lang="en-US" sz="1600" dirty="0" smtClean="0"/>
              <a:t> </a:t>
            </a:r>
            <a:r>
              <a:rPr lang="en-US" sz="1600" dirty="0" err="1"/>
              <a:t>ke</a:t>
            </a:r>
            <a:r>
              <a:rPr lang="en-US" sz="1600" dirty="0"/>
              <a:t> status Reject</a:t>
            </a:r>
            <a:endParaRPr lang="en-US" sz="1600" dirty="0"/>
          </a:p>
        </p:txBody>
      </p:sp>
      <p:sp>
        <p:nvSpPr>
          <p:cNvPr id="4" name="Rectangle 3"/>
          <p:cNvSpPr/>
          <p:nvPr/>
        </p:nvSpPr>
        <p:spPr>
          <a:xfrm>
            <a:off x="8143456" y="4423"/>
            <a:ext cx="415754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chemeClr val="bg2">
                    <a:lumMod val="50000"/>
                  </a:schemeClr>
                </a:solidFill>
              </a:rPr>
              <a:t>MPLS </a:t>
            </a:r>
            <a:r>
              <a:rPr lang="en-US" sz="2800" dirty="0" err="1">
                <a:solidFill>
                  <a:schemeClr val="bg2">
                    <a:lumMod val="50000"/>
                  </a:schemeClr>
                </a:solidFill>
              </a:rPr>
              <a:t>pada</a:t>
            </a:r>
            <a:r>
              <a:rPr lang="en-US" sz="28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sz="2800" dirty="0" err="1" smtClean="0">
                <a:solidFill>
                  <a:schemeClr val="bg2">
                    <a:lumMod val="50000"/>
                  </a:schemeClr>
                </a:solidFill>
              </a:rPr>
              <a:t>MikroTik</a:t>
            </a:r>
            <a:r>
              <a:rPr lang="en-US" sz="2800" dirty="0" smtClean="0">
                <a:solidFill>
                  <a:schemeClr val="bg2">
                    <a:lumMod val="50000"/>
                  </a:schemeClr>
                </a:solidFill>
              </a:rPr>
              <a:t>(</a:t>
            </a:r>
            <a:r>
              <a:rPr lang="en-US" sz="2800" dirty="0" err="1" smtClean="0">
                <a:solidFill>
                  <a:schemeClr val="bg2">
                    <a:lumMod val="50000"/>
                  </a:schemeClr>
                </a:solidFill>
              </a:rPr>
              <a:t>Con’t</a:t>
            </a:r>
            <a:r>
              <a:rPr lang="en-US" sz="2800" dirty="0" smtClean="0">
                <a:solidFill>
                  <a:schemeClr val="bg2">
                    <a:lumMod val="50000"/>
                  </a:schemeClr>
                </a:solidFill>
              </a:rPr>
              <a:t>)</a:t>
            </a:r>
            <a:endParaRPr lang="en-US" sz="2800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91310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8143456" y="4423"/>
            <a:ext cx="415754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chemeClr val="bg2">
                    <a:lumMod val="50000"/>
                  </a:schemeClr>
                </a:solidFill>
              </a:rPr>
              <a:t>MPLS </a:t>
            </a:r>
            <a:r>
              <a:rPr lang="en-US" sz="2800" dirty="0" err="1">
                <a:solidFill>
                  <a:schemeClr val="bg2">
                    <a:lumMod val="50000"/>
                  </a:schemeClr>
                </a:solidFill>
              </a:rPr>
              <a:t>pada</a:t>
            </a:r>
            <a:r>
              <a:rPr lang="en-US" sz="28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sz="2800" dirty="0" err="1" smtClean="0">
                <a:solidFill>
                  <a:schemeClr val="bg2">
                    <a:lumMod val="50000"/>
                  </a:schemeClr>
                </a:solidFill>
              </a:rPr>
              <a:t>MikroTik</a:t>
            </a:r>
            <a:r>
              <a:rPr lang="en-US" sz="2800" dirty="0" smtClean="0">
                <a:solidFill>
                  <a:schemeClr val="bg2">
                    <a:lumMod val="50000"/>
                  </a:schemeClr>
                </a:solidFill>
              </a:rPr>
              <a:t>(</a:t>
            </a:r>
            <a:r>
              <a:rPr lang="en-US" sz="2800" dirty="0" err="1" smtClean="0">
                <a:solidFill>
                  <a:schemeClr val="bg2">
                    <a:lumMod val="50000"/>
                  </a:schemeClr>
                </a:solidFill>
              </a:rPr>
              <a:t>Con’t</a:t>
            </a:r>
            <a:r>
              <a:rPr lang="en-US" sz="2800" dirty="0" smtClean="0">
                <a:solidFill>
                  <a:schemeClr val="bg2">
                    <a:lumMod val="50000"/>
                  </a:schemeClr>
                </a:solidFill>
              </a:rPr>
              <a:t>)</a:t>
            </a:r>
            <a:endParaRPr lang="en-US" sz="28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442452" y="854052"/>
            <a:ext cx="11401885" cy="57554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600" dirty="0" err="1"/>
              <a:t>Apabila</a:t>
            </a:r>
            <a:r>
              <a:rPr lang="en-US" sz="1600" dirty="0"/>
              <a:t> </a:t>
            </a:r>
            <a:r>
              <a:rPr lang="en-US" sz="1600" dirty="0" err="1"/>
              <a:t>dalam</a:t>
            </a:r>
            <a:r>
              <a:rPr lang="en-US" sz="1600" dirty="0"/>
              <a:t> OSPF </a:t>
            </a:r>
            <a:r>
              <a:rPr lang="en-US" sz="1600" dirty="0" err="1"/>
              <a:t>terdapat</a:t>
            </a:r>
            <a:r>
              <a:rPr lang="en-US" sz="1600" dirty="0"/>
              <a:t> LSA yang </a:t>
            </a:r>
            <a:r>
              <a:rPr lang="en-US" sz="1600" dirty="0" err="1"/>
              <a:t>dipertukarkan</a:t>
            </a:r>
            <a:r>
              <a:rPr lang="en-US" sz="1600" dirty="0"/>
              <a:t> </a:t>
            </a:r>
            <a:r>
              <a:rPr lang="en-US" sz="1600" dirty="0" err="1" smtClean="0"/>
              <a:t>untuk</a:t>
            </a:r>
            <a:r>
              <a:rPr lang="en-US" sz="1600" dirty="0" smtClean="0"/>
              <a:t> </a:t>
            </a:r>
            <a:r>
              <a:rPr lang="en-US" sz="1600" dirty="0" err="1" smtClean="0"/>
              <a:t>membentuk</a:t>
            </a:r>
            <a:r>
              <a:rPr lang="en-US" sz="1600" dirty="0" smtClean="0"/>
              <a:t> </a:t>
            </a:r>
            <a:r>
              <a:rPr lang="en-US" sz="1600" dirty="0"/>
              <a:t>OSPF </a:t>
            </a:r>
            <a:r>
              <a:rPr lang="en-US" sz="1600" dirty="0" err="1"/>
              <a:t>databse</a:t>
            </a:r>
            <a:r>
              <a:rPr lang="en-US" sz="1600" dirty="0"/>
              <a:t>, </a:t>
            </a:r>
            <a:r>
              <a:rPr lang="en-US" sz="1600" dirty="0" err="1"/>
              <a:t>dalam</a:t>
            </a:r>
            <a:r>
              <a:rPr lang="en-US" sz="1600" dirty="0"/>
              <a:t> ISIS network </a:t>
            </a:r>
            <a:r>
              <a:rPr lang="en-US" sz="1600" dirty="0" err="1"/>
              <a:t>informasi</a:t>
            </a:r>
            <a:r>
              <a:rPr lang="en-US" sz="1600" dirty="0"/>
              <a:t> </a:t>
            </a:r>
            <a:r>
              <a:rPr lang="en-US" sz="1600" dirty="0" smtClean="0"/>
              <a:t>yang </a:t>
            </a:r>
            <a:r>
              <a:rPr lang="en-US" sz="1600" dirty="0" err="1" smtClean="0"/>
              <a:t>dipertukarkan</a:t>
            </a:r>
            <a:r>
              <a:rPr lang="en-US" sz="1600" dirty="0" smtClean="0"/>
              <a:t> </a:t>
            </a:r>
            <a:r>
              <a:rPr lang="en-US" sz="1600" dirty="0" err="1"/>
              <a:t>berbentuk</a:t>
            </a:r>
            <a:r>
              <a:rPr lang="en-US" sz="1600" dirty="0"/>
              <a:t> LSP (Link-state PDU), </a:t>
            </a:r>
            <a:r>
              <a:rPr lang="en-US" sz="1600" dirty="0" err="1"/>
              <a:t>pada</a:t>
            </a:r>
            <a:r>
              <a:rPr lang="en-US" sz="1600" dirty="0"/>
              <a:t> MPLS </a:t>
            </a:r>
            <a:r>
              <a:rPr lang="en-US" sz="1600" dirty="0" err="1" smtClean="0"/>
              <a:t>juga</a:t>
            </a:r>
            <a:r>
              <a:rPr lang="en-US" sz="1600" dirty="0" smtClean="0"/>
              <a:t> </a:t>
            </a:r>
            <a:r>
              <a:rPr lang="en-US" sz="1600" dirty="0" err="1" smtClean="0"/>
              <a:t>terdapat</a:t>
            </a:r>
            <a:r>
              <a:rPr lang="en-US" sz="1600" dirty="0" smtClean="0"/>
              <a:t> </a:t>
            </a:r>
            <a:r>
              <a:rPr lang="en-US" sz="1600" dirty="0"/>
              <a:t>term LSP (Label Switching Path) </a:t>
            </a:r>
            <a:r>
              <a:rPr lang="en-US" sz="1600" dirty="0" err="1"/>
              <a:t>keduanya</a:t>
            </a:r>
            <a:r>
              <a:rPr lang="en-US" sz="1600" dirty="0"/>
              <a:t> </a:t>
            </a:r>
            <a:r>
              <a:rPr lang="en-US" sz="1600" dirty="0" err="1"/>
              <a:t>adalah</a:t>
            </a:r>
            <a:r>
              <a:rPr lang="en-US" sz="1600" dirty="0"/>
              <a:t> </a:t>
            </a:r>
            <a:r>
              <a:rPr lang="en-US" sz="1600" dirty="0" err="1"/>
              <a:t>hal</a:t>
            </a:r>
            <a:r>
              <a:rPr lang="en-US" sz="1600" dirty="0"/>
              <a:t> </a:t>
            </a:r>
            <a:r>
              <a:rPr lang="en-US" sz="1600" dirty="0" smtClean="0"/>
              <a:t>yang </a:t>
            </a:r>
            <a:r>
              <a:rPr lang="en-US" sz="1600" dirty="0" err="1" smtClean="0"/>
              <a:t>berbeda</a:t>
            </a:r>
            <a:r>
              <a:rPr lang="en-US" sz="1600" dirty="0"/>
              <a:t>. Link-state PDU </a:t>
            </a:r>
            <a:r>
              <a:rPr lang="en-US" sz="1600" dirty="0" err="1"/>
              <a:t>berisis</a:t>
            </a:r>
            <a:r>
              <a:rPr lang="en-US" sz="1600" dirty="0"/>
              <a:t> </a:t>
            </a:r>
            <a:r>
              <a:rPr lang="en-US" sz="1600" dirty="0" err="1"/>
              <a:t>informasi</a:t>
            </a:r>
            <a:r>
              <a:rPr lang="en-US" sz="1600" dirty="0"/>
              <a:t> </a:t>
            </a:r>
            <a:r>
              <a:rPr lang="en-US" sz="1600" dirty="0" err="1"/>
              <a:t>tentang</a:t>
            </a:r>
            <a:r>
              <a:rPr lang="en-US" sz="1600" dirty="0"/>
              <a:t> router-router </a:t>
            </a:r>
            <a:r>
              <a:rPr lang="en-US" sz="1600" dirty="0" smtClean="0"/>
              <a:t>yang </a:t>
            </a:r>
            <a:r>
              <a:rPr lang="en-US" sz="1600" dirty="0" err="1" smtClean="0"/>
              <a:t>tergabung</a:t>
            </a:r>
            <a:r>
              <a:rPr lang="en-US" sz="1600" dirty="0" smtClean="0"/>
              <a:t> </a:t>
            </a:r>
            <a:r>
              <a:rPr lang="en-US" sz="1600" dirty="0" err="1"/>
              <a:t>didalam</a:t>
            </a:r>
            <a:r>
              <a:rPr lang="en-US" sz="1600" dirty="0"/>
              <a:t> ISIS network </a:t>
            </a:r>
            <a:r>
              <a:rPr lang="en-US" sz="1600" dirty="0" err="1"/>
              <a:t>dan</a:t>
            </a:r>
            <a:r>
              <a:rPr lang="en-US" sz="1600" dirty="0"/>
              <a:t> </a:t>
            </a:r>
            <a:r>
              <a:rPr lang="en-US" sz="1600" dirty="0" err="1"/>
              <a:t>informasi</a:t>
            </a:r>
            <a:r>
              <a:rPr lang="en-US" sz="1600" dirty="0"/>
              <a:t> </a:t>
            </a:r>
            <a:r>
              <a:rPr lang="en-US" sz="1600" dirty="0" err="1"/>
              <a:t>mengenasi</a:t>
            </a:r>
            <a:r>
              <a:rPr lang="en-US" sz="1600" dirty="0"/>
              <a:t> </a:t>
            </a:r>
            <a:r>
              <a:rPr lang="en-US" sz="1600" dirty="0" smtClean="0"/>
              <a:t>interface yang </a:t>
            </a:r>
            <a:r>
              <a:rPr lang="en-US" sz="1600" dirty="0" err="1"/>
              <a:t>terkoneksi</a:t>
            </a:r>
            <a:r>
              <a:rPr lang="en-US" sz="1600" dirty="0"/>
              <a:t> </a:t>
            </a:r>
            <a:r>
              <a:rPr lang="en-US" sz="1600" dirty="0" err="1"/>
              <a:t>serta</a:t>
            </a:r>
            <a:r>
              <a:rPr lang="en-US" sz="1600" dirty="0"/>
              <a:t> </a:t>
            </a:r>
            <a:r>
              <a:rPr lang="en-US" sz="1600" dirty="0" err="1"/>
              <a:t>metrik</a:t>
            </a:r>
            <a:r>
              <a:rPr lang="en-US" sz="1600" dirty="0"/>
              <a:t> </a:t>
            </a:r>
            <a:r>
              <a:rPr lang="en-US" sz="1600" dirty="0" err="1"/>
              <a:t>nya</a:t>
            </a:r>
            <a:r>
              <a:rPr lang="en-US" sz="1600" dirty="0"/>
              <a:t>. Link-state PDU </a:t>
            </a:r>
            <a:r>
              <a:rPr lang="en-US" sz="1600" dirty="0" err="1"/>
              <a:t>ini</a:t>
            </a:r>
            <a:r>
              <a:rPr lang="en-US" sz="1600" dirty="0"/>
              <a:t> </a:t>
            </a:r>
            <a:r>
              <a:rPr lang="en-US" sz="1600" dirty="0" err="1"/>
              <a:t>dibungkus</a:t>
            </a:r>
            <a:r>
              <a:rPr lang="en-US" sz="1600" dirty="0"/>
              <a:t> </a:t>
            </a:r>
            <a:r>
              <a:rPr lang="en-US" sz="1600" dirty="0" err="1" smtClean="0"/>
              <a:t>dalam</a:t>
            </a:r>
            <a:r>
              <a:rPr lang="en-US" sz="1600" dirty="0" smtClean="0"/>
              <a:t> format </a:t>
            </a:r>
            <a:r>
              <a:rPr lang="en-US" sz="1600" dirty="0"/>
              <a:t>TLV (Type Length Value), </a:t>
            </a:r>
            <a:r>
              <a:rPr lang="en-US" sz="1600" dirty="0" err="1"/>
              <a:t>dengan</a:t>
            </a:r>
            <a:r>
              <a:rPr lang="en-US" sz="1600" dirty="0"/>
              <a:t> format TLV </a:t>
            </a:r>
            <a:r>
              <a:rPr lang="en-US" sz="1600" dirty="0" err="1"/>
              <a:t>memungkinkan</a:t>
            </a:r>
            <a:r>
              <a:rPr lang="en-US" sz="1600" dirty="0"/>
              <a:t> protocol </a:t>
            </a:r>
            <a:r>
              <a:rPr lang="en-US" sz="1600" dirty="0" err="1"/>
              <a:t>untuk</a:t>
            </a:r>
            <a:r>
              <a:rPr lang="en-US" sz="1600" dirty="0"/>
              <a:t> </a:t>
            </a:r>
            <a:r>
              <a:rPr lang="en-US" sz="1600" dirty="0" err="1"/>
              <a:t>memperluas</a:t>
            </a:r>
            <a:r>
              <a:rPr lang="en-US" sz="1600" dirty="0"/>
              <a:t> </a:t>
            </a:r>
            <a:r>
              <a:rPr lang="en-US" sz="1600" dirty="0" err="1"/>
              <a:t>kemampuan</a:t>
            </a:r>
            <a:r>
              <a:rPr lang="en-US" sz="1600" dirty="0"/>
              <a:t> </a:t>
            </a:r>
            <a:r>
              <a:rPr lang="en-US" sz="1600" dirty="0" err="1"/>
              <a:t>dan</a:t>
            </a:r>
            <a:r>
              <a:rPr lang="en-US" sz="1600" dirty="0"/>
              <a:t> </a:t>
            </a:r>
            <a:r>
              <a:rPr lang="en-US" sz="1600" dirty="0" err="1"/>
              <a:t>fungsinya</a:t>
            </a:r>
            <a:r>
              <a:rPr lang="en-US" sz="1600" dirty="0"/>
              <a:t> </a:t>
            </a:r>
            <a:r>
              <a:rPr lang="en-US" sz="1600" dirty="0" err="1"/>
              <a:t>dengan</a:t>
            </a:r>
            <a:r>
              <a:rPr lang="en-US" sz="1600" dirty="0"/>
              <a:t> </a:t>
            </a:r>
            <a:r>
              <a:rPr lang="en-US" sz="1600" dirty="0" err="1"/>
              <a:t>mudah</a:t>
            </a:r>
            <a:r>
              <a:rPr lang="en-US" sz="1600" dirty="0" smtClean="0"/>
              <a:t>.</a:t>
            </a:r>
          </a:p>
          <a:p>
            <a:pPr algn="just"/>
            <a:endParaRPr lang="en-US" sz="1600" dirty="0"/>
          </a:p>
          <a:p>
            <a:pPr algn="just"/>
            <a:r>
              <a:rPr lang="en-US" sz="1600" b="1" dirty="0" err="1">
                <a:solidFill>
                  <a:srgbClr val="002060"/>
                </a:solidFill>
              </a:rPr>
              <a:t>Jenis</a:t>
            </a:r>
            <a:r>
              <a:rPr lang="en-US" sz="1600" b="1" dirty="0">
                <a:solidFill>
                  <a:srgbClr val="002060"/>
                </a:solidFill>
              </a:rPr>
              <a:t> PDU Packet di ISIS </a:t>
            </a:r>
            <a:r>
              <a:rPr lang="en-US" sz="1600" b="1" dirty="0" smtClean="0">
                <a:solidFill>
                  <a:srgbClr val="002060"/>
                </a:solidFill>
              </a:rPr>
              <a:t>Routing</a:t>
            </a:r>
          </a:p>
          <a:p>
            <a:pPr algn="just"/>
            <a:r>
              <a:rPr lang="en-US" sz="1600" dirty="0"/>
              <a:t>OSI layer </a:t>
            </a:r>
            <a:r>
              <a:rPr lang="en-US" sz="1600" dirty="0" err="1"/>
              <a:t>mendefinisikan</a:t>
            </a:r>
            <a:r>
              <a:rPr lang="en-US" sz="1600" dirty="0"/>
              <a:t> unit data </a:t>
            </a:r>
            <a:r>
              <a:rPr lang="en-US" sz="1600" dirty="0" err="1"/>
              <a:t>sebagai</a:t>
            </a:r>
            <a:r>
              <a:rPr lang="en-US" sz="1600" dirty="0"/>
              <a:t> protocol data unit (PDU). </a:t>
            </a:r>
            <a:r>
              <a:rPr lang="en-US" sz="1600" dirty="0" err="1"/>
              <a:t>Sebuah</a:t>
            </a:r>
            <a:r>
              <a:rPr lang="en-US" sz="1600" dirty="0"/>
              <a:t> frame </a:t>
            </a:r>
            <a:r>
              <a:rPr lang="en-US" sz="1600" dirty="0" err="1"/>
              <a:t>karena</a:t>
            </a:r>
            <a:r>
              <a:rPr lang="en-US" sz="1600" dirty="0"/>
              <a:t> </a:t>
            </a:r>
            <a:r>
              <a:rPr lang="en-US" sz="1600" dirty="0" err="1"/>
              <a:t>itu</a:t>
            </a:r>
            <a:r>
              <a:rPr lang="en-US" sz="1600" dirty="0"/>
              <a:t> </a:t>
            </a:r>
            <a:r>
              <a:rPr lang="en-US" sz="1600" dirty="0" err="1"/>
              <a:t>dianggap</a:t>
            </a:r>
            <a:r>
              <a:rPr lang="en-US" sz="1600" dirty="0"/>
              <a:t> </a:t>
            </a:r>
            <a:r>
              <a:rPr lang="en-US" sz="1600" dirty="0" err="1"/>
              <a:t>oleh</a:t>
            </a:r>
            <a:r>
              <a:rPr lang="en-US" sz="1600" dirty="0"/>
              <a:t> OSI </a:t>
            </a:r>
            <a:r>
              <a:rPr lang="en-US" sz="1600" dirty="0" err="1"/>
              <a:t>sebagai</a:t>
            </a:r>
            <a:r>
              <a:rPr lang="en-US" sz="1600" dirty="0"/>
              <a:t> PDU data-link, </a:t>
            </a:r>
            <a:r>
              <a:rPr lang="en-US" sz="1600" dirty="0" err="1"/>
              <a:t>dan</a:t>
            </a:r>
            <a:r>
              <a:rPr lang="en-US" sz="1600" dirty="0"/>
              <a:t> </a:t>
            </a:r>
            <a:r>
              <a:rPr lang="en-US" sz="1600" dirty="0" err="1"/>
              <a:t>paket</a:t>
            </a:r>
            <a:r>
              <a:rPr lang="en-US" sz="1600" dirty="0"/>
              <a:t> </a:t>
            </a:r>
            <a:r>
              <a:rPr lang="en-US" sz="1600" dirty="0" err="1"/>
              <a:t>dianggap</a:t>
            </a:r>
            <a:r>
              <a:rPr lang="en-US" sz="1600" dirty="0"/>
              <a:t> </a:t>
            </a:r>
            <a:r>
              <a:rPr lang="en-US" sz="1600" dirty="0" err="1"/>
              <a:t>sebagai</a:t>
            </a:r>
            <a:r>
              <a:rPr lang="en-US" sz="1600" dirty="0"/>
              <a:t> PDU </a:t>
            </a:r>
            <a:r>
              <a:rPr lang="en-US" sz="1600" dirty="0" err="1"/>
              <a:t>jaringan</a:t>
            </a:r>
            <a:r>
              <a:rPr lang="en-US" sz="1600" dirty="0"/>
              <a:t>. Ada </a:t>
            </a:r>
            <a:r>
              <a:rPr lang="en-US" sz="1600" dirty="0" err="1"/>
              <a:t>empat</a:t>
            </a:r>
            <a:r>
              <a:rPr lang="en-US" sz="1600" dirty="0"/>
              <a:t> </a:t>
            </a:r>
            <a:r>
              <a:rPr lang="en-US" sz="1600" dirty="0" err="1"/>
              <a:t>jenis</a:t>
            </a:r>
            <a:r>
              <a:rPr lang="en-US" sz="1600" dirty="0"/>
              <a:t> </a:t>
            </a:r>
            <a:r>
              <a:rPr lang="en-US" sz="1600" dirty="0" err="1"/>
              <a:t>paket</a:t>
            </a:r>
            <a:r>
              <a:rPr lang="en-US" sz="1600" dirty="0"/>
              <a:t> PDU, </a:t>
            </a:r>
            <a:r>
              <a:rPr lang="en-US" sz="1600" dirty="0" err="1"/>
              <a:t>dan</a:t>
            </a:r>
            <a:r>
              <a:rPr lang="en-US" sz="1600" dirty="0"/>
              <a:t> </a:t>
            </a:r>
            <a:r>
              <a:rPr lang="en-US" sz="1600" dirty="0" err="1"/>
              <a:t>masing-masing</a:t>
            </a:r>
            <a:r>
              <a:rPr lang="en-US" sz="1600" dirty="0"/>
              <a:t> </a:t>
            </a:r>
            <a:r>
              <a:rPr lang="en-US" sz="1600" dirty="0" err="1"/>
              <a:t>jenis</a:t>
            </a:r>
            <a:r>
              <a:rPr lang="en-US" sz="1600" dirty="0"/>
              <a:t> </a:t>
            </a:r>
            <a:r>
              <a:rPr lang="en-US" sz="1600" dirty="0" err="1"/>
              <a:t>dapat</a:t>
            </a:r>
            <a:r>
              <a:rPr lang="en-US" sz="1600" dirty="0"/>
              <a:t> Level 1 </a:t>
            </a:r>
            <a:r>
              <a:rPr lang="en-US" sz="1600" dirty="0" err="1"/>
              <a:t>atau</a:t>
            </a:r>
            <a:r>
              <a:rPr lang="en-US" sz="1600" dirty="0"/>
              <a:t> Level 2: </a:t>
            </a:r>
            <a:endParaRPr lang="en-US" sz="1600" dirty="0" smtClean="0"/>
          </a:p>
          <a:p>
            <a:pPr marL="285750" indent="-285750" algn="just">
              <a:buFont typeface="Wingdings" panose="05000000000000000000" pitchFamily="2" charset="2"/>
              <a:buChar char="ü"/>
            </a:pPr>
            <a:r>
              <a:rPr lang="en-US" sz="1600" dirty="0" smtClean="0"/>
              <a:t>LSP </a:t>
            </a:r>
            <a:r>
              <a:rPr lang="en-US" sz="1600" dirty="0"/>
              <a:t>: </a:t>
            </a:r>
            <a:r>
              <a:rPr lang="en-US" sz="1600" dirty="0" err="1"/>
              <a:t>suatu</a:t>
            </a:r>
            <a:r>
              <a:rPr lang="en-US" sz="1600" dirty="0"/>
              <a:t> LSP </a:t>
            </a:r>
            <a:r>
              <a:rPr lang="en-US" sz="1600" dirty="0" err="1"/>
              <a:t>adalah</a:t>
            </a:r>
            <a:r>
              <a:rPr lang="en-US" sz="1600" dirty="0"/>
              <a:t> PDU yang </a:t>
            </a:r>
            <a:r>
              <a:rPr lang="en-US" sz="1600" dirty="0" err="1"/>
              <a:t>dikirimkan</a:t>
            </a:r>
            <a:r>
              <a:rPr lang="en-US" sz="1600" dirty="0"/>
              <a:t> </a:t>
            </a:r>
            <a:r>
              <a:rPr lang="en-US" sz="1600" dirty="0" err="1"/>
              <a:t>antara</a:t>
            </a:r>
            <a:r>
              <a:rPr lang="en-US" sz="1600" dirty="0"/>
              <a:t> </a:t>
            </a:r>
            <a:r>
              <a:rPr lang="en-US" sz="1600" dirty="0" err="1"/>
              <a:t>dua</a:t>
            </a:r>
            <a:r>
              <a:rPr lang="en-US" sz="1600" dirty="0"/>
              <a:t> neighbors ISIS. LSP </a:t>
            </a:r>
            <a:r>
              <a:rPr lang="en-US" sz="1600" dirty="0" err="1"/>
              <a:t>berisi</a:t>
            </a:r>
            <a:r>
              <a:rPr lang="en-US" sz="1600" dirty="0"/>
              <a:t> </a:t>
            </a:r>
            <a:r>
              <a:rPr lang="en-US" sz="1600" dirty="0" err="1"/>
              <a:t>informasi</a:t>
            </a:r>
            <a:r>
              <a:rPr lang="en-US" sz="1600" dirty="0"/>
              <a:t> </a:t>
            </a:r>
            <a:r>
              <a:rPr lang="en-US" sz="1600" dirty="0" err="1"/>
              <a:t>tentang</a:t>
            </a:r>
            <a:r>
              <a:rPr lang="en-US" sz="1600" dirty="0"/>
              <a:t> neighbors </a:t>
            </a:r>
            <a:r>
              <a:rPr lang="en-US" sz="1600" dirty="0" err="1"/>
              <a:t>dan</a:t>
            </a:r>
            <a:r>
              <a:rPr lang="en-US" sz="1600" dirty="0"/>
              <a:t> </a:t>
            </a:r>
            <a:r>
              <a:rPr lang="en-US" sz="1600" dirty="0" err="1"/>
              <a:t>biaya</a:t>
            </a:r>
            <a:r>
              <a:rPr lang="en-US" sz="1600" dirty="0"/>
              <a:t> </a:t>
            </a:r>
            <a:r>
              <a:rPr lang="en-US" sz="1600" dirty="0" err="1"/>
              <a:t>jalur</a:t>
            </a:r>
            <a:r>
              <a:rPr lang="en-US" sz="1600" dirty="0"/>
              <a:t>, </a:t>
            </a:r>
            <a:r>
              <a:rPr lang="en-US" sz="1600" dirty="0" err="1"/>
              <a:t>termasuk</a:t>
            </a:r>
            <a:r>
              <a:rPr lang="en-US" sz="1600" dirty="0"/>
              <a:t> adjacencies neighbors, </a:t>
            </a:r>
            <a:r>
              <a:rPr lang="en-US" sz="1600" dirty="0" err="1"/>
              <a:t>prefiks</a:t>
            </a:r>
            <a:r>
              <a:rPr lang="en-US" sz="1600" dirty="0"/>
              <a:t> IP </a:t>
            </a:r>
            <a:r>
              <a:rPr lang="en-US" sz="1600" dirty="0" err="1"/>
              <a:t>terhubung</a:t>
            </a:r>
            <a:r>
              <a:rPr lang="en-US" sz="1600" dirty="0"/>
              <a:t>, Open System Interconnection (OSI) </a:t>
            </a:r>
            <a:r>
              <a:rPr lang="en-US" sz="1600" dirty="0" err="1"/>
              <a:t>sistem</a:t>
            </a:r>
            <a:r>
              <a:rPr lang="en-US" sz="1600" dirty="0"/>
              <a:t> </a:t>
            </a:r>
            <a:r>
              <a:rPr lang="en-US" sz="1600" dirty="0" err="1"/>
              <a:t>akhir</a:t>
            </a:r>
            <a:r>
              <a:rPr lang="en-US" sz="1600" dirty="0"/>
              <a:t>, </a:t>
            </a:r>
            <a:r>
              <a:rPr lang="en-US" sz="1600" dirty="0" err="1"/>
              <a:t>dan</a:t>
            </a:r>
            <a:r>
              <a:rPr lang="en-US" sz="1600" dirty="0"/>
              <a:t> </a:t>
            </a:r>
            <a:r>
              <a:rPr lang="en-US" sz="1600" dirty="0" err="1"/>
              <a:t>alamat</a:t>
            </a:r>
            <a:r>
              <a:rPr lang="en-US" sz="1600" dirty="0"/>
              <a:t> </a:t>
            </a:r>
            <a:r>
              <a:rPr lang="en-US" sz="1600" dirty="0" err="1"/>
              <a:t>daerah</a:t>
            </a:r>
            <a:r>
              <a:rPr lang="en-US" sz="1600" dirty="0"/>
              <a:t>. LSP </a:t>
            </a:r>
            <a:r>
              <a:rPr lang="en-US" sz="1600" dirty="0" err="1"/>
              <a:t>digunakan</a:t>
            </a:r>
            <a:r>
              <a:rPr lang="en-US" sz="1600" dirty="0"/>
              <a:t> </a:t>
            </a:r>
            <a:r>
              <a:rPr lang="en-US" sz="1600" dirty="0" err="1"/>
              <a:t>oleh</a:t>
            </a:r>
            <a:r>
              <a:rPr lang="en-US" sz="1600" dirty="0"/>
              <a:t> router </a:t>
            </a:r>
            <a:r>
              <a:rPr lang="en-US" sz="1600" dirty="0" err="1"/>
              <a:t>penerima</a:t>
            </a:r>
            <a:r>
              <a:rPr lang="en-US" sz="1600" dirty="0"/>
              <a:t> </a:t>
            </a:r>
            <a:r>
              <a:rPr lang="en-US" sz="1600" dirty="0" err="1"/>
              <a:t>untuk</a:t>
            </a:r>
            <a:r>
              <a:rPr lang="en-US" sz="1600" dirty="0"/>
              <a:t> </a:t>
            </a:r>
            <a:r>
              <a:rPr lang="en-US" sz="1600" dirty="0" err="1"/>
              <a:t>mempertahankan</a:t>
            </a:r>
            <a:r>
              <a:rPr lang="en-US" sz="1600" dirty="0"/>
              <a:t> </a:t>
            </a:r>
            <a:r>
              <a:rPr lang="en-US" sz="1600" dirty="0" err="1"/>
              <a:t>tabel</a:t>
            </a:r>
            <a:r>
              <a:rPr lang="en-US" sz="1600" dirty="0"/>
              <a:t> routing </a:t>
            </a:r>
            <a:r>
              <a:rPr lang="en-US" sz="1600" dirty="0" err="1"/>
              <a:t>mereka</a:t>
            </a:r>
            <a:r>
              <a:rPr lang="en-US" sz="1600" dirty="0" smtClean="0"/>
              <a:t>.</a:t>
            </a:r>
          </a:p>
          <a:p>
            <a:pPr marL="285750" indent="-285750" algn="just">
              <a:buFont typeface="Wingdings" panose="05000000000000000000" pitchFamily="2" charset="2"/>
              <a:buChar char="ü"/>
            </a:pPr>
            <a:r>
              <a:rPr lang="en-US" sz="1600" dirty="0"/>
              <a:t>IIH : </a:t>
            </a:r>
            <a:r>
              <a:rPr lang="en-US" sz="1600" dirty="0" err="1"/>
              <a:t>suatu</a:t>
            </a:r>
            <a:r>
              <a:rPr lang="en-US" sz="1600" dirty="0"/>
              <a:t> ISIS Hello PDU </a:t>
            </a:r>
            <a:r>
              <a:rPr lang="en-US" sz="1600" dirty="0" err="1"/>
              <a:t>digunakan</a:t>
            </a:r>
            <a:r>
              <a:rPr lang="en-US" sz="1600" dirty="0"/>
              <a:t> </a:t>
            </a:r>
            <a:r>
              <a:rPr lang="en-US" sz="1600" dirty="0" err="1"/>
              <a:t>untuk</a:t>
            </a:r>
            <a:r>
              <a:rPr lang="en-US" sz="1600" dirty="0"/>
              <a:t> </a:t>
            </a:r>
            <a:r>
              <a:rPr lang="en-US" sz="1600" dirty="0" err="1"/>
              <a:t>membangun</a:t>
            </a:r>
            <a:r>
              <a:rPr lang="en-US" sz="1600" dirty="0"/>
              <a:t> </a:t>
            </a:r>
            <a:r>
              <a:rPr lang="en-US" sz="1600" dirty="0" err="1"/>
              <a:t>dan</a:t>
            </a:r>
            <a:r>
              <a:rPr lang="en-US" sz="1600" dirty="0"/>
              <a:t> </a:t>
            </a:r>
            <a:r>
              <a:rPr lang="en-US" sz="1600" dirty="0" err="1"/>
              <a:t>mempertahankan</a:t>
            </a:r>
            <a:r>
              <a:rPr lang="en-US" sz="1600" dirty="0"/>
              <a:t> adjacencies. </a:t>
            </a:r>
            <a:endParaRPr lang="en-US" sz="1600" dirty="0" smtClean="0"/>
          </a:p>
          <a:p>
            <a:pPr marL="285750" indent="-285750" algn="just">
              <a:buFont typeface="Wingdings" panose="05000000000000000000" pitchFamily="2" charset="2"/>
              <a:buChar char="ü"/>
            </a:pPr>
            <a:r>
              <a:rPr lang="en-US" sz="1600" dirty="0" smtClean="0"/>
              <a:t>PSNP </a:t>
            </a:r>
            <a:r>
              <a:rPr lang="en-US" sz="1600" dirty="0"/>
              <a:t>: </a:t>
            </a:r>
            <a:r>
              <a:rPr lang="en-US" sz="1600" dirty="0" err="1"/>
              <a:t>sebuah</a:t>
            </a:r>
            <a:r>
              <a:rPr lang="en-US" sz="1600" dirty="0"/>
              <a:t> </a:t>
            </a:r>
            <a:r>
              <a:rPr lang="en-US" sz="1600" dirty="0" err="1"/>
              <a:t>parsial</a:t>
            </a:r>
            <a:r>
              <a:rPr lang="en-US" sz="1600" dirty="0"/>
              <a:t> </a:t>
            </a:r>
            <a:r>
              <a:rPr lang="en-US" sz="1600" dirty="0" err="1"/>
              <a:t>nomor</a:t>
            </a:r>
            <a:r>
              <a:rPr lang="en-US" sz="1600" dirty="0"/>
              <a:t> </a:t>
            </a:r>
            <a:r>
              <a:rPr lang="en-US" sz="1600" dirty="0" err="1"/>
              <a:t>urut</a:t>
            </a:r>
            <a:r>
              <a:rPr lang="en-US" sz="1600" dirty="0"/>
              <a:t> PDU (PSNP) </a:t>
            </a:r>
            <a:r>
              <a:rPr lang="en-US" sz="1600" dirty="0" err="1"/>
              <a:t>berisi</a:t>
            </a:r>
            <a:r>
              <a:rPr lang="en-US" sz="1600" dirty="0"/>
              <a:t> </a:t>
            </a:r>
            <a:r>
              <a:rPr lang="en-US" sz="1600" dirty="0" err="1"/>
              <a:t>ringkasan</a:t>
            </a:r>
            <a:r>
              <a:rPr lang="en-US" sz="1600" dirty="0"/>
              <a:t> </a:t>
            </a:r>
            <a:r>
              <a:rPr lang="en-US" sz="1600" dirty="0" err="1"/>
              <a:t>dari</a:t>
            </a:r>
            <a:r>
              <a:rPr lang="en-US" sz="1600" dirty="0"/>
              <a:t> </a:t>
            </a:r>
            <a:r>
              <a:rPr lang="en-US" sz="1600" dirty="0" err="1"/>
              <a:t>hanya</a:t>
            </a:r>
            <a:r>
              <a:rPr lang="en-US" sz="1600" dirty="0"/>
              <a:t> </a:t>
            </a:r>
            <a:r>
              <a:rPr lang="en-US" sz="1600" dirty="0" err="1"/>
              <a:t>sebagian</a:t>
            </a:r>
            <a:r>
              <a:rPr lang="en-US" sz="1600" dirty="0"/>
              <a:t> </a:t>
            </a:r>
            <a:r>
              <a:rPr lang="en-US" sz="1600" dirty="0" err="1"/>
              <a:t>dari</a:t>
            </a:r>
            <a:r>
              <a:rPr lang="en-US" sz="1600" dirty="0"/>
              <a:t> LSP </a:t>
            </a:r>
            <a:r>
              <a:rPr lang="en-US" sz="1600" dirty="0" err="1"/>
              <a:t>dikenal</a:t>
            </a:r>
            <a:r>
              <a:rPr lang="en-US" sz="1600" dirty="0"/>
              <a:t>. </a:t>
            </a:r>
            <a:r>
              <a:rPr lang="en-US" sz="1600" dirty="0" err="1"/>
              <a:t>Sebuah</a:t>
            </a:r>
            <a:r>
              <a:rPr lang="en-US" sz="1600" dirty="0"/>
              <a:t> PSNP </a:t>
            </a:r>
            <a:r>
              <a:rPr lang="en-US" sz="1600" dirty="0" err="1"/>
              <a:t>digunakan</a:t>
            </a:r>
            <a:r>
              <a:rPr lang="en-US" sz="1600" dirty="0"/>
              <a:t> </a:t>
            </a:r>
            <a:r>
              <a:rPr lang="en-US" sz="1600" dirty="0" err="1"/>
              <a:t>untuk</a:t>
            </a:r>
            <a:r>
              <a:rPr lang="en-US" sz="1600" dirty="0"/>
              <a:t> </a:t>
            </a:r>
            <a:r>
              <a:rPr lang="en-US" sz="1600" dirty="0" err="1"/>
              <a:t>mengakui</a:t>
            </a:r>
            <a:r>
              <a:rPr lang="en-US" sz="1600" dirty="0"/>
              <a:t> </a:t>
            </a:r>
            <a:r>
              <a:rPr lang="en-US" sz="1600" dirty="0" err="1"/>
              <a:t>dan</a:t>
            </a:r>
            <a:r>
              <a:rPr lang="en-US" sz="1600" dirty="0"/>
              <a:t> </a:t>
            </a:r>
            <a:r>
              <a:rPr lang="en-US" sz="1600" dirty="0" err="1"/>
              <a:t>meminta</a:t>
            </a:r>
            <a:r>
              <a:rPr lang="en-US" sz="1600" dirty="0"/>
              <a:t> link-state </a:t>
            </a:r>
            <a:r>
              <a:rPr lang="en-US" sz="1600" dirty="0" err="1"/>
              <a:t>informasi</a:t>
            </a:r>
            <a:r>
              <a:rPr lang="en-US" sz="1600" dirty="0"/>
              <a:t> </a:t>
            </a:r>
            <a:r>
              <a:rPr lang="en-US" sz="1600" dirty="0" err="1"/>
              <a:t>dengan</a:t>
            </a:r>
            <a:r>
              <a:rPr lang="en-US" sz="1600" dirty="0"/>
              <a:t> </a:t>
            </a:r>
            <a:r>
              <a:rPr lang="en-US" sz="1600" dirty="0" err="1"/>
              <a:t>meminta</a:t>
            </a:r>
            <a:r>
              <a:rPr lang="en-US" sz="1600" dirty="0"/>
              <a:t> </a:t>
            </a:r>
            <a:r>
              <a:rPr lang="en-US" sz="1600" dirty="0" err="1"/>
              <a:t>versi</a:t>
            </a:r>
            <a:r>
              <a:rPr lang="en-US" sz="1600" dirty="0"/>
              <a:t> yang </a:t>
            </a:r>
            <a:r>
              <a:rPr lang="en-US" sz="1600" dirty="0" err="1"/>
              <a:t>lebih</a:t>
            </a:r>
            <a:r>
              <a:rPr lang="en-US" sz="1600" dirty="0"/>
              <a:t> </a:t>
            </a:r>
            <a:r>
              <a:rPr lang="en-US" sz="1600" dirty="0" err="1"/>
              <a:t>baru</a:t>
            </a:r>
            <a:r>
              <a:rPr lang="en-US" sz="1600" dirty="0"/>
              <a:t> </a:t>
            </a:r>
            <a:r>
              <a:rPr lang="en-US" sz="1600" dirty="0" err="1"/>
              <a:t>dari</a:t>
            </a:r>
            <a:r>
              <a:rPr lang="en-US" sz="1600" dirty="0"/>
              <a:t> </a:t>
            </a:r>
            <a:r>
              <a:rPr lang="en-US" sz="1600" dirty="0" err="1"/>
              <a:t>lengkap</a:t>
            </a:r>
            <a:r>
              <a:rPr lang="en-US" sz="1600" dirty="0"/>
              <a:t> LSP, </a:t>
            </a:r>
            <a:r>
              <a:rPr lang="en-US" sz="1600" dirty="0" err="1"/>
              <a:t>atau</a:t>
            </a:r>
            <a:r>
              <a:rPr lang="en-US" sz="1600" dirty="0"/>
              <a:t> </a:t>
            </a:r>
            <a:r>
              <a:rPr lang="en-US" sz="1600" dirty="0" err="1"/>
              <a:t>mengakui</a:t>
            </a:r>
            <a:r>
              <a:rPr lang="en-US" sz="1600" dirty="0"/>
              <a:t> </a:t>
            </a:r>
            <a:r>
              <a:rPr lang="en-US" sz="1600" dirty="0" err="1"/>
              <a:t>penerimaan</a:t>
            </a:r>
            <a:r>
              <a:rPr lang="en-US" sz="1600" dirty="0"/>
              <a:t> </a:t>
            </a:r>
            <a:r>
              <a:rPr lang="en-US" sz="1600" dirty="0" err="1"/>
              <a:t>dari</a:t>
            </a:r>
            <a:r>
              <a:rPr lang="en-US" sz="1600" dirty="0"/>
              <a:t> LSP </a:t>
            </a:r>
            <a:r>
              <a:rPr lang="en-US" sz="1600" dirty="0" err="1"/>
              <a:t>masingmasing</a:t>
            </a:r>
            <a:r>
              <a:rPr lang="en-US" sz="1600" dirty="0"/>
              <a:t>. </a:t>
            </a:r>
            <a:endParaRPr lang="en-US" sz="1600" dirty="0" smtClean="0"/>
          </a:p>
          <a:p>
            <a:pPr marL="285750" indent="-285750" algn="just">
              <a:buFont typeface="Wingdings" panose="05000000000000000000" pitchFamily="2" charset="2"/>
              <a:buChar char="ü"/>
            </a:pPr>
            <a:r>
              <a:rPr lang="en-US" sz="1600" dirty="0" smtClean="0"/>
              <a:t>CSNP </a:t>
            </a:r>
            <a:r>
              <a:rPr lang="en-US" sz="1600" dirty="0"/>
              <a:t>-</a:t>
            </a:r>
            <a:r>
              <a:rPr lang="en-US" sz="1600" dirty="0" err="1"/>
              <a:t>sebuah</a:t>
            </a:r>
            <a:r>
              <a:rPr lang="en-US" sz="1600" dirty="0"/>
              <a:t> </a:t>
            </a:r>
            <a:r>
              <a:rPr lang="en-US" sz="1600" dirty="0" err="1"/>
              <a:t>nomor</a:t>
            </a:r>
            <a:r>
              <a:rPr lang="en-US" sz="1600" dirty="0"/>
              <a:t> </a:t>
            </a:r>
            <a:r>
              <a:rPr lang="en-US" sz="1600" dirty="0" err="1"/>
              <a:t>urut</a:t>
            </a:r>
            <a:r>
              <a:rPr lang="en-US" sz="1600" dirty="0"/>
              <a:t> </a:t>
            </a:r>
            <a:r>
              <a:rPr lang="en-US" sz="1600" dirty="0" err="1"/>
              <a:t>lengkap</a:t>
            </a:r>
            <a:r>
              <a:rPr lang="en-US" sz="1600" dirty="0"/>
              <a:t> PDU (CSNP) </a:t>
            </a:r>
            <a:r>
              <a:rPr lang="en-US" sz="1600" dirty="0" err="1"/>
              <a:t>berisi</a:t>
            </a:r>
            <a:r>
              <a:rPr lang="en-US" sz="1600" dirty="0"/>
              <a:t> </a:t>
            </a:r>
            <a:r>
              <a:rPr lang="en-US" sz="1600" dirty="0" err="1"/>
              <a:t>ringkasan</a:t>
            </a:r>
            <a:r>
              <a:rPr lang="en-US" sz="1600" dirty="0"/>
              <a:t> </a:t>
            </a:r>
            <a:r>
              <a:rPr lang="en-US" sz="1600" dirty="0" err="1"/>
              <a:t>dari</a:t>
            </a:r>
            <a:r>
              <a:rPr lang="en-US" sz="1600" dirty="0"/>
              <a:t> </a:t>
            </a:r>
            <a:r>
              <a:rPr lang="en-US" sz="1600" dirty="0" err="1"/>
              <a:t>semua</a:t>
            </a:r>
            <a:r>
              <a:rPr lang="en-US" sz="1600" dirty="0"/>
              <a:t> LSP yang </a:t>
            </a:r>
            <a:r>
              <a:rPr lang="en-US" sz="1600" dirty="0" err="1"/>
              <a:t>diketahui</a:t>
            </a:r>
            <a:r>
              <a:rPr lang="en-US" sz="1600" dirty="0"/>
              <a:t> </a:t>
            </a:r>
            <a:r>
              <a:rPr lang="en-US" sz="1600" dirty="0" err="1"/>
              <a:t>oleh</a:t>
            </a:r>
            <a:r>
              <a:rPr lang="en-US" sz="1600" dirty="0"/>
              <a:t> router. </a:t>
            </a:r>
            <a:endParaRPr lang="en-US" sz="1600" dirty="0" smtClean="0"/>
          </a:p>
          <a:p>
            <a:pPr marL="285750" indent="-285750" algn="just">
              <a:buFont typeface="Wingdings" panose="05000000000000000000" pitchFamily="2" charset="2"/>
              <a:buChar char="ü"/>
            </a:pPr>
            <a:endParaRPr lang="en-US" sz="1600" b="1" dirty="0">
              <a:solidFill>
                <a:srgbClr val="002060"/>
              </a:solidFill>
            </a:endParaRPr>
          </a:p>
          <a:p>
            <a:pPr algn="just"/>
            <a:r>
              <a:rPr lang="en-US" sz="1600" b="1" dirty="0">
                <a:solidFill>
                  <a:srgbClr val="002060"/>
                </a:solidFill>
              </a:rPr>
              <a:t>Overload </a:t>
            </a:r>
            <a:endParaRPr lang="en-US" sz="1600" b="1" dirty="0" smtClean="0">
              <a:solidFill>
                <a:srgbClr val="002060"/>
              </a:solidFill>
            </a:endParaRPr>
          </a:p>
          <a:p>
            <a:pPr algn="just"/>
            <a:r>
              <a:rPr lang="en-US" sz="1600" dirty="0"/>
              <a:t>ISIS </a:t>
            </a:r>
            <a:r>
              <a:rPr lang="en-US" sz="1600" dirty="0" err="1"/>
              <a:t>juga</a:t>
            </a:r>
            <a:r>
              <a:rPr lang="en-US" sz="1600" dirty="0"/>
              <a:t> di </a:t>
            </a:r>
            <a:r>
              <a:rPr lang="en-US" sz="1600" dirty="0" err="1"/>
              <a:t>kenal</a:t>
            </a:r>
            <a:r>
              <a:rPr lang="en-US" sz="1600" dirty="0"/>
              <a:t> </a:t>
            </a:r>
            <a:r>
              <a:rPr lang="en-US" sz="1600" dirty="0" err="1"/>
              <a:t>fitur</a:t>
            </a:r>
            <a:r>
              <a:rPr lang="en-US" sz="1600" dirty="0"/>
              <a:t> Overload yang </a:t>
            </a:r>
            <a:r>
              <a:rPr lang="en-US" sz="1600" dirty="0" err="1"/>
              <a:t>amat</a:t>
            </a:r>
            <a:r>
              <a:rPr lang="en-US" sz="1600" dirty="0"/>
              <a:t> </a:t>
            </a:r>
            <a:r>
              <a:rPr lang="en-US" sz="1600" dirty="0" err="1"/>
              <a:t>bermanfaat</a:t>
            </a:r>
            <a:r>
              <a:rPr lang="en-US" sz="1600" dirty="0"/>
              <a:t> </a:t>
            </a:r>
            <a:r>
              <a:rPr lang="en-US" sz="1600" dirty="0" err="1" smtClean="0"/>
              <a:t>bila</a:t>
            </a:r>
            <a:r>
              <a:rPr lang="en-US" sz="1600" dirty="0" smtClean="0"/>
              <a:t> </a:t>
            </a:r>
            <a:r>
              <a:rPr lang="en-US" sz="1600" dirty="0" err="1" smtClean="0"/>
              <a:t>terjadi</a:t>
            </a:r>
            <a:r>
              <a:rPr lang="en-US" sz="1600" dirty="0" smtClean="0"/>
              <a:t> </a:t>
            </a:r>
            <a:r>
              <a:rPr lang="en-US" sz="1600" dirty="0" err="1"/>
              <a:t>gangguan</a:t>
            </a:r>
            <a:r>
              <a:rPr lang="en-US" sz="1600" dirty="0"/>
              <a:t> link </a:t>
            </a:r>
            <a:r>
              <a:rPr lang="en-US" sz="1600" dirty="0" err="1"/>
              <a:t>ataupun</a:t>
            </a:r>
            <a:r>
              <a:rPr lang="en-US" sz="1600" dirty="0"/>
              <a:t> </a:t>
            </a:r>
            <a:r>
              <a:rPr lang="en-US" sz="1600" dirty="0" err="1"/>
              <a:t>mau</a:t>
            </a:r>
            <a:r>
              <a:rPr lang="en-US" sz="1600" dirty="0"/>
              <a:t> </a:t>
            </a:r>
            <a:r>
              <a:rPr lang="en-US" sz="1600" dirty="0" err="1"/>
              <a:t>dilakukan</a:t>
            </a:r>
            <a:r>
              <a:rPr lang="en-US" sz="1600" dirty="0"/>
              <a:t> maintenance </a:t>
            </a:r>
            <a:r>
              <a:rPr lang="en-US" sz="1600" dirty="0" err="1"/>
              <a:t>terhadap</a:t>
            </a:r>
            <a:r>
              <a:rPr lang="en-US" sz="1600" dirty="0"/>
              <a:t> router</a:t>
            </a:r>
          </a:p>
          <a:p>
            <a:pPr algn="just"/>
            <a:r>
              <a:rPr lang="en-US" sz="1600" dirty="0" err="1"/>
              <a:t>tersebut</a:t>
            </a:r>
            <a:r>
              <a:rPr lang="en-US" sz="1600" dirty="0"/>
              <a:t>. router yang di set overload </a:t>
            </a:r>
            <a:r>
              <a:rPr lang="en-US" sz="1600" dirty="0" err="1"/>
              <a:t>maka</a:t>
            </a:r>
            <a:r>
              <a:rPr lang="en-US" sz="1600" dirty="0"/>
              <a:t> ISIS </a:t>
            </a:r>
            <a:r>
              <a:rPr lang="en-US" sz="1600" dirty="0" err="1"/>
              <a:t>akan</a:t>
            </a:r>
            <a:r>
              <a:rPr lang="en-US" sz="1600" dirty="0"/>
              <a:t> </a:t>
            </a:r>
            <a:r>
              <a:rPr lang="en-US" sz="1600" dirty="0" err="1"/>
              <a:t>membuat</a:t>
            </a:r>
            <a:r>
              <a:rPr lang="en-US" sz="1600" dirty="0"/>
              <a:t> </a:t>
            </a:r>
            <a:r>
              <a:rPr lang="en-US" sz="1600" dirty="0" smtClean="0"/>
              <a:t>traffic </a:t>
            </a:r>
            <a:r>
              <a:rPr lang="en-US" sz="1600" dirty="0" err="1" smtClean="0"/>
              <a:t>tidak</a:t>
            </a:r>
            <a:r>
              <a:rPr lang="en-US" sz="1600" dirty="0" smtClean="0"/>
              <a:t> </a:t>
            </a:r>
            <a:r>
              <a:rPr lang="en-US" sz="1600" dirty="0" err="1"/>
              <a:t>akan</a:t>
            </a:r>
            <a:r>
              <a:rPr lang="en-US" sz="1600" dirty="0"/>
              <a:t> </a:t>
            </a:r>
            <a:r>
              <a:rPr lang="en-US" sz="1600" dirty="0" err="1"/>
              <a:t>melalui</a:t>
            </a:r>
            <a:r>
              <a:rPr lang="en-US" sz="1600" dirty="0"/>
              <a:t> router yang </a:t>
            </a:r>
            <a:r>
              <a:rPr lang="en-US" sz="1600" dirty="0" err="1"/>
              <a:t>diset</a:t>
            </a:r>
            <a:r>
              <a:rPr lang="en-US" sz="1600" dirty="0"/>
              <a:t> overload (router yang </a:t>
            </a:r>
            <a:r>
              <a:rPr lang="en-US" sz="1600" dirty="0" err="1"/>
              <a:t>diset</a:t>
            </a:r>
            <a:r>
              <a:rPr lang="en-US" sz="1600" dirty="0"/>
              <a:t> </a:t>
            </a:r>
            <a:r>
              <a:rPr lang="en-US" sz="1600" dirty="0" smtClean="0"/>
              <a:t>overload </a:t>
            </a:r>
            <a:r>
              <a:rPr lang="en-US" sz="1600" dirty="0" err="1" smtClean="0"/>
              <a:t>akan</a:t>
            </a:r>
            <a:r>
              <a:rPr lang="en-US" sz="1600" dirty="0" smtClean="0"/>
              <a:t> </a:t>
            </a:r>
            <a:r>
              <a:rPr lang="en-US" sz="1600" dirty="0" err="1"/>
              <a:t>dihapus</a:t>
            </a:r>
            <a:r>
              <a:rPr lang="en-US" sz="1600" dirty="0"/>
              <a:t> </a:t>
            </a:r>
            <a:r>
              <a:rPr lang="en-US" sz="1600" dirty="0" err="1"/>
              <a:t>dari</a:t>
            </a:r>
            <a:r>
              <a:rPr lang="en-US" sz="1600" dirty="0"/>
              <a:t> Topology), </a:t>
            </a:r>
            <a:r>
              <a:rPr lang="en-US" sz="1600" dirty="0" err="1"/>
              <a:t>seting</a:t>
            </a:r>
            <a:r>
              <a:rPr lang="en-US" sz="1600" dirty="0"/>
              <a:t> overload </a:t>
            </a:r>
            <a:r>
              <a:rPr lang="en-US" sz="1600" dirty="0" err="1"/>
              <a:t>dapat</a:t>
            </a:r>
            <a:r>
              <a:rPr lang="en-US" sz="1600" dirty="0"/>
              <a:t> </a:t>
            </a:r>
            <a:r>
              <a:rPr lang="en-US" sz="1600" dirty="0" err="1"/>
              <a:t>bersifat</a:t>
            </a:r>
            <a:r>
              <a:rPr lang="en-US" sz="1600" dirty="0"/>
              <a:t> permanent</a:t>
            </a:r>
            <a:r>
              <a:rPr lang="en-US" sz="1600" dirty="0" smtClean="0"/>
              <a:t>, </a:t>
            </a:r>
            <a:r>
              <a:rPr lang="en-US" sz="1600" dirty="0" err="1" smtClean="0"/>
              <a:t>maupun</a:t>
            </a:r>
            <a:r>
              <a:rPr lang="en-US" sz="1600" dirty="0" smtClean="0"/>
              <a:t> </a:t>
            </a:r>
            <a:r>
              <a:rPr lang="en-US" sz="1600" dirty="0"/>
              <a:t>temporary (</a:t>
            </a:r>
            <a:r>
              <a:rPr lang="en-US" sz="1600" dirty="0" err="1"/>
              <a:t>diset</a:t>
            </a:r>
            <a:r>
              <a:rPr lang="en-US" sz="1600" dirty="0"/>
              <a:t> </a:t>
            </a:r>
            <a:r>
              <a:rPr lang="en-US" sz="1600" dirty="0" err="1"/>
              <a:t>berapa</a:t>
            </a:r>
            <a:r>
              <a:rPr lang="en-US" sz="1600" dirty="0"/>
              <a:t> lama router </a:t>
            </a:r>
            <a:r>
              <a:rPr lang="en-US" sz="1600" dirty="0" err="1"/>
              <a:t>tersebut</a:t>
            </a:r>
            <a:r>
              <a:rPr lang="en-US" sz="1600" dirty="0"/>
              <a:t> </a:t>
            </a:r>
            <a:r>
              <a:rPr lang="en-US" sz="1600" dirty="0" err="1"/>
              <a:t>akan</a:t>
            </a:r>
            <a:r>
              <a:rPr lang="en-US" sz="1600" dirty="0"/>
              <a:t> </a:t>
            </a:r>
            <a:r>
              <a:rPr lang="en-US" sz="1600" dirty="0" err="1" smtClean="0"/>
              <a:t>dianggap</a:t>
            </a:r>
            <a:r>
              <a:rPr lang="en-US" sz="1600" dirty="0" smtClean="0"/>
              <a:t> overload</a:t>
            </a:r>
            <a:r>
              <a:rPr lang="en-US" sz="1600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25989726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274759" y="854052"/>
            <a:ext cx="4898929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600" dirty="0" smtClean="0"/>
              <a:t>OSPF</a:t>
            </a:r>
          </a:p>
          <a:p>
            <a:pPr algn="just"/>
            <a:r>
              <a:rPr lang="en-US" sz="1600" dirty="0"/>
              <a:t>Open Shortest Path First (OSPF) </a:t>
            </a:r>
            <a:r>
              <a:rPr lang="en-US" sz="1600" dirty="0" err="1"/>
              <a:t>adalah</a:t>
            </a:r>
            <a:r>
              <a:rPr lang="en-US" sz="1600" dirty="0"/>
              <a:t> </a:t>
            </a:r>
            <a:r>
              <a:rPr lang="en-US" sz="1600" dirty="0" err="1"/>
              <a:t>sebuah</a:t>
            </a:r>
            <a:r>
              <a:rPr lang="en-US" sz="1600" dirty="0"/>
              <a:t> </a:t>
            </a:r>
            <a:r>
              <a:rPr lang="en-US" sz="1600" dirty="0" err="1"/>
              <a:t>protokol</a:t>
            </a:r>
            <a:r>
              <a:rPr lang="en-US" sz="1600" dirty="0"/>
              <a:t> routing </a:t>
            </a:r>
            <a:r>
              <a:rPr lang="en-US" sz="1600" dirty="0" err="1"/>
              <a:t>otomatis</a:t>
            </a:r>
            <a:r>
              <a:rPr lang="en-US" sz="1600" dirty="0"/>
              <a:t> (Dynamic Routing) yang </a:t>
            </a:r>
            <a:r>
              <a:rPr lang="en-US" sz="1600" dirty="0" err="1"/>
              <a:t>mampu</a:t>
            </a:r>
            <a:r>
              <a:rPr lang="en-US" sz="1600" dirty="0"/>
              <a:t> </a:t>
            </a:r>
            <a:r>
              <a:rPr lang="en-US" sz="1600" dirty="0" err="1"/>
              <a:t>menjaga</a:t>
            </a:r>
            <a:r>
              <a:rPr lang="en-US" sz="1600" dirty="0"/>
              <a:t>, </a:t>
            </a:r>
            <a:r>
              <a:rPr lang="en-US" sz="1600" dirty="0" err="1"/>
              <a:t>mengatur</a:t>
            </a:r>
            <a:r>
              <a:rPr lang="en-US" sz="1600" dirty="0"/>
              <a:t> </a:t>
            </a:r>
            <a:r>
              <a:rPr lang="en-US" sz="1600" dirty="0" err="1"/>
              <a:t>dan</a:t>
            </a:r>
            <a:r>
              <a:rPr lang="en-US" sz="1600" dirty="0"/>
              <a:t> </a:t>
            </a:r>
            <a:r>
              <a:rPr lang="en-US" sz="1600" dirty="0" err="1"/>
              <a:t>mendistribusikan</a:t>
            </a:r>
            <a:r>
              <a:rPr lang="en-US" sz="1600" dirty="0"/>
              <a:t> </a:t>
            </a:r>
            <a:r>
              <a:rPr lang="en-US" sz="1600" dirty="0" err="1"/>
              <a:t>informasi</a:t>
            </a:r>
            <a:r>
              <a:rPr lang="en-US" sz="1600" dirty="0"/>
              <a:t> routing </a:t>
            </a:r>
            <a:r>
              <a:rPr lang="en-US" sz="1600" dirty="0" err="1"/>
              <a:t>antar</a:t>
            </a:r>
            <a:r>
              <a:rPr lang="en-US" sz="1600" dirty="0"/>
              <a:t> network </a:t>
            </a:r>
            <a:r>
              <a:rPr lang="en-US" sz="1600" dirty="0" err="1"/>
              <a:t>mengikuti</a:t>
            </a:r>
            <a:r>
              <a:rPr lang="en-US" sz="1600" dirty="0"/>
              <a:t> </a:t>
            </a:r>
            <a:r>
              <a:rPr lang="en-US" sz="1600" dirty="0" err="1"/>
              <a:t>setiap</a:t>
            </a:r>
            <a:r>
              <a:rPr lang="en-US" sz="1600" dirty="0"/>
              <a:t> </a:t>
            </a:r>
            <a:r>
              <a:rPr lang="en-US" sz="1600" dirty="0" err="1"/>
              <a:t>perubahan</a:t>
            </a:r>
            <a:r>
              <a:rPr lang="en-US" sz="1600" dirty="0"/>
              <a:t> </a:t>
            </a:r>
            <a:r>
              <a:rPr lang="en-US" sz="1600" dirty="0" err="1"/>
              <a:t>jaringan</a:t>
            </a:r>
            <a:r>
              <a:rPr lang="en-US" sz="1600" dirty="0"/>
              <a:t> </a:t>
            </a:r>
            <a:r>
              <a:rPr lang="en-US" sz="1600" dirty="0" err="1"/>
              <a:t>secara</a:t>
            </a:r>
            <a:r>
              <a:rPr lang="en-US" sz="1600" dirty="0"/>
              <a:t> </a:t>
            </a:r>
            <a:r>
              <a:rPr lang="en-US" sz="1600" dirty="0" err="1"/>
              <a:t>dinamis</a:t>
            </a:r>
            <a:r>
              <a:rPr lang="en-US" sz="1600" dirty="0"/>
              <a:t>. </a:t>
            </a:r>
            <a:r>
              <a:rPr lang="en-US" sz="1600" dirty="0" err="1"/>
              <a:t>Pada</a:t>
            </a:r>
            <a:r>
              <a:rPr lang="en-US" sz="1600" dirty="0"/>
              <a:t> OSPF </a:t>
            </a:r>
            <a:r>
              <a:rPr lang="en-US" sz="1600" dirty="0" err="1"/>
              <a:t>dikenal</a:t>
            </a:r>
            <a:r>
              <a:rPr lang="en-US" sz="1600" dirty="0"/>
              <a:t> </a:t>
            </a:r>
            <a:r>
              <a:rPr lang="en-US" sz="1600" dirty="0" err="1"/>
              <a:t>sebuah</a:t>
            </a:r>
            <a:r>
              <a:rPr lang="en-US" sz="1600" dirty="0"/>
              <a:t> </a:t>
            </a:r>
            <a:r>
              <a:rPr lang="en-US" sz="1600" dirty="0" err="1"/>
              <a:t>istilah</a:t>
            </a:r>
            <a:r>
              <a:rPr lang="en-US" sz="1600" dirty="0"/>
              <a:t> </a:t>
            </a:r>
            <a:r>
              <a:rPr lang="en-US" sz="1600" dirty="0" err="1"/>
              <a:t>Autonomus</a:t>
            </a:r>
            <a:r>
              <a:rPr lang="en-US" sz="1600" dirty="0"/>
              <a:t> System (AS) </a:t>
            </a:r>
            <a:r>
              <a:rPr lang="en-US" sz="1600" dirty="0" err="1"/>
              <a:t>yaitu</a:t>
            </a:r>
            <a:r>
              <a:rPr lang="en-US" sz="1600" dirty="0"/>
              <a:t> </a:t>
            </a:r>
            <a:r>
              <a:rPr lang="en-US" sz="1600" dirty="0" err="1"/>
              <a:t>sebuah</a:t>
            </a:r>
            <a:r>
              <a:rPr lang="en-US" sz="1600" dirty="0"/>
              <a:t> </a:t>
            </a:r>
            <a:r>
              <a:rPr lang="en-US" sz="1600" dirty="0" err="1"/>
              <a:t>gabungan</a:t>
            </a:r>
            <a:r>
              <a:rPr lang="en-US" sz="1600" dirty="0"/>
              <a:t> </a:t>
            </a:r>
            <a:r>
              <a:rPr lang="en-US" sz="1600" dirty="0" err="1"/>
              <a:t>dari</a:t>
            </a:r>
            <a:r>
              <a:rPr lang="en-US" sz="1600" dirty="0"/>
              <a:t> </a:t>
            </a:r>
            <a:r>
              <a:rPr lang="en-US" sz="1600" dirty="0" err="1"/>
              <a:t>beberapa</a:t>
            </a:r>
            <a:r>
              <a:rPr lang="en-US" sz="1600" dirty="0"/>
              <a:t> </a:t>
            </a:r>
            <a:r>
              <a:rPr lang="en-US" sz="1600" dirty="0" err="1"/>
              <a:t>jaringan</a:t>
            </a:r>
            <a:r>
              <a:rPr lang="en-US" sz="1600" dirty="0"/>
              <a:t> yang </a:t>
            </a:r>
            <a:r>
              <a:rPr lang="en-US" sz="1600" dirty="0" err="1"/>
              <a:t>sifatnya</a:t>
            </a:r>
            <a:r>
              <a:rPr lang="en-US" sz="1600" dirty="0"/>
              <a:t> routing </a:t>
            </a:r>
            <a:r>
              <a:rPr lang="en-US" sz="1600" dirty="0" err="1"/>
              <a:t>dan</a:t>
            </a:r>
            <a:r>
              <a:rPr lang="en-US" sz="1600" dirty="0"/>
              <a:t> </a:t>
            </a:r>
            <a:r>
              <a:rPr lang="en-US" sz="1600" dirty="0" err="1"/>
              <a:t>memiliki</a:t>
            </a:r>
            <a:r>
              <a:rPr lang="en-US" sz="1600" dirty="0"/>
              <a:t> </a:t>
            </a:r>
            <a:r>
              <a:rPr lang="en-US" sz="1600" dirty="0" err="1"/>
              <a:t>kesamaan</a:t>
            </a:r>
            <a:r>
              <a:rPr lang="en-US" sz="1600" dirty="0"/>
              <a:t> </a:t>
            </a:r>
            <a:r>
              <a:rPr lang="en-US" sz="1600" dirty="0" err="1"/>
              <a:t>metode</a:t>
            </a:r>
            <a:r>
              <a:rPr lang="en-US" sz="1600" dirty="0"/>
              <a:t> </a:t>
            </a:r>
            <a:r>
              <a:rPr lang="en-US" sz="1600" dirty="0" err="1"/>
              <a:t>serta</a:t>
            </a:r>
            <a:r>
              <a:rPr lang="en-US" sz="1600" dirty="0"/>
              <a:t> policy </a:t>
            </a:r>
            <a:r>
              <a:rPr lang="en-US" sz="1600" dirty="0" err="1"/>
              <a:t>pengaturan</a:t>
            </a:r>
            <a:r>
              <a:rPr lang="en-US" sz="1600" dirty="0"/>
              <a:t> network, yang </a:t>
            </a:r>
            <a:r>
              <a:rPr lang="en-US" sz="1600" dirty="0" err="1"/>
              <a:t>semuanya</a:t>
            </a:r>
            <a:r>
              <a:rPr lang="en-US" sz="1600" dirty="0"/>
              <a:t> </a:t>
            </a:r>
            <a:r>
              <a:rPr lang="en-US" sz="1600" dirty="0" err="1"/>
              <a:t>dapat</a:t>
            </a:r>
            <a:r>
              <a:rPr lang="en-US" sz="1600" dirty="0"/>
              <a:t> </a:t>
            </a:r>
            <a:r>
              <a:rPr lang="en-US" sz="1600" dirty="0" err="1"/>
              <a:t>dikendalikan</a:t>
            </a:r>
            <a:r>
              <a:rPr lang="en-US" sz="1600" dirty="0"/>
              <a:t> </a:t>
            </a:r>
            <a:r>
              <a:rPr lang="en-US" sz="1600" dirty="0" err="1"/>
              <a:t>oleh</a:t>
            </a:r>
            <a:r>
              <a:rPr lang="en-US" sz="1600" dirty="0"/>
              <a:t> network administrator. Dan </a:t>
            </a:r>
            <a:r>
              <a:rPr lang="en-US" sz="1600" dirty="0" err="1"/>
              <a:t>memang</a:t>
            </a:r>
            <a:r>
              <a:rPr lang="en-US" sz="1600" dirty="0"/>
              <a:t> </a:t>
            </a:r>
            <a:r>
              <a:rPr lang="en-US" sz="1600" dirty="0" err="1"/>
              <a:t>kebanyakan</a:t>
            </a:r>
            <a:r>
              <a:rPr lang="en-US" sz="1600" dirty="0"/>
              <a:t> </a:t>
            </a:r>
            <a:r>
              <a:rPr lang="en-US" sz="1600" dirty="0" err="1"/>
              <a:t>fitur</a:t>
            </a:r>
            <a:r>
              <a:rPr lang="en-US" sz="1600" dirty="0"/>
              <a:t> </a:t>
            </a:r>
            <a:r>
              <a:rPr lang="en-US" sz="1600" dirty="0" err="1"/>
              <a:t>ini</a:t>
            </a:r>
            <a:r>
              <a:rPr lang="en-US" sz="1600" dirty="0"/>
              <a:t> </a:t>
            </a:r>
            <a:r>
              <a:rPr lang="en-US" sz="1600" dirty="0" err="1"/>
              <a:t>diguakan</a:t>
            </a:r>
            <a:r>
              <a:rPr lang="en-US" sz="1600" dirty="0"/>
              <a:t> </a:t>
            </a:r>
            <a:r>
              <a:rPr lang="en-US" sz="1600" dirty="0" err="1"/>
              <a:t>untuk</a:t>
            </a:r>
            <a:r>
              <a:rPr lang="en-US" sz="1600" dirty="0"/>
              <a:t> management </a:t>
            </a:r>
            <a:r>
              <a:rPr lang="en-US" sz="1600" dirty="0" err="1"/>
              <a:t>dalam</a:t>
            </a:r>
            <a:r>
              <a:rPr lang="en-US" sz="1600" dirty="0"/>
              <a:t> </a:t>
            </a:r>
            <a:r>
              <a:rPr lang="en-US" sz="1600" dirty="0" err="1"/>
              <a:t>skala</a:t>
            </a:r>
            <a:r>
              <a:rPr lang="en-US" sz="1600" dirty="0"/>
              <a:t> </a:t>
            </a:r>
            <a:r>
              <a:rPr lang="en-US" sz="1600" dirty="0" err="1"/>
              <a:t>jaringan</a:t>
            </a:r>
            <a:r>
              <a:rPr lang="en-US" sz="1600" dirty="0"/>
              <a:t> yang </a:t>
            </a:r>
            <a:r>
              <a:rPr lang="en-US" sz="1600" dirty="0" err="1"/>
              <a:t>sangat</a:t>
            </a:r>
            <a:r>
              <a:rPr lang="en-US" sz="1600" dirty="0"/>
              <a:t> </a:t>
            </a:r>
            <a:r>
              <a:rPr lang="en-US" sz="1600" dirty="0" err="1"/>
              <a:t>besar</a:t>
            </a:r>
            <a:r>
              <a:rPr lang="en-US" sz="1600" dirty="0"/>
              <a:t>. </a:t>
            </a:r>
            <a:r>
              <a:rPr lang="en-US" sz="1600" dirty="0" err="1"/>
              <a:t>Oleh</a:t>
            </a:r>
            <a:r>
              <a:rPr lang="en-US" sz="1600" dirty="0"/>
              <a:t> </a:t>
            </a:r>
            <a:r>
              <a:rPr lang="en-US" sz="1600" dirty="0" err="1"/>
              <a:t>karena</a:t>
            </a:r>
            <a:r>
              <a:rPr lang="en-US" sz="1600" dirty="0"/>
              <a:t> </a:t>
            </a:r>
            <a:r>
              <a:rPr lang="en-US" sz="1600" dirty="0" err="1"/>
              <a:t>itu</a:t>
            </a:r>
            <a:r>
              <a:rPr lang="en-US" sz="1600" dirty="0"/>
              <a:t> </a:t>
            </a:r>
            <a:r>
              <a:rPr lang="en-US" sz="1600" dirty="0" err="1"/>
              <a:t>untuk</a:t>
            </a:r>
            <a:r>
              <a:rPr lang="en-US" sz="1600" dirty="0"/>
              <a:t> </a:t>
            </a:r>
            <a:r>
              <a:rPr lang="en-US" sz="1600" dirty="0" err="1"/>
              <a:t>mempermudah</a:t>
            </a:r>
            <a:r>
              <a:rPr lang="en-US" sz="1600" dirty="0"/>
              <a:t> </a:t>
            </a:r>
            <a:r>
              <a:rPr lang="en-US" sz="1600" dirty="0" err="1"/>
              <a:t>penambahan</a:t>
            </a:r>
            <a:r>
              <a:rPr lang="en-US" sz="1600" dirty="0"/>
              <a:t> </a:t>
            </a:r>
            <a:r>
              <a:rPr lang="en-US" sz="1600" dirty="0" err="1"/>
              <a:t>informasi</a:t>
            </a:r>
            <a:r>
              <a:rPr lang="en-US" sz="1600" dirty="0"/>
              <a:t> routing </a:t>
            </a:r>
            <a:r>
              <a:rPr lang="en-US" sz="1600" dirty="0" err="1"/>
              <a:t>dan</a:t>
            </a:r>
            <a:r>
              <a:rPr lang="en-US" sz="1600" dirty="0"/>
              <a:t> </a:t>
            </a:r>
            <a:r>
              <a:rPr lang="en-US" sz="1600" dirty="0" err="1"/>
              <a:t>meminimalisir</a:t>
            </a:r>
            <a:r>
              <a:rPr lang="en-US" sz="1600" dirty="0"/>
              <a:t> </a:t>
            </a:r>
            <a:r>
              <a:rPr lang="en-US" sz="1600" dirty="0" err="1"/>
              <a:t>kesalahan</a:t>
            </a:r>
            <a:r>
              <a:rPr lang="en-US" sz="1600" dirty="0"/>
              <a:t> </a:t>
            </a:r>
            <a:r>
              <a:rPr lang="en-US" sz="1600" dirty="0" err="1"/>
              <a:t>distribusi</a:t>
            </a:r>
            <a:r>
              <a:rPr lang="en-US" sz="1600" dirty="0"/>
              <a:t> </a:t>
            </a:r>
            <a:r>
              <a:rPr lang="en-US" sz="1600" dirty="0" err="1"/>
              <a:t>informasi</a:t>
            </a:r>
            <a:r>
              <a:rPr lang="en-US" sz="1600" dirty="0"/>
              <a:t> </a:t>
            </a:r>
            <a:r>
              <a:rPr lang="en-US" sz="1600" dirty="0" smtClean="0"/>
              <a:t>routing.</a:t>
            </a:r>
          </a:p>
          <a:p>
            <a:pPr algn="just"/>
            <a:endParaRPr lang="en-US" sz="1600" dirty="0"/>
          </a:p>
          <a:p>
            <a:pPr algn="just"/>
            <a:r>
              <a:rPr lang="en-US" sz="1600" dirty="0"/>
              <a:t>OSPF </a:t>
            </a:r>
            <a:r>
              <a:rPr lang="en-US" sz="1600" dirty="0" err="1"/>
              <a:t>termasuk</a:t>
            </a:r>
            <a:r>
              <a:rPr lang="en-US" sz="1600" dirty="0"/>
              <a:t> di </a:t>
            </a:r>
            <a:r>
              <a:rPr lang="en-US" sz="1600" dirty="0" err="1"/>
              <a:t>dalam</a:t>
            </a:r>
            <a:r>
              <a:rPr lang="en-US" sz="1600" dirty="0"/>
              <a:t> </a:t>
            </a:r>
            <a:r>
              <a:rPr lang="en-US" sz="1600" dirty="0" err="1"/>
              <a:t>kategori</a:t>
            </a:r>
            <a:r>
              <a:rPr lang="en-US" sz="1600" dirty="0"/>
              <a:t> IGP (Interior Gateway Protocol) yang </a:t>
            </a:r>
            <a:r>
              <a:rPr lang="en-US" sz="1600" dirty="0" err="1"/>
              <a:t>memiliki</a:t>
            </a:r>
            <a:r>
              <a:rPr lang="en-US" sz="1600" dirty="0"/>
              <a:t> </a:t>
            </a:r>
            <a:r>
              <a:rPr lang="en-US" sz="1600" dirty="0" err="1"/>
              <a:t>kemampuan</a:t>
            </a:r>
            <a:r>
              <a:rPr lang="en-US" sz="1600" dirty="0"/>
              <a:t> Link-State </a:t>
            </a:r>
            <a:r>
              <a:rPr lang="en-US" sz="1600" dirty="0" err="1"/>
              <a:t>dan</a:t>
            </a:r>
            <a:r>
              <a:rPr lang="en-US" sz="1600" dirty="0"/>
              <a:t> </a:t>
            </a:r>
            <a:r>
              <a:rPr lang="en-US" sz="1600" dirty="0" err="1"/>
              <a:t>Algoritma</a:t>
            </a:r>
            <a:r>
              <a:rPr lang="en-US" sz="1600" dirty="0"/>
              <a:t> </a:t>
            </a:r>
            <a:r>
              <a:rPr lang="en-US" sz="1600" dirty="0" err="1"/>
              <a:t>Djikstra</a:t>
            </a:r>
            <a:r>
              <a:rPr lang="en-US" sz="1600" dirty="0"/>
              <a:t> yang </a:t>
            </a:r>
            <a:r>
              <a:rPr lang="en-US" sz="1600" dirty="0" err="1"/>
              <a:t>jauh</a:t>
            </a:r>
            <a:r>
              <a:rPr lang="en-US" sz="1600" dirty="0"/>
              <a:t> </a:t>
            </a:r>
            <a:r>
              <a:rPr lang="en-US" sz="1600" dirty="0" err="1"/>
              <a:t>lebih</a:t>
            </a:r>
            <a:r>
              <a:rPr lang="en-US" sz="1600" dirty="0"/>
              <a:t> </a:t>
            </a:r>
            <a:r>
              <a:rPr lang="en-US" sz="1600" dirty="0" err="1"/>
              <a:t>efisien</a:t>
            </a:r>
            <a:r>
              <a:rPr lang="en-US" sz="1600" dirty="0"/>
              <a:t> </a:t>
            </a:r>
            <a:r>
              <a:rPr lang="en-US" sz="1600" dirty="0" err="1"/>
              <a:t>dibandingkan</a:t>
            </a:r>
            <a:r>
              <a:rPr lang="en-US" sz="1600" dirty="0"/>
              <a:t> </a:t>
            </a:r>
            <a:r>
              <a:rPr lang="en-US" sz="1600" dirty="0" err="1"/>
              <a:t>protokol</a:t>
            </a:r>
            <a:r>
              <a:rPr lang="en-US" sz="1600" dirty="0"/>
              <a:t> IGP yang lain. </a:t>
            </a:r>
            <a:r>
              <a:rPr lang="en-US" sz="1600" dirty="0" err="1"/>
              <a:t>Dalam</a:t>
            </a:r>
            <a:r>
              <a:rPr lang="en-US" sz="1600" dirty="0"/>
              <a:t> </a:t>
            </a:r>
            <a:r>
              <a:rPr lang="en-US" sz="1600" dirty="0" err="1"/>
              <a:t>operasinya</a:t>
            </a:r>
            <a:r>
              <a:rPr lang="en-US" sz="1600" dirty="0"/>
              <a:t> OSPF </a:t>
            </a:r>
            <a:r>
              <a:rPr lang="en-US" sz="1600" dirty="0" err="1"/>
              <a:t>menggunakan</a:t>
            </a:r>
            <a:r>
              <a:rPr lang="en-US" sz="1600" dirty="0"/>
              <a:t> </a:t>
            </a:r>
            <a:r>
              <a:rPr lang="en-US" sz="1600" dirty="0" err="1"/>
              <a:t>protokol</a:t>
            </a:r>
            <a:r>
              <a:rPr lang="en-US" sz="1600" dirty="0"/>
              <a:t> </a:t>
            </a:r>
            <a:r>
              <a:rPr lang="en-US" sz="1600" dirty="0" err="1"/>
              <a:t>sendiri</a:t>
            </a:r>
            <a:r>
              <a:rPr lang="en-US" sz="1600" dirty="0"/>
              <a:t> </a:t>
            </a:r>
            <a:r>
              <a:rPr lang="en-US" sz="1600" dirty="0" err="1"/>
              <a:t>yaitu</a:t>
            </a:r>
            <a:r>
              <a:rPr lang="en-US" sz="1600" dirty="0"/>
              <a:t> </a:t>
            </a:r>
            <a:r>
              <a:rPr lang="en-US" sz="1600" dirty="0" err="1"/>
              <a:t>protokol</a:t>
            </a:r>
            <a:r>
              <a:rPr lang="en-US" sz="1600" dirty="0"/>
              <a:t> 89</a:t>
            </a:r>
            <a:endParaRPr lang="en-US" sz="1600" dirty="0"/>
          </a:p>
        </p:txBody>
      </p:sp>
      <p:sp>
        <p:nvSpPr>
          <p:cNvPr id="4" name="Rectangle 3"/>
          <p:cNvSpPr/>
          <p:nvPr/>
        </p:nvSpPr>
        <p:spPr>
          <a:xfrm>
            <a:off x="8143456" y="4423"/>
            <a:ext cx="415754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chemeClr val="bg2">
                    <a:lumMod val="50000"/>
                  </a:schemeClr>
                </a:solidFill>
              </a:rPr>
              <a:t>MPLS </a:t>
            </a:r>
            <a:r>
              <a:rPr lang="en-US" sz="2800" dirty="0" err="1">
                <a:solidFill>
                  <a:schemeClr val="bg2">
                    <a:lumMod val="50000"/>
                  </a:schemeClr>
                </a:solidFill>
              </a:rPr>
              <a:t>pada</a:t>
            </a:r>
            <a:r>
              <a:rPr lang="en-US" sz="28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sz="2800" dirty="0" err="1" smtClean="0">
                <a:solidFill>
                  <a:schemeClr val="bg2">
                    <a:lumMod val="50000"/>
                  </a:schemeClr>
                </a:solidFill>
              </a:rPr>
              <a:t>MikroTik</a:t>
            </a:r>
            <a:r>
              <a:rPr lang="en-US" sz="2800" dirty="0" smtClean="0">
                <a:solidFill>
                  <a:schemeClr val="bg2">
                    <a:lumMod val="50000"/>
                  </a:schemeClr>
                </a:solidFill>
              </a:rPr>
              <a:t>(</a:t>
            </a:r>
            <a:r>
              <a:rPr lang="en-US" sz="2800" dirty="0" err="1" smtClean="0">
                <a:solidFill>
                  <a:schemeClr val="bg2">
                    <a:lumMod val="50000"/>
                  </a:schemeClr>
                </a:solidFill>
              </a:rPr>
              <a:t>Con’t</a:t>
            </a:r>
            <a:r>
              <a:rPr lang="en-US" sz="2800" dirty="0" smtClean="0">
                <a:solidFill>
                  <a:schemeClr val="bg2">
                    <a:lumMod val="50000"/>
                  </a:schemeClr>
                </a:solidFill>
              </a:rPr>
              <a:t>)</a:t>
            </a:r>
            <a:endParaRPr lang="en-US" sz="28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893443" y="330832"/>
            <a:ext cx="320940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 smtClean="0">
                <a:solidFill>
                  <a:schemeClr val="bg2">
                    <a:lumMod val="50000"/>
                  </a:schemeClr>
                </a:solidFill>
              </a:rPr>
              <a:t>OSPF Basic For MPLS</a:t>
            </a:r>
            <a:endParaRPr lang="en-US" sz="28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5373511" y="854052"/>
            <a:ext cx="6542264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600" dirty="0" err="1" smtClean="0"/>
              <a:t>Aktivitas</a:t>
            </a:r>
            <a:r>
              <a:rPr lang="en-US" sz="1600" dirty="0" smtClean="0"/>
              <a:t> </a:t>
            </a:r>
            <a:r>
              <a:rPr lang="en-US" sz="1600" dirty="0"/>
              <a:t>OSPF </a:t>
            </a:r>
            <a:r>
              <a:rPr lang="en-US" sz="1600" dirty="0" err="1"/>
              <a:t>dalam</a:t>
            </a:r>
            <a:r>
              <a:rPr lang="en-US" sz="1600" dirty="0"/>
              <a:t> </a:t>
            </a:r>
            <a:r>
              <a:rPr lang="en-US" sz="1600" dirty="0" err="1"/>
              <a:t>menjalankan</a:t>
            </a:r>
            <a:r>
              <a:rPr lang="en-US" sz="1600" dirty="0"/>
              <a:t> </a:t>
            </a:r>
            <a:r>
              <a:rPr lang="en-US" sz="1600" dirty="0" err="1"/>
              <a:t>pertukaran</a:t>
            </a:r>
            <a:r>
              <a:rPr lang="en-US" sz="1600" dirty="0"/>
              <a:t> </a:t>
            </a:r>
            <a:r>
              <a:rPr lang="en-US" sz="1600" dirty="0" err="1"/>
              <a:t>informasi</a:t>
            </a:r>
            <a:r>
              <a:rPr lang="en-US" sz="1600" dirty="0"/>
              <a:t> routing, </a:t>
            </a:r>
            <a:r>
              <a:rPr lang="en-US" sz="1600" dirty="0" err="1"/>
              <a:t>hal</a:t>
            </a:r>
            <a:r>
              <a:rPr lang="en-US" sz="1600" dirty="0"/>
              <a:t> </a:t>
            </a:r>
            <a:r>
              <a:rPr lang="en-US" sz="1600" dirty="0" err="1"/>
              <a:t>pertama</a:t>
            </a:r>
            <a:r>
              <a:rPr lang="en-US" sz="1600" dirty="0"/>
              <a:t> yang </a:t>
            </a:r>
            <a:r>
              <a:rPr lang="en-US" sz="1600" dirty="0" err="1"/>
              <a:t>harus</a:t>
            </a:r>
            <a:r>
              <a:rPr lang="en-US" sz="1600" dirty="0"/>
              <a:t> </a:t>
            </a:r>
            <a:r>
              <a:rPr lang="en-US" sz="1600" dirty="0" err="1"/>
              <a:t>dilakukannya</a:t>
            </a:r>
            <a:r>
              <a:rPr lang="en-US" sz="1600" dirty="0"/>
              <a:t> </a:t>
            </a:r>
            <a:r>
              <a:rPr lang="en-US" sz="1600" dirty="0" err="1"/>
              <a:t>adalah</a:t>
            </a:r>
            <a:r>
              <a:rPr lang="en-US" sz="1600" dirty="0"/>
              <a:t> </a:t>
            </a:r>
            <a:r>
              <a:rPr lang="en-US" sz="1600" dirty="0" err="1"/>
              <a:t>membentuk</a:t>
            </a:r>
            <a:r>
              <a:rPr lang="en-US" sz="1600" dirty="0"/>
              <a:t> </a:t>
            </a:r>
            <a:r>
              <a:rPr lang="en-US" sz="1600" dirty="0" err="1"/>
              <a:t>sebuah</a:t>
            </a:r>
            <a:r>
              <a:rPr lang="en-US" sz="1600" dirty="0"/>
              <a:t> </a:t>
            </a:r>
            <a:r>
              <a:rPr lang="en-US" sz="1600" dirty="0" err="1"/>
              <a:t>komunikasi</a:t>
            </a:r>
            <a:r>
              <a:rPr lang="en-US" sz="1600" dirty="0"/>
              <a:t> </a:t>
            </a:r>
            <a:r>
              <a:rPr lang="en-US" sz="1600" dirty="0" err="1"/>
              <a:t>dengan</a:t>
            </a:r>
            <a:r>
              <a:rPr lang="en-US" sz="1600" dirty="0"/>
              <a:t> para router lain. Router lain yang </a:t>
            </a:r>
            <a:r>
              <a:rPr lang="en-US" sz="1600" dirty="0" err="1"/>
              <a:t>berhubungan</a:t>
            </a:r>
            <a:r>
              <a:rPr lang="en-US" sz="1600" dirty="0"/>
              <a:t> </a:t>
            </a:r>
            <a:r>
              <a:rPr lang="en-US" sz="1600" dirty="0" err="1"/>
              <a:t>langsung</a:t>
            </a:r>
            <a:r>
              <a:rPr lang="en-US" sz="1600" dirty="0"/>
              <a:t> </a:t>
            </a:r>
            <a:r>
              <a:rPr lang="en-US" sz="1600" dirty="0" err="1"/>
              <a:t>atau</a:t>
            </a:r>
            <a:r>
              <a:rPr lang="en-US" sz="1600" dirty="0"/>
              <a:t> yang </a:t>
            </a:r>
            <a:r>
              <a:rPr lang="en-US" sz="1600" dirty="0" err="1"/>
              <a:t>berada</a:t>
            </a:r>
            <a:r>
              <a:rPr lang="en-US" sz="1600" dirty="0"/>
              <a:t> di </a:t>
            </a:r>
            <a:r>
              <a:rPr lang="en-US" sz="1600" dirty="0" err="1"/>
              <a:t>dalam</a:t>
            </a:r>
            <a:r>
              <a:rPr lang="en-US" sz="1600" dirty="0"/>
              <a:t> </a:t>
            </a:r>
            <a:r>
              <a:rPr lang="en-US" sz="1600" dirty="0" err="1"/>
              <a:t>satu</a:t>
            </a:r>
            <a:r>
              <a:rPr lang="en-US" sz="1600" dirty="0"/>
              <a:t> </a:t>
            </a:r>
            <a:r>
              <a:rPr lang="en-US" sz="1600" dirty="0" err="1"/>
              <a:t>jaringan</a:t>
            </a:r>
            <a:r>
              <a:rPr lang="en-US" sz="1600" dirty="0"/>
              <a:t> </a:t>
            </a:r>
            <a:r>
              <a:rPr lang="en-US" sz="1600" dirty="0" err="1"/>
              <a:t>dengan</a:t>
            </a:r>
            <a:r>
              <a:rPr lang="en-US" sz="1600" dirty="0"/>
              <a:t> router OSPF </a:t>
            </a:r>
            <a:r>
              <a:rPr lang="en-US" sz="1600" dirty="0" err="1"/>
              <a:t>tersebut</a:t>
            </a:r>
            <a:r>
              <a:rPr lang="en-US" sz="1600" dirty="0"/>
              <a:t> </a:t>
            </a:r>
            <a:r>
              <a:rPr lang="en-US" sz="1600" dirty="0" err="1"/>
              <a:t>disebut</a:t>
            </a:r>
            <a:r>
              <a:rPr lang="en-US" sz="1600" dirty="0"/>
              <a:t> </a:t>
            </a:r>
            <a:r>
              <a:rPr lang="en-US" sz="1600" dirty="0" err="1"/>
              <a:t>dengan</a:t>
            </a:r>
            <a:r>
              <a:rPr lang="en-US" sz="1600" dirty="0"/>
              <a:t> </a:t>
            </a:r>
            <a:r>
              <a:rPr lang="en-US" sz="1600" dirty="0" err="1"/>
              <a:t>Neighbour</a:t>
            </a:r>
            <a:r>
              <a:rPr lang="en-US" sz="1600" dirty="0"/>
              <a:t> Router </a:t>
            </a:r>
            <a:r>
              <a:rPr lang="en-US" sz="1600" dirty="0" err="1"/>
              <a:t>atau</a:t>
            </a:r>
            <a:r>
              <a:rPr lang="en-US" sz="1600" dirty="0"/>
              <a:t> Router Neighbors. </a:t>
            </a:r>
            <a:r>
              <a:rPr lang="en-US" sz="1600" dirty="0" err="1"/>
              <a:t>Langkah</a:t>
            </a:r>
            <a:r>
              <a:rPr lang="en-US" sz="1600" dirty="0"/>
              <a:t> </a:t>
            </a:r>
            <a:r>
              <a:rPr lang="en-US" sz="1600" dirty="0" err="1"/>
              <a:t>pertama</a:t>
            </a:r>
            <a:r>
              <a:rPr lang="en-US" sz="1600" dirty="0"/>
              <a:t> yang </a:t>
            </a:r>
            <a:r>
              <a:rPr lang="en-US" sz="1600" dirty="0" err="1"/>
              <a:t>harus</a:t>
            </a:r>
            <a:r>
              <a:rPr lang="en-US" sz="1600" dirty="0"/>
              <a:t> </a:t>
            </a:r>
            <a:r>
              <a:rPr lang="en-US" sz="1600" dirty="0" err="1"/>
              <a:t>dilakukan</a:t>
            </a:r>
            <a:r>
              <a:rPr lang="en-US" sz="1600" dirty="0"/>
              <a:t> </a:t>
            </a:r>
            <a:r>
              <a:rPr lang="en-US" sz="1600" dirty="0" err="1"/>
              <a:t>sebuah</a:t>
            </a:r>
            <a:r>
              <a:rPr lang="en-US" sz="1600" dirty="0"/>
              <a:t> router OSPF </a:t>
            </a:r>
            <a:r>
              <a:rPr lang="en-US" sz="1600" dirty="0" err="1"/>
              <a:t>adalah</a:t>
            </a:r>
            <a:r>
              <a:rPr lang="en-US" sz="1600" dirty="0"/>
              <a:t> </a:t>
            </a:r>
            <a:r>
              <a:rPr lang="en-US" sz="1600" dirty="0" err="1"/>
              <a:t>harus</a:t>
            </a:r>
            <a:r>
              <a:rPr lang="en-US" sz="1600" dirty="0"/>
              <a:t> </a:t>
            </a:r>
            <a:r>
              <a:rPr lang="en-US" sz="1600" dirty="0" err="1"/>
              <a:t>membentuk</a:t>
            </a:r>
            <a:r>
              <a:rPr lang="en-US" sz="1600" dirty="0"/>
              <a:t> </a:t>
            </a:r>
            <a:r>
              <a:rPr lang="en-US" sz="1600" dirty="0" err="1"/>
              <a:t>hubungan</a:t>
            </a:r>
            <a:r>
              <a:rPr lang="en-US" sz="1600" dirty="0"/>
              <a:t> </a:t>
            </a:r>
            <a:r>
              <a:rPr lang="en-US" sz="1600" dirty="0" err="1"/>
              <a:t>dengan</a:t>
            </a:r>
            <a:r>
              <a:rPr lang="en-US" sz="1600" dirty="0"/>
              <a:t> Neighbor Router. Router OSPF </a:t>
            </a:r>
            <a:r>
              <a:rPr lang="en-US" sz="1600" dirty="0" err="1"/>
              <a:t>mempunyai</a:t>
            </a:r>
            <a:r>
              <a:rPr lang="en-US" sz="1600" dirty="0"/>
              <a:t> </a:t>
            </a:r>
            <a:r>
              <a:rPr lang="en-US" sz="1600" dirty="0" err="1"/>
              <a:t>sebuah</a:t>
            </a:r>
            <a:r>
              <a:rPr lang="en-US" sz="1600" dirty="0"/>
              <a:t> </a:t>
            </a:r>
            <a:r>
              <a:rPr lang="en-US" sz="1600" dirty="0" err="1"/>
              <a:t>mekanisme</a:t>
            </a:r>
            <a:r>
              <a:rPr lang="en-US" sz="1600" dirty="0"/>
              <a:t> </a:t>
            </a:r>
            <a:r>
              <a:rPr lang="en-US" sz="1600" dirty="0" err="1"/>
              <a:t>untuk</a:t>
            </a:r>
            <a:r>
              <a:rPr lang="en-US" sz="1600" dirty="0"/>
              <a:t> </a:t>
            </a:r>
            <a:r>
              <a:rPr lang="en-US" sz="1600" dirty="0" err="1"/>
              <a:t>dapat</a:t>
            </a:r>
            <a:r>
              <a:rPr lang="en-US" sz="1600" dirty="0"/>
              <a:t> </a:t>
            </a:r>
            <a:r>
              <a:rPr lang="en-US" sz="1600" dirty="0" err="1"/>
              <a:t>menemukan</a:t>
            </a:r>
            <a:r>
              <a:rPr lang="en-US" sz="1600" dirty="0"/>
              <a:t> router neighbors-</a:t>
            </a:r>
            <a:r>
              <a:rPr lang="en-US" sz="1600" dirty="0" err="1"/>
              <a:t>nya</a:t>
            </a:r>
            <a:r>
              <a:rPr lang="en-US" sz="1600" dirty="0"/>
              <a:t> </a:t>
            </a:r>
            <a:r>
              <a:rPr lang="en-US" sz="1600" dirty="0" err="1"/>
              <a:t>dan</a:t>
            </a:r>
            <a:r>
              <a:rPr lang="en-US" sz="1600" dirty="0"/>
              <a:t> </a:t>
            </a:r>
            <a:r>
              <a:rPr lang="en-US" sz="1600" dirty="0" err="1"/>
              <a:t>dapat</a:t>
            </a:r>
            <a:r>
              <a:rPr lang="en-US" sz="1600" dirty="0"/>
              <a:t> </a:t>
            </a:r>
            <a:r>
              <a:rPr lang="en-US" sz="1600" dirty="0" err="1"/>
              <a:t>membuka</a:t>
            </a:r>
            <a:r>
              <a:rPr lang="en-US" sz="1600" dirty="0"/>
              <a:t> </a:t>
            </a:r>
            <a:r>
              <a:rPr lang="en-US" sz="1600" dirty="0" err="1"/>
              <a:t>hubungan</a:t>
            </a:r>
            <a:r>
              <a:rPr lang="en-US" sz="1600" dirty="0"/>
              <a:t>. </a:t>
            </a:r>
            <a:r>
              <a:rPr lang="en-US" sz="1600" dirty="0" err="1"/>
              <a:t>Mekanisme</a:t>
            </a:r>
            <a:r>
              <a:rPr lang="en-US" sz="1600" dirty="0"/>
              <a:t> </a:t>
            </a:r>
            <a:r>
              <a:rPr lang="en-US" sz="1600" dirty="0" err="1"/>
              <a:t>tersebut</a:t>
            </a:r>
            <a:r>
              <a:rPr lang="en-US" sz="1600" dirty="0"/>
              <a:t> </a:t>
            </a:r>
            <a:r>
              <a:rPr lang="en-US" sz="1600" dirty="0" err="1"/>
              <a:t>disebut</a:t>
            </a:r>
            <a:r>
              <a:rPr lang="en-US" sz="1600" dirty="0"/>
              <a:t> </a:t>
            </a:r>
            <a:r>
              <a:rPr lang="en-US" sz="1600" dirty="0" err="1"/>
              <a:t>dengan</a:t>
            </a:r>
            <a:r>
              <a:rPr lang="en-US" sz="1600" dirty="0"/>
              <a:t> </a:t>
            </a:r>
            <a:r>
              <a:rPr lang="en-US" sz="1600" dirty="0" err="1"/>
              <a:t>istilah</a:t>
            </a:r>
            <a:r>
              <a:rPr lang="en-US" sz="1600" dirty="0"/>
              <a:t> Hello protocol. </a:t>
            </a:r>
            <a:r>
              <a:rPr lang="en-US" sz="1600" dirty="0" err="1"/>
              <a:t>Dalam</a:t>
            </a:r>
            <a:r>
              <a:rPr lang="en-US" sz="1600" dirty="0"/>
              <a:t> </a:t>
            </a:r>
            <a:r>
              <a:rPr lang="en-US" sz="1600" dirty="0" err="1"/>
              <a:t>membentuk</a:t>
            </a:r>
            <a:r>
              <a:rPr lang="en-US" sz="1600" dirty="0"/>
              <a:t> </a:t>
            </a:r>
            <a:r>
              <a:rPr lang="en-US" sz="1600" dirty="0" err="1"/>
              <a:t>hubungan</a:t>
            </a:r>
            <a:r>
              <a:rPr lang="en-US" sz="1600" dirty="0"/>
              <a:t> </a:t>
            </a:r>
            <a:r>
              <a:rPr lang="en-US" sz="1600" dirty="0" err="1"/>
              <a:t>dengan</a:t>
            </a:r>
            <a:r>
              <a:rPr lang="en-US" sz="1600" dirty="0"/>
              <a:t> </a:t>
            </a:r>
            <a:r>
              <a:rPr lang="en-US" sz="1600" dirty="0" err="1"/>
              <a:t>neighborsnya</a:t>
            </a:r>
            <a:r>
              <a:rPr lang="en-US" sz="1600" dirty="0"/>
              <a:t>, router OSPF </a:t>
            </a:r>
            <a:r>
              <a:rPr lang="en-US" sz="1600" dirty="0" err="1"/>
              <a:t>akan</a:t>
            </a:r>
            <a:r>
              <a:rPr lang="en-US" sz="1600" dirty="0"/>
              <a:t> </a:t>
            </a:r>
            <a:r>
              <a:rPr lang="en-US" sz="1600" dirty="0" err="1"/>
              <a:t>mengirimkan</a:t>
            </a:r>
            <a:r>
              <a:rPr lang="en-US" sz="1600" dirty="0"/>
              <a:t> </a:t>
            </a:r>
            <a:r>
              <a:rPr lang="en-US" sz="1600" dirty="0" err="1"/>
              <a:t>sebuah</a:t>
            </a:r>
            <a:r>
              <a:rPr lang="en-US" sz="1600" dirty="0"/>
              <a:t> </a:t>
            </a:r>
            <a:r>
              <a:rPr lang="en-US" sz="1600" dirty="0" err="1"/>
              <a:t>paket</a:t>
            </a:r>
            <a:r>
              <a:rPr lang="en-US" sz="1600" dirty="0"/>
              <a:t> </a:t>
            </a:r>
            <a:r>
              <a:rPr lang="en-US" sz="1600" dirty="0" err="1"/>
              <a:t>berukuran</a:t>
            </a:r>
            <a:r>
              <a:rPr lang="en-US" sz="1600" dirty="0"/>
              <a:t> </a:t>
            </a:r>
            <a:r>
              <a:rPr lang="en-US" sz="1600" dirty="0" err="1"/>
              <a:t>kecil</a:t>
            </a:r>
            <a:r>
              <a:rPr lang="en-US" sz="1600" dirty="0"/>
              <a:t> </a:t>
            </a:r>
            <a:r>
              <a:rPr lang="en-US" sz="1600" dirty="0" err="1"/>
              <a:t>secara</a:t>
            </a:r>
            <a:r>
              <a:rPr lang="en-US" sz="1600" dirty="0"/>
              <a:t> </a:t>
            </a:r>
            <a:r>
              <a:rPr lang="en-US" sz="1600" dirty="0" err="1"/>
              <a:t>periodik</a:t>
            </a:r>
            <a:r>
              <a:rPr lang="en-US" sz="1600" dirty="0"/>
              <a:t> </a:t>
            </a:r>
            <a:r>
              <a:rPr lang="en-US" sz="1600" dirty="0" err="1"/>
              <a:t>ke</a:t>
            </a:r>
            <a:r>
              <a:rPr lang="en-US" sz="1600" dirty="0"/>
              <a:t> </a:t>
            </a:r>
            <a:r>
              <a:rPr lang="en-US" sz="1600" dirty="0" err="1"/>
              <a:t>dalam</a:t>
            </a:r>
            <a:r>
              <a:rPr lang="en-US" sz="1600" dirty="0"/>
              <a:t> </a:t>
            </a:r>
            <a:r>
              <a:rPr lang="en-US" sz="1600" dirty="0" err="1"/>
              <a:t>jaringan</a:t>
            </a:r>
            <a:r>
              <a:rPr lang="en-US" sz="1600" dirty="0"/>
              <a:t> </a:t>
            </a:r>
            <a:r>
              <a:rPr lang="en-US" sz="1600" dirty="0" err="1"/>
              <a:t>atau</a:t>
            </a:r>
            <a:r>
              <a:rPr lang="en-US" sz="1600" dirty="0"/>
              <a:t> </a:t>
            </a:r>
            <a:r>
              <a:rPr lang="en-US" sz="1600" dirty="0" err="1"/>
              <a:t>ke</a:t>
            </a:r>
            <a:r>
              <a:rPr lang="en-US" sz="1600" dirty="0"/>
              <a:t> </a:t>
            </a:r>
            <a:r>
              <a:rPr lang="en-US" sz="1600" dirty="0" err="1"/>
              <a:t>sebuah</a:t>
            </a:r>
            <a:r>
              <a:rPr lang="en-US" sz="1600" dirty="0"/>
              <a:t> </a:t>
            </a:r>
            <a:r>
              <a:rPr lang="en-US" sz="1600" dirty="0" err="1"/>
              <a:t>perangkat</a:t>
            </a:r>
            <a:r>
              <a:rPr lang="en-US" sz="1600" dirty="0"/>
              <a:t> yang </a:t>
            </a:r>
            <a:r>
              <a:rPr lang="en-US" sz="1600" dirty="0" err="1"/>
              <a:t>terhubung</a:t>
            </a:r>
            <a:r>
              <a:rPr lang="en-US" sz="1600" dirty="0"/>
              <a:t> </a:t>
            </a:r>
            <a:r>
              <a:rPr lang="en-US" sz="1600" dirty="0" err="1"/>
              <a:t>langsung</a:t>
            </a:r>
            <a:r>
              <a:rPr lang="en-US" sz="1600" dirty="0"/>
              <a:t> </a:t>
            </a:r>
            <a:r>
              <a:rPr lang="en-US" sz="1600" dirty="0" err="1"/>
              <a:t>dengannya</a:t>
            </a:r>
            <a:r>
              <a:rPr lang="en-US" sz="1600" dirty="0"/>
              <a:t>. </a:t>
            </a:r>
            <a:r>
              <a:rPr lang="en-US" sz="1600" dirty="0" err="1"/>
              <a:t>Paket</a:t>
            </a:r>
            <a:r>
              <a:rPr lang="en-US" sz="1600" dirty="0"/>
              <a:t> </a:t>
            </a:r>
            <a:r>
              <a:rPr lang="en-US" sz="1600" dirty="0" err="1"/>
              <a:t>kecil</a:t>
            </a:r>
            <a:r>
              <a:rPr lang="en-US" sz="1600" dirty="0"/>
              <a:t> </a:t>
            </a:r>
            <a:r>
              <a:rPr lang="en-US" sz="1600" dirty="0" err="1"/>
              <a:t>tersebut</a:t>
            </a:r>
            <a:r>
              <a:rPr lang="en-US" sz="1600" dirty="0"/>
              <a:t> </a:t>
            </a:r>
            <a:r>
              <a:rPr lang="en-US" sz="1600" dirty="0" err="1"/>
              <a:t>dinamai</a:t>
            </a:r>
            <a:r>
              <a:rPr lang="en-US" sz="1600" dirty="0"/>
              <a:t> </a:t>
            </a:r>
            <a:r>
              <a:rPr lang="en-US" sz="1600" dirty="0" err="1"/>
              <a:t>dengan</a:t>
            </a:r>
            <a:r>
              <a:rPr lang="en-US" sz="1600" dirty="0"/>
              <a:t> </a:t>
            </a:r>
            <a:r>
              <a:rPr lang="en-US" sz="1600" dirty="0" err="1"/>
              <a:t>istilah</a:t>
            </a:r>
            <a:r>
              <a:rPr lang="en-US" sz="1600" dirty="0"/>
              <a:t> Hello packet. </a:t>
            </a:r>
            <a:r>
              <a:rPr lang="en-US" sz="1600" dirty="0" err="1"/>
              <a:t>Pada</a:t>
            </a:r>
            <a:r>
              <a:rPr lang="en-US" sz="1600" dirty="0"/>
              <a:t> </a:t>
            </a:r>
            <a:r>
              <a:rPr lang="en-US" sz="1600" dirty="0" err="1"/>
              <a:t>kondisi</a:t>
            </a:r>
            <a:r>
              <a:rPr lang="en-US" sz="1600" dirty="0"/>
              <a:t> </a:t>
            </a:r>
            <a:r>
              <a:rPr lang="en-US" sz="1600" dirty="0" err="1"/>
              <a:t>standar</a:t>
            </a:r>
            <a:r>
              <a:rPr lang="en-US" sz="1600" dirty="0"/>
              <a:t>, Hello packet </a:t>
            </a:r>
            <a:r>
              <a:rPr lang="en-US" sz="1600" dirty="0" err="1"/>
              <a:t>dikirimkan</a:t>
            </a:r>
            <a:r>
              <a:rPr lang="en-US" sz="1600" dirty="0"/>
              <a:t> </a:t>
            </a:r>
            <a:r>
              <a:rPr lang="en-US" sz="1600" dirty="0" err="1"/>
              <a:t>berkala</a:t>
            </a:r>
            <a:r>
              <a:rPr lang="en-US" sz="1600" dirty="0"/>
              <a:t> </a:t>
            </a:r>
            <a:r>
              <a:rPr lang="en-US" sz="1600" dirty="0" err="1"/>
              <a:t>setiap</a:t>
            </a:r>
            <a:r>
              <a:rPr lang="en-US" sz="1600" dirty="0"/>
              <a:t> 10 </a:t>
            </a:r>
            <a:r>
              <a:rPr lang="en-US" sz="1600" dirty="0" err="1"/>
              <a:t>detik</a:t>
            </a:r>
            <a:r>
              <a:rPr lang="en-US" sz="1600" dirty="0"/>
              <a:t> </a:t>
            </a:r>
            <a:r>
              <a:rPr lang="en-US" sz="1600" dirty="0" err="1"/>
              <a:t>sekali</a:t>
            </a:r>
            <a:r>
              <a:rPr lang="en-US" sz="1600" dirty="0"/>
              <a:t> </a:t>
            </a:r>
            <a:r>
              <a:rPr lang="en-US" sz="1600" dirty="0" err="1"/>
              <a:t>dalam</a:t>
            </a:r>
            <a:r>
              <a:rPr lang="en-US" sz="1600" dirty="0"/>
              <a:t> media broadcast </a:t>
            </a:r>
            <a:r>
              <a:rPr lang="en-US" sz="1600" dirty="0" err="1"/>
              <a:t>multiaccess</a:t>
            </a:r>
            <a:r>
              <a:rPr lang="en-US" sz="1600" dirty="0"/>
              <a:t> </a:t>
            </a:r>
            <a:r>
              <a:rPr lang="en-US" sz="1600" dirty="0" err="1"/>
              <a:t>dan</a:t>
            </a:r>
            <a:r>
              <a:rPr lang="en-US" sz="1600" dirty="0"/>
              <a:t> 30 </a:t>
            </a:r>
            <a:r>
              <a:rPr lang="en-US" sz="1600" dirty="0" err="1"/>
              <a:t>detik</a:t>
            </a:r>
            <a:r>
              <a:rPr lang="en-US" sz="1600" dirty="0"/>
              <a:t> </a:t>
            </a:r>
            <a:r>
              <a:rPr lang="en-US" sz="1600" dirty="0" err="1"/>
              <a:t>sekali</a:t>
            </a:r>
            <a:r>
              <a:rPr lang="en-US" sz="1600" dirty="0"/>
              <a:t> </a:t>
            </a:r>
            <a:r>
              <a:rPr lang="en-US" sz="1600" dirty="0" err="1"/>
              <a:t>dalam</a:t>
            </a:r>
            <a:r>
              <a:rPr lang="en-US" sz="1600" dirty="0"/>
              <a:t> media Point-</a:t>
            </a:r>
            <a:r>
              <a:rPr lang="en-US" sz="1600" dirty="0" err="1"/>
              <a:t>topoint</a:t>
            </a:r>
            <a:r>
              <a:rPr lang="en-US" sz="1600" dirty="0"/>
              <a:t>. Hello packet </a:t>
            </a:r>
            <a:r>
              <a:rPr lang="en-US" sz="1600" dirty="0" err="1"/>
              <a:t>berisikan</a:t>
            </a:r>
            <a:r>
              <a:rPr lang="en-US" sz="1600" dirty="0"/>
              <a:t> </a:t>
            </a:r>
            <a:r>
              <a:rPr lang="en-US" sz="1600" dirty="0" err="1"/>
              <a:t>informasi</a:t>
            </a:r>
            <a:r>
              <a:rPr lang="en-US" sz="1600" dirty="0"/>
              <a:t> </a:t>
            </a:r>
            <a:r>
              <a:rPr lang="en-US" sz="1600" dirty="0" err="1"/>
              <a:t>seputar</a:t>
            </a:r>
            <a:r>
              <a:rPr lang="en-US" sz="1600" dirty="0"/>
              <a:t> </a:t>
            </a:r>
            <a:r>
              <a:rPr lang="en-US" sz="1600" dirty="0" err="1"/>
              <a:t>pernak-pernik</a:t>
            </a:r>
            <a:r>
              <a:rPr lang="en-US" sz="1600" dirty="0"/>
              <a:t> yang </a:t>
            </a:r>
            <a:r>
              <a:rPr lang="en-US" sz="1600" dirty="0" err="1"/>
              <a:t>ada</a:t>
            </a:r>
            <a:r>
              <a:rPr lang="en-US" sz="1600" dirty="0"/>
              <a:t> </a:t>
            </a:r>
            <a:r>
              <a:rPr lang="en-US" sz="1600" dirty="0" err="1"/>
              <a:t>pada</a:t>
            </a:r>
            <a:r>
              <a:rPr lang="en-US" sz="1600" dirty="0"/>
              <a:t> router </a:t>
            </a:r>
            <a:r>
              <a:rPr lang="en-US" sz="1600" dirty="0" err="1"/>
              <a:t>pengirim</a:t>
            </a:r>
            <a:r>
              <a:rPr lang="en-US" sz="1600" dirty="0"/>
              <a:t>. Hello packet </a:t>
            </a:r>
            <a:r>
              <a:rPr lang="en-US" sz="1600" dirty="0" err="1"/>
              <a:t>pada</a:t>
            </a:r>
            <a:r>
              <a:rPr lang="en-US" sz="1600" dirty="0"/>
              <a:t> </a:t>
            </a:r>
            <a:r>
              <a:rPr lang="en-US" sz="1600" dirty="0" err="1"/>
              <a:t>umumnya</a:t>
            </a:r>
            <a:r>
              <a:rPr lang="en-US" sz="1600" dirty="0"/>
              <a:t> </a:t>
            </a:r>
            <a:r>
              <a:rPr lang="en-US" sz="1600" dirty="0" err="1"/>
              <a:t>dikirim</a:t>
            </a:r>
            <a:r>
              <a:rPr lang="en-US" sz="1600" dirty="0"/>
              <a:t> </a:t>
            </a:r>
            <a:r>
              <a:rPr lang="en-US" sz="1600" dirty="0" err="1"/>
              <a:t>dengan</a:t>
            </a:r>
            <a:r>
              <a:rPr lang="en-US" sz="1600" dirty="0"/>
              <a:t> </a:t>
            </a:r>
            <a:r>
              <a:rPr lang="en-US" sz="1600" dirty="0" err="1"/>
              <a:t>menggunakan</a:t>
            </a:r>
            <a:r>
              <a:rPr lang="en-US" sz="1600" dirty="0"/>
              <a:t> multicast address </a:t>
            </a:r>
            <a:r>
              <a:rPr lang="en-US" sz="1600" dirty="0" err="1"/>
              <a:t>untuk</a:t>
            </a:r>
            <a:r>
              <a:rPr lang="en-US" sz="1600" dirty="0"/>
              <a:t> </a:t>
            </a:r>
            <a:r>
              <a:rPr lang="en-US" sz="1600" dirty="0" err="1"/>
              <a:t>menuju</a:t>
            </a:r>
            <a:r>
              <a:rPr lang="en-US" sz="1600" dirty="0"/>
              <a:t> </a:t>
            </a:r>
            <a:r>
              <a:rPr lang="en-US" sz="1600" dirty="0" err="1"/>
              <a:t>ke</a:t>
            </a:r>
            <a:r>
              <a:rPr lang="en-US" sz="1600" dirty="0"/>
              <a:t> </a:t>
            </a:r>
            <a:r>
              <a:rPr lang="en-US" sz="1600" dirty="0" err="1"/>
              <a:t>semua</a:t>
            </a:r>
            <a:r>
              <a:rPr lang="en-US" sz="1600" dirty="0"/>
              <a:t> router yang </a:t>
            </a:r>
            <a:r>
              <a:rPr lang="en-US" sz="1600" dirty="0" err="1"/>
              <a:t>menjalankan</a:t>
            </a:r>
            <a:r>
              <a:rPr lang="en-US" sz="1600" dirty="0"/>
              <a:t> OSPF (IP multicast 224.0.0.5). </a:t>
            </a:r>
            <a:r>
              <a:rPr lang="en-US" sz="1600" dirty="0" err="1"/>
              <a:t>Semua</a:t>
            </a:r>
            <a:r>
              <a:rPr lang="en-US" sz="1600" dirty="0"/>
              <a:t> router yang </a:t>
            </a:r>
            <a:r>
              <a:rPr lang="en-US" sz="1600" dirty="0" err="1"/>
              <a:t>menjalankan</a:t>
            </a:r>
            <a:r>
              <a:rPr lang="en-US" sz="1600" dirty="0"/>
              <a:t> OSPF </a:t>
            </a:r>
            <a:r>
              <a:rPr lang="en-US" sz="1600" dirty="0" err="1"/>
              <a:t>pasti</a:t>
            </a:r>
            <a:r>
              <a:rPr lang="en-US" sz="1600" dirty="0"/>
              <a:t> </a:t>
            </a:r>
            <a:r>
              <a:rPr lang="en-US" sz="1600" dirty="0" err="1"/>
              <a:t>akan</a:t>
            </a:r>
            <a:r>
              <a:rPr lang="en-US" sz="1600" dirty="0"/>
              <a:t> </a:t>
            </a:r>
            <a:r>
              <a:rPr lang="en-US" sz="1600" dirty="0" err="1"/>
              <a:t>mendengarkan</a:t>
            </a:r>
            <a:r>
              <a:rPr lang="en-US" sz="1600" dirty="0"/>
              <a:t> protocol hello </a:t>
            </a:r>
            <a:r>
              <a:rPr lang="en-US" sz="1600" dirty="0" err="1"/>
              <a:t>ini</a:t>
            </a:r>
            <a:r>
              <a:rPr lang="en-US" sz="1600" dirty="0"/>
              <a:t> </a:t>
            </a:r>
            <a:r>
              <a:rPr lang="en-US" sz="1600" dirty="0" err="1"/>
              <a:t>dan</a:t>
            </a:r>
            <a:r>
              <a:rPr lang="en-US" sz="1600" dirty="0"/>
              <a:t> </a:t>
            </a:r>
            <a:r>
              <a:rPr lang="en-US" sz="1600" dirty="0" err="1"/>
              <a:t>juga</a:t>
            </a:r>
            <a:r>
              <a:rPr lang="en-US" sz="1600" dirty="0"/>
              <a:t> </a:t>
            </a:r>
            <a:r>
              <a:rPr lang="en-US" sz="1600" dirty="0" err="1"/>
              <a:t>akan</a:t>
            </a:r>
            <a:r>
              <a:rPr lang="en-US" sz="1600" dirty="0"/>
              <a:t> </a:t>
            </a:r>
            <a:r>
              <a:rPr lang="en-US" sz="1600" dirty="0" err="1"/>
              <a:t>mengirimkan</a:t>
            </a:r>
            <a:r>
              <a:rPr lang="en-US" sz="1600" dirty="0"/>
              <a:t> hello packet-</a:t>
            </a:r>
            <a:r>
              <a:rPr lang="en-US" sz="1600" dirty="0" err="1"/>
              <a:t>nya</a:t>
            </a:r>
            <a:r>
              <a:rPr lang="en-US" sz="1600" dirty="0"/>
              <a:t> </a:t>
            </a:r>
            <a:r>
              <a:rPr lang="en-US" sz="1600" dirty="0" err="1"/>
              <a:t>secara</a:t>
            </a:r>
            <a:r>
              <a:rPr lang="en-US" sz="1600" dirty="0"/>
              <a:t> </a:t>
            </a:r>
            <a:r>
              <a:rPr lang="en-US" sz="1600" dirty="0" err="1"/>
              <a:t>berkala</a:t>
            </a:r>
            <a:r>
              <a:rPr lang="en-US" sz="1600" dirty="0"/>
              <a:t>. Cara </a:t>
            </a:r>
            <a:r>
              <a:rPr lang="en-US" sz="1600" dirty="0" err="1"/>
              <a:t>kerja</a:t>
            </a:r>
            <a:r>
              <a:rPr lang="en-US" sz="1600" dirty="0"/>
              <a:t> </a:t>
            </a:r>
            <a:r>
              <a:rPr lang="en-US" sz="1600" dirty="0" err="1"/>
              <a:t>dari</a:t>
            </a:r>
            <a:r>
              <a:rPr lang="en-US" sz="1600" dirty="0"/>
              <a:t> hello protocol </a:t>
            </a:r>
            <a:r>
              <a:rPr lang="en-US" sz="1600" dirty="0" err="1"/>
              <a:t>dan</a:t>
            </a:r>
            <a:r>
              <a:rPr lang="en-US" sz="1600" dirty="0"/>
              <a:t> </a:t>
            </a:r>
            <a:r>
              <a:rPr lang="en-US" sz="1600" dirty="0" err="1"/>
              <a:t>pembentukan</a:t>
            </a:r>
            <a:r>
              <a:rPr lang="en-US" sz="1600" dirty="0"/>
              <a:t> </a:t>
            </a:r>
            <a:r>
              <a:rPr lang="en-US" sz="1600" dirty="0" err="1"/>
              <a:t>neighbour</a:t>
            </a:r>
            <a:r>
              <a:rPr lang="en-US" sz="1600" dirty="0"/>
              <a:t> router </a:t>
            </a:r>
            <a:r>
              <a:rPr lang="en-US" sz="1600" dirty="0" err="1"/>
              <a:t>terdiri</a:t>
            </a:r>
            <a:r>
              <a:rPr lang="en-US" sz="1600" dirty="0"/>
              <a:t> </a:t>
            </a:r>
            <a:r>
              <a:rPr lang="en-US" sz="1600" dirty="0" err="1"/>
              <a:t>dari</a:t>
            </a:r>
            <a:r>
              <a:rPr lang="en-US" sz="1600" dirty="0"/>
              <a:t> </a:t>
            </a:r>
            <a:r>
              <a:rPr lang="en-US" sz="1600" dirty="0" err="1"/>
              <a:t>beberapa</a:t>
            </a:r>
            <a:r>
              <a:rPr lang="en-US" sz="1600" dirty="0"/>
              <a:t> </a:t>
            </a:r>
            <a:r>
              <a:rPr lang="en-US" sz="1600" dirty="0" err="1"/>
              <a:t>jenis</a:t>
            </a:r>
            <a:r>
              <a:rPr lang="en-US" sz="1600" dirty="0"/>
              <a:t>, </a:t>
            </a:r>
            <a:r>
              <a:rPr lang="en-US" sz="1600" dirty="0" err="1"/>
              <a:t>tergantung</a:t>
            </a:r>
            <a:r>
              <a:rPr lang="en-US" sz="1600" dirty="0"/>
              <a:t> </a:t>
            </a:r>
            <a:r>
              <a:rPr lang="en-US" sz="1600" dirty="0" err="1"/>
              <a:t>dari</a:t>
            </a:r>
            <a:r>
              <a:rPr lang="en-US" sz="1600" dirty="0"/>
              <a:t> </a:t>
            </a:r>
            <a:r>
              <a:rPr lang="en-US" sz="1600" dirty="0" err="1"/>
              <a:t>jenis</a:t>
            </a:r>
            <a:r>
              <a:rPr lang="en-US" sz="1600" dirty="0"/>
              <a:t> media di mana router OSPF </a:t>
            </a:r>
            <a:r>
              <a:rPr lang="en-US" sz="1600" dirty="0" err="1"/>
              <a:t>berjalan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9322725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274759" y="854052"/>
            <a:ext cx="4898929" cy="57554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600" dirty="0"/>
              <a:t>OSPF </a:t>
            </a:r>
            <a:r>
              <a:rPr lang="en-US" sz="1600" dirty="0" err="1"/>
              <a:t>memiliki</a:t>
            </a:r>
            <a:r>
              <a:rPr lang="en-US" sz="1600" dirty="0"/>
              <a:t> 3 </a:t>
            </a:r>
            <a:r>
              <a:rPr lang="en-US" sz="1600" dirty="0" err="1"/>
              <a:t>tabel</a:t>
            </a:r>
            <a:r>
              <a:rPr lang="en-US" sz="1600" dirty="0"/>
              <a:t> di </a:t>
            </a:r>
            <a:r>
              <a:rPr lang="en-US" sz="1600" dirty="0" err="1"/>
              <a:t>dalam</a:t>
            </a:r>
            <a:r>
              <a:rPr lang="en-US" sz="1600" dirty="0"/>
              <a:t> router : </a:t>
            </a:r>
            <a:endParaRPr lang="en-US" sz="1600" dirty="0" smtClean="0"/>
          </a:p>
          <a:p>
            <a:pPr marL="342900" indent="-342900" algn="just">
              <a:buAutoNum type="arabicPeriod"/>
            </a:pPr>
            <a:r>
              <a:rPr lang="en-US" sz="1600" dirty="0" smtClean="0"/>
              <a:t>Routing </a:t>
            </a:r>
            <a:r>
              <a:rPr lang="en-US" sz="1600" dirty="0"/>
              <a:t>table </a:t>
            </a:r>
            <a:r>
              <a:rPr lang="en-US" sz="1600" dirty="0" err="1"/>
              <a:t>biasa</a:t>
            </a:r>
            <a:r>
              <a:rPr lang="en-US" sz="1600" dirty="0"/>
              <a:t> </a:t>
            </a:r>
            <a:r>
              <a:rPr lang="en-US" sz="1600" dirty="0" err="1"/>
              <a:t>juga</a:t>
            </a:r>
            <a:r>
              <a:rPr lang="en-US" sz="1600" dirty="0"/>
              <a:t> </a:t>
            </a:r>
            <a:r>
              <a:rPr lang="en-US" sz="1600" dirty="0" err="1"/>
              <a:t>disebut</a:t>
            </a:r>
            <a:r>
              <a:rPr lang="en-US" sz="1600" dirty="0"/>
              <a:t> </a:t>
            </a:r>
            <a:r>
              <a:rPr lang="en-US" sz="1600" dirty="0" err="1"/>
              <a:t>sebagai</a:t>
            </a:r>
            <a:r>
              <a:rPr lang="en-US" sz="1600" dirty="0"/>
              <a:t> Forwarding database. Database </a:t>
            </a:r>
            <a:r>
              <a:rPr lang="en-US" sz="1600" dirty="0" err="1"/>
              <a:t>ini</a:t>
            </a:r>
            <a:r>
              <a:rPr lang="en-US" sz="1600" dirty="0"/>
              <a:t> </a:t>
            </a:r>
            <a:r>
              <a:rPr lang="en-US" sz="1600" dirty="0" err="1"/>
              <a:t>berisi</a:t>
            </a:r>
            <a:r>
              <a:rPr lang="en-US" sz="1600" dirty="0"/>
              <a:t> the lowest cost </a:t>
            </a:r>
            <a:r>
              <a:rPr lang="en-US" sz="1600" dirty="0" err="1"/>
              <a:t>untuk</a:t>
            </a:r>
            <a:r>
              <a:rPr lang="en-US" sz="1600" dirty="0"/>
              <a:t> </a:t>
            </a:r>
            <a:r>
              <a:rPr lang="en-US" sz="1600" dirty="0" err="1"/>
              <a:t>mencapai</a:t>
            </a:r>
            <a:r>
              <a:rPr lang="en-US" sz="1600" dirty="0"/>
              <a:t> </a:t>
            </a:r>
            <a:r>
              <a:rPr lang="en-US" sz="1600" dirty="0" err="1"/>
              <a:t>routerrouter</a:t>
            </a:r>
            <a:r>
              <a:rPr lang="en-US" sz="1600" dirty="0"/>
              <a:t>/network-network </a:t>
            </a:r>
            <a:r>
              <a:rPr lang="en-US" sz="1600" dirty="0" err="1"/>
              <a:t>lainnya</a:t>
            </a:r>
            <a:r>
              <a:rPr lang="en-US" sz="1600" dirty="0"/>
              <a:t>. </a:t>
            </a:r>
            <a:r>
              <a:rPr lang="en-US" sz="1600" dirty="0" err="1"/>
              <a:t>Setiap</a:t>
            </a:r>
            <a:r>
              <a:rPr lang="en-US" sz="1600" dirty="0"/>
              <a:t> router </a:t>
            </a:r>
            <a:r>
              <a:rPr lang="en-US" sz="1600" dirty="0" err="1"/>
              <a:t>mempunyai</a:t>
            </a:r>
            <a:r>
              <a:rPr lang="en-US" sz="1600" dirty="0"/>
              <a:t> Routing table yang </a:t>
            </a:r>
            <a:r>
              <a:rPr lang="en-US" sz="1600" dirty="0" err="1"/>
              <a:t>berbeda-beda</a:t>
            </a:r>
            <a:r>
              <a:rPr lang="en-US" sz="1600" dirty="0"/>
              <a:t>. </a:t>
            </a:r>
            <a:endParaRPr lang="en-US" sz="1600" dirty="0" smtClean="0"/>
          </a:p>
          <a:p>
            <a:pPr marL="342900" indent="-342900" algn="just">
              <a:buAutoNum type="arabicPeriod"/>
            </a:pPr>
            <a:r>
              <a:rPr lang="en-US" sz="1600" dirty="0" err="1" smtClean="0"/>
              <a:t>Adjecency</a:t>
            </a:r>
            <a:r>
              <a:rPr lang="en-US" sz="1600" dirty="0" smtClean="0"/>
              <a:t> </a:t>
            </a:r>
            <a:r>
              <a:rPr lang="en-US" sz="1600" dirty="0"/>
              <a:t>database, Database </a:t>
            </a:r>
            <a:r>
              <a:rPr lang="en-US" sz="1600" dirty="0" err="1"/>
              <a:t>ini</a:t>
            </a:r>
            <a:r>
              <a:rPr lang="en-US" sz="1600" dirty="0"/>
              <a:t> </a:t>
            </a:r>
            <a:r>
              <a:rPr lang="en-US" sz="1600" dirty="0" err="1"/>
              <a:t>berisi</a:t>
            </a:r>
            <a:r>
              <a:rPr lang="en-US" sz="1600" dirty="0"/>
              <a:t> </a:t>
            </a:r>
            <a:r>
              <a:rPr lang="en-US" sz="1600" dirty="0" err="1"/>
              <a:t>semua</a:t>
            </a:r>
            <a:r>
              <a:rPr lang="en-US" sz="1600" dirty="0"/>
              <a:t> router </a:t>
            </a:r>
            <a:r>
              <a:rPr lang="en-US" sz="1600" dirty="0" err="1"/>
              <a:t>neighborsnya</a:t>
            </a:r>
            <a:r>
              <a:rPr lang="en-US" sz="1600" dirty="0"/>
              <a:t>. </a:t>
            </a:r>
            <a:r>
              <a:rPr lang="en-US" sz="1600" dirty="0" err="1"/>
              <a:t>Setiap</a:t>
            </a:r>
            <a:r>
              <a:rPr lang="en-US" sz="1600" dirty="0"/>
              <a:t> router </a:t>
            </a:r>
            <a:r>
              <a:rPr lang="en-US" sz="1600" dirty="0" err="1"/>
              <a:t>mempunyai</a:t>
            </a:r>
            <a:r>
              <a:rPr lang="en-US" sz="1600" dirty="0"/>
              <a:t> </a:t>
            </a:r>
            <a:r>
              <a:rPr lang="en-US" sz="1600" dirty="0" err="1"/>
              <a:t>Adjecency</a:t>
            </a:r>
            <a:r>
              <a:rPr lang="en-US" sz="1600" dirty="0"/>
              <a:t> database yang </a:t>
            </a:r>
            <a:r>
              <a:rPr lang="en-US" sz="1600" dirty="0" err="1"/>
              <a:t>berbeda-beda</a:t>
            </a:r>
            <a:r>
              <a:rPr lang="en-US" sz="1600" dirty="0" smtClean="0"/>
              <a:t>.</a:t>
            </a:r>
          </a:p>
          <a:p>
            <a:pPr marL="342900" indent="-342900" algn="just">
              <a:buAutoNum type="arabicPeriod"/>
            </a:pPr>
            <a:r>
              <a:rPr lang="en-US" sz="1600" dirty="0" smtClean="0"/>
              <a:t>Topological </a:t>
            </a:r>
            <a:r>
              <a:rPr lang="en-US" sz="1600" dirty="0"/>
              <a:t>database, Database </a:t>
            </a:r>
            <a:r>
              <a:rPr lang="en-US" sz="1600" dirty="0" err="1"/>
              <a:t>ini</a:t>
            </a:r>
            <a:r>
              <a:rPr lang="en-US" sz="1600" dirty="0"/>
              <a:t> </a:t>
            </a:r>
            <a:r>
              <a:rPr lang="en-US" sz="1600" dirty="0" err="1"/>
              <a:t>berisi</a:t>
            </a:r>
            <a:r>
              <a:rPr lang="en-US" sz="1600" dirty="0"/>
              <a:t> </a:t>
            </a:r>
            <a:r>
              <a:rPr lang="en-US" sz="1600" dirty="0" err="1"/>
              <a:t>seluruh</a:t>
            </a:r>
            <a:r>
              <a:rPr lang="en-US" sz="1600" dirty="0"/>
              <a:t> </a:t>
            </a:r>
            <a:r>
              <a:rPr lang="en-US" sz="1600" dirty="0" err="1"/>
              <a:t>informasi</a:t>
            </a:r>
            <a:r>
              <a:rPr lang="en-US" sz="1600" dirty="0"/>
              <a:t> </a:t>
            </a:r>
            <a:r>
              <a:rPr lang="en-US" sz="1600" dirty="0" err="1"/>
              <a:t>tentang</a:t>
            </a:r>
            <a:r>
              <a:rPr lang="en-US" sz="1600" dirty="0"/>
              <a:t> router yang </a:t>
            </a:r>
            <a:r>
              <a:rPr lang="en-US" sz="1600" dirty="0" err="1"/>
              <a:t>berada</a:t>
            </a:r>
            <a:r>
              <a:rPr lang="en-US" sz="1600" dirty="0"/>
              <a:t> </a:t>
            </a:r>
            <a:r>
              <a:rPr lang="en-US" sz="1600" dirty="0" err="1"/>
              <a:t>dalam</a:t>
            </a:r>
            <a:r>
              <a:rPr lang="en-US" sz="1600" dirty="0"/>
              <a:t> </a:t>
            </a:r>
            <a:r>
              <a:rPr lang="en-US" sz="1600" dirty="0" err="1"/>
              <a:t>satu</a:t>
            </a:r>
            <a:r>
              <a:rPr lang="en-US" sz="1600" dirty="0"/>
              <a:t> </a:t>
            </a:r>
            <a:r>
              <a:rPr lang="en-US" sz="1600" dirty="0" err="1"/>
              <a:t>jaringannya</a:t>
            </a:r>
            <a:r>
              <a:rPr lang="en-US" sz="1600" dirty="0"/>
              <a:t>/</a:t>
            </a:r>
            <a:r>
              <a:rPr lang="en-US" sz="1600" dirty="0" err="1"/>
              <a:t>areanya</a:t>
            </a:r>
            <a:r>
              <a:rPr lang="en-US" sz="1600" dirty="0" smtClean="0"/>
              <a:t>.</a:t>
            </a:r>
          </a:p>
          <a:p>
            <a:pPr algn="just"/>
            <a:endParaRPr lang="en-US" sz="1600" dirty="0" smtClean="0"/>
          </a:p>
          <a:p>
            <a:pPr algn="just"/>
            <a:r>
              <a:rPr lang="en-US" sz="1600" dirty="0" err="1" smtClean="0"/>
              <a:t>Kelebihan</a:t>
            </a:r>
            <a:r>
              <a:rPr lang="en-US" sz="1600" dirty="0" smtClean="0"/>
              <a:t> </a:t>
            </a:r>
            <a:r>
              <a:rPr lang="en-US" sz="1600" dirty="0" err="1"/>
              <a:t>dari</a:t>
            </a:r>
            <a:r>
              <a:rPr lang="en-US" sz="1600" dirty="0"/>
              <a:t> routing protocol OSPF </a:t>
            </a:r>
            <a:r>
              <a:rPr lang="en-US" sz="1600" dirty="0" err="1"/>
              <a:t>ini</a:t>
            </a:r>
            <a:r>
              <a:rPr lang="en-US" sz="1600" dirty="0"/>
              <a:t> </a:t>
            </a:r>
            <a:r>
              <a:rPr lang="en-US" sz="1600" dirty="0" err="1"/>
              <a:t>diantaranya</a:t>
            </a:r>
            <a:r>
              <a:rPr lang="en-US" sz="1600" dirty="0"/>
              <a:t> </a:t>
            </a:r>
            <a:r>
              <a:rPr lang="en-US" sz="1600" dirty="0" err="1"/>
              <a:t>tidak</a:t>
            </a:r>
            <a:r>
              <a:rPr lang="en-US" sz="1600" dirty="0"/>
              <a:t> </a:t>
            </a:r>
            <a:r>
              <a:rPr lang="en-US" sz="1600" dirty="0" err="1"/>
              <a:t>menghasilkan</a:t>
            </a:r>
            <a:r>
              <a:rPr lang="en-US" sz="1600" dirty="0"/>
              <a:t> routing loop. </a:t>
            </a:r>
            <a:r>
              <a:rPr lang="en-US" sz="1600" dirty="0" err="1"/>
              <a:t>Selain</a:t>
            </a:r>
            <a:r>
              <a:rPr lang="en-US" sz="1600" dirty="0"/>
              <a:t> </a:t>
            </a:r>
            <a:r>
              <a:rPr lang="en-US" sz="1600" dirty="0" err="1"/>
              <a:t>itu</a:t>
            </a:r>
            <a:r>
              <a:rPr lang="en-US" sz="1600" dirty="0"/>
              <a:t> </a:t>
            </a:r>
            <a:r>
              <a:rPr lang="en-US" sz="1600" dirty="0" err="1"/>
              <a:t>juga</a:t>
            </a:r>
            <a:r>
              <a:rPr lang="en-US" sz="1600" dirty="0"/>
              <a:t> </a:t>
            </a:r>
            <a:r>
              <a:rPr lang="en-US" sz="1600" dirty="0" err="1"/>
              <a:t>mendukung</a:t>
            </a:r>
            <a:r>
              <a:rPr lang="en-US" sz="1600" dirty="0"/>
              <a:t> </a:t>
            </a:r>
            <a:r>
              <a:rPr lang="en-US" sz="1600" dirty="0" err="1"/>
              <a:t>penggunaan</a:t>
            </a:r>
            <a:r>
              <a:rPr lang="en-US" sz="1600" dirty="0"/>
              <a:t> </a:t>
            </a:r>
            <a:r>
              <a:rPr lang="en-US" sz="1600" dirty="0" err="1"/>
              <a:t>beberapa</a:t>
            </a:r>
            <a:r>
              <a:rPr lang="en-US" sz="1600" dirty="0"/>
              <a:t> metric </a:t>
            </a:r>
            <a:r>
              <a:rPr lang="en-US" sz="1600" dirty="0" err="1"/>
              <a:t>sekaligus</a:t>
            </a:r>
            <a:r>
              <a:rPr lang="en-US" sz="1600" dirty="0"/>
              <a:t>. </a:t>
            </a:r>
            <a:r>
              <a:rPr lang="en-US" sz="1600" dirty="0" err="1"/>
              <a:t>Lalu</a:t>
            </a:r>
            <a:r>
              <a:rPr lang="en-US" sz="1600" dirty="0"/>
              <a:t> </a:t>
            </a:r>
            <a:r>
              <a:rPr lang="en-US" sz="1600" dirty="0" err="1"/>
              <a:t>dapat</a:t>
            </a:r>
            <a:r>
              <a:rPr lang="en-US" sz="1600" dirty="0"/>
              <a:t> </a:t>
            </a:r>
            <a:r>
              <a:rPr lang="en-US" sz="1600" dirty="0" err="1"/>
              <a:t>menghasilkan</a:t>
            </a:r>
            <a:r>
              <a:rPr lang="en-US" sz="1600" dirty="0"/>
              <a:t> </a:t>
            </a:r>
            <a:r>
              <a:rPr lang="en-US" sz="1600" dirty="0" err="1"/>
              <a:t>banyak</a:t>
            </a:r>
            <a:r>
              <a:rPr lang="en-US" sz="1600" dirty="0"/>
              <a:t> </a:t>
            </a:r>
            <a:r>
              <a:rPr lang="en-US" sz="1600" dirty="0" err="1"/>
              <a:t>jalur</a:t>
            </a:r>
            <a:r>
              <a:rPr lang="en-US" sz="1600" dirty="0"/>
              <a:t> </a:t>
            </a:r>
            <a:r>
              <a:rPr lang="en-US" sz="1600" dirty="0" err="1"/>
              <a:t>ke</a:t>
            </a:r>
            <a:r>
              <a:rPr lang="en-US" sz="1600" dirty="0"/>
              <a:t> </a:t>
            </a:r>
            <a:r>
              <a:rPr lang="en-US" sz="1600" dirty="0" err="1"/>
              <a:t>sebuah</a:t>
            </a:r>
            <a:r>
              <a:rPr lang="en-US" sz="1600" dirty="0"/>
              <a:t> </a:t>
            </a:r>
            <a:r>
              <a:rPr lang="en-US" sz="1600" dirty="0" err="1"/>
              <a:t>tujuan</a:t>
            </a:r>
            <a:r>
              <a:rPr lang="en-US" sz="1600" dirty="0"/>
              <a:t> ,</a:t>
            </a:r>
            <a:r>
              <a:rPr lang="en-US" sz="1600" dirty="0" err="1" smtClean="0"/>
              <a:t>membagi</a:t>
            </a:r>
            <a:r>
              <a:rPr lang="en-US" sz="1600" dirty="0" smtClean="0"/>
              <a:t> </a:t>
            </a:r>
            <a:r>
              <a:rPr lang="en-US" sz="1600" dirty="0" err="1" smtClean="0"/>
              <a:t>jaringan</a:t>
            </a:r>
            <a:r>
              <a:rPr lang="en-US" sz="1600" dirty="0" smtClean="0"/>
              <a:t> </a:t>
            </a:r>
            <a:r>
              <a:rPr lang="en-US" sz="1600" dirty="0"/>
              <a:t>yang </a:t>
            </a:r>
            <a:r>
              <a:rPr lang="en-US" sz="1600" dirty="0" err="1"/>
              <a:t>besar</a:t>
            </a:r>
            <a:r>
              <a:rPr lang="en-US" sz="1600" dirty="0"/>
              <a:t> </a:t>
            </a:r>
            <a:r>
              <a:rPr lang="en-US" sz="1600" dirty="0" err="1"/>
              <a:t>meja</a:t>
            </a:r>
            <a:r>
              <a:rPr lang="en-US" sz="1600" dirty="0"/>
              <a:t> di </a:t>
            </a:r>
            <a:r>
              <a:rPr lang="en-US" sz="1600" dirty="0" err="1"/>
              <a:t>beberapa</a:t>
            </a:r>
            <a:r>
              <a:rPr lang="en-US" sz="1600" dirty="0"/>
              <a:t> area, </a:t>
            </a:r>
            <a:r>
              <a:rPr lang="en-US" sz="1600" dirty="0" err="1"/>
              <a:t>dan</a:t>
            </a:r>
            <a:r>
              <a:rPr lang="en-US" sz="1600" dirty="0"/>
              <a:t> </a:t>
            </a:r>
            <a:r>
              <a:rPr lang="en-US" sz="1600" dirty="0" err="1"/>
              <a:t>terakhir</a:t>
            </a:r>
            <a:r>
              <a:rPr lang="en-US" sz="1600" dirty="0"/>
              <a:t> </a:t>
            </a:r>
            <a:r>
              <a:rPr lang="en-US" sz="1600" dirty="0" err="1"/>
              <a:t>waktu</a:t>
            </a:r>
            <a:r>
              <a:rPr lang="en-US" sz="1600" dirty="0"/>
              <a:t> yang </a:t>
            </a:r>
            <a:r>
              <a:rPr lang="en-US" sz="1600" dirty="0" err="1" smtClean="0"/>
              <a:t>diperlukan</a:t>
            </a:r>
            <a:r>
              <a:rPr lang="en-US" sz="1600" dirty="0" smtClean="0"/>
              <a:t> </a:t>
            </a:r>
            <a:r>
              <a:rPr lang="en-US" sz="1600" dirty="0" err="1" smtClean="0"/>
              <a:t>untuk</a:t>
            </a:r>
            <a:r>
              <a:rPr lang="en-US" sz="1600" dirty="0" smtClean="0"/>
              <a:t> </a:t>
            </a:r>
            <a:r>
              <a:rPr lang="en-US" sz="1600" dirty="0" err="1"/>
              <a:t>konvergensi</a:t>
            </a:r>
            <a:r>
              <a:rPr lang="en-US" sz="1600" dirty="0"/>
              <a:t> </a:t>
            </a:r>
            <a:r>
              <a:rPr lang="en-US" sz="1600" dirty="0" err="1"/>
              <a:t>lebih</a:t>
            </a:r>
            <a:r>
              <a:rPr lang="en-US" sz="1600" dirty="0"/>
              <a:t> </a:t>
            </a:r>
            <a:r>
              <a:rPr lang="en-US" sz="1600" dirty="0" err="1"/>
              <a:t>cepat</a:t>
            </a:r>
            <a:r>
              <a:rPr lang="en-US" sz="1600" dirty="0" smtClean="0"/>
              <a:t>. </a:t>
            </a:r>
            <a:r>
              <a:rPr lang="en-US" sz="1600" dirty="0" err="1" smtClean="0"/>
              <a:t>sedangkan</a:t>
            </a:r>
            <a:r>
              <a:rPr lang="en-US" sz="1600" dirty="0" smtClean="0"/>
              <a:t> </a:t>
            </a:r>
            <a:r>
              <a:rPr lang="en-US" sz="1600" dirty="0" err="1"/>
              <a:t>untuk</a:t>
            </a:r>
            <a:r>
              <a:rPr lang="en-US" sz="1600" dirty="0"/>
              <a:t> </a:t>
            </a:r>
            <a:r>
              <a:rPr lang="en-US" sz="1600" dirty="0" err="1"/>
              <a:t>kekurangan</a:t>
            </a:r>
            <a:r>
              <a:rPr lang="en-US" sz="1600" dirty="0"/>
              <a:t> routing protocol OSPF </a:t>
            </a:r>
            <a:r>
              <a:rPr lang="en-US" sz="1600" dirty="0" err="1"/>
              <a:t>diantaranya</a:t>
            </a:r>
            <a:r>
              <a:rPr lang="en-US" sz="1600" dirty="0"/>
              <a:t> </a:t>
            </a:r>
            <a:r>
              <a:rPr lang="en-US" sz="1600" dirty="0" err="1" smtClean="0"/>
              <a:t>yaitu</a:t>
            </a:r>
            <a:r>
              <a:rPr lang="en-US" sz="1600" dirty="0" smtClean="0"/>
              <a:t> </a:t>
            </a:r>
            <a:r>
              <a:rPr lang="en-US" sz="1600" dirty="0" err="1" smtClean="0"/>
              <a:t>membutuhkan</a:t>
            </a:r>
            <a:r>
              <a:rPr lang="en-US" sz="1600" dirty="0" smtClean="0"/>
              <a:t> </a:t>
            </a:r>
            <a:r>
              <a:rPr lang="en-US" sz="1600" dirty="0"/>
              <a:t>basis data yang </a:t>
            </a:r>
            <a:r>
              <a:rPr lang="en-US" sz="1600" dirty="0" err="1"/>
              <a:t>besar</a:t>
            </a:r>
            <a:r>
              <a:rPr lang="en-US" sz="1600" dirty="0"/>
              <a:t> </a:t>
            </a:r>
            <a:r>
              <a:rPr lang="en-US" sz="1600" dirty="0" err="1"/>
              <a:t>dan</a:t>
            </a:r>
            <a:r>
              <a:rPr lang="en-US" sz="1600" dirty="0"/>
              <a:t> </a:t>
            </a:r>
            <a:r>
              <a:rPr lang="en-US" sz="1600" dirty="0" err="1"/>
              <a:t>lebih</a:t>
            </a:r>
            <a:r>
              <a:rPr lang="en-US" sz="1600" dirty="0"/>
              <a:t> </a:t>
            </a:r>
            <a:r>
              <a:rPr lang="en-US" sz="1600" dirty="0" err="1"/>
              <a:t>rumit</a:t>
            </a:r>
            <a:endParaRPr lang="en-US" sz="1600" dirty="0"/>
          </a:p>
          <a:p>
            <a:pPr marL="342900" indent="-342900" algn="just">
              <a:buAutoNum type="arabicPeriod"/>
            </a:pPr>
            <a:endParaRPr lang="en-US" sz="1600" dirty="0"/>
          </a:p>
        </p:txBody>
      </p:sp>
      <p:sp>
        <p:nvSpPr>
          <p:cNvPr id="4" name="Rectangle 3"/>
          <p:cNvSpPr/>
          <p:nvPr/>
        </p:nvSpPr>
        <p:spPr>
          <a:xfrm>
            <a:off x="8143456" y="4423"/>
            <a:ext cx="415754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chemeClr val="bg2">
                    <a:lumMod val="50000"/>
                  </a:schemeClr>
                </a:solidFill>
              </a:rPr>
              <a:t>MPLS </a:t>
            </a:r>
            <a:r>
              <a:rPr lang="en-US" sz="2800" dirty="0" err="1">
                <a:solidFill>
                  <a:schemeClr val="bg2">
                    <a:lumMod val="50000"/>
                  </a:schemeClr>
                </a:solidFill>
              </a:rPr>
              <a:t>pada</a:t>
            </a:r>
            <a:r>
              <a:rPr lang="en-US" sz="28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sz="2800" dirty="0" err="1" smtClean="0">
                <a:solidFill>
                  <a:schemeClr val="bg2">
                    <a:lumMod val="50000"/>
                  </a:schemeClr>
                </a:solidFill>
              </a:rPr>
              <a:t>MikroTik</a:t>
            </a:r>
            <a:r>
              <a:rPr lang="en-US" sz="2800" dirty="0" smtClean="0">
                <a:solidFill>
                  <a:schemeClr val="bg2">
                    <a:lumMod val="50000"/>
                  </a:schemeClr>
                </a:solidFill>
              </a:rPr>
              <a:t>(</a:t>
            </a:r>
            <a:r>
              <a:rPr lang="en-US" sz="2800" dirty="0" err="1" smtClean="0">
                <a:solidFill>
                  <a:schemeClr val="bg2">
                    <a:lumMod val="50000"/>
                  </a:schemeClr>
                </a:solidFill>
              </a:rPr>
              <a:t>Con’t</a:t>
            </a:r>
            <a:r>
              <a:rPr lang="en-US" sz="2800" dirty="0" smtClean="0">
                <a:solidFill>
                  <a:schemeClr val="bg2">
                    <a:lumMod val="50000"/>
                  </a:schemeClr>
                </a:solidFill>
              </a:rPr>
              <a:t>)</a:t>
            </a:r>
            <a:endParaRPr lang="en-US" sz="28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893443" y="330832"/>
            <a:ext cx="320940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 smtClean="0">
                <a:solidFill>
                  <a:schemeClr val="bg2">
                    <a:lumMod val="50000"/>
                  </a:schemeClr>
                </a:solidFill>
              </a:rPr>
              <a:t>OSPF Basic For MPLS</a:t>
            </a:r>
            <a:endParaRPr lang="en-US" sz="28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5373511" y="854052"/>
            <a:ext cx="6096000" cy="5755422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/>
            <a:r>
              <a:rPr lang="en-US" sz="1600" dirty="0" err="1" smtClean="0"/>
              <a:t>Prinsip</a:t>
            </a:r>
            <a:r>
              <a:rPr lang="en-US" sz="1600" dirty="0" smtClean="0"/>
              <a:t> </a:t>
            </a:r>
            <a:r>
              <a:rPr lang="en-US" sz="1600" dirty="0" err="1" smtClean="0"/>
              <a:t>kerja</a:t>
            </a:r>
            <a:r>
              <a:rPr lang="en-US" sz="1600" dirty="0" smtClean="0"/>
              <a:t> OSPF: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200" dirty="0" err="1" smtClean="0"/>
              <a:t>Setiap</a:t>
            </a:r>
            <a:r>
              <a:rPr lang="en-US" sz="1200" dirty="0" smtClean="0"/>
              <a:t> router </a:t>
            </a:r>
            <a:r>
              <a:rPr lang="en-US" sz="1200" dirty="0" err="1" smtClean="0"/>
              <a:t>membuat</a:t>
            </a:r>
            <a:r>
              <a:rPr lang="en-US" sz="1200" dirty="0" smtClean="0"/>
              <a:t> </a:t>
            </a:r>
            <a:r>
              <a:rPr lang="en-US" sz="1200" dirty="0" smtClean="0">
                <a:solidFill>
                  <a:srgbClr val="002060"/>
                </a:solidFill>
              </a:rPr>
              <a:t>Link State Packet (LSP)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200" dirty="0" err="1" smtClean="0"/>
              <a:t>Kemudian</a:t>
            </a:r>
            <a:r>
              <a:rPr lang="en-US" sz="1200" dirty="0" smtClean="0"/>
              <a:t> LSP </a:t>
            </a:r>
            <a:r>
              <a:rPr lang="en-US" sz="1200" dirty="0" err="1" smtClean="0"/>
              <a:t>didistribusikan</a:t>
            </a:r>
            <a:r>
              <a:rPr lang="en-US" sz="1200" dirty="0" smtClean="0"/>
              <a:t> </a:t>
            </a:r>
            <a:r>
              <a:rPr lang="en-US" sz="1200" dirty="0" err="1" smtClean="0"/>
              <a:t>ke</a:t>
            </a:r>
            <a:r>
              <a:rPr lang="en-US" sz="1200" dirty="0" smtClean="0"/>
              <a:t> </a:t>
            </a:r>
            <a:r>
              <a:rPr lang="en-US" sz="1200" dirty="0" err="1" smtClean="0"/>
              <a:t>semua</a:t>
            </a:r>
            <a:r>
              <a:rPr lang="en-US" sz="1200" dirty="0" smtClean="0"/>
              <a:t> </a:t>
            </a:r>
            <a:r>
              <a:rPr lang="en-US" sz="1200" dirty="0" err="1" smtClean="0"/>
              <a:t>neighbour</a:t>
            </a:r>
            <a:r>
              <a:rPr lang="en-US" sz="1200" dirty="0" smtClean="0"/>
              <a:t> </a:t>
            </a:r>
            <a:r>
              <a:rPr lang="en-US" sz="1200" dirty="0" err="1" smtClean="0"/>
              <a:t>menggunakan</a:t>
            </a:r>
            <a:r>
              <a:rPr lang="en-US" sz="1200" dirty="0" smtClean="0"/>
              <a:t> </a:t>
            </a:r>
            <a:r>
              <a:rPr lang="en-US" sz="1200" dirty="0" smtClean="0">
                <a:solidFill>
                  <a:srgbClr val="002060"/>
                </a:solidFill>
              </a:rPr>
              <a:t>Link State Advertisement (LSA) type 1 </a:t>
            </a:r>
            <a:r>
              <a:rPr lang="en-US" sz="1200" dirty="0" err="1" smtClean="0">
                <a:solidFill>
                  <a:srgbClr val="002060"/>
                </a:solidFill>
              </a:rPr>
              <a:t>dan</a:t>
            </a:r>
            <a:r>
              <a:rPr lang="en-US" sz="1200" dirty="0" smtClean="0">
                <a:solidFill>
                  <a:srgbClr val="002060"/>
                </a:solidFill>
              </a:rPr>
              <a:t> </a:t>
            </a:r>
            <a:r>
              <a:rPr lang="en-US" sz="1200" dirty="0" err="1" smtClean="0">
                <a:solidFill>
                  <a:srgbClr val="002060"/>
                </a:solidFill>
              </a:rPr>
              <a:t>menentukan</a:t>
            </a:r>
            <a:r>
              <a:rPr lang="en-US" sz="1200" dirty="0" smtClean="0">
                <a:solidFill>
                  <a:srgbClr val="002060"/>
                </a:solidFill>
              </a:rPr>
              <a:t> DR </a:t>
            </a:r>
            <a:r>
              <a:rPr lang="en-US" sz="1200" dirty="0" err="1" smtClean="0">
                <a:solidFill>
                  <a:srgbClr val="002060"/>
                </a:solidFill>
              </a:rPr>
              <a:t>dan</a:t>
            </a:r>
            <a:r>
              <a:rPr lang="en-US" sz="1200" dirty="0" smtClean="0">
                <a:solidFill>
                  <a:srgbClr val="002060"/>
                </a:solidFill>
              </a:rPr>
              <a:t> BDR </a:t>
            </a:r>
            <a:r>
              <a:rPr lang="en-US" sz="1200" dirty="0" err="1" smtClean="0">
                <a:solidFill>
                  <a:srgbClr val="002060"/>
                </a:solidFill>
              </a:rPr>
              <a:t>dalam</a:t>
            </a:r>
            <a:r>
              <a:rPr lang="en-US" sz="1200" dirty="0" smtClean="0">
                <a:solidFill>
                  <a:srgbClr val="002060"/>
                </a:solidFill>
              </a:rPr>
              <a:t> 1 Area.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200" dirty="0" err="1" smtClean="0"/>
              <a:t>Masing-masing</a:t>
            </a:r>
            <a:r>
              <a:rPr lang="en-US" sz="1200" dirty="0" smtClean="0"/>
              <a:t> router </a:t>
            </a:r>
            <a:r>
              <a:rPr lang="en-US" sz="1200" dirty="0" err="1" smtClean="0">
                <a:solidFill>
                  <a:srgbClr val="002060"/>
                </a:solidFill>
              </a:rPr>
              <a:t>menghitung</a:t>
            </a:r>
            <a:r>
              <a:rPr lang="en-US" sz="1200" dirty="0" smtClean="0">
                <a:solidFill>
                  <a:srgbClr val="002060"/>
                </a:solidFill>
              </a:rPr>
              <a:t> </a:t>
            </a:r>
            <a:r>
              <a:rPr lang="en-US" sz="1200" dirty="0" err="1" smtClean="0">
                <a:solidFill>
                  <a:srgbClr val="002060"/>
                </a:solidFill>
              </a:rPr>
              <a:t>jalur</a:t>
            </a:r>
            <a:r>
              <a:rPr lang="en-US" sz="1200" dirty="0" smtClean="0">
                <a:solidFill>
                  <a:srgbClr val="002060"/>
                </a:solidFill>
              </a:rPr>
              <a:t> </a:t>
            </a:r>
            <a:r>
              <a:rPr lang="en-US" sz="1200" dirty="0" err="1" smtClean="0">
                <a:solidFill>
                  <a:srgbClr val="002060"/>
                </a:solidFill>
              </a:rPr>
              <a:t>terpendek</a:t>
            </a:r>
            <a:r>
              <a:rPr lang="en-US" sz="1200" dirty="0" smtClean="0">
                <a:solidFill>
                  <a:srgbClr val="002060"/>
                </a:solidFill>
              </a:rPr>
              <a:t> (Shortest Path) </a:t>
            </a:r>
            <a:r>
              <a:rPr lang="en-US" sz="1200" dirty="0" err="1" smtClean="0"/>
              <a:t>ke</a:t>
            </a:r>
            <a:r>
              <a:rPr lang="en-US" sz="1200" dirty="0" smtClean="0"/>
              <a:t> </a:t>
            </a:r>
            <a:r>
              <a:rPr lang="en-US" sz="1200" dirty="0" err="1" smtClean="0"/>
              <a:t>semua</a:t>
            </a:r>
            <a:r>
              <a:rPr lang="en-US" sz="1200" dirty="0" smtClean="0"/>
              <a:t> </a:t>
            </a:r>
            <a:r>
              <a:rPr lang="en-US" sz="1200" dirty="0" err="1" smtClean="0"/>
              <a:t>neighbour</a:t>
            </a:r>
            <a:r>
              <a:rPr lang="en-US" sz="1200" dirty="0" smtClean="0"/>
              <a:t> </a:t>
            </a:r>
            <a:r>
              <a:rPr lang="en-US" sz="1200" dirty="0" err="1" smtClean="0"/>
              <a:t>berdasarkan</a:t>
            </a:r>
            <a:r>
              <a:rPr lang="en-US" sz="1200" dirty="0" smtClean="0"/>
              <a:t> cost routing.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200" dirty="0" err="1" smtClean="0"/>
              <a:t>Jika</a:t>
            </a:r>
            <a:r>
              <a:rPr lang="en-US" sz="1200" dirty="0" smtClean="0"/>
              <a:t> </a:t>
            </a:r>
            <a:r>
              <a:rPr lang="en-US" sz="1200" dirty="0" err="1" smtClean="0"/>
              <a:t>ada</a:t>
            </a:r>
            <a:r>
              <a:rPr lang="en-US" sz="1200" dirty="0" smtClean="0"/>
              <a:t> </a:t>
            </a:r>
            <a:r>
              <a:rPr lang="en-US" sz="1200" dirty="0" err="1" smtClean="0"/>
              <a:t>perbedaan</a:t>
            </a:r>
            <a:r>
              <a:rPr lang="en-US" sz="1200" dirty="0" smtClean="0"/>
              <a:t> </a:t>
            </a:r>
            <a:r>
              <a:rPr lang="en-US" sz="1200" dirty="0" err="1" smtClean="0"/>
              <a:t>atau</a:t>
            </a:r>
            <a:r>
              <a:rPr lang="en-US" sz="1200" dirty="0" smtClean="0"/>
              <a:t> </a:t>
            </a:r>
            <a:r>
              <a:rPr lang="en-US" sz="1200" dirty="0" err="1" smtClean="0"/>
              <a:t>perubahan</a:t>
            </a:r>
            <a:r>
              <a:rPr lang="en-US" sz="1200" dirty="0" smtClean="0"/>
              <a:t> </a:t>
            </a:r>
            <a:r>
              <a:rPr lang="en-US" sz="1200" dirty="0" err="1" smtClean="0"/>
              <a:t>tabel</a:t>
            </a:r>
            <a:r>
              <a:rPr lang="en-US" sz="1200" dirty="0" smtClean="0"/>
              <a:t> routing, router </a:t>
            </a:r>
            <a:r>
              <a:rPr lang="en-US" sz="1200" dirty="0" err="1" smtClean="0"/>
              <a:t>akan</a:t>
            </a:r>
            <a:r>
              <a:rPr lang="en-US" sz="1200" dirty="0" smtClean="0"/>
              <a:t> </a:t>
            </a:r>
            <a:r>
              <a:rPr lang="en-US" sz="1200" dirty="0" err="1" smtClean="0">
                <a:solidFill>
                  <a:srgbClr val="002060"/>
                </a:solidFill>
              </a:rPr>
              <a:t>mengirimkan</a:t>
            </a:r>
            <a:r>
              <a:rPr lang="en-US" sz="1200" dirty="0" smtClean="0">
                <a:solidFill>
                  <a:srgbClr val="002060"/>
                </a:solidFill>
              </a:rPr>
              <a:t> LSP  </a:t>
            </a:r>
            <a:r>
              <a:rPr lang="en-US" sz="1200" dirty="0" err="1" smtClean="0">
                <a:solidFill>
                  <a:srgbClr val="002060"/>
                </a:solidFill>
              </a:rPr>
              <a:t>ke</a:t>
            </a:r>
            <a:r>
              <a:rPr lang="en-US" sz="1200" dirty="0" smtClean="0">
                <a:solidFill>
                  <a:srgbClr val="002060"/>
                </a:solidFill>
              </a:rPr>
              <a:t> DR </a:t>
            </a:r>
            <a:r>
              <a:rPr lang="en-US" sz="1200" dirty="0" err="1" smtClean="0">
                <a:solidFill>
                  <a:srgbClr val="002060"/>
                </a:solidFill>
              </a:rPr>
              <a:t>dan</a:t>
            </a:r>
            <a:r>
              <a:rPr lang="en-US" sz="1200" dirty="0" smtClean="0">
                <a:solidFill>
                  <a:srgbClr val="002060"/>
                </a:solidFill>
              </a:rPr>
              <a:t> BDR</a:t>
            </a:r>
            <a:r>
              <a:rPr lang="en-US" sz="1200" dirty="0" smtClean="0"/>
              <a:t> </a:t>
            </a:r>
            <a:r>
              <a:rPr lang="en-US" sz="1200" dirty="0" err="1" smtClean="0"/>
              <a:t>melalui</a:t>
            </a:r>
            <a:r>
              <a:rPr lang="en-US" sz="1200" dirty="0" smtClean="0"/>
              <a:t> </a:t>
            </a:r>
            <a:r>
              <a:rPr lang="en-US" sz="1200" dirty="0" err="1" smtClean="0"/>
              <a:t>alamat</a:t>
            </a:r>
            <a:r>
              <a:rPr lang="en-US" sz="1200" dirty="0" smtClean="0"/>
              <a:t> multicast 224.0.0.6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200" dirty="0" smtClean="0">
                <a:solidFill>
                  <a:srgbClr val="002060"/>
                </a:solidFill>
              </a:rPr>
              <a:t>LSP </a:t>
            </a:r>
            <a:r>
              <a:rPr lang="en-US" sz="1200" dirty="0" err="1" smtClean="0">
                <a:solidFill>
                  <a:srgbClr val="002060"/>
                </a:solidFill>
              </a:rPr>
              <a:t>akan</a:t>
            </a:r>
            <a:r>
              <a:rPr lang="en-US" sz="1200" dirty="0" smtClean="0">
                <a:solidFill>
                  <a:srgbClr val="002060"/>
                </a:solidFill>
              </a:rPr>
              <a:t> </a:t>
            </a:r>
            <a:r>
              <a:rPr lang="en-US" sz="1200" dirty="0" err="1" smtClean="0">
                <a:solidFill>
                  <a:srgbClr val="002060"/>
                </a:solidFill>
              </a:rPr>
              <a:t>didistribusikan</a:t>
            </a:r>
            <a:r>
              <a:rPr lang="en-US" sz="1200" dirty="0" smtClean="0">
                <a:solidFill>
                  <a:srgbClr val="002060"/>
                </a:solidFill>
              </a:rPr>
              <a:t> </a:t>
            </a:r>
            <a:r>
              <a:rPr lang="en-US" sz="1200" dirty="0" err="1" smtClean="0">
                <a:solidFill>
                  <a:srgbClr val="002060"/>
                </a:solidFill>
              </a:rPr>
              <a:t>oleh</a:t>
            </a:r>
            <a:r>
              <a:rPr lang="en-US" sz="1200" dirty="0" smtClean="0">
                <a:solidFill>
                  <a:srgbClr val="002060"/>
                </a:solidFill>
              </a:rPr>
              <a:t> DR </a:t>
            </a:r>
            <a:r>
              <a:rPr lang="en-US" sz="1200" dirty="0" err="1" smtClean="0">
                <a:solidFill>
                  <a:srgbClr val="002060"/>
                </a:solidFill>
              </a:rPr>
              <a:t>ke</a:t>
            </a:r>
            <a:r>
              <a:rPr lang="en-US" sz="1200" dirty="0" smtClean="0">
                <a:solidFill>
                  <a:srgbClr val="002060"/>
                </a:solidFill>
              </a:rPr>
              <a:t> router </a:t>
            </a:r>
            <a:r>
              <a:rPr lang="en-US" sz="1200" dirty="0" err="1" smtClean="0">
                <a:solidFill>
                  <a:srgbClr val="002060"/>
                </a:solidFill>
              </a:rPr>
              <a:t>neighbour</a:t>
            </a:r>
            <a:r>
              <a:rPr lang="en-US" sz="1200" dirty="0" smtClean="0">
                <a:solidFill>
                  <a:srgbClr val="002060"/>
                </a:solidFill>
              </a:rPr>
              <a:t> lain </a:t>
            </a:r>
            <a:r>
              <a:rPr lang="en-US" sz="1200" dirty="0" err="1" smtClean="0"/>
              <a:t>dalam</a:t>
            </a:r>
            <a:r>
              <a:rPr lang="en-US" sz="1200" dirty="0" smtClean="0"/>
              <a:t> 1 area </a:t>
            </a:r>
            <a:r>
              <a:rPr lang="en-US" sz="1200" dirty="0" err="1" smtClean="0"/>
              <a:t>sehingga</a:t>
            </a:r>
            <a:r>
              <a:rPr lang="en-US" sz="1200" dirty="0" smtClean="0"/>
              <a:t> </a:t>
            </a:r>
            <a:r>
              <a:rPr lang="en-US" sz="1200" dirty="0" err="1" smtClean="0"/>
              <a:t>semua</a:t>
            </a:r>
            <a:r>
              <a:rPr lang="en-US" sz="1200" dirty="0" smtClean="0"/>
              <a:t> router </a:t>
            </a:r>
            <a:r>
              <a:rPr lang="en-US" sz="1200" dirty="0" err="1" smtClean="0"/>
              <a:t>neighbour</a:t>
            </a:r>
            <a:r>
              <a:rPr lang="en-US" sz="1200" dirty="0" smtClean="0"/>
              <a:t> </a:t>
            </a:r>
            <a:r>
              <a:rPr lang="en-US" sz="1200" dirty="0" err="1" smtClean="0"/>
              <a:t>akan</a:t>
            </a:r>
            <a:r>
              <a:rPr lang="en-US" sz="1200" dirty="0" smtClean="0"/>
              <a:t> </a:t>
            </a:r>
            <a:r>
              <a:rPr lang="en-US" sz="1200" dirty="0" err="1" smtClean="0"/>
              <a:t>melakukan</a:t>
            </a:r>
            <a:r>
              <a:rPr lang="en-US" sz="1200" dirty="0" smtClean="0"/>
              <a:t> </a:t>
            </a:r>
            <a:r>
              <a:rPr lang="en-US" sz="1200" dirty="0" err="1" smtClean="0"/>
              <a:t>perhitungan</a:t>
            </a:r>
            <a:r>
              <a:rPr lang="en-US" sz="1200" dirty="0" smtClean="0"/>
              <a:t> </a:t>
            </a:r>
            <a:r>
              <a:rPr lang="en-US" sz="1200" dirty="0" err="1" smtClean="0"/>
              <a:t>ulang</a:t>
            </a:r>
            <a:r>
              <a:rPr lang="en-US" sz="1200" dirty="0" smtClean="0"/>
              <a:t> </a:t>
            </a:r>
            <a:r>
              <a:rPr lang="en-US" sz="1200" dirty="0" err="1" smtClean="0"/>
              <a:t>jalur</a:t>
            </a:r>
            <a:r>
              <a:rPr lang="en-US" sz="1200" dirty="0" smtClean="0"/>
              <a:t> </a:t>
            </a:r>
            <a:r>
              <a:rPr lang="en-US" sz="1200" dirty="0" err="1" smtClean="0"/>
              <a:t>terpendek</a:t>
            </a:r>
            <a:r>
              <a:rPr lang="en-US" sz="1200" dirty="0" smtClean="0"/>
              <a:t>.</a:t>
            </a:r>
          </a:p>
          <a:p>
            <a:pPr algn="just"/>
            <a:endParaRPr lang="en-US" sz="1600" dirty="0" smtClean="0"/>
          </a:p>
          <a:p>
            <a:pPr algn="just"/>
            <a:r>
              <a:rPr lang="en-US" sz="1600" dirty="0" err="1"/>
              <a:t>Konfigurasi</a:t>
            </a:r>
            <a:r>
              <a:rPr lang="en-US" sz="1600" dirty="0"/>
              <a:t> OSPF - Backbone Area</a:t>
            </a:r>
          </a:p>
          <a:p>
            <a:pPr algn="just"/>
            <a:endParaRPr lang="en-US" sz="1200" dirty="0"/>
          </a:p>
          <a:p>
            <a:pPr algn="just"/>
            <a:r>
              <a:rPr lang="en-US" sz="1200" dirty="0"/>
              <a:t>OPSF </a:t>
            </a:r>
            <a:r>
              <a:rPr lang="en-US" sz="1200" dirty="0" err="1"/>
              <a:t>merupakan</a:t>
            </a:r>
            <a:r>
              <a:rPr lang="en-US" sz="1200" dirty="0"/>
              <a:t> </a:t>
            </a:r>
            <a:r>
              <a:rPr lang="en-US" sz="1200" dirty="0" err="1"/>
              <a:t>protokol</a:t>
            </a:r>
            <a:r>
              <a:rPr lang="en-US" sz="1200" dirty="0"/>
              <a:t> routing yang </a:t>
            </a:r>
            <a:r>
              <a:rPr lang="en-US" sz="1200" dirty="0" err="1"/>
              <a:t>menggunakan</a:t>
            </a:r>
            <a:r>
              <a:rPr lang="en-US" sz="1200" dirty="0"/>
              <a:t> </a:t>
            </a:r>
            <a:r>
              <a:rPr lang="en-US" sz="1200" dirty="0" err="1"/>
              <a:t>konsep</a:t>
            </a:r>
            <a:r>
              <a:rPr lang="en-US" sz="1200" dirty="0"/>
              <a:t> </a:t>
            </a:r>
            <a:r>
              <a:rPr lang="en-US" sz="1200" dirty="0" err="1"/>
              <a:t>hirarki</a:t>
            </a:r>
            <a:r>
              <a:rPr lang="en-US" sz="1200" dirty="0"/>
              <a:t> routing, </a:t>
            </a:r>
            <a:r>
              <a:rPr lang="en-US" sz="1200" dirty="0" err="1"/>
              <a:t>dengan</a:t>
            </a:r>
            <a:r>
              <a:rPr lang="en-US" sz="1200" dirty="0"/>
              <a:t> kata lain OSPF </a:t>
            </a:r>
            <a:r>
              <a:rPr lang="en-US" sz="1200" dirty="0" err="1"/>
              <a:t>mampu</a:t>
            </a:r>
            <a:r>
              <a:rPr lang="en-US" sz="1200" dirty="0"/>
              <a:t> </a:t>
            </a:r>
            <a:r>
              <a:rPr lang="en-US" sz="1200" dirty="0" err="1"/>
              <a:t>membagi-bagi</a:t>
            </a:r>
            <a:r>
              <a:rPr lang="en-US" sz="1200" dirty="0"/>
              <a:t> </a:t>
            </a:r>
            <a:r>
              <a:rPr lang="en-US" sz="1200" dirty="0" err="1"/>
              <a:t>jaringan</a:t>
            </a:r>
            <a:r>
              <a:rPr lang="en-US" sz="1200" dirty="0"/>
              <a:t> </a:t>
            </a:r>
            <a:r>
              <a:rPr lang="en-US" sz="1200" dirty="0" err="1"/>
              <a:t>menjadi</a:t>
            </a:r>
            <a:r>
              <a:rPr lang="en-US" sz="1200" dirty="0"/>
              <a:t> </a:t>
            </a:r>
            <a:r>
              <a:rPr lang="en-US" sz="1200" dirty="0" err="1"/>
              <a:t>beberpa</a:t>
            </a:r>
            <a:r>
              <a:rPr lang="en-US" sz="1200" dirty="0"/>
              <a:t> </a:t>
            </a:r>
            <a:r>
              <a:rPr lang="en-US" sz="1200" dirty="0" err="1"/>
              <a:t>tingkatan</a:t>
            </a:r>
            <a:r>
              <a:rPr lang="en-US" sz="1200" dirty="0"/>
              <a:t>. </a:t>
            </a:r>
            <a:r>
              <a:rPr lang="en-US" sz="1200" dirty="0" err="1"/>
              <a:t>Tingakatan-tingkatan</a:t>
            </a:r>
            <a:r>
              <a:rPr lang="en-US" sz="1200" dirty="0"/>
              <a:t> </a:t>
            </a:r>
            <a:r>
              <a:rPr lang="en-US" sz="1200" dirty="0" err="1"/>
              <a:t>ini</a:t>
            </a:r>
            <a:r>
              <a:rPr lang="en-US" sz="1200" dirty="0"/>
              <a:t> </a:t>
            </a:r>
            <a:r>
              <a:rPr lang="en-US" sz="1200" dirty="0" err="1"/>
              <a:t>diwujudkan</a:t>
            </a:r>
            <a:r>
              <a:rPr lang="en-US" sz="1200" dirty="0"/>
              <a:t> </a:t>
            </a:r>
            <a:r>
              <a:rPr lang="en-US" sz="1200" dirty="0" err="1"/>
              <a:t>dengan</a:t>
            </a:r>
            <a:r>
              <a:rPr lang="en-US" sz="1200" dirty="0"/>
              <a:t> </a:t>
            </a:r>
            <a:r>
              <a:rPr lang="en-US" sz="1200" dirty="0" err="1"/>
              <a:t>menggunakan</a:t>
            </a:r>
            <a:r>
              <a:rPr lang="en-US" sz="1200" dirty="0"/>
              <a:t> </a:t>
            </a:r>
            <a:r>
              <a:rPr lang="en-US" sz="1200" dirty="0" err="1"/>
              <a:t>sistem</a:t>
            </a:r>
            <a:r>
              <a:rPr lang="en-US" sz="1200" dirty="0"/>
              <a:t> </a:t>
            </a:r>
            <a:r>
              <a:rPr lang="en-US" sz="1200" dirty="0" err="1"/>
              <a:t>pengelompokan</a:t>
            </a:r>
            <a:r>
              <a:rPr lang="en-US" sz="1200" dirty="0"/>
              <a:t> </a:t>
            </a:r>
            <a:r>
              <a:rPr lang="en-US" sz="1200" dirty="0" err="1"/>
              <a:t>yaitu</a:t>
            </a:r>
            <a:r>
              <a:rPr lang="en-US" sz="1200" dirty="0"/>
              <a:t> area.</a:t>
            </a:r>
          </a:p>
          <a:p>
            <a:pPr algn="just"/>
            <a:endParaRPr lang="en-US" sz="1600" dirty="0"/>
          </a:p>
          <a:p>
            <a:pPr algn="just"/>
            <a:r>
              <a:rPr lang="en-US" sz="1600" dirty="0"/>
              <a:t>OSPF </a:t>
            </a:r>
            <a:r>
              <a:rPr lang="en-US" sz="1600" dirty="0" err="1"/>
              <a:t>memiliki</a:t>
            </a:r>
            <a:r>
              <a:rPr lang="en-US" sz="1600" dirty="0"/>
              <a:t> </a:t>
            </a:r>
            <a:r>
              <a:rPr lang="en-US" sz="1600" dirty="0" err="1"/>
              <a:t>beberapa</a:t>
            </a:r>
            <a:r>
              <a:rPr lang="en-US" sz="1600" dirty="0"/>
              <a:t> </a:t>
            </a:r>
            <a:r>
              <a:rPr lang="en-US" sz="1600" dirty="0" err="1"/>
              <a:t>tipe</a:t>
            </a:r>
            <a:r>
              <a:rPr lang="en-US" sz="1600" dirty="0"/>
              <a:t> area </a:t>
            </a:r>
            <a:r>
              <a:rPr lang="en-US" sz="1600" dirty="0" smtClean="0"/>
              <a:t>:</a:t>
            </a:r>
            <a:endParaRPr lang="en-US" sz="1200" dirty="0"/>
          </a:p>
          <a:p>
            <a:pPr algn="just"/>
            <a:r>
              <a:rPr lang="en-US" sz="1200" b="1" dirty="0" err="1">
                <a:solidFill>
                  <a:srgbClr val="002060"/>
                </a:solidFill>
              </a:rPr>
              <a:t>Bakcbone</a:t>
            </a:r>
            <a:r>
              <a:rPr lang="en-US" sz="1200" b="1" dirty="0">
                <a:solidFill>
                  <a:srgbClr val="002060"/>
                </a:solidFill>
              </a:rPr>
              <a:t> - Area 0 (Area ID 0.0.0.0) </a:t>
            </a:r>
            <a:r>
              <a:rPr lang="en-US" sz="1200" b="1" dirty="0" smtClean="0">
                <a:solidFill>
                  <a:srgbClr val="002060"/>
                </a:solidFill>
              </a:rPr>
              <a:t>++</a:t>
            </a:r>
            <a:r>
              <a:rPr lang="en-US" sz="1200" dirty="0" smtClean="0"/>
              <a:t>-&gt; </a:t>
            </a:r>
            <a:r>
              <a:rPr lang="en-US" sz="1200" dirty="0" err="1"/>
              <a:t>Bertanggung</a:t>
            </a:r>
            <a:r>
              <a:rPr lang="en-US" sz="1200" dirty="0"/>
              <a:t> </a:t>
            </a:r>
            <a:r>
              <a:rPr lang="en-US" sz="1200" dirty="0" err="1"/>
              <a:t>jawab</a:t>
            </a:r>
            <a:r>
              <a:rPr lang="en-US" sz="1200" dirty="0"/>
              <a:t> </a:t>
            </a:r>
            <a:r>
              <a:rPr lang="en-US" sz="1200" dirty="0" err="1"/>
              <a:t>mendistribusikan</a:t>
            </a:r>
            <a:r>
              <a:rPr lang="en-US" sz="1200" dirty="0"/>
              <a:t> </a:t>
            </a:r>
            <a:r>
              <a:rPr lang="en-US" sz="1200" dirty="0" err="1"/>
              <a:t>informasi</a:t>
            </a:r>
            <a:r>
              <a:rPr lang="en-US" sz="1200" dirty="0"/>
              <a:t> routing </a:t>
            </a:r>
            <a:r>
              <a:rPr lang="en-US" sz="1200" dirty="0" err="1"/>
              <a:t>antara</a:t>
            </a:r>
            <a:r>
              <a:rPr lang="en-US" sz="1200" dirty="0"/>
              <a:t> non-backbone area. </a:t>
            </a:r>
            <a:r>
              <a:rPr lang="en-US" sz="1200" dirty="0" err="1"/>
              <a:t>Semua</a:t>
            </a:r>
            <a:r>
              <a:rPr lang="en-US" sz="1200" dirty="0"/>
              <a:t> sub-Area HARUS </a:t>
            </a:r>
            <a:r>
              <a:rPr lang="en-US" sz="1200" dirty="0" err="1"/>
              <a:t>terhubung</a:t>
            </a:r>
            <a:r>
              <a:rPr lang="en-US" sz="1200" dirty="0"/>
              <a:t> </a:t>
            </a:r>
            <a:r>
              <a:rPr lang="en-US" sz="1200" dirty="0" err="1"/>
              <a:t>dengan</a:t>
            </a:r>
            <a:r>
              <a:rPr lang="en-US" sz="1200" dirty="0"/>
              <a:t> backbone </a:t>
            </a:r>
            <a:r>
              <a:rPr lang="en-US" sz="1200" dirty="0" err="1"/>
              <a:t>secara</a:t>
            </a:r>
            <a:r>
              <a:rPr lang="en-US" sz="1200" dirty="0"/>
              <a:t> </a:t>
            </a:r>
            <a:r>
              <a:rPr lang="en-US" sz="1200" dirty="0" err="1"/>
              <a:t>logikal</a:t>
            </a:r>
            <a:r>
              <a:rPr lang="en-US" sz="1200" dirty="0"/>
              <a:t>.</a:t>
            </a:r>
          </a:p>
          <a:p>
            <a:pPr algn="just"/>
            <a:r>
              <a:rPr lang="en-US" sz="1200" b="1" dirty="0" err="1">
                <a:solidFill>
                  <a:srgbClr val="002060"/>
                </a:solidFill>
              </a:rPr>
              <a:t>Standart</a:t>
            </a:r>
            <a:r>
              <a:rPr lang="en-US" sz="1200" b="1" dirty="0">
                <a:solidFill>
                  <a:srgbClr val="002060"/>
                </a:solidFill>
              </a:rPr>
              <a:t>/Default Area </a:t>
            </a:r>
            <a:r>
              <a:rPr lang="en-US" sz="1200" b="1" dirty="0" smtClean="0">
                <a:solidFill>
                  <a:srgbClr val="002060"/>
                </a:solidFill>
              </a:rPr>
              <a:t>++</a:t>
            </a:r>
            <a:r>
              <a:rPr lang="en-US" sz="1200" dirty="0" smtClean="0"/>
              <a:t>-&gt; </a:t>
            </a:r>
            <a:r>
              <a:rPr lang="en-US" sz="1200" dirty="0" err="1"/>
              <a:t>Merupakan</a:t>
            </a:r>
            <a:r>
              <a:rPr lang="en-US" sz="1200" dirty="0"/>
              <a:t> sub-Area </a:t>
            </a:r>
            <a:r>
              <a:rPr lang="en-US" sz="1200" dirty="0" err="1"/>
              <a:t>dari</a:t>
            </a:r>
            <a:r>
              <a:rPr lang="en-US" sz="1200" dirty="0"/>
              <a:t> Area 0. Area </a:t>
            </a:r>
            <a:r>
              <a:rPr lang="en-US" sz="1200" dirty="0" err="1"/>
              <a:t>ini</a:t>
            </a:r>
            <a:r>
              <a:rPr lang="en-US" sz="1200" dirty="0"/>
              <a:t> </a:t>
            </a:r>
            <a:r>
              <a:rPr lang="en-US" sz="1200" dirty="0" err="1"/>
              <a:t>menerima</a:t>
            </a:r>
            <a:r>
              <a:rPr lang="en-US" sz="1200" dirty="0"/>
              <a:t> LSA intra-area </a:t>
            </a:r>
            <a:r>
              <a:rPr lang="en-US" sz="1200" dirty="0" err="1"/>
              <a:t>dan</a:t>
            </a:r>
            <a:r>
              <a:rPr lang="en-US" sz="1200" dirty="0"/>
              <a:t> inter-area </a:t>
            </a:r>
            <a:r>
              <a:rPr lang="en-US" sz="1200" dirty="0" err="1"/>
              <a:t>dar</a:t>
            </a:r>
            <a:r>
              <a:rPr lang="en-US" sz="1200" dirty="0"/>
              <a:t> ABR yang </a:t>
            </a:r>
            <a:r>
              <a:rPr lang="en-US" sz="1200" dirty="0" err="1"/>
              <a:t>terhubung</a:t>
            </a:r>
            <a:r>
              <a:rPr lang="en-US" sz="1200" dirty="0"/>
              <a:t> </a:t>
            </a:r>
            <a:r>
              <a:rPr lang="en-US" sz="1200" dirty="0" err="1"/>
              <a:t>dengan</a:t>
            </a:r>
            <a:r>
              <a:rPr lang="en-US" sz="1200" dirty="0"/>
              <a:t> area 0 (Backbone area).</a:t>
            </a:r>
          </a:p>
          <a:p>
            <a:pPr algn="just"/>
            <a:r>
              <a:rPr lang="en-US" sz="1200" b="1" dirty="0">
                <a:solidFill>
                  <a:srgbClr val="002060"/>
                </a:solidFill>
              </a:rPr>
              <a:t>Stub Area </a:t>
            </a:r>
            <a:r>
              <a:rPr lang="en-US" sz="1200" b="1" dirty="0" smtClean="0">
                <a:solidFill>
                  <a:srgbClr val="002060"/>
                </a:solidFill>
              </a:rPr>
              <a:t>++</a:t>
            </a:r>
            <a:r>
              <a:rPr lang="en-US" sz="1200" dirty="0" smtClean="0"/>
              <a:t>-&gt; </a:t>
            </a:r>
            <a:r>
              <a:rPr lang="en-US" sz="1200" dirty="0"/>
              <a:t>Area yang paling "</a:t>
            </a:r>
            <a:r>
              <a:rPr lang="en-US" sz="1200" dirty="0" err="1"/>
              <a:t>ujung</a:t>
            </a:r>
            <a:r>
              <a:rPr lang="en-US" sz="1200" dirty="0"/>
              <a:t>". Area </a:t>
            </a:r>
            <a:r>
              <a:rPr lang="en-US" sz="1200" dirty="0" err="1"/>
              <a:t>ini</a:t>
            </a:r>
            <a:r>
              <a:rPr lang="en-US" sz="1200" dirty="0"/>
              <a:t> </a:t>
            </a:r>
            <a:r>
              <a:rPr lang="en-US" sz="1200" dirty="0" err="1"/>
              <a:t>tidak</a:t>
            </a:r>
            <a:r>
              <a:rPr lang="en-US" sz="1200" dirty="0"/>
              <a:t> </a:t>
            </a:r>
            <a:r>
              <a:rPr lang="en-US" sz="1200" dirty="0" err="1"/>
              <a:t>menerima</a:t>
            </a:r>
            <a:r>
              <a:rPr lang="en-US" sz="1200" dirty="0"/>
              <a:t> advertise external route (</a:t>
            </a:r>
            <a:r>
              <a:rPr lang="en-US" sz="1200" dirty="0" err="1"/>
              <a:t>digantikan</a:t>
            </a:r>
            <a:r>
              <a:rPr lang="en-US" sz="1200" dirty="0"/>
              <a:t> default area).</a:t>
            </a:r>
          </a:p>
          <a:p>
            <a:pPr algn="just"/>
            <a:r>
              <a:rPr lang="en-US" sz="1200" b="1" dirty="0">
                <a:solidFill>
                  <a:srgbClr val="002060"/>
                </a:solidFill>
              </a:rPr>
              <a:t>Not So Stubby Area </a:t>
            </a:r>
            <a:r>
              <a:rPr lang="en-US" sz="1200" b="1" dirty="0" smtClean="0">
                <a:solidFill>
                  <a:srgbClr val="002060"/>
                </a:solidFill>
              </a:rPr>
              <a:t>++</a:t>
            </a:r>
            <a:r>
              <a:rPr lang="en-US" sz="1200" dirty="0" smtClean="0"/>
              <a:t>-&gt; </a:t>
            </a:r>
            <a:r>
              <a:rPr lang="en-US" sz="1200" dirty="0"/>
              <a:t>Stub Area yang </a:t>
            </a:r>
            <a:r>
              <a:rPr lang="en-US" sz="1200" dirty="0" err="1"/>
              <a:t>tidak</a:t>
            </a:r>
            <a:r>
              <a:rPr lang="en-US" sz="1200" dirty="0"/>
              <a:t> </a:t>
            </a:r>
            <a:r>
              <a:rPr lang="en-US" sz="1200" dirty="0" err="1"/>
              <a:t>menerima</a:t>
            </a:r>
            <a:r>
              <a:rPr lang="en-US" sz="1200" dirty="0"/>
              <a:t> external route (</a:t>
            </a:r>
            <a:r>
              <a:rPr lang="en-US" sz="1200" dirty="0" err="1"/>
              <a:t>digantikan</a:t>
            </a:r>
            <a:r>
              <a:rPr lang="en-US" sz="1200" dirty="0"/>
              <a:t> default route) </a:t>
            </a:r>
            <a:r>
              <a:rPr lang="en-US" sz="1200" dirty="0" err="1"/>
              <a:t>dari</a:t>
            </a:r>
            <a:r>
              <a:rPr lang="en-US" sz="1200" dirty="0"/>
              <a:t> area lain </a:t>
            </a:r>
            <a:r>
              <a:rPr lang="en-US" sz="1200" dirty="0" err="1"/>
              <a:t>tetapi</a:t>
            </a:r>
            <a:r>
              <a:rPr lang="en-US" sz="1200" dirty="0"/>
              <a:t> </a:t>
            </a:r>
            <a:r>
              <a:rPr lang="en-US" sz="1200" dirty="0" err="1"/>
              <a:t>masih</a:t>
            </a:r>
            <a:r>
              <a:rPr lang="en-US" sz="1200" dirty="0"/>
              <a:t> </a:t>
            </a:r>
            <a:r>
              <a:rPr lang="en-US" sz="1200" dirty="0" err="1"/>
              <a:t>bisa</a:t>
            </a:r>
            <a:r>
              <a:rPr lang="en-US" sz="1200" dirty="0"/>
              <a:t> </a:t>
            </a:r>
            <a:r>
              <a:rPr lang="en-US" sz="1200" dirty="0" err="1"/>
              <a:t>mendapatkan</a:t>
            </a:r>
            <a:r>
              <a:rPr lang="en-US" sz="1200" dirty="0"/>
              <a:t> external route </a:t>
            </a:r>
            <a:r>
              <a:rPr lang="en-US" sz="1200" dirty="0" err="1"/>
              <a:t>dari</a:t>
            </a:r>
            <a:r>
              <a:rPr lang="en-US" sz="1200" dirty="0"/>
              <a:t> router yang </a:t>
            </a:r>
            <a:r>
              <a:rPr lang="en-US" sz="1200" dirty="0" err="1"/>
              <a:t>masih</a:t>
            </a:r>
            <a:r>
              <a:rPr lang="en-US" sz="1200" dirty="0"/>
              <a:t> </a:t>
            </a:r>
            <a:r>
              <a:rPr lang="en-US" sz="1200" dirty="0" err="1"/>
              <a:t>dalam</a:t>
            </a:r>
            <a:r>
              <a:rPr lang="en-US" sz="1200" dirty="0"/>
              <a:t> 1 area.</a:t>
            </a:r>
            <a:endParaRPr lang="en-US" sz="1200" dirty="0" smtClean="0"/>
          </a:p>
          <a:p>
            <a:pPr algn="just"/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1803351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274759" y="854052"/>
            <a:ext cx="4898929" cy="35702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600" dirty="0" smtClean="0"/>
              <a:t>VPN</a:t>
            </a:r>
          </a:p>
          <a:p>
            <a:pPr algn="just"/>
            <a:r>
              <a:rPr lang="en-US" sz="1400" dirty="0"/>
              <a:t>Virtual Private Network </a:t>
            </a:r>
            <a:r>
              <a:rPr lang="en-US" sz="1400" dirty="0" err="1"/>
              <a:t>merupakan</a:t>
            </a:r>
            <a:r>
              <a:rPr lang="en-US" sz="1400" dirty="0"/>
              <a:t> </a:t>
            </a:r>
            <a:r>
              <a:rPr lang="en-US" sz="1400" dirty="0" err="1"/>
              <a:t>sebuah</a:t>
            </a:r>
            <a:r>
              <a:rPr lang="en-US" sz="1400" dirty="0"/>
              <a:t> </a:t>
            </a:r>
            <a:r>
              <a:rPr lang="en-US" sz="1400" dirty="0" err="1"/>
              <a:t>jaringan</a:t>
            </a:r>
            <a:r>
              <a:rPr lang="en-US" sz="1400" dirty="0"/>
              <a:t> yang </a:t>
            </a:r>
            <a:r>
              <a:rPr lang="en-US" sz="1400" dirty="0" err="1" smtClean="0"/>
              <a:t>bersifat</a:t>
            </a:r>
            <a:r>
              <a:rPr lang="en-US" sz="1400" dirty="0" smtClean="0"/>
              <a:t> private </a:t>
            </a:r>
            <a:r>
              <a:rPr lang="en-US" sz="1400" dirty="0" err="1"/>
              <a:t>dimana</a:t>
            </a:r>
            <a:r>
              <a:rPr lang="en-US" sz="1400" dirty="0"/>
              <a:t> </a:t>
            </a:r>
            <a:r>
              <a:rPr lang="en-US" sz="1400" dirty="0" err="1"/>
              <a:t>jaringan</a:t>
            </a:r>
            <a:r>
              <a:rPr lang="en-US" sz="1400" dirty="0"/>
              <a:t> </a:t>
            </a:r>
            <a:r>
              <a:rPr lang="en-US" sz="1400" dirty="0" err="1"/>
              <a:t>tersebut</a:t>
            </a:r>
            <a:r>
              <a:rPr lang="en-US" sz="1400" dirty="0"/>
              <a:t> </a:t>
            </a:r>
            <a:r>
              <a:rPr lang="en-US" sz="1400" dirty="0" err="1"/>
              <a:t>dibangun</a:t>
            </a:r>
            <a:r>
              <a:rPr lang="en-US" sz="1400" dirty="0"/>
              <a:t> </a:t>
            </a:r>
            <a:r>
              <a:rPr lang="en-US" sz="1400" dirty="0" err="1"/>
              <a:t>menggunakan</a:t>
            </a:r>
            <a:r>
              <a:rPr lang="en-US" sz="1400" dirty="0"/>
              <a:t> </a:t>
            </a:r>
            <a:r>
              <a:rPr lang="en-US" sz="1400" dirty="0" err="1" smtClean="0"/>
              <a:t>jaringan</a:t>
            </a:r>
            <a:r>
              <a:rPr lang="en-US" sz="1400" dirty="0" smtClean="0"/>
              <a:t> </a:t>
            </a:r>
            <a:r>
              <a:rPr lang="en-US" sz="1400" dirty="0" err="1" smtClean="0"/>
              <a:t>publik</a:t>
            </a:r>
            <a:r>
              <a:rPr lang="en-US" sz="1400" dirty="0"/>
              <a:t>. </a:t>
            </a:r>
            <a:r>
              <a:rPr lang="en-US" sz="1400" dirty="0" err="1"/>
              <a:t>Secara</a:t>
            </a:r>
            <a:r>
              <a:rPr lang="en-US" sz="1400" dirty="0"/>
              <a:t> fundamental </a:t>
            </a:r>
            <a:r>
              <a:rPr lang="en-US" sz="1400" dirty="0" err="1"/>
              <a:t>penerapan</a:t>
            </a:r>
            <a:r>
              <a:rPr lang="en-US" sz="1400" dirty="0"/>
              <a:t> VPN </a:t>
            </a:r>
            <a:r>
              <a:rPr lang="en-US" sz="1400" dirty="0" err="1"/>
              <a:t>yaitu</a:t>
            </a:r>
            <a:r>
              <a:rPr lang="en-US" sz="1400" dirty="0"/>
              <a:t> </a:t>
            </a:r>
            <a:r>
              <a:rPr lang="en-US" sz="1400" dirty="0" err="1"/>
              <a:t>untuk</a:t>
            </a:r>
            <a:r>
              <a:rPr lang="en-US" sz="1400" dirty="0"/>
              <a:t> </a:t>
            </a:r>
            <a:r>
              <a:rPr lang="en-US" sz="1400" dirty="0" err="1" smtClean="0"/>
              <a:t>membentuk</a:t>
            </a:r>
            <a:r>
              <a:rPr lang="en-US" sz="1400" dirty="0" smtClean="0"/>
              <a:t> </a:t>
            </a:r>
            <a:r>
              <a:rPr lang="en-US" sz="1400" dirty="0" err="1" smtClean="0"/>
              <a:t>sebuah</a:t>
            </a:r>
            <a:r>
              <a:rPr lang="en-US" sz="1400" dirty="0" smtClean="0"/>
              <a:t> </a:t>
            </a:r>
            <a:r>
              <a:rPr lang="en-US" sz="1400" dirty="0" err="1"/>
              <a:t>jaringan</a:t>
            </a:r>
            <a:r>
              <a:rPr lang="en-US" sz="1400" dirty="0"/>
              <a:t> yang </a:t>
            </a:r>
            <a:r>
              <a:rPr lang="en-US" sz="1400" dirty="0" err="1"/>
              <a:t>bersifat</a:t>
            </a:r>
            <a:r>
              <a:rPr lang="en-US" sz="1400" dirty="0"/>
              <a:t> private </a:t>
            </a:r>
            <a:r>
              <a:rPr lang="en-US" sz="1400" dirty="0" err="1"/>
              <a:t>dengan</a:t>
            </a:r>
            <a:r>
              <a:rPr lang="en-US" sz="1400" dirty="0"/>
              <a:t> </a:t>
            </a:r>
            <a:r>
              <a:rPr lang="en-US" sz="1400" dirty="0" err="1"/>
              <a:t>jaringan</a:t>
            </a:r>
            <a:r>
              <a:rPr lang="en-US" sz="1400" dirty="0"/>
              <a:t> yang </a:t>
            </a:r>
            <a:r>
              <a:rPr lang="en-US" sz="1400" dirty="0" err="1" smtClean="0"/>
              <a:t>bersifat</a:t>
            </a:r>
            <a:r>
              <a:rPr lang="en-US" sz="1400" dirty="0" smtClean="0"/>
              <a:t> </a:t>
            </a:r>
            <a:r>
              <a:rPr lang="en-US" sz="1400" dirty="0" err="1" smtClean="0"/>
              <a:t>publik</a:t>
            </a:r>
            <a:r>
              <a:rPr lang="en-US" sz="1400" dirty="0" smtClean="0"/>
              <a:t> </a:t>
            </a:r>
            <a:r>
              <a:rPr lang="en-US" sz="1400" dirty="0" err="1"/>
              <a:t>untuk</a:t>
            </a:r>
            <a:r>
              <a:rPr lang="en-US" sz="1400" dirty="0"/>
              <a:t> </a:t>
            </a:r>
            <a:r>
              <a:rPr lang="en-US" sz="1400" dirty="0" err="1"/>
              <a:t>menghubungkan</a:t>
            </a:r>
            <a:r>
              <a:rPr lang="en-US" sz="1400" dirty="0"/>
              <a:t> situs </a:t>
            </a:r>
            <a:r>
              <a:rPr lang="en-US" sz="1400" dirty="0" err="1"/>
              <a:t>atau</a:t>
            </a:r>
            <a:r>
              <a:rPr lang="en-US" sz="1400" dirty="0"/>
              <a:t> user remote. </a:t>
            </a:r>
            <a:r>
              <a:rPr lang="en-US" sz="1400" dirty="0" err="1" smtClean="0"/>
              <a:t>Dalam</a:t>
            </a:r>
            <a:r>
              <a:rPr lang="en-US" sz="1400" dirty="0" smtClean="0"/>
              <a:t> </a:t>
            </a:r>
            <a:r>
              <a:rPr lang="en-US" sz="1400" dirty="0" err="1" smtClean="0"/>
              <a:t>performansinya</a:t>
            </a:r>
            <a:r>
              <a:rPr lang="en-US" sz="1400" dirty="0" smtClean="0"/>
              <a:t> </a:t>
            </a:r>
            <a:r>
              <a:rPr lang="en-US" sz="1400" dirty="0"/>
              <a:t>VPN </a:t>
            </a:r>
            <a:r>
              <a:rPr lang="en-US" sz="1400" dirty="0" err="1"/>
              <a:t>menggunakan</a:t>
            </a:r>
            <a:r>
              <a:rPr lang="en-US" sz="1400" dirty="0"/>
              <a:t> </a:t>
            </a:r>
            <a:r>
              <a:rPr lang="en-US" sz="1400" dirty="0" err="1"/>
              <a:t>koneksi</a:t>
            </a:r>
            <a:r>
              <a:rPr lang="en-US" sz="1400" dirty="0"/>
              <a:t> virtual yang </a:t>
            </a:r>
            <a:r>
              <a:rPr lang="en-US" sz="1400" dirty="0" err="1" smtClean="0"/>
              <a:t>dirutekan</a:t>
            </a:r>
            <a:r>
              <a:rPr lang="en-US" sz="1400" dirty="0" smtClean="0"/>
              <a:t> </a:t>
            </a:r>
            <a:r>
              <a:rPr lang="en-US" sz="1400" dirty="0" err="1" smtClean="0"/>
              <a:t>melintasi</a:t>
            </a:r>
            <a:r>
              <a:rPr lang="en-US" sz="1400" dirty="0" smtClean="0"/>
              <a:t> </a:t>
            </a:r>
            <a:r>
              <a:rPr lang="en-US" sz="1400" dirty="0"/>
              <a:t>internet </a:t>
            </a:r>
            <a:r>
              <a:rPr lang="en-US" sz="1400" dirty="0" err="1"/>
              <a:t>pada</a:t>
            </a:r>
            <a:r>
              <a:rPr lang="en-US" sz="1400" dirty="0"/>
              <a:t> </a:t>
            </a:r>
            <a:r>
              <a:rPr lang="en-US" sz="1400" dirty="0" err="1"/>
              <a:t>jaringan</a:t>
            </a:r>
            <a:r>
              <a:rPr lang="en-US" sz="1400" dirty="0"/>
              <a:t> private [4]</a:t>
            </a:r>
          </a:p>
          <a:p>
            <a:pPr algn="just"/>
            <a:r>
              <a:rPr lang="en-US" sz="1400" dirty="0"/>
              <a:t>.</a:t>
            </a:r>
          </a:p>
          <a:p>
            <a:pPr algn="just"/>
            <a:r>
              <a:rPr lang="en-US" sz="1400" dirty="0"/>
              <a:t> VPN </a:t>
            </a:r>
            <a:r>
              <a:rPr lang="en-US" sz="1400" dirty="0" err="1"/>
              <a:t>merupakan</a:t>
            </a:r>
            <a:r>
              <a:rPr lang="en-US" sz="1400" dirty="0"/>
              <a:t> </a:t>
            </a:r>
            <a:r>
              <a:rPr lang="en-US" sz="1400" dirty="0" err="1"/>
              <a:t>salah</a:t>
            </a:r>
            <a:r>
              <a:rPr lang="en-US" sz="1400" dirty="0"/>
              <a:t> </a:t>
            </a:r>
            <a:r>
              <a:rPr lang="en-US" sz="1400" dirty="0" err="1"/>
              <a:t>sutu</a:t>
            </a:r>
            <a:r>
              <a:rPr lang="en-US" sz="1400" dirty="0"/>
              <a:t> </a:t>
            </a:r>
            <a:r>
              <a:rPr lang="en-US" sz="1400" dirty="0" err="1"/>
              <a:t>cara</a:t>
            </a:r>
            <a:r>
              <a:rPr lang="en-US" sz="1400" dirty="0"/>
              <a:t> </a:t>
            </a:r>
            <a:r>
              <a:rPr lang="en-US" sz="1400" dirty="0" err="1"/>
              <a:t>untuk</a:t>
            </a:r>
            <a:r>
              <a:rPr lang="en-US" sz="1400" dirty="0"/>
              <a:t> </a:t>
            </a:r>
            <a:r>
              <a:rPr lang="en-US" sz="1400" dirty="0" err="1"/>
              <a:t>membuat</a:t>
            </a:r>
            <a:r>
              <a:rPr lang="en-US" sz="1400" dirty="0"/>
              <a:t> </a:t>
            </a:r>
            <a:r>
              <a:rPr lang="en-US" sz="1400" dirty="0" err="1"/>
              <a:t>sebuah</a:t>
            </a:r>
            <a:r>
              <a:rPr lang="en-US" sz="1400" dirty="0"/>
              <a:t> </a:t>
            </a:r>
            <a:r>
              <a:rPr lang="en-US" sz="1400" dirty="0" err="1" smtClean="0"/>
              <a:t>jaringan</a:t>
            </a:r>
            <a:r>
              <a:rPr lang="en-US" sz="1400" dirty="0" smtClean="0"/>
              <a:t> yang </a:t>
            </a:r>
            <a:r>
              <a:rPr lang="en-US" sz="1400" dirty="0" err="1"/>
              <a:t>bersifat</a:t>
            </a:r>
            <a:r>
              <a:rPr lang="en-US" sz="1400" dirty="0"/>
              <a:t> private </a:t>
            </a:r>
            <a:r>
              <a:rPr lang="en-US" sz="1400" dirty="0" err="1"/>
              <a:t>dan</a:t>
            </a:r>
            <a:r>
              <a:rPr lang="en-US" sz="1400" dirty="0"/>
              <a:t> </a:t>
            </a:r>
            <a:r>
              <a:rPr lang="en-US" sz="1400" dirty="0" err="1"/>
              <a:t>memiliki</a:t>
            </a:r>
            <a:r>
              <a:rPr lang="en-US" sz="1400" dirty="0"/>
              <a:t> </a:t>
            </a:r>
            <a:r>
              <a:rPr lang="en-US" sz="1400" dirty="0" err="1"/>
              <a:t>tingkat</a:t>
            </a:r>
            <a:r>
              <a:rPr lang="en-US" sz="1400" dirty="0"/>
              <a:t> </a:t>
            </a:r>
            <a:r>
              <a:rPr lang="en-US" sz="1400" dirty="0" err="1"/>
              <a:t>keamanan</a:t>
            </a:r>
            <a:r>
              <a:rPr lang="en-US" sz="1400" dirty="0"/>
              <a:t> </a:t>
            </a:r>
            <a:r>
              <a:rPr lang="en-US" sz="1400" dirty="0" err="1"/>
              <a:t>tinggi</a:t>
            </a:r>
            <a:r>
              <a:rPr lang="en-US" sz="1400" dirty="0"/>
              <a:t> </a:t>
            </a:r>
            <a:r>
              <a:rPr lang="en-US" sz="1400" dirty="0" err="1" smtClean="0"/>
              <a:t>dengan</a:t>
            </a:r>
            <a:r>
              <a:rPr lang="en-US" sz="1400" dirty="0" smtClean="0"/>
              <a:t> </a:t>
            </a:r>
            <a:r>
              <a:rPr lang="en-US" sz="1400" dirty="0" err="1" smtClean="0"/>
              <a:t>menggunakan</a:t>
            </a:r>
            <a:r>
              <a:rPr lang="en-US" sz="1400" dirty="0" smtClean="0"/>
              <a:t> </a:t>
            </a:r>
            <a:r>
              <a:rPr lang="en-US" sz="1400" dirty="0" err="1"/>
              <a:t>jaringan</a:t>
            </a:r>
            <a:r>
              <a:rPr lang="en-US" sz="1400" dirty="0"/>
              <a:t> </a:t>
            </a:r>
            <a:r>
              <a:rPr lang="en-US" sz="1400" dirty="0" err="1"/>
              <a:t>publik</a:t>
            </a:r>
            <a:r>
              <a:rPr lang="en-US" sz="1400" dirty="0"/>
              <a:t> </a:t>
            </a:r>
            <a:r>
              <a:rPr lang="en-US" sz="1400" dirty="0" err="1"/>
              <a:t>misalnya</a:t>
            </a:r>
            <a:r>
              <a:rPr lang="en-US" sz="1400" dirty="0"/>
              <a:t> internet </a:t>
            </a:r>
            <a:r>
              <a:rPr lang="en-US" sz="1400" dirty="0" err="1" smtClean="0"/>
              <a:t>seperti</a:t>
            </a:r>
            <a:r>
              <a:rPr lang="en-US" sz="1400" dirty="0" smtClean="0"/>
              <a:t>. </a:t>
            </a:r>
            <a:r>
              <a:rPr lang="en-US" sz="1400" dirty="0"/>
              <a:t>VPN </a:t>
            </a:r>
            <a:r>
              <a:rPr lang="en-US" sz="1400" dirty="0" err="1"/>
              <a:t>mampu</a:t>
            </a:r>
            <a:r>
              <a:rPr lang="en-US" sz="1400" dirty="0"/>
              <a:t> </a:t>
            </a:r>
            <a:r>
              <a:rPr lang="en-US" sz="1400" dirty="0" err="1"/>
              <a:t>mengirim</a:t>
            </a:r>
            <a:r>
              <a:rPr lang="en-US" sz="1400" dirty="0"/>
              <a:t> data </a:t>
            </a:r>
            <a:r>
              <a:rPr lang="en-US" sz="1400" dirty="0" err="1"/>
              <a:t>antara</a:t>
            </a:r>
            <a:r>
              <a:rPr lang="en-US" sz="1400" dirty="0"/>
              <a:t> </a:t>
            </a:r>
            <a:r>
              <a:rPr lang="en-US" sz="1400" dirty="0" err="1"/>
              <a:t>dua</a:t>
            </a:r>
            <a:r>
              <a:rPr lang="en-US" sz="1400" dirty="0"/>
              <a:t> client </a:t>
            </a:r>
            <a:r>
              <a:rPr lang="en-US" sz="1400" dirty="0" smtClean="0"/>
              <a:t>yang </a:t>
            </a:r>
            <a:r>
              <a:rPr lang="en-US" sz="1400" dirty="0" err="1" smtClean="0"/>
              <a:t>melewati</a:t>
            </a:r>
            <a:r>
              <a:rPr lang="en-US" sz="1400" dirty="0" smtClean="0"/>
              <a:t> </a:t>
            </a:r>
            <a:r>
              <a:rPr lang="en-US" sz="1400" dirty="0" err="1"/>
              <a:t>jaringan</a:t>
            </a:r>
            <a:r>
              <a:rPr lang="en-US" sz="1400" dirty="0"/>
              <a:t> </a:t>
            </a:r>
            <a:r>
              <a:rPr lang="en-US" sz="1400" dirty="0" err="1"/>
              <a:t>publik</a:t>
            </a:r>
            <a:r>
              <a:rPr lang="en-US" sz="1400" dirty="0"/>
              <a:t> </a:t>
            </a:r>
            <a:r>
              <a:rPr lang="en-US" sz="1400" dirty="0" err="1"/>
              <a:t>namun</a:t>
            </a:r>
            <a:r>
              <a:rPr lang="en-US" sz="1400" dirty="0"/>
              <a:t> </a:t>
            </a:r>
            <a:r>
              <a:rPr lang="en-US" sz="1400" dirty="0" err="1"/>
              <a:t>seolah-olah</a:t>
            </a:r>
            <a:r>
              <a:rPr lang="en-US" sz="1400" dirty="0"/>
              <a:t> </a:t>
            </a:r>
            <a:r>
              <a:rPr lang="en-US" sz="1400" dirty="0" err="1"/>
              <a:t>terhubung</a:t>
            </a:r>
            <a:r>
              <a:rPr lang="en-US" sz="1400" dirty="0"/>
              <a:t> </a:t>
            </a:r>
            <a:r>
              <a:rPr lang="en-US" sz="1400" dirty="0" err="1"/>
              <a:t>secara</a:t>
            </a:r>
            <a:r>
              <a:rPr lang="en-US" sz="1400" dirty="0"/>
              <a:t> point </a:t>
            </a:r>
            <a:r>
              <a:rPr lang="en-US" sz="1400" dirty="0" smtClean="0"/>
              <a:t>to point </a:t>
            </a:r>
            <a:r>
              <a:rPr lang="en-US" sz="1400" dirty="0"/>
              <a:t>(private). </a:t>
            </a:r>
            <a:endParaRPr lang="en-US" sz="1400" dirty="0"/>
          </a:p>
        </p:txBody>
      </p:sp>
      <p:sp>
        <p:nvSpPr>
          <p:cNvPr id="4" name="Rectangle 3"/>
          <p:cNvSpPr/>
          <p:nvPr/>
        </p:nvSpPr>
        <p:spPr>
          <a:xfrm>
            <a:off x="8143456" y="4423"/>
            <a:ext cx="415754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chemeClr val="bg2">
                    <a:lumMod val="50000"/>
                  </a:schemeClr>
                </a:solidFill>
              </a:rPr>
              <a:t>MPLS </a:t>
            </a:r>
            <a:r>
              <a:rPr lang="en-US" sz="2800" dirty="0" err="1">
                <a:solidFill>
                  <a:schemeClr val="bg2">
                    <a:lumMod val="50000"/>
                  </a:schemeClr>
                </a:solidFill>
              </a:rPr>
              <a:t>pada</a:t>
            </a:r>
            <a:r>
              <a:rPr lang="en-US" sz="28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sz="2800" dirty="0" err="1" smtClean="0">
                <a:solidFill>
                  <a:schemeClr val="bg2">
                    <a:lumMod val="50000"/>
                  </a:schemeClr>
                </a:solidFill>
              </a:rPr>
              <a:t>MikroTik</a:t>
            </a:r>
            <a:r>
              <a:rPr lang="en-US" sz="2800" dirty="0" smtClean="0">
                <a:solidFill>
                  <a:schemeClr val="bg2">
                    <a:lumMod val="50000"/>
                  </a:schemeClr>
                </a:solidFill>
              </a:rPr>
              <a:t>(</a:t>
            </a:r>
            <a:r>
              <a:rPr lang="en-US" sz="2800" dirty="0" err="1" smtClean="0">
                <a:solidFill>
                  <a:schemeClr val="bg2">
                    <a:lumMod val="50000"/>
                  </a:schemeClr>
                </a:solidFill>
              </a:rPr>
              <a:t>Con’t</a:t>
            </a:r>
            <a:r>
              <a:rPr lang="en-US" sz="2800" dirty="0" smtClean="0">
                <a:solidFill>
                  <a:schemeClr val="bg2">
                    <a:lumMod val="50000"/>
                  </a:schemeClr>
                </a:solidFill>
              </a:rPr>
              <a:t>)</a:t>
            </a:r>
            <a:endParaRPr lang="en-US" sz="28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893443" y="330832"/>
            <a:ext cx="80663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 smtClean="0">
                <a:solidFill>
                  <a:schemeClr val="bg2">
                    <a:lumMod val="50000"/>
                  </a:schemeClr>
                </a:solidFill>
              </a:rPr>
              <a:t>VPN</a:t>
            </a:r>
            <a:endParaRPr lang="en-US" sz="2800" dirty="0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4562" y="4762499"/>
            <a:ext cx="2486025" cy="1647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20602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274759" y="854052"/>
            <a:ext cx="4898929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600" dirty="0" smtClean="0"/>
              <a:t>Parameter MPLS VPN</a:t>
            </a:r>
          </a:p>
          <a:p>
            <a:pPr algn="just"/>
            <a:endParaRPr lang="en-US" sz="1600" dirty="0"/>
          </a:p>
          <a:p>
            <a:pPr algn="just"/>
            <a:r>
              <a:rPr lang="en-US" sz="1400" dirty="0"/>
              <a:t> </a:t>
            </a:r>
            <a:r>
              <a:rPr lang="en-US" sz="1400" dirty="0" smtClean="0"/>
              <a:t>Router </a:t>
            </a:r>
            <a:r>
              <a:rPr lang="en-US" sz="1400" dirty="0"/>
              <a:t>PE (provider edge) yang </a:t>
            </a:r>
            <a:r>
              <a:rPr lang="en-US" sz="1400" dirty="0" err="1"/>
              <a:t>berfungsi</a:t>
            </a:r>
            <a:r>
              <a:rPr lang="en-US" sz="1400" dirty="0"/>
              <a:t> </a:t>
            </a:r>
            <a:r>
              <a:rPr lang="en-US" sz="1400" dirty="0" err="1"/>
              <a:t>dalam</a:t>
            </a:r>
            <a:endParaRPr lang="en-US" sz="1400" dirty="0"/>
          </a:p>
          <a:p>
            <a:pPr algn="just"/>
            <a:r>
              <a:rPr lang="en-US" sz="1400" dirty="0" err="1"/>
              <a:t>pembentuk</a:t>
            </a:r>
            <a:r>
              <a:rPr lang="en-US" sz="1400" dirty="0"/>
              <a:t> layer-3 di VPN </a:t>
            </a:r>
            <a:r>
              <a:rPr lang="en-US" sz="1400" dirty="0" smtClean="0"/>
              <a:t>:</a:t>
            </a:r>
          </a:p>
          <a:p>
            <a:pPr algn="just"/>
            <a:endParaRPr lang="en-US" sz="1400" dirty="0"/>
          </a:p>
          <a:p>
            <a:pPr algn="just"/>
            <a:r>
              <a:rPr lang="en-US" sz="1400" dirty="0" smtClean="0"/>
              <a:t>1. </a:t>
            </a:r>
            <a:r>
              <a:rPr lang="en-US" sz="1400" b="1" dirty="0" smtClean="0">
                <a:solidFill>
                  <a:srgbClr val="002060"/>
                </a:solidFill>
              </a:rPr>
              <a:t>VPN </a:t>
            </a:r>
            <a:r>
              <a:rPr lang="en-US" sz="1400" b="1" dirty="0">
                <a:solidFill>
                  <a:srgbClr val="002060"/>
                </a:solidFill>
              </a:rPr>
              <a:t>Routing </a:t>
            </a:r>
            <a:r>
              <a:rPr lang="en-US" sz="1400" b="1" dirty="0" err="1">
                <a:solidFill>
                  <a:srgbClr val="002060"/>
                </a:solidFill>
              </a:rPr>
              <a:t>dan</a:t>
            </a:r>
            <a:r>
              <a:rPr lang="en-US" sz="1400" b="1" dirty="0">
                <a:solidFill>
                  <a:srgbClr val="002060"/>
                </a:solidFill>
              </a:rPr>
              <a:t> Forwarding Instance (VRF)</a:t>
            </a:r>
          </a:p>
          <a:p>
            <a:pPr algn="just"/>
            <a:r>
              <a:rPr lang="en-US" sz="1400" dirty="0"/>
              <a:t>VRF </a:t>
            </a:r>
            <a:r>
              <a:rPr lang="en-US" sz="1400" dirty="0" err="1"/>
              <a:t>yaitu</a:t>
            </a:r>
            <a:r>
              <a:rPr lang="en-US" sz="1400" dirty="0"/>
              <a:t> </a:t>
            </a:r>
            <a:r>
              <a:rPr lang="en-US" sz="1400" dirty="0" err="1"/>
              <a:t>sebuah</a:t>
            </a:r>
            <a:r>
              <a:rPr lang="en-US" sz="1400" dirty="0"/>
              <a:t> virtual router, </a:t>
            </a:r>
            <a:r>
              <a:rPr lang="en-US" sz="1400" dirty="0" err="1"/>
              <a:t>setiap</a:t>
            </a:r>
            <a:r>
              <a:rPr lang="en-US" sz="1400" dirty="0"/>
              <a:t> VPN </a:t>
            </a:r>
            <a:r>
              <a:rPr lang="en-US" sz="1400" dirty="0" err="1" smtClean="0"/>
              <a:t>membutuhkan</a:t>
            </a:r>
            <a:r>
              <a:rPr lang="en-US" sz="1400" dirty="0" smtClean="0"/>
              <a:t> </a:t>
            </a:r>
            <a:r>
              <a:rPr lang="en-US" sz="1400" dirty="0" err="1" smtClean="0"/>
              <a:t>setiap</a:t>
            </a:r>
            <a:r>
              <a:rPr lang="en-US" sz="1400" dirty="0" smtClean="0"/>
              <a:t> </a:t>
            </a:r>
            <a:r>
              <a:rPr lang="en-US" sz="1400" dirty="0"/>
              <a:t>router PE yang </a:t>
            </a:r>
            <a:r>
              <a:rPr lang="en-US" sz="1400" dirty="0" err="1"/>
              <a:t>memiliki</a:t>
            </a:r>
            <a:r>
              <a:rPr lang="en-US" sz="1400" dirty="0"/>
              <a:t> VRF yang </a:t>
            </a:r>
            <a:r>
              <a:rPr lang="en-US" sz="1400" dirty="0" err="1"/>
              <a:t>terpisah</a:t>
            </a:r>
            <a:r>
              <a:rPr lang="en-US" sz="1400" dirty="0"/>
              <a:t>, </a:t>
            </a:r>
            <a:r>
              <a:rPr lang="en-US" sz="1400" dirty="0" smtClean="0"/>
              <a:t>VRF </a:t>
            </a:r>
            <a:r>
              <a:rPr lang="en-US" sz="1400" dirty="0" err="1" smtClean="0"/>
              <a:t>digabungkan</a:t>
            </a:r>
            <a:r>
              <a:rPr lang="en-US" sz="1400" dirty="0" smtClean="0"/>
              <a:t> </a:t>
            </a:r>
            <a:r>
              <a:rPr lang="en-US" sz="1400" dirty="0" err="1"/>
              <a:t>dengan</a:t>
            </a:r>
            <a:r>
              <a:rPr lang="en-US" sz="1400" dirty="0"/>
              <a:t> interface/sub-interface yang </a:t>
            </a:r>
            <a:r>
              <a:rPr lang="en-US" sz="1400" dirty="0" err="1" smtClean="0"/>
              <a:t>terhubung</a:t>
            </a:r>
            <a:r>
              <a:rPr lang="en-US" sz="1400" dirty="0" smtClean="0"/>
              <a:t> </a:t>
            </a:r>
            <a:r>
              <a:rPr lang="en-US" sz="1400" dirty="0" err="1" smtClean="0"/>
              <a:t>dengan</a:t>
            </a:r>
            <a:r>
              <a:rPr lang="en-US" sz="1400" dirty="0" smtClean="0"/>
              <a:t> </a:t>
            </a:r>
            <a:r>
              <a:rPr lang="en-US" sz="1400" dirty="0"/>
              <a:t>CE. Site </a:t>
            </a:r>
            <a:r>
              <a:rPr lang="en-US" sz="1400" dirty="0" err="1"/>
              <a:t>atau</a:t>
            </a:r>
            <a:r>
              <a:rPr lang="en-US" sz="1400" dirty="0"/>
              <a:t> </a:t>
            </a:r>
            <a:r>
              <a:rPr lang="en-US" sz="1400" dirty="0" err="1"/>
              <a:t>titik</a:t>
            </a:r>
            <a:r>
              <a:rPr lang="en-US" sz="1400" dirty="0"/>
              <a:t> </a:t>
            </a:r>
            <a:r>
              <a:rPr lang="en-US" sz="1400" dirty="0" err="1"/>
              <a:t>jaringan</a:t>
            </a:r>
            <a:r>
              <a:rPr lang="en-US" sz="1400" dirty="0"/>
              <a:t> lain yang </a:t>
            </a:r>
            <a:r>
              <a:rPr lang="en-US" sz="1400" dirty="0" err="1" smtClean="0"/>
              <a:t>biasanya</a:t>
            </a:r>
            <a:r>
              <a:rPr lang="en-US" sz="1400" dirty="0" smtClean="0"/>
              <a:t> </a:t>
            </a:r>
            <a:r>
              <a:rPr lang="en-US" sz="1400" dirty="0" err="1" smtClean="0"/>
              <a:t>terkoneksi</a:t>
            </a:r>
            <a:r>
              <a:rPr lang="en-US" sz="1400" dirty="0" smtClean="0"/>
              <a:t> </a:t>
            </a:r>
            <a:r>
              <a:rPr lang="en-US" sz="1400" dirty="0" err="1"/>
              <a:t>dengan</a:t>
            </a:r>
            <a:r>
              <a:rPr lang="en-US" sz="1400" dirty="0"/>
              <a:t> PE lain </a:t>
            </a:r>
            <a:r>
              <a:rPr lang="en-US" sz="1400" dirty="0" err="1"/>
              <a:t>akan</a:t>
            </a:r>
            <a:r>
              <a:rPr lang="en-US" sz="1400" dirty="0"/>
              <a:t> </a:t>
            </a:r>
            <a:r>
              <a:rPr lang="en-US" sz="1400" dirty="0" err="1"/>
              <a:t>mendistribusikan</a:t>
            </a:r>
            <a:r>
              <a:rPr lang="en-US" sz="1400" dirty="0"/>
              <a:t> </a:t>
            </a:r>
            <a:r>
              <a:rPr lang="en-US" sz="1400" dirty="0" err="1"/>
              <a:t>suatu</a:t>
            </a:r>
            <a:r>
              <a:rPr lang="en-US" sz="1400" dirty="0"/>
              <a:t> VPN yang </a:t>
            </a:r>
            <a:r>
              <a:rPr lang="en-US" sz="1400" dirty="0" err="1"/>
              <a:t>memiliki</a:t>
            </a:r>
            <a:r>
              <a:rPr lang="en-US" sz="1400" dirty="0"/>
              <a:t> </a:t>
            </a:r>
            <a:r>
              <a:rPr lang="en-US" sz="1400" dirty="0" err="1"/>
              <a:t>sama</a:t>
            </a:r>
            <a:r>
              <a:rPr lang="en-US" sz="1400" dirty="0"/>
              <a:t> route di VRF. </a:t>
            </a:r>
            <a:r>
              <a:rPr lang="en-US" sz="1400" dirty="0" err="1" smtClean="0"/>
              <a:t>Jaringan</a:t>
            </a:r>
            <a:r>
              <a:rPr lang="en-US" sz="1400" dirty="0" smtClean="0"/>
              <a:t> VPN </a:t>
            </a:r>
            <a:r>
              <a:rPr lang="en-US" sz="1400" dirty="0" err="1" smtClean="0"/>
              <a:t>terdapat</a:t>
            </a:r>
            <a:r>
              <a:rPr lang="en-US" sz="1400" dirty="0" smtClean="0"/>
              <a:t> </a:t>
            </a:r>
            <a:r>
              <a:rPr lang="en-US" sz="1400" dirty="0"/>
              <a:t>VRF yang </a:t>
            </a:r>
            <a:r>
              <a:rPr lang="en-US" sz="1400" dirty="0" err="1"/>
              <a:t>nantinya</a:t>
            </a:r>
            <a:r>
              <a:rPr lang="en-US" sz="1400" dirty="0"/>
              <a:t> </a:t>
            </a:r>
            <a:r>
              <a:rPr lang="en-US" sz="1400" dirty="0" err="1"/>
              <a:t>digunakan</a:t>
            </a:r>
            <a:r>
              <a:rPr lang="en-US" sz="1400" dirty="0"/>
              <a:t> </a:t>
            </a:r>
            <a:r>
              <a:rPr lang="en-US" sz="1400" dirty="0" err="1"/>
              <a:t>sebagai</a:t>
            </a:r>
            <a:r>
              <a:rPr lang="en-US" sz="1400" dirty="0"/>
              <a:t> </a:t>
            </a:r>
            <a:r>
              <a:rPr lang="en-US" sz="1400" dirty="0" err="1"/>
              <a:t>penanda</a:t>
            </a:r>
            <a:r>
              <a:rPr lang="en-US" sz="1400" dirty="0"/>
              <a:t> agar </a:t>
            </a:r>
            <a:r>
              <a:rPr lang="en-US" sz="1400" dirty="0" smtClean="0"/>
              <a:t>CE yang </a:t>
            </a:r>
            <a:r>
              <a:rPr lang="en-US" sz="1400" dirty="0" err="1"/>
              <a:t>memiliki</a:t>
            </a:r>
            <a:r>
              <a:rPr lang="en-US" sz="1400" dirty="0"/>
              <a:t> VRF </a:t>
            </a:r>
            <a:r>
              <a:rPr lang="en-US" sz="1400" dirty="0" err="1"/>
              <a:t>berbeda</a:t>
            </a:r>
            <a:r>
              <a:rPr lang="en-US" sz="1400" dirty="0"/>
              <a:t> </a:t>
            </a:r>
            <a:r>
              <a:rPr lang="en-US" sz="1400" dirty="0" err="1"/>
              <a:t>tidak</a:t>
            </a:r>
            <a:r>
              <a:rPr lang="en-US" sz="1400" dirty="0"/>
              <a:t> </a:t>
            </a:r>
            <a:r>
              <a:rPr lang="en-US" sz="1400" dirty="0" err="1"/>
              <a:t>dapat</a:t>
            </a:r>
            <a:r>
              <a:rPr lang="en-US" sz="1400" dirty="0"/>
              <a:t> </a:t>
            </a:r>
            <a:r>
              <a:rPr lang="en-US" sz="1400" dirty="0" err="1"/>
              <a:t>berkomunikasi</a:t>
            </a:r>
            <a:r>
              <a:rPr lang="en-US" sz="1400" dirty="0"/>
              <a:t> </a:t>
            </a:r>
            <a:r>
              <a:rPr lang="en-US" sz="1400" dirty="0" err="1" smtClean="0"/>
              <a:t>untuk</a:t>
            </a:r>
            <a:r>
              <a:rPr lang="en-US" sz="1400" dirty="0" smtClean="0"/>
              <a:t> </a:t>
            </a:r>
            <a:r>
              <a:rPr lang="en-US" sz="1400" dirty="0" err="1" smtClean="0"/>
              <a:t>perihal</a:t>
            </a:r>
            <a:r>
              <a:rPr lang="en-US" sz="1400" dirty="0" smtClean="0"/>
              <a:t> </a:t>
            </a:r>
            <a:r>
              <a:rPr lang="en-US" sz="1400" dirty="0" err="1"/>
              <a:t>keamanan</a:t>
            </a:r>
            <a:r>
              <a:rPr lang="en-US" sz="1400" dirty="0"/>
              <a:t>.</a:t>
            </a:r>
            <a:endParaRPr lang="en-US" sz="1400" dirty="0"/>
          </a:p>
        </p:txBody>
      </p:sp>
      <p:sp>
        <p:nvSpPr>
          <p:cNvPr id="4" name="Rectangle 3"/>
          <p:cNvSpPr/>
          <p:nvPr/>
        </p:nvSpPr>
        <p:spPr>
          <a:xfrm>
            <a:off x="8143456" y="4423"/>
            <a:ext cx="415754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chemeClr val="bg2">
                    <a:lumMod val="50000"/>
                  </a:schemeClr>
                </a:solidFill>
              </a:rPr>
              <a:t>MPLS </a:t>
            </a:r>
            <a:r>
              <a:rPr lang="en-US" sz="2800" dirty="0" err="1">
                <a:solidFill>
                  <a:schemeClr val="bg2">
                    <a:lumMod val="50000"/>
                  </a:schemeClr>
                </a:solidFill>
              </a:rPr>
              <a:t>pada</a:t>
            </a:r>
            <a:r>
              <a:rPr lang="en-US" sz="28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sz="2800" dirty="0" err="1" smtClean="0">
                <a:solidFill>
                  <a:schemeClr val="bg2">
                    <a:lumMod val="50000"/>
                  </a:schemeClr>
                </a:solidFill>
              </a:rPr>
              <a:t>MikroTik</a:t>
            </a:r>
            <a:r>
              <a:rPr lang="en-US" sz="2800" dirty="0" smtClean="0">
                <a:solidFill>
                  <a:schemeClr val="bg2">
                    <a:lumMod val="50000"/>
                  </a:schemeClr>
                </a:solidFill>
              </a:rPr>
              <a:t>(</a:t>
            </a:r>
            <a:r>
              <a:rPr lang="en-US" sz="2800" dirty="0" err="1" smtClean="0">
                <a:solidFill>
                  <a:schemeClr val="bg2">
                    <a:lumMod val="50000"/>
                  </a:schemeClr>
                </a:solidFill>
              </a:rPr>
              <a:t>Con’t</a:t>
            </a:r>
            <a:r>
              <a:rPr lang="en-US" sz="2800" dirty="0" smtClean="0">
                <a:solidFill>
                  <a:schemeClr val="bg2">
                    <a:lumMod val="50000"/>
                  </a:schemeClr>
                </a:solidFill>
              </a:rPr>
              <a:t>)</a:t>
            </a:r>
            <a:endParaRPr lang="en-US" sz="28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893443" y="330832"/>
            <a:ext cx="330090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 smtClean="0">
                <a:solidFill>
                  <a:schemeClr val="bg2">
                    <a:lumMod val="50000"/>
                  </a:schemeClr>
                </a:solidFill>
              </a:rPr>
              <a:t>Parameter MPLS VPN</a:t>
            </a:r>
            <a:endParaRPr lang="en-US" sz="2800" dirty="0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470" y="4478211"/>
            <a:ext cx="4833593" cy="1934451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1059654" y="6424526"/>
            <a:ext cx="283378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 smtClean="0"/>
              <a:t>Fig. VPN </a:t>
            </a:r>
            <a:r>
              <a:rPr lang="en-US" sz="1200" dirty="0"/>
              <a:t>Routing </a:t>
            </a:r>
            <a:r>
              <a:rPr lang="en-US" sz="1200" dirty="0" err="1"/>
              <a:t>dan</a:t>
            </a:r>
            <a:r>
              <a:rPr lang="en-US" sz="1200" dirty="0"/>
              <a:t> Forwarding Instance[</a:t>
            </a:r>
          </a:p>
        </p:txBody>
      </p:sp>
      <p:sp>
        <p:nvSpPr>
          <p:cNvPr id="9" name="Rectangle 8"/>
          <p:cNvSpPr/>
          <p:nvPr/>
        </p:nvSpPr>
        <p:spPr>
          <a:xfrm>
            <a:off x="5693991" y="2003915"/>
            <a:ext cx="4898929" cy="16004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400" dirty="0"/>
              <a:t>2. </a:t>
            </a:r>
            <a:r>
              <a:rPr lang="en-US" sz="1400" b="1" dirty="0">
                <a:solidFill>
                  <a:srgbClr val="002060"/>
                </a:solidFill>
              </a:rPr>
              <a:t>Route Distinguisher (RD)</a:t>
            </a:r>
          </a:p>
          <a:p>
            <a:pPr algn="just"/>
            <a:r>
              <a:rPr lang="en-US" sz="1400" dirty="0" err="1"/>
              <a:t>Untuk</a:t>
            </a:r>
            <a:r>
              <a:rPr lang="en-US" sz="1400" dirty="0"/>
              <a:t> </a:t>
            </a:r>
            <a:r>
              <a:rPr lang="en-US" sz="1400" dirty="0" err="1"/>
              <a:t>merubah</a:t>
            </a:r>
            <a:r>
              <a:rPr lang="en-US" sz="1400" dirty="0"/>
              <a:t> </a:t>
            </a:r>
            <a:r>
              <a:rPr lang="en-US" sz="1400" dirty="0" err="1"/>
              <a:t>bentuk</a:t>
            </a:r>
            <a:r>
              <a:rPr lang="en-US" sz="1400" dirty="0"/>
              <a:t> non-unique 32-bit address IPv4 </a:t>
            </a:r>
            <a:r>
              <a:rPr lang="en-US" sz="1400" dirty="0" smtClean="0"/>
              <a:t>user </a:t>
            </a:r>
            <a:r>
              <a:rPr lang="en-US" sz="1400" dirty="0" err="1" smtClean="0"/>
              <a:t>menuju</a:t>
            </a:r>
            <a:r>
              <a:rPr lang="en-US" sz="1400" dirty="0" smtClean="0"/>
              <a:t> </a:t>
            </a:r>
            <a:r>
              <a:rPr lang="en-US" sz="1400" dirty="0"/>
              <a:t>96-bit </a:t>
            </a:r>
            <a:r>
              <a:rPr lang="en-US" sz="1400" dirty="0" err="1"/>
              <a:t>unik</a:t>
            </a:r>
            <a:r>
              <a:rPr lang="en-US" sz="1400" dirty="0"/>
              <a:t> VPNv4 address </a:t>
            </a:r>
            <a:r>
              <a:rPr lang="en-US" sz="1400" dirty="0" err="1"/>
              <a:t>perlu</a:t>
            </a:r>
            <a:r>
              <a:rPr lang="en-US" sz="1400" dirty="0"/>
              <a:t> </a:t>
            </a:r>
            <a:r>
              <a:rPr lang="en-US" sz="1400" dirty="0" err="1"/>
              <a:t>adanya</a:t>
            </a:r>
            <a:r>
              <a:rPr lang="en-US" sz="1400" dirty="0"/>
              <a:t> </a:t>
            </a:r>
            <a:r>
              <a:rPr lang="en-US" sz="1400" dirty="0" err="1" smtClean="0"/>
              <a:t>penggunaan</a:t>
            </a:r>
            <a:r>
              <a:rPr lang="en-US" sz="1400" dirty="0" smtClean="0"/>
              <a:t> Route </a:t>
            </a:r>
            <a:r>
              <a:rPr lang="en-US" sz="1400" dirty="0"/>
              <a:t>Distinguisher. </a:t>
            </a:r>
            <a:r>
              <a:rPr lang="en-US" sz="1400" dirty="0" err="1"/>
              <a:t>fungsi</a:t>
            </a:r>
            <a:r>
              <a:rPr lang="en-US" sz="1400" dirty="0"/>
              <a:t> VRF </a:t>
            </a:r>
            <a:r>
              <a:rPr lang="en-US" sz="1400" dirty="0" err="1"/>
              <a:t>dapat</a:t>
            </a:r>
            <a:r>
              <a:rPr lang="en-US" sz="1400" dirty="0"/>
              <a:t> </a:t>
            </a:r>
            <a:r>
              <a:rPr lang="en-US" sz="1400" dirty="0" err="1"/>
              <a:t>dioperasikan</a:t>
            </a:r>
            <a:r>
              <a:rPr lang="en-US" sz="1400" dirty="0"/>
              <a:t> </a:t>
            </a:r>
            <a:r>
              <a:rPr lang="en-US" sz="1400" dirty="0" err="1" smtClean="0"/>
              <a:t>maka</a:t>
            </a:r>
            <a:r>
              <a:rPr lang="en-US" sz="1400" dirty="0" smtClean="0"/>
              <a:t> </a:t>
            </a:r>
            <a:r>
              <a:rPr lang="en-US" sz="1400" dirty="0" err="1" smtClean="0"/>
              <a:t>memerlu</a:t>
            </a:r>
            <a:r>
              <a:rPr lang="en-US" sz="1400" dirty="0" smtClean="0"/>
              <a:t> </a:t>
            </a:r>
            <a:r>
              <a:rPr lang="en-US" sz="1400" dirty="0" err="1"/>
              <a:t>menggunakan</a:t>
            </a:r>
            <a:r>
              <a:rPr lang="en-US" sz="1400" dirty="0"/>
              <a:t> RD( Route Distinguisher. VRF </a:t>
            </a:r>
            <a:r>
              <a:rPr lang="en-US" sz="1400" dirty="0" smtClean="0"/>
              <a:t>yang </a:t>
            </a:r>
            <a:r>
              <a:rPr lang="en-US" sz="1400" dirty="0" err="1" smtClean="0"/>
              <a:t>tidak</a:t>
            </a:r>
            <a:r>
              <a:rPr lang="en-US" sz="1400" dirty="0" smtClean="0"/>
              <a:t> </a:t>
            </a:r>
            <a:r>
              <a:rPr lang="en-US" sz="1400" dirty="0" err="1"/>
              <a:t>sama</a:t>
            </a:r>
            <a:r>
              <a:rPr lang="en-US" sz="1400" dirty="0"/>
              <a:t>, </a:t>
            </a:r>
            <a:r>
              <a:rPr lang="en-US" sz="1400" dirty="0" err="1"/>
              <a:t>akan</a:t>
            </a:r>
            <a:r>
              <a:rPr lang="en-US" sz="1400" dirty="0"/>
              <a:t> </a:t>
            </a:r>
            <a:r>
              <a:rPr lang="en-US" sz="1400" dirty="0" err="1"/>
              <a:t>mempunyai</a:t>
            </a:r>
            <a:r>
              <a:rPr lang="en-US" sz="1400" dirty="0"/>
              <a:t> RD yang </a:t>
            </a:r>
            <a:r>
              <a:rPr lang="en-US" sz="1400" dirty="0" err="1"/>
              <a:t>berbeda</a:t>
            </a:r>
            <a:r>
              <a:rPr lang="en-US" sz="1400" dirty="0"/>
              <a:t>, </a:t>
            </a:r>
            <a:r>
              <a:rPr lang="en-US" sz="1400" dirty="0" smtClean="0"/>
              <a:t>Route Distinguisher </a:t>
            </a:r>
            <a:r>
              <a:rPr lang="en-US" sz="1400" dirty="0" err="1"/>
              <a:t>untuk</a:t>
            </a:r>
            <a:r>
              <a:rPr lang="en-US" sz="1400" dirty="0"/>
              <a:t> </a:t>
            </a:r>
            <a:r>
              <a:rPr lang="en-US" sz="1400" dirty="0" err="1"/>
              <a:t>setiap</a:t>
            </a:r>
            <a:r>
              <a:rPr lang="en-US" sz="1400" dirty="0"/>
              <a:t> VRF </a:t>
            </a:r>
            <a:r>
              <a:rPr lang="en-US" sz="1400" dirty="0" err="1"/>
              <a:t>dikonfigurasi</a:t>
            </a:r>
            <a:r>
              <a:rPr lang="en-US" sz="1400" dirty="0"/>
              <a:t> </a:t>
            </a:r>
            <a:r>
              <a:rPr lang="en-US" sz="1400" dirty="0" err="1"/>
              <a:t>oleh</a:t>
            </a:r>
            <a:r>
              <a:rPr lang="en-US" sz="1400" dirty="0"/>
              <a:t> Router </a:t>
            </a:r>
            <a:r>
              <a:rPr lang="en-US" sz="1400" dirty="0" smtClean="0"/>
              <a:t>PE.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93991" y="3701703"/>
            <a:ext cx="5648325" cy="2105025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726560" y="6297888"/>
            <a:ext cx="170097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/>
              <a:t>Fig. Route </a:t>
            </a:r>
            <a:r>
              <a:rPr lang="en-US" sz="1200" dirty="0" smtClean="0"/>
              <a:t>Distinguisher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7681239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2142" y="1386243"/>
            <a:ext cx="1901745" cy="166480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225778" y="120274"/>
            <a:ext cx="5633155" cy="14157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600" b="1" dirty="0">
                <a:solidFill>
                  <a:srgbClr val="002060"/>
                </a:solidFill>
              </a:rPr>
              <a:t>Case</a:t>
            </a:r>
            <a:r>
              <a:rPr lang="en-US" sz="1600" b="1" dirty="0" smtClean="0">
                <a:solidFill>
                  <a:srgbClr val="002060"/>
                </a:solidFill>
              </a:rPr>
              <a:t>:</a:t>
            </a:r>
          </a:p>
          <a:p>
            <a:pPr algn="just"/>
            <a:r>
              <a:rPr lang="en-US" sz="1400" dirty="0" err="1" smtClean="0"/>
              <a:t>Melakukan</a:t>
            </a:r>
            <a:r>
              <a:rPr lang="en-US" sz="1400" dirty="0" smtClean="0"/>
              <a:t> </a:t>
            </a:r>
            <a:r>
              <a:rPr lang="en-US" sz="1400" dirty="0" err="1"/>
              <a:t>implementasi</a:t>
            </a:r>
            <a:r>
              <a:rPr lang="en-US" sz="1400" dirty="0"/>
              <a:t> </a:t>
            </a:r>
            <a:r>
              <a:rPr lang="en-US" sz="1400" dirty="0" err="1"/>
              <a:t>untuk</a:t>
            </a:r>
            <a:r>
              <a:rPr lang="en-US" sz="1400" dirty="0"/>
              <a:t> </a:t>
            </a:r>
            <a:r>
              <a:rPr lang="en-US" sz="1400" dirty="0" err="1"/>
              <a:t>konfigurasi</a:t>
            </a:r>
            <a:r>
              <a:rPr lang="en-US" sz="1400" dirty="0"/>
              <a:t> Backbone - Area 0 </a:t>
            </a:r>
            <a:r>
              <a:rPr lang="en-US" sz="1400" dirty="0" err="1"/>
              <a:t>pada</a:t>
            </a:r>
            <a:r>
              <a:rPr lang="en-US" sz="1400" dirty="0"/>
              <a:t> OSPF. </a:t>
            </a:r>
            <a:r>
              <a:rPr lang="en-US" sz="1400" dirty="0" err="1"/>
              <a:t>Adapun</a:t>
            </a:r>
            <a:r>
              <a:rPr lang="en-US" sz="1400" dirty="0"/>
              <a:t> </a:t>
            </a:r>
            <a:r>
              <a:rPr lang="en-US" sz="1400" dirty="0" err="1"/>
              <a:t>langkah-langkahnya</a:t>
            </a:r>
            <a:r>
              <a:rPr lang="en-US" sz="1400" dirty="0"/>
              <a:t> </a:t>
            </a:r>
            <a:r>
              <a:rPr lang="en-US" sz="1400" dirty="0" err="1"/>
              <a:t>cukup</a:t>
            </a:r>
            <a:r>
              <a:rPr lang="en-US" sz="1400" dirty="0"/>
              <a:t> </a:t>
            </a:r>
            <a:r>
              <a:rPr lang="en-US" sz="1400" dirty="0" err="1"/>
              <a:t>mudah</a:t>
            </a:r>
            <a:r>
              <a:rPr lang="en-US" sz="1400" dirty="0"/>
              <a:t>. </a:t>
            </a:r>
            <a:r>
              <a:rPr lang="en-US" sz="1400" dirty="0" err="1"/>
              <a:t>Disini</a:t>
            </a:r>
            <a:r>
              <a:rPr lang="en-US" sz="1400" dirty="0"/>
              <a:t> kami </a:t>
            </a:r>
            <a:r>
              <a:rPr lang="en-US" sz="1400" dirty="0" err="1"/>
              <a:t>mempunyai</a:t>
            </a:r>
            <a:r>
              <a:rPr lang="en-US" sz="1400" dirty="0"/>
              <a:t> 3 router </a:t>
            </a:r>
            <a:r>
              <a:rPr lang="en-US" sz="1400" dirty="0" err="1"/>
              <a:t>dengan</a:t>
            </a:r>
            <a:r>
              <a:rPr lang="en-US" sz="1400" dirty="0"/>
              <a:t> </a:t>
            </a:r>
            <a:r>
              <a:rPr lang="en-US" sz="1400" dirty="0" err="1"/>
              <a:t>masing-masing</a:t>
            </a:r>
            <a:r>
              <a:rPr lang="en-US" sz="1400" dirty="0"/>
              <a:t> router </a:t>
            </a:r>
            <a:r>
              <a:rPr lang="en-US" sz="1400" dirty="0" err="1"/>
              <a:t>memiliki</a:t>
            </a:r>
            <a:r>
              <a:rPr lang="en-US" sz="1400" dirty="0"/>
              <a:t> </a:t>
            </a:r>
            <a:r>
              <a:rPr lang="en-US" sz="1400" dirty="0" err="1"/>
              <a:t>jaringan</a:t>
            </a:r>
            <a:r>
              <a:rPr lang="en-US" sz="1400" dirty="0"/>
              <a:t> LAN. Kita </a:t>
            </a:r>
            <a:r>
              <a:rPr lang="en-US" sz="1400" dirty="0" err="1"/>
              <a:t>akan</a:t>
            </a:r>
            <a:r>
              <a:rPr lang="en-US" sz="1400" dirty="0"/>
              <a:t> </a:t>
            </a:r>
            <a:r>
              <a:rPr lang="en-US" sz="1400" dirty="0" err="1"/>
              <a:t>mencoba</a:t>
            </a:r>
            <a:r>
              <a:rPr lang="en-US" sz="1400" dirty="0"/>
              <a:t> </a:t>
            </a:r>
            <a:r>
              <a:rPr lang="en-US" sz="1400" dirty="0" err="1"/>
              <a:t>supaya</a:t>
            </a:r>
            <a:r>
              <a:rPr lang="en-US" sz="1400" dirty="0"/>
              <a:t> </a:t>
            </a:r>
            <a:r>
              <a:rPr lang="en-US" sz="1400" dirty="0" err="1"/>
              <a:t>setiap</a:t>
            </a:r>
            <a:r>
              <a:rPr lang="en-US" sz="1400" dirty="0"/>
              <a:t> </a:t>
            </a:r>
            <a:r>
              <a:rPr lang="en-US" sz="1400" dirty="0" err="1"/>
              <a:t>jaringan</a:t>
            </a:r>
            <a:r>
              <a:rPr lang="en-US" sz="1400" dirty="0"/>
              <a:t> LAN </a:t>
            </a:r>
            <a:r>
              <a:rPr lang="en-US" sz="1400" dirty="0" err="1"/>
              <a:t>pada</a:t>
            </a:r>
            <a:r>
              <a:rPr lang="en-US" sz="1400" dirty="0"/>
              <a:t> </a:t>
            </a:r>
            <a:r>
              <a:rPr lang="en-US" sz="1400" dirty="0" err="1"/>
              <a:t>ketiga</a:t>
            </a:r>
            <a:r>
              <a:rPr lang="en-US" sz="1400" dirty="0"/>
              <a:t> router </a:t>
            </a:r>
            <a:r>
              <a:rPr lang="en-US" sz="1400" dirty="0" err="1"/>
              <a:t>tersebut</a:t>
            </a:r>
            <a:r>
              <a:rPr lang="en-US" sz="1400" dirty="0"/>
              <a:t> </a:t>
            </a:r>
            <a:r>
              <a:rPr lang="en-US" sz="1400" dirty="0" err="1"/>
              <a:t>bisa</a:t>
            </a:r>
            <a:r>
              <a:rPr lang="en-US" sz="1400" dirty="0"/>
              <a:t> </a:t>
            </a:r>
            <a:r>
              <a:rPr lang="en-US" sz="1400" dirty="0" err="1"/>
              <a:t>saling</a:t>
            </a:r>
            <a:r>
              <a:rPr lang="en-US" sz="1400" dirty="0"/>
              <a:t> </a:t>
            </a:r>
            <a:r>
              <a:rPr lang="en-US" sz="1400" dirty="0" err="1"/>
              <a:t>komunikasi</a:t>
            </a:r>
            <a:r>
              <a:rPr lang="en-US" sz="1400" dirty="0"/>
              <a:t> </a:t>
            </a:r>
            <a:r>
              <a:rPr lang="en-US" sz="1400" dirty="0" err="1"/>
              <a:t>tanpa</a:t>
            </a:r>
            <a:r>
              <a:rPr lang="en-US" sz="1400" dirty="0"/>
              <a:t> </a:t>
            </a:r>
            <a:r>
              <a:rPr lang="en-US" sz="1400" dirty="0" err="1"/>
              <a:t>kita</a:t>
            </a:r>
            <a:r>
              <a:rPr lang="en-US" sz="1400" dirty="0"/>
              <a:t> </a:t>
            </a:r>
            <a:r>
              <a:rPr lang="en-US" sz="1400" dirty="0" err="1"/>
              <a:t>tambahkan</a:t>
            </a:r>
            <a:r>
              <a:rPr lang="en-US" sz="1400" dirty="0"/>
              <a:t> rule static route </a:t>
            </a:r>
            <a:r>
              <a:rPr lang="en-US" sz="1400" dirty="0" err="1"/>
              <a:t>secara</a:t>
            </a:r>
            <a:r>
              <a:rPr lang="en-US" sz="1400" dirty="0"/>
              <a:t> manual. 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8211" y="2901245"/>
            <a:ext cx="3733800" cy="3200400"/>
          </a:xfrm>
          <a:prstGeom prst="rect">
            <a:avLst/>
          </a:prstGeom>
        </p:spPr>
      </p:pic>
      <p:sp>
        <p:nvSpPr>
          <p:cNvPr id="7" name="Oval Callout 6"/>
          <p:cNvSpPr/>
          <p:nvPr/>
        </p:nvSpPr>
        <p:spPr>
          <a:xfrm rot="2742368">
            <a:off x="3713605" y="1131630"/>
            <a:ext cx="2661756" cy="2570008"/>
          </a:xfrm>
          <a:prstGeom prst="wedgeEllipseCallou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6400800" y="369986"/>
            <a:ext cx="563315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200" dirty="0" err="1">
                <a:solidFill>
                  <a:srgbClr val="002060"/>
                </a:solidFill>
              </a:rPr>
              <a:t>Konfigurasi</a:t>
            </a:r>
            <a:r>
              <a:rPr lang="en-US" sz="1200" dirty="0">
                <a:solidFill>
                  <a:srgbClr val="002060"/>
                </a:solidFill>
              </a:rPr>
              <a:t> </a:t>
            </a:r>
            <a:r>
              <a:rPr lang="en-US" sz="1200" dirty="0" err="1">
                <a:solidFill>
                  <a:srgbClr val="002060"/>
                </a:solidFill>
              </a:rPr>
              <a:t>dari</a:t>
            </a:r>
            <a:r>
              <a:rPr lang="en-US" sz="1200" dirty="0">
                <a:solidFill>
                  <a:srgbClr val="002060"/>
                </a:solidFill>
              </a:rPr>
              <a:t> </a:t>
            </a:r>
            <a:r>
              <a:rPr lang="en-US" sz="1200" dirty="0" err="1">
                <a:solidFill>
                  <a:srgbClr val="002060"/>
                </a:solidFill>
              </a:rPr>
              <a:t>setiap</a:t>
            </a:r>
            <a:r>
              <a:rPr lang="en-US" sz="1200" dirty="0">
                <a:solidFill>
                  <a:srgbClr val="002060"/>
                </a:solidFill>
              </a:rPr>
              <a:t> router </a:t>
            </a:r>
            <a:r>
              <a:rPr lang="en-US" sz="1200" dirty="0" err="1">
                <a:solidFill>
                  <a:srgbClr val="002060"/>
                </a:solidFill>
              </a:rPr>
              <a:t>juga</a:t>
            </a:r>
            <a:r>
              <a:rPr lang="en-US" sz="1200" dirty="0">
                <a:solidFill>
                  <a:srgbClr val="002060"/>
                </a:solidFill>
              </a:rPr>
              <a:t> </a:t>
            </a:r>
            <a:r>
              <a:rPr lang="en-US" sz="1200" dirty="0" err="1">
                <a:solidFill>
                  <a:srgbClr val="002060"/>
                </a:solidFill>
              </a:rPr>
              <a:t>sama</a:t>
            </a:r>
            <a:r>
              <a:rPr lang="en-US" sz="1200" dirty="0">
                <a:solidFill>
                  <a:srgbClr val="002060"/>
                </a:solidFill>
              </a:rPr>
              <a:t> </a:t>
            </a:r>
            <a:r>
              <a:rPr lang="en-US" sz="1200" dirty="0" err="1">
                <a:solidFill>
                  <a:srgbClr val="002060"/>
                </a:solidFill>
              </a:rPr>
              <a:t>tidak</a:t>
            </a:r>
            <a:r>
              <a:rPr lang="en-US" sz="1200" dirty="0">
                <a:solidFill>
                  <a:srgbClr val="002060"/>
                </a:solidFill>
              </a:rPr>
              <a:t> </a:t>
            </a:r>
            <a:r>
              <a:rPr lang="en-US" sz="1200" dirty="0" err="1">
                <a:solidFill>
                  <a:srgbClr val="002060"/>
                </a:solidFill>
              </a:rPr>
              <a:t>ada</a:t>
            </a:r>
            <a:r>
              <a:rPr lang="en-US" sz="1200" dirty="0">
                <a:solidFill>
                  <a:srgbClr val="002060"/>
                </a:solidFill>
              </a:rPr>
              <a:t> </a:t>
            </a:r>
            <a:r>
              <a:rPr lang="en-US" sz="1200" dirty="0" err="1">
                <a:solidFill>
                  <a:srgbClr val="002060"/>
                </a:solidFill>
              </a:rPr>
              <a:t>perbedaan</a:t>
            </a:r>
            <a:r>
              <a:rPr lang="en-US" sz="1200" dirty="0">
                <a:solidFill>
                  <a:srgbClr val="002060"/>
                </a:solidFill>
              </a:rPr>
              <a:t>. </a:t>
            </a:r>
            <a:r>
              <a:rPr lang="en-US" sz="1200" dirty="0" err="1">
                <a:solidFill>
                  <a:srgbClr val="002060"/>
                </a:solidFill>
              </a:rPr>
              <a:t>Langkah</a:t>
            </a:r>
            <a:r>
              <a:rPr lang="en-US" sz="1200" dirty="0">
                <a:solidFill>
                  <a:srgbClr val="002060"/>
                </a:solidFill>
              </a:rPr>
              <a:t> </a:t>
            </a:r>
            <a:r>
              <a:rPr lang="en-US" sz="1200" dirty="0" err="1">
                <a:solidFill>
                  <a:srgbClr val="002060"/>
                </a:solidFill>
              </a:rPr>
              <a:t>awal</a:t>
            </a:r>
            <a:r>
              <a:rPr lang="en-US" sz="1200" dirty="0">
                <a:solidFill>
                  <a:srgbClr val="002060"/>
                </a:solidFill>
              </a:rPr>
              <a:t> </a:t>
            </a:r>
            <a:r>
              <a:rPr lang="en-US" sz="1200" dirty="0" err="1">
                <a:solidFill>
                  <a:srgbClr val="002060"/>
                </a:solidFill>
              </a:rPr>
              <a:t>kita</a:t>
            </a:r>
            <a:r>
              <a:rPr lang="en-US" sz="1200" dirty="0">
                <a:solidFill>
                  <a:srgbClr val="002060"/>
                </a:solidFill>
              </a:rPr>
              <a:t> </a:t>
            </a:r>
            <a:r>
              <a:rPr lang="en-US" sz="1200" dirty="0" err="1">
                <a:solidFill>
                  <a:srgbClr val="002060"/>
                </a:solidFill>
              </a:rPr>
              <a:t>masuk</a:t>
            </a:r>
            <a:r>
              <a:rPr lang="en-US" sz="1200" dirty="0">
                <a:solidFill>
                  <a:srgbClr val="002060"/>
                </a:solidFill>
              </a:rPr>
              <a:t> </a:t>
            </a:r>
            <a:r>
              <a:rPr lang="en-US" sz="1200" dirty="0" err="1">
                <a:solidFill>
                  <a:srgbClr val="002060"/>
                </a:solidFill>
              </a:rPr>
              <a:t>pada</a:t>
            </a:r>
            <a:r>
              <a:rPr lang="en-US" sz="1200" dirty="0">
                <a:solidFill>
                  <a:srgbClr val="002060"/>
                </a:solidFill>
              </a:rPr>
              <a:t> menu Routing -&gt; OSPF -&gt; Network. </a:t>
            </a:r>
            <a:r>
              <a:rPr lang="en-US" sz="1200" dirty="0" err="1">
                <a:solidFill>
                  <a:srgbClr val="002060"/>
                </a:solidFill>
              </a:rPr>
              <a:t>Kemudian</a:t>
            </a:r>
            <a:r>
              <a:rPr lang="en-US" sz="1200" dirty="0">
                <a:solidFill>
                  <a:srgbClr val="002060"/>
                </a:solidFill>
              </a:rPr>
              <a:t> </a:t>
            </a:r>
            <a:r>
              <a:rPr lang="en-US" sz="1200" dirty="0" err="1">
                <a:solidFill>
                  <a:srgbClr val="002060"/>
                </a:solidFill>
              </a:rPr>
              <a:t>tambahkan</a:t>
            </a:r>
            <a:r>
              <a:rPr lang="en-US" sz="1200" dirty="0">
                <a:solidFill>
                  <a:srgbClr val="002060"/>
                </a:solidFill>
              </a:rPr>
              <a:t> network yang </a:t>
            </a:r>
            <a:r>
              <a:rPr lang="en-US" sz="1200" dirty="0" err="1">
                <a:solidFill>
                  <a:srgbClr val="002060"/>
                </a:solidFill>
              </a:rPr>
              <a:t>terdapat</a:t>
            </a:r>
            <a:r>
              <a:rPr lang="en-US" sz="1200" dirty="0">
                <a:solidFill>
                  <a:srgbClr val="002060"/>
                </a:solidFill>
              </a:rPr>
              <a:t> di router.</a:t>
            </a:r>
            <a:endParaRPr lang="en-US" sz="1200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6777" y="1117459"/>
            <a:ext cx="2867025" cy="3048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491484" y="4343662"/>
            <a:ext cx="182280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b="1" dirty="0" smtClean="0">
                <a:solidFill>
                  <a:srgbClr val="002060"/>
                </a:solidFill>
              </a:rPr>
              <a:t>Router 1: OSPF </a:t>
            </a:r>
            <a:r>
              <a:rPr lang="en-US" sz="1200" b="1" dirty="0">
                <a:solidFill>
                  <a:srgbClr val="002060"/>
                </a:solidFill>
              </a:rPr>
              <a:t>Networks 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96778" y="4620661"/>
            <a:ext cx="1717514" cy="2059136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8613667" y="4343662"/>
            <a:ext cx="182280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b="1" dirty="0" smtClean="0">
                <a:solidFill>
                  <a:srgbClr val="002060"/>
                </a:solidFill>
              </a:rPr>
              <a:t>Router 2: OSPF </a:t>
            </a:r>
            <a:r>
              <a:rPr lang="en-US" sz="1200" b="1" dirty="0">
                <a:solidFill>
                  <a:srgbClr val="002060"/>
                </a:solidFill>
              </a:rPr>
              <a:t>Networks </a:t>
            </a: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94734" y="4620661"/>
            <a:ext cx="1741740" cy="2059136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6098207" y="19131"/>
            <a:ext cx="347627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002060"/>
                </a:solidFill>
              </a:rPr>
              <a:t>Step 1: </a:t>
            </a:r>
            <a:r>
              <a:rPr lang="en-US" b="1" dirty="0" err="1" smtClean="0">
                <a:solidFill>
                  <a:srgbClr val="002060"/>
                </a:solidFill>
              </a:rPr>
              <a:t>Konfigurasi</a:t>
            </a:r>
            <a:r>
              <a:rPr lang="en-US" b="1" dirty="0" smtClean="0">
                <a:solidFill>
                  <a:srgbClr val="002060"/>
                </a:solidFill>
              </a:rPr>
              <a:t> backbone </a:t>
            </a:r>
            <a:r>
              <a:rPr lang="en-US" b="1" dirty="0">
                <a:solidFill>
                  <a:srgbClr val="002060"/>
                </a:solidFill>
              </a:rPr>
              <a:t>area </a:t>
            </a:r>
          </a:p>
        </p:txBody>
      </p:sp>
    </p:spTree>
    <p:extLst>
      <p:ext uri="{BB962C8B-B14F-4D97-AF65-F5344CB8AC3E}">
        <p14:creationId xmlns:p14="http://schemas.microsoft.com/office/powerpoint/2010/main" val="1497840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69333" y="403853"/>
            <a:ext cx="5633155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200" dirty="0" err="1">
                <a:solidFill>
                  <a:srgbClr val="002060"/>
                </a:solidFill>
              </a:rPr>
              <a:t>Setelah</a:t>
            </a:r>
            <a:r>
              <a:rPr lang="en-US" sz="1200" dirty="0">
                <a:solidFill>
                  <a:srgbClr val="002060"/>
                </a:solidFill>
              </a:rPr>
              <a:t> </a:t>
            </a:r>
            <a:r>
              <a:rPr lang="en-US" sz="1200" dirty="0" err="1">
                <a:solidFill>
                  <a:srgbClr val="002060"/>
                </a:solidFill>
              </a:rPr>
              <a:t>kita</a:t>
            </a:r>
            <a:r>
              <a:rPr lang="en-US" sz="1200" dirty="0">
                <a:solidFill>
                  <a:srgbClr val="002060"/>
                </a:solidFill>
              </a:rPr>
              <a:t> </a:t>
            </a:r>
            <a:r>
              <a:rPr lang="en-US" sz="1200" dirty="0" err="1">
                <a:solidFill>
                  <a:srgbClr val="002060"/>
                </a:solidFill>
              </a:rPr>
              <a:t>menambahkan</a:t>
            </a:r>
            <a:r>
              <a:rPr lang="en-US" sz="1200" dirty="0">
                <a:solidFill>
                  <a:srgbClr val="002060"/>
                </a:solidFill>
              </a:rPr>
              <a:t> network </a:t>
            </a:r>
            <a:r>
              <a:rPr lang="en-US" sz="1200" dirty="0" err="1">
                <a:solidFill>
                  <a:srgbClr val="002060"/>
                </a:solidFill>
              </a:rPr>
              <a:t>pada</a:t>
            </a:r>
            <a:r>
              <a:rPr lang="en-US" sz="1200" dirty="0">
                <a:solidFill>
                  <a:srgbClr val="002060"/>
                </a:solidFill>
              </a:rPr>
              <a:t> </a:t>
            </a:r>
            <a:r>
              <a:rPr lang="en-US" sz="1200" dirty="0" err="1">
                <a:solidFill>
                  <a:srgbClr val="002060"/>
                </a:solidFill>
              </a:rPr>
              <a:t>masing-masing</a:t>
            </a:r>
            <a:r>
              <a:rPr lang="en-US" sz="1200" dirty="0">
                <a:solidFill>
                  <a:srgbClr val="002060"/>
                </a:solidFill>
              </a:rPr>
              <a:t> router, </a:t>
            </a:r>
            <a:r>
              <a:rPr lang="en-US" sz="1200" dirty="0" err="1">
                <a:solidFill>
                  <a:srgbClr val="002060"/>
                </a:solidFill>
              </a:rPr>
              <a:t>jika</a:t>
            </a:r>
            <a:r>
              <a:rPr lang="en-US" sz="1200" dirty="0">
                <a:solidFill>
                  <a:srgbClr val="002060"/>
                </a:solidFill>
              </a:rPr>
              <a:t> </a:t>
            </a:r>
            <a:r>
              <a:rPr lang="en-US" sz="1200" dirty="0" err="1">
                <a:solidFill>
                  <a:srgbClr val="002060"/>
                </a:solidFill>
              </a:rPr>
              <a:t>kita</a:t>
            </a:r>
            <a:r>
              <a:rPr lang="en-US" sz="1200" dirty="0">
                <a:solidFill>
                  <a:srgbClr val="002060"/>
                </a:solidFill>
              </a:rPr>
              <a:t> </a:t>
            </a:r>
            <a:r>
              <a:rPr lang="en-US" sz="1200" dirty="0" err="1">
                <a:solidFill>
                  <a:srgbClr val="002060"/>
                </a:solidFill>
              </a:rPr>
              <a:t>melihat</a:t>
            </a:r>
            <a:r>
              <a:rPr lang="en-US" sz="1200" dirty="0">
                <a:solidFill>
                  <a:srgbClr val="002060"/>
                </a:solidFill>
              </a:rPr>
              <a:t> </a:t>
            </a:r>
            <a:r>
              <a:rPr lang="en-US" sz="1200" dirty="0" err="1">
                <a:solidFill>
                  <a:srgbClr val="002060"/>
                </a:solidFill>
              </a:rPr>
              <a:t>pada</a:t>
            </a:r>
            <a:r>
              <a:rPr lang="en-US" sz="1200" dirty="0">
                <a:solidFill>
                  <a:srgbClr val="002060"/>
                </a:solidFill>
              </a:rPr>
              <a:t> OSPF -&gt; Interfaces </a:t>
            </a:r>
            <a:r>
              <a:rPr lang="en-US" sz="1200" dirty="0" err="1">
                <a:solidFill>
                  <a:srgbClr val="002060"/>
                </a:solidFill>
              </a:rPr>
              <a:t>maka</a:t>
            </a:r>
            <a:r>
              <a:rPr lang="en-US" sz="1200" dirty="0">
                <a:solidFill>
                  <a:srgbClr val="002060"/>
                </a:solidFill>
              </a:rPr>
              <a:t> </a:t>
            </a:r>
            <a:r>
              <a:rPr lang="en-US" sz="1200" dirty="0" err="1">
                <a:solidFill>
                  <a:srgbClr val="002060"/>
                </a:solidFill>
              </a:rPr>
              <a:t>secara</a:t>
            </a:r>
            <a:r>
              <a:rPr lang="en-US" sz="1200" dirty="0">
                <a:solidFill>
                  <a:srgbClr val="002060"/>
                </a:solidFill>
              </a:rPr>
              <a:t> </a:t>
            </a:r>
            <a:r>
              <a:rPr lang="en-US" sz="1200" dirty="0" err="1">
                <a:solidFill>
                  <a:srgbClr val="002060"/>
                </a:solidFill>
              </a:rPr>
              <a:t>otomatis</a:t>
            </a:r>
            <a:r>
              <a:rPr lang="en-US" sz="1200" dirty="0">
                <a:solidFill>
                  <a:srgbClr val="002060"/>
                </a:solidFill>
              </a:rPr>
              <a:t> </a:t>
            </a:r>
            <a:r>
              <a:rPr lang="en-US" sz="1200" dirty="0" err="1">
                <a:solidFill>
                  <a:srgbClr val="002060"/>
                </a:solidFill>
              </a:rPr>
              <a:t>akan</a:t>
            </a:r>
            <a:r>
              <a:rPr lang="en-US" sz="1200" dirty="0">
                <a:solidFill>
                  <a:srgbClr val="002060"/>
                </a:solidFill>
              </a:rPr>
              <a:t> </a:t>
            </a:r>
            <a:r>
              <a:rPr lang="en-US" sz="1200" dirty="0" err="1">
                <a:solidFill>
                  <a:srgbClr val="002060"/>
                </a:solidFill>
              </a:rPr>
              <a:t>muncul</a:t>
            </a:r>
            <a:r>
              <a:rPr lang="en-US" sz="1200" dirty="0">
                <a:solidFill>
                  <a:srgbClr val="002060"/>
                </a:solidFill>
              </a:rPr>
              <a:t> interface router </a:t>
            </a:r>
            <a:r>
              <a:rPr lang="en-US" sz="1200" dirty="0" err="1">
                <a:solidFill>
                  <a:srgbClr val="002060"/>
                </a:solidFill>
              </a:rPr>
              <a:t>dimana</a:t>
            </a:r>
            <a:r>
              <a:rPr lang="en-US" sz="1200" dirty="0">
                <a:solidFill>
                  <a:srgbClr val="002060"/>
                </a:solidFill>
              </a:rPr>
              <a:t> network </a:t>
            </a:r>
            <a:r>
              <a:rPr lang="en-US" sz="1200" dirty="0" err="1">
                <a:solidFill>
                  <a:srgbClr val="002060"/>
                </a:solidFill>
              </a:rPr>
              <a:t>tersebut</a:t>
            </a:r>
            <a:r>
              <a:rPr lang="en-US" sz="1200" dirty="0">
                <a:solidFill>
                  <a:srgbClr val="002060"/>
                </a:solidFill>
              </a:rPr>
              <a:t> </a:t>
            </a:r>
            <a:r>
              <a:rPr lang="en-US" sz="1200" dirty="0" err="1">
                <a:solidFill>
                  <a:srgbClr val="002060"/>
                </a:solidFill>
              </a:rPr>
              <a:t>terpasang</a:t>
            </a:r>
            <a:r>
              <a:rPr lang="en-US" sz="1200" dirty="0">
                <a:solidFill>
                  <a:srgbClr val="002060"/>
                </a:solidFill>
              </a:rPr>
              <a:t>. </a:t>
            </a:r>
            <a:r>
              <a:rPr lang="en-US" sz="1200" dirty="0" err="1">
                <a:solidFill>
                  <a:srgbClr val="002060"/>
                </a:solidFill>
              </a:rPr>
              <a:t>Dengan</a:t>
            </a:r>
            <a:r>
              <a:rPr lang="en-US" sz="1200" dirty="0">
                <a:solidFill>
                  <a:srgbClr val="002060"/>
                </a:solidFill>
              </a:rPr>
              <a:t> </a:t>
            </a:r>
            <a:r>
              <a:rPr lang="en-US" sz="1200" dirty="0" err="1">
                <a:solidFill>
                  <a:srgbClr val="002060"/>
                </a:solidFill>
              </a:rPr>
              <a:t>kita</a:t>
            </a:r>
            <a:r>
              <a:rPr lang="en-US" sz="1200" dirty="0">
                <a:solidFill>
                  <a:srgbClr val="002060"/>
                </a:solidFill>
              </a:rPr>
              <a:t> </a:t>
            </a:r>
            <a:r>
              <a:rPr lang="en-US" sz="1200" dirty="0" err="1">
                <a:solidFill>
                  <a:srgbClr val="002060"/>
                </a:solidFill>
              </a:rPr>
              <a:t>menambahkan</a:t>
            </a:r>
            <a:r>
              <a:rPr lang="en-US" sz="1200" dirty="0">
                <a:solidFill>
                  <a:srgbClr val="002060"/>
                </a:solidFill>
              </a:rPr>
              <a:t> network </a:t>
            </a:r>
            <a:r>
              <a:rPr lang="en-US" sz="1200" dirty="0" err="1">
                <a:solidFill>
                  <a:srgbClr val="002060"/>
                </a:solidFill>
              </a:rPr>
              <a:t>itu</a:t>
            </a:r>
            <a:r>
              <a:rPr lang="en-US" sz="1200" dirty="0">
                <a:solidFill>
                  <a:srgbClr val="002060"/>
                </a:solidFill>
              </a:rPr>
              <a:t> </a:t>
            </a:r>
            <a:r>
              <a:rPr lang="en-US" sz="1200" dirty="0" err="1">
                <a:solidFill>
                  <a:srgbClr val="002060"/>
                </a:solidFill>
              </a:rPr>
              <a:t>secara</a:t>
            </a:r>
            <a:r>
              <a:rPr lang="en-US" sz="1200" dirty="0">
                <a:solidFill>
                  <a:srgbClr val="002060"/>
                </a:solidFill>
              </a:rPr>
              <a:t> </a:t>
            </a:r>
            <a:r>
              <a:rPr lang="en-US" sz="1200" dirty="0" err="1">
                <a:solidFill>
                  <a:srgbClr val="002060"/>
                </a:solidFill>
              </a:rPr>
              <a:t>otomatis</a:t>
            </a:r>
            <a:r>
              <a:rPr lang="en-US" sz="1200" dirty="0">
                <a:solidFill>
                  <a:srgbClr val="002060"/>
                </a:solidFill>
              </a:rPr>
              <a:t> pula OSPF </a:t>
            </a:r>
            <a:r>
              <a:rPr lang="en-US" sz="1200" dirty="0" err="1">
                <a:solidFill>
                  <a:srgbClr val="002060"/>
                </a:solidFill>
              </a:rPr>
              <a:t>pada</a:t>
            </a:r>
            <a:r>
              <a:rPr lang="en-US" sz="1200" dirty="0">
                <a:solidFill>
                  <a:srgbClr val="002060"/>
                </a:solidFill>
              </a:rPr>
              <a:t> </a:t>
            </a:r>
            <a:r>
              <a:rPr lang="en-US" sz="1200" dirty="0" err="1">
                <a:solidFill>
                  <a:srgbClr val="002060"/>
                </a:solidFill>
              </a:rPr>
              <a:t>masing-masing</a:t>
            </a:r>
            <a:r>
              <a:rPr lang="en-US" sz="1200" dirty="0">
                <a:solidFill>
                  <a:srgbClr val="002060"/>
                </a:solidFill>
              </a:rPr>
              <a:t> router </a:t>
            </a:r>
            <a:r>
              <a:rPr lang="en-US" sz="1200" dirty="0" err="1">
                <a:solidFill>
                  <a:srgbClr val="002060"/>
                </a:solidFill>
              </a:rPr>
              <a:t>telah</a:t>
            </a:r>
            <a:r>
              <a:rPr lang="en-US" sz="1200" dirty="0">
                <a:solidFill>
                  <a:srgbClr val="002060"/>
                </a:solidFill>
              </a:rPr>
              <a:t> </a:t>
            </a:r>
            <a:r>
              <a:rPr lang="en-US" sz="1200" dirty="0" err="1">
                <a:solidFill>
                  <a:srgbClr val="002060"/>
                </a:solidFill>
              </a:rPr>
              <a:t>aktif</a:t>
            </a:r>
            <a:r>
              <a:rPr lang="en-US" sz="1200" dirty="0" smtClean="0">
                <a:solidFill>
                  <a:srgbClr val="002060"/>
                </a:solidFill>
              </a:rPr>
              <a:t>.</a:t>
            </a:r>
          </a:p>
          <a:p>
            <a:pPr algn="just"/>
            <a:r>
              <a:rPr lang="en-US" sz="1200" dirty="0">
                <a:solidFill>
                  <a:srgbClr val="002060"/>
                </a:solidFill>
              </a:rPr>
              <a:t/>
            </a:r>
            <a:br>
              <a:rPr lang="en-US" sz="1200" dirty="0">
                <a:solidFill>
                  <a:srgbClr val="002060"/>
                </a:solidFill>
              </a:rPr>
            </a:br>
            <a:r>
              <a:rPr lang="en-US" sz="1200" dirty="0" err="1">
                <a:solidFill>
                  <a:srgbClr val="002060"/>
                </a:solidFill>
              </a:rPr>
              <a:t>Pada</a:t>
            </a:r>
            <a:r>
              <a:rPr lang="en-US" sz="1200" dirty="0">
                <a:solidFill>
                  <a:srgbClr val="002060"/>
                </a:solidFill>
              </a:rPr>
              <a:t> menu IP -&gt; Routes </a:t>
            </a:r>
            <a:r>
              <a:rPr lang="en-US" sz="1200" dirty="0" err="1">
                <a:solidFill>
                  <a:srgbClr val="002060"/>
                </a:solidFill>
              </a:rPr>
              <a:t>juga</a:t>
            </a:r>
            <a:r>
              <a:rPr lang="en-US" sz="1200" dirty="0">
                <a:solidFill>
                  <a:srgbClr val="002060"/>
                </a:solidFill>
              </a:rPr>
              <a:t> </a:t>
            </a:r>
            <a:r>
              <a:rPr lang="en-US" sz="1200" dirty="0" err="1">
                <a:solidFill>
                  <a:srgbClr val="002060"/>
                </a:solidFill>
              </a:rPr>
              <a:t>akan</a:t>
            </a:r>
            <a:r>
              <a:rPr lang="en-US" sz="1200" dirty="0">
                <a:solidFill>
                  <a:srgbClr val="002060"/>
                </a:solidFill>
              </a:rPr>
              <a:t> </a:t>
            </a:r>
            <a:r>
              <a:rPr lang="en-US" sz="1200" dirty="0" err="1">
                <a:solidFill>
                  <a:srgbClr val="002060"/>
                </a:solidFill>
              </a:rPr>
              <a:t>ditambahkan</a:t>
            </a:r>
            <a:r>
              <a:rPr lang="en-US" sz="1200" dirty="0">
                <a:solidFill>
                  <a:srgbClr val="002060"/>
                </a:solidFill>
              </a:rPr>
              <a:t> </a:t>
            </a:r>
            <a:r>
              <a:rPr lang="en-US" sz="1200" dirty="0" err="1">
                <a:solidFill>
                  <a:srgbClr val="002060"/>
                </a:solidFill>
              </a:rPr>
              <a:t>secara</a:t>
            </a:r>
            <a:r>
              <a:rPr lang="en-US" sz="1200" dirty="0">
                <a:solidFill>
                  <a:srgbClr val="002060"/>
                </a:solidFill>
              </a:rPr>
              <a:t> </a:t>
            </a:r>
            <a:r>
              <a:rPr lang="en-US" sz="1200" dirty="0" err="1">
                <a:solidFill>
                  <a:srgbClr val="002060"/>
                </a:solidFill>
              </a:rPr>
              <a:t>dinamis</a:t>
            </a:r>
            <a:r>
              <a:rPr lang="en-US" sz="1200" dirty="0">
                <a:solidFill>
                  <a:srgbClr val="002060"/>
                </a:solidFill>
              </a:rPr>
              <a:t> rule routing </a:t>
            </a:r>
            <a:r>
              <a:rPr lang="en-US" sz="1200" dirty="0" err="1">
                <a:solidFill>
                  <a:srgbClr val="002060"/>
                </a:solidFill>
              </a:rPr>
              <a:t>baru</a:t>
            </a:r>
            <a:r>
              <a:rPr lang="en-US" sz="1200" dirty="0">
                <a:solidFill>
                  <a:srgbClr val="002060"/>
                </a:solidFill>
              </a:rPr>
              <a:t> </a:t>
            </a:r>
            <a:r>
              <a:rPr lang="en-US" sz="1200" dirty="0" err="1">
                <a:solidFill>
                  <a:srgbClr val="002060"/>
                </a:solidFill>
              </a:rPr>
              <a:t>dengan</a:t>
            </a:r>
            <a:r>
              <a:rPr lang="en-US" sz="1200" dirty="0">
                <a:solidFill>
                  <a:srgbClr val="002060"/>
                </a:solidFill>
              </a:rPr>
              <a:t> flag </a:t>
            </a:r>
            <a:r>
              <a:rPr lang="en-US" sz="1200" b="1" dirty="0" err="1">
                <a:solidFill>
                  <a:srgbClr val="002060"/>
                </a:solidFill>
              </a:rPr>
              <a:t>DAo</a:t>
            </a:r>
            <a:r>
              <a:rPr lang="en-US" sz="1200" b="1" dirty="0">
                <a:solidFill>
                  <a:srgbClr val="002060"/>
                </a:solidFill>
              </a:rPr>
              <a:t> </a:t>
            </a:r>
            <a:r>
              <a:rPr lang="en-US" sz="1200" dirty="0">
                <a:solidFill>
                  <a:srgbClr val="002060"/>
                </a:solidFill>
              </a:rPr>
              <a:t>(</a:t>
            </a:r>
            <a:r>
              <a:rPr lang="en-US" sz="1200" i="1" dirty="0" err="1">
                <a:solidFill>
                  <a:srgbClr val="002060"/>
                </a:solidFill>
              </a:rPr>
              <a:t>Dinamic</a:t>
            </a:r>
            <a:r>
              <a:rPr lang="en-US" sz="1200" i="1" dirty="0">
                <a:solidFill>
                  <a:srgbClr val="002060"/>
                </a:solidFill>
              </a:rPr>
              <a:t>, Active, </a:t>
            </a:r>
            <a:r>
              <a:rPr lang="en-US" sz="1200" i="1" dirty="0" err="1">
                <a:solidFill>
                  <a:srgbClr val="002060"/>
                </a:solidFill>
              </a:rPr>
              <a:t>Ospf</a:t>
            </a:r>
            <a:r>
              <a:rPr lang="en-US" sz="1200" dirty="0">
                <a:solidFill>
                  <a:srgbClr val="002060"/>
                </a:solidFill>
              </a:rPr>
              <a:t>).</a:t>
            </a:r>
            <a:endParaRPr lang="en-US" sz="1200" dirty="0">
              <a:solidFill>
                <a:srgbClr val="002060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69332" y="4343096"/>
            <a:ext cx="175836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b="1" dirty="0" smtClean="0">
                <a:solidFill>
                  <a:srgbClr val="002060"/>
                </a:solidFill>
              </a:rPr>
              <a:t>Test Ping </a:t>
            </a:r>
            <a:r>
              <a:rPr lang="en-US" sz="1200" b="1" dirty="0" err="1" smtClean="0">
                <a:solidFill>
                  <a:srgbClr val="002060"/>
                </a:solidFill>
              </a:rPr>
              <a:t>antara</a:t>
            </a:r>
            <a:r>
              <a:rPr lang="en-US" sz="1200" b="1" dirty="0" smtClean="0">
                <a:solidFill>
                  <a:srgbClr val="002060"/>
                </a:solidFill>
              </a:rPr>
              <a:t> Router </a:t>
            </a:r>
            <a:endParaRPr lang="en-US" sz="1200" b="1" dirty="0">
              <a:solidFill>
                <a:srgbClr val="002060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69333" y="126854"/>
            <a:ext cx="182280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b="1" dirty="0" smtClean="0">
                <a:solidFill>
                  <a:srgbClr val="002060"/>
                </a:solidFill>
              </a:rPr>
              <a:t>Router 3: OSPF </a:t>
            </a:r>
            <a:r>
              <a:rPr lang="en-US" sz="1200" b="1" dirty="0">
                <a:solidFill>
                  <a:srgbClr val="002060"/>
                </a:solidFill>
              </a:rPr>
              <a:t>Networks 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009" y="2065847"/>
            <a:ext cx="3829050" cy="200025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69333" y="4662704"/>
            <a:ext cx="563315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200" dirty="0" err="1" smtClean="0">
                <a:solidFill>
                  <a:srgbClr val="002060"/>
                </a:solidFill>
              </a:rPr>
              <a:t>Melakukan</a:t>
            </a:r>
            <a:r>
              <a:rPr lang="en-US" sz="1200" dirty="0" smtClean="0">
                <a:solidFill>
                  <a:srgbClr val="002060"/>
                </a:solidFill>
              </a:rPr>
              <a:t> </a:t>
            </a:r>
            <a:r>
              <a:rPr lang="en-US" sz="1200" dirty="0">
                <a:solidFill>
                  <a:srgbClr val="002060"/>
                </a:solidFill>
              </a:rPr>
              <a:t>test ping </a:t>
            </a:r>
            <a:r>
              <a:rPr lang="en-US" sz="1200" dirty="0" err="1">
                <a:solidFill>
                  <a:srgbClr val="002060"/>
                </a:solidFill>
              </a:rPr>
              <a:t>maka</a:t>
            </a:r>
            <a:r>
              <a:rPr lang="en-US" sz="1200" dirty="0">
                <a:solidFill>
                  <a:srgbClr val="002060"/>
                </a:solidFill>
              </a:rPr>
              <a:t> </a:t>
            </a:r>
            <a:r>
              <a:rPr lang="en-US" sz="1200" dirty="0" err="1">
                <a:solidFill>
                  <a:srgbClr val="002060"/>
                </a:solidFill>
              </a:rPr>
              <a:t>setiap</a:t>
            </a:r>
            <a:r>
              <a:rPr lang="en-US" sz="1200" dirty="0">
                <a:solidFill>
                  <a:srgbClr val="002060"/>
                </a:solidFill>
              </a:rPr>
              <a:t> </a:t>
            </a:r>
            <a:r>
              <a:rPr lang="en-US" sz="1200" dirty="0" err="1">
                <a:solidFill>
                  <a:srgbClr val="002060"/>
                </a:solidFill>
              </a:rPr>
              <a:t>jaringan</a:t>
            </a:r>
            <a:r>
              <a:rPr lang="en-US" sz="1200" dirty="0">
                <a:solidFill>
                  <a:srgbClr val="002060"/>
                </a:solidFill>
              </a:rPr>
              <a:t> </a:t>
            </a:r>
            <a:r>
              <a:rPr lang="en-US" sz="1200" dirty="0" err="1">
                <a:solidFill>
                  <a:srgbClr val="002060"/>
                </a:solidFill>
              </a:rPr>
              <a:t>lokal</a:t>
            </a:r>
            <a:r>
              <a:rPr lang="en-US" sz="1200" dirty="0">
                <a:solidFill>
                  <a:srgbClr val="002060"/>
                </a:solidFill>
              </a:rPr>
              <a:t> </a:t>
            </a:r>
            <a:r>
              <a:rPr lang="en-US" sz="1200" dirty="0" err="1">
                <a:solidFill>
                  <a:srgbClr val="002060"/>
                </a:solidFill>
              </a:rPr>
              <a:t>sudah</a:t>
            </a:r>
            <a:r>
              <a:rPr lang="en-US" sz="1200" dirty="0">
                <a:solidFill>
                  <a:srgbClr val="002060"/>
                </a:solidFill>
              </a:rPr>
              <a:t> </a:t>
            </a:r>
            <a:r>
              <a:rPr lang="en-US" sz="1200" dirty="0" err="1">
                <a:solidFill>
                  <a:srgbClr val="002060"/>
                </a:solidFill>
              </a:rPr>
              <a:t>bisa</a:t>
            </a:r>
            <a:r>
              <a:rPr lang="en-US" sz="1200" dirty="0">
                <a:solidFill>
                  <a:srgbClr val="002060"/>
                </a:solidFill>
              </a:rPr>
              <a:t> reply. Dan </a:t>
            </a:r>
            <a:r>
              <a:rPr lang="en-US" sz="1200" dirty="0" err="1">
                <a:solidFill>
                  <a:srgbClr val="002060"/>
                </a:solidFill>
              </a:rPr>
              <a:t>berarti</a:t>
            </a:r>
            <a:r>
              <a:rPr lang="en-US" sz="1200" dirty="0">
                <a:solidFill>
                  <a:srgbClr val="002060"/>
                </a:solidFill>
              </a:rPr>
              <a:t> </a:t>
            </a:r>
            <a:r>
              <a:rPr lang="en-US" sz="1200" dirty="0" err="1">
                <a:solidFill>
                  <a:srgbClr val="002060"/>
                </a:solidFill>
              </a:rPr>
              <a:t>konfigurasi</a:t>
            </a:r>
            <a:r>
              <a:rPr lang="en-US" sz="1200" dirty="0">
                <a:solidFill>
                  <a:srgbClr val="002060"/>
                </a:solidFill>
              </a:rPr>
              <a:t> </a:t>
            </a:r>
            <a:r>
              <a:rPr lang="en-US" sz="1200" dirty="0" err="1">
                <a:solidFill>
                  <a:srgbClr val="002060"/>
                </a:solidFill>
              </a:rPr>
              <a:t>untuk</a:t>
            </a:r>
            <a:r>
              <a:rPr lang="en-US" sz="1200" dirty="0">
                <a:solidFill>
                  <a:srgbClr val="002060"/>
                </a:solidFill>
              </a:rPr>
              <a:t> OSPF Backbone (Area 0) </a:t>
            </a:r>
            <a:r>
              <a:rPr lang="en-US" sz="1200" dirty="0" err="1">
                <a:solidFill>
                  <a:srgbClr val="002060"/>
                </a:solidFill>
              </a:rPr>
              <a:t>telah</a:t>
            </a:r>
            <a:r>
              <a:rPr lang="en-US" sz="1200" dirty="0">
                <a:solidFill>
                  <a:srgbClr val="002060"/>
                </a:solidFill>
              </a:rPr>
              <a:t> </a:t>
            </a:r>
            <a:r>
              <a:rPr lang="en-US" sz="1200" dirty="0" err="1">
                <a:solidFill>
                  <a:srgbClr val="002060"/>
                </a:solidFill>
              </a:rPr>
              <a:t>selesai</a:t>
            </a:r>
            <a:r>
              <a:rPr lang="en-US" sz="1200" dirty="0">
                <a:solidFill>
                  <a:srgbClr val="002060"/>
                </a:solidFill>
              </a:rPr>
              <a:t>. </a:t>
            </a:r>
            <a:endParaRPr lang="en-US" sz="1200" dirty="0">
              <a:solidFill>
                <a:srgbClr val="002060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214652" y="435172"/>
            <a:ext cx="563315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 algn="just">
              <a:buFont typeface="Wingdings" panose="05000000000000000000" pitchFamily="2" charset="2"/>
              <a:buChar char="ü"/>
            </a:pPr>
            <a:r>
              <a:rPr lang="en-US" sz="1200" dirty="0" smtClean="0">
                <a:solidFill>
                  <a:srgbClr val="002060"/>
                </a:solidFill>
              </a:rPr>
              <a:t>Setting </a:t>
            </a:r>
            <a:r>
              <a:rPr lang="en-US" sz="1200" dirty="0" err="1">
                <a:solidFill>
                  <a:srgbClr val="002060"/>
                </a:solidFill>
              </a:rPr>
              <a:t>ospf</a:t>
            </a:r>
            <a:r>
              <a:rPr lang="en-US" sz="1200" dirty="0">
                <a:solidFill>
                  <a:srgbClr val="002060"/>
                </a:solidFill>
              </a:rPr>
              <a:t> </a:t>
            </a:r>
            <a:r>
              <a:rPr lang="en-US" sz="1200" dirty="0" err="1">
                <a:solidFill>
                  <a:srgbClr val="002060"/>
                </a:solidFill>
              </a:rPr>
              <a:t>dengan</a:t>
            </a:r>
            <a:r>
              <a:rPr lang="en-US" sz="1200" dirty="0">
                <a:solidFill>
                  <a:srgbClr val="002060"/>
                </a:solidFill>
              </a:rPr>
              <a:t> backbone area </a:t>
            </a:r>
            <a:r>
              <a:rPr lang="en-US" sz="1200" dirty="0" err="1">
                <a:solidFill>
                  <a:srgbClr val="002060"/>
                </a:solidFill>
              </a:rPr>
              <a:t>untuk</a:t>
            </a:r>
            <a:r>
              <a:rPr lang="en-US" sz="1200" dirty="0">
                <a:solidFill>
                  <a:srgbClr val="002060"/>
                </a:solidFill>
              </a:rPr>
              <a:t> 'advertise' IP Loopback </a:t>
            </a:r>
            <a:r>
              <a:rPr lang="en-US" sz="1200" dirty="0" err="1" smtClean="0">
                <a:solidFill>
                  <a:srgbClr val="002060"/>
                </a:solidFill>
              </a:rPr>
              <a:t>tersebut</a:t>
            </a:r>
            <a:r>
              <a:rPr lang="en-US" sz="1200" dirty="0" smtClean="0">
                <a:solidFill>
                  <a:srgbClr val="002060"/>
                </a:solidFill>
              </a:rPr>
              <a:t>. Yang </a:t>
            </a:r>
            <a:r>
              <a:rPr lang="en-US" sz="1200" dirty="0" err="1">
                <a:solidFill>
                  <a:srgbClr val="002060"/>
                </a:solidFill>
              </a:rPr>
              <a:t>perlu</a:t>
            </a:r>
            <a:r>
              <a:rPr lang="en-US" sz="1200" dirty="0">
                <a:solidFill>
                  <a:srgbClr val="002060"/>
                </a:solidFill>
              </a:rPr>
              <a:t> </a:t>
            </a:r>
            <a:r>
              <a:rPr lang="en-US" sz="1200" dirty="0" err="1">
                <a:solidFill>
                  <a:srgbClr val="002060"/>
                </a:solidFill>
              </a:rPr>
              <a:t>diperhatikan</a:t>
            </a:r>
            <a:r>
              <a:rPr lang="en-US" sz="1200" dirty="0">
                <a:solidFill>
                  <a:srgbClr val="002060"/>
                </a:solidFill>
              </a:rPr>
              <a:t> </a:t>
            </a:r>
            <a:r>
              <a:rPr lang="en-US" sz="1200" dirty="0" err="1">
                <a:solidFill>
                  <a:srgbClr val="002060"/>
                </a:solidFill>
              </a:rPr>
              <a:t>dari</a:t>
            </a:r>
            <a:r>
              <a:rPr lang="en-US" sz="1200" dirty="0">
                <a:solidFill>
                  <a:srgbClr val="002060"/>
                </a:solidFill>
              </a:rPr>
              <a:t> </a:t>
            </a:r>
            <a:r>
              <a:rPr lang="en-US" sz="1200" dirty="0" err="1">
                <a:solidFill>
                  <a:srgbClr val="002060"/>
                </a:solidFill>
              </a:rPr>
              <a:t>konfigurasi</a:t>
            </a:r>
            <a:r>
              <a:rPr lang="en-US" sz="1200" dirty="0">
                <a:solidFill>
                  <a:srgbClr val="002060"/>
                </a:solidFill>
              </a:rPr>
              <a:t> OSPF </a:t>
            </a:r>
            <a:r>
              <a:rPr lang="en-US" sz="1200" dirty="0" err="1">
                <a:solidFill>
                  <a:srgbClr val="002060"/>
                </a:solidFill>
              </a:rPr>
              <a:t>ini</a:t>
            </a:r>
            <a:r>
              <a:rPr lang="en-US" sz="1200" dirty="0">
                <a:solidFill>
                  <a:srgbClr val="002060"/>
                </a:solidFill>
              </a:rPr>
              <a:t> </a:t>
            </a:r>
            <a:r>
              <a:rPr lang="en-US" sz="1200" dirty="0" err="1">
                <a:solidFill>
                  <a:srgbClr val="002060"/>
                </a:solidFill>
              </a:rPr>
              <a:t>adalah</a:t>
            </a:r>
            <a:r>
              <a:rPr lang="en-US" sz="1200" dirty="0">
                <a:solidFill>
                  <a:srgbClr val="002060"/>
                </a:solidFill>
              </a:rPr>
              <a:t> di </a:t>
            </a:r>
            <a:r>
              <a:rPr lang="en-US" sz="1200" dirty="0" err="1">
                <a:solidFill>
                  <a:srgbClr val="002060"/>
                </a:solidFill>
              </a:rPr>
              <a:t>masing-masing</a:t>
            </a:r>
            <a:r>
              <a:rPr lang="en-US" sz="1200" dirty="0">
                <a:solidFill>
                  <a:srgbClr val="002060"/>
                </a:solidFill>
              </a:rPr>
              <a:t> router MPLS </a:t>
            </a:r>
            <a:r>
              <a:rPr lang="en-US" sz="1200" dirty="0" err="1">
                <a:solidFill>
                  <a:srgbClr val="002060"/>
                </a:solidFill>
              </a:rPr>
              <a:t>pastikan</a:t>
            </a:r>
            <a:r>
              <a:rPr lang="en-US" sz="1200" dirty="0">
                <a:solidFill>
                  <a:srgbClr val="002060"/>
                </a:solidFill>
              </a:rPr>
              <a:t> routing </a:t>
            </a:r>
            <a:r>
              <a:rPr lang="en-US" sz="1200" dirty="0" err="1">
                <a:solidFill>
                  <a:srgbClr val="002060"/>
                </a:solidFill>
              </a:rPr>
              <a:t>ke</a:t>
            </a:r>
            <a:r>
              <a:rPr lang="en-US" sz="1200" dirty="0">
                <a:solidFill>
                  <a:srgbClr val="002060"/>
                </a:solidFill>
              </a:rPr>
              <a:t> IP Loopback </a:t>
            </a:r>
            <a:r>
              <a:rPr lang="en-US" sz="1200" dirty="0" err="1">
                <a:solidFill>
                  <a:srgbClr val="002060"/>
                </a:solidFill>
              </a:rPr>
              <a:t>setiap</a:t>
            </a:r>
            <a:r>
              <a:rPr lang="en-US" sz="1200" dirty="0">
                <a:solidFill>
                  <a:srgbClr val="002060"/>
                </a:solidFill>
              </a:rPr>
              <a:t> router </a:t>
            </a:r>
            <a:r>
              <a:rPr lang="en-US" sz="1200" dirty="0" err="1">
                <a:solidFill>
                  <a:srgbClr val="002060"/>
                </a:solidFill>
              </a:rPr>
              <a:t>sudah</a:t>
            </a:r>
            <a:r>
              <a:rPr lang="en-US" sz="1200" dirty="0">
                <a:solidFill>
                  <a:srgbClr val="002060"/>
                </a:solidFill>
              </a:rPr>
              <a:t> </a:t>
            </a:r>
            <a:r>
              <a:rPr lang="en-US" sz="1200" dirty="0" err="1">
                <a:solidFill>
                  <a:srgbClr val="002060"/>
                </a:solidFill>
              </a:rPr>
              <a:t>muncul</a:t>
            </a:r>
            <a:r>
              <a:rPr lang="en-US" sz="1200" dirty="0">
                <a:solidFill>
                  <a:srgbClr val="002060"/>
                </a:solidFill>
              </a:rPr>
              <a:t>.</a:t>
            </a:r>
            <a:endParaRPr lang="en-US" sz="1200" dirty="0">
              <a:solidFill>
                <a:srgbClr val="002060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098207" y="19131"/>
            <a:ext cx="36257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002060"/>
                </a:solidFill>
              </a:rPr>
              <a:t>Step </a:t>
            </a:r>
            <a:r>
              <a:rPr lang="en-US" b="1" dirty="0" smtClean="0">
                <a:solidFill>
                  <a:srgbClr val="002060"/>
                </a:solidFill>
              </a:rPr>
              <a:t>2: </a:t>
            </a:r>
            <a:r>
              <a:rPr lang="en-US" dirty="0"/>
              <a:t>Setting </a:t>
            </a:r>
            <a:r>
              <a:rPr lang="en-US" dirty="0" err="1"/>
              <a:t>ospf</a:t>
            </a:r>
            <a:r>
              <a:rPr lang="en-US" dirty="0"/>
              <a:t> </a:t>
            </a:r>
            <a:r>
              <a:rPr lang="en-US" b="1" dirty="0" smtClean="0">
                <a:solidFill>
                  <a:srgbClr val="002060"/>
                </a:solidFill>
              </a:rPr>
              <a:t>backbone </a:t>
            </a:r>
            <a:r>
              <a:rPr lang="en-US" b="1" dirty="0">
                <a:solidFill>
                  <a:srgbClr val="002060"/>
                </a:solidFill>
              </a:rPr>
              <a:t>area 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3258" y="1188231"/>
            <a:ext cx="2658208" cy="1837192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10133" y="1188231"/>
            <a:ext cx="2893190" cy="2022943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7632362" y="3026508"/>
            <a:ext cx="223958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/>
              <a:t>Route List </a:t>
            </a:r>
            <a:r>
              <a:rPr lang="en-US" sz="1200" dirty="0" err="1"/>
              <a:t>dari</a:t>
            </a:r>
            <a:r>
              <a:rPr lang="en-US" sz="1200" dirty="0"/>
              <a:t> </a:t>
            </a:r>
            <a:r>
              <a:rPr lang="en-US" sz="1200" dirty="0" err="1"/>
              <a:t>masing-masing</a:t>
            </a:r>
            <a:r>
              <a:rPr lang="en-US" sz="1200" dirty="0"/>
              <a:t> PE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4651" y="3608846"/>
            <a:ext cx="563315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 algn="just">
              <a:buFont typeface="Wingdings" panose="05000000000000000000" pitchFamily="2" charset="2"/>
              <a:buChar char="ü"/>
            </a:pPr>
            <a:r>
              <a:rPr lang="en-US" sz="1200" dirty="0" err="1">
                <a:solidFill>
                  <a:srgbClr val="002060"/>
                </a:solidFill>
              </a:rPr>
              <a:t>Setelah</a:t>
            </a:r>
            <a:r>
              <a:rPr lang="en-US" sz="1200" dirty="0">
                <a:solidFill>
                  <a:srgbClr val="002060"/>
                </a:solidFill>
              </a:rPr>
              <a:t> </a:t>
            </a:r>
            <a:r>
              <a:rPr lang="en-US" sz="1200" dirty="0" err="1">
                <a:solidFill>
                  <a:srgbClr val="002060"/>
                </a:solidFill>
              </a:rPr>
              <a:t>semua</a:t>
            </a:r>
            <a:r>
              <a:rPr lang="en-US" sz="1200" dirty="0">
                <a:solidFill>
                  <a:srgbClr val="002060"/>
                </a:solidFill>
              </a:rPr>
              <a:t> IP Loopback </a:t>
            </a:r>
            <a:r>
              <a:rPr lang="en-US" sz="1200" dirty="0" err="1">
                <a:solidFill>
                  <a:srgbClr val="002060"/>
                </a:solidFill>
              </a:rPr>
              <a:t>sudah</a:t>
            </a:r>
            <a:r>
              <a:rPr lang="en-US" sz="1200" dirty="0">
                <a:solidFill>
                  <a:srgbClr val="002060"/>
                </a:solidFill>
              </a:rPr>
              <a:t> </a:t>
            </a:r>
            <a:r>
              <a:rPr lang="en-US" sz="1200" dirty="0" err="1">
                <a:solidFill>
                  <a:srgbClr val="002060"/>
                </a:solidFill>
              </a:rPr>
              <a:t>masuk</a:t>
            </a:r>
            <a:r>
              <a:rPr lang="en-US" sz="1200" dirty="0">
                <a:solidFill>
                  <a:srgbClr val="002060"/>
                </a:solidFill>
              </a:rPr>
              <a:t> di Route List, </a:t>
            </a:r>
            <a:r>
              <a:rPr lang="en-US" sz="1200" dirty="0" err="1">
                <a:solidFill>
                  <a:srgbClr val="002060"/>
                </a:solidFill>
              </a:rPr>
              <a:t>kita</a:t>
            </a:r>
            <a:r>
              <a:rPr lang="en-US" sz="1200" dirty="0">
                <a:solidFill>
                  <a:srgbClr val="002060"/>
                </a:solidFill>
              </a:rPr>
              <a:t> </a:t>
            </a:r>
            <a:r>
              <a:rPr lang="en-US" sz="1200" dirty="0" err="1">
                <a:solidFill>
                  <a:srgbClr val="002060"/>
                </a:solidFill>
              </a:rPr>
              <a:t>akan</a:t>
            </a:r>
            <a:r>
              <a:rPr lang="en-US" sz="1200" dirty="0">
                <a:solidFill>
                  <a:srgbClr val="002060"/>
                </a:solidFill>
              </a:rPr>
              <a:t> </a:t>
            </a:r>
            <a:r>
              <a:rPr lang="en-US" sz="1200" dirty="0" err="1">
                <a:solidFill>
                  <a:srgbClr val="002060"/>
                </a:solidFill>
              </a:rPr>
              <a:t>konfigurasi</a:t>
            </a:r>
            <a:r>
              <a:rPr lang="en-US" sz="1200" dirty="0">
                <a:solidFill>
                  <a:srgbClr val="002060"/>
                </a:solidFill>
              </a:rPr>
              <a:t> </a:t>
            </a:r>
            <a:r>
              <a:rPr lang="en-US" sz="1200" dirty="0" err="1">
                <a:solidFill>
                  <a:srgbClr val="002060"/>
                </a:solidFill>
              </a:rPr>
              <a:t>jaringan</a:t>
            </a:r>
            <a:r>
              <a:rPr lang="en-US" sz="1200" dirty="0">
                <a:solidFill>
                  <a:srgbClr val="002060"/>
                </a:solidFill>
              </a:rPr>
              <a:t> </a:t>
            </a:r>
            <a:r>
              <a:rPr lang="en-US" sz="1200" dirty="0" err="1">
                <a:solidFill>
                  <a:srgbClr val="002060"/>
                </a:solidFill>
              </a:rPr>
              <a:t>MPLSnya</a:t>
            </a:r>
            <a:r>
              <a:rPr lang="en-US" sz="1200" dirty="0">
                <a:solidFill>
                  <a:srgbClr val="002060"/>
                </a:solidFill>
              </a:rPr>
              <a:t>. </a:t>
            </a:r>
            <a:r>
              <a:rPr lang="en-US" sz="1200" dirty="0" err="1">
                <a:solidFill>
                  <a:srgbClr val="002060"/>
                </a:solidFill>
              </a:rPr>
              <a:t>Pilih</a:t>
            </a:r>
            <a:r>
              <a:rPr lang="en-US" sz="1200" dirty="0">
                <a:solidFill>
                  <a:srgbClr val="002060"/>
                </a:solidFill>
              </a:rPr>
              <a:t> Menu MPLS --&gt; MPLS --&gt; LDP Interface --&gt; </a:t>
            </a:r>
            <a:r>
              <a:rPr lang="en-US" sz="1200" dirty="0" err="1">
                <a:solidFill>
                  <a:srgbClr val="002060"/>
                </a:solidFill>
              </a:rPr>
              <a:t>Klik</a:t>
            </a:r>
            <a:r>
              <a:rPr lang="en-US" sz="1200" dirty="0">
                <a:solidFill>
                  <a:srgbClr val="002060"/>
                </a:solidFill>
              </a:rPr>
              <a:t> Add [+]. Kita </a:t>
            </a:r>
            <a:r>
              <a:rPr lang="en-US" sz="1200" dirty="0" err="1">
                <a:solidFill>
                  <a:srgbClr val="002060"/>
                </a:solidFill>
              </a:rPr>
              <a:t>tentukan</a:t>
            </a:r>
            <a:r>
              <a:rPr lang="en-US" sz="1200" dirty="0">
                <a:solidFill>
                  <a:srgbClr val="002060"/>
                </a:solidFill>
              </a:rPr>
              <a:t> interface </a:t>
            </a:r>
            <a:r>
              <a:rPr lang="en-US" sz="1200" dirty="0" err="1">
                <a:solidFill>
                  <a:srgbClr val="002060"/>
                </a:solidFill>
              </a:rPr>
              <a:t>dari</a:t>
            </a:r>
            <a:r>
              <a:rPr lang="en-US" sz="1200" dirty="0">
                <a:solidFill>
                  <a:srgbClr val="002060"/>
                </a:solidFill>
              </a:rPr>
              <a:t> router yang </a:t>
            </a:r>
            <a:r>
              <a:rPr lang="en-US" sz="1200" dirty="0" err="1">
                <a:solidFill>
                  <a:srgbClr val="002060"/>
                </a:solidFill>
              </a:rPr>
              <a:t>tersambung</a:t>
            </a:r>
            <a:r>
              <a:rPr lang="en-US" sz="1200" dirty="0">
                <a:solidFill>
                  <a:srgbClr val="002060"/>
                </a:solidFill>
              </a:rPr>
              <a:t> </a:t>
            </a:r>
            <a:r>
              <a:rPr lang="en-US" sz="1200" dirty="0" err="1">
                <a:solidFill>
                  <a:srgbClr val="002060"/>
                </a:solidFill>
              </a:rPr>
              <a:t>ke</a:t>
            </a:r>
            <a:r>
              <a:rPr lang="en-US" sz="1200" dirty="0">
                <a:solidFill>
                  <a:srgbClr val="002060"/>
                </a:solidFill>
              </a:rPr>
              <a:t> router </a:t>
            </a:r>
            <a:r>
              <a:rPr lang="en-US" sz="1200" dirty="0" err="1">
                <a:solidFill>
                  <a:srgbClr val="002060"/>
                </a:solidFill>
              </a:rPr>
              <a:t>lainnya</a:t>
            </a:r>
            <a:r>
              <a:rPr lang="en-US" sz="1200" dirty="0">
                <a:solidFill>
                  <a:srgbClr val="002060"/>
                </a:solidFill>
              </a:rPr>
              <a:t> yang </a:t>
            </a:r>
            <a:r>
              <a:rPr lang="en-US" sz="1200" dirty="0" err="1">
                <a:solidFill>
                  <a:srgbClr val="002060"/>
                </a:solidFill>
              </a:rPr>
              <a:t>berada</a:t>
            </a:r>
            <a:r>
              <a:rPr lang="en-US" sz="1200" dirty="0">
                <a:solidFill>
                  <a:srgbClr val="002060"/>
                </a:solidFill>
              </a:rPr>
              <a:t> di </a:t>
            </a:r>
            <a:r>
              <a:rPr lang="en-US" sz="1200" dirty="0" err="1">
                <a:solidFill>
                  <a:srgbClr val="002060"/>
                </a:solidFill>
              </a:rPr>
              <a:t>dalam</a:t>
            </a:r>
            <a:r>
              <a:rPr lang="en-US" sz="1200" dirty="0">
                <a:solidFill>
                  <a:srgbClr val="002060"/>
                </a:solidFill>
              </a:rPr>
              <a:t> </a:t>
            </a:r>
            <a:r>
              <a:rPr lang="en-US" sz="1200" dirty="0" err="1">
                <a:solidFill>
                  <a:srgbClr val="002060"/>
                </a:solidFill>
              </a:rPr>
              <a:t>jaringan</a:t>
            </a:r>
            <a:r>
              <a:rPr lang="en-US" sz="1200" dirty="0">
                <a:solidFill>
                  <a:srgbClr val="002060"/>
                </a:solidFill>
              </a:rPr>
              <a:t> MPLS</a:t>
            </a:r>
            <a:r>
              <a:rPr lang="en-US" sz="1200" dirty="0" smtClean="0">
                <a:solidFill>
                  <a:srgbClr val="002060"/>
                </a:solidFill>
              </a:rPr>
              <a:t>.</a:t>
            </a: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32362" y="4413754"/>
            <a:ext cx="2793117" cy="22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51782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226225" y="440891"/>
            <a:ext cx="4898929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 algn="just">
              <a:buFont typeface="Wingdings" panose="05000000000000000000" pitchFamily="2" charset="2"/>
              <a:buChar char="ü"/>
            </a:pPr>
            <a:r>
              <a:rPr lang="en-US" sz="1200" dirty="0" err="1">
                <a:solidFill>
                  <a:srgbClr val="002060"/>
                </a:solidFill>
              </a:rPr>
              <a:t>Selanjutnya</a:t>
            </a:r>
            <a:r>
              <a:rPr lang="en-US" sz="1200" dirty="0">
                <a:solidFill>
                  <a:srgbClr val="002060"/>
                </a:solidFill>
              </a:rPr>
              <a:t> di TAB yang </a:t>
            </a:r>
            <a:r>
              <a:rPr lang="en-US" sz="1200" dirty="0" err="1">
                <a:solidFill>
                  <a:srgbClr val="002060"/>
                </a:solidFill>
              </a:rPr>
              <a:t>sama</a:t>
            </a:r>
            <a:r>
              <a:rPr lang="en-US" sz="1200" dirty="0">
                <a:solidFill>
                  <a:srgbClr val="002060"/>
                </a:solidFill>
              </a:rPr>
              <a:t> (LDP Interface), </a:t>
            </a:r>
            <a:r>
              <a:rPr lang="en-US" sz="1200" dirty="0" err="1">
                <a:solidFill>
                  <a:srgbClr val="002060"/>
                </a:solidFill>
              </a:rPr>
              <a:t>kita</a:t>
            </a:r>
            <a:r>
              <a:rPr lang="en-US" sz="1200" dirty="0">
                <a:solidFill>
                  <a:srgbClr val="002060"/>
                </a:solidFill>
              </a:rPr>
              <a:t> </a:t>
            </a:r>
            <a:r>
              <a:rPr lang="en-US" sz="1200" dirty="0" err="1">
                <a:solidFill>
                  <a:srgbClr val="002060"/>
                </a:solidFill>
              </a:rPr>
              <a:t>juga</a:t>
            </a:r>
            <a:r>
              <a:rPr lang="en-US" sz="1200" dirty="0">
                <a:solidFill>
                  <a:srgbClr val="002060"/>
                </a:solidFill>
              </a:rPr>
              <a:t> </a:t>
            </a:r>
            <a:r>
              <a:rPr lang="en-US" sz="1200" dirty="0" err="1">
                <a:solidFill>
                  <a:srgbClr val="002060"/>
                </a:solidFill>
              </a:rPr>
              <a:t>konfigurasi</a:t>
            </a:r>
            <a:r>
              <a:rPr lang="en-US" sz="1200" dirty="0">
                <a:solidFill>
                  <a:srgbClr val="002060"/>
                </a:solidFill>
              </a:rPr>
              <a:t> </a:t>
            </a:r>
            <a:r>
              <a:rPr lang="en-US" sz="1200" dirty="0" err="1">
                <a:solidFill>
                  <a:srgbClr val="002060"/>
                </a:solidFill>
              </a:rPr>
              <a:t>pada</a:t>
            </a:r>
            <a:r>
              <a:rPr lang="en-US" sz="1200" dirty="0">
                <a:solidFill>
                  <a:srgbClr val="002060"/>
                </a:solidFill>
              </a:rPr>
              <a:t> "LDP Settings". </a:t>
            </a:r>
            <a:r>
              <a:rPr lang="en-US" sz="1200" dirty="0" err="1">
                <a:solidFill>
                  <a:srgbClr val="002060"/>
                </a:solidFill>
              </a:rPr>
              <a:t>Disitu</a:t>
            </a:r>
            <a:r>
              <a:rPr lang="en-US" sz="1200" dirty="0">
                <a:solidFill>
                  <a:srgbClr val="002060"/>
                </a:solidFill>
              </a:rPr>
              <a:t> </a:t>
            </a:r>
            <a:r>
              <a:rPr lang="en-US" sz="1200" dirty="0" err="1">
                <a:solidFill>
                  <a:srgbClr val="002060"/>
                </a:solidFill>
              </a:rPr>
              <a:t>kita</a:t>
            </a:r>
            <a:r>
              <a:rPr lang="en-US" sz="1200" dirty="0">
                <a:solidFill>
                  <a:srgbClr val="002060"/>
                </a:solidFill>
              </a:rPr>
              <a:t> </a:t>
            </a:r>
            <a:r>
              <a:rPr lang="en-US" sz="1200" dirty="0" err="1">
                <a:solidFill>
                  <a:srgbClr val="002060"/>
                </a:solidFill>
              </a:rPr>
              <a:t>aktifkan</a:t>
            </a:r>
            <a:r>
              <a:rPr lang="en-US" sz="1200" dirty="0">
                <a:solidFill>
                  <a:srgbClr val="002060"/>
                </a:solidFill>
              </a:rPr>
              <a:t> LDP (Label Distribution Protocol) </a:t>
            </a:r>
            <a:r>
              <a:rPr lang="en-US" sz="1200" dirty="0" err="1">
                <a:solidFill>
                  <a:srgbClr val="002060"/>
                </a:solidFill>
              </a:rPr>
              <a:t>dengan</a:t>
            </a:r>
            <a:r>
              <a:rPr lang="en-US" sz="1200" dirty="0">
                <a:solidFill>
                  <a:srgbClr val="002060"/>
                </a:solidFill>
              </a:rPr>
              <a:t> </a:t>
            </a:r>
            <a:r>
              <a:rPr lang="en-US" sz="1200" dirty="0" err="1">
                <a:solidFill>
                  <a:srgbClr val="002060"/>
                </a:solidFill>
              </a:rPr>
              <a:t>mencentang</a:t>
            </a:r>
            <a:r>
              <a:rPr lang="en-US" sz="1200" dirty="0">
                <a:solidFill>
                  <a:srgbClr val="002060"/>
                </a:solidFill>
              </a:rPr>
              <a:t> </a:t>
            </a:r>
            <a:r>
              <a:rPr lang="en-US" sz="1200" dirty="0" err="1">
                <a:solidFill>
                  <a:srgbClr val="002060"/>
                </a:solidFill>
              </a:rPr>
              <a:t>opsi</a:t>
            </a:r>
            <a:r>
              <a:rPr lang="en-US" sz="1200" dirty="0">
                <a:solidFill>
                  <a:srgbClr val="002060"/>
                </a:solidFill>
              </a:rPr>
              <a:t> 'Enabled'. Dan </a:t>
            </a:r>
            <a:r>
              <a:rPr lang="en-US" sz="1200" dirty="0" err="1">
                <a:solidFill>
                  <a:srgbClr val="002060"/>
                </a:solidFill>
              </a:rPr>
              <a:t>juga</a:t>
            </a:r>
            <a:r>
              <a:rPr lang="en-US" sz="1200" dirty="0">
                <a:solidFill>
                  <a:srgbClr val="002060"/>
                </a:solidFill>
              </a:rPr>
              <a:t> di parameter "LSR ID" </a:t>
            </a:r>
            <a:r>
              <a:rPr lang="en-US" sz="1200" dirty="0" err="1">
                <a:solidFill>
                  <a:srgbClr val="002060"/>
                </a:solidFill>
              </a:rPr>
              <a:t>dan</a:t>
            </a:r>
            <a:r>
              <a:rPr lang="en-US" sz="1200" dirty="0">
                <a:solidFill>
                  <a:srgbClr val="002060"/>
                </a:solidFill>
              </a:rPr>
              <a:t> "Transport Address", </a:t>
            </a:r>
            <a:r>
              <a:rPr lang="en-US" sz="1200" dirty="0" err="1">
                <a:solidFill>
                  <a:srgbClr val="002060"/>
                </a:solidFill>
              </a:rPr>
              <a:t>kita</a:t>
            </a:r>
            <a:r>
              <a:rPr lang="en-US" sz="1200" dirty="0">
                <a:solidFill>
                  <a:srgbClr val="002060"/>
                </a:solidFill>
              </a:rPr>
              <a:t> </a:t>
            </a:r>
            <a:r>
              <a:rPr lang="en-US" sz="1200" dirty="0" err="1">
                <a:solidFill>
                  <a:srgbClr val="002060"/>
                </a:solidFill>
              </a:rPr>
              <a:t>isikan</a:t>
            </a:r>
            <a:r>
              <a:rPr lang="en-US" sz="1200" dirty="0">
                <a:solidFill>
                  <a:srgbClr val="002060"/>
                </a:solidFill>
              </a:rPr>
              <a:t> </a:t>
            </a:r>
            <a:r>
              <a:rPr lang="en-US" sz="1200" dirty="0" err="1">
                <a:solidFill>
                  <a:srgbClr val="002060"/>
                </a:solidFill>
              </a:rPr>
              <a:t>alamat</a:t>
            </a:r>
            <a:r>
              <a:rPr lang="en-US" sz="1200" dirty="0">
                <a:solidFill>
                  <a:srgbClr val="002060"/>
                </a:solidFill>
              </a:rPr>
              <a:t> IP Loopback yang </a:t>
            </a:r>
            <a:r>
              <a:rPr lang="en-US" sz="1200" dirty="0" err="1">
                <a:solidFill>
                  <a:srgbClr val="002060"/>
                </a:solidFill>
              </a:rPr>
              <a:t>terpasang</a:t>
            </a:r>
            <a:r>
              <a:rPr lang="en-US" sz="1200" dirty="0">
                <a:solidFill>
                  <a:srgbClr val="002060"/>
                </a:solidFill>
              </a:rPr>
              <a:t> di router.</a:t>
            </a:r>
            <a:endParaRPr lang="en-US" sz="1200" dirty="0">
              <a:solidFill>
                <a:srgbClr val="002060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8143456" y="4423"/>
            <a:ext cx="415754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chemeClr val="bg2">
                    <a:lumMod val="50000"/>
                  </a:schemeClr>
                </a:solidFill>
              </a:rPr>
              <a:t>MPLS </a:t>
            </a:r>
            <a:r>
              <a:rPr lang="en-US" sz="2800" dirty="0" err="1">
                <a:solidFill>
                  <a:schemeClr val="bg2">
                    <a:lumMod val="50000"/>
                  </a:schemeClr>
                </a:solidFill>
              </a:rPr>
              <a:t>pada</a:t>
            </a:r>
            <a:r>
              <a:rPr lang="en-US" sz="28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sz="2800" dirty="0" err="1" smtClean="0">
                <a:solidFill>
                  <a:schemeClr val="bg2">
                    <a:lumMod val="50000"/>
                  </a:schemeClr>
                </a:solidFill>
              </a:rPr>
              <a:t>MikroTik</a:t>
            </a:r>
            <a:r>
              <a:rPr lang="en-US" sz="2800" dirty="0" smtClean="0">
                <a:solidFill>
                  <a:schemeClr val="bg2">
                    <a:lumMod val="50000"/>
                  </a:schemeClr>
                </a:solidFill>
              </a:rPr>
              <a:t>(</a:t>
            </a:r>
            <a:r>
              <a:rPr lang="en-US" sz="2800" dirty="0" err="1" smtClean="0">
                <a:solidFill>
                  <a:schemeClr val="bg2">
                    <a:lumMod val="50000"/>
                  </a:schemeClr>
                </a:solidFill>
              </a:rPr>
              <a:t>Con’t</a:t>
            </a:r>
            <a:r>
              <a:rPr lang="en-US" sz="2800" dirty="0" smtClean="0">
                <a:solidFill>
                  <a:schemeClr val="bg2">
                    <a:lumMod val="50000"/>
                  </a:schemeClr>
                </a:solidFill>
              </a:rPr>
              <a:t>)</a:t>
            </a:r>
            <a:endParaRPr lang="en-US" sz="2800" dirty="0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445" y="1263134"/>
            <a:ext cx="2875539" cy="239510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327828" y="3658239"/>
            <a:ext cx="4898929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200" dirty="0" err="1"/>
              <a:t>Konfigurasi</a:t>
            </a:r>
            <a:r>
              <a:rPr lang="en-US" sz="1200" dirty="0"/>
              <a:t> </a:t>
            </a:r>
            <a:r>
              <a:rPr lang="en-US" sz="1200" dirty="0" err="1"/>
              <a:t>diatas</a:t>
            </a:r>
            <a:r>
              <a:rPr lang="en-US" sz="1200" dirty="0"/>
              <a:t> </a:t>
            </a:r>
            <a:r>
              <a:rPr lang="en-US" sz="1200" dirty="0" err="1"/>
              <a:t>dilakukan</a:t>
            </a:r>
            <a:r>
              <a:rPr lang="en-US" sz="1200" dirty="0"/>
              <a:t> </a:t>
            </a:r>
            <a:r>
              <a:rPr lang="en-US" sz="1200" b="1" i="1" dirty="0" err="1"/>
              <a:t>pada</a:t>
            </a:r>
            <a:r>
              <a:rPr lang="en-US" sz="1200" b="1" i="1" dirty="0"/>
              <a:t> </a:t>
            </a:r>
            <a:r>
              <a:rPr lang="en-US" sz="1200" b="1" i="1" dirty="0" err="1"/>
              <a:t>setiap</a:t>
            </a:r>
            <a:r>
              <a:rPr lang="en-US" sz="1200" b="1" i="1" dirty="0"/>
              <a:t> router yang </a:t>
            </a:r>
            <a:r>
              <a:rPr lang="en-US" sz="1200" b="1" i="1" dirty="0" err="1"/>
              <a:t>terhubung</a:t>
            </a:r>
            <a:r>
              <a:rPr lang="en-US" sz="1200" b="1" i="1" dirty="0"/>
              <a:t> </a:t>
            </a:r>
            <a:r>
              <a:rPr lang="en-US" sz="1200" b="1" i="1" dirty="0" err="1"/>
              <a:t>ke</a:t>
            </a:r>
            <a:r>
              <a:rPr lang="en-US" sz="1200" b="1" i="1" dirty="0"/>
              <a:t> </a:t>
            </a:r>
            <a:r>
              <a:rPr lang="en-US" sz="1200" b="1" i="1" dirty="0" err="1"/>
              <a:t>jaringan</a:t>
            </a:r>
            <a:r>
              <a:rPr lang="en-US" sz="1200" b="1" i="1" dirty="0"/>
              <a:t> MPLS (</a:t>
            </a:r>
            <a:r>
              <a:rPr lang="en-US" sz="1200" b="1" i="1" dirty="0" err="1"/>
              <a:t>yaitu</a:t>
            </a:r>
            <a:r>
              <a:rPr lang="en-US" sz="1200" b="1" i="1" dirty="0"/>
              <a:t> Router P &amp; PE</a:t>
            </a:r>
            <a:r>
              <a:rPr lang="en-US" sz="1200" b="1" i="1" dirty="0" smtClean="0"/>
              <a:t>)</a:t>
            </a:r>
            <a:r>
              <a:rPr lang="en-US" sz="1200" dirty="0" smtClean="0"/>
              <a:t>.</a:t>
            </a:r>
          </a:p>
          <a:p>
            <a:pPr algn="just"/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 err="1" smtClean="0"/>
              <a:t>Setelah</a:t>
            </a:r>
            <a:r>
              <a:rPr lang="en-US" sz="1200" dirty="0" smtClean="0"/>
              <a:t> </a:t>
            </a:r>
            <a:r>
              <a:rPr lang="en-US" sz="1200" dirty="0" err="1"/>
              <a:t>konfigurasi</a:t>
            </a:r>
            <a:r>
              <a:rPr lang="en-US" sz="1200" dirty="0"/>
              <a:t> </a:t>
            </a:r>
            <a:r>
              <a:rPr lang="en-US" sz="1200" dirty="0" err="1"/>
              <a:t>tersebut</a:t>
            </a:r>
            <a:r>
              <a:rPr lang="en-US" sz="1200" dirty="0"/>
              <a:t> </a:t>
            </a:r>
            <a:r>
              <a:rPr lang="en-US" sz="1200" dirty="0" err="1"/>
              <a:t>dilakukan</a:t>
            </a:r>
            <a:r>
              <a:rPr lang="en-US" sz="1200" dirty="0"/>
              <a:t> di </a:t>
            </a:r>
            <a:r>
              <a:rPr lang="en-US" sz="1200" dirty="0" err="1"/>
              <a:t>masing-masing</a:t>
            </a:r>
            <a:r>
              <a:rPr lang="en-US" sz="1200" dirty="0"/>
              <a:t> router P &amp; PE </a:t>
            </a:r>
            <a:r>
              <a:rPr lang="en-US" sz="1200" dirty="0" err="1"/>
              <a:t>secara</a:t>
            </a:r>
            <a:r>
              <a:rPr lang="en-US" sz="1200" dirty="0"/>
              <a:t> </a:t>
            </a:r>
            <a:r>
              <a:rPr lang="en-US" sz="1200" dirty="0" err="1"/>
              <a:t>otomatis</a:t>
            </a:r>
            <a:r>
              <a:rPr lang="en-US" sz="1200" dirty="0"/>
              <a:t> </a:t>
            </a:r>
            <a:r>
              <a:rPr lang="en-US" sz="1200" dirty="0" err="1"/>
              <a:t>jaringan</a:t>
            </a:r>
            <a:r>
              <a:rPr lang="en-US" sz="1200" dirty="0"/>
              <a:t> MPLS </a:t>
            </a:r>
            <a:r>
              <a:rPr lang="en-US" sz="1200" dirty="0" err="1"/>
              <a:t>sudah</a:t>
            </a:r>
            <a:r>
              <a:rPr lang="en-US" sz="1200" dirty="0"/>
              <a:t> </a:t>
            </a:r>
            <a:r>
              <a:rPr lang="en-US" sz="1200" dirty="0" err="1"/>
              <a:t>aktif</a:t>
            </a:r>
            <a:r>
              <a:rPr lang="en-US" sz="1200" dirty="0"/>
              <a:t>. </a:t>
            </a:r>
            <a:r>
              <a:rPr lang="en-US" sz="1200" dirty="0" err="1"/>
              <a:t>Untuk</a:t>
            </a:r>
            <a:r>
              <a:rPr lang="en-US" sz="1200" dirty="0"/>
              <a:t> </a:t>
            </a:r>
            <a:r>
              <a:rPr lang="en-US" sz="1200" dirty="0" err="1"/>
              <a:t>pengecekan</a:t>
            </a:r>
            <a:r>
              <a:rPr lang="en-US" sz="1200" dirty="0"/>
              <a:t> </a:t>
            </a:r>
            <a:r>
              <a:rPr lang="en-US" sz="1200" dirty="0" err="1"/>
              <a:t>kita</a:t>
            </a:r>
            <a:r>
              <a:rPr lang="en-US" sz="1200" dirty="0"/>
              <a:t> </a:t>
            </a:r>
            <a:r>
              <a:rPr lang="en-US" sz="1200" dirty="0" err="1"/>
              <a:t>bisa</a:t>
            </a:r>
            <a:r>
              <a:rPr lang="en-US" sz="1200" dirty="0"/>
              <a:t> </a:t>
            </a:r>
            <a:r>
              <a:rPr lang="en-US" sz="1200" dirty="0" err="1"/>
              <a:t>melakukan</a:t>
            </a:r>
            <a:r>
              <a:rPr lang="en-US" sz="1200" dirty="0"/>
              <a:t> test traceroute </a:t>
            </a:r>
            <a:r>
              <a:rPr lang="en-US" sz="1200" dirty="0" err="1"/>
              <a:t>dari</a:t>
            </a:r>
            <a:r>
              <a:rPr lang="en-US" sz="1200" dirty="0"/>
              <a:t> </a:t>
            </a:r>
            <a:r>
              <a:rPr lang="en-US" sz="1200" dirty="0" err="1"/>
              <a:t>ujung</a:t>
            </a:r>
            <a:r>
              <a:rPr lang="en-US" sz="1200" dirty="0"/>
              <a:t> (PE) </a:t>
            </a:r>
            <a:r>
              <a:rPr lang="en-US" sz="1200" dirty="0" err="1"/>
              <a:t>ke</a:t>
            </a:r>
            <a:r>
              <a:rPr lang="en-US" sz="1200" dirty="0"/>
              <a:t> PE </a:t>
            </a:r>
            <a:r>
              <a:rPr lang="en-US" sz="1200" dirty="0" err="1"/>
              <a:t>lainnya</a:t>
            </a:r>
            <a:r>
              <a:rPr lang="en-US" sz="1200" dirty="0"/>
              <a:t>. Dari </a:t>
            </a:r>
            <a:r>
              <a:rPr lang="en-US" sz="1200" dirty="0" err="1"/>
              <a:t>hasilnya</a:t>
            </a:r>
            <a:r>
              <a:rPr lang="en-US" sz="1200" dirty="0"/>
              <a:t> </a:t>
            </a:r>
            <a:r>
              <a:rPr lang="en-US" sz="1200" dirty="0" err="1"/>
              <a:t>nanti</a:t>
            </a:r>
            <a:r>
              <a:rPr lang="en-US" sz="1200" dirty="0"/>
              <a:t> </a:t>
            </a:r>
            <a:r>
              <a:rPr lang="en-US" sz="1200" dirty="0" err="1"/>
              <a:t>pada</a:t>
            </a:r>
            <a:r>
              <a:rPr lang="en-US" sz="1200" dirty="0"/>
              <a:t> status </a:t>
            </a:r>
            <a:r>
              <a:rPr lang="en-US" sz="1200" dirty="0" err="1"/>
              <a:t>akan</a:t>
            </a:r>
            <a:r>
              <a:rPr lang="en-US" sz="1200" dirty="0"/>
              <a:t> </a:t>
            </a:r>
            <a:r>
              <a:rPr lang="en-US" sz="1200" dirty="0" err="1"/>
              <a:t>ada</a:t>
            </a:r>
            <a:r>
              <a:rPr lang="en-US" sz="1200" dirty="0"/>
              <a:t> </a:t>
            </a:r>
            <a:r>
              <a:rPr lang="en-US" sz="1200" dirty="0" err="1"/>
              <a:t>informasi</a:t>
            </a:r>
            <a:r>
              <a:rPr lang="en-US" sz="1200" dirty="0"/>
              <a:t> </a:t>
            </a:r>
            <a:r>
              <a:rPr lang="en-US" sz="1200" dirty="0" err="1"/>
              <a:t>dari</a:t>
            </a:r>
            <a:r>
              <a:rPr lang="en-US" sz="1200" dirty="0"/>
              <a:t> Label yang </a:t>
            </a:r>
            <a:r>
              <a:rPr lang="en-US" sz="1200" dirty="0" err="1"/>
              <a:t>digunakan</a:t>
            </a:r>
            <a:r>
              <a:rPr lang="en-US" sz="1200" dirty="0"/>
              <a:t> </a:t>
            </a:r>
            <a:r>
              <a:rPr lang="en-US" sz="1200" dirty="0" err="1"/>
              <a:t>pada</a:t>
            </a:r>
            <a:r>
              <a:rPr lang="en-US" sz="1200" dirty="0"/>
              <a:t> </a:t>
            </a:r>
            <a:r>
              <a:rPr lang="en-US" sz="1200" dirty="0" err="1"/>
              <a:t>setiap</a:t>
            </a:r>
            <a:r>
              <a:rPr lang="en-US" sz="1200" dirty="0"/>
              <a:t> hop.</a:t>
            </a:r>
            <a:endParaRPr lang="en-US" sz="1200" dirty="0">
              <a:solidFill>
                <a:srgbClr val="002060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251" y="5159836"/>
            <a:ext cx="3952875" cy="1400175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751808" y="939968"/>
            <a:ext cx="605637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200" dirty="0" err="1">
                <a:solidFill>
                  <a:srgbClr val="002060"/>
                </a:solidFill>
              </a:rPr>
              <a:t>Setelah</a:t>
            </a:r>
            <a:r>
              <a:rPr lang="en-US" sz="1200" dirty="0">
                <a:solidFill>
                  <a:srgbClr val="002060"/>
                </a:solidFill>
              </a:rPr>
              <a:t> </a:t>
            </a:r>
            <a:r>
              <a:rPr lang="en-US" sz="1200" dirty="0" err="1">
                <a:solidFill>
                  <a:srgbClr val="002060"/>
                </a:solidFill>
              </a:rPr>
              <a:t>jaringan</a:t>
            </a:r>
            <a:r>
              <a:rPr lang="en-US" sz="1200" dirty="0">
                <a:solidFill>
                  <a:srgbClr val="002060"/>
                </a:solidFill>
              </a:rPr>
              <a:t> MPLS </a:t>
            </a:r>
            <a:r>
              <a:rPr lang="en-US" sz="1200" dirty="0" err="1">
                <a:solidFill>
                  <a:srgbClr val="002060"/>
                </a:solidFill>
              </a:rPr>
              <a:t>terbentuk</a:t>
            </a:r>
            <a:r>
              <a:rPr lang="en-US" sz="1200" dirty="0">
                <a:solidFill>
                  <a:srgbClr val="002060"/>
                </a:solidFill>
              </a:rPr>
              <a:t>, </a:t>
            </a:r>
            <a:r>
              <a:rPr lang="en-US" sz="1200" dirty="0" err="1">
                <a:solidFill>
                  <a:srgbClr val="002060"/>
                </a:solidFill>
              </a:rPr>
              <a:t>kita</a:t>
            </a:r>
            <a:r>
              <a:rPr lang="en-US" sz="1200" dirty="0">
                <a:solidFill>
                  <a:srgbClr val="002060"/>
                </a:solidFill>
              </a:rPr>
              <a:t> </a:t>
            </a:r>
            <a:r>
              <a:rPr lang="en-US" sz="1200" dirty="0" err="1">
                <a:solidFill>
                  <a:srgbClr val="002060"/>
                </a:solidFill>
              </a:rPr>
              <a:t>akan</a:t>
            </a:r>
            <a:r>
              <a:rPr lang="en-US" sz="1200" dirty="0">
                <a:solidFill>
                  <a:srgbClr val="002060"/>
                </a:solidFill>
              </a:rPr>
              <a:t> </a:t>
            </a:r>
            <a:r>
              <a:rPr lang="en-US" sz="1200" dirty="0" err="1">
                <a:solidFill>
                  <a:srgbClr val="002060"/>
                </a:solidFill>
              </a:rPr>
              <a:t>menghubungkan</a:t>
            </a:r>
            <a:r>
              <a:rPr lang="en-US" sz="1200" dirty="0">
                <a:solidFill>
                  <a:srgbClr val="002060"/>
                </a:solidFill>
              </a:rPr>
              <a:t> </a:t>
            </a:r>
            <a:r>
              <a:rPr lang="en-US" sz="1200" dirty="0" err="1">
                <a:solidFill>
                  <a:srgbClr val="002060"/>
                </a:solidFill>
              </a:rPr>
              <a:t>kedua</a:t>
            </a:r>
            <a:r>
              <a:rPr lang="en-US" sz="1200" dirty="0">
                <a:solidFill>
                  <a:srgbClr val="002060"/>
                </a:solidFill>
              </a:rPr>
              <a:t> </a:t>
            </a:r>
            <a:r>
              <a:rPr lang="en-US" sz="1200" dirty="0" err="1">
                <a:solidFill>
                  <a:srgbClr val="002060"/>
                </a:solidFill>
              </a:rPr>
              <a:t>perangkat</a:t>
            </a:r>
            <a:r>
              <a:rPr lang="en-US" sz="1200" dirty="0">
                <a:solidFill>
                  <a:srgbClr val="002060"/>
                </a:solidFill>
              </a:rPr>
              <a:t> CE </a:t>
            </a:r>
            <a:r>
              <a:rPr lang="en-US" sz="1200" dirty="0" err="1">
                <a:solidFill>
                  <a:srgbClr val="002060"/>
                </a:solidFill>
              </a:rPr>
              <a:t>sesuai</a:t>
            </a:r>
            <a:r>
              <a:rPr lang="en-US" sz="1200" dirty="0">
                <a:solidFill>
                  <a:srgbClr val="002060"/>
                </a:solidFill>
              </a:rPr>
              <a:t> </a:t>
            </a:r>
            <a:r>
              <a:rPr lang="en-US" sz="1200" dirty="0" err="1">
                <a:solidFill>
                  <a:srgbClr val="002060"/>
                </a:solidFill>
              </a:rPr>
              <a:t>topologi</a:t>
            </a:r>
            <a:r>
              <a:rPr lang="en-US" sz="1200" dirty="0">
                <a:solidFill>
                  <a:srgbClr val="002060"/>
                </a:solidFill>
              </a:rPr>
              <a:t> </a:t>
            </a:r>
            <a:r>
              <a:rPr lang="en-US" sz="1200" dirty="0" err="1">
                <a:solidFill>
                  <a:srgbClr val="002060"/>
                </a:solidFill>
              </a:rPr>
              <a:t>diatas</a:t>
            </a:r>
            <a:r>
              <a:rPr lang="en-US" sz="1200" dirty="0">
                <a:solidFill>
                  <a:srgbClr val="002060"/>
                </a:solidFill>
              </a:rPr>
              <a:t> </a:t>
            </a:r>
            <a:r>
              <a:rPr lang="en-US" sz="1200" dirty="0" err="1">
                <a:solidFill>
                  <a:srgbClr val="002060"/>
                </a:solidFill>
              </a:rPr>
              <a:t>melalui</a:t>
            </a:r>
            <a:r>
              <a:rPr lang="en-US" sz="1200" dirty="0">
                <a:solidFill>
                  <a:srgbClr val="002060"/>
                </a:solidFill>
              </a:rPr>
              <a:t> </a:t>
            </a:r>
            <a:r>
              <a:rPr lang="en-US" sz="1200" dirty="0" err="1">
                <a:solidFill>
                  <a:srgbClr val="002060"/>
                </a:solidFill>
              </a:rPr>
              <a:t>jaringan</a:t>
            </a:r>
            <a:r>
              <a:rPr lang="en-US" sz="1200" dirty="0">
                <a:solidFill>
                  <a:srgbClr val="002060"/>
                </a:solidFill>
              </a:rPr>
              <a:t> MPLS. </a:t>
            </a:r>
            <a:r>
              <a:rPr lang="en-US" sz="1200" dirty="0" err="1">
                <a:solidFill>
                  <a:srgbClr val="002060"/>
                </a:solidFill>
              </a:rPr>
              <a:t>Karena</a:t>
            </a:r>
            <a:r>
              <a:rPr lang="en-US" sz="1200" dirty="0">
                <a:solidFill>
                  <a:srgbClr val="002060"/>
                </a:solidFill>
              </a:rPr>
              <a:t> </a:t>
            </a:r>
            <a:r>
              <a:rPr lang="en-US" sz="1200" dirty="0" err="1">
                <a:solidFill>
                  <a:srgbClr val="002060"/>
                </a:solidFill>
              </a:rPr>
              <a:t>perangkat</a:t>
            </a:r>
            <a:r>
              <a:rPr lang="en-US" sz="1200" dirty="0">
                <a:solidFill>
                  <a:srgbClr val="002060"/>
                </a:solidFill>
              </a:rPr>
              <a:t> CE </a:t>
            </a:r>
            <a:r>
              <a:rPr lang="en-US" sz="1200" dirty="0" err="1">
                <a:solidFill>
                  <a:srgbClr val="002060"/>
                </a:solidFill>
              </a:rPr>
              <a:t>tidak</a:t>
            </a:r>
            <a:r>
              <a:rPr lang="en-US" sz="1200" dirty="0">
                <a:solidFill>
                  <a:srgbClr val="002060"/>
                </a:solidFill>
              </a:rPr>
              <a:t> </a:t>
            </a:r>
            <a:r>
              <a:rPr lang="en-US" sz="1200" dirty="0" err="1">
                <a:solidFill>
                  <a:srgbClr val="002060"/>
                </a:solidFill>
              </a:rPr>
              <a:t>masuk</a:t>
            </a:r>
            <a:r>
              <a:rPr lang="en-US" sz="1200" dirty="0">
                <a:solidFill>
                  <a:srgbClr val="002060"/>
                </a:solidFill>
              </a:rPr>
              <a:t> </a:t>
            </a:r>
            <a:r>
              <a:rPr lang="en-US" sz="1200" dirty="0" err="1">
                <a:solidFill>
                  <a:srgbClr val="002060"/>
                </a:solidFill>
              </a:rPr>
              <a:t>kedalam</a:t>
            </a:r>
            <a:r>
              <a:rPr lang="en-US" sz="1200" dirty="0">
                <a:solidFill>
                  <a:srgbClr val="002060"/>
                </a:solidFill>
              </a:rPr>
              <a:t> </a:t>
            </a:r>
            <a:r>
              <a:rPr lang="en-US" sz="1200" dirty="0" err="1">
                <a:solidFill>
                  <a:srgbClr val="002060"/>
                </a:solidFill>
              </a:rPr>
              <a:t>jaringan</a:t>
            </a:r>
            <a:r>
              <a:rPr lang="en-US" sz="1200" dirty="0">
                <a:solidFill>
                  <a:srgbClr val="002060"/>
                </a:solidFill>
              </a:rPr>
              <a:t> MPLS, </a:t>
            </a:r>
            <a:r>
              <a:rPr lang="en-US" sz="1200" dirty="0" err="1">
                <a:solidFill>
                  <a:srgbClr val="002060"/>
                </a:solidFill>
              </a:rPr>
              <a:t>kita</a:t>
            </a:r>
            <a:r>
              <a:rPr lang="en-US" sz="1200" dirty="0">
                <a:solidFill>
                  <a:srgbClr val="002060"/>
                </a:solidFill>
              </a:rPr>
              <a:t> </a:t>
            </a:r>
            <a:r>
              <a:rPr lang="en-US" sz="1200" dirty="0" err="1">
                <a:solidFill>
                  <a:srgbClr val="002060"/>
                </a:solidFill>
              </a:rPr>
              <a:t>membutuhkan</a:t>
            </a:r>
            <a:r>
              <a:rPr lang="en-US" sz="1200" dirty="0">
                <a:solidFill>
                  <a:srgbClr val="002060"/>
                </a:solidFill>
              </a:rPr>
              <a:t> </a:t>
            </a:r>
            <a:r>
              <a:rPr lang="en-US" sz="1200" dirty="0" err="1">
                <a:solidFill>
                  <a:srgbClr val="002060"/>
                </a:solidFill>
              </a:rPr>
              <a:t>sebuah</a:t>
            </a:r>
            <a:r>
              <a:rPr lang="en-US" sz="1200" dirty="0">
                <a:solidFill>
                  <a:srgbClr val="002060"/>
                </a:solidFill>
              </a:rPr>
              <a:t> tunnel </a:t>
            </a:r>
            <a:r>
              <a:rPr lang="en-US" sz="1200" dirty="0" err="1">
                <a:solidFill>
                  <a:srgbClr val="002060"/>
                </a:solidFill>
              </a:rPr>
              <a:t>untuk</a:t>
            </a:r>
            <a:r>
              <a:rPr lang="en-US" sz="1200" dirty="0">
                <a:solidFill>
                  <a:srgbClr val="002060"/>
                </a:solidFill>
              </a:rPr>
              <a:t> </a:t>
            </a:r>
            <a:r>
              <a:rPr lang="en-US" sz="1200" dirty="0" err="1">
                <a:solidFill>
                  <a:srgbClr val="002060"/>
                </a:solidFill>
              </a:rPr>
              <a:t>koneksinya</a:t>
            </a:r>
            <a:r>
              <a:rPr lang="en-US" sz="1200" dirty="0">
                <a:solidFill>
                  <a:srgbClr val="002060"/>
                </a:solidFill>
              </a:rPr>
              <a:t>. Ada </a:t>
            </a:r>
            <a:r>
              <a:rPr lang="en-US" sz="1200" dirty="0" err="1">
                <a:solidFill>
                  <a:srgbClr val="002060"/>
                </a:solidFill>
              </a:rPr>
              <a:t>beberapa</a:t>
            </a:r>
            <a:r>
              <a:rPr lang="en-US" sz="1200" dirty="0">
                <a:solidFill>
                  <a:srgbClr val="002060"/>
                </a:solidFill>
              </a:rPr>
              <a:t> </a:t>
            </a:r>
            <a:r>
              <a:rPr lang="en-US" sz="1200" dirty="0" err="1">
                <a:solidFill>
                  <a:srgbClr val="002060"/>
                </a:solidFill>
              </a:rPr>
              <a:t>macam</a:t>
            </a:r>
            <a:r>
              <a:rPr lang="en-US" sz="1200" dirty="0">
                <a:solidFill>
                  <a:srgbClr val="002060"/>
                </a:solidFill>
              </a:rPr>
              <a:t> </a:t>
            </a:r>
            <a:r>
              <a:rPr lang="en-US" sz="1200" dirty="0" err="1">
                <a:solidFill>
                  <a:srgbClr val="002060"/>
                </a:solidFill>
              </a:rPr>
              <a:t>metode</a:t>
            </a:r>
            <a:r>
              <a:rPr lang="en-US" sz="1200" dirty="0">
                <a:solidFill>
                  <a:srgbClr val="002060"/>
                </a:solidFill>
              </a:rPr>
              <a:t> tunnel yang </a:t>
            </a:r>
            <a:r>
              <a:rPr lang="en-US" sz="1200" dirty="0" err="1">
                <a:solidFill>
                  <a:srgbClr val="002060"/>
                </a:solidFill>
              </a:rPr>
              <a:t>digunakan</a:t>
            </a:r>
            <a:r>
              <a:rPr lang="en-US" sz="1200" dirty="0">
                <a:solidFill>
                  <a:srgbClr val="002060"/>
                </a:solidFill>
              </a:rPr>
              <a:t> di </a:t>
            </a:r>
            <a:r>
              <a:rPr lang="en-US" sz="1200" dirty="0" err="1">
                <a:solidFill>
                  <a:srgbClr val="002060"/>
                </a:solidFill>
              </a:rPr>
              <a:t>dalam</a:t>
            </a:r>
            <a:r>
              <a:rPr lang="en-US" sz="1200" dirty="0">
                <a:solidFill>
                  <a:srgbClr val="002060"/>
                </a:solidFill>
              </a:rPr>
              <a:t> </a:t>
            </a:r>
            <a:r>
              <a:rPr lang="en-US" sz="1200" dirty="0" err="1">
                <a:solidFill>
                  <a:srgbClr val="002060"/>
                </a:solidFill>
              </a:rPr>
              <a:t>jaringan</a:t>
            </a:r>
            <a:r>
              <a:rPr lang="en-US" sz="1200" dirty="0">
                <a:solidFill>
                  <a:srgbClr val="002060"/>
                </a:solidFill>
              </a:rPr>
              <a:t> MPLS </a:t>
            </a:r>
            <a:r>
              <a:rPr lang="en-US" sz="1200" dirty="0" err="1">
                <a:solidFill>
                  <a:srgbClr val="002060"/>
                </a:solidFill>
              </a:rPr>
              <a:t>namun</a:t>
            </a:r>
            <a:r>
              <a:rPr lang="en-US" sz="1200" dirty="0">
                <a:solidFill>
                  <a:srgbClr val="002060"/>
                </a:solidFill>
              </a:rPr>
              <a:t> </a:t>
            </a:r>
            <a:r>
              <a:rPr lang="en-US" sz="1200" dirty="0" err="1">
                <a:solidFill>
                  <a:srgbClr val="002060"/>
                </a:solidFill>
              </a:rPr>
              <a:t>pada</a:t>
            </a:r>
            <a:r>
              <a:rPr lang="en-US" sz="1200" dirty="0">
                <a:solidFill>
                  <a:srgbClr val="002060"/>
                </a:solidFill>
              </a:rPr>
              <a:t> </a:t>
            </a:r>
            <a:r>
              <a:rPr lang="en-US" sz="1200" dirty="0" err="1">
                <a:solidFill>
                  <a:srgbClr val="002060"/>
                </a:solidFill>
              </a:rPr>
              <a:t>umumnya</a:t>
            </a:r>
            <a:r>
              <a:rPr lang="en-US" sz="1200" dirty="0">
                <a:solidFill>
                  <a:srgbClr val="002060"/>
                </a:solidFill>
              </a:rPr>
              <a:t> </a:t>
            </a:r>
            <a:r>
              <a:rPr lang="en-US" sz="1200" dirty="0" err="1">
                <a:solidFill>
                  <a:srgbClr val="002060"/>
                </a:solidFill>
              </a:rPr>
              <a:t>banyak</a:t>
            </a:r>
            <a:r>
              <a:rPr lang="en-US" sz="1200" dirty="0">
                <a:solidFill>
                  <a:srgbClr val="002060"/>
                </a:solidFill>
              </a:rPr>
              <a:t> </a:t>
            </a:r>
            <a:r>
              <a:rPr lang="en-US" sz="1200" dirty="0" err="1">
                <a:solidFill>
                  <a:srgbClr val="002060"/>
                </a:solidFill>
              </a:rPr>
              <a:t>digunakan</a:t>
            </a:r>
            <a:r>
              <a:rPr lang="en-US" sz="1200" dirty="0">
                <a:solidFill>
                  <a:srgbClr val="002060"/>
                </a:solidFill>
              </a:rPr>
              <a:t> </a:t>
            </a:r>
            <a:r>
              <a:rPr lang="en-US" sz="1200" dirty="0" err="1">
                <a:solidFill>
                  <a:srgbClr val="002060"/>
                </a:solidFill>
              </a:rPr>
              <a:t>yaitu</a:t>
            </a:r>
            <a:r>
              <a:rPr lang="en-US" sz="1200" dirty="0">
                <a:solidFill>
                  <a:srgbClr val="002060"/>
                </a:solidFill>
              </a:rPr>
              <a:t> VPLS.</a:t>
            </a:r>
          </a:p>
          <a:p>
            <a:pPr algn="just"/>
            <a:endParaRPr lang="en-US" sz="1200" dirty="0">
              <a:solidFill>
                <a:srgbClr val="002060"/>
              </a:solidFill>
            </a:endParaRPr>
          </a:p>
          <a:p>
            <a:pPr algn="just"/>
            <a:r>
              <a:rPr lang="en-US" sz="1200" b="1" dirty="0">
                <a:solidFill>
                  <a:srgbClr val="002060"/>
                </a:solidFill>
              </a:rPr>
              <a:t>VPLS (Virtual Private LAN Services) </a:t>
            </a:r>
            <a:r>
              <a:rPr lang="en-US" sz="1200" dirty="0" err="1">
                <a:solidFill>
                  <a:srgbClr val="002060"/>
                </a:solidFill>
              </a:rPr>
              <a:t>ini</a:t>
            </a:r>
            <a:r>
              <a:rPr lang="en-US" sz="1200" dirty="0">
                <a:solidFill>
                  <a:srgbClr val="002060"/>
                </a:solidFill>
              </a:rPr>
              <a:t> </a:t>
            </a:r>
            <a:r>
              <a:rPr lang="en-US" sz="1200" dirty="0" err="1">
                <a:solidFill>
                  <a:srgbClr val="002060"/>
                </a:solidFill>
              </a:rPr>
              <a:t>bisa</a:t>
            </a:r>
            <a:r>
              <a:rPr lang="en-US" sz="1200" dirty="0">
                <a:solidFill>
                  <a:srgbClr val="002060"/>
                </a:solidFill>
              </a:rPr>
              <a:t> </a:t>
            </a:r>
            <a:r>
              <a:rPr lang="en-US" sz="1200" dirty="0" err="1">
                <a:solidFill>
                  <a:srgbClr val="002060"/>
                </a:solidFill>
              </a:rPr>
              <a:t>juga</a:t>
            </a:r>
            <a:r>
              <a:rPr lang="en-US" sz="1200" dirty="0">
                <a:solidFill>
                  <a:srgbClr val="002060"/>
                </a:solidFill>
              </a:rPr>
              <a:t> </a:t>
            </a:r>
            <a:r>
              <a:rPr lang="en-US" sz="1200" dirty="0" err="1">
                <a:solidFill>
                  <a:srgbClr val="002060"/>
                </a:solidFill>
              </a:rPr>
              <a:t>disebut</a:t>
            </a:r>
            <a:r>
              <a:rPr lang="en-US" sz="1200" dirty="0">
                <a:solidFill>
                  <a:srgbClr val="002060"/>
                </a:solidFill>
              </a:rPr>
              <a:t> </a:t>
            </a:r>
            <a:r>
              <a:rPr lang="en-US" sz="1200" dirty="0" err="1">
                <a:solidFill>
                  <a:srgbClr val="002060"/>
                </a:solidFill>
              </a:rPr>
              <a:t>sebagai</a:t>
            </a:r>
            <a:r>
              <a:rPr lang="en-US" sz="1200" dirty="0">
                <a:solidFill>
                  <a:srgbClr val="002060"/>
                </a:solidFill>
              </a:rPr>
              <a:t> L2VPN </a:t>
            </a:r>
            <a:r>
              <a:rPr lang="en-US" sz="1200" dirty="0" err="1">
                <a:solidFill>
                  <a:srgbClr val="002060"/>
                </a:solidFill>
              </a:rPr>
              <a:t>atau</a:t>
            </a:r>
            <a:r>
              <a:rPr lang="en-US" sz="1200" dirty="0">
                <a:solidFill>
                  <a:srgbClr val="002060"/>
                </a:solidFill>
              </a:rPr>
              <a:t> </a:t>
            </a:r>
            <a:r>
              <a:rPr lang="en-US" sz="1200" dirty="0" err="1">
                <a:solidFill>
                  <a:srgbClr val="002060"/>
                </a:solidFill>
              </a:rPr>
              <a:t>juga</a:t>
            </a:r>
            <a:r>
              <a:rPr lang="en-US" sz="1200" dirty="0">
                <a:solidFill>
                  <a:srgbClr val="002060"/>
                </a:solidFill>
              </a:rPr>
              <a:t> </a:t>
            </a:r>
            <a:r>
              <a:rPr lang="en-US" sz="1200" dirty="0" err="1">
                <a:solidFill>
                  <a:srgbClr val="002060"/>
                </a:solidFill>
              </a:rPr>
              <a:t>EoMPLS</a:t>
            </a:r>
            <a:r>
              <a:rPr lang="en-US" sz="1200" dirty="0">
                <a:solidFill>
                  <a:srgbClr val="002060"/>
                </a:solidFill>
              </a:rPr>
              <a:t>. VPLS tunnel </a:t>
            </a:r>
            <a:r>
              <a:rPr lang="en-US" sz="1200" dirty="0" err="1">
                <a:solidFill>
                  <a:srgbClr val="002060"/>
                </a:solidFill>
              </a:rPr>
              <a:t>sendiri</a:t>
            </a:r>
            <a:r>
              <a:rPr lang="en-US" sz="1200" dirty="0">
                <a:solidFill>
                  <a:srgbClr val="002060"/>
                </a:solidFill>
              </a:rPr>
              <a:t> </a:t>
            </a:r>
            <a:r>
              <a:rPr lang="en-US" sz="1200" dirty="0" err="1">
                <a:solidFill>
                  <a:srgbClr val="002060"/>
                </a:solidFill>
              </a:rPr>
              <a:t>kita</a:t>
            </a:r>
            <a:r>
              <a:rPr lang="en-US" sz="1200" dirty="0">
                <a:solidFill>
                  <a:srgbClr val="002060"/>
                </a:solidFill>
              </a:rPr>
              <a:t> </a:t>
            </a:r>
            <a:r>
              <a:rPr lang="en-US" sz="1200" dirty="0" err="1">
                <a:solidFill>
                  <a:srgbClr val="002060"/>
                </a:solidFill>
              </a:rPr>
              <a:t>buat</a:t>
            </a:r>
            <a:r>
              <a:rPr lang="en-US" sz="1200" dirty="0">
                <a:solidFill>
                  <a:srgbClr val="002060"/>
                </a:solidFill>
              </a:rPr>
              <a:t> </a:t>
            </a:r>
            <a:r>
              <a:rPr lang="en-US" sz="1200" dirty="0" err="1">
                <a:solidFill>
                  <a:srgbClr val="002060"/>
                </a:solidFill>
              </a:rPr>
              <a:t>disisi</a:t>
            </a:r>
            <a:r>
              <a:rPr lang="en-US" sz="1200" dirty="0">
                <a:solidFill>
                  <a:srgbClr val="002060"/>
                </a:solidFill>
              </a:rPr>
              <a:t> router PE yang </a:t>
            </a:r>
            <a:r>
              <a:rPr lang="en-US" sz="1200" dirty="0" err="1">
                <a:solidFill>
                  <a:srgbClr val="002060"/>
                </a:solidFill>
              </a:rPr>
              <a:t>terhubung</a:t>
            </a:r>
            <a:r>
              <a:rPr lang="en-US" sz="1200" dirty="0">
                <a:solidFill>
                  <a:srgbClr val="002060"/>
                </a:solidFill>
              </a:rPr>
              <a:t> </a:t>
            </a:r>
            <a:r>
              <a:rPr lang="en-US" sz="1200" dirty="0" err="1">
                <a:solidFill>
                  <a:srgbClr val="002060"/>
                </a:solidFill>
              </a:rPr>
              <a:t>ke</a:t>
            </a:r>
            <a:r>
              <a:rPr lang="en-US" sz="1200" dirty="0">
                <a:solidFill>
                  <a:srgbClr val="002060"/>
                </a:solidFill>
              </a:rPr>
              <a:t> </a:t>
            </a:r>
            <a:r>
              <a:rPr lang="en-US" sz="1200" dirty="0" err="1">
                <a:solidFill>
                  <a:srgbClr val="002060"/>
                </a:solidFill>
              </a:rPr>
              <a:t>masing-masing</a:t>
            </a:r>
            <a:r>
              <a:rPr lang="en-US" sz="1200" dirty="0">
                <a:solidFill>
                  <a:srgbClr val="002060"/>
                </a:solidFill>
              </a:rPr>
              <a:t> CE. </a:t>
            </a:r>
            <a:r>
              <a:rPr lang="en-US" sz="1200" dirty="0" err="1">
                <a:solidFill>
                  <a:srgbClr val="002060"/>
                </a:solidFill>
              </a:rPr>
              <a:t>Jadi</a:t>
            </a:r>
            <a:r>
              <a:rPr lang="en-US" sz="1200" dirty="0">
                <a:solidFill>
                  <a:srgbClr val="002060"/>
                </a:solidFill>
              </a:rPr>
              <a:t> </a:t>
            </a:r>
            <a:r>
              <a:rPr lang="en-US" sz="1200" dirty="0" err="1">
                <a:solidFill>
                  <a:srgbClr val="002060"/>
                </a:solidFill>
              </a:rPr>
              <a:t>tidak</a:t>
            </a:r>
            <a:r>
              <a:rPr lang="en-US" sz="1200" dirty="0">
                <a:solidFill>
                  <a:srgbClr val="002060"/>
                </a:solidFill>
              </a:rPr>
              <a:t> </a:t>
            </a:r>
            <a:r>
              <a:rPr lang="en-US" sz="1200" dirty="0" err="1">
                <a:solidFill>
                  <a:srgbClr val="002060"/>
                </a:solidFill>
              </a:rPr>
              <a:t>perlu</a:t>
            </a:r>
            <a:r>
              <a:rPr lang="en-US" sz="1200" dirty="0">
                <a:solidFill>
                  <a:srgbClr val="002060"/>
                </a:solidFill>
              </a:rPr>
              <a:t> </a:t>
            </a:r>
            <a:r>
              <a:rPr lang="en-US" sz="1200" dirty="0" err="1">
                <a:solidFill>
                  <a:srgbClr val="002060"/>
                </a:solidFill>
              </a:rPr>
              <a:t>kita</a:t>
            </a:r>
            <a:r>
              <a:rPr lang="en-US" sz="1200" dirty="0">
                <a:solidFill>
                  <a:srgbClr val="002060"/>
                </a:solidFill>
              </a:rPr>
              <a:t> </a:t>
            </a:r>
            <a:r>
              <a:rPr lang="en-US" sz="1200" dirty="0" err="1">
                <a:solidFill>
                  <a:srgbClr val="002060"/>
                </a:solidFill>
              </a:rPr>
              <a:t>buat</a:t>
            </a:r>
            <a:r>
              <a:rPr lang="en-US" sz="1200" dirty="0">
                <a:solidFill>
                  <a:srgbClr val="002060"/>
                </a:solidFill>
              </a:rPr>
              <a:t> tunnel di </a:t>
            </a:r>
            <a:r>
              <a:rPr lang="en-US" sz="1200" dirty="0" err="1">
                <a:solidFill>
                  <a:srgbClr val="002060"/>
                </a:solidFill>
              </a:rPr>
              <a:t>setiap</a:t>
            </a:r>
            <a:r>
              <a:rPr lang="en-US" sz="1200" dirty="0">
                <a:solidFill>
                  <a:srgbClr val="002060"/>
                </a:solidFill>
              </a:rPr>
              <a:t> router </a:t>
            </a:r>
            <a:r>
              <a:rPr lang="en-US" sz="1200" dirty="0" err="1">
                <a:solidFill>
                  <a:srgbClr val="002060"/>
                </a:solidFill>
              </a:rPr>
              <a:t>dalam</a:t>
            </a:r>
            <a:r>
              <a:rPr lang="en-US" sz="1200" dirty="0">
                <a:solidFill>
                  <a:srgbClr val="002060"/>
                </a:solidFill>
              </a:rPr>
              <a:t> MPLS.</a:t>
            </a:r>
          </a:p>
          <a:p>
            <a:pPr algn="just"/>
            <a:endParaRPr lang="en-US" sz="1200" dirty="0">
              <a:solidFill>
                <a:srgbClr val="002060"/>
              </a:solidFill>
            </a:endParaRPr>
          </a:p>
          <a:p>
            <a:pPr algn="just"/>
            <a:r>
              <a:rPr lang="en-US" sz="1200" dirty="0" err="1">
                <a:solidFill>
                  <a:srgbClr val="002060"/>
                </a:solidFill>
              </a:rPr>
              <a:t>Untuk</a:t>
            </a:r>
            <a:r>
              <a:rPr lang="en-US" sz="1200" dirty="0">
                <a:solidFill>
                  <a:srgbClr val="002060"/>
                </a:solidFill>
              </a:rPr>
              <a:t> </a:t>
            </a:r>
            <a:r>
              <a:rPr lang="en-US" sz="1200" dirty="0" err="1">
                <a:solidFill>
                  <a:srgbClr val="002060"/>
                </a:solidFill>
              </a:rPr>
              <a:t>pembuatan</a:t>
            </a:r>
            <a:r>
              <a:rPr lang="en-US" sz="1200" dirty="0">
                <a:solidFill>
                  <a:srgbClr val="002060"/>
                </a:solidFill>
              </a:rPr>
              <a:t> VPLS </a:t>
            </a:r>
            <a:r>
              <a:rPr lang="en-US" sz="1200" dirty="0" err="1">
                <a:solidFill>
                  <a:srgbClr val="002060"/>
                </a:solidFill>
              </a:rPr>
              <a:t>kita</a:t>
            </a:r>
            <a:r>
              <a:rPr lang="en-US" sz="1200" dirty="0">
                <a:solidFill>
                  <a:srgbClr val="002060"/>
                </a:solidFill>
              </a:rPr>
              <a:t> </a:t>
            </a:r>
            <a:r>
              <a:rPr lang="en-US" sz="1200" dirty="0" err="1">
                <a:solidFill>
                  <a:srgbClr val="002060"/>
                </a:solidFill>
              </a:rPr>
              <a:t>masuk</a:t>
            </a:r>
            <a:r>
              <a:rPr lang="en-US" sz="1200" dirty="0">
                <a:solidFill>
                  <a:srgbClr val="002060"/>
                </a:solidFill>
              </a:rPr>
              <a:t> </a:t>
            </a:r>
            <a:r>
              <a:rPr lang="en-US" sz="1200" dirty="0" err="1">
                <a:solidFill>
                  <a:srgbClr val="002060"/>
                </a:solidFill>
              </a:rPr>
              <a:t>ke</a:t>
            </a:r>
            <a:r>
              <a:rPr lang="en-US" sz="1200" dirty="0">
                <a:solidFill>
                  <a:srgbClr val="002060"/>
                </a:solidFill>
              </a:rPr>
              <a:t> menu MPLS --&gt; VPLS --&gt; </a:t>
            </a:r>
            <a:r>
              <a:rPr lang="en-US" sz="1200" dirty="0" err="1">
                <a:solidFill>
                  <a:srgbClr val="002060"/>
                </a:solidFill>
              </a:rPr>
              <a:t>Klik</a:t>
            </a:r>
            <a:r>
              <a:rPr lang="en-US" sz="1200" dirty="0">
                <a:solidFill>
                  <a:srgbClr val="002060"/>
                </a:solidFill>
              </a:rPr>
              <a:t> Add [+]. Dan </a:t>
            </a:r>
            <a:r>
              <a:rPr lang="en-US" sz="1200" dirty="0" err="1">
                <a:solidFill>
                  <a:srgbClr val="002060"/>
                </a:solidFill>
              </a:rPr>
              <a:t>pada</a:t>
            </a:r>
            <a:r>
              <a:rPr lang="en-US" sz="1200" dirty="0">
                <a:solidFill>
                  <a:srgbClr val="002060"/>
                </a:solidFill>
              </a:rPr>
              <a:t> TAB "General" </a:t>
            </a:r>
            <a:r>
              <a:rPr lang="en-US" sz="1200" dirty="0" err="1">
                <a:solidFill>
                  <a:srgbClr val="002060"/>
                </a:solidFill>
              </a:rPr>
              <a:t>kita</a:t>
            </a:r>
            <a:r>
              <a:rPr lang="en-US" sz="1200" dirty="0">
                <a:solidFill>
                  <a:srgbClr val="002060"/>
                </a:solidFill>
              </a:rPr>
              <a:t> </a:t>
            </a:r>
            <a:r>
              <a:rPr lang="en-US" sz="1200" dirty="0" err="1">
                <a:solidFill>
                  <a:srgbClr val="002060"/>
                </a:solidFill>
              </a:rPr>
              <a:t>tentukan</a:t>
            </a:r>
            <a:r>
              <a:rPr lang="en-US" sz="1200" dirty="0">
                <a:solidFill>
                  <a:srgbClr val="002060"/>
                </a:solidFill>
              </a:rPr>
              <a:t> parameter Remote Peer </a:t>
            </a:r>
            <a:r>
              <a:rPr lang="en-US" sz="1200" dirty="0" err="1">
                <a:solidFill>
                  <a:srgbClr val="002060"/>
                </a:solidFill>
              </a:rPr>
              <a:t>dan</a:t>
            </a:r>
            <a:r>
              <a:rPr lang="en-US" sz="1200" dirty="0">
                <a:solidFill>
                  <a:srgbClr val="002060"/>
                </a:solidFill>
              </a:rPr>
              <a:t> VPLS ID.</a:t>
            </a:r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US" sz="1200" dirty="0">
                <a:solidFill>
                  <a:srgbClr val="002060"/>
                </a:solidFill>
              </a:rPr>
              <a:t>Remote Peer - Kita </a:t>
            </a:r>
            <a:r>
              <a:rPr lang="en-US" sz="1200" dirty="0" err="1">
                <a:solidFill>
                  <a:srgbClr val="002060"/>
                </a:solidFill>
              </a:rPr>
              <a:t>isikan</a:t>
            </a:r>
            <a:r>
              <a:rPr lang="en-US" sz="1200" dirty="0">
                <a:solidFill>
                  <a:srgbClr val="002060"/>
                </a:solidFill>
              </a:rPr>
              <a:t> </a:t>
            </a:r>
            <a:r>
              <a:rPr lang="en-US" sz="1200" dirty="0" err="1">
                <a:solidFill>
                  <a:srgbClr val="002060"/>
                </a:solidFill>
              </a:rPr>
              <a:t>dengan</a:t>
            </a:r>
            <a:r>
              <a:rPr lang="en-US" sz="1200" dirty="0">
                <a:solidFill>
                  <a:srgbClr val="002060"/>
                </a:solidFill>
              </a:rPr>
              <a:t> IP Loopback </a:t>
            </a:r>
            <a:r>
              <a:rPr lang="en-US" sz="1200" dirty="0" err="1">
                <a:solidFill>
                  <a:srgbClr val="002060"/>
                </a:solidFill>
              </a:rPr>
              <a:t>dari</a:t>
            </a:r>
            <a:r>
              <a:rPr lang="en-US" sz="1200" dirty="0">
                <a:solidFill>
                  <a:srgbClr val="002060"/>
                </a:solidFill>
              </a:rPr>
              <a:t> router PE </a:t>
            </a:r>
            <a:r>
              <a:rPr lang="en-US" sz="1200" dirty="0" err="1">
                <a:solidFill>
                  <a:srgbClr val="002060"/>
                </a:solidFill>
              </a:rPr>
              <a:t>lawan</a:t>
            </a:r>
            <a:r>
              <a:rPr lang="en-US" sz="1200" dirty="0">
                <a:solidFill>
                  <a:srgbClr val="002060"/>
                </a:solidFill>
              </a:rPr>
              <a:t>.</a:t>
            </a:r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US" sz="1200" dirty="0">
                <a:solidFill>
                  <a:srgbClr val="002060"/>
                </a:solidFill>
              </a:rPr>
              <a:t>VPLS ID - Kita </a:t>
            </a:r>
            <a:r>
              <a:rPr lang="en-US" sz="1200" dirty="0" err="1">
                <a:solidFill>
                  <a:srgbClr val="002060"/>
                </a:solidFill>
              </a:rPr>
              <a:t>isikan</a:t>
            </a:r>
            <a:r>
              <a:rPr lang="en-US" sz="1200" dirty="0">
                <a:solidFill>
                  <a:srgbClr val="002060"/>
                </a:solidFill>
              </a:rPr>
              <a:t> </a:t>
            </a:r>
            <a:r>
              <a:rPr lang="en-US" sz="1200" dirty="0" err="1">
                <a:solidFill>
                  <a:srgbClr val="002060"/>
                </a:solidFill>
              </a:rPr>
              <a:t>dengan</a:t>
            </a:r>
            <a:r>
              <a:rPr lang="en-US" sz="1200" dirty="0">
                <a:solidFill>
                  <a:srgbClr val="002060"/>
                </a:solidFill>
              </a:rPr>
              <a:t> </a:t>
            </a:r>
            <a:r>
              <a:rPr lang="en-US" sz="1200" dirty="0" err="1">
                <a:solidFill>
                  <a:srgbClr val="002060"/>
                </a:solidFill>
              </a:rPr>
              <a:t>penomoran</a:t>
            </a:r>
            <a:r>
              <a:rPr lang="en-US" sz="1200" dirty="0">
                <a:solidFill>
                  <a:srgbClr val="002060"/>
                </a:solidFill>
              </a:rPr>
              <a:t> yang </a:t>
            </a:r>
            <a:r>
              <a:rPr lang="en-US" sz="1200" dirty="0" err="1">
                <a:solidFill>
                  <a:srgbClr val="002060"/>
                </a:solidFill>
              </a:rPr>
              <a:t>unik</a:t>
            </a:r>
            <a:r>
              <a:rPr lang="en-US" sz="1200" dirty="0">
                <a:solidFill>
                  <a:srgbClr val="002060"/>
                </a:solidFill>
              </a:rPr>
              <a:t> </a:t>
            </a:r>
            <a:r>
              <a:rPr lang="en-US" sz="1200" dirty="0" err="1">
                <a:solidFill>
                  <a:srgbClr val="002060"/>
                </a:solidFill>
              </a:rPr>
              <a:t>disetiap</a:t>
            </a:r>
            <a:r>
              <a:rPr lang="en-US" sz="1200" dirty="0">
                <a:solidFill>
                  <a:srgbClr val="002060"/>
                </a:solidFill>
              </a:rPr>
              <a:t> tunnel yang </a:t>
            </a:r>
            <a:r>
              <a:rPr lang="en-US" sz="1200" dirty="0" err="1">
                <a:solidFill>
                  <a:srgbClr val="002060"/>
                </a:solidFill>
              </a:rPr>
              <a:t>terbentuk</a:t>
            </a:r>
            <a:r>
              <a:rPr lang="en-US" sz="1200" dirty="0">
                <a:solidFill>
                  <a:srgbClr val="002060"/>
                </a:solidFill>
              </a:rPr>
              <a:t>. </a:t>
            </a:r>
            <a:r>
              <a:rPr lang="en-US" sz="1200" dirty="0" err="1">
                <a:solidFill>
                  <a:srgbClr val="002060"/>
                </a:solidFill>
              </a:rPr>
              <a:t>Harus</a:t>
            </a:r>
            <a:r>
              <a:rPr lang="en-US" sz="1200" dirty="0">
                <a:solidFill>
                  <a:srgbClr val="002060"/>
                </a:solidFill>
              </a:rPr>
              <a:t> </a:t>
            </a:r>
            <a:r>
              <a:rPr lang="en-US" sz="1200" dirty="0" err="1">
                <a:solidFill>
                  <a:srgbClr val="002060"/>
                </a:solidFill>
              </a:rPr>
              <a:t>sama</a:t>
            </a:r>
            <a:r>
              <a:rPr lang="en-US" sz="1200" dirty="0">
                <a:solidFill>
                  <a:srgbClr val="002060"/>
                </a:solidFill>
              </a:rPr>
              <a:t> </a:t>
            </a:r>
            <a:r>
              <a:rPr lang="en-US" sz="1200" dirty="0" err="1">
                <a:solidFill>
                  <a:srgbClr val="002060"/>
                </a:solidFill>
              </a:rPr>
              <a:t>nilainya</a:t>
            </a:r>
            <a:r>
              <a:rPr lang="en-US" sz="1200" dirty="0">
                <a:solidFill>
                  <a:srgbClr val="002060"/>
                </a:solidFill>
              </a:rPr>
              <a:t> </a:t>
            </a:r>
            <a:r>
              <a:rPr lang="en-US" sz="1200" dirty="0" err="1">
                <a:solidFill>
                  <a:srgbClr val="002060"/>
                </a:solidFill>
              </a:rPr>
              <a:t>antar</a:t>
            </a:r>
            <a:r>
              <a:rPr lang="en-US" sz="1200" dirty="0">
                <a:solidFill>
                  <a:srgbClr val="002060"/>
                </a:solidFill>
              </a:rPr>
              <a:t> router yang </a:t>
            </a:r>
            <a:r>
              <a:rPr lang="en-US" sz="1200" dirty="0" err="1">
                <a:solidFill>
                  <a:srgbClr val="002060"/>
                </a:solidFill>
              </a:rPr>
              <a:t>melakukan</a:t>
            </a:r>
            <a:r>
              <a:rPr lang="en-US" sz="1200" dirty="0">
                <a:solidFill>
                  <a:srgbClr val="002060"/>
                </a:solidFill>
              </a:rPr>
              <a:t> peering.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5635362" y="523927"/>
            <a:ext cx="414081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2060"/>
                </a:solidFill>
              </a:rPr>
              <a:t>Step </a:t>
            </a:r>
            <a:r>
              <a:rPr lang="en-US" b="1" dirty="0" smtClean="0">
                <a:solidFill>
                  <a:srgbClr val="002060"/>
                </a:solidFill>
              </a:rPr>
              <a:t>3: </a:t>
            </a:r>
            <a:r>
              <a:rPr lang="it-IT" b="1" dirty="0">
                <a:solidFill>
                  <a:srgbClr val="002060"/>
                </a:solidFill>
              </a:rPr>
              <a:t>Konfigurasi VPLS Tunnel di </a:t>
            </a:r>
            <a:r>
              <a:rPr lang="it-IT" b="1" dirty="0" smtClean="0">
                <a:solidFill>
                  <a:srgbClr val="002060"/>
                </a:solidFill>
              </a:rPr>
              <a:t>MPLS</a:t>
            </a:r>
            <a:r>
              <a:rPr lang="en-US" b="1" dirty="0" smtClean="0">
                <a:solidFill>
                  <a:srgbClr val="002060"/>
                </a:solidFill>
              </a:rPr>
              <a:t> </a:t>
            </a:r>
            <a:endParaRPr lang="en-US" b="1" dirty="0">
              <a:solidFill>
                <a:srgbClr val="002060"/>
              </a:solidFill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30581" y="3802290"/>
            <a:ext cx="2356379" cy="2802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38933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69333" y="403853"/>
            <a:ext cx="563315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200" dirty="0" err="1">
                <a:solidFill>
                  <a:srgbClr val="002060"/>
                </a:solidFill>
              </a:rPr>
              <a:t>Jika</a:t>
            </a:r>
            <a:r>
              <a:rPr lang="en-US" sz="1200" dirty="0">
                <a:solidFill>
                  <a:srgbClr val="002060"/>
                </a:solidFill>
              </a:rPr>
              <a:t> </a:t>
            </a:r>
            <a:r>
              <a:rPr lang="en-US" sz="1200" dirty="0" err="1">
                <a:solidFill>
                  <a:srgbClr val="002060"/>
                </a:solidFill>
              </a:rPr>
              <a:t>dilihat</a:t>
            </a:r>
            <a:r>
              <a:rPr lang="en-US" sz="1200" dirty="0">
                <a:solidFill>
                  <a:srgbClr val="002060"/>
                </a:solidFill>
              </a:rPr>
              <a:t> </a:t>
            </a:r>
            <a:r>
              <a:rPr lang="en-US" sz="1200" dirty="0" err="1">
                <a:solidFill>
                  <a:srgbClr val="002060"/>
                </a:solidFill>
              </a:rPr>
              <a:t>lagi</a:t>
            </a:r>
            <a:r>
              <a:rPr lang="en-US" sz="1200" dirty="0">
                <a:solidFill>
                  <a:srgbClr val="002060"/>
                </a:solidFill>
              </a:rPr>
              <a:t> </a:t>
            </a:r>
            <a:r>
              <a:rPr lang="en-US" sz="1200" dirty="0" err="1">
                <a:solidFill>
                  <a:srgbClr val="002060"/>
                </a:solidFill>
              </a:rPr>
              <a:t>topologi</a:t>
            </a:r>
            <a:r>
              <a:rPr lang="en-US" sz="1200" dirty="0">
                <a:solidFill>
                  <a:srgbClr val="002060"/>
                </a:solidFill>
              </a:rPr>
              <a:t> </a:t>
            </a:r>
            <a:r>
              <a:rPr lang="en-US" sz="1200" dirty="0" err="1">
                <a:solidFill>
                  <a:srgbClr val="002060"/>
                </a:solidFill>
              </a:rPr>
              <a:t>diatas</a:t>
            </a:r>
            <a:r>
              <a:rPr lang="en-US" sz="1200" dirty="0">
                <a:solidFill>
                  <a:srgbClr val="002060"/>
                </a:solidFill>
              </a:rPr>
              <a:t> </a:t>
            </a:r>
            <a:r>
              <a:rPr lang="en-US" sz="1200" dirty="0" err="1">
                <a:solidFill>
                  <a:srgbClr val="002060"/>
                </a:solidFill>
              </a:rPr>
              <a:t>untuk</a:t>
            </a:r>
            <a:r>
              <a:rPr lang="en-US" sz="1200" dirty="0">
                <a:solidFill>
                  <a:srgbClr val="002060"/>
                </a:solidFill>
              </a:rPr>
              <a:t> </a:t>
            </a:r>
            <a:r>
              <a:rPr lang="en-US" sz="1200" dirty="0" err="1">
                <a:solidFill>
                  <a:srgbClr val="002060"/>
                </a:solidFill>
              </a:rPr>
              <a:t>komunikasi</a:t>
            </a:r>
            <a:r>
              <a:rPr lang="en-US" sz="1200" dirty="0">
                <a:solidFill>
                  <a:srgbClr val="002060"/>
                </a:solidFill>
              </a:rPr>
              <a:t> </a:t>
            </a:r>
            <a:r>
              <a:rPr lang="en-US" sz="1200" dirty="0" err="1">
                <a:solidFill>
                  <a:srgbClr val="002060"/>
                </a:solidFill>
              </a:rPr>
              <a:t>dari</a:t>
            </a:r>
            <a:r>
              <a:rPr lang="en-US" sz="1200" dirty="0">
                <a:solidFill>
                  <a:srgbClr val="002060"/>
                </a:solidFill>
              </a:rPr>
              <a:t> </a:t>
            </a:r>
            <a:r>
              <a:rPr lang="en-US" sz="1200" dirty="0" err="1">
                <a:solidFill>
                  <a:srgbClr val="002060"/>
                </a:solidFill>
              </a:rPr>
              <a:t>kedua</a:t>
            </a:r>
            <a:r>
              <a:rPr lang="en-US" sz="1200" dirty="0">
                <a:solidFill>
                  <a:srgbClr val="002060"/>
                </a:solidFill>
              </a:rPr>
              <a:t> router CE </a:t>
            </a:r>
            <a:r>
              <a:rPr lang="en-US" sz="1200" dirty="0" err="1">
                <a:solidFill>
                  <a:srgbClr val="002060"/>
                </a:solidFill>
              </a:rPr>
              <a:t>menggunakan</a:t>
            </a:r>
            <a:r>
              <a:rPr lang="en-US" sz="1200" dirty="0">
                <a:solidFill>
                  <a:srgbClr val="002060"/>
                </a:solidFill>
              </a:rPr>
              <a:t> segment network yang </a:t>
            </a:r>
            <a:r>
              <a:rPr lang="en-US" sz="1200" dirty="0" err="1">
                <a:solidFill>
                  <a:srgbClr val="002060"/>
                </a:solidFill>
              </a:rPr>
              <a:t>sama</a:t>
            </a:r>
            <a:r>
              <a:rPr lang="en-US" sz="1200" dirty="0">
                <a:solidFill>
                  <a:srgbClr val="002060"/>
                </a:solidFill>
              </a:rPr>
              <a:t>. </a:t>
            </a:r>
            <a:r>
              <a:rPr lang="en-US" sz="1200" dirty="0" err="1">
                <a:solidFill>
                  <a:srgbClr val="002060"/>
                </a:solidFill>
              </a:rPr>
              <a:t>Untuk</a:t>
            </a:r>
            <a:r>
              <a:rPr lang="en-US" sz="1200" dirty="0">
                <a:solidFill>
                  <a:srgbClr val="002060"/>
                </a:solidFill>
              </a:rPr>
              <a:t> </a:t>
            </a:r>
            <a:r>
              <a:rPr lang="en-US" sz="1200" dirty="0" err="1">
                <a:solidFill>
                  <a:srgbClr val="002060"/>
                </a:solidFill>
              </a:rPr>
              <a:t>itu</a:t>
            </a:r>
            <a:r>
              <a:rPr lang="en-US" sz="1200" dirty="0">
                <a:solidFill>
                  <a:srgbClr val="002060"/>
                </a:solidFill>
              </a:rPr>
              <a:t> </a:t>
            </a:r>
            <a:r>
              <a:rPr lang="en-US" sz="1200" dirty="0" err="1">
                <a:solidFill>
                  <a:srgbClr val="002060"/>
                </a:solidFill>
              </a:rPr>
              <a:t>setelah</a:t>
            </a:r>
            <a:r>
              <a:rPr lang="en-US" sz="1200" dirty="0">
                <a:solidFill>
                  <a:srgbClr val="002060"/>
                </a:solidFill>
              </a:rPr>
              <a:t> tunnel </a:t>
            </a:r>
            <a:r>
              <a:rPr lang="en-US" sz="1200" dirty="0" err="1">
                <a:solidFill>
                  <a:srgbClr val="002060"/>
                </a:solidFill>
              </a:rPr>
              <a:t>terbentuk</a:t>
            </a:r>
            <a:r>
              <a:rPr lang="en-US" sz="1200" dirty="0">
                <a:solidFill>
                  <a:srgbClr val="002060"/>
                </a:solidFill>
              </a:rPr>
              <a:t> </a:t>
            </a:r>
            <a:r>
              <a:rPr lang="en-US" sz="1200" dirty="0" err="1">
                <a:solidFill>
                  <a:srgbClr val="002060"/>
                </a:solidFill>
              </a:rPr>
              <a:t>dan</a:t>
            </a:r>
            <a:r>
              <a:rPr lang="en-US" sz="1200" dirty="0">
                <a:solidFill>
                  <a:srgbClr val="002060"/>
                </a:solidFill>
              </a:rPr>
              <a:t> </a:t>
            </a:r>
            <a:r>
              <a:rPr lang="en-US" sz="1200" dirty="0" err="1">
                <a:solidFill>
                  <a:srgbClr val="002060"/>
                </a:solidFill>
              </a:rPr>
              <a:t>dipastikan</a:t>
            </a:r>
            <a:r>
              <a:rPr lang="en-US" sz="1200" dirty="0">
                <a:solidFill>
                  <a:srgbClr val="002060"/>
                </a:solidFill>
              </a:rPr>
              <a:t> </a:t>
            </a:r>
            <a:r>
              <a:rPr lang="en-US" sz="1200" dirty="0" err="1">
                <a:solidFill>
                  <a:srgbClr val="002060"/>
                </a:solidFill>
              </a:rPr>
              <a:t>terkoneksi</a:t>
            </a:r>
            <a:r>
              <a:rPr lang="en-US" sz="1200" dirty="0">
                <a:solidFill>
                  <a:srgbClr val="002060"/>
                </a:solidFill>
              </a:rPr>
              <a:t> (flag R) </a:t>
            </a:r>
            <a:r>
              <a:rPr lang="en-US" sz="1200" dirty="0" err="1">
                <a:solidFill>
                  <a:srgbClr val="002060"/>
                </a:solidFill>
              </a:rPr>
              <a:t>kita</a:t>
            </a:r>
            <a:r>
              <a:rPr lang="en-US" sz="1200" dirty="0">
                <a:solidFill>
                  <a:srgbClr val="002060"/>
                </a:solidFill>
              </a:rPr>
              <a:t> </a:t>
            </a:r>
            <a:r>
              <a:rPr lang="en-US" sz="1200" dirty="0" err="1">
                <a:solidFill>
                  <a:srgbClr val="002060"/>
                </a:solidFill>
              </a:rPr>
              <a:t>akan</a:t>
            </a:r>
            <a:r>
              <a:rPr lang="en-US" sz="1200" dirty="0">
                <a:solidFill>
                  <a:srgbClr val="002060"/>
                </a:solidFill>
              </a:rPr>
              <a:t> setting bridging </a:t>
            </a:r>
            <a:r>
              <a:rPr lang="en-US" sz="1200" dirty="0" err="1">
                <a:solidFill>
                  <a:srgbClr val="002060"/>
                </a:solidFill>
              </a:rPr>
              <a:t>dengan</a:t>
            </a:r>
            <a:r>
              <a:rPr lang="en-US" sz="1200" dirty="0">
                <a:solidFill>
                  <a:srgbClr val="002060"/>
                </a:solidFill>
              </a:rPr>
              <a:t> interface PE yang </a:t>
            </a:r>
            <a:r>
              <a:rPr lang="en-US" sz="1200" dirty="0" err="1">
                <a:solidFill>
                  <a:srgbClr val="002060"/>
                </a:solidFill>
              </a:rPr>
              <a:t>terhubung</a:t>
            </a:r>
            <a:r>
              <a:rPr lang="en-US" sz="1200" dirty="0">
                <a:solidFill>
                  <a:srgbClr val="002060"/>
                </a:solidFill>
              </a:rPr>
              <a:t> </a:t>
            </a:r>
            <a:r>
              <a:rPr lang="en-US" sz="1200" dirty="0" err="1">
                <a:solidFill>
                  <a:srgbClr val="002060"/>
                </a:solidFill>
              </a:rPr>
              <a:t>ke</a:t>
            </a:r>
            <a:r>
              <a:rPr lang="en-US" sz="1200" dirty="0">
                <a:solidFill>
                  <a:srgbClr val="002060"/>
                </a:solidFill>
              </a:rPr>
              <a:t> CE di </a:t>
            </a:r>
            <a:r>
              <a:rPr lang="en-US" sz="1200" dirty="0" err="1">
                <a:solidFill>
                  <a:srgbClr val="002060"/>
                </a:solidFill>
              </a:rPr>
              <a:t>masing</a:t>
            </a:r>
            <a:r>
              <a:rPr lang="en-US" sz="1200" dirty="0">
                <a:solidFill>
                  <a:srgbClr val="002060"/>
                </a:solidFill>
              </a:rPr>
              <a:t> router PE.</a:t>
            </a:r>
            <a:endParaRPr lang="en-US" sz="1200" dirty="0">
              <a:solidFill>
                <a:srgbClr val="002060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917" y="1476904"/>
            <a:ext cx="3952875" cy="2143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37623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541866" y="1367522"/>
            <a:ext cx="11243733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hlinkClick r:id="rId2"/>
              </a:rPr>
              <a:t>https://www.quisted.net/index.php/2024/11/11/mpls-segment-routing-mpls-sr-lab</a:t>
            </a:r>
            <a:r>
              <a:rPr lang="en-US" dirty="0" smtClean="0">
                <a:hlinkClick r:id="rId2"/>
              </a:rPr>
              <a:t>/</a:t>
            </a:r>
            <a:endParaRPr lang="en-US" dirty="0" smtClean="0"/>
          </a:p>
          <a:p>
            <a:r>
              <a:rPr lang="en-US" dirty="0">
                <a:hlinkClick r:id="rId3"/>
              </a:rPr>
              <a:t>https://www.cisco.com/c/en/us/support/docs/multiprotocol-label-switching-mpls/mpls/13733-mpls-vpn-basic.html</a:t>
            </a:r>
            <a:endParaRPr lang="en-US" dirty="0"/>
          </a:p>
          <a:p>
            <a:r>
              <a:rPr lang="en-US" dirty="0">
                <a:hlinkClick r:id="rId2"/>
              </a:rPr>
              <a:t>https://www.quisted.net/index.php/2024/11/11/mpls-segment-routing-mpls-sr-lab</a:t>
            </a:r>
            <a:r>
              <a:rPr lang="en-US" dirty="0" smtClean="0">
                <a:hlinkClick r:id="rId2"/>
              </a:rPr>
              <a:t>/</a:t>
            </a:r>
            <a:endParaRPr lang="en-US" dirty="0" smtClean="0"/>
          </a:p>
          <a:p>
            <a:r>
              <a:rPr lang="en-US" dirty="0"/>
              <a:t>https://dzikrafathintech.blogspot.com/2017/04/konfigurasi-dasar-mpls-ldp-pada-cisco.html</a:t>
            </a:r>
          </a:p>
          <a:p>
            <a:r>
              <a:rPr lang="en-US" dirty="0">
                <a:hlinkClick r:id="rId4"/>
              </a:rPr>
              <a:t>https://ipcisco.com/lesson/enabling-mpls-on-cisco-routers</a:t>
            </a:r>
            <a:r>
              <a:rPr lang="en-US" dirty="0" smtClean="0">
                <a:hlinkClick r:id="rId4"/>
              </a:rPr>
              <a:t>/</a:t>
            </a:r>
            <a:endParaRPr lang="en-US" dirty="0" smtClean="0"/>
          </a:p>
          <a:p>
            <a:r>
              <a:rPr lang="en-US" dirty="0"/>
              <a:t>https://www.cisco.com/c/en/us/support/docs/multiprotocol-label-switching-mpls/mpls/13733-mpls-vpn-basic.html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838200" y="4463853"/>
            <a:ext cx="4019551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smtClean="0"/>
              <a:t>HW: Summary</a:t>
            </a:r>
            <a:endParaRPr lang="en-US" dirty="0"/>
          </a:p>
        </p:txBody>
      </p:sp>
      <p:sp>
        <p:nvSpPr>
          <p:cNvPr id="5" name="Striped Right Arrow 4"/>
          <p:cNvSpPr/>
          <p:nvPr/>
        </p:nvSpPr>
        <p:spPr>
          <a:xfrm rot="17817340">
            <a:off x="2142664" y="3330551"/>
            <a:ext cx="742950" cy="985837"/>
          </a:xfrm>
          <a:prstGeom prst="stripedRightArrow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57725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Tiga orang berbicara — Foto Stok © orlaimagen #6205769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3197" y="1808970"/>
            <a:ext cx="4110803" cy="30831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 rot="10800000">
            <a:off x="4086419" y="3508349"/>
            <a:ext cx="1807135" cy="1562275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5" name="Rectangle 4"/>
          <p:cNvSpPr/>
          <p:nvPr/>
        </p:nvSpPr>
        <p:spPr>
          <a:xfrm>
            <a:off x="838200" y="5374342"/>
            <a:ext cx="9708776" cy="788894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153" y="5451525"/>
            <a:ext cx="812987" cy="634526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9554322" y="5728243"/>
            <a:ext cx="2487830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800" dirty="0"/>
              <a:t>https://www.youtube.com/@AmelOline/videos</a:t>
            </a:r>
          </a:p>
        </p:txBody>
      </p:sp>
      <p:sp>
        <p:nvSpPr>
          <p:cNvPr id="8" name="Rectangle 7"/>
          <p:cNvSpPr/>
          <p:nvPr/>
        </p:nvSpPr>
        <p:spPr>
          <a:xfrm>
            <a:off x="10343517" y="5589744"/>
            <a:ext cx="1545230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800" dirty="0"/>
              <a:t>https://github.com/siagianp</a:t>
            </a:r>
          </a:p>
        </p:txBody>
      </p:sp>
      <p:sp>
        <p:nvSpPr>
          <p:cNvPr id="9" name="Rectangle 8"/>
          <p:cNvSpPr/>
          <p:nvPr/>
        </p:nvSpPr>
        <p:spPr>
          <a:xfrm>
            <a:off x="8628682" y="5866743"/>
            <a:ext cx="3490509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800" dirty="0"/>
              <a:t>https://github.com/amelcharolinesgn2/IoT_simulator-mqtt-NodeRed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9036722" y="6005242"/>
            <a:ext cx="27466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800" dirty="0"/>
              <a:t>https://github.com/amelcharolinesgn2/Cloud-Infrastructures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32214" y="6120658"/>
            <a:ext cx="328681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800" dirty="0"/>
              <a:t>https://github.com/amelcharolinesgn2/ClouD-Infrastructure-SISKA-2025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343882" y="6251509"/>
            <a:ext cx="3775310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800" dirty="0"/>
              <a:t>https://github.com/amelcharolinesgn2/Gyroscope-Sensor-Data-Accelerometer</a:t>
            </a:r>
          </a:p>
        </p:txBody>
      </p:sp>
    </p:spTree>
    <p:extLst>
      <p:ext uri="{BB962C8B-B14F-4D97-AF65-F5344CB8AC3E}">
        <p14:creationId xmlns:p14="http://schemas.microsoft.com/office/powerpoint/2010/main" val="25278863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4413</TotalTime>
  <Words>4056</Words>
  <Application>Microsoft Office PowerPoint</Application>
  <PresentationFormat>Widescreen</PresentationFormat>
  <Paragraphs>284</Paragraphs>
  <Slides>24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1" baseType="lpstr">
      <vt:lpstr>Malgun Gothic</vt:lpstr>
      <vt:lpstr>Arial</vt:lpstr>
      <vt:lpstr>Calibri</vt:lpstr>
      <vt:lpstr>Calibri Light</vt:lpstr>
      <vt:lpstr>Segoe UI Symbol</vt:lpstr>
      <vt:lpstr>Wingdings</vt:lpstr>
      <vt:lpstr>Office Theme</vt:lpstr>
      <vt:lpstr>PowerPoint Presentation</vt:lpstr>
      <vt:lpstr>PowerPoint Presentation</vt:lpstr>
      <vt:lpstr>PowerPoint Presentation</vt:lpstr>
      <vt:lpstr>MPLS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Ref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pds</dc:title>
  <dc:creator>pds</dc:creator>
  <cp:lastModifiedBy>Gde</cp:lastModifiedBy>
  <cp:revision>116</cp:revision>
  <dcterms:created xsi:type="dcterms:W3CDTF">2022-08-25T13:17:53Z</dcterms:created>
  <dcterms:modified xsi:type="dcterms:W3CDTF">2026-04-16T03:07:09Z</dcterms:modified>
</cp:coreProperties>
</file>