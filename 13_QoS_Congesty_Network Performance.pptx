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0"/>
  </p:notesMasterIdLst>
  <p:sldIdLst>
    <p:sldId id="339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41" r:id="rId27"/>
    <p:sldId id="342" r:id="rId28"/>
    <p:sldId id="343" r:id="rId29"/>
    <p:sldId id="344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4" r:id="rId40"/>
    <p:sldId id="355" r:id="rId41"/>
    <p:sldId id="356" r:id="rId42"/>
    <p:sldId id="357" r:id="rId43"/>
    <p:sldId id="358" r:id="rId44"/>
    <p:sldId id="359" r:id="rId45"/>
    <p:sldId id="360" r:id="rId46"/>
    <p:sldId id="361" r:id="rId47"/>
    <p:sldId id="362" r:id="rId48"/>
    <p:sldId id="363" r:id="rId49"/>
    <p:sldId id="364" r:id="rId50"/>
    <p:sldId id="365" r:id="rId51"/>
    <p:sldId id="366" r:id="rId52"/>
    <p:sldId id="367" r:id="rId53"/>
    <p:sldId id="368" r:id="rId54"/>
    <p:sldId id="369" r:id="rId55"/>
    <p:sldId id="370" r:id="rId56"/>
    <p:sldId id="371" r:id="rId57"/>
    <p:sldId id="372" r:id="rId58"/>
    <p:sldId id="373" r:id="rId59"/>
    <p:sldId id="374" r:id="rId60"/>
    <p:sldId id="375" r:id="rId61"/>
    <p:sldId id="376" r:id="rId62"/>
    <p:sldId id="377" r:id="rId63"/>
    <p:sldId id="378" r:id="rId64"/>
    <p:sldId id="379" r:id="rId65"/>
    <p:sldId id="380" r:id="rId66"/>
    <p:sldId id="381" r:id="rId67"/>
    <p:sldId id="382" r:id="rId68"/>
    <p:sldId id="340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A5"/>
    <a:srgbClr val="00FDFF"/>
    <a:srgbClr val="00D9C7"/>
    <a:srgbClr val="73FDD6"/>
    <a:srgbClr val="FF40FF"/>
    <a:srgbClr val="A92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4660"/>
  </p:normalViewPr>
  <p:slideViewPr>
    <p:cSldViewPr snapToGrid="0">
      <p:cViewPr>
        <p:scale>
          <a:sx n="110" d="100"/>
          <a:sy n="110" d="100"/>
        </p:scale>
        <p:origin x="912" y="2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0-02-17T21:20:41.922" idx="1">
    <p:pos x="10" y="10"/>
    <p:text>Illustration of Consistency issues by having three different hosts illustrating casual consistency with differences in the updates of an avatar. The host B is the owner of the avatar. In host A, there is a slight delay but then the avatar synchronizes by apparently moving faster than in Host B. The same concerning Host C, where the delay is even greater than in A.
</p:tex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EF90A8-5EA2-F14F-B80B-73A42425884E}" type="doc">
      <dgm:prSet loTypeId="urn:microsoft.com/office/officeart/2005/8/layout/radial5" loCatId="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FB9EE99-EB6B-B145-A328-7D4144D56DCE}">
      <dgm:prSet phldrT="[Text]"/>
      <dgm:spPr/>
      <dgm:t>
        <a:bodyPr/>
        <a:lstStyle/>
        <a:p>
          <a:r>
            <a:rPr lang="en-US" dirty="0">
              <a:latin typeface="Segoe UI Symbol" panose="020B0502040204020203" pitchFamily="34" charset="0"/>
              <a:ea typeface="Segoe UI Symbol" panose="020B0502040204020203" pitchFamily="34" charset="0"/>
            </a:rPr>
            <a:t>Quality of Services</a:t>
          </a:r>
        </a:p>
      </dgm:t>
    </dgm:pt>
    <dgm:pt modelId="{BF0C1EAC-4800-824C-B966-EBC341779993}" type="parTrans" cxnId="{84A7D26E-B89F-3141-8F05-1E97A7814F05}">
      <dgm:prSet/>
      <dgm:spPr/>
      <dgm:t>
        <a:bodyPr/>
        <a:lstStyle/>
        <a:p>
          <a:endParaRPr lang="en-US"/>
        </a:p>
      </dgm:t>
    </dgm:pt>
    <dgm:pt modelId="{48C68E2D-F105-0D4C-A4BA-CE21372B315C}" type="sibTrans" cxnId="{84A7D26E-B89F-3141-8F05-1E97A7814F05}">
      <dgm:prSet/>
      <dgm:spPr/>
      <dgm:t>
        <a:bodyPr/>
        <a:lstStyle/>
        <a:p>
          <a:endParaRPr lang="en-US"/>
        </a:p>
      </dgm:t>
    </dgm:pt>
    <dgm:pt modelId="{4EA9A211-CE2A-4543-93C2-F1875D7B4491}">
      <dgm:prSet phldrT="[Text]"/>
      <dgm:spPr/>
      <dgm:t>
        <a:bodyPr/>
        <a:lstStyle/>
        <a:p>
          <a:r>
            <a:rPr lang="en-US" dirty="0"/>
            <a:t>Bandwidth</a:t>
          </a:r>
        </a:p>
      </dgm:t>
    </dgm:pt>
    <dgm:pt modelId="{F40BD3A3-A623-9143-8759-177FF91DE968}" type="parTrans" cxnId="{B5BB41F6-4D58-B84B-A45D-2C8FC4E9EBD3}">
      <dgm:prSet/>
      <dgm:spPr/>
      <dgm:t>
        <a:bodyPr/>
        <a:lstStyle/>
        <a:p>
          <a:endParaRPr lang="en-US"/>
        </a:p>
      </dgm:t>
    </dgm:pt>
    <dgm:pt modelId="{C990D9E7-8446-7044-9DD8-60DFE828A834}" type="sibTrans" cxnId="{B5BB41F6-4D58-B84B-A45D-2C8FC4E9EBD3}">
      <dgm:prSet/>
      <dgm:spPr/>
      <dgm:t>
        <a:bodyPr/>
        <a:lstStyle/>
        <a:p>
          <a:endParaRPr lang="en-US"/>
        </a:p>
      </dgm:t>
    </dgm:pt>
    <dgm:pt modelId="{4766EFD5-4DE4-4B41-B009-1F490A76BE56}">
      <dgm:prSet phldrT="[Text]"/>
      <dgm:spPr/>
      <dgm:t>
        <a:bodyPr/>
        <a:lstStyle/>
        <a:p>
          <a:r>
            <a:rPr lang="en-US" dirty="0"/>
            <a:t>Throughput</a:t>
          </a:r>
        </a:p>
      </dgm:t>
    </dgm:pt>
    <dgm:pt modelId="{2CB4AA3B-CE10-DD4E-B0C9-0A83514AB03B}" type="parTrans" cxnId="{FCA591B7-124A-0047-8080-6D3C95DF27B7}">
      <dgm:prSet/>
      <dgm:spPr/>
      <dgm:t>
        <a:bodyPr/>
        <a:lstStyle/>
        <a:p>
          <a:endParaRPr lang="en-US"/>
        </a:p>
      </dgm:t>
    </dgm:pt>
    <dgm:pt modelId="{41DE56AD-7373-9F46-A300-1F71EA250FEF}" type="sibTrans" cxnId="{FCA591B7-124A-0047-8080-6D3C95DF27B7}">
      <dgm:prSet/>
      <dgm:spPr/>
      <dgm:t>
        <a:bodyPr/>
        <a:lstStyle/>
        <a:p>
          <a:endParaRPr lang="en-US"/>
        </a:p>
      </dgm:t>
    </dgm:pt>
    <dgm:pt modelId="{F7C70153-20E4-394B-9C30-8540AC543056}">
      <dgm:prSet phldrT="[Text]"/>
      <dgm:spPr/>
      <dgm:t>
        <a:bodyPr/>
        <a:lstStyle/>
        <a:p>
          <a:r>
            <a:rPr lang="en-US" dirty="0"/>
            <a:t>Jitter</a:t>
          </a:r>
        </a:p>
      </dgm:t>
    </dgm:pt>
    <dgm:pt modelId="{5FFB7969-4336-4A47-913F-BBCA4CCF639A}" type="parTrans" cxnId="{E3477BF7-1DE1-F840-97A2-FFAA5D97B535}">
      <dgm:prSet/>
      <dgm:spPr/>
      <dgm:t>
        <a:bodyPr/>
        <a:lstStyle/>
        <a:p>
          <a:endParaRPr lang="en-US"/>
        </a:p>
      </dgm:t>
    </dgm:pt>
    <dgm:pt modelId="{7C87FA5E-D885-734D-A85F-FDDBE12E720E}" type="sibTrans" cxnId="{E3477BF7-1DE1-F840-97A2-FFAA5D97B535}">
      <dgm:prSet/>
      <dgm:spPr/>
      <dgm:t>
        <a:bodyPr/>
        <a:lstStyle/>
        <a:p>
          <a:endParaRPr lang="en-US"/>
        </a:p>
      </dgm:t>
    </dgm:pt>
    <dgm:pt modelId="{1212124A-A6C5-9D4C-91F6-FA14D8BB83C0}">
      <dgm:prSet phldrT="[Text]"/>
      <dgm:spPr/>
      <dgm:t>
        <a:bodyPr/>
        <a:lstStyle/>
        <a:p>
          <a:r>
            <a:rPr lang="en-US" dirty="0"/>
            <a:t>Packet Loss</a:t>
          </a:r>
        </a:p>
      </dgm:t>
    </dgm:pt>
    <dgm:pt modelId="{A7E5EDB2-560E-994E-9B98-E04DFB9EAE39}" type="parTrans" cxnId="{441C55AC-B3D9-C94F-AE2A-604DFCAAE400}">
      <dgm:prSet/>
      <dgm:spPr/>
      <dgm:t>
        <a:bodyPr/>
        <a:lstStyle/>
        <a:p>
          <a:endParaRPr lang="en-US"/>
        </a:p>
      </dgm:t>
    </dgm:pt>
    <dgm:pt modelId="{FC0A5D25-BD1D-444C-BA33-F8BC97A01160}" type="sibTrans" cxnId="{441C55AC-B3D9-C94F-AE2A-604DFCAAE400}">
      <dgm:prSet/>
      <dgm:spPr/>
      <dgm:t>
        <a:bodyPr/>
        <a:lstStyle/>
        <a:p>
          <a:endParaRPr lang="en-US"/>
        </a:p>
      </dgm:t>
    </dgm:pt>
    <dgm:pt modelId="{A1878B75-8284-4045-B46F-F4A130813F0B}">
      <dgm:prSet/>
      <dgm:spPr/>
      <dgm:t>
        <a:bodyPr/>
        <a:lstStyle/>
        <a:p>
          <a:r>
            <a:rPr lang="en-US" dirty="0"/>
            <a:t>Latency</a:t>
          </a:r>
        </a:p>
      </dgm:t>
    </dgm:pt>
    <dgm:pt modelId="{AE6B5E30-6C6A-9B4B-9262-FC681868AEED}" type="parTrans" cxnId="{5B9FCF95-6F6F-C940-A2C6-5B0C8B7FB49A}">
      <dgm:prSet/>
      <dgm:spPr/>
      <dgm:t>
        <a:bodyPr/>
        <a:lstStyle/>
        <a:p>
          <a:endParaRPr lang="en-US"/>
        </a:p>
      </dgm:t>
    </dgm:pt>
    <dgm:pt modelId="{74730F01-0D9C-8249-99F0-417DEB33AA03}" type="sibTrans" cxnId="{5B9FCF95-6F6F-C940-A2C6-5B0C8B7FB49A}">
      <dgm:prSet/>
      <dgm:spPr/>
      <dgm:t>
        <a:bodyPr/>
        <a:lstStyle/>
        <a:p>
          <a:endParaRPr lang="en-US"/>
        </a:p>
      </dgm:t>
    </dgm:pt>
    <dgm:pt modelId="{4BBF6B1D-48C6-8540-9027-D1CED2A7A03F}" type="pres">
      <dgm:prSet presAssocID="{1BEF90A8-5EA2-F14F-B80B-73A42425884E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6DDF52A-DD5F-8442-975D-47CAA71C58BF}" type="pres">
      <dgm:prSet presAssocID="{3FB9EE99-EB6B-B145-A328-7D4144D56DCE}" presName="centerShape" presStyleLbl="node0" presStyleIdx="0" presStyleCnt="1"/>
      <dgm:spPr/>
      <dgm:t>
        <a:bodyPr/>
        <a:lstStyle/>
        <a:p>
          <a:endParaRPr lang="en-US"/>
        </a:p>
      </dgm:t>
    </dgm:pt>
    <dgm:pt modelId="{A29D917D-9F79-F447-B695-8ACD952D44F6}" type="pres">
      <dgm:prSet presAssocID="{F40BD3A3-A623-9143-8759-177FF91DE968}" presName="parTrans" presStyleLbl="sibTrans2D1" presStyleIdx="0" presStyleCnt="5"/>
      <dgm:spPr/>
      <dgm:t>
        <a:bodyPr/>
        <a:lstStyle/>
        <a:p>
          <a:endParaRPr lang="en-US"/>
        </a:p>
      </dgm:t>
    </dgm:pt>
    <dgm:pt modelId="{C4FAC08C-26F4-064D-9F1F-5D5058EF685D}" type="pres">
      <dgm:prSet presAssocID="{F40BD3A3-A623-9143-8759-177FF91DE968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8538394D-F872-7747-9B0D-67C363AF3C54}" type="pres">
      <dgm:prSet presAssocID="{4EA9A211-CE2A-4543-93C2-F1875D7B449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CED256-0BC7-BC40-A9C1-9603B6C11022}" type="pres">
      <dgm:prSet presAssocID="{2CB4AA3B-CE10-DD4E-B0C9-0A83514AB03B}" presName="parTrans" presStyleLbl="sibTrans2D1" presStyleIdx="1" presStyleCnt="5"/>
      <dgm:spPr/>
      <dgm:t>
        <a:bodyPr/>
        <a:lstStyle/>
        <a:p>
          <a:endParaRPr lang="en-US"/>
        </a:p>
      </dgm:t>
    </dgm:pt>
    <dgm:pt modelId="{8334F419-577C-B041-A56A-4ADB8F969F60}" type="pres">
      <dgm:prSet presAssocID="{2CB4AA3B-CE10-DD4E-B0C9-0A83514AB03B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CF519C4F-DD22-BF47-B1D2-754D9C55566A}" type="pres">
      <dgm:prSet presAssocID="{4766EFD5-4DE4-4B41-B009-1F490A76BE5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B71A68-E17D-E542-A163-03460D5D534A}" type="pres">
      <dgm:prSet presAssocID="{5FFB7969-4336-4A47-913F-BBCA4CCF639A}" presName="parTrans" presStyleLbl="sibTrans2D1" presStyleIdx="2" presStyleCnt="5"/>
      <dgm:spPr/>
      <dgm:t>
        <a:bodyPr/>
        <a:lstStyle/>
        <a:p>
          <a:endParaRPr lang="en-US"/>
        </a:p>
      </dgm:t>
    </dgm:pt>
    <dgm:pt modelId="{D99C6B1A-6B71-E54C-A9E2-CD4531E70DA7}" type="pres">
      <dgm:prSet presAssocID="{5FFB7969-4336-4A47-913F-BBCA4CCF639A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A6671E93-AA53-9D42-99FF-11784B8D830A}" type="pres">
      <dgm:prSet presAssocID="{F7C70153-20E4-394B-9C30-8540AC543056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6FB7C3-587F-6C42-8CE1-E59DE46EF07D}" type="pres">
      <dgm:prSet presAssocID="{A7E5EDB2-560E-994E-9B98-E04DFB9EAE39}" presName="parTrans" presStyleLbl="sibTrans2D1" presStyleIdx="3" presStyleCnt="5"/>
      <dgm:spPr/>
      <dgm:t>
        <a:bodyPr/>
        <a:lstStyle/>
        <a:p>
          <a:endParaRPr lang="en-US"/>
        </a:p>
      </dgm:t>
    </dgm:pt>
    <dgm:pt modelId="{B40C99F4-E103-BA46-A565-08D7A7B54318}" type="pres">
      <dgm:prSet presAssocID="{A7E5EDB2-560E-994E-9B98-E04DFB9EAE39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5B7CF947-A298-804D-8351-890793A02144}" type="pres">
      <dgm:prSet presAssocID="{1212124A-A6C5-9D4C-91F6-FA14D8BB83C0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A82D80-4B44-EA41-863C-6F6D2A0AFB74}" type="pres">
      <dgm:prSet presAssocID="{AE6B5E30-6C6A-9B4B-9262-FC681868AEED}" presName="parTrans" presStyleLbl="sibTrans2D1" presStyleIdx="4" presStyleCnt="5"/>
      <dgm:spPr/>
      <dgm:t>
        <a:bodyPr/>
        <a:lstStyle/>
        <a:p>
          <a:endParaRPr lang="en-US"/>
        </a:p>
      </dgm:t>
    </dgm:pt>
    <dgm:pt modelId="{BF2B01EB-7596-2A4D-B421-20150103BBE2}" type="pres">
      <dgm:prSet presAssocID="{AE6B5E30-6C6A-9B4B-9262-FC681868AEED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D7C1F09E-7E1A-734A-B8B9-AF974C6A3A88}" type="pres">
      <dgm:prSet presAssocID="{A1878B75-8284-4045-B46F-F4A130813F0B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41C55AC-B3D9-C94F-AE2A-604DFCAAE400}" srcId="{3FB9EE99-EB6B-B145-A328-7D4144D56DCE}" destId="{1212124A-A6C5-9D4C-91F6-FA14D8BB83C0}" srcOrd="3" destOrd="0" parTransId="{A7E5EDB2-560E-994E-9B98-E04DFB9EAE39}" sibTransId="{FC0A5D25-BD1D-444C-BA33-F8BC97A01160}"/>
    <dgm:cxn modelId="{ADCB311A-A33E-3843-81B9-40A604D804ED}" type="presOf" srcId="{F7C70153-20E4-394B-9C30-8540AC543056}" destId="{A6671E93-AA53-9D42-99FF-11784B8D830A}" srcOrd="0" destOrd="0" presId="urn:microsoft.com/office/officeart/2005/8/layout/radial5"/>
    <dgm:cxn modelId="{66899283-BE9A-EE4A-94A6-12862C3BAE31}" type="presOf" srcId="{A1878B75-8284-4045-B46F-F4A130813F0B}" destId="{D7C1F09E-7E1A-734A-B8B9-AF974C6A3A88}" srcOrd="0" destOrd="0" presId="urn:microsoft.com/office/officeart/2005/8/layout/radial5"/>
    <dgm:cxn modelId="{47EC9CC4-B6F2-7149-B382-FD5542EAF564}" type="presOf" srcId="{4766EFD5-4DE4-4B41-B009-1F490A76BE56}" destId="{CF519C4F-DD22-BF47-B1D2-754D9C55566A}" srcOrd="0" destOrd="0" presId="urn:microsoft.com/office/officeart/2005/8/layout/radial5"/>
    <dgm:cxn modelId="{9CD1A3B6-3391-BC45-ACBC-31AA1B1436A5}" type="presOf" srcId="{AE6B5E30-6C6A-9B4B-9262-FC681868AEED}" destId="{61A82D80-4B44-EA41-863C-6F6D2A0AFB74}" srcOrd="0" destOrd="0" presId="urn:microsoft.com/office/officeart/2005/8/layout/radial5"/>
    <dgm:cxn modelId="{41D9AD86-D50E-BA43-99AA-69FC976F9284}" type="presOf" srcId="{5FFB7969-4336-4A47-913F-BBCA4CCF639A}" destId="{D99C6B1A-6B71-E54C-A9E2-CD4531E70DA7}" srcOrd="1" destOrd="0" presId="urn:microsoft.com/office/officeart/2005/8/layout/radial5"/>
    <dgm:cxn modelId="{7F55A921-F336-E34C-919E-9DF974190462}" type="presOf" srcId="{2CB4AA3B-CE10-DD4E-B0C9-0A83514AB03B}" destId="{00CED256-0BC7-BC40-A9C1-9603B6C11022}" srcOrd="0" destOrd="0" presId="urn:microsoft.com/office/officeart/2005/8/layout/radial5"/>
    <dgm:cxn modelId="{E3477BF7-1DE1-F840-97A2-FFAA5D97B535}" srcId="{3FB9EE99-EB6B-B145-A328-7D4144D56DCE}" destId="{F7C70153-20E4-394B-9C30-8540AC543056}" srcOrd="2" destOrd="0" parTransId="{5FFB7969-4336-4A47-913F-BBCA4CCF639A}" sibTransId="{7C87FA5E-D885-734D-A85F-FDDBE12E720E}"/>
    <dgm:cxn modelId="{B5BB41F6-4D58-B84B-A45D-2C8FC4E9EBD3}" srcId="{3FB9EE99-EB6B-B145-A328-7D4144D56DCE}" destId="{4EA9A211-CE2A-4543-93C2-F1875D7B4491}" srcOrd="0" destOrd="0" parTransId="{F40BD3A3-A623-9143-8759-177FF91DE968}" sibTransId="{C990D9E7-8446-7044-9DD8-60DFE828A834}"/>
    <dgm:cxn modelId="{4D007331-28E4-644D-8A06-DA615E3D8C01}" type="presOf" srcId="{3FB9EE99-EB6B-B145-A328-7D4144D56DCE}" destId="{D6DDF52A-DD5F-8442-975D-47CAA71C58BF}" srcOrd="0" destOrd="0" presId="urn:microsoft.com/office/officeart/2005/8/layout/radial5"/>
    <dgm:cxn modelId="{88879507-DECA-9446-B4D8-AE8ED7291C37}" type="presOf" srcId="{4EA9A211-CE2A-4543-93C2-F1875D7B4491}" destId="{8538394D-F872-7747-9B0D-67C363AF3C54}" srcOrd="0" destOrd="0" presId="urn:microsoft.com/office/officeart/2005/8/layout/radial5"/>
    <dgm:cxn modelId="{7947530B-6C0A-374D-9962-44D662A04682}" type="presOf" srcId="{F40BD3A3-A623-9143-8759-177FF91DE968}" destId="{A29D917D-9F79-F447-B695-8ACD952D44F6}" srcOrd="0" destOrd="0" presId="urn:microsoft.com/office/officeart/2005/8/layout/radial5"/>
    <dgm:cxn modelId="{602DDEEE-B647-2D4F-BA4C-75DD42F7AB03}" type="presOf" srcId="{A7E5EDB2-560E-994E-9B98-E04DFB9EAE39}" destId="{B40C99F4-E103-BA46-A565-08D7A7B54318}" srcOrd="1" destOrd="0" presId="urn:microsoft.com/office/officeart/2005/8/layout/radial5"/>
    <dgm:cxn modelId="{DA834E6F-2CAE-9745-9541-53B476EDBD25}" type="presOf" srcId="{F40BD3A3-A623-9143-8759-177FF91DE968}" destId="{C4FAC08C-26F4-064D-9F1F-5D5058EF685D}" srcOrd="1" destOrd="0" presId="urn:microsoft.com/office/officeart/2005/8/layout/radial5"/>
    <dgm:cxn modelId="{F3C9B2E8-F080-6C48-AF43-0F3C1D91CBC7}" type="presOf" srcId="{1BEF90A8-5EA2-F14F-B80B-73A42425884E}" destId="{4BBF6B1D-48C6-8540-9027-D1CED2A7A03F}" srcOrd="0" destOrd="0" presId="urn:microsoft.com/office/officeart/2005/8/layout/radial5"/>
    <dgm:cxn modelId="{E68B747C-4ACE-E74F-A80C-846744E20AFE}" type="presOf" srcId="{2CB4AA3B-CE10-DD4E-B0C9-0A83514AB03B}" destId="{8334F419-577C-B041-A56A-4ADB8F969F60}" srcOrd="1" destOrd="0" presId="urn:microsoft.com/office/officeart/2005/8/layout/radial5"/>
    <dgm:cxn modelId="{64CAF4A5-F51D-1C41-BC26-8F932E9FC65A}" type="presOf" srcId="{AE6B5E30-6C6A-9B4B-9262-FC681868AEED}" destId="{BF2B01EB-7596-2A4D-B421-20150103BBE2}" srcOrd="1" destOrd="0" presId="urn:microsoft.com/office/officeart/2005/8/layout/radial5"/>
    <dgm:cxn modelId="{5B9FCF95-6F6F-C940-A2C6-5B0C8B7FB49A}" srcId="{3FB9EE99-EB6B-B145-A328-7D4144D56DCE}" destId="{A1878B75-8284-4045-B46F-F4A130813F0B}" srcOrd="4" destOrd="0" parTransId="{AE6B5E30-6C6A-9B4B-9262-FC681868AEED}" sibTransId="{74730F01-0D9C-8249-99F0-417DEB33AA03}"/>
    <dgm:cxn modelId="{B6E2293E-4168-1A48-8A47-16E7D49F8669}" type="presOf" srcId="{1212124A-A6C5-9D4C-91F6-FA14D8BB83C0}" destId="{5B7CF947-A298-804D-8351-890793A02144}" srcOrd="0" destOrd="0" presId="urn:microsoft.com/office/officeart/2005/8/layout/radial5"/>
    <dgm:cxn modelId="{84A7D26E-B89F-3141-8F05-1E97A7814F05}" srcId="{1BEF90A8-5EA2-F14F-B80B-73A42425884E}" destId="{3FB9EE99-EB6B-B145-A328-7D4144D56DCE}" srcOrd="0" destOrd="0" parTransId="{BF0C1EAC-4800-824C-B966-EBC341779993}" sibTransId="{48C68E2D-F105-0D4C-A4BA-CE21372B315C}"/>
    <dgm:cxn modelId="{4CEFFBBB-6FCC-F444-97B0-CAF1026DEBB5}" type="presOf" srcId="{A7E5EDB2-560E-994E-9B98-E04DFB9EAE39}" destId="{A16FB7C3-587F-6C42-8CE1-E59DE46EF07D}" srcOrd="0" destOrd="0" presId="urn:microsoft.com/office/officeart/2005/8/layout/radial5"/>
    <dgm:cxn modelId="{5033E4C7-865C-4844-9608-102FCDD1B410}" type="presOf" srcId="{5FFB7969-4336-4A47-913F-BBCA4CCF639A}" destId="{ECB71A68-E17D-E542-A163-03460D5D534A}" srcOrd="0" destOrd="0" presId="urn:microsoft.com/office/officeart/2005/8/layout/radial5"/>
    <dgm:cxn modelId="{FCA591B7-124A-0047-8080-6D3C95DF27B7}" srcId="{3FB9EE99-EB6B-B145-A328-7D4144D56DCE}" destId="{4766EFD5-4DE4-4B41-B009-1F490A76BE56}" srcOrd="1" destOrd="0" parTransId="{2CB4AA3B-CE10-DD4E-B0C9-0A83514AB03B}" sibTransId="{41DE56AD-7373-9F46-A300-1F71EA250FEF}"/>
    <dgm:cxn modelId="{02A23DB2-E49F-6C43-83CF-9E999E00E2E2}" type="presParOf" srcId="{4BBF6B1D-48C6-8540-9027-D1CED2A7A03F}" destId="{D6DDF52A-DD5F-8442-975D-47CAA71C58BF}" srcOrd="0" destOrd="0" presId="urn:microsoft.com/office/officeart/2005/8/layout/radial5"/>
    <dgm:cxn modelId="{70B98717-E22C-444E-96C5-CE9D67EC04C7}" type="presParOf" srcId="{4BBF6B1D-48C6-8540-9027-D1CED2A7A03F}" destId="{A29D917D-9F79-F447-B695-8ACD952D44F6}" srcOrd="1" destOrd="0" presId="urn:microsoft.com/office/officeart/2005/8/layout/radial5"/>
    <dgm:cxn modelId="{A85A2AA0-6A37-DB43-BB47-2E961495EE53}" type="presParOf" srcId="{A29D917D-9F79-F447-B695-8ACD952D44F6}" destId="{C4FAC08C-26F4-064D-9F1F-5D5058EF685D}" srcOrd="0" destOrd="0" presId="urn:microsoft.com/office/officeart/2005/8/layout/radial5"/>
    <dgm:cxn modelId="{2EF2F411-1DBB-DF4E-8947-1A396D9D79BA}" type="presParOf" srcId="{4BBF6B1D-48C6-8540-9027-D1CED2A7A03F}" destId="{8538394D-F872-7747-9B0D-67C363AF3C54}" srcOrd="2" destOrd="0" presId="urn:microsoft.com/office/officeart/2005/8/layout/radial5"/>
    <dgm:cxn modelId="{CC656EE3-4BB3-1C45-A951-23D8F5CE0108}" type="presParOf" srcId="{4BBF6B1D-48C6-8540-9027-D1CED2A7A03F}" destId="{00CED256-0BC7-BC40-A9C1-9603B6C11022}" srcOrd="3" destOrd="0" presId="urn:microsoft.com/office/officeart/2005/8/layout/radial5"/>
    <dgm:cxn modelId="{A499C2EF-5D44-CD45-A642-2B09C8BED1F7}" type="presParOf" srcId="{00CED256-0BC7-BC40-A9C1-9603B6C11022}" destId="{8334F419-577C-B041-A56A-4ADB8F969F60}" srcOrd="0" destOrd="0" presId="urn:microsoft.com/office/officeart/2005/8/layout/radial5"/>
    <dgm:cxn modelId="{8684270E-210B-894D-B867-3BA7FB83624C}" type="presParOf" srcId="{4BBF6B1D-48C6-8540-9027-D1CED2A7A03F}" destId="{CF519C4F-DD22-BF47-B1D2-754D9C55566A}" srcOrd="4" destOrd="0" presId="urn:microsoft.com/office/officeart/2005/8/layout/radial5"/>
    <dgm:cxn modelId="{293CE602-9763-F044-9F19-E0C22BB551C3}" type="presParOf" srcId="{4BBF6B1D-48C6-8540-9027-D1CED2A7A03F}" destId="{ECB71A68-E17D-E542-A163-03460D5D534A}" srcOrd="5" destOrd="0" presId="urn:microsoft.com/office/officeart/2005/8/layout/radial5"/>
    <dgm:cxn modelId="{6882AC6A-E6E6-4741-B8E6-7AF42676B03D}" type="presParOf" srcId="{ECB71A68-E17D-E542-A163-03460D5D534A}" destId="{D99C6B1A-6B71-E54C-A9E2-CD4531E70DA7}" srcOrd="0" destOrd="0" presId="urn:microsoft.com/office/officeart/2005/8/layout/radial5"/>
    <dgm:cxn modelId="{0240102F-6A9E-2F40-BC09-9A462FE2ECAB}" type="presParOf" srcId="{4BBF6B1D-48C6-8540-9027-D1CED2A7A03F}" destId="{A6671E93-AA53-9D42-99FF-11784B8D830A}" srcOrd="6" destOrd="0" presId="urn:microsoft.com/office/officeart/2005/8/layout/radial5"/>
    <dgm:cxn modelId="{AEB55E0D-7008-4045-A04E-6A617012BE94}" type="presParOf" srcId="{4BBF6B1D-48C6-8540-9027-D1CED2A7A03F}" destId="{A16FB7C3-587F-6C42-8CE1-E59DE46EF07D}" srcOrd="7" destOrd="0" presId="urn:microsoft.com/office/officeart/2005/8/layout/radial5"/>
    <dgm:cxn modelId="{14336033-1807-744A-A4EA-5340CB690D84}" type="presParOf" srcId="{A16FB7C3-587F-6C42-8CE1-E59DE46EF07D}" destId="{B40C99F4-E103-BA46-A565-08D7A7B54318}" srcOrd="0" destOrd="0" presId="urn:microsoft.com/office/officeart/2005/8/layout/radial5"/>
    <dgm:cxn modelId="{93EB6D4E-42F0-CC4F-B698-FAB8F2A9E9F2}" type="presParOf" srcId="{4BBF6B1D-48C6-8540-9027-D1CED2A7A03F}" destId="{5B7CF947-A298-804D-8351-890793A02144}" srcOrd="8" destOrd="0" presId="urn:microsoft.com/office/officeart/2005/8/layout/radial5"/>
    <dgm:cxn modelId="{CF0A22F6-4E59-3F4D-830A-0F57DA6A41E9}" type="presParOf" srcId="{4BBF6B1D-48C6-8540-9027-D1CED2A7A03F}" destId="{61A82D80-4B44-EA41-863C-6F6D2A0AFB74}" srcOrd="9" destOrd="0" presId="urn:microsoft.com/office/officeart/2005/8/layout/radial5"/>
    <dgm:cxn modelId="{F91435D6-660F-3D44-9A24-D7612EA0673F}" type="presParOf" srcId="{61A82D80-4B44-EA41-863C-6F6D2A0AFB74}" destId="{BF2B01EB-7596-2A4D-B421-20150103BBE2}" srcOrd="0" destOrd="0" presId="urn:microsoft.com/office/officeart/2005/8/layout/radial5"/>
    <dgm:cxn modelId="{5749499F-BC65-6943-84B2-C7D6FE9153F0}" type="presParOf" srcId="{4BBF6B1D-48C6-8540-9027-D1CED2A7A03F}" destId="{D7C1F09E-7E1A-734A-B8B9-AF974C6A3A88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DDF52A-DD5F-8442-975D-47CAA71C58BF}">
      <dsp:nvSpPr>
        <dsp:cNvPr id="0" name=""/>
        <dsp:cNvSpPr/>
      </dsp:nvSpPr>
      <dsp:spPr>
        <a:xfrm>
          <a:off x="3298031" y="2148196"/>
          <a:ext cx="1531937" cy="1531937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Segoe UI Symbol" panose="020B0502040204020203" pitchFamily="34" charset="0"/>
              <a:ea typeface="Segoe UI Symbol" panose="020B0502040204020203" pitchFamily="34" charset="0"/>
            </a:rPr>
            <a:t>Quality of Services</a:t>
          </a:r>
        </a:p>
      </dsp:txBody>
      <dsp:txXfrm>
        <a:off x="3522378" y="2372543"/>
        <a:ext cx="1083243" cy="1083243"/>
      </dsp:txXfrm>
    </dsp:sp>
    <dsp:sp modelId="{A29D917D-9F79-F447-B695-8ACD952D44F6}">
      <dsp:nvSpPr>
        <dsp:cNvPr id="0" name=""/>
        <dsp:cNvSpPr/>
      </dsp:nvSpPr>
      <dsp:spPr>
        <a:xfrm rot="16200000">
          <a:off x="3901531" y="1590418"/>
          <a:ext cx="324937" cy="5208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3950272" y="1743331"/>
        <a:ext cx="227456" cy="312514"/>
      </dsp:txXfrm>
    </dsp:sp>
    <dsp:sp modelId="{8538394D-F872-7747-9B0D-67C363AF3C54}">
      <dsp:nvSpPr>
        <dsp:cNvPr id="0" name=""/>
        <dsp:cNvSpPr/>
      </dsp:nvSpPr>
      <dsp:spPr>
        <a:xfrm>
          <a:off x="3298031" y="3169"/>
          <a:ext cx="1531937" cy="1531937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/>
            <a:t>Bandwidth</a:t>
          </a:r>
        </a:p>
      </dsp:txBody>
      <dsp:txXfrm>
        <a:off x="3522378" y="227516"/>
        <a:ext cx="1083243" cy="1083243"/>
      </dsp:txXfrm>
    </dsp:sp>
    <dsp:sp modelId="{00CED256-0BC7-BC40-A9C1-9603B6C11022}">
      <dsp:nvSpPr>
        <dsp:cNvPr id="0" name=""/>
        <dsp:cNvSpPr/>
      </dsp:nvSpPr>
      <dsp:spPr>
        <a:xfrm rot="20520000">
          <a:off x="4912806" y="2325152"/>
          <a:ext cx="324937" cy="5208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4915192" y="2444386"/>
        <a:ext cx="227456" cy="312514"/>
      </dsp:txXfrm>
    </dsp:sp>
    <dsp:sp modelId="{CF519C4F-DD22-BF47-B1D2-754D9C55566A}">
      <dsp:nvSpPr>
        <dsp:cNvPr id="0" name=""/>
        <dsp:cNvSpPr/>
      </dsp:nvSpPr>
      <dsp:spPr>
        <a:xfrm>
          <a:off x="5338073" y="1485346"/>
          <a:ext cx="1531937" cy="1531937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/>
            <a:t>Throughput</a:t>
          </a:r>
        </a:p>
      </dsp:txBody>
      <dsp:txXfrm>
        <a:off x="5562420" y="1709693"/>
        <a:ext cx="1083243" cy="1083243"/>
      </dsp:txXfrm>
    </dsp:sp>
    <dsp:sp modelId="{ECB71A68-E17D-E542-A163-03460D5D534A}">
      <dsp:nvSpPr>
        <dsp:cNvPr id="0" name=""/>
        <dsp:cNvSpPr/>
      </dsp:nvSpPr>
      <dsp:spPr>
        <a:xfrm rot="3240000">
          <a:off x="4526533" y="3513977"/>
          <a:ext cx="324937" cy="5208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4546625" y="3578717"/>
        <a:ext cx="227456" cy="312514"/>
      </dsp:txXfrm>
    </dsp:sp>
    <dsp:sp modelId="{A6671E93-AA53-9D42-99FF-11784B8D830A}">
      <dsp:nvSpPr>
        <dsp:cNvPr id="0" name=""/>
        <dsp:cNvSpPr/>
      </dsp:nvSpPr>
      <dsp:spPr>
        <a:xfrm>
          <a:off x="4558846" y="3883560"/>
          <a:ext cx="1531937" cy="1531937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/>
            <a:t>Jitter</a:t>
          </a:r>
        </a:p>
      </dsp:txBody>
      <dsp:txXfrm>
        <a:off x="4783193" y="4107907"/>
        <a:ext cx="1083243" cy="1083243"/>
      </dsp:txXfrm>
    </dsp:sp>
    <dsp:sp modelId="{A16FB7C3-587F-6C42-8CE1-E59DE46EF07D}">
      <dsp:nvSpPr>
        <dsp:cNvPr id="0" name=""/>
        <dsp:cNvSpPr/>
      </dsp:nvSpPr>
      <dsp:spPr>
        <a:xfrm rot="7560000">
          <a:off x="3276528" y="3513977"/>
          <a:ext cx="324937" cy="5208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 rot="10800000">
        <a:off x="3353917" y="3578717"/>
        <a:ext cx="227456" cy="312514"/>
      </dsp:txXfrm>
    </dsp:sp>
    <dsp:sp modelId="{5B7CF947-A298-804D-8351-890793A02144}">
      <dsp:nvSpPr>
        <dsp:cNvPr id="0" name=""/>
        <dsp:cNvSpPr/>
      </dsp:nvSpPr>
      <dsp:spPr>
        <a:xfrm>
          <a:off x="2037215" y="3883560"/>
          <a:ext cx="1531937" cy="1531937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/>
            <a:t>Packet Loss</a:t>
          </a:r>
        </a:p>
      </dsp:txBody>
      <dsp:txXfrm>
        <a:off x="2261562" y="4107907"/>
        <a:ext cx="1083243" cy="1083243"/>
      </dsp:txXfrm>
    </dsp:sp>
    <dsp:sp modelId="{61A82D80-4B44-EA41-863C-6F6D2A0AFB74}">
      <dsp:nvSpPr>
        <dsp:cNvPr id="0" name=""/>
        <dsp:cNvSpPr/>
      </dsp:nvSpPr>
      <dsp:spPr>
        <a:xfrm rot="11880000">
          <a:off x="2890256" y="2325152"/>
          <a:ext cx="324937" cy="5208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 rot="10800000">
        <a:off x="2985351" y="2444386"/>
        <a:ext cx="227456" cy="312514"/>
      </dsp:txXfrm>
    </dsp:sp>
    <dsp:sp modelId="{D7C1F09E-7E1A-734A-B8B9-AF974C6A3A88}">
      <dsp:nvSpPr>
        <dsp:cNvPr id="0" name=""/>
        <dsp:cNvSpPr/>
      </dsp:nvSpPr>
      <dsp:spPr>
        <a:xfrm>
          <a:off x="1257988" y="1485346"/>
          <a:ext cx="1531937" cy="1531937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/>
            <a:t>Latency</a:t>
          </a:r>
        </a:p>
      </dsp:txBody>
      <dsp:txXfrm>
        <a:off x="1482335" y="1709693"/>
        <a:ext cx="1083243" cy="1083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ananetpbun/Login-Hotspot-Dengan-QR-Scan-Barcode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tQ3dAABdOU&amp;list=PLyx101r52fx7jqx3gHLP9T83HwaJSULEn&amp;index=1&amp;pp=iAQB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https://study-ccna.com/cisco-bandwidth-command-clock-rate-speed/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3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https://forum.mikrotik.com/viewtopic.php?t=210807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875A6-9D03-4636-B619-E0857D04C0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22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https://universe.roboflow.com/search?q=class%3Agourami</a:t>
            </a:r>
          </a:p>
          <a:p>
            <a:endParaRPr lang="en-US" dirty="0" smtClean="0"/>
          </a:p>
          <a:p>
            <a:r>
              <a:rPr lang="en-US" dirty="0" smtClean="0"/>
              <a:t>https://universe.roboflow.com/search?q=class%3Agourami</a:t>
            </a:r>
          </a:p>
          <a:p>
            <a:r>
              <a:rPr lang="en-US" dirty="0" smtClean="0"/>
              <a:t>https://portal.fishial.ai/search/by-fishial-recognition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https://www.fao.org/fishery/en/culturedspecies/osphronemus_goramy/en</a:t>
            </a:r>
          </a:p>
          <a:p>
            <a:r>
              <a:rPr lang="en-US" dirty="0" smtClean="0"/>
              <a:t>https://github.com/fishial/fish-identification/tree/main/train_scripts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E1C05B-6C55-4E8A-99CF-2677D986F9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8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https://github.com/ahmadafif-codaff/anmik</a:t>
            </a:r>
          </a:p>
          <a:p>
            <a:r>
              <a:rPr lang="en-US" dirty="0" smtClean="0"/>
              <a:t>https://github.com/buananetpbun/Mikrotik-Bandwidth-Monitoring-Script</a:t>
            </a:r>
          </a:p>
          <a:p>
            <a:endParaRPr lang="en-US" dirty="0" smtClean="0"/>
          </a:p>
          <a:p>
            <a:r>
              <a:rPr lang="en-US" sz="120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Login-Hotspot-</a:t>
            </a:r>
            <a:r>
              <a:rPr lang="en-US" sz="120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Dengan</a:t>
            </a:r>
            <a:r>
              <a:rPr lang="en-US" sz="120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-QR-Scan-Barcode</a:t>
            </a:r>
            <a:r>
              <a:rPr lang="en-US" sz="120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 smtClean="0"/>
              <a:t>https://github.com/buananetpbun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875A6-9D03-4636-B619-E0857D04C0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49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875A6-9D03-4636-B619-E0857D04C0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81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https://www.kentik.com/kentipedia/latency-vs-throughput-vs-bandwidth/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875A6-9D03-4636-B619-E0857D04C0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50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https://www.rumahweb.com/journal/throughput-adalah/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875A6-9D03-4636-B619-E0857D04C0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17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https://forum.mikrotik.com/viewtopic.php?t=99658</a:t>
            </a:r>
          </a:p>
          <a:p>
            <a:r>
              <a:rPr lang="en-US" dirty="0" smtClean="0"/>
              <a:t>https://github.com/gns3/gns3-gui/releases</a:t>
            </a:r>
          </a:p>
          <a:p>
            <a:r>
              <a:rPr lang="en-US" dirty="0" smtClean="0"/>
              <a:t>https://forum.mikrotik.com/viewtopic.php?t=99658</a:t>
            </a:r>
          </a:p>
          <a:p>
            <a:endParaRPr lang="en-US" dirty="0" smtClean="0"/>
          </a:p>
          <a:p>
            <a:r>
              <a:rPr lang="en-US" dirty="0" smtClean="0"/>
              <a:t>https://github.com/cs-uob/COMS20012/blob/master/docs/lectures/2025/Week%205%20-%20Security%20protocols%20and%20Private%20Network.pptx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875A6-9D03-4636-B619-E0857D04C0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66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https://github.com/cdhtlr/MikroTik-Speedtest</a:t>
            </a:r>
          </a:p>
          <a:p>
            <a:r>
              <a:rPr lang="en-US" dirty="0" smtClean="0"/>
              <a:t>https://github.com/cdhtlr/MikroTik-Speedtest</a:t>
            </a:r>
          </a:p>
          <a:p>
            <a:r>
              <a:rPr lang="en-US" u="none" strike="noStrike" dirty="0" smtClean="0">
                <a:effectLst/>
                <a:hlinkClick r:id="rId3"/>
              </a:rPr>
              <a:t>15.02</a:t>
            </a:r>
          </a:p>
          <a:p>
            <a:r>
              <a:rPr lang="en-US" u="none" strike="noStrike" dirty="0" err="1" smtClean="0">
                <a:effectLst/>
                <a:hlinkClick r:id="rId3"/>
              </a:rPr>
              <a:t>Sedang</a:t>
            </a:r>
            <a:r>
              <a:rPr lang="en-US" u="none" strike="noStrike" dirty="0" smtClean="0">
                <a:effectLst/>
                <a:hlinkClick r:id="rId3"/>
              </a:rPr>
              <a:t> </a:t>
            </a:r>
            <a:r>
              <a:rPr lang="en-US" u="none" strike="noStrike" dirty="0" err="1" smtClean="0">
                <a:effectLst/>
                <a:hlinkClick r:id="rId3"/>
              </a:rPr>
              <a:t>diputar</a:t>
            </a:r>
            <a:endParaRPr lang="en-US" u="none" strike="noStrike" dirty="0" smtClean="0">
              <a:effectLst/>
              <a:hlinkClick r:id="rId3"/>
            </a:endParaRPr>
          </a:p>
          <a:p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ikroTik Ookla Speedtest Based Failover part 1 - Router Setup"/>
              </a:rPr>
              <a:t>MikroTik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ikroTik Ookla Speedtest Based Failover part 1 - Router Setup"/>
              </a:rPr>
              <a:t> 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ikroTik Ookla Speedtest Based Failover part 1 - Router Setup"/>
              </a:rPr>
              <a:t>Ookla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ikroTik Ookla Speedtest Based Failover part 1 - Router Setup"/>
              </a:rPr>
              <a:t> 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ikroTik Ookla Speedtest Based Failover part 1 - Router Setup"/>
              </a:rPr>
              <a:t>Speedtest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ikroTik Ookla Speedtest Based Failover part 1 - Router Setup"/>
              </a:rPr>
              <a:t> Based Failover part 1 - Router Setup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875A6-9D03-4636-B619-E0857D04C0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42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https://github.com/buananetpbun/mikrotik-port-scanner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875A6-9D03-4636-B619-E0857D04C0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1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5014775" indent="-34592734" defTabSz="914423"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2204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84408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266124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68816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BDA568A-06DA-6044-9409-FD657B64B261}" type="slidenum">
              <a:rPr lang="en-GB" sz="1200"/>
              <a:pPr eaLnBrk="1" hangingPunct="1"/>
              <a:t>27</a:t>
            </a:fld>
            <a:endParaRPr lang="en-GB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76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Illustration of Consistency</a:t>
            </a:r>
            <a:r>
              <a:rPr lang="en-GB" baseline="0" dirty="0" smtClean="0"/>
              <a:t> issues by having three different hosts illustrating casual consistency with differences in the updates of an avatar. The host B is the owner of the avatar. In host A, there is a slight delay but then the avatar synchronizes by apparently moving faster than in Host B. The same concerning Host C, where the delay is even greater than in A.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260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10.1 (Top)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F7685D0-5A05-A74B-B3C9-7DC18FF62A09}" type="slidenum">
              <a:rPr lang="en-US" sz="1200">
                <a:latin typeface="Calibri" charset="0"/>
              </a:rPr>
              <a:pPr eaLnBrk="1" hangingPunct="1"/>
              <a:t>35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7605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10.1 (Bottom)</a:t>
            </a: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B8ABDFD-1F60-FF49-9DF9-4632019119E9}" type="slidenum">
              <a:rPr lang="en-US" sz="1200">
                <a:latin typeface="Calibri" charset="0"/>
              </a:rPr>
              <a:pPr eaLnBrk="1" hangingPunct="1"/>
              <a:t>36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514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Sources of latency: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Input queue : Queuing</a:t>
            </a:r>
            <a:r>
              <a:rPr lang="en-GB" baseline="0" dirty="0" smtClean="0"/>
              <a:t> latency</a:t>
            </a:r>
            <a:endParaRPr lang="en-GB" dirty="0" smtClean="0"/>
          </a:p>
          <a:p>
            <a:pPr marL="171450" indent="-171450">
              <a:buFontTx/>
              <a:buChar char="-"/>
            </a:pPr>
            <a:r>
              <a:rPr lang="en-GB" dirty="0" smtClean="0"/>
              <a:t>Processing</a:t>
            </a:r>
            <a:r>
              <a:rPr lang="en-GB" baseline="0" dirty="0" smtClean="0"/>
              <a:t> and error bit checking</a:t>
            </a:r>
          </a:p>
          <a:p>
            <a:pPr marL="171450" indent="-171450">
              <a:buFontTx/>
              <a:buChar char="-"/>
            </a:pPr>
            <a:r>
              <a:rPr lang="en-GB" baseline="0" dirty="0" smtClean="0"/>
              <a:t>Output queue : Queuing latency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035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10.2</a:t>
            </a: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6C50861-365C-4F49-B7D7-4389B5359E8D}" type="slidenum">
              <a:rPr lang="en-US" sz="1200">
                <a:latin typeface="Calibri" charset="0"/>
              </a:rPr>
              <a:pPr eaLnBrk="1" hangingPunct="1"/>
              <a:t>39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870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0326D13-269A-D948-A300-9B327DBA5345}" type="slidenum">
              <a:rPr lang="en-US" sz="1200"/>
              <a:pPr/>
              <a:t>40</a:t>
            </a:fld>
            <a:endParaRPr 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45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705B890-A742-B34F-B323-77B4D82F2B66}" type="slidenum">
              <a:rPr lang="en-US" sz="1200"/>
              <a:pPr/>
              <a:t>41</a:t>
            </a:fld>
            <a:endParaRPr 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17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BE55256-6006-5B48-849E-90342CBBB35A}" type="slidenum">
              <a:rPr lang="en-US" sz="1200"/>
              <a:pPr/>
              <a:t>42</a:t>
            </a:fld>
            <a:endParaRPr 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17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63899D9-5549-B645-A1E7-A9B6DCA5A867}" type="slidenum">
              <a:rPr lang="en-US" sz="1200"/>
              <a:pPr/>
              <a:t>43</a:t>
            </a:fld>
            <a:endParaRPr 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48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CC0882D-FDA7-344E-884C-9FC816F59D4E}" type="slidenum">
              <a:rPr lang="en-US" sz="1200"/>
              <a:pPr/>
              <a:t>44</a:t>
            </a:fld>
            <a:endParaRPr 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664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6DB5E33-F9B8-EE4B-B051-5DFE9BB637D6}" type="slidenum">
              <a:rPr lang="en-US" sz="1200"/>
              <a:pPr/>
              <a:t>45</a:t>
            </a:fld>
            <a:endParaRPr 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796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860684E-23C9-7341-B3A0-258B1401008A}" type="slidenum">
              <a:rPr lang="en-US" sz="1200"/>
              <a:pPr/>
              <a:t>46</a:t>
            </a:fld>
            <a:endParaRPr 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53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10.4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204E24B-AF82-E944-9573-B9CBCFEBE65C}" type="slidenum">
              <a:rPr lang="en-US" sz="1200">
                <a:latin typeface="Calibri" charset="0"/>
              </a:rPr>
              <a:pPr eaLnBrk="1" hangingPunct="1"/>
              <a:t>49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4004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10.6</a:t>
            </a: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BC0ED2B-54A1-E349-A90A-A0A2532E1FE7}" type="slidenum">
              <a:rPr lang="en-US" sz="1200">
                <a:latin typeface="Calibri" charset="0"/>
              </a:rPr>
              <a:pPr eaLnBrk="1" hangingPunct="1"/>
              <a:t>53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4874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10.4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204E24B-AF82-E944-9573-B9CBCFEBE65C}" type="slidenum">
              <a:rPr lang="en-US" sz="1200">
                <a:latin typeface="Calibri" charset="0"/>
              </a:rPr>
              <a:pPr eaLnBrk="1" hangingPunct="1"/>
              <a:t>54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4011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Queue</a:t>
            </a:r>
            <a:r>
              <a:rPr lang="en-GB" baseline="0" dirty="0" smtClean="0"/>
              <a:t> is full, packet is dropped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9546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60CB9B3-A8F3-3D44-9F48-2E9CE8C606F4}" type="slidenum">
              <a:rPr lang="en-US" sz="1200"/>
              <a:pPr/>
              <a:t>59</a:t>
            </a:fld>
            <a:endParaRPr 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38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gif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.com/i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umahweb.com/jaringan-komputer-adalah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mahweb.com/unlimited-hostin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forum.mikrotik.com/viewtopic.php?t=9965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3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5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7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9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4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4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file:///\\localhost\Users\anthonysteed\Desktop\Macintosh%20HD:Users:anthonysteed:Dropbox:netbook:chapter%2010.docx!OLE_LINK3" TargetMode="Externa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7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3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6403824" y="434460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2356505" y="2863810"/>
            <a:ext cx="9347200" cy="1178278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Congestion</a:t>
            </a:r>
          </a:p>
          <a:p>
            <a:pPr algn="l"/>
            <a:r>
              <a:rPr lang="en-ID" sz="54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Network </a:t>
            </a:r>
            <a:r>
              <a:rPr lang="en-ID" sz="54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Performance</a:t>
            </a:r>
            <a:endParaRPr lang="en-US" sz="5334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56505" y="2183132"/>
            <a:ext cx="1266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sz="32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QoS</a:t>
            </a:r>
            <a:r>
              <a:rPr lang="en-ID" sz="32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: </a:t>
            </a:r>
            <a:endParaRPr lang="en-US" sz="3200" dirty="0"/>
          </a:p>
        </p:txBody>
      </p:sp>
      <p:sp>
        <p:nvSpPr>
          <p:cNvPr id="24" name="Rectangle 23"/>
          <p:cNvSpPr/>
          <p:nvPr/>
        </p:nvSpPr>
        <p:spPr>
          <a:xfrm>
            <a:off x="9440394" y="6001357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29589" y="5862858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14754" y="6139857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22794" y="6278356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8286" y="6393772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954" y="6524623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Char char="ü"/>
            </a:pPr>
            <a:r>
              <a:rPr lang="en-US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Bandwith</a:t>
            </a:r>
            <a:endParaRPr lang="en-US" b="1" dirty="0" smtClean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Char char="ü"/>
            </a:pPr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Congestion</a:t>
            </a:r>
            <a:endParaRPr lang="en-US" alt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Char char="ü"/>
            </a:pPr>
            <a:r>
              <a:rPr lang="en-US" dirty="0"/>
              <a:t>Network Performance</a:t>
            </a:r>
            <a:endParaRPr lang="fr-FR" altLang="en-US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08" y="1383742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33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202455" y="6066229"/>
            <a:ext cx="2811352" cy="42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https://www.youtube.com/@AmelOline/videos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29589" y="5912341"/>
            <a:ext cx="1710963" cy="42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https://github.com/siagianp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8773" y="6251298"/>
            <a:ext cx="4023019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https://github.com/amelcharolinesgn2/IoT_simulator-mqtt-NodeRed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3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Picture 20" descr="GIFs Fish Transparent School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85" y="4495542"/>
            <a:ext cx="1798043" cy="134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Download Abstract Bubble Gif"/>
          <p:cNvPicPr>
            <a:picLocks noChangeAspect="1" noChangeArrowheads="1" noCrop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24759"/>
            <a:ext cx="737614" cy="50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Download Abstract Bubble Gif"/>
          <p:cNvPicPr>
            <a:picLocks noChangeAspect="1" noChangeArrowheads="1" noCrop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0" y="4598455"/>
            <a:ext cx="737614" cy="50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2306747" y="2344084"/>
            <a:ext cx="9347200" cy="1178278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334" dirty="0">
                <a:solidFill>
                  <a:schemeClr val="bg1">
                    <a:lumMod val="85000"/>
                  </a:schemeClr>
                </a:solidFill>
              </a:rPr>
              <a:t>BANDWIDTH,THROUGHPUT,DAN KEBUTUHAN BANDWIDTH DALAM JARINGAN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2306747" y="2325642"/>
            <a:ext cx="9347200" cy="1178278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334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BANDWIDTH,THROUGHPUT,DAN KEBUTUHAN BANDWIDTH DALAM JARINGAN</a:t>
            </a:r>
            <a:endParaRPr lang="en-US" sz="5334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61049" y="811005"/>
            <a:ext cx="1317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Char char="ü"/>
            </a:pP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Bandwith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975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381000"/>
            <a:ext cx="7715250" cy="597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21985"/>
            <a:ext cx="11856991" cy="284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7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200" y="708230"/>
            <a:ext cx="9797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/>
              <a:t>Bandwith</a:t>
            </a:r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711200" y="1016007"/>
            <a:ext cx="51511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Bandwidth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istilah</a:t>
            </a:r>
            <a:r>
              <a:rPr lang="en-US" sz="1600" dirty="0"/>
              <a:t> yang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mengukur</a:t>
            </a:r>
            <a:r>
              <a:rPr lang="en-US" sz="1600" dirty="0"/>
              <a:t> </a:t>
            </a:r>
            <a:r>
              <a:rPr lang="en-US" sz="1600" dirty="0" err="1"/>
              <a:t>seberapa</a:t>
            </a:r>
            <a:r>
              <a:rPr lang="en-US" sz="1600" dirty="0"/>
              <a:t> </a:t>
            </a:r>
            <a:r>
              <a:rPr lang="en-US" sz="1600" dirty="0" err="1"/>
              <a:t>banyak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yang </a:t>
            </a:r>
            <a:r>
              <a:rPr lang="en-US" sz="1600" dirty="0" err="1"/>
              <a:t>bisa</a:t>
            </a:r>
            <a:r>
              <a:rPr lang="en-US" sz="1600" dirty="0"/>
              <a:t> </a:t>
            </a:r>
            <a:r>
              <a:rPr lang="en-US" sz="1600" dirty="0" err="1"/>
              <a:t>dikirimkan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internet yang </a:t>
            </a:r>
            <a:r>
              <a:rPr lang="en-US" sz="1600" dirty="0" err="1"/>
              <a:t>dihitung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satuan</a:t>
            </a:r>
            <a:r>
              <a:rPr lang="en-US" sz="1600" dirty="0"/>
              <a:t> Bps </a:t>
            </a:r>
            <a:r>
              <a:rPr lang="en-US" sz="1600" dirty="0" err="1"/>
              <a:t>atau</a:t>
            </a:r>
            <a:r>
              <a:rPr lang="en-US" sz="1600" dirty="0"/>
              <a:t> bit per </a:t>
            </a:r>
            <a:r>
              <a:rPr lang="en-US" sz="1600" dirty="0" err="1"/>
              <a:t>detik</a:t>
            </a:r>
            <a:r>
              <a:rPr lang="en-US" sz="1600" dirty="0"/>
              <a:t>. </a:t>
            </a:r>
            <a:r>
              <a:rPr lang="en-US" sz="1600" dirty="0" err="1"/>
              <a:t>Selain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, </a:t>
            </a:r>
            <a:r>
              <a:rPr lang="en-US" sz="1600" dirty="0" err="1"/>
              <a:t>kecepatan</a:t>
            </a:r>
            <a:r>
              <a:rPr lang="en-US" sz="1600" dirty="0"/>
              <a:t> bandwidth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ditunjukkan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satuan</a:t>
            </a:r>
            <a:r>
              <a:rPr lang="en-US" sz="1600" dirty="0"/>
              <a:t> lain </a:t>
            </a:r>
            <a:r>
              <a:rPr lang="en-US" sz="1600" dirty="0" err="1"/>
              <a:t>seperti</a:t>
            </a:r>
            <a:r>
              <a:rPr lang="en-US" sz="1600" dirty="0"/>
              <a:t> Mbps (megabit) </a:t>
            </a:r>
            <a:r>
              <a:rPr lang="en-US" sz="1600" dirty="0" err="1"/>
              <a:t>serta</a:t>
            </a:r>
            <a:r>
              <a:rPr lang="en-US" sz="1600" dirty="0"/>
              <a:t> </a:t>
            </a:r>
            <a:r>
              <a:rPr lang="en-US" sz="1600" dirty="0" err="1"/>
              <a:t>Gbps</a:t>
            </a:r>
            <a:r>
              <a:rPr lang="en-US" sz="1600" dirty="0"/>
              <a:t> (gigabit) yang </a:t>
            </a:r>
            <a:r>
              <a:rPr lang="en-US" sz="1600" dirty="0" err="1"/>
              <a:t>tergolong</a:t>
            </a:r>
            <a:r>
              <a:rPr lang="en-US" sz="1600" dirty="0"/>
              <a:t> </a:t>
            </a:r>
            <a:r>
              <a:rPr lang="en-US" sz="1600" dirty="0" err="1"/>
              <a:t>satuan</a:t>
            </a:r>
            <a:r>
              <a:rPr lang="en-US" sz="1600" dirty="0"/>
              <a:t> </a:t>
            </a:r>
            <a:r>
              <a:rPr lang="en-US" sz="1600" dirty="0" err="1"/>
              <a:t>miliaran</a:t>
            </a:r>
            <a:r>
              <a:rPr lang="en-US" sz="1600" dirty="0"/>
              <a:t> Bps.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Bandwidth </a:t>
            </a:r>
            <a:r>
              <a:rPr lang="en-US" sz="1600" dirty="0" err="1"/>
              <a:t>mempengaruhi</a:t>
            </a:r>
            <a:r>
              <a:rPr lang="en-US" sz="1600" dirty="0"/>
              <a:t> </a:t>
            </a:r>
            <a:r>
              <a:rPr lang="en-US" sz="1600" dirty="0" err="1"/>
              <a:t>seberapa</a:t>
            </a:r>
            <a:r>
              <a:rPr lang="en-US" sz="1600" dirty="0"/>
              <a:t> </a:t>
            </a:r>
            <a:r>
              <a:rPr lang="en-US" sz="1600" dirty="0" err="1"/>
              <a:t>cepat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efektif</a:t>
            </a:r>
            <a:r>
              <a:rPr lang="en-US" sz="1600" dirty="0"/>
              <a:t> media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transmisi</a:t>
            </a:r>
            <a:r>
              <a:rPr lang="en-US" sz="1600" dirty="0"/>
              <a:t> </a:t>
            </a:r>
            <a:r>
              <a:rPr lang="en-US" sz="1600" dirty="0" err="1"/>
              <a:t>seperti</a:t>
            </a:r>
            <a:r>
              <a:rPr lang="en-US" sz="1600" dirty="0"/>
              <a:t> </a:t>
            </a:r>
            <a:r>
              <a:rPr lang="en-US" sz="1600" dirty="0" err="1"/>
              <a:t>saat</a:t>
            </a:r>
            <a:r>
              <a:rPr lang="en-US" sz="1600" dirty="0"/>
              <a:t> </a:t>
            </a:r>
            <a:r>
              <a:rPr lang="en-US" sz="1600" dirty="0" err="1"/>
              <a:t>mengakses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koneksi</a:t>
            </a:r>
            <a:r>
              <a:rPr lang="en-US" sz="1600" dirty="0"/>
              <a:t> internet.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Semakin</a:t>
            </a:r>
            <a:r>
              <a:rPr lang="en-US" sz="1600" dirty="0"/>
              <a:t> </a:t>
            </a:r>
            <a:r>
              <a:rPr lang="en-US" sz="1600" dirty="0" err="1"/>
              <a:t>tinggi</a:t>
            </a:r>
            <a:r>
              <a:rPr lang="en-US" sz="1600" dirty="0"/>
              <a:t> </a:t>
            </a:r>
            <a:r>
              <a:rPr lang="en-US" sz="1600" dirty="0" err="1"/>
              <a:t>ukuran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kecepatan</a:t>
            </a:r>
            <a:r>
              <a:rPr lang="en-US" sz="1600" dirty="0"/>
              <a:t> bandwidth, </a:t>
            </a:r>
            <a:r>
              <a:rPr lang="en-US" sz="1600" dirty="0" err="1"/>
              <a:t>maka</a:t>
            </a:r>
            <a:r>
              <a:rPr lang="en-US" sz="1600" dirty="0"/>
              <a:t> </a:t>
            </a:r>
            <a:r>
              <a:rPr lang="en-US" sz="1600" dirty="0" err="1"/>
              <a:t>semakin</a:t>
            </a:r>
            <a:r>
              <a:rPr lang="en-US" sz="1600" dirty="0"/>
              <a:t> </a:t>
            </a:r>
            <a:r>
              <a:rPr lang="en-US" sz="1600" dirty="0" err="1"/>
              <a:t>tinggi</a:t>
            </a:r>
            <a:r>
              <a:rPr lang="en-US" sz="1600" dirty="0"/>
              <a:t> pula proses </a:t>
            </a:r>
            <a:r>
              <a:rPr lang="en-US" sz="1600" dirty="0" err="1"/>
              <a:t>pengunduhan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di </a:t>
            </a:r>
            <a:r>
              <a:rPr lang="en-US" sz="1600" dirty="0" err="1"/>
              <a:t>jejaring</a:t>
            </a:r>
            <a:r>
              <a:rPr lang="en-US" sz="1600" dirty="0"/>
              <a:t> internet. </a:t>
            </a:r>
            <a:r>
              <a:rPr lang="en-US" sz="1600" dirty="0" err="1"/>
              <a:t>Selain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, bandwidth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pengukuran</a:t>
            </a:r>
            <a:r>
              <a:rPr lang="en-US" sz="1600" dirty="0"/>
              <a:t> yang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menunjukkan</a:t>
            </a:r>
            <a:r>
              <a:rPr lang="en-US" sz="1600" dirty="0"/>
              <a:t> </a:t>
            </a:r>
            <a:r>
              <a:rPr lang="en-US" sz="1600" dirty="0" err="1"/>
              <a:t>kapasitas</a:t>
            </a:r>
            <a:r>
              <a:rPr lang="en-US" sz="1600" dirty="0"/>
              <a:t> </a:t>
            </a:r>
            <a:r>
              <a:rPr lang="en-US" sz="1600" dirty="0" err="1"/>
              <a:t>maksimal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tautan</a:t>
            </a:r>
            <a:r>
              <a:rPr lang="en-US" sz="1600" dirty="0"/>
              <a:t> </a:t>
            </a:r>
            <a:r>
              <a:rPr lang="en-US" sz="1600" dirty="0" err="1"/>
              <a:t>komunikasi</a:t>
            </a:r>
            <a:r>
              <a:rPr lang="en-US" sz="1600" dirty="0"/>
              <a:t> </a:t>
            </a:r>
            <a:r>
              <a:rPr lang="en-US" sz="1600" dirty="0" err="1"/>
              <a:t>kabel</a:t>
            </a:r>
            <a:r>
              <a:rPr lang="en-US" sz="1600" dirty="0"/>
              <a:t> </a:t>
            </a:r>
            <a:r>
              <a:rPr lang="en-US" sz="1600" dirty="0" err="1"/>
              <a:t>maupun</a:t>
            </a:r>
            <a:r>
              <a:rPr lang="en-US" sz="1600" dirty="0"/>
              <a:t> </a:t>
            </a:r>
            <a:r>
              <a:rPr lang="en-US" sz="1600" dirty="0" err="1"/>
              <a:t>nirkabel</a:t>
            </a:r>
            <a:r>
              <a:rPr lang="en-US" sz="1600" dirty="0"/>
              <a:t>.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bisa</a:t>
            </a:r>
            <a:r>
              <a:rPr lang="en-US" sz="1600" dirty="0"/>
              <a:t>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mengukur</a:t>
            </a:r>
            <a:r>
              <a:rPr lang="en-US" sz="1600" dirty="0"/>
              <a:t> lama </a:t>
            </a:r>
            <a:r>
              <a:rPr lang="en-US" sz="1600" dirty="0" err="1"/>
              <a:t>waktu</a:t>
            </a:r>
            <a:r>
              <a:rPr lang="en-US" sz="1600" dirty="0"/>
              <a:t> </a:t>
            </a:r>
            <a:r>
              <a:rPr lang="en-US" sz="1600" dirty="0" err="1"/>
              <a:t>tertentu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proses </a:t>
            </a:r>
            <a:r>
              <a:rPr lang="en-US" sz="1600" dirty="0" err="1"/>
              <a:t>pengiriman</a:t>
            </a:r>
            <a:r>
              <a:rPr lang="en-US" sz="1600" dirty="0"/>
              <a:t> data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internet.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8240" y="1097287"/>
            <a:ext cx="51511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err="1"/>
              <a:t>Jumlah</a:t>
            </a:r>
            <a:r>
              <a:rPr lang="en-US" sz="1600" dirty="0"/>
              <a:t> bandwidth yang </a:t>
            </a:r>
            <a:r>
              <a:rPr lang="en-US" sz="1600" dirty="0" err="1"/>
              <a:t>dibutuhkan</a:t>
            </a:r>
            <a:r>
              <a:rPr lang="en-US" sz="1600" dirty="0"/>
              <a:t> = </a:t>
            </a:r>
            <a:r>
              <a:rPr lang="en-US" sz="1600" dirty="0" err="1"/>
              <a:t>Jumlah</a:t>
            </a:r>
            <a:r>
              <a:rPr lang="en-US" sz="1600" dirty="0"/>
              <a:t> </a:t>
            </a:r>
            <a:r>
              <a:rPr lang="en-US" sz="1600" dirty="0" err="1"/>
              <a:t>Perangkat</a:t>
            </a:r>
            <a:r>
              <a:rPr lang="en-US" sz="1600" dirty="0"/>
              <a:t> (user) × Batas </a:t>
            </a:r>
            <a:r>
              <a:rPr lang="en-US" sz="1600" dirty="0" err="1"/>
              <a:t>Maksimal</a:t>
            </a:r>
            <a:r>
              <a:rPr lang="en-US" sz="1600" dirty="0"/>
              <a:t> Bandwidth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Setiap</a:t>
            </a:r>
            <a:r>
              <a:rPr lang="en-US" sz="1600" dirty="0"/>
              <a:t> </a:t>
            </a:r>
            <a:r>
              <a:rPr lang="en-US" sz="1600" dirty="0" err="1"/>
              <a:t>Perangkat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Rumah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5 </a:t>
            </a:r>
            <a:r>
              <a:rPr lang="en-US" sz="1600" dirty="0" err="1"/>
              <a:t>pengguna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masing-masing</a:t>
            </a:r>
            <a:r>
              <a:rPr lang="en-US" sz="1600" dirty="0"/>
              <a:t> 2 </a:t>
            </a:r>
            <a:r>
              <a:rPr lang="en-US" sz="1600" dirty="0" err="1"/>
              <a:t>perangkat</a:t>
            </a:r>
            <a:r>
              <a:rPr lang="en-US" sz="1600" dirty="0"/>
              <a:t> laptop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handphone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rincian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:</a:t>
            </a:r>
          </a:p>
          <a:p>
            <a:pPr algn="just"/>
            <a:r>
              <a:rPr lang="en-US" sz="1600" dirty="0"/>
              <a:t>3 </a:t>
            </a:r>
            <a:r>
              <a:rPr lang="en-US" sz="1600" dirty="0" err="1"/>
              <a:t>pengguna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6 </a:t>
            </a:r>
            <a:r>
              <a:rPr lang="en-US" sz="1600" dirty="0" err="1"/>
              <a:t>perangkat</a:t>
            </a:r>
            <a:r>
              <a:rPr lang="en-US" sz="1600" dirty="0"/>
              <a:t> = </a:t>
            </a:r>
            <a:r>
              <a:rPr lang="en-US" sz="1600" dirty="0" err="1"/>
              <a:t>pengguna</a:t>
            </a:r>
            <a:r>
              <a:rPr lang="en-US" sz="1600" dirty="0"/>
              <a:t> </a:t>
            </a:r>
            <a:r>
              <a:rPr lang="en-US" sz="1600" dirty="0" err="1"/>
              <a:t>berat</a:t>
            </a:r>
            <a:r>
              <a:rPr lang="en-US" sz="1600" dirty="0"/>
              <a:t> yang </a:t>
            </a:r>
            <a:r>
              <a:rPr lang="en-US" sz="1600" dirty="0" err="1"/>
              <a:t>memerlukan</a:t>
            </a:r>
            <a:r>
              <a:rPr lang="en-US" sz="1600" dirty="0"/>
              <a:t> bandwidth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kapasitas</a:t>
            </a:r>
            <a:r>
              <a:rPr lang="en-US" sz="1600" dirty="0"/>
              <a:t> 120 Kbps.</a:t>
            </a:r>
          </a:p>
          <a:p>
            <a:pPr algn="just"/>
            <a:r>
              <a:rPr lang="en-US" sz="1600" dirty="0"/>
              <a:t>1 </a:t>
            </a:r>
            <a:r>
              <a:rPr lang="en-US" sz="1600" dirty="0" err="1"/>
              <a:t>pengguna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2 </a:t>
            </a:r>
            <a:r>
              <a:rPr lang="en-US" sz="1600" dirty="0" err="1"/>
              <a:t>perangkat</a:t>
            </a:r>
            <a:r>
              <a:rPr lang="en-US" sz="1600" dirty="0"/>
              <a:t> =  </a:t>
            </a:r>
            <a:r>
              <a:rPr lang="en-US" sz="1600" dirty="0" err="1"/>
              <a:t>pengguna</a:t>
            </a:r>
            <a:r>
              <a:rPr lang="en-US" sz="1600" dirty="0"/>
              <a:t> </a:t>
            </a:r>
            <a:r>
              <a:rPr lang="en-US" sz="1600" dirty="0" err="1"/>
              <a:t>sedang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kebutuhan</a:t>
            </a:r>
            <a:r>
              <a:rPr lang="en-US" sz="1600" dirty="0"/>
              <a:t> bandwidth 80 Kbps.</a:t>
            </a:r>
          </a:p>
          <a:p>
            <a:pPr algn="just"/>
            <a:r>
              <a:rPr lang="en-US" sz="1600" dirty="0"/>
              <a:t>1 </a:t>
            </a:r>
            <a:r>
              <a:rPr lang="en-US" sz="1600" dirty="0" err="1"/>
              <a:t>pengguna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2 </a:t>
            </a:r>
            <a:r>
              <a:rPr lang="en-US" sz="1600" dirty="0" err="1"/>
              <a:t>perangkat</a:t>
            </a:r>
            <a:r>
              <a:rPr lang="en-US" sz="1600" dirty="0"/>
              <a:t> = </a:t>
            </a:r>
            <a:r>
              <a:rPr lang="en-US" sz="1600" dirty="0" err="1"/>
              <a:t>pengguna</a:t>
            </a:r>
            <a:r>
              <a:rPr lang="en-US" sz="1600" dirty="0"/>
              <a:t> </a:t>
            </a:r>
            <a:r>
              <a:rPr lang="en-US" sz="1600" dirty="0" err="1"/>
              <a:t>ringan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kebutuhan</a:t>
            </a:r>
            <a:r>
              <a:rPr lang="en-US" sz="1600" dirty="0"/>
              <a:t> bandwidth 50 Kbps.</a:t>
            </a:r>
          </a:p>
          <a:p>
            <a:pPr algn="just"/>
            <a:r>
              <a:rPr lang="en-US" sz="1600" dirty="0"/>
              <a:t>Cara </a:t>
            </a:r>
            <a:r>
              <a:rPr lang="en-US" sz="1600" dirty="0" err="1"/>
              <a:t>menghitung</a:t>
            </a:r>
            <a:r>
              <a:rPr lang="en-US" sz="1600" dirty="0"/>
              <a:t> bandwidth yang ideal </a:t>
            </a:r>
            <a:r>
              <a:rPr lang="en-US" sz="1600" dirty="0" err="1"/>
              <a:t>untuk</a:t>
            </a:r>
            <a:r>
              <a:rPr lang="en-US" sz="1600" dirty="0"/>
              <a:t> di </a:t>
            </a:r>
            <a:r>
              <a:rPr lang="en-US" sz="1600" dirty="0" err="1"/>
              <a:t>rumah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:</a:t>
            </a:r>
          </a:p>
          <a:p>
            <a:pPr algn="just"/>
            <a:r>
              <a:rPr lang="en-US" sz="1600" dirty="0"/>
              <a:t>(6x500 Kbps) + (2x300 Kbps) + (2x120 Kbps) = 3.840 Kbps </a:t>
            </a:r>
            <a:r>
              <a:rPr lang="en-US" sz="1600" dirty="0" err="1"/>
              <a:t>atau</a:t>
            </a:r>
            <a:r>
              <a:rPr lang="en-US" sz="1600" dirty="0"/>
              <a:t> 3,8 Mbps. </a:t>
            </a:r>
            <a:r>
              <a:rPr lang="en-US" sz="1600" dirty="0" err="1"/>
              <a:t>Jadi</a:t>
            </a:r>
            <a:r>
              <a:rPr lang="en-US" sz="1600" dirty="0"/>
              <a:t> </a:t>
            </a:r>
            <a:r>
              <a:rPr lang="en-US" sz="1600" dirty="0" err="1"/>
              <a:t>sepesifikasi</a:t>
            </a:r>
            <a:r>
              <a:rPr lang="en-US" sz="1600" dirty="0"/>
              <a:t> bandwidth </a:t>
            </a:r>
            <a:r>
              <a:rPr lang="en-US" sz="1600" dirty="0" err="1"/>
              <a:t>pada</a:t>
            </a:r>
            <a:r>
              <a:rPr lang="en-US" sz="1600" dirty="0"/>
              <a:t> modem yang </a:t>
            </a:r>
            <a:r>
              <a:rPr lang="en-US" sz="1600" dirty="0" err="1"/>
              <a:t>diperlukan</a:t>
            </a:r>
            <a:r>
              <a:rPr lang="en-US" sz="1600" dirty="0"/>
              <a:t> </a:t>
            </a:r>
            <a:r>
              <a:rPr lang="en-US" sz="1600" dirty="0" err="1"/>
              <a:t>rumah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supaya</a:t>
            </a:r>
            <a:r>
              <a:rPr lang="en-US" sz="1600" dirty="0"/>
              <a:t> internet </a:t>
            </a:r>
            <a:r>
              <a:rPr lang="en-US" sz="1600" dirty="0" err="1"/>
              <a:t>lancar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setidaknya</a:t>
            </a:r>
            <a:r>
              <a:rPr lang="en-US" sz="1600" dirty="0"/>
              <a:t> 3,8 Mbps.</a:t>
            </a:r>
          </a:p>
          <a:p>
            <a:pPr algn="just"/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6238240" y="822100"/>
            <a:ext cx="17059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err="1"/>
              <a:t>Menghitung</a:t>
            </a:r>
            <a:r>
              <a:rPr lang="en-US" sz="1200" b="1" dirty="0"/>
              <a:t> Bandwidth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6268720" y="5467714"/>
            <a:ext cx="25565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Kunjungi</a:t>
            </a:r>
            <a:r>
              <a:rPr lang="en-US" sz="1200" dirty="0"/>
              <a:t> https://www.speedtest.net/ </a:t>
            </a:r>
          </a:p>
        </p:txBody>
      </p:sp>
      <p:sp>
        <p:nvSpPr>
          <p:cNvPr id="9" name="Rectangle 8"/>
          <p:cNvSpPr/>
          <p:nvPr/>
        </p:nvSpPr>
        <p:spPr>
          <a:xfrm>
            <a:off x="6892649" y="5713936"/>
            <a:ext cx="14782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u="sng" dirty="0">
                <a:solidFill>
                  <a:srgbClr val="0056B3"/>
                </a:solidFill>
                <a:latin typeface="Muli"/>
                <a:hlinkClick r:id="rId3"/>
              </a:rPr>
              <a:t>https://fast.com/id/</a:t>
            </a:r>
            <a:r>
              <a:rPr lang="en-US" sz="1200" dirty="0">
                <a:solidFill>
                  <a:srgbClr val="212529"/>
                </a:solidFill>
                <a:latin typeface="Muli"/>
              </a:rPr>
              <a:t> 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2611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200" y="708230"/>
            <a:ext cx="1523046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133" b="1" dirty="0"/>
              <a:t>Throughput</a:t>
            </a:r>
          </a:p>
        </p:txBody>
      </p:sp>
      <p:sp>
        <p:nvSpPr>
          <p:cNvPr id="2" name="Rectangle 1"/>
          <p:cNvSpPr/>
          <p:nvPr/>
        </p:nvSpPr>
        <p:spPr>
          <a:xfrm>
            <a:off x="952500" y="1633776"/>
            <a:ext cx="6096000" cy="43593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133" dirty="0"/>
              <a:t>Throughput </a:t>
            </a:r>
            <a:r>
              <a:rPr lang="en-US" sz="2133" dirty="0" err="1"/>
              <a:t>merupakan</a:t>
            </a:r>
            <a:r>
              <a:rPr lang="en-US" sz="2133" dirty="0"/>
              <a:t> </a:t>
            </a:r>
            <a:r>
              <a:rPr lang="en-US" sz="2133" dirty="0" err="1"/>
              <a:t>istilah</a:t>
            </a:r>
            <a:r>
              <a:rPr lang="en-US" sz="2133" dirty="0"/>
              <a:t> </a:t>
            </a:r>
            <a:r>
              <a:rPr lang="en-US" sz="2133" dirty="0" err="1"/>
              <a:t>sebenarnya</a:t>
            </a:r>
            <a:r>
              <a:rPr lang="en-US" sz="2133" dirty="0"/>
              <a:t> </a:t>
            </a:r>
            <a:r>
              <a:rPr lang="en-US" sz="2133" dirty="0" err="1"/>
              <a:t>dari</a:t>
            </a:r>
            <a:r>
              <a:rPr lang="en-US" sz="2133" dirty="0"/>
              <a:t> bandwidth yang </a:t>
            </a:r>
            <a:r>
              <a:rPr lang="en-US" sz="2133" dirty="0" err="1"/>
              <a:t>diukur</a:t>
            </a:r>
            <a:r>
              <a:rPr lang="en-US" sz="2133" dirty="0"/>
              <a:t>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satuan</a:t>
            </a:r>
            <a:r>
              <a:rPr lang="en-US" sz="2133" dirty="0"/>
              <a:t> </a:t>
            </a:r>
            <a:r>
              <a:rPr lang="en-US" sz="2133" dirty="0" err="1"/>
              <a:t>waktu</a:t>
            </a:r>
            <a:r>
              <a:rPr lang="en-US" sz="2133" dirty="0"/>
              <a:t> </a:t>
            </a:r>
            <a:r>
              <a:rPr lang="en-US" sz="2133" dirty="0" err="1"/>
              <a:t>tertentu</a:t>
            </a:r>
            <a:r>
              <a:rPr lang="en-US" sz="2133" dirty="0"/>
              <a:t> </a:t>
            </a:r>
            <a:r>
              <a:rPr lang="en-US" sz="2133" dirty="0" err="1"/>
              <a:t>dan</a:t>
            </a:r>
            <a:r>
              <a:rPr lang="en-US" sz="2133" dirty="0"/>
              <a:t> </a:t>
            </a:r>
            <a:r>
              <a:rPr lang="en-US" sz="2133" dirty="0" err="1"/>
              <a:t>pada</a:t>
            </a:r>
            <a:r>
              <a:rPr lang="en-US" sz="2133" dirty="0"/>
              <a:t> </a:t>
            </a:r>
            <a:r>
              <a:rPr lang="en-US" sz="2133" dirty="0" err="1"/>
              <a:t>kondisi</a:t>
            </a:r>
            <a:r>
              <a:rPr lang="en-US" sz="2133" dirty="0"/>
              <a:t> </a:t>
            </a:r>
            <a:r>
              <a:rPr lang="en-US" sz="2133" dirty="0" err="1"/>
              <a:t>jaringan</a:t>
            </a:r>
            <a:r>
              <a:rPr lang="en-US" sz="2133" dirty="0"/>
              <a:t> </a:t>
            </a:r>
            <a:r>
              <a:rPr lang="en-US" sz="2133" dirty="0" err="1"/>
              <a:t>tertentu</a:t>
            </a:r>
            <a:r>
              <a:rPr lang="en-US" sz="2133" dirty="0"/>
              <a:t> yang </a:t>
            </a:r>
            <a:r>
              <a:rPr lang="en-US" sz="2133" dirty="0" err="1"/>
              <a:t>digunakan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melakukan</a:t>
            </a:r>
            <a:r>
              <a:rPr lang="en-US" sz="2133" dirty="0"/>
              <a:t> transfer file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ukuran</a:t>
            </a:r>
            <a:r>
              <a:rPr lang="en-US" sz="2133" dirty="0"/>
              <a:t> </a:t>
            </a:r>
            <a:r>
              <a:rPr lang="en-US" sz="2133" dirty="0" err="1"/>
              <a:t>tertentu</a:t>
            </a:r>
            <a:r>
              <a:rPr lang="en-US" sz="2133" dirty="0"/>
              <a:t>.</a:t>
            </a:r>
          </a:p>
          <a:p>
            <a:pPr algn="just"/>
            <a:endParaRPr lang="en-US" sz="2133" dirty="0"/>
          </a:p>
          <a:p>
            <a:pPr algn="just"/>
            <a:r>
              <a:rPr lang="en-US" sz="2133" dirty="0"/>
              <a:t> </a:t>
            </a:r>
          </a:p>
          <a:p>
            <a:pPr algn="just"/>
            <a:endParaRPr lang="en-US" sz="2133" dirty="0"/>
          </a:p>
          <a:p>
            <a:pPr algn="just"/>
            <a:r>
              <a:rPr lang="en-US" sz="2133" dirty="0" err="1"/>
              <a:t>Bila</a:t>
            </a:r>
            <a:r>
              <a:rPr lang="en-US" sz="2133" dirty="0"/>
              <a:t> bandwidth </a:t>
            </a:r>
            <a:r>
              <a:rPr lang="en-US" sz="2133" dirty="0" err="1"/>
              <a:t>adalah</a:t>
            </a:r>
            <a:r>
              <a:rPr lang="en-US" sz="2133" dirty="0"/>
              <a:t> </a:t>
            </a:r>
            <a:r>
              <a:rPr lang="en-US" sz="2133" dirty="0" err="1"/>
              <a:t>jumlah</a:t>
            </a:r>
            <a:r>
              <a:rPr lang="en-US" sz="2133" dirty="0"/>
              <a:t> bit yang </a:t>
            </a:r>
            <a:r>
              <a:rPr lang="en-US" sz="2133" dirty="0" err="1"/>
              <a:t>dapat</a:t>
            </a:r>
            <a:r>
              <a:rPr lang="en-US" sz="2133" dirty="0"/>
              <a:t> </a:t>
            </a:r>
            <a:r>
              <a:rPr lang="en-US" sz="2133" dirty="0" err="1"/>
              <a:t>dikirimkan</a:t>
            </a:r>
            <a:r>
              <a:rPr lang="en-US" sz="2133" dirty="0"/>
              <a:t> </a:t>
            </a:r>
            <a:r>
              <a:rPr lang="en-US" sz="2133" dirty="0" err="1"/>
              <a:t>dalam</a:t>
            </a:r>
            <a:r>
              <a:rPr lang="en-US" sz="2133" dirty="0"/>
              <a:t> </a:t>
            </a:r>
            <a:r>
              <a:rPr lang="en-US" sz="2133" dirty="0" err="1"/>
              <a:t>satu</a:t>
            </a:r>
            <a:r>
              <a:rPr lang="en-US" sz="2133" dirty="0"/>
              <a:t> </a:t>
            </a:r>
            <a:r>
              <a:rPr lang="en-US" sz="2133" dirty="0" err="1"/>
              <a:t>detik</a:t>
            </a:r>
            <a:r>
              <a:rPr lang="en-US" sz="2133" dirty="0"/>
              <a:t>, throughput </a:t>
            </a:r>
            <a:r>
              <a:rPr lang="en-US" sz="2133" dirty="0" err="1"/>
              <a:t>lebih</a:t>
            </a:r>
            <a:r>
              <a:rPr lang="en-US" sz="2133" dirty="0"/>
              <a:t> </a:t>
            </a:r>
            <a:r>
              <a:rPr lang="en-US" sz="2133" dirty="0" err="1"/>
              <a:t>menggambarkan</a:t>
            </a:r>
            <a:r>
              <a:rPr lang="en-US" sz="2133" dirty="0"/>
              <a:t> </a:t>
            </a:r>
            <a:r>
              <a:rPr lang="en-US" sz="2133" dirty="0" err="1"/>
              <a:t>tentang</a:t>
            </a:r>
            <a:r>
              <a:rPr lang="en-US" sz="2133" dirty="0"/>
              <a:t> bandwidth </a:t>
            </a:r>
            <a:r>
              <a:rPr lang="en-US" sz="2133" dirty="0" err="1"/>
              <a:t>aktual</a:t>
            </a:r>
            <a:r>
              <a:rPr lang="en-US" sz="2133" dirty="0"/>
              <a:t> </a:t>
            </a:r>
            <a:r>
              <a:rPr lang="en-US" sz="2133" dirty="0" err="1"/>
              <a:t>hingga</a:t>
            </a:r>
            <a:r>
              <a:rPr lang="en-US" sz="2133" dirty="0"/>
              <a:t> </a:t>
            </a:r>
            <a:r>
              <a:rPr lang="en-US" sz="2133" dirty="0" err="1"/>
              <a:t>jaringan</a:t>
            </a:r>
            <a:r>
              <a:rPr lang="en-US" sz="2133" dirty="0"/>
              <a:t> internet </a:t>
            </a:r>
            <a:r>
              <a:rPr lang="en-US" sz="2133" dirty="0" err="1"/>
              <a:t>tertentu</a:t>
            </a:r>
            <a:r>
              <a:rPr lang="en-US" sz="2133" dirty="0"/>
              <a:t> yang </a:t>
            </a:r>
            <a:r>
              <a:rPr lang="en-US" sz="2133" dirty="0" err="1"/>
              <a:t>digunakan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mengunduh</a:t>
            </a:r>
            <a:r>
              <a:rPr lang="en-US" sz="2133" dirty="0"/>
              <a:t> </a:t>
            </a:r>
            <a:r>
              <a:rPr lang="en-US" sz="2133" dirty="0" err="1"/>
              <a:t>suatu</a:t>
            </a:r>
            <a:r>
              <a:rPr lang="en-US" sz="2133" dirty="0"/>
              <a:t> file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ukuran</a:t>
            </a:r>
            <a:r>
              <a:rPr lang="en-US" sz="2133" dirty="0"/>
              <a:t> </a:t>
            </a:r>
            <a:r>
              <a:rPr lang="en-US" sz="2133" dirty="0" err="1"/>
              <a:t>tertentu</a:t>
            </a:r>
            <a:r>
              <a:rPr lang="en-US" sz="2133" dirty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950" y="2032000"/>
            <a:ext cx="47625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2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2500" y="934760"/>
            <a:ext cx="11239500" cy="3046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33" dirty="0" err="1"/>
              <a:t>Satuan</a:t>
            </a:r>
            <a:r>
              <a:rPr lang="en-US" sz="2133" dirty="0"/>
              <a:t> bandwidth </a:t>
            </a:r>
            <a:r>
              <a:rPr lang="en-US" sz="2133" dirty="0" err="1"/>
              <a:t>diukur</a:t>
            </a:r>
            <a:r>
              <a:rPr lang="en-US" sz="2133" dirty="0"/>
              <a:t>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satuan</a:t>
            </a:r>
            <a:r>
              <a:rPr lang="en-US" sz="2133" dirty="0"/>
              <a:t> bps. </a:t>
            </a:r>
            <a:r>
              <a:rPr lang="en-US" sz="2133" dirty="0" err="1"/>
              <a:t>Semakin</a:t>
            </a:r>
            <a:r>
              <a:rPr lang="en-US" sz="2133" dirty="0"/>
              <a:t> </a:t>
            </a:r>
            <a:r>
              <a:rPr lang="en-US" sz="2133" dirty="0" err="1"/>
              <a:t>besar</a:t>
            </a:r>
            <a:r>
              <a:rPr lang="en-US" sz="2133" dirty="0"/>
              <a:t> bandwidth yang </a:t>
            </a:r>
            <a:r>
              <a:rPr lang="en-US" sz="2133" dirty="0" err="1"/>
              <a:t>dimiliki</a:t>
            </a:r>
            <a:r>
              <a:rPr lang="en-US" sz="2133" dirty="0"/>
              <a:t> </a:t>
            </a:r>
            <a:r>
              <a:rPr lang="en-US" sz="2133" dirty="0" err="1"/>
              <a:t>oleh</a:t>
            </a:r>
            <a:r>
              <a:rPr lang="en-US" sz="2133" dirty="0"/>
              <a:t> </a:t>
            </a:r>
            <a:r>
              <a:rPr lang="en-US" sz="2133" dirty="0" err="1"/>
              <a:t>jaringan</a:t>
            </a:r>
            <a:r>
              <a:rPr lang="en-US" sz="2133" dirty="0"/>
              <a:t>, </a:t>
            </a:r>
            <a:r>
              <a:rPr lang="en-US" sz="2133" dirty="0" err="1"/>
              <a:t>semakin</a:t>
            </a:r>
            <a:r>
              <a:rPr lang="en-US" sz="2133" dirty="0"/>
              <a:t> </a:t>
            </a:r>
            <a:r>
              <a:rPr lang="en-US" sz="2133" dirty="0" err="1"/>
              <a:t>besar</a:t>
            </a:r>
            <a:r>
              <a:rPr lang="en-US" sz="2133" dirty="0"/>
              <a:t> </a:t>
            </a:r>
            <a:r>
              <a:rPr lang="en-US" sz="2133" dirty="0" err="1"/>
              <a:t>juga</a:t>
            </a:r>
            <a:r>
              <a:rPr lang="en-US" sz="2133" dirty="0"/>
              <a:t> data yang </a:t>
            </a:r>
            <a:r>
              <a:rPr lang="en-US" sz="2133" dirty="0" err="1"/>
              <a:t>dapat</a:t>
            </a:r>
            <a:r>
              <a:rPr lang="en-US" sz="2133" dirty="0"/>
              <a:t> </a:t>
            </a:r>
            <a:r>
              <a:rPr lang="en-US" sz="2133" dirty="0" err="1"/>
              <a:t>ditampung</a:t>
            </a:r>
            <a:r>
              <a:rPr lang="en-US" sz="2133" dirty="0"/>
              <a:t>. </a:t>
            </a:r>
            <a:r>
              <a:rPr lang="en-US" sz="2133" dirty="0" err="1"/>
              <a:t>Namun</a:t>
            </a:r>
            <a:r>
              <a:rPr lang="en-US" sz="2133" dirty="0"/>
              <a:t> </a:t>
            </a:r>
            <a:r>
              <a:rPr lang="en-US" sz="2133" dirty="0" err="1"/>
              <a:t>sebaliknya</a:t>
            </a:r>
            <a:r>
              <a:rPr lang="en-US" sz="2133" dirty="0"/>
              <a:t>, </a:t>
            </a:r>
            <a:r>
              <a:rPr lang="en-US" sz="2133" dirty="0" err="1"/>
              <a:t>semakin</a:t>
            </a:r>
            <a:r>
              <a:rPr lang="en-US" sz="2133" dirty="0"/>
              <a:t> </a:t>
            </a:r>
            <a:r>
              <a:rPr lang="en-US" sz="2133" dirty="0" err="1"/>
              <a:t>kecil</a:t>
            </a:r>
            <a:r>
              <a:rPr lang="en-US" sz="2133" dirty="0"/>
              <a:t> bandwidth yang </a:t>
            </a:r>
            <a:r>
              <a:rPr lang="en-US" sz="2133" dirty="0" err="1"/>
              <a:t>dimiliki</a:t>
            </a:r>
            <a:r>
              <a:rPr lang="en-US" sz="2133" dirty="0"/>
              <a:t>, </a:t>
            </a:r>
            <a:r>
              <a:rPr lang="en-US" sz="2133" dirty="0" err="1"/>
              <a:t>semakin</a:t>
            </a:r>
            <a:r>
              <a:rPr lang="en-US" sz="2133" dirty="0"/>
              <a:t> </a:t>
            </a:r>
            <a:r>
              <a:rPr lang="en-US" sz="2133" dirty="0" err="1"/>
              <a:t>kecil</a:t>
            </a:r>
            <a:r>
              <a:rPr lang="en-US" sz="2133" dirty="0"/>
              <a:t> </a:t>
            </a:r>
            <a:r>
              <a:rPr lang="en-US" sz="2133" dirty="0" err="1"/>
              <a:t>juga</a:t>
            </a:r>
            <a:r>
              <a:rPr lang="en-US" sz="2133" dirty="0"/>
              <a:t> data yang </a:t>
            </a:r>
            <a:r>
              <a:rPr lang="en-US" sz="2133" dirty="0" err="1"/>
              <a:t>bisa</a:t>
            </a:r>
            <a:r>
              <a:rPr lang="en-US" sz="2133" dirty="0"/>
              <a:t> </a:t>
            </a:r>
            <a:r>
              <a:rPr lang="en-US" sz="2133" dirty="0" err="1"/>
              <a:t>ditampung</a:t>
            </a:r>
            <a:r>
              <a:rPr lang="en-US" sz="2133" dirty="0"/>
              <a:t> </a:t>
            </a:r>
            <a:r>
              <a:rPr lang="en-US" sz="2133" dirty="0" err="1"/>
              <a:t>sehingga</a:t>
            </a:r>
            <a:r>
              <a:rPr lang="en-US" sz="2133" dirty="0"/>
              <a:t> </a:t>
            </a:r>
            <a:r>
              <a:rPr lang="en-US" sz="2133" dirty="0" err="1"/>
              <a:t>koneksi</a:t>
            </a:r>
            <a:r>
              <a:rPr lang="en-US" sz="2133" dirty="0"/>
              <a:t> </a:t>
            </a:r>
            <a:r>
              <a:rPr lang="en-US" sz="2133" dirty="0" err="1"/>
              <a:t>atau</a:t>
            </a:r>
            <a:r>
              <a:rPr lang="en-US" sz="2133" dirty="0"/>
              <a:t> proses </a:t>
            </a:r>
            <a:r>
              <a:rPr lang="en-US" sz="2133" dirty="0" err="1"/>
              <a:t>pengiriman</a:t>
            </a:r>
            <a:r>
              <a:rPr lang="en-US" sz="2133" dirty="0"/>
              <a:t> data </a:t>
            </a:r>
            <a:r>
              <a:rPr lang="en-US" sz="2133" dirty="0" err="1"/>
              <a:t>menjadi</a:t>
            </a:r>
            <a:r>
              <a:rPr lang="en-US" sz="2133" dirty="0"/>
              <a:t> </a:t>
            </a:r>
            <a:r>
              <a:rPr lang="en-US" sz="2133" dirty="0" err="1"/>
              <a:t>lebih</a:t>
            </a:r>
            <a:r>
              <a:rPr lang="en-US" sz="2133" dirty="0"/>
              <a:t> </a:t>
            </a:r>
            <a:r>
              <a:rPr lang="en-US" sz="2133" dirty="0" err="1"/>
              <a:t>lambat</a:t>
            </a:r>
            <a:r>
              <a:rPr lang="en-US" sz="2133" dirty="0"/>
              <a:t>.</a:t>
            </a:r>
          </a:p>
          <a:p>
            <a:pPr algn="just"/>
            <a:endParaRPr lang="en-US" sz="2133" dirty="0"/>
          </a:p>
          <a:p>
            <a:pPr algn="just"/>
            <a:r>
              <a:rPr lang="en-US" sz="2133" dirty="0"/>
              <a:t> </a:t>
            </a:r>
            <a:r>
              <a:rPr lang="en-US" sz="2133" dirty="0" err="1"/>
              <a:t>Memang</a:t>
            </a:r>
            <a:r>
              <a:rPr lang="en-US" sz="2133" dirty="0"/>
              <a:t> bandwidth </a:t>
            </a:r>
            <a:r>
              <a:rPr lang="en-US" sz="2133" dirty="0" err="1"/>
              <a:t>digunakan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mengetahui</a:t>
            </a:r>
            <a:r>
              <a:rPr lang="en-US" sz="2133" dirty="0"/>
              <a:t> </a:t>
            </a:r>
            <a:r>
              <a:rPr lang="en-US" sz="2133" dirty="0" err="1"/>
              <a:t>transaksi</a:t>
            </a:r>
            <a:r>
              <a:rPr lang="en-US" sz="2133" dirty="0"/>
              <a:t> data yang </a:t>
            </a:r>
            <a:r>
              <a:rPr lang="en-US" sz="2133" dirty="0" err="1"/>
              <a:t>dilakukan</a:t>
            </a:r>
            <a:r>
              <a:rPr lang="en-US" sz="2133" dirty="0"/>
              <a:t>, </a:t>
            </a:r>
            <a:r>
              <a:rPr lang="en-US" sz="2133" dirty="0" err="1"/>
              <a:t>namun</a:t>
            </a:r>
            <a:r>
              <a:rPr lang="en-US" sz="2133" dirty="0"/>
              <a:t> </a:t>
            </a:r>
            <a:r>
              <a:rPr lang="en-US" sz="2133" dirty="0" err="1"/>
              <a:t>tidak</a:t>
            </a:r>
            <a:r>
              <a:rPr lang="en-US" sz="2133" dirty="0"/>
              <a:t> </a:t>
            </a:r>
            <a:r>
              <a:rPr lang="en-US" sz="2133" dirty="0" err="1"/>
              <a:t>berarti</a:t>
            </a:r>
            <a:r>
              <a:rPr lang="en-US" sz="2133" dirty="0"/>
              <a:t> bandwidth </a:t>
            </a:r>
            <a:r>
              <a:rPr lang="en-US" sz="2133" dirty="0" err="1"/>
              <a:t>menjadi</a:t>
            </a:r>
            <a:r>
              <a:rPr lang="en-US" sz="2133" dirty="0"/>
              <a:t> </a:t>
            </a:r>
            <a:r>
              <a:rPr lang="en-US" sz="2133" dirty="0" err="1"/>
              <a:t>satu-satunya</a:t>
            </a:r>
            <a:r>
              <a:rPr lang="en-US" sz="2133" dirty="0"/>
              <a:t> </a:t>
            </a:r>
            <a:r>
              <a:rPr lang="en-US" sz="2133" dirty="0" err="1"/>
              <a:t>alat</a:t>
            </a:r>
            <a:r>
              <a:rPr lang="en-US" sz="2133" dirty="0"/>
              <a:t> yang </a:t>
            </a:r>
            <a:r>
              <a:rPr lang="en-US" sz="2133" dirty="0" err="1"/>
              <a:t>bisa</a:t>
            </a:r>
            <a:r>
              <a:rPr lang="en-US" sz="2133" dirty="0"/>
              <a:t> </a:t>
            </a:r>
            <a:r>
              <a:rPr lang="en-US" sz="2133" dirty="0" err="1"/>
              <a:t>berpengaruh</a:t>
            </a:r>
            <a:r>
              <a:rPr lang="en-US" sz="2133" dirty="0"/>
              <a:t> </a:t>
            </a:r>
            <a:r>
              <a:rPr lang="en-US" sz="2133" dirty="0" err="1"/>
              <a:t>pada</a:t>
            </a:r>
            <a:r>
              <a:rPr lang="en-US" sz="2133" dirty="0"/>
              <a:t> </a:t>
            </a:r>
            <a:r>
              <a:rPr lang="en-US" sz="2133" dirty="0" err="1"/>
              <a:t>kinerja</a:t>
            </a:r>
            <a:r>
              <a:rPr lang="en-US" sz="2133" dirty="0"/>
              <a:t> </a:t>
            </a:r>
            <a:r>
              <a:rPr lang="en-US" sz="2133" dirty="0" err="1"/>
              <a:t>jaringan</a:t>
            </a:r>
            <a:r>
              <a:rPr lang="en-US" sz="2133" dirty="0"/>
              <a:t>. </a:t>
            </a:r>
            <a:r>
              <a:rPr lang="en-US" sz="2133" dirty="0" err="1"/>
              <a:t>Sebab</a:t>
            </a:r>
            <a:r>
              <a:rPr lang="en-US" sz="2133" dirty="0"/>
              <a:t>, </a:t>
            </a:r>
            <a:r>
              <a:rPr lang="en-US" sz="2133" dirty="0" err="1"/>
              <a:t>masih</a:t>
            </a:r>
            <a:r>
              <a:rPr lang="en-US" sz="2133" dirty="0"/>
              <a:t> </a:t>
            </a:r>
            <a:r>
              <a:rPr lang="en-US" sz="2133" dirty="0" err="1"/>
              <a:t>banyak</a:t>
            </a:r>
            <a:r>
              <a:rPr lang="en-US" sz="2133" dirty="0"/>
              <a:t> </a:t>
            </a:r>
            <a:r>
              <a:rPr lang="en-US" sz="2133" dirty="0" err="1"/>
              <a:t>faktor</a:t>
            </a:r>
            <a:r>
              <a:rPr lang="en-US" sz="2133" dirty="0"/>
              <a:t> yang </a:t>
            </a:r>
            <a:r>
              <a:rPr lang="en-US" sz="2133" dirty="0" err="1"/>
              <a:t>bisa</a:t>
            </a:r>
            <a:r>
              <a:rPr lang="en-US" sz="2133" dirty="0"/>
              <a:t> </a:t>
            </a:r>
            <a:r>
              <a:rPr lang="en-US" sz="2133" dirty="0" err="1"/>
              <a:t>mempengaruhi</a:t>
            </a:r>
            <a:r>
              <a:rPr lang="en-US" sz="2133" dirty="0"/>
              <a:t> </a:t>
            </a:r>
            <a:r>
              <a:rPr lang="en-US" sz="2133" dirty="0" err="1"/>
              <a:t>transmisi</a:t>
            </a:r>
            <a:r>
              <a:rPr lang="en-US" sz="2133" dirty="0"/>
              <a:t> data, </a:t>
            </a:r>
            <a:r>
              <a:rPr lang="en-US" sz="2133" dirty="0" err="1"/>
              <a:t>seperti</a:t>
            </a:r>
            <a:r>
              <a:rPr lang="en-US" sz="2133" dirty="0"/>
              <a:t> </a:t>
            </a:r>
            <a:r>
              <a:rPr lang="en-US" sz="2133" dirty="0" err="1"/>
              <a:t>jiter</a:t>
            </a:r>
            <a:r>
              <a:rPr lang="en-US" sz="2133" dirty="0"/>
              <a:t>, latency, </a:t>
            </a:r>
            <a:r>
              <a:rPr lang="en-US" sz="2133" dirty="0" err="1"/>
              <a:t>paket</a:t>
            </a:r>
            <a:r>
              <a:rPr lang="en-US" sz="2133" dirty="0"/>
              <a:t> boss, </a:t>
            </a:r>
            <a:r>
              <a:rPr lang="en-US" sz="2133" dirty="0" err="1"/>
              <a:t>dan</a:t>
            </a:r>
            <a:r>
              <a:rPr lang="en-US" sz="2133" dirty="0"/>
              <a:t> lain-lain.</a:t>
            </a:r>
          </a:p>
        </p:txBody>
      </p:sp>
    </p:spTree>
    <p:extLst>
      <p:ext uri="{BB962C8B-B14F-4D97-AF65-F5344CB8AC3E}">
        <p14:creationId xmlns:p14="http://schemas.microsoft.com/office/powerpoint/2010/main" val="99938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0616" y="619840"/>
            <a:ext cx="1572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1200" b="1" dirty="0" err="1">
                <a:solidFill>
                  <a:srgbClr val="000000"/>
                </a:solidFill>
                <a:latin typeface="Source Sans Pro"/>
              </a:rPr>
              <a:t>Kinerja</a:t>
            </a:r>
            <a:r>
              <a:rPr lang="en-US" sz="1200" b="1" dirty="0">
                <a:solidFill>
                  <a:srgbClr val="000000"/>
                </a:solidFill>
                <a:latin typeface="Source Sans Pro"/>
              </a:rPr>
              <a:t> throughput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50" y="866061"/>
            <a:ext cx="11658601" cy="5264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67" i="1" dirty="0"/>
              <a:t>Throughput </a:t>
            </a:r>
            <a:r>
              <a:rPr lang="en-US" sz="1867" dirty="0" err="1"/>
              <a:t>memiliki</a:t>
            </a:r>
            <a:r>
              <a:rPr lang="en-US" sz="1867" dirty="0"/>
              <a:t> </a:t>
            </a:r>
            <a:r>
              <a:rPr lang="en-US" sz="1867" dirty="0" err="1"/>
              <a:t>cara</a:t>
            </a:r>
            <a:r>
              <a:rPr lang="en-US" sz="1867" dirty="0"/>
              <a:t> </a:t>
            </a:r>
            <a:r>
              <a:rPr lang="en-US" sz="1867" dirty="0" err="1"/>
              <a:t>kerja</a:t>
            </a:r>
            <a:r>
              <a:rPr lang="en-US" sz="1867" dirty="0"/>
              <a:t> yang </a:t>
            </a:r>
            <a:r>
              <a:rPr lang="en-US" sz="1867" dirty="0" err="1"/>
              <a:t>bervariatif</a:t>
            </a:r>
            <a:r>
              <a:rPr lang="en-US" sz="1867" dirty="0"/>
              <a:t> </a:t>
            </a:r>
            <a:r>
              <a:rPr lang="en-US" sz="1867" dirty="0" err="1"/>
              <a:t>karena</a:t>
            </a:r>
            <a:r>
              <a:rPr lang="en-US" sz="1867" dirty="0"/>
              <a:t> </a:t>
            </a:r>
            <a:r>
              <a:rPr lang="en-US" sz="1867" dirty="0" err="1"/>
              <a:t>bersinggungan</a:t>
            </a:r>
            <a:r>
              <a:rPr lang="en-US" sz="1867" dirty="0"/>
              <a:t> </a:t>
            </a:r>
            <a:r>
              <a:rPr lang="en-US" sz="1867" dirty="0" err="1"/>
              <a:t>langsung</a:t>
            </a:r>
            <a:r>
              <a:rPr lang="en-US" sz="1867" dirty="0"/>
              <a:t> </a:t>
            </a:r>
            <a:r>
              <a:rPr lang="en-US" sz="1867" dirty="0" err="1"/>
              <a:t>dengan</a:t>
            </a:r>
            <a:r>
              <a:rPr lang="en-US" sz="1867" dirty="0"/>
              <a:t> </a:t>
            </a:r>
            <a:r>
              <a:rPr lang="en-US" sz="1867" dirty="0" err="1"/>
              <a:t>tingkat</a:t>
            </a:r>
            <a:r>
              <a:rPr lang="en-US" sz="1867" dirty="0"/>
              <a:t> </a:t>
            </a:r>
            <a:r>
              <a:rPr lang="en-US" sz="1867" dirty="0" err="1"/>
              <a:t>lalu</a:t>
            </a:r>
            <a:r>
              <a:rPr lang="en-US" sz="1867" dirty="0"/>
              <a:t> </a:t>
            </a:r>
            <a:r>
              <a:rPr lang="en-US" sz="1867" dirty="0" err="1"/>
              <a:t>lintas</a:t>
            </a:r>
            <a:r>
              <a:rPr lang="en-US" sz="1867" dirty="0"/>
              <a:t> </a:t>
            </a:r>
            <a:r>
              <a:rPr lang="en-US" sz="1867" dirty="0" err="1"/>
              <a:t>jaringan</a:t>
            </a:r>
            <a:r>
              <a:rPr lang="en-US" sz="1867" dirty="0"/>
              <a:t>, </a:t>
            </a:r>
            <a:r>
              <a:rPr lang="en-US" sz="1867" dirty="0" err="1"/>
              <a:t>jumlah</a:t>
            </a:r>
            <a:r>
              <a:rPr lang="en-US" sz="1867" dirty="0"/>
              <a:t> </a:t>
            </a:r>
            <a:r>
              <a:rPr lang="en-US" sz="1867" dirty="0" err="1"/>
              <a:t>pengguna</a:t>
            </a:r>
            <a:r>
              <a:rPr lang="en-US" sz="1867" dirty="0"/>
              <a:t>, </a:t>
            </a:r>
            <a:r>
              <a:rPr lang="en-US" sz="1867" dirty="0" err="1"/>
              <a:t>latensi</a:t>
            </a:r>
            <a:r>
              <a:rPr lang="en-US" sz="1867" dirty="0"/>
              <a:t>, </a:t>
            </a:r>
            <a:r>
              <a:rPr lang="en-US" sz="1867" dirty="0" err="1"/>
              <a:t>dan</a:t>
            </a:r>
            <a:r>
              <a:rPr lang="en-US" sz="1867" dirty="0"/>
              <a:t> </a:t>
            </a:r>
            <a:r>
              <a:rPr lang="en-US" sz="1867" dirty="0" err="1"/>
              <a:t>masalah</a:t>
            </a:r>
            <a:r>
              <a:rPr lang="en-US" sz="1867" dirty="0"/>
              <a:t> </a:t>
            </a:r>
            <a:r>
              <a:rPr lang="en-US" sz="1867" dirty="0" err="1"/>
              <a:t>jaringan</a:t>
            </a:r>
            <a:r>
              <a:rPr lang="en-US" sz="1867" dirty="0"/>
              <a:t> </a:t>
            </a:r>
            <a:r>
              <a:rPr lang="en-US" sz="1867" dirty="0" err="1"/>
              <a:t>lainnya</a:t>
            </a:r>
            <a:r>
              <a:rPr lang="en-US" sz="1867" dirty="0"/>
              <a:t>.  </a:t>
            </a:r>
          </a:p>
          <a:p>
            <a:r>
              <a:rPr lang="en-US" sz="1867" dirty="0" err="1"/>
              <a:t>Umumnya</a:t>
            </a:r>
            <a:r>
              <a:rPr lang="en-US" sz="1867" dirty="0"/>
              <a:t>, </a:t>
            </a:r>
            <a:r>
              <a:rPr lang="en-US" sz="1867" i="1" dirty="0"/>
              <a:t>throughput</a:t>
            </a:r>
            <a:r>
              <a:rPr lang="en-US" sz="1867" dirty="0"/>
              <a:t> </a:t>
            </a:r>
            <a:r>
              <a:rPr lang="en-US" sz="1867" dirty="0" err="1"/>
              <a:t>memiliki</a:t>
            </a:r>
            <a:r>
              <a:rPr lang="en-US" sz="1867" dirty="0"/>
              <a:t> </a:t>
            </a:r>
            <a:r>
              <a:rPr lang="en-US" sz="1867" dirty="0" err="1"/>
              <a:t>cara</a:t>
            </a:r>
            <a:r>
              <a:rPr lang="en-US" sz="1867" dirty="0"/>
              <a:t> </a:t>
            </a:r>
            <a:r>
              <a:rPr lang="en-US" sz="1867" dirty="0" err="1"/>
              <a:t>kerja</a:t>
            </a:r>
            <a:r>
              <a:rPr lang="en-US" sz="1867" dirty="0"/>
              <a:t> yang </a:t>
            </a:r>
            <a:r>
              <a:rPr lang="en-US" sz="1867" dirty="0" err="1"/>
              <a:t>dapat</a:t>
            </a:r>
            <a:r>
              <a:rPr lang="en-US" sz="1867" dirty="0"/>
              <a:t> </a:t>
            </a:r>
            <a:r>
              <a:rPr lang="en-US" sz="1867" dirty="0" err="1"/>
              <a:t>diukur</a:t>
            </a:r>
            <a:r>
              <a:rPr lang="en-US" sz="1867" dirty="0"/>
              <a:t> </a:t>
            </a:r>
            <a:r>
              <a:rPr lang="en-US" sz="1867" dirty="0" err="1"/>
              <a:t>dalam</a:t>
            </a:r>
            <a:r>
              <a:rPr lang="en-US" sz="1867" dirty="0"/>
              <a:t> bit per </a:t>
            </a:r>
            <a:r>
              <a:rPr lang="en-US" sz="1867" dirty="0" err="1"/>
              <a:t>detik</a:t>
            </a:r>
            <a:r>
              <a:rPr lang="en-US" sz="1867" dirty="0"/>
              <a:t> (bps), kilobit per </a:t>
            </a:r>
            <a:r>
              <a:rPr lang="en-US" sz="1867" dirty="0" err="1"/>
              <a:t>detik</a:t>
            </a:r>
            <a:r>
              <a:rPr lang="en-US" sz="1867" dirty="0"/>
              <a:t> (Kbps), megabit per </a:t>
            </a:r>
            <a:r>
              <a:rPr lang="en-US" sz="1867" dirty="0" err="1"/>
              <a:t>detik</a:t>
            </a:r>
            <a:r>
              <a:rPr lang="en-US" sz="1867" dirty="0"/>
              <a:t> (Mbps), </a:t>
            </a:r>
            <a:r>
              <a:rPr lang="en-US" sz="1867" dirty="0" err="1"/>
              <a:t>atau</a:t>
            </a:r>
            <a:r>
              <a:rPr lang="en-US" sz="1867" dirty="0"/>
              <a:t> gigabit per </a:t>
            </a:r>
            <a:r>
              <a:rPr lang="en-US" sz="1867" dirty="0" err="1"/>
              <a:t>detik</a:t>
            </a:r>
            <a:r>
              <a:rPr lang="en-US" sz="1867" dirty="0"/>
              <a:t> (</a:t>
            </a:r>
            <a:r>
              <a:rPr lang="en-US" sz="1867" dirty="0" err="1"/>
              <a:t>Gbps</a:t>
            </a:r>
            <a:r>
              <a:rPr lang="en-US" sz="1867" dirty="0"/>
              <a:t>). </a:t>
            </a:r>
            <a:r>
              <a:rPr lang="en-US" sz="1867" dirty="0" err="1"/>
              <a:t>Berikut</a:t>
            </a:r>
            <a:r>
              <a:rPr lang="en-US" sz="1867" dirty="0"/>
              <a:t> </a:t>
            </a:r>
            <a:r>
              <a:rPr lang="en-US" sz="1867" dirty="0" err="1"/>
              <a:t>adalah</a:t>
            </a:r>
            <a:r>
              <a:rPr lang="en-US" sz="1867" dirty="0"/>
              <a:t> </a:t>
            </a:r>
            <a:r>
              <a:rPr lang="en-US" sz="1867" dirty="0" err="1"/>
              <a:t>beberapa</a:t>
            </a:r>
            <a:r>
              <a:rPr lang="en-US" sz="1867" dirty="0"/>
              <a:t> point </a:t>
            </a:r>
            <a:r>
              <a:rPr lang="en-US" sz="1867" dirty="0" err="1"/>
              <a:t>cara</a:t>
            </a:r>
            <a:r>
              <a:rPr lang="en-US" sz="1867" dirty="0"/>
              <a:t> </a:t>
            </a:r>
            <a:r>
              <a:rPr lang="en-US" sz="1867" dirty="0" err="1"/>
              <a:t>kerja</a:t>
            </a:r>
            <a:r>
              <a:rPr lang="en-US" sz="1867" dirty="0"/>
              <a:t> </a:t>
            </a:r>
            <a:r>
              <a:rPr lang="en-US" sz="1867" i="1" dirty="0"/>
              <a:t>throughput</a:t>
            </a:r>
            <a:r>
              <a:rPr lang="en-US" sz="1867" dirty="0"/>
              <a:t>.</a:t>
            </a:r>
          </a:p>
          <a:p>
            <a:r>
              <a:rPr lang="en-US" sz="1867" b="1" dirty="0"/>
              <a:t>1. </a:t>
            </a:r>
            <a:r>
              <a:rPr lang="en-US" sz="1867" b="1" i="1" dirty="0"/>
              <a:t>Bandwidth </a:t>
            </a:r>
            <a:endParaRPr lang="en-US" sz="1867" b="1" dirty="0"/>
          </a:p>
          <a:p>
            <a:r>
              <a:rPr lang="en-US" sz="1867" dirty="0" err="1"/>
              <a:t>Semakin</a:t>
            </a:r>
            <a:r>
              <a:rPr lang="en-US" sz="1867" dirty="0"/>
              <a:t> </a:t>
            </a:r>
            <a:r>
              <a:rPr lang="en-US" sz="1867" dirty="0" err="1"/>
              <a:t>besar</a:t>
            </a:r>
            <a:r>
              <a:rPr lang="en-US" sz="1867" dirty="0"/>
              <a:t> </a:t>
            </a:r>
            <a:r>
              <a:rPr lang="en-US" sz="1867" i="1" dirty="0"/>
              <a:t>bandwidth</a:t>
            </a:r>
            <a:r>
              <a:rPr lang="en-US" sz="1867" dirty="0"/>
              <a:t>, </a:t>
            </a:r>
            <a:r>
              <a:rPr lang="en-US" sz="1867" dirty="0" err="1"/>
              <a:t>potensi</a:t>
            </a:r>
            <a:r>
              <a:rPr lang="en-US" sz="1867" dirty="0"/>
              <a:t> </a:t>
            </a:r>
            <a:r>
              <a:rPr lang="en-US" sz="1867" i="1" dirty="0"/>
              <a:t>throughput</a:t>
            </a:r>
            <a:r>
              <a:rPr lang="en-US" sz="1867" dirty="0"/>
              <a:t> </a:t>
            </a:r>
            <a:r>
              <a:rPr lang="en-US" sz="1867" dirty="0" err="1"/>
              <a:t>juga</a:t>
            </a:r>
            <a:r>
              <a:rPr lang="en-US" sz="1867" dirty="0"/>
              <a:t> </a:t>
            </a:r>
            <a:r>
              <a:rPr lang="en-US" sz="1867" dirty="0" err="1"/>
              <a:t>semakin</a:t>
            </a:r>
            <a:r>
              <a:rPr lang="en-US" sz="1867" dirty="0"/>
              <a:t> </a:t>
            </a:r>
            <a:r>
              <a:rPr lang="en-US" sz="1867" dirty="0" err="1"/>
              <a:t>tinggi</a:t>
            </a:r>
            <a:r>
              <a:rPr lang="en-US" sz="1867" dirty="0"/>
              <a:t>. </a:t>
            </a:r>
            <a:r>
              <a:rPr lang="en-US" sz="1867" dirty="0" err="1"/>
              <a:t>Hanya</a:t>
            </a:r>
            <a:r>
              <a:rPr lang="en-US" sz="1867" dirty="0"/>
              <a:t> </a:t>
            </a:r>
            <a:r>
              <a:rPr lang="en-US" sz="1867" dirty="0" err="1"/>
              <a:t>saja</a:t>
            </a:r>
            <a:r>
              <a:rPr lang="en-US" sz="1867" dirty="0"/>
              <a:t> yang </a:t>
            </a:r>
            <a:r>
              <a:rPr lang="en-US" sz="1867" dirty="0" err="1"/>
              <a:t>perlu</a:t>
            </a:r>
            <a:r>
              <a:rPr lang="en-US" sz="1867" dirty="0"/>
              <a:t> </a:t>
            </a:r>
            <a:r>
              <a:rPr lang="en-US" sz="1867" dirty="0" err="1"/>
              <a:t>diketahui</a:t>
            </a:r>
            <a:r>
              <a:rPr lang="en-US" sz="1867" dirty="0"/>
              <a:t> </a:t>
            </a:r>
            <a:r>
              <a:rPr lang="en-US" sz="1867" dirty="0" err="1"/>
              <a:t>bahwa</a:t>
            </a:r>
            <a:r>
              <a:rPr lang="en-US" sz="1867" dirty="0"/>
              <a:t> </a:t>
            </a:r>
            <a:r>
              <a:rPr lang="en-US" sz="1867" i="1" dirty="0"/>
              <a:t>throughput</a:t>
            </a:r>
            <a:r>
              <a:rPr lang="en-US" sz="1867" dirty="0"/>
              <a:t> </a:t>
            </a:r>
            <a:r>
              <a:rPr lang="en-US" sz="1867" dirty="0" err="1"/>
              <a:t>selalu</a:t>
            </a:r>
            <a:r>
              <a:rPr lang="en-US" sz="1867" dirty="0"/>
              <a:t> </a:t>
            </a:r>
            <a:r>
              <a:rPr lang="en-US" sz="1867" dirty="0" err="1"/>
              <a:t>lebih</a:t>
            </a:r>
            <a:r>
              <a:rPr lang="en-US" sz="1867" dirty="0"/>
              <a:t> </a:t>
            </a:r>
            <a:r>
              <a:rPr lang="en-US" sz="1867" dirty="0" err="1"/>
              <a:t>kecil</a:t>
            </a:r>
            <a:r>
              <a:rPr lang="en-US" sz="1867" dirty="0"/>
              <a:t> </a:t>
            </a:r>
            <a:r>
              <a:rPr lang="en-US" sz="1867" dirty="0" err="1"/>
              <a:t>daripada</a:t>
            </a:r>
            <a:r>
              <a:rPr lang="en-US" sz="1867" dirty="0"/>
              <a:t> </a:t>
            </a:r>
            <a:r>
              <a:rPr lang="en-US" sz="1867" i="1" dirty="0"/>
              <a:t>bandwidth</a:t>
            </a:r>
            <a:r>
              <a:rPr lang="en-US" sz="1867" dirty="0"/>
              <a:t> </a:t>
            </a:r>
            <a:r>
              <a:rPr lang="en-US" sz="1867" dirty="0" err="1"/>
              <a:t>karena</a:t>
            </a:r>
            <a:r>
              <a:rPr lang="en-US" sz="1867" dirty="0"/>
              <a:t> </a:t>
            </a:r>
            <a:r>
              <a:rPr lang="en-US" sz="1867" dirty="0" err="1"/>
              <a:t>faktor</a:t>
            </a:r>
            <a:r>
              <a:rPr lang="en-US" sz="1867" dirty="0"/>
              <a:t> </a:t>
            </a:r>
            <a:r>
              <a:rPr lang="en-US" sz="1867" dirty="0" err="1"/>
              <a:t>jumlah</a:t>
            </a:r>
            <a:r>
              <a:rPr lang="en-US" sz="1867" dirty="0"/>
              <a:t> </a:t>
            </a:r>
            <a:r>
              <a:rPr lang="en-US" sz="1867" dirty="0" err="1"/>
              <a:t>pengguna</a:t>
            </a:r>
            <a:r>
              <a:rPr lang="en-US" sz="1867" dirty="0"/>
              <a:t>, </a:t>
            </a:r>
            <a:r>
              <a:rPr lang="en-US" sz="1867" dirty="0" err="1"/>
              <a:t>latensi</a:t>
            </a:r>
            <a:r>
              <a:rPr lang="en-US" sz="1867" dirty="0"/>
              <a:t> </a:t>
            </a:r>
            <a:r>
              <a:rPr lang="en-US" sz="1867" dirty="0" err="1"/>
              <a:t>dan</a:t>
            </a:r>
            <a:r>
              <a:rPr lang="en-US" sz="1867" dirty="0"/>
              <a:t> </a:t>
            </a:r>
            <a:r>
              <a:rPr lang="en-US" sz="1867" dirty="0" err="1"/>
              <a:t>lainnya</a:t>
            </a:r>
            <a:r>
              <a:rPr lang="en-US" sz="1867" dirty="0"/>
              <a:t>.</a:t>
            </a:r>
          </a:p>
          <a:p>
            <a:r>
              <a:rPr lang="en-US" sz="1867" b="1" dirty="0"/>
              <a:t>2. </a:t>
            </a:r>
            <a:r>
              <a:rPr lang="en-US" sz="1867" b="1" dirty="0" err="1"/>
              <a:t>Jarak</a:t>
            </a:r>
            <a:endParaRPr lang="en-US" sz="1867" b="1" dirty="0"/>
          </a:p>
          <a:p>
            <a:r>
              <a:rPr lang="en-US" sz="1867" dirty="0" err="1"/>
              <a:t>Jarak</a:t>
            </a:r>
            <a:r>
              <a:rPr lang="en-US" sz="1867" dirty="0"/>
              <a:t> </a:t>
            </a:r>
            <a:r>
              <a:rPr lang="en-US" sz="1867" dirty="0" err="1"/>
              <a:t>antara</a:t>
            </a:r>
            <a:r>
              <a:rPr lang="en-US" sz="1867" dirty="0"/>
              <a:t> </a:t>
            </a:r>
            <a:r>
              <a:rPr lang="en-US" sz="1867" dirty="0" err="1"/>
              <a:t>perangkat</a:t>
            </a:r>
            <a:r>
              <a:rPr lang="en-US" sz="1867" dirty="0"/>
              <a:t> </a:t>
            </a:r>
            <a:r>
              <a:rPr lang="en-US" sz="1867" dirty="0" err="1"/>
              <a:t>dan</a:t>
            </a:r>
            <a:r>
              <a:rPr lang="en-US" sz="1867" dirty="0"/>
              <a:t> media </a:t>
            </a:r>
            <a:r>
              <a:rPr lang="en-US" sz="1867" dirty="0" err="1"/>
              <a:t>transmisi</a:t>
            </a:r>
            <a:r>
              <a:rPr lang="en-US" sz="1867" dirty="0"/>
              <a:t> </a:t>
            </a:r>
            <a:r>
              <a:rPr lang="en-US" sz="1867" dirty="0" err="1"/>
              <a:t>seperti</a:t>
            </a:r>
            <a:r>
              <a:rPr lang="en-US" sz="1867" dirty="0"/>
              <a:t> modem </a:t>
            </a:r>
            <a:r>
              <a:rPr lang="en-US" sz="1867" dirty="0" err="1"/>
              <a:t>atau</a:t>
            </a:r>
            <a:r>
              <a:rPr lang="en-US" sz="1867" dirty="0"/>
              <a:t> router </a:t>
            </a:r>
            <a:r>
              <a:rPr lang="en-US" sz="1867" dirty="0" err="1"/>
              <a:t>dapat</a:t>
            </a:r>
            <a:r>
              <a:rPr lang="en-US" sz="1867" dirty="0"/>
              <a:t> </a:t>
            </a:r>
            <a:r>
              <a:rPr lang="en-US" sz="1867" dirty="0" err="1"/>
              <a:t>mempengaruhi</a:t>
            </a:r>
            <a:r>
              <a:rPr lang="en-US" sz="1867" dirty="0"/>
              <a:t> </a:t>
            </a:r>
            <a:r>
              <a:rPr lang="en-US" sz="1867" i="1" dirty="0"/>
              <a:t>throughput</a:t>
            </a:r>
            <a:r>
              <a:rPr lang="en-US" sz="1867" dirty="0"/>
              <a:t>. </a:t>
            </a:r>
            <a:r>
              <a:rPr lang="en-US" sz="1867" dirty="0" err="1"/>
              <a:t>Misalnya</a:t>
            </a:r>
            <a:r>
              <a:rPr lang="en-US" sz="1867" dirty="0"/>
              <a:t> </a:t>
            </a:r>
            <a:r>
              <a:rPr lang="en-US" sz="1867" dirty="0" err="1"/>
              <a:t>semakin</a:t>
            </a:r>
            <a:r>
              <a:rPr lang="en-US" sz="1867" dirty="0"/>
              <a:t> </a:t>
            </a:r>
            <a:r>
              <a:rPr lang="en-US" sz="1867" dirty="0" err="1"/>
              <a:t>jauh</a:t>
            </a:r>
            <a:r>
              <a:rPr lang="en-US" sz="1867" dirty="0"/>
              <a:t> </a:t>
            </a:r>
            <a:r>
              <a:rPr lang="en-US" sz="1867" dirty="0" err="1"/>
              <a:t>jarak</a:t>
            </a:r>
            <a:r>
              <a:rPr lang="en-US" sz="1867" dirty="0"/>
              <a:t>, </a:t>
            </a:r>
            <a:r>
              <a:rPr lang="en-US" sz="1867" dirty="0" err="1"/>
              <a:t>semakin</a:t>
            </a:r>
            <a:r>
              <a:rPr lang="en-US" sz="1867" dirty="0"/>
              <a:t> </a:t>
            </a:r>
            <a:r>
              <a:rPr lang="en-US" sz="1867" dirty="0" err="1"/>
              <a:t>besar</a:t>
            </a:r>
            <a:r>
              <a:rPr lang="en-US" sz="1867" dirty="0"/>
              <a:t> </a:t>
            </a:r>
            <a:r>
              <a:rPr lang="en-US" sz="1867" dirty="0" err="1"/>
              <a:t>kemungkinan</a:t>
            </a:r>
            <a:r>
              <a:rPr lang="en-US" sz="1867" dirty="0"/>
              <a:t> </a:t>
            </a:r>
            <a:r>
              <a:rPr lang="en-US" sz="1867" dirty="0" err="1"/>
              <a:t>penurunan</a:t>
            </a:r>
            <a:r>
              <a:rPr lang="en-US" sz="1867" dirty="0"/>
              <a:t> </a:t>
            </a:r>
            <a:r>
              <a:rPr lang="en-US" sz="1867" dirty="0" err="1"/>
              <a:t>kecepatan</a:t>
            </a:r>
            <a:r>
              <a:rPr lang="en-US" sz="1867" dirty="0"/>
              <a:t>.</a:t>
            </a:r>
          </a:p>
          <a:p>
            <a:r>
              <a:rPr lang="en-US" sz="1867" b="1" dirty="0"/>
              <a:t>3. </a:t>
            </a:r>
            <a:r>
              <a:rPr lang="en-US" sz="1867" b="1" dirty="0" err="1"/>
              <a:t>Interferensi</a:t>
            </a:r>
            <a:endParaRPr lang="en-US" sz="1867" b="1" dirty="0"/>
          </a:p>
          <a:p>
            <a:r>
              <a:rPr lang="en-US" sz="1867" dirty="0" err="1"/>
              <a:t>Gangguan</a:t>
            </a:r>
            <a:r>
              <a:rPr lang="en-US" sz="1867" dirty="0"/>
              <a:t> </a:t>
            </a:r>
            <a:r>
              <a:rPr lang="en-US" sz="1867" dirty="0" err="1"/>
              <a:t>elektromagnetik</a:t>
            </a:r>
            <a:r>
              <a:rPr lang="en-US" sz="1867" dirty="0"/>
              <a:t> </a:t>
            </a:r>
            <a:r>
              <a:rPr lang="en-US" sz="1867" dirty="0" err="1"/>
              <a:t>atau</a:t>
            </a:r>
            <a:r>
              <a:rPr lang="en-US" sz="1867" dirty="0"/>
              <a:t> </a:t>
            </a:r>
            <a:r>
              <a:rPr lang="en-US" sz="1867" dirty="0" err="1"/>
              <a:t>terhalang</a:t>
            </a:r>
            <a:r>
              <a:rPr lang="en-US" sz="1867" dirty="0"/>
              <a:t> </a:t>
            </a:r>
            <a:r>
              <a:rPr lang="en-US" sz="1867" dirty="0" err="1"/>
              <a:t>bangunan</a:t>
            </a:r>
            <a:r>
              <a:rPr lang="en-US" sz="1867" dirty="0"/>
              <a:t> yang </a:t>
            </a:r>
            <a:r>
              <a:rPr lang="en-US" sz="1867" dirty="0" err="1"/>
              <a:t>tinggi</a:t>
            </a:r>
            <a:r>
              <a:rPr lang="en-US" sz="1867" dirty="0"/>
              <a:t> </a:t>
            </a:r>
            <a:r>
              <a:rPr lang="en-US" sz="1867" dirty="0" err="1"/>
              <a:t>dapat</a:t>
            </a:r>
            <a:r>
              <a:rPr lang="en-US" sz="1867" dirty="0"/>
              <a:t> </a:t>
            </a:r>
            <a:r>
              <a:rPr lang="en-US" sz="1867" dirty="0" err="1"/>
              <a:t>mengurangi</a:t>
            </a:r>
            <a:r>
              <a:rPr lang="en-US" sz="1867" dirty="0"/>
              <a:t> </a:t>
            </a:r>
            <a:r>
              <a:rPr lang="en-US" sz="1867" dirty="0" err="1"/>
              <a:t>kualitas</a:t>
            </a:r>
            <a:r>
              <a:rPr lang="en-US" sz="1867" dirty="0"/>
              <a:t> </a:t>
            </a:r>
            <a:r>
              <a:rPr lang="en-US" sz="1867" dirty="0" err="1"/>
              <a:t>koneksi</a:t>
            </a:r>
            <a:r>
              <a:rPr lang="en-US" sz="1867" dirty="0"/>
              <a:t> yang </a:t>
            </a:r>
            <a:r>
              <a:rPr lang="en-US" sz="1867" dirty="0" err="1"/>
              <a:t>berdampak</a:t>
            </a:r>
            <a:r>
              <a:rPr lang="en-US" sz="1867" dirty="0"/>
              <a:t> </a:t>
            </a:r>
            <a:r>
              <a:rPr lang="en-US" sz="1867" dirty="0" err="1"/>
              <a:t>ke</a:t>
            </a:r>
            <a:r>
              <a:rPr lang="en-US" sz="1867" dirty="0"/>
              <a:t> </a:t>
            </a:r>
            <a:r>
              <a:rPr lang="en-US" sz="1867" i="1" dirty="0"/>
              <a:t>throughput</a:t>
            </a:r>
            <a:r>
              <a:rPr lang="en-US" sz="1867" dirty="0"/>
              <a:t> </a:t>
            </a:r>
            <a:r>
              <a:rPr lang="en-US" sz="1867" dirty="0" err="1"/>
              <a:t>secara</a:t>
            </a:r>
            <a:r>
              <a:rPr lang="en-US" sz="1867" dirty="0"/>
              <a:t> </a:t>
            </a:r>
            <a:r>
              <a:rPr lang="en-US" sz="1867" dirty="0" err="1"/>
              <a:t>langsung</a:t>
            </a:r>
            <a:r>
              <a:rPr lang="en-US" sz="1867" dirty="0"/>
              <a:t>.</a:t>
            </a:r>
          </a:p>
          <a:p>
            <a:r>
              <a:rPr lang="en-US" sz="1867" b="1" dirty="0"/>
              <a:t>4. </a:t>
            </a:r>
            <a:r>
              <a:rPr lang="en-US" sz="1867" b="1" dirty="0" err="1"/>
              <a:t>Protokol</a:t>
            </a:r>
            <a:r>
              <a:rPr lang="en-US" sz="1867" b="1" dirty="0"/>
              <a:t> </a:t>
            </a:r>
            <a:r>
              <a:rPr lang="en-US" sz="1867" b="1" dirty="0" err="1"/>
              <a:t>jaringan</a:t>
            </a:r>
            <a:endParaRPr lang="en-US" sz="1867" b="1" dirty="0"/>
          </a:p>
          <a:p>
            <a:r>
              <a:rPr lang="en-US" sz="1867" dirty="0" err="1"/>
              <a:t>Protokol</a:t>
            </a:r>
            <a:r>
              <a:rPr lang="en-US" sz="1867" dirty="0"/>
              <a:t> yang </a:t>
            </a:r>
            <a:r>
              <a:rPr lang="en-US" sz="1867" dirty="0" err="1"/>
              <a:t>digunakan</a:t>
            </a:r>
            <a:r>
              <a:rPr lang="en-US" sz="1867" dirty="0"/>
              <a:t> </a:t>
            </a:r>
            <a:r>
              <a:rPr lang="en-US" sz="1867" dirty="0" err="1"/>
              <a:t>untuk</a:t>
            </a:r>
            <a:r>
              <a:rPr lang="en-US" sz="1867" dirty="0"/>
              <a:t> </a:t>
            </a:r>
            <a:r>
              <a:rPr lang="en-US" sz="1867" dirty="0" err="1"/>
              <a:t>mengirimkan</a:t>
            </a:r>
            <a:r>
              <a:rPr lang="en-US" sz="1867" dirty="0"/>
              <a:t> data </a:t>
            </a:r>
            <a:r>
              <a:rPr lang="en-US" sz="1867" dirty="0" err="1"/>
              <a:t>dapat</a:t>
            </a:r>
            <a:r>
              <a:rPr lang="en-US" sz="1867" dirty="0"/>
              <a:t> </a:t>
            </a:r>
            <a:r>
              <a:rPr lang="en-US" sz="1867" dirty="0" err="1"/>
              <a:t>mempengaruhi</a:t>
            </a:r>
            <a:r>
              <a:rPr lang="en-US" sz="1867" dirty="0"/>
              <a:t> </a:t>
            </a:r>
            <a:r>
              <a:rPr lang="en-US" sz="1867" dirty="0" err="1"/>
              <a:t>efisiensi</a:t>
            </a:r>
            <a:r>
              <a:rPr lang="en-US" sz="1867" dirty="0"/>
              <a:t> </a:t>
            </a:r>
            <a:r>
              <a:rPr lang="en-US" sz="1867" dirty="0" err="1"/>
              <a:t>dan</a:t>
            </a:r>
            <a:r>
              <a:rPr lang="en-US" sz="1867" dirty="0"/>
              <a:t> </a:t>
            </a:r>
            <a:r>
              <a:rPr lang="en-US" sz="1867" dirty="0" err="1"/>
              <a:t>kecepatan</a:t>
            </a:r>
            <a:r>
              <a:rPr lang="en-US" sz="1867" dirty="0"/>
              <a:t> transfer.</a:t>
            </a:r>
          </a:p>
          <a:p>
            <a:r>
              <a:rPr lang="en-US" sz="1867" b="1" dirty="0"/>
              <a:t>5. Beban </a:t>
            </a:r>
            <a:r>
              <a:rPr lang="en-US" sz="1867" b="1" dirty="0" err="1"/>
              <a:t>jaringan</a:t>
            </a:r>
            <a:endParaRPr lang="en-US" sz="1867" b="1" dirty="0"/>
          </a:p>
          <a:p>
            <a:r>
              <a:rPr lang="en-US" sz="1867" dirty="0" err="1"/>
              <a:t>Semakin</a:t>
            </a:r>
            <a:r>
              <a:rPr lang="en-US" sz="1867" dirty="0"/>
              <a:t> </a:t>
            </a:r>
            <a:r>
              <a:rPr lang="en-US" sz="1867" dirty="0" err="1"/>
              <a:t>banyak</a:t>
            </a:r>
            <a:r>
              <a:rPr lang="en-US" sz="1867" dirty="0"/>
              <a:t> </a:t>
            </a:r>
            <a:r>
              <a:rPr lang="en-US" sz="1867" dirty="0" err="1"/>
              <a:t>perangkat</a:t>
            </a:r>
            <a:r>
              <a:rPr lang="en-US" sz="1867" dirty="0"/>
              <a:t> yang </a:t>
            </a:r>
            <a:r>
              <a:rPr lang="en-US" sz="1867" dirty="0" err="1"/>
              <a:t>menggunakan</a:t>
            </a:r>
            <a:r>
              <a:rPr lang="en-US" sz="1867" dirty="0"/>
              <a:t> </a:t>
            </a:r>
            <a:r>
              <a:rPr lang="en-US" sz="1867" dirty="0" err="1">
                <a:hlinkClick r:id="rId3" tooltip="jaringan komputer"/>
              </a:rPr>
              <a:t>jaringan</a:t>
            </a:r>
            <a:r>
              <a:rPr lang="en-US" sz="1867" dirty="0"/>
              <a:t>, </a:t>
            </a:r>
            <a:r>
              <a:rPr lang="en-US" sz="1867" dirty="0" err="1"/>
              <a:t>semakin</a:t>
            </a:r>
            <a:r>
              <a:rPr lang="en-US" sz="1867" dirty="0"/>
              <a:t> </a:t>
            </a:r>
            <a:r>
              <a:rPr lang="en-US" sz="1867" dirty="0" err="1"/>
              <a:t>rendah</a:t>
            </a:r>
            <a:r>
              <a:rPr lang="en-US" sz="1867" dirty="0"/>
              <a:t> </a:t>
            </a:r>
            <a:r>
              <a:rPr lang="en-US" sz="1867" i="1" dirty="0"/>
              <a:t>throughput</a:t>
            </a:r>
            <a:r>
              <a:rPr lang="en-US" sz="1867" dirty="0"/>
              <a:t> yang </a:t>
            </a:r>
            <a:r>
              <a:rPr lang="en-US" sz="1867" dirty="0" err="1"/>
              <a:t>dapat</a:t>
            </a:r>
            <a:r>
              <a:rPr lang="en-US" sz="1867" dirty="0"/>
              <a:t> </a:t>
            </a:r>
            <a:r>
              <a:rPr lang="en-US" sz="1867" dirty="0" err="1"/>
              <a:t>diharapkan</a:t>
            </a:r>
            <a:r>
              <a:rPr lang="en-US" sz="1867" dirty="0"/>
              <a:t>.</a:t>
            </a:r>
          </a:p>
          <a:p>
            <a:r>
              <a:rPr lang="en-US" sz="1867" b="1" dirty="0"/>
              <a:t>6. </a:t>
            </a:r>
            <a:r>
              <a:rPr lang="en-US" sz="1867" b="1" dirty="0" err="1"/>
              <a:t>Kualitas</a:t>
            </a:r>
            <a:r>
              <a:rPr lang="en-US" sz="1867" b="1" dirty="0"/>
              <a:t> </a:t>
            </a:r>
            <a:r>
              <a:rPr lang="en-US" sz="1867" b="1" dirty="0" err="1"/>
              <a:t>layanan</a:t>
            </a:r>
            <a:r>
              <a:rPr lang="en-US" sz="1867" b="1" dirty="0"/>
              <a:t> (</a:t>
            </a:r>
            <a:r>
              <a:rPr lang="en-US" sz="1867" b="1" dirty="0" err="1"/>
              <a:t>QoS</a:t>
            </a:r>
            <a:r>
              <a:rPr lang="en-US" sz="1867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619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0616" y="619840"/>
            <a:ext cx="1572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1200" b="1" dirty="0" err="1">
                <a:solidFill>
                  <a:srgbClr val="000000"/>
                </a:solidFill>
                <a:latin typeface="Source Sans Pro"/>
              </a:rPr>
              <a:t>Kinerja</a:t>
            </a:r>
            <a:r>
              <a:rPr lang="en-US" sz="1200" b="1" dirty="0">
                <a:solidFill>
                  <a:srgbClr val="000000"/>
                </a:solidFill>
                <a:latin typeface="Source Sans Pro"/>
              </a:rPr>
              <a:t> throughput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50" y="866061"/>
            <a:ext cx="11658601" cy="403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33" dirty="0"/>
              <a:t>Several factors can influence throughput, including:</a:t>
            </a:r>
          </a:p>
          <a:p>
            <a:pPr algn="just"/>
            <a:r>
              <a:rPr lang="en-US" sz="2133" b="1" dirty="0"/>
              <a:t>Bandwidth</a:t>
            </a:r>
            <a:r>
              <a:rPr lang="en-US" sz="2133" dirty="0"/>
              <a:t>: Bandwidth is the maximum capacity of a network connection to transfer data. Higher bandwidth typically enables higher throughput. However, bandwidth is only a potential rate, and the actual throughput could be lower due to other factors.</a:t>
            </a:r>
          </a:p>
          <a:p>
            <a:pPr algn="just"/>
            <a:r>
              <a:rPr lang="en-US" sz="2133" b="1" dirty="0"/>
              <a:t>Latency</a:t>
            </a:r>
            <a:r>
              <a:rPr lang="en-US" sz="2133" dirty="0"/>
              <a:t>: Higher network latency can reduce throughput because it takes longer for data packets to travel across the network.</a:t>
            </a:r>
          </a:p>
          <a:p>
            <a:pPr algn="just"/>
            <a:r>
              <a:rPr lang="en-US" sz="2133" b="1" dirty="0"/>
              <a:t>Packet loss</a:t>
            </a:r>
            <a:r>
              <a:rPr lang="en-US" sz="2133" dirty="0"/>
              <a:t>: When data packets fail to reach their destination, the sending device often needs to resend them, which can lower the overall throughput.</a:t>
            </a:r>
          </a:p>
          <a:p>
            <a:pPr algn="just"/>
            <a:r>
              <a:rPr lang="en-US" sz="2133" b="1" dirty="0"/>
              <a:t>Network congestion</a:t>
            </a:r>
            <a:r>
              <a:rPr lang="en-US" sz="2133" dirty="0"/>
              <a:t>: When many data packets are trying to travel over the network simultaneously, it can lead to congestion and a decrease in throughput.</a:t>
            </a:r>
          </a:p>
          <a:p>
            <a:pPr algn="just"/>
            <a:r>
              <a:rPr lang="en-US" sz="2133" b="1" dirty="0"/>
              <a:t>Hardware and infrastructure</a:t>
            </a:r>
            <a:r>
              <a:rPr lang="en-US" sz="2133" dirty="0"/>
              <a:t>: The performance and efficiency of network hardware, such as routers and switches, can impact throughput.</a:t>
            </a:r>
          </a:p>
        </p:txBody>
      </p:sp>
    </p:spTree>
    <p:extLst>
      <p:ext uri="{BB962C8B-B14F-4D97-AF65-F5344CB8AC3E}">
        <p14:creationId xmlns:p14="http://schemas.microsoft.com/office/powerpoint/2010/main" val="327922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rbedaan Throughput dan Bandwidt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68" y="628651"/>
            <a:ext cx="3458633" cy="2324099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4343398" y="881148"/>
          <a:ext cx="7391402" cy="4433803"/>
        </p:xfrm>
        <a:graphic>
          <a:graphicData uri="http://schemas.openxmlformats.org/drawingml/2006/table">
            <a:tbl>
              <a:tblPr/>
              <a:tblGrid>
                <a:gridCol w="3695701">
                  <a:extLst>
                    <a:ext uri="{9D8B030D-6E8A-4147-A177-3AD203B41FA5}">
                      <a16:colId xmlns:a16="http://schemas.microsoft.com/office/drawing/2014/main" val="53127183"/>
                    </a:ext>
                  </a:extLst>
                </a:gridCol>
                <a:gridCol w="3695701">
                  <a:extLst>
                    <a:ext uri="{9D8B030D-6E8A-4147-A177-3AD203B41FA5}">
                      <a16:colId xmlns:a16="http://schemas.microsoft.com/office/drawing/2014/main" val="2151806284"/>
                    </a:ext>
                  </a:extLst>
                </a:gridCol>
              </a:tblGrid>
              <a:tr h="348585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Bandwidth</a:t>
                      </a:r>
                      <a:endParaRPr lang="en-US" sz="1600">
                        <a:effectLst/>
                      </a:endParaRPr>
                    </a:p>
                  </a:txBody>
                  <a:tcPr marL="60441" marR="60441" marT="30221" marB="30221" anchor="ctr">
                    <a:lnL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Throughput</a:t>
                      </a:r>
                      <a:endParaRPr lang="en-US" sz="1600">
                        <a:effectLst/>
                      </a:endParaRPr>
                    </a:p>
                  </a:txBody>
                  <a:tcPr marL="60441" marR="60441" marT="30221" marB="30221" anchor="ctr">
                    <a:lnL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130641"/>
                  </a:ext>
                </a:extLst>
              </a:tr>
              <a:tr h="1454061">
                <a:tc>
                  <a:txBody>
                    <a:bodyPr/>
                    <a:lstStyle/>
                    <a:p>
                      <a:r>
                        <a:rPr lang="nn-NO" sz="1600" i="1">
                          <a:effectLst/>
                        </a:rPr>
                        <a:t>Bandwidth </a:t>
                      </a:r>
                      <a:r>
                        <a:rPr lang="nn-NO" sz="1600">
                          <a:effectLst/>
                        </a:rPr>
                        <a:t>adalah data maksimal yang</a:t>
                      </a:r>
                      <a:br>
                        <a:rPr lang="nn-NO" sz="1600">
                          <a:effectLst/>
                        </a:rPr>
                      </a:br>
                      <a:r>
                        <a:rPr lang="nn-NO" sz="1600">
                          <a:effectLst/>
                        </a:rPr>
                        <a:t>dapat ditransmisikan melalui koneksi</a:t>
                      </a:r>
                      <a:br>
                        <a:rPr lang="nn-NO" sz="1600">
                          <a:effectLst/>
                        </a:rPr>
                      </a:br>
                      <a:r>
                        <a:rPr lang="nn-NO" sz="1600">
                          <a:effectLst/>
                        </a:rPr>
                        <a:t>internet sepanjang waktu.</a:t>
                      </a:r>
                    </a:p>
                  </a:txBody>
                  <a:tcPr marL="60441" marR="60441" marT="30221" marB="30221" anchor="ctr">
                    <a:lnL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effectLst/>
                        </a:rPr>
                        <a:t>Throughput</a:t>
                      </a:r>
                      <a:r>
                        <a:rPr lang="en-US" sz="1600">
                          <a:effectLst/>
                        </a:rPr>
                        <a:t> lebih pada nilai data yang</a:t>
                      </a:r>
                      <a:br>
                        <a:rPr lang="en-US" sz="1600">
                          <a:effectLst/>
                        </a:rPr>
                      </a:br>
                      <a:r>
                        <a:rPr lang="en-US" sz="1600">
                          <a:effectLst/>
                        </a:rPr>
                        <a:t>sesungguhnya dalam transmisi dan</a:t>
                      </a:r>
                      <a:br>
                        <a:rPr lang="en-US" sz="1600">
                          <a:effectLst/>
                        </a:rPr>
                      </a:br>
                      <a:r>
                        <a:rPr lang="en-US" sz="1600">
                          <a:effectLst/>
                        </a:rPr>
                        <a:t>proses disisi network.</a:t>
                      </a:r>
                    </a:p>
                  </a:txBody>
                  <a:tcPr marL="60441" marR="60441" marT="30221" marB="30221" anchor="ctr">
                    <a:lnL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600726"/>
                  </a:ext>
                </a:extLst>
              </a:tr>
              <a:tr h="1731024">
                <a:tc>
                  <a:txBody>
                    <a:bodyPr/>
                    <a:lstStyle/>
                    <a:p>
                      <a:r>
                        <a:rPr lang="fi-FI" sz="1600" i="1">
                          <a:effectLst/>
                        </a:rPr>
                        <a:t>Bandwidth </a:t>
                      </a:r>
                      <a:r>
                        <a:rPr lang="fi-FI" sz="1600">
                          <a:effectLst/>
                        </a:rPr>
                        <a:t>berkaitan dengan teori</a:t>
                      </a:r>
                      <a:br>
                        <a:rPr lang="fi-FI" sz="1600">
                          <a:effectLst/>
                        </a:rPr>
                      </a:br>
                      <a:r>
                        <a:rPr lang="fi-FI" sz="1600">
                          <a:effectLst/>
                        </a:rPr>
                        <a:t>kecepatan maksimal dari koneksi.</a:t>
                      </a:r>
                    </a:p>
                  </a:txBody>
                  <a:tcPr marL="60441" marR="60441" marT="30221" marB="30221" anchor="ctr">
                    <a:lnL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Sedangkan </a:t>
                      </a:r>
                      <a:r>
                        <a:rPr lang="en-US" sz="1600" i="1">
                          <a:effectLst/>
                        </a:rPr>
                        <a:t>Throughput </a:t>
                      </a:r>
                      <a:r>
                        <a:rPr lang="en-US" sz="1600">
                          <a:effectLst/>
                        </a:rPr>
                        <a:t>adalah</a:t>
                      </a:r>
                      <a:br>
                        <a:rPr lang="en-US" sz="1600">
                          <a:effectLst/>
                        </a:rPr>
                      </a:br>
                      <a:r>
                        <a:rPr lang="en-US" sz="1600">
                          <a:effectLst/>
                        </a:rPr>
                        <a:t>gambaran sebenarnya dari kecepatan</a:t>
                      </a:r>
                      <a:br>
                        <a:rPr lang="en-US" sz="1600">
                          <a:effectLst/>
                        </a:rPr>
                      </a:br>
                      <a:r>
                        <a:rPr lang="en-US" sz="1600">
                          <a:effectLst/>
                        </a:rPr>
                        <a:t>data yang sedang berlangsung.</a:t>
                      </a:r>
                    </a:p>
                  </a:txBody>
                  <a:tcPr marL="60441" marR="60441" marT="30221" marB="30221" anchor="ctr">
                    <a:lnL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896624"/>
                  </a:ext>
                </a:extLst>
              </a:tr>
              <a:tr h="900133">
                <a:tc>
                  <a:txBody>
                    <a:bodyPr/>
                    <a:lstStyle/>
                    <a:p>
                      <a:r>
                        <a:rPr lang="en-US" sz="1600" i="1">
                          <a:effectLst/>
                        </a:rPr>
                        <a:t>Bandwidth </a:t>
                      </a:r>
                      <a:r>
                        <a:rPr lang="en-US" sz="1600">
                          <a:effectLst/>
                        </a:rPr>
                        <a:t>dapat dimulai dari bit /detik (bps). </a:t>
                      </a:r>
                    </a:p>
                  </a:txBody>
                  <a:tcPr marL="60441" marR="60441" marT="30221" marB="30221" anchor="ctr">
                    <a:lnL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81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effectLst/>
                        </a:rPr>
                        <a:t>Throughput </a:t>
                      </a:r>
                      <a:r>
                        <a:rPr lang="en-US" sz="1600" dirty="0" err="1">
                          <a:effectLst/>
                        </a:rPr>
                        <a:t>dimulai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dari</a:t>
                      </a:r>
                      <a:r>
                        <a:rPr lang="en-US" sz="1600" dirty="0">
                          <a:effectLst/>
                        </a:rPr>
                        <a:t> bit /</a:t>
                      </a:r>
                      <a:r>
                        <a:rPr lang="en-US" sz="1600" dirty="0" err="1">
                          <a:effectLst/>
                        </a:rPr>
                        <a:t>detik</a:t>
                      </a:r>
                      <a:r>
                        <a:rPr lang="en-US" sz="1600" dirty="0">
                          <a:effectLst/>
                        </a:rPr>
                        <a:t> (bps)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 err="1">
                          <a:effectLst/>
                        </a:rPr>
                        <a:t>atau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paket</a:t>
                      </a:r>
                      <a:r>
                        <a:rPr lang="en-US" sz="1600" dirty="0">
                          <a:effectLst/>
                        </a:rPr>
                        <a:t> /</a:t>
                      </a:r>
                      <a:r>
                        <a:rPr lang="en-US" sz="1600" dirty="0" err="1">
                          <a:effectLst/>
                        </a:rPr>
                        <a:t>detik</a:t>
                      </a:r>
                      <a:r>
                        <a:rPr lang="en-US" sz="1600" dirty="0">
                          <a:effectLst/>
                        </a:rPr>
                        <a:t> (</a:t>
                      </a:r>
                      <a:r>
                        <a:rPr lang="en-US" sz="1600" dirty="0" err="1">
                          <a:effectLst/>
                        </a:rPr>
                        <a:t>pps</a:t>
                      </a:r>
                      <a:r>
                        <a:rPr lang="en-US" sz="1600" dirty="0">
                          <a:effectLst/>
                        </a:rPr>
                        <a:t>).</a:t>
                      </a:r>
                    </a:p>
                  </a:txBody>
                  <a:tcPr marL="60441" marR="60441" marT="30221" marB="30221" anchor="ctr">
                    <a:lnL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81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978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34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0616" y="619840"/>
            <a:ext cx="1572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1200" b="1" dirty="0" err="1">
                <a:solidFill>
                  <a:srgbClr val="000000"/>
                </a:solidFill>
                <a:latin typeface="Source Sans Pro"/>
              </a:rPr>
              <a:t>Kinerja</a:t>
            </a:r>
            <a:r>
              <a:rPr lang="en-US" sz="1200" b="1" dirty="0">
                <a:solidFill>
                  <a:srgbClr val="000000"/>
                </a:solidFill>
                <a:latin typeface="Source Sans Pro"/>
              </a:rPr>
              <a:t> throughput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50" y="866061"/>
            <a:ext cx="11658601" cy="5672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33" dirty="0" err="1"/>
              <a:t>Jika</a:t>
            </a:r>
            <a:r>
              <a:rPr lang="en-US" sz="2133" dirty="0"/>
              <a:t> bandwidth </a:t>
            </a:r>
            <a:r>
              <a:rPr lang="en-US" sz="2133" dirty="0" err="1"/>
              <a:t>merupakan</a:t>
            </a:r>
            <a:r>
              <a:rPr lang="en-US" sz="2133" dirty="0"/>
              <a:t> </a:t>
            </a:r>
            <a:r>
              <a:rPr lang="en-US" sz="2133" dirty="0" err="1"/>
              <a:t>batas</a:t>
            </a:r>
            <a:r>
              <a:rPr lang="en-US" sz="2133" dirty="0"/>
              <a:t> </a:t>
            </a:r>
            <a:r>
              <a:rPr lang="en-US" sz="2133" dirty="0" err="1"/>
              <a:t>maksimal</a:t>
            </a:r>
            <a:r>
              <a:rPr lang="en-US" sz="2133" dirty="0"/>
              <a:t> data yang </a:t>
            </a:r>
            <a:r>
              <a:rPr lang="en-US" sz="2133" dirty="0" err="1"/>
              <a:t>bisa</a:t>
            </a:r>
            <a:r>
              <a:rPr lang="en-US" sz="2133" dirty="0"/>
              <a:t> </a:t>
            </a:r>
            <a:r>
              <a:rPr lang="en-US" sz="2133" dirty="0" err="1"/>
              <a:t>ditampung</a:t>
            </a:r>
            <a:r>
              <a:rPr lang="en-US" sz="2133" dirty="0"/>
              <a:t>, </a:t>
            </a:r>
            <a:r>
              <a:rPr lang="en-US" sz="2133" dirty="0" err="1"/>
              <a:t>maka</a:t>
            </a:r>
            <a:r>
              <a:rPr lang="en-US" sz="2133" dirty="0"/>
              <a:t> throughput </a:t>
            </a:r>
            <a:r>
              <a:rPr lang="en-US" sz="2133" dirty="0" err="1"/>
              <a:t>adalah</a:t>
            </a:r>
            <a:r>
              <a:rPr lang="en-US" sz="2133" dirty="0"/>
              <a:t> data yang </a:t>
            </a:r>
            <a:r>
              <a:rPr lang="en-US" sz="2133" dirty="0" err="1"/>
              <a:t>asli</a:t>
            </a:r>
            <a:r>
              <a:rPr lang="en-US" sz="2133" dirty="0"/>
              <a:t>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sebenarnya</a:t>
            </a:r>
            <a:r>
              <a:rPr lang="en-US" sz="2133" dirty="0"/>
              <a:t> yang </a:t>
            </a:r>
            <a:r>
              <a:rPr lang="en-US" sz="2133" dirty="0" err="1"/>
              <a:t>ada</a:t>
            </a:r>
            <a:r>
              <a:rPr lang="en-US" sz="2133" dirty="0"/>
              <a:t> di </a:t>
            </a:r>
            <a:r>
              <a:rPr lang="en-US" sz="2133" dirty="0" err="1"/>
              <a:t>dalam</a:t>
            </a:r>
            <a:r>
              <a:rPr lang="en-US" sz="2133" dirty="0"/>
              <a:t> </a:t>
            </a:r>
            <a:r>
              <a:rPr lang="en-US" sz="2133" dirty="0" err="1"/>
              <a:t>transmisi</a:t>
            </a:r>
            <a:r>
              <a:rPr lang="en-US" sz="2133" dirty="0"/>
              <a:t> </a:t>
            </a:r>
            <a:r>
              <a:rPr lang="en-US" sz="2133" dirty="0" err="1"/>
              <a:t>tersebut</a:t>
            </a:r>
            <a:r>
              <a:rPr lang="en-US" sz="2133" dirty="0"/>
              <a:t>.</a:t>
            </a:r>
          </a:p>
          <a:p>
            <a:pPr algn="just"/>
            <a:r>
              <a:rPr lang="en-US" sz="2133" dirty="0"/>
              <a:t> </a:t>
            </a:r>
            <a:r>
              <a:rPr lang="en-US" sz="2133" dirty="0" err="1"/>
              <a:t>Sebagai</a:t>
            </a:r>
            <a:r>
              <a:rPr lang="en-US" sz="2133" dirty="0"/>
              <a:t> </a:t>
            </a:r>
            <a:r>
              <a:rPr lang="en-US" sz="2133" dirty="0" err="1"/>
              <a:t>contoh</a:t>
            </a:r>
            <a:r>
              <a:rPr lang="en-US" sz="2133" dirty="0"/>
              <a:t>, </a:t>
            </a:r>
            <a:r>
              <a:rPr lang="en-US" sz="2133" dirty="0" err="1"/>
              <a:t>ketika</a:t>
            </a:r>
            <a:r>
              <a:rPr lang="en-US" sz="2133" dirty="0"/>
              <a:t> </a:t>
            </a:r>
            <a:r>
              <a:rPr lang="en-US" sz="2133" dirty="0" err="1"/>
              <a:t>menggunakan</a:t>
            </a:r>
            <a:r>
              <a:rPr lang="en-US" sz="2133" dirty="0"/>
              <a:t> internet </a:t>
            </a:r>
            <a:r>
              <a:rPr lang="en-US" sz="2133" dirty="0" err="1"/>
              <a:t>dengan</a:t>
            </a:r>
            <a:r>
              <a:rPr lang="en-US" sz="2133" dirty="0"/>
              <a:t> bandwidth </a:t>
            </a:r>
            <a:r>
              <a:rPr lang="en-US" sz="2133" dirty="0" err="1"/>
              <a:t>sebesar</a:t>
            </a:r>
            <a:r>
              <a:rPr lang="en-US" sz="2133" dirty="0"/>
              <a:t> 5 Mbps, </a:t>
            </a:r>
            <a:r>
              <a:rPr lang="en-US" sz="2133" dirty="0" err="1"/>
              <a:t>namun</a:t>
            </a:r>
            <a:r>
              <a:rPr lang="en-US" sz="2133" dirty="0"/>
              <a:t> </a:t>
            </a:r>
            <a:r>
              <a:rPr lang="en-US" sz="2133" dirty="0" err="1"/>
              <a:t>ingin</a:t>
            </a:r>
            <a:r>
              <a:rPr lang="en-US" sz="2133" dirty="0"/>
              <a:t> </a:t>
            </a:r>
            <a:r>
              <a:rPr lang="en-US" sz="2133" dirty="0" err="1"/>
              <a:t>mengunduh</a:t>
            </a:r>
            <a:r>
              <a:rPr lang="en-US" sz="2133" dirty="0"/>
              <a:t> file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kecepatan</a:t>
            </a:r>
            <a:r>
              <a:rPr lang="en-US" sz="2133" dirty="0"/>
              <a:t> </a:t>
            </a:r>
            <a:r>
              <a:rPr lang="en-US" sz="2133" dirty="0" err="1"/>
              <a:t>sebesar</a:t>
            </a:r>
            <a:r>
              <a:rPr lang="en-US" sz="2133" dirty="0"/>
              <a:t> 4,2 Mbps. </a:t>
            </a:r>
            <a:r>
              <a:rPr lang="en-US" sz="2133" dirty="0" err="1"/>
              <a:t>Inilah</a:t>
            </a:r>
            <a:r>
              <a:rPr lang="en-US" sz="2133" dirty="0"/>
              <a:t> yang </a:t>
            </a:r>
            <a:r>
              <a:rPr lang="en-US" sz="2133" dirty="0" err="1"/>
              <a:t>termasuk</a:t>
            </a:r>
            <a:r>
              <a:rPr lang="en-US" sz="2133" dirty="0"/>
              <a:t> </a:t>
            </a:r>
            <a:r>
              <a:rPr lang="en-US" sz="2133" dirty="0" err="1"/>
              <a:t>ke</a:t>
            </a:r>
            <a:r>
              <a:rPr lang="en-US" sz="2133" dirty="0"/>
              <a:t> </a:t>
            </a:r>
            <a:r>
              <a:rPr lang="en-US" sz="2133" dirty="0" err="1"/>
              <a:t>dalam</a:t>
            </a:r>
            <a:r>
              <a:rPr lang="en-US" sz="2133" dirty="0"/>
              <a:t> throughput. </a:t>
            </a:r>
            <a:r>
              <a:rPr lang="en-US" sz="2133" dirty="0" err="1"/>
              <a:t>Maksudnya</a:t>
            </a:r>
            <a:r>
              <a:rPr lang="en-US" sz="2133" dirty="0"/>
              <a:t>, throughput </a:t>
            </a:r>
            <a:r>
              <a:rPr lang="en-US" sz="2133" dirty="0" err="1"/>
              <a:t>merupakan</a:t>
            </a:r>
            <a:r>
              <a:rPr lang="en-US" sz="2133" dirty="0"/>
              <a:t> </a:t>
            </a:r>
            <a:r>
              <a:rPr lang="en-US" sz="2133" dirty="0" err="1"/>
              <a:t>kecepatan</a:t>
            </a:r>
            <a:r>
              <a:rPr lang="en-US" sz="2133" dirty="0"/>
              <a:t> </a:t>
            </a:r>
            <a:r>
              <a:rPr lang="en-US" sz="2133" dirty="0" err="1"/>
              <a:t>asli</a:t>
            </a:r>
            <a:r>
              <a:rPr lang="en-US" sz="2133" dirty="0"/>
              <a:t> </a:t>
            </a:r>
            <a:r>
              <a:rPr lang="en-US" sz="2133" dirty="0" err="1"/>
              <a:t>dari</a:t>
            </a:r>
            <a:r>
              <a:rPr lang="en-US" sz="2133" dirty="0"/>
              <a:t> </a:t>
            </a:r>
            <a:r>
              <a:rPr lang="en-US" sz="2133" dirty="0" err="1"/>
              <a:t>transmisi</a:t>
            </a:r>
            <a:r>
              <a:rPr lang="en-US" sz="2133" dirty="0"/>
              <a:t> yang </a:t>
            </a:r>
            <a:r>
              <a:rPr lang="en-US" sz="2133" dirty="0" err="1"/>
              <a:t>dikirimkan</a:t>
            </a:r>
            <a:r>
              <a:rPr lang="en-US" sz="2133" dirty="0"/>
              <a:t>. Throughput </a:t>
            </a:r>
            <a:r>
              <a:rPr lang="en-US" sz="2133" dirty="0" err="1"/>
              <a:t>akan</a:t>
            </a:r>
            <a:r>
              <a:rPr lang="en-US" sz="2133" dirty="0"/>
              <a:t> </a:t>
            </a:r>
            <a:r>
              <a:rPr lang="en-US" sz="2133" dirty="0" err="1"/>
              <a:t>selalu</a:t>
            </a:r>
            <a:r>
              <a:rPr lang="en-US" sz="2133" dirty="0"/>
              <a:t> </a:t>
            </a:r>
            <a:r>
              <a:rPr lang="en-US" sz="2133" dirty="0" err="1"/>
              <a:t>lebih</a:t>
            </a:r>
            <a:r>
              <a:rPr lang="en-US" sz="2133" dirty="0"/>
              <a:t> </a:t>
            </a:r>
            <a:r>
              <a:rPr lang="en-US" sz="2133" dirty="0" err="1"/>
              <a:t>kecil</a:t>
            </a:r>
            <a:r>
              <a:rPr lang="en-US" sz="2133" dirty="0"/>
              <a:t> </a:t>
            </a:r>
            <a:r>
              <a:rPr lang="en-US" sz="2133" dirty="0" err="1"/>
              <a:t>dibandingkan</a:t>
            </a:r>
            <a:r>
              <a:rPr lang="en-US" sz="2133" dirty="0"/>
              <a:t> </a:t>
            </a:r>
            <a:r>
              <a:rPr lang="en-US" sz="2133" dirty="0" err="1"/>
              <a:t>dengan</a:t>
            </a:r>
            <a:r>
              <a:rPr lang="en-US" sz="2133" dirty="0"/>
              <a:t> bandwidth.</a:t>
            </a:r>
          </a:p>
          <a:p>
            <a:pPr algn="just"/>
            <a:r>
              <a:rPr lang="en-US" sz="2133" dirty="0"/>
              <a:t> </a:t>
            </a:r>
            <a:r>
              <a:rPr lang="en-US" sz="2133" dirty="0" err="1"/>
              <a:t>Contoh</a:t>
            </a:r>
            <a:r>
              <a:rPr lang="en-US" sz="2133" dirty="0"/>
              <a:t> lain yang </a:t>
            </a:r>
            <a:r>
              <a:rPr lang="en-US" sz="2133" dirty="0" err="1"/>
              <a:t>juga</a:t>
            </a:r>
            <a:r>
              <a:rPr lang="en-US" sz="2133" dirty="0"/>
              <a:t> </a:t>
            </a:r>
            <a:r>
              <a:rPr lang="en-US" sz="2133" dirty="0" err="1"/>
              <a:t>bisa</a:t>
            </a:r>
            <a:r>
              <a:rPr lang="en-US" sz="2133" dirty="0"/>
              <a:t> </a:t>
            </a:r>
            <a:r>
              <a:rPr lang="en-US" sz="2133" dirty="0" err="1"/>
              <a:t>adalah</a:t>
            </a:r>
            <a:r>
              <a:rPr lang="en-US" sz="2133" dirty="0"/>
              <a:t> </a:t>
            </a:r>
            <a:r>
              <a:rPr lang="en-US" sz="2133" dirty="0" err="1"/>
              <a:t>ketika</a:t>
            </a:r>
            <a:r>
              <a:rPr lang="en-US" sz="2133" dirty="0"/>
              <a:t> </a:t>
            </a:r>
            <a:r>
              <a:rPr lang="en-US" sz="2133" dirty="0" err="1"/>
              <a:t>sedang</a:t>
            </a:r>
            <a:r>
              <a:rPr lang="en-US" sz="2133" dirty="0"/>
              <a:t> </a:t>
            </a:r>
            <a:r>
              <a:rPr lang="en-US" sz="2133" dirty="0" err="1"/>
              <a:t>terhubung</a:t>
            </a:r>
            <a:r>
              <a:rPr lang="en-US" sz="2133" dirty="0"/>
              <a:t> </a:t>
            </a:r>
            <a:r>
              <a:rPr lang="en-US" sz="2133" dirty="0" err="1"/>
              <a:t>ke</a:t>
            </a:r>
            <a:r>
              <a:rPr lang="en-US" sz="2133" dirty="0"/>
              <a:t> internet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besaran</a:t>
            </a:r>
            <a:r>
              <a:rPr lang="en-US" sz="2133" dirty="0"/>
              <a:t> bandwidth-</a:t>
            </a:r>
            <a:r>
              <a:rPr lang="en-US" sz="2133" dirty="0" err="1"/>
              <a:t>nya</a:t>
            </a:r>
            <a:r>
              <a:rPr lang="en-US" sz="2133" dirty="0"/>
              <a:t> </a:t>
            </a:r>
            <a:r>
              <a:rPr lang="en-US" sz="2133" dirty="0" err="1"/>
              <a:t>sebesar</a:t>
            </a:r>
            <a:r>
              <a:rPr lang="en-US" sz="2133" dirty="0"/>
              <a:t> 4 Mbps. </a:t>
            </a:r>
            <a:r>
              <a:rPr lang="en-US" sz="2133" dirty="0" err="1"/>
              <a:t>Ketika</a:t>
            </a:r>
            <a:r>
              <a:rPr lang="en-US" sz="2133" dirty="0"/>
              <a:t> </a:t>
            </a:r>
            <a:r>
              <a:rPr lang="en-US" sz="2133" dirty="0" err="1"/>
              <a:t>ingin</a:t>
            </a:r>
            <a:r>
              <a:rPr lang="en-US" sz="2133" dirty="0"/>
              <a:t> </a:t>
            </a:r>
            <a:r>
              <a:rPr lang="en-US" sz="2133" dirty="0" err="1"/>
              <a:t>mendownload</a:t>
            </a:r>
            <a:r>
              <a:rPr lang="en-US" sz="2133" dirty="0"/>
              <a:t> file yang </a:t>
            </a:r>
            <a:r>
              <a:rPr lang="en-US" sz="2133" dirty="0" err="1"/>
              <a:t>memiliki</a:t>
            </a:r>
            <a:r>
              <a:rPr lang="en-US" sz="2133" dirty="0"/>
              <a:t> </a:t>
            </a:r>
            <a:r>
              <a:rPr lang="en-US" sz="2133" dirty="0" err="1"/>
              <a:t>kapasitas</a:t>
            </a:r>
            <a:r>
              <a:rPr lang="en-US" sz="2133" dirty="0"/>
              <a:t> 12 MB, </a:t>
            </a:r>
            <a:r>
              <a:rPr lang="en-US" sz="2133" dirty="0" err="1"/>
              <a:t>ternyata</a:t>
            </a:r>
            <a:r>
              <a:rPr lang="en-US" sz="2133" dirty="0"/>
              <a:t> file </a:t>
            </a:r>
            <a:r>
              <a:rPr lang="en-US" sz="2133" dirty="0" err="1"/>
              <a:t>tersebut</a:t>
            </a:r>
            <a:r>
              <a:rPr lang="en-US" sz="2133" dirty="0"/>
              <a:t> </a:t>
            </a:r>
            <a:r>
              <a:rPr lang="en-US" sz="2133" dirty="0" err="1"/>
              <a:t>telah</a:t>
            </a:r>
            <a:r>
              <a:rPr lang="en-US" sz="2133" dirty="0"/>
              <a:t> </a:t>
            </a:r>
            <a:r>
              <a:rPr lang="en-US" sz="2133" dirty="0" err="1"/>
              <a:t>ter</a:t>
            </a:r>
            <a:r>
              <a:rPr lang="en-US" sz="2133" dirty="0"/>
              <a:t>-download </a:t>
            </a:r>
            <a:r>
              <a:rPr lang="en-US" sz="2133" dirty="0" err="1"/>
              <a:t>dalam</a:t>
            </a:r>
            <a:r>
              <a:rPr lang="en-US" sz="2133" dirty="0"/>
              <a:t> </a:t>
            </a:r>
            <a:r>
              <a:rPr lang="en-US" sz="2133" dirty="0" err="1"/>
              <a:t>waktu</a:t>
            </a:r>
            <a:r>
              <a:rPr lang="en-US" sz="2133" dirty="0"/>
              <a:t> 12 </a:t>
            </a:r>
            <a:r>
              <a:rPr lang="en-US" sz="2133" dirty="0" err="1"/>
              <a:t>detik</a:t>
            </a:r>
            <a:r>
              <a:rPr lang="en-US" sz="2133" dirty="0"/>
              <a:t>. </a:t>
            </a:r>
            <a:r>
              <a:rPr lang="en-US" sz="2133" dirty="0" err="1"/>
              <a:t>Lalu</a:t>
            </a:r>
            <a:r>
              <a:rPr lang="en-US" sz="2133" dirty="0"/>
              <a:t> </a:t>
            </a:r>
            <a:r>
              <a:rPr lang="en-US" sz="2133" dirty="0" err="1"/>
              <a:t>berapa</a:t>
            </a:r>
            <a:r>
              <a:rPr lang="en-US" sz="2133" dirty="0"/>
              <a:t> throughput-</a:t>
            </a:r>
            <a:r>
              <a:rPr lang="en-US" sz="2133" dirty="0" err="1"/>
              <a:t>nya</a:t>
            </a:r>
            <a:r>
              <a:rPr lang="en-US" sz="2133" dirty="0"/>
              <a:t>? </a:t>
            </a:r>
            <a:r>
              <a:rPr lang="en-US" sz="2133" dirty="0" err="1"/>
              <a:t>Jawabannya</a:t>
            </a:r>
            <a:r>
              <a:rPr lang="en-US" sz="2133" dirty="0"/>
              <a:t> </a:t>
            </a:r>
            <a:r>
              <a:rPr lang="en-US" sz="2133" dirty="0" err="1"/>
              <a:t>adalah</a:t>
            </a:r>
            <a:r>
              <a:rPr lang="en-US" sz="2133" dirty="0"/>
              <a:t> 12/6 yang </a:t>
            </a:r>
            <a:r>
              <a:rPr lang="en-US" sz="2133" dirty="0" err="1"/>
              <a:t>hasilnya</a:t>
            </a:r>
            <a:r>
              <a:rPr lang="en-US" sz="2133" dirty="0"/>
              <a:t> 2 Mbps.</a:t>
            </a:r>
          </a:p>
          <a:p>
            <a:pPr algn="just"/>
            <a:endParaRPr lang="en-US" sz="2133" dirty="0"/>
          </a:p>
          <a:p>
            <a:pPr algn="just"/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itu</a:t>
            </a:r>
            <a:r>
              <a:rPr lang="en-US" sz="2133" dirty="0"/>
              <a:t>, </a:t>
            </a:r>
            <a:r>
              <a:rPr lang="en-US" sz="2133" dirty="0" err="1"/>
              <a:t>bila</a:t>
            </a:r>
            <a:r>
              <a:rPr lang="en-US" sz="2133" dirty="0"/>
              <a:t> </a:t>
            </a:r>
            <a:r>
              <a:rPr lang="en-US" sz="2133" dirty="0" err="1"/>
              <a:t>Anda</a:t>
            </a:r>
            <a:r>
              <a:rPr lang="en-US" sz="2133" dirty="0"/>
              <a:t> </a:t>
            </a:r>
            <a:r>
              <a:rPr lang="en-US" sz="2133" dirty="0" err="1"/>
              <a:t>hendak</a:t>
            </a:r>
            <a:r>
              <a:rPr lang="en-US" sz="2133" dirty="0"/>
              <a:t> </a:t>
            </a:r>
            <a:r>
              <a:rPr lang="en-US" sz="2133" dirty="0" err="1"/>
              <a:t>berlangganan</a:t>
            </a:r>
            <a:r>
              <a:rPr lang="en-US" sz="2133" dirty="0"/>
              <a:t> cloud server, </a:t>
            </a:r>
            <a:r>
              <a:rPr lang="en-US" sz="2133" dirty="0" err="1"/>
              <a:t>pastikan</a:t>
            </a:r>
            <a:r>
              <a:rPr lang="en-US" sz="2133" dirty="0"/>
              <a:t> </a:t>
            </a:r>
            <a:r>
              <a:rPr lang="en-US" sz="2133" dirty="0" err="1"/>
              <a:t>telah</a:t>
            </a:r>
            <a:r>
              <a:rPr lang="en-US" sz="2133" dirty="0"/>
              <a:t> </a:t>
            </a:r>
            <a:r>
              <a:rPr lang="en-US" sz="2133" dirty="0" err="1"/>
              <a:t>tersedia</a:t>
            </a:r>
            <a:r>
              <a:rPr lang="en-US" sz="2133" dirty="0"/>
              <a:t> </a:t>
            </a:r>
            <a:r>
              <a:rPr lang="en-US" sz="2133" dirty="0" err="1"/>
              <a:t>paket</a:t>
            </a:r>
            <a:r>
              <a:rPr lang="en-US" sz="2133" dirty="0"/>
              <a:t> cloud server </a:t>
            </a:r>
            <a:r>
              <a:rPr lang="en-US" sz="2133" dirty="0" err="1"/>
              <a:t>dengan</a:t>
            </a:r>
            <a:r>
              <a:rPr lang="en-US" sz="2133" dirty="0"/>
              <a:t> bandwidth yang </a:t>
            </a:r>
            <a:r>
              <a:rPr lang="en-US" sz="2133" dirty="0" err="1"/>
              <a:t>cukup</a:t>
            </a:r>
            <a:r>
              <a:rPr lang="en-US" sz="2133" dirty="0"/>
              <a:t> </a:t>
            </a:r>
            <a:r>
              <a:rPr lang="en-US" sz="2133" dirty="0" err="1"/>
              <a:t>besar</a:t>
            </a:r>
            <a:r>
              <a:rPr lang="en-US" sz="2133" dirty="0"/>
              <a:t>, </a:t>
            </a:r>
            <a:r>
              <a:rPr lang="en-US" sz="2133" dirty="0" err="1"/>
              <a:t>misalnya</a:t>
            </a:r>
            <a:r>
              <a:rPr lang="en-US" sz="2133" dirty="0"/>
              <a:t> 10 </a:t>
            </a:r>
            <a:r>
              <a:rPr lang="en-US" sz="2133" dirty="0" err="1"/>
              <a:t>Gbps</a:t>
            </a:r>
            <a:r>
              <a:rPr lang="en-US" sz="2133" dirty="0"/>
              <a:t>. </a:t>
            </a:r>
            <a:r>
              <a:rPr lang="en-US" sz="2133" dirty="0" err="1"/>
              <a:t>Melansir</a:t>
            </a:r>
            <a:r>
              <a:rPr lang="en-US" sz="2133" dirty="0"/>
              <a:t> </a:t>
            </a:r>
            <a:r>
              <a:rPr lang="en-US" sz="2133" dirty="0" err="1"/>
              <a:t>dari</a:t>
            </a:r>
            <a:r>
              <a:rPr lang="en-US" sz="2133" dirty="0"/>
              <a:t> Server Mania </a:t>
            </a:r>
            <a:r>
              <a:rPr lang="en-US" sz="2133" dirty="0" err="1"/>
              <a:t>dan</a:t>
            </a:r>
            <a:r>
              <a:rPr lang="en-US" sz="2133" dirty="0"/>
              <a:t> forum Web Hosting Talk, </a:t>
            </a:r>
            <a:r>
              <a:rPr lang="en-US" sz="2133" dirty="0" err="1"/>
              <a:t>penyedia</a:t>
            </a:r>
            <a:r>
              <a:rPr lang="en-US" sz="2133" dirty="0"/>
              <a:t> </a:t>
            </a:r>
            <a:r>
              <a:rPr lang="en-US" sz="2133" dirty="0" err="1"/>
              <a:t>layanan</a:t>
            </a:r>
            <a:r>
              <a:rPr lang="en-US" sz="2133" dirty="0"/>
              <a:t> cloud server rata-rata </a:t>
            </a:r>
            <a:r>
              <a:rPr lang="en-US" sz="2133" dirty="0" err="1"/>
              <a:t>memberikan</a:t>
            </a:r>
            <a:r>
              <a:rPr lang="en-US" sz="2133" dirty="0"/>
              <a:t> bandwidth </a:t>
            </a:r>
            <a:r>
              <a:rPr lang="en-US" sz="2133" dirty="0" err="1"/>
              <a:t>hanya</a:t>
            </a:r>
            <a:r>
              <a:rPr lang="en-US" sz="2133" dirty="0"/>
              <a:t> </a:t>
            </a:r>
            <a:r>
              <a:rPr lang="en-US" sz="2133" dirty="0" err="1"/>
              <a:t>sebesar</a:t>
            </a:r>
            <a:r>
              <a:rPr lang="en-US" sz="2133" dirty="0"/>
              <a:t> 1 </a:t>
            </a:r>
            <a:r>
              <a:rPr lang="en-US" sz="2133" dirty="0" err="1"/>
              <a:t>Gbps</a:t>
            </a:r>
            <a:r>
              <a:rPr lang="en-US" sz="2133" dirty="0"/>
              <a:t>. </a:t>
            </a:r>
            <a:r>
              <a:rPr lang="en-US" sz="2133" dirty="0" err="1"/>
              <a:t>Besaran</a:t>
            </a:r>
            <a:r>
              <a:rPr lang="en-US" sz="2133" dirty="0"/>
              <a:t> bandwidth </a:t>
            </a:r>
            <a:r>
              <a:rPr lang="en-US" sz="2133" dirty="0" err="1"/>
              <a:t>ini</a:t>
            </a:r>
            <a:r>
              <a:rPr lang="en-US" sz="2133" dirty="0"/>
              <a:t> pun </a:t>
            </a:r>
            <a:r>
              <a:rPr lang="en-US" sz="2133" dirty="0" err="1"/>
              <a:t>sudah</a:t>
            </a:r>
            <a:r>
              <a:rPr lang="en-US" sz="2133" dirty="0"/>
              <a:t> </a:t>
            </a:r>
            <a:r>
              <a:rPr lang="en-US" sz="2133" dirty="0" err="1"/>
              <a:t>cukup</a:t>
            </a:r>
            <a:r>
              <a:rPr lang="en-US" sz="2133" dirty="0"/>
              <a:t> </a:t>
            </a:r>
            <a:r>
              <a:rPr lang="en-US" sz="2133" dirty="0" err="1"/>
              <a:t>cepat</a:t>
            </a:r>
            <a:r>
              <a:rPr lang="en-US" sz="2133" dirty="0"/>
              <a:t>. </a:t>
            </a:r>
            <a:r>
              <a:rPr lang="en-US" sz="2133" dirty="0" err="1"/>
              <a:t>Sehingga</a:t>
            </a:r>
            <a:r>
              <a:rPr lang="en-US" sz="2133" dirty="0"/>
              <a:t> </a:t>
            </a:r>
            <a:r>
              <a:rPr lang="en-US" sz="2133" dirty="0" err="1"/>
              <a:t>bila</a:t>
            </a:r>
            <a:r>
              <a:rPr lang="en-US" sz="2133" dirty="0"/>
              <a:t> </a:t>
            </a:r>
            <a:r>
              <a:rPr lang="en-US" sz="2133" dirty="0" err="1"/>
              <a:t>ada</a:t>
            </a:r>
            <a:r>
              <a:rPr lang="en-US" sz="2133" dirty="0"/>
              <a:t> </a:t>
            </a:r>
            <a:r>
              <a:rPr lang="en-US" sz="2133" dirty="0" err="1"/>
              <a:t>penyedia</a:t>
            </a:r>
            <a:r>
              <a:rPr lang="en-US" sz="2133" dirty="0"/>
              <a:t> </a:t>
            </a:r>
            <a:r>
              <a:rPr lang="en-US" sz="2133" dirty="0" err="1"/>
              <a:t>layanan</a:t>
            </a:r>
            <a:r>
              <a:rPr lang="en-US" sz="2133" dirty="0"/>
              <a:t> cloud server yang </a:t>
            </a:r>
            <a:r>
              <a:rPr lang="en-US" sz="2133" dirty="0" err="1"/>
              <a:t>mampu</a:t>
            </a:r>
            <a:r>
              <a:rPr lang="en-US" sz="2133" dirty="0"/>
              <a:t> </a:t>
            </a:r>
            <a:r>
              <a:rPr lang="en-US" sz="2133" dirty="0" err="1"/>
              <a:t>memberikan</a:t>
            </a:r>
            <a:r>
              <a:rPr lang="en-US" sz="2133" dirty="0"/>
              <a:t> bandwidth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besaran</a:t>
            </a:r>
            <a:r>
              <a:rPr lang="en-US" sz="2133" dirty="0"/>
              <a:t> 10 </a:t>
            </a:r>
            <a:r>
              <a:rPr lang="en-US" sz="2133" dirty="0" err="1"/>
              <a:t>Gbps</a:t>
            </a:r>
            <a:r>
              <a:rPr lang="en-US" sz="2133" dirty="0"/>
              <a:t>, </a:t>
            </a:r>
            <a:r>
              <a:rPr lang="en-US" sz="2133" dirty="0" err="1"/>
              <a:t>maka</a:t>
            </a:r>
            <a:r>
              <a:rPr lang="en-US" sz="2133" dirty="0"/>
              <a:t> proses </a:t>
            </a:r>
            <a:r>
              <a:rPr lang="en-US" sz="2133" dirty="0" err="1"/>
              <a:t>unggah</a:t>
            </a:r>
            <a:r>
              <a:rPr lang="en-US" sz="2133" dirty="0"/>
              <a:t> </a:t>
            </a:r>
            <a:r>
              <a:rPr lang="en-US" sz="2133" dirty="0" err="1"/>
              <a:t>dan</a:t>
            </a:r>
            <a:r>
              <a:rPr lang="en-US" sz="2133" dirty="0"/>
              <a:t> </a:t>
            </a:r>
            <a:r>
              <a:rPr lang="en-US" sz="2133" dirty="0" err="1"/>
              <a:t>unduh</a:t>
            </a:r>
            <a:r>
              <a:rPr lang="en-US" sz="2133" dirty="0"/>
              <a:t> data </a:t>
            </a:r>
            <a:r>
              <a:rPr lang="en-US" sz="2133" dirty="0" err="1"/>
              <a:t>akan</a:t>
            </a:r>
            <a:r>
              <a:rPr lang="en-US" sz="2133" dirty="0"/>
              <a:t> </a:t>
            </a:r>
            <a:r>
              <a:rPr lang="en-US" sz="2133" dirty="0" err="1"/>
              <a:t>sangat</a:t>
            </a:r>
            <a:r>
              <a:rPr lang="en-US" sz="2133" dirty="0"/>
              <a:t> </a:t>
            </a:r>
            <a:r>
              <a:rPr lang="en-US" sz="2133" dirty="0" err="1"/>
              <a:t>cepat</a:t>
            </a:r>
            <a:r>
              <a:rPr lang="en-US" sz="2133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564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0616" y="619840"/>
            <a:ext cx="1572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1200" b="1" dirty="0" err="1">
                <a:solidFill>
                  <a:srgbClr val="000000"/>
                </a:solidFill>
                <a:latin typeface="Source Sans Pro"/>
              </a:rPr>
              <a:t>Kinerja</a:t>
            </a:r>
            <a:r>
              <a:rPr lang="en-US" sz="1200" b="1" dirty="0">
                <a:solidFill>
                  <a:srgbClr val="000000"/>
                </a:solidFill>
                <a:latin typeface="Source Sans Pro"/>
              </a:rPr>
              <a:t> throughput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50" y="866061"/>
            <a:ext cx="11658601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i="1" dirty="0"/>
              <a:t>Throughput 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aliran</a:t>
            </a:r>
            <a:r>
              <a:rPr lang="en-US" sz="1600" dirty="0"/>
              <a:t> bps </a:t>
            </a:r>
            <a:r>
              <a:rPr lang="en-US" sz="1600" dirty="0" err="1"/>
              <a:t>atau</a:t>
            </a:r>
            <a:r>
              <a:rPr lang="en-US" sz="1600" dirty="0"/>
              <a:t> mbps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internet yang </a:t>
            </a:r>
            <a:r>
              <a:rPr lang="en-US" sz="1600" dirty="0" err="1"/>
              <a:t>diberikan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alat</a:t>
            </a:r>
            <a:r>
              <a:rPr lang="en-US" sz="1600" dirty="0"/>
              <a:t> </a:t>
            </a:r>
            <a:r>
              <a:rPr lang="en-US" sz="1600" dirty="0" err="1"/>
              <a:t>transmisi</a:t>
            </a:r>
            <a:r>
              <a:rPr lang="en-US" sz="1600" dirty="0"/>
              <a:t> </a:t>
            </a:r>
            <a:r>
              <a:rPr lang="en-US" sz="1600" dirty="0" err="1"/>
              <a:t>seperti</a:t>
            </a:r>
            <a:r>
              <a:rPr lang="en-US" sz="1600" dirty="0"/>
              <a:t> router/modem </a:t>
            </a:r>
            <a:r>
              <a:rPr lang="en-US" sz="1600" dirty="0" err="1"/>
              <a:t>berdasarkan</a:t>
            </a:r>
            <a:r>
              <a:rPr lang="en-US" sz="1600" dirty="0"/>
              <a:t> </a:t>
            </a:r>
            <a:r>
              <a:rPr lang="en-US" sz="1600" dirty="0" err="1"/>
              <a:t>sumber</a:t>
            </a:r>
            <a:r>
              <a:rPr lang="en-US" sz="1600" dirty="0"/>
              <a:t> internet </a:t>
            </a:r>
            <a:r>
              <a:rPr lang="en-US" sz="1600" dirty="0" err="1"/>
              <a:t>kepada</a:t>
            </a:r>
            <a:r>
              <a:rPr lang="en-US" sz="1600" dirty="0"/>
              <a:t> </a:t>
            </a:r>
            <a:r>
              <a:rPr lang="en-US" sz="1600" dirty="0" err="1"/>
              <a:t>perangkat</a:t>
            </a:r>
            <a:r>
              <a:rPr lang="en-US" sz="1600" dirty="0"/>
              <a:t> client. </a:t>
            </a:r>
            <a:r>
              <a:rPr lang="en-US" sz="1600" dirty="0" err="1"/>
              <a:t>Aliran</a:t>
            </a:r>
            <a:r>
              <a:rPr lang="en-US" sz="1600" dirty="0"/>
              <a:t> </a:t>
            </a:r>
            <a:r>
              <a:rPr lang="en-US" sz="1600" i="1" dirty="0"/>
              <a:t>throughput </a:t>
            </a:r>
            <a:r>
              <a:rPr lang="en-US" sz="1600" dirty="0" err="1"/>
              <a:t>sangat</a:t>
            </a:r>
            <a:r>
              <a:rPr lang="en-US" sz="1600" dirty="0"/>
              <a:t> </a:t>
            </a:r>
            <a:r>
              <a:rPr lang="en-US" sz="1600" dirty="0" err="1"/>
              <a:t>relatif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realtime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keadaan</a:t>
            </a:r>
            <a:r>
              <a:rPr lang="en-US" sz="1600" dirty="0"/>
              <a:t> </a:t>
            </a:r>
            <a:r>
              <a:rPr lang="en-US" sz="1600" dirty="0" err="1"/>
              <a:t>dilapangan</a:t>
            </a:r>
            <a:r>
              <a:rPr lang="en-US" sz="1600" dirty="0"/>
              <a:t>, </a:t>
            </a:r>
            <a:r>
              <a:rPr lang="en-US" sz="1600" dirty="0" err="1"/>
              <a:t>artinya</a:t>
            </a:r>
            <a:r>
              <a:rPr lang="en-US" sz="1600" dirty="0"/>
              <a:t> </a:t>
            </a:r>
            <a:r>
              <a:rPr lang="en-US" sz="1600" dirty="0" err="1"/>
              <a:t>bahwa</a:t>
            </a:r>
            <a:r>
              <a:rPr lang="en-US" sz="1600" dirty="0"/>
              <a:t> </a:t>
            </a:r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n-US" sz="1600" dirty="0" err="1"/>
              <a:t>Anda</a:t>
            </a:r>
            <a:r>
              <a:rPr lang="en-US" sz="1600" dirty="0"/>
              <a:t> </a:t>
            </a:r>
            <a:r>
              <a:rPr lang="en-US" sz="1600" dirty="0" err="1"/>
              <a:t>sewa</a:t>
            </a:r>
            <a:r>
              <a:rPr lang="en-US" sz="1600" dirty="0"/>
              <a:t> </a:t>
            </a:r>
            <a:r>
              <a:rPr lang="en-US" sz="1600" dirty="0" err="1"/>
              <a:t>paket</a:t>
            </a:r>
            <a:r>
              <a:rPr lang="en-US" sz="1600" dirty="0"/>
              <a:t> internet 100 Mbps, </a:t>
            </a:r>
            <a:r>
              <a:rPr lang="en-US" sz="1600" dirty="0" err="1"/>
              <a:t>namun</a:t>
            </a:r>
            <a:r>
              <a:rPr lang="en-US" sz="1600" dirty="0"/>
              <a:t> </a:t>
            </a:r>
            <a:r>
              <a:rPr lang="en-US" sz="1600" dirty="0" err="1"/>
              <a:t>kenyataannya</a:t>
            </a:r>
            <a:r>
              <a:rPr lang="en-US" sz="1600" dirty="0"/>
              <a:t> </a:t>
            </a:r>
            <a:r>
              <a:rPr lang="en-US" sz="1600" dirty="0" err="1"/>
              <a:t>ketika</a:t>
            </a:r>
            <a:r>
              <a:rPr lang="en-US" sz="1600" dirty="0"/>
              <a:t> di testing download file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hanya</a:t>
            </a:r>
            <a:r>
              <a:rPr lang="en-US" sz="1600" dirty="0"/>
              <a:t> </a:t>
            </a:r>
            <a:r>
              <a:rPr lang="en-US" sz="1600" dirty="0" err="1"/>
              <a:t>berkisar</a:t>
            </a:r>
            <a:r>
              <a:rPr lang="en-US" sz="1600" dirty="0"/>
              <a:t> 20 Mbps, </a:t>
            </a:r>
            <a:r>
              <a:rPr lang="en-US" sz="1600" dirty="0" err="1"/>
              <a:t>maka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 </a:t>
            </a:r>
            <a:r>
              <a:rPr lang="en-US" sz="1600" i="1" dirty="0"/>
              <a:t>throughput</a:t>
            </a:r>
            <a:r>
              <a:rPr lang="en-US" sz="1600" dirty="0"/>
              <a:t>.</a:t>
            </a:r>
          </a:p>
          <a:p>
            <a:pPr algn="just"/>
            <a:r>
              <a:rPr lang="en-US" sz="1600" i="1" dirty="0"/>
              <a:t>Throughput 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besar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 </a:t>
            </a:r>
            <a:r>
              <a:rPr lang="en-US" sz="1600" i="1" dirty="0"/>
              <a:t>bandwidth</a:t>
            </a:r>
            <a:r>
              <a:rPr lang="en-US" sz="1600" dirty="0"/>
              <a:t>, </a:t>
            </a:r>
            <a:r>
              <a:rPr lang="en-US" sz="1600" dirty="0" err="1"/>
              <a:t>namun</a:t>
            </a:r>
            <a:r>
              <a:rPr lang="en-US" sz="1600" dirty="0"/>
              <a:t> </a:t>
            </a:r>
            <a:r>
              <a:rPr lang="en-US" sz="1600" dirty="0" err="1"/>
              <a:t>bisa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kecil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bandwith</a:t>
            </a:r>
            <a:r>
              <a:rPr lang="en-US" sz="1600" dirty="0"/>
              <a:t>. </a:t>
            </a: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ingin</a:t>
            </a:r>
            <a:r>
              <a:rPr lang="en-US" sz="1600" dirty="0"/>
              <a:t> </a:t>
            </a:r>
            <a:r>
              <a:rPr lang="en-US" sz="1600" dirty="0" err="1"/>
              <a:t>dianalogikan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sederhana</a:t>
            </a:r>
            <a:r>
              <a:rPr lang="en-US" sz="1600" dirty="0"/>
              <a:t>, </a:t>
            </a:r>
            <a:r>
              <a:rPr lang="en-US" sz="1600" dirty="0" err="1"/>
              <a:t>maka</a:t>
            </a:r>
            <a:r>
              <a:rPr lang="en-US" sz="1600" dirty="0"/>
              <a:t> </a:t>
            </a:r>
            <a:r>
              <a:rPr lang="en-US" sz="1600" i="1" dirty="0"/>
              <a:t>bandwidth</a:t>
            </a:r>
            <a:r>
              <a:rPr lang="en-US" sz="1600" dirty="0"/>
              <a:t> 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pipa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air </a:t>
            </a:r>
            <a:r>
              <a:rPr lang="en-US" sz="1600" dirty="0" err="1"/>
              <a:t>adalah</a:t>
            </a:r>
            <a:r>
              <a:rPr lang="en-US" sz="1600" dirty="0"/>
              <a:t> </a:t>
            </a:r>
            <a:r>
              <a:rPr lang="en-US" sz="1600" i="1" dirty="0"/>
              <a:t>throughput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r>
              <a:rPr lang="en-US" sz="1200" b="1" dirty="0" err="1"/>
              <a:t>Fungsi</a:t>
            </a:r>
            <a:r>
              <a:rPr lang="en-US" sz="1200" b="1" dirty="0"/>
              <a:t> </a:t>
            </a:r>
            <a:r>
              <a:rPr lang="en-US" sz="1200" b="1" i="1" dirty="0"/>
              <a:t>Throughput</a:t>
            </a:r>
            <a:endParaRPr lang="en-US" sz="1200" b="1" dirty="0"/>
          </a:p>
          <a:p>
            <a:r>
              <a:rPr lang="en-US" sz="1200" i="1" dirty="0"/>
              <a:t>throughput</a:t>
            </a:r>
            <a:r>
              <a:rPr lang="en-US" sz="1200" dirty="0"/>
              <a:t> 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aliran</a:t>
            </a:r>
            <a:r>
              <a:rPr lang="en-US" sz="1200" dirty="0"/>
              <a:t> data </a:t>
            </a:r>
            <a:r>
              <a:rPr lang="en-US" sz="1200" dirty="0" err="1"/>
              <a:t>atau</a:t>
            </a:r>
            <a:r>
              <a:rPr lang="en-US" sz="1200" dirty="0"/>
              <a:t> traffic internet yang </a:t>
            </a:r>
            <a:r>
              <a:rPr lang="en-US" sz="1200" dirty="0" err="1"/>
              <a:t>sesungguhnya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alokasi</a:t>
            </a:r>
            <a:r>
              <a:rPr lang="en-US" sz="1200" dirty="0"/>
              <a:t> </a:t>
            </a:r>
            <a:r>
              <a:rPr lang="en-US" sz="1200" i="1" dirty="0"/>
              <a:t>bandwidth</a:t>
            </a:r>
            <a:r>
              <a:rPr lang="en-US" sz="1200" dirty="0"/>
              <a:t> yang </a:t>
            </a:r>
            <a:r>
              <a:rPr lang="en-US" sz="1200" dirty="0" err="1"/>
              <a:t>diberikan</a:t>
            </a:r>
            <a:r>
              <a:rPr lang="en-US" sz="1200" dirty="0"/>
              <a:t> provider internet </a:t>
            </a:r>
            <a:r>
              <a:rPr lang="en-US" sz="1200" dirty="0" err="1"/>
              <a:t>atau</a:t>
            </a:r>
            <a:r>
              <a:rPr lang="en-US" sz="1200" dirty="0"/>
              <a:t> provider </a:t>
            </a:r>
            <a:r>
              <a:rPr lang="en-US" sz="1200" dirty="0">
                <a:hlinkClick r:id="rId2" tooltip="unlimited hosting"/>
              </a:rPr>
              <a:t>hosting</a:t>
            </a:r>
            <a:r>
              <a:rPr lang="en-US" sz="1200" dirty="0"/>
              <a:t>.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umum</a:t>
            </a:r>
            <a:r>
              <a:rPr lang="en-US" sz="1200" dirty="0"/>
              <a:t>, </a:t>
            </a:r>
            <a:r>
              <a:rPr lang="en-US" sz="1200" dirty="0" err="1"/>
              <a:t>fungsi</a:t>
            </a:r>
            <a:r>
              <a:rPr lang="en-US" sz="1200" dirty="0"/>
              <a:t> </a:t>
            </a:r>
            <a:r>
              <a:rPr lang="en-US" sz="1200" i="1" dirty="0"/>
              <a:t>throughput</a:t>
            </a:r>
            <a:r>
              <a:rPr lang="en-US" sz="1200" dirty="0"/>
              <a:t> 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berikut</a:t>
            </a:r>
            <a:r>
              <a:rPr lang="en-US" sz="1200" dirty="0"/>
              <a:t>:</a:t>
            </a:r>
          </a:p>
          <a:p>
            <a:r>
              <a:rPr lang="en-US" sz="1200" b="1" dirty="0"/>
              <a:t>1. </a:t>
            </a:r>
            <a:r>
              <a:rPr lang="en-US" sz="1200" b="1" dirty="0" err="1"/>
              <a:t>Indikator</a:t>
            </a:r>
            <a:r>
              <a:rPr lang="en-US" sz="1200" b="1" dirty="0"/>
              <a:t> </a:t>
            </a:r>
            <a:r>
              <a:rPr lang="en-US" sz="1200" b="1" dirty="0" err="1"/>
              <a:t>kinerja</a:t>
            </a:r>
            <a:endParaRPr lang="en-US" sz="1200" b="1" dirty="0"/>
          </a:p>
          <a:p>
            <a:r>
              <a:rPr lang="en-US" sz="1200" dirty="0" err="1"/>
              <a:t>Berkaitan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kecepatan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efisiensi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jaringan</a:t>
            </a:r>
            <a:r>
              <a:rPr lang="en-US" sz="1200" dirty="0"/>
              <a:t>.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berguna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menentukan</a:t>
            </a:r>
            <a:r>
              <a:rPr lang="en-US" sz="1200" dirty="0"/>
              <a:t> </a:t>
            </a:r>
            <a:r>
              <a:rPr lang="en-US" sz="1200" dirty="0" err="1"/>
              <a:t>seberapa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keuntungan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penggunaan</a:t>
            </a:r>
            <a:r>
              <a:rPr lang="en-US" sz="1200" dirty="0"/>
              <a:t> </a:t>
            </a:r>
            <a:r>
              <a:rPr lang="en-US" sz="1200" dirty="0" err="1"/>
              <a:t>sumber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internet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dimanfaatkan</a:t>
            </a:r>
            <a:r>
              <a:rPr lang="en-US" sz="1200" dirty="0"/>
              <a:t>.</a:t>
            </a:r>
          </a:p>
          <a:p>
            <a:r>
              <a:rPr lang="en-US" sz="1200" b="1" dirty="0"/>
              <a:t>2. </a:t>
            </a:r>
            <a:r>
              <a:rPr lang="en-US" sz="1200" b="1" dirty="0" err="1"/>
              <a:t>Alat</a:t>
            </a:r>
            <a:r>
              <a:rPr lang="en-US" sz="1200" b="1" dirty="0"/>
              <a:t> </a:t>
            </a:r>
            <a:r>
              <a:rPr lang="en-US" sz="1200" b="1" dirty="0" err="1"/>
              <a:t>perbandingan</a:t>
            </a:r>
            <a:endParaRPr lang="en-US" sz="1200" b="1" dirty="0"/>
          </a:p>
          <a:p>
            <a:r>
              <a:rPr lang="en-US" sz="1200" dirty="0" err="1"/>
              <a:t>Memungkinkan</a:t>
            </a:r>
            <a:r>
              <a:rPr lang="en-US" sz="1200" dirty="0"/>
              <a:t> </a:t>
            </a:r>
            <a:r>
              <a:rPr lang="en-US" sz="1200" dirty="0" err="1"/>
              <a:t>perbandingan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 </a:t>
            </a:r>
            <a:r>
              <a:rPr lang="en-US" sz="1200" dirty="0" err="1"/>
              <a:t>berbagai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jaringan</a:t>
            </a:r>
            <a:r>
              <a:rPr lang="en-US" sz="1200" dirty="0"/>
              <a:t> </a:t>
            </a:r>
            <a:r>
              <a:rPr lang="en-US" sz="1200" dirty="0" err="1"/>
              <a:t>berdasarkan</a:t>
            </a:r>
            <a:r>
              <a:rPr lang="en-US" sz="1200" dirty="0"/>
              <a:t> </a:t>
            </a:r>
            <a:r>
              <a:rPr lang="en-US" sz="1200" dirty="0" err="1"/>
              <a:t>kecepatan</a:t>
            </a:r>
            <a:r>
              <a:rPr lang="en-US" sz="1200" dirty="0"/>
              <a:t>, </a:t>
            </a:r>
            <a:r>
              <a:rPr lang="en-US" sz="1200" dirty="0" err="1"/>
              <a:t>latensi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seterusnya</a:t>
            </a:r>
            <a:r>
              <a:rPr lang="en-US" sz="1200" dirty="0"/>
              <a:t>.</a:t>
            </a:r>
          </a:p>
          <a:p>
            <a:r>
              <a:rPr lang="en-US" sz="1200" b="1" dirty="0"/>
              <a:t>3. </a:t>
            </a:r>
            <a:r>
              <a:rPr lang="en-US" sz="1200" b="1" dirty="0" err="1"/>
              <a:t>Dasar</a:t>
            </a:r>
            <a:r>
              <a:rPr lang="en-US" sz="1200" b="1" dirty="0"/>
              <a:t> </a:t>
            </a:r>
            <a:r>
              <a:rPr lang="en-US" sz="1200" b="1" dirty="0" err="1"/>
              <a:t>optimasi</a:t>
            </a:r>
            <a:endParaRPr lang="en-US" sz="1200" b="1" dirty="0"/>
          </a:p>
          <a:p>
            <a:r>
              <a:rPr lang="en-US" sz="1200" dirty="0" err="1"/>
              <a:t>Memberikan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identifikasi</a:t>
            </a:r>
            <a:r>
              <a:rPr lang="en-US" sz="1200" dirty="0"/>
              <a:t> area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ditingkatkan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meningkatkan</a:t>
            </a:r>
            <a:r>
              <a:rPr lang="en-US" sz="1200" dirty="0"/>
              <a:t> </a:t>
            </a:r>
            <a:r>
              <a:rPr lang="en-US" sz="1200" dirty="0" err="1"/>
              <a:t>kinerja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.</a:t>
            </a:r>
          </a:p>
          <a:p>
            <a:pPr algn="just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6779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RouterOS</a:t>
            </a:r>
            <a:r>
              <a:rPr lang="en-US" dirty="0">
                <a:hlinkClick r:id="rId2"/>
              </a:rPr>
              <a:t> Virtual Labs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621" y="1570641"/>
            <a:ext cx="4584031" cy="1858359"/>
          </a:xfrm>
        </p:spPr>
        <p:txBody>
          <a:bodyPr>
            <a:noAutofit/>
          </a:bodyPr>
          <a:lstStyle/>
          <a:p>
            <a:pPr lvl="0"/>
            <a:r>
              <a:rPr lang="en-US" sz="2133" dirty="0"/>
              <a:t>https://forum.mikrotik.com/viewtopic.php?t=99658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923548" y="705556"/>
            <a:ext cx="6268453" cy="1178278"/>
          </a:xfrm>
          <a:prstGeom prst="rect">
            <a:avLst/>
          </a:prstGeom>
        </p:spPr>
        <p:txBody>
          <a:bodyPr vert="horz" lIns="60960" tIns="30480" rIns="60960" bIns="30480" rtlCol="0" anchor="ctr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12" dirty="0" err="1"/>
              <a:t>Tujuan</a:t>
            </a:r>
            <a:endParaRPr lang="en-US" sz="3912" dirty="0"/>
          </a:p>
        </p:txBody>
      </p:sp>
      <p:sp>
        <p:nvSpPr>
          <p:cNvPr id="5" name="Rectangle 4"/>
          <p:cNvSpPr/>
          <p:nvPr/>
        </p:nvSpPr>
        <p:spPr>
          <a:xfrm>
            <a:off x="6436896" y="1580371"/>
            <a:ext cx="4916905" cy="354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867" dirty="0" err="1"/>
              <a:t>Tujuan</a:t>
            </a:r>
            <a:r>
              <a:rPr lang="en-US" sz="1867" dirty="0"/>
              <a:t> </a:t>
            </a:r>
            <a:r>
              <a:rPr lang="en-US" sz="1867" dirty="0" err="1"/>
              <a:t>dari</a:t>
            </a:r>
            <a:r>
              <a:rPr lang="en-US" sz="1867" dirty="0"/>
              <a:t> </a:t>
            </a:r>
            <a:r>
              <a:rPr lang="en-US" sz="1867" dirty="0" err="1"/>
              <a:t>penelitian</a:t>
            </a:r>
            <a:r>
              <a:rPr lang="en-US" sz="1867" dirty="0"/>
              <a:t> </a:t>
            </a:r>
            <a:r>
              <a:rPr lang="en-US" sz="1867" dirty="0" err="1"/>
              <a:t>ini</a:t>
            </a:r>
            <a:r>
              <a:rPr lang="en-US" sz="1867" dirty="0"/>
              <a:t> </a:t>
            </a:r>
            <a:r>
              <a:rPr lang="en-US" sz="1867" dirty="0" err="1"/>
              <a:t>adalah</a:t>
            </a:r>
            <a:r>
              <a:rPr lang="en-US" sz="1867" dirty="0"/>
              <a:t> </a:t>
            </a:r>
            <a:r>
              <a:rPr lang="en-US" sz="1867" dirty="0" err="1"/>
              <a:t>untuk</a:t>
            </a:r>
            <a:r>
              <a:rPr lang="en-US" sz="1867" dirty="0"/>
              <a:t> </a:t>
            </a:r>
            <a:r>
              <a:rPr lang="en-US" sz="1867" dirty="0" err="1"/>
              <a:t>memberikan</a:t>
            </a:r>
            <a:r>
              <a:rPr lang="en-US" sz="1867" dirty="0"/>
              <a:t> </a:t>
            </a:r>
            <a:r>
              <a:rPr lang="en-US" sz="1867" dirty="0" err="1"/>
              <a:t>teknologi</a:t>
            </a:r>
            <a:r>
              <a:rPr lang="en-US" sz="1867" dirty="0"/>
              <a:t> yang </a:t>
            </a:r>
            <a:r>
              <a:rPr lang="en-US" sz="1867" dirty="0" err="1"/>
              <a:t>dapat</a:t>
            </a:r>
            <a:r>
              <a:rPr lang="en-US" sz="1867" dirty="0"/>
              <a:t> </a:t>
            </a:r>
            <a:r>
              <a:rPr lang="en-US" sz="1867" dirty="0" err="1"/>
              <a:t>memonitoring</a:t>
            </a:r>
            <a:r>
              <a:rPr lang="en-US" sz="1867" dirty="0"/>
              <a:t> </a:t>
            </a:r>
            <a:r>
              <a:rPr lang="en-US" sz="1867" dirty="0" err="1"/>
              <a:t>populasi</a:t>
            </a:r>
            <a:r>
              <a:rPr lang="en-US" sz="1867" dirty="0"/>
              <a:t> </a:t>
            </a:r>
            <a:r>
              <a:rPr lang="en-US" sz="1867" dirty="0" err="1"/>
              <a:t>dan</a:t>
            </a:r>
            <a:r>
              <a:rPr lang="en-US" sz="1867" dirty="0"/>
              <a:t> </a:t>
            </a:r>
            <a:r>
              <a:rPr lang="en-US" sz="1867" dirty="0" err="1"/>
              <a:t>pertumbuhan</a:t>
            </a:r>
            <a:r>
              <a:rPr lang="en-US" sz="1867" dirty="0"/>
              <a:t> </a:t>
            </a:r>
            <a:r>
              <a:rPr lang="en-US" sz="1867" dirty="0" err="1"/>
              <a:t>ikan</a:t>
            </a:r>
            <a:r>
              <a:rPr lang="en-US" sz="1867" dirty="0"/>
              <a:t> </a:t>
            </a:r>
            <a:r>
              <a:rPr lang="en-US" sz="1867" dirty="0" err="1"/>
              <a:t>dan</a:t>
            </a:r>
            <a:r>
              <a:rPr lang="en-US" sz="1867" dirty="0"/>
              <a:t> </a:t>
            </a:r>
            <a:r>
              <a:rPr lang="en-US" sz="1867" dirty="0" err="1"/>
              <a:t>melakukan</a:t>
            </a:r>
            <a:r>
              <a:rPr lang="en-US" sz="1867" dirty="0"/>
              <a:t> </a:t>
            </a:r>
            <a:r>
              <a:rPr lang="en-US" sz="1867" dirty="0" err="1"/>
              <a:t>penghitungan</a:t>
            </a:r>
            <a:r>
              <a:rPr lang="en-US" sz="1867" dirty="0"/>
              <a:t> </a:t>
            </a:r>
            <a:r>
              <a:rPr lang="en-US" sz="1867" dirty="0" err="1"/>
              <a:t>objek</a:t>
            </a:r>
            <a:r>
              <a:rPr lang="en-US" sz="1867" dirty="0"/>
              <a:t> </a:t>
            </a:r>
            <a:r>
              <a:rPr lang="en-US" sz="1867" dirty="0" err="1"/>
              <a:t>otomatis</a:t>
            </a:r>
            <a:r>
              <a:rPr lang="en-US" sz="1867" dirty="0"/>
              <a:t> </a:t>
            </a:r>
            <a:r>
              <a:rPr lang="en-US" sz="1867" dirty="0" err="1"/>
              <a:t>dengan</a:t>
            </a:r>
            <a:r>
              <a:rPr lang="en-US" sz="1867" dirty="0"/>
              <a:t> </a:t>
            </a:r>
            <a:r>
              <a:rPr lang="en-US" sz="1867" dirty="0" err="1"/>
              <a:t>memanfaatkan</a:t>
            </a:r>
            <a:r>
              <a:rPr lang="en-US" sz="1867" dirty="0"/>
              <a:t> </a:t>
            </a:r>
            <a:r>
              <a:rPr lang="en-US" sz="1867" dirty="0" err="1"/>
              <a:t>teknologi</a:t>
            </a:r>
            <a:r>
              <a:rPr lang="en-US" sz="1867" dirty="0"/>
              <a:t> frame video. </a:t>
            </a:r>
            <a:r>
              <a:rPr lang="en-US" sz="1867" dirty="0" err="1"/>
              <a:t>Petani</a:t>
            </a:r>
            <a:r>
              <a:rPr lang="en-US" sz="1867" dirty="0"/>
              <a:t> </a:t>
            </a:r>
            <a:r>
              <a:rPr lang="en-US" sz="1867" dirty="0" err="1"/>
              <a:t>budidaya</a:t>
            </a:r>
            <a:r>
              <a:rPr lang="en-US" sz="1867" dirty="0"/>
              <a:t> </a:t>
            </a:r>
            <a:r>
              <a:rPr lang="en-US" sz="1867" dirty="0" err="1"/>
              <a:t>ikan</a:t>
            </a:r>
            <a:r>
              <a:rPr lang="en-US" sz="1867" dirty="0"/>
              <a:t> </a:t>
            </a:r>
            <a:r>
              <a:rPr lang="en-US" sz="1867" dirty="0" err="1"/>
              <a:t>dapat</a:t>
            </a:r>
            <a:r>
              <a:rPr lang="en-US" sz="1867" dirty="0"/>
              <a:t> monitoring </a:t>
            </a:r>
            <a:r>
              <a:rPr lang="en-US" sz="1867" dirty="0" err="1"/>
              <a:t>untuk</a:t>
            </a:r>
            <a:r>
              <a:rPr lang="en-US" sz="1867" dirty="0"/>
              <a:t> </a:t>
            </a:r>
            <a:r>
              <a:rPr lang="en-US" sz="1867" dirty="0" err="1"/>
              <a:t>melakukan</a:t>
            </a:r>
            <a:r>
              <a:rPr lang="en-US" sz="1867" dirty="0"/>
              <a:t> </a:t>
            </a:r>
            <a:r>
              <a:rPr lang="en-US" sz="1867" dirty="0" err="1"/>
              <a:t>perlakuan</a:t>
            </a:r>
            <a:r>
              <a:rPr lang="en-US" sz="1867" dirty="0"/>
              <a:t> yang </a:t>
            </a:r>
            <a:r>
              <a:rPr lang="en-US" sz="1867" dirty="0" err="1"/>
              <a:t>lebih</a:t>
            </a:r>
            <a:r>
              <a:rPr lang="en-US" sz="1867" dirty="0"/>
              <a:t> </a:t>
            </a:r>
            <a:r>
              <a:rPr lang="en-US" sz="1867" dirty="0" err="1"/>
              <a:t>baik</a:t>
            </a:r>
            <a:r>
              <a:rPr lang="en-US" sz="1867" dirty="0"/>
              <a:t>, </a:t>
            </a:r>
            <a:r>
              <a:rPr lang="en-US" sz="1867" dirty="0" err="1"/>
              <a:t>seperti</a:t>
            </a:r>
            <a:r>
              <a:rPr lang="en-US" sz="1867" dirty="0"/>
              <a:t> </a:t>
            </a:r>
            <a:r>
              <a:rPr lang="en-US" sz="1867" dirty="0" err="1"/>
              <a:t>pengendalian</a:t>
            </a:r>
            <a:r>
              <a:rPr lang="en-US" sz="1867" dirty="0"/>
              <a:t> </a:t>
            </a:r>
            <a:r>
              <a:rPr lang="en-US" sz="1867" dirty="0" err="1"/>
              <a:t>kepadatan</a:t>
            </a:r>
            <a:r>
              <a:rPr lang="en-US" sz="1867" dirty="0"/>
              <a:t>, </a:t>
            </a:r>
            <a:r>
              <a:rPr lang="en-US" sz="1867" dirty="0" err="1"/>
              <a:t>menentukan</a:t>
            </a:r>
            <a:r>
              <a:rPr lang="en-US" sz="1867" dirty="0"/>
              <a:t> </a:t>
            </a:r>
            <a:r>
              <a:rPr lang="en-US" sz="1867" dirty="0" err="1"/>
              <a:t>jumlah</a:t>
            </a:r>
            <a:r>
              <a:rPr lang="en-US" sz="1867" dirty="0"/>
              <a:t> </a:t>
            </a:r>
            <a:r>
              <a:rPr lang="en-US" sz="1867" dirty="0" err="1"/>
              <a:t>pemberian</a:t>
            </a:r>
            <a:r>
              <a:rPr lang="en-US" sz="1867" dirty="0"/>
              <a:t> </a:t>
            </a:r>
            <a:r>
              <a:rPr lang="en-US" sz="1867" dirty="0" err="1"/>
              <a:t>pakan</a:t>
            </a:r>
            <a:r>
              <a:rPr lang="en-US" sz="1867" dirty="0"/>
              <a:t>, </a:t>
            </a:r>
            <a:r>
              <a:rPr lang="en-US" sz="1867" dirty="0" err="1"/>
              <a:t>dan</a:t>
            </a:r>
            <a:r>
              <a:rPr lang="en-US" sz="1867" dirty="0"/>
              <a:t> </a:t>
            </a:r>
            <a:r>
              <a:rPr lang="en-US" sz="1867" dirty="0" err="1"/>
              <a:t>jumlah</a:t>
            </a:r>
            <a:r>
              <a:rPr lang="en-US" sz="1867" dirty="0"/>
              <a:t> yang </a:t>
            </a:r>
            <a:r>
              <a:rPr lang="en-US" sz="1867" dirty="0" err="1"/>
              <a:t>wajar</a:t>
            </a:r>
            <a:r>
              <a:rPr lang="en-US" sz="1867" dirty="0"/>
              <a:t> </a:t>
            </a:r>
            <a:r>
              <a:rPr lang="en-US" sz="1867" dirty="0" err="1"/>
              <a:t>pakan</a:t>
            </a:r>
            <a:r>
              <a:rPr lang="en-US" sz="1867" dirty="0"/>
              <a:t> </a:t>
            </a:r>
            <a:r>
              <a:rPr lang="en-US" sz="1867" dirty="0" err="1"/>
              <a:t>membantu</a:t>
            </a:r>
            <a:r>
              <a:rPr lang="en-US" sz="1867" dirty="0"/>
              <a:t> </a:t>
            </a:r>
            <a:r>
              <a:rPr lang="en-US" sz="1867" dirty="0" err="1"/>
              <a:t>mengurangi</a:t>
            </a:r>
            <a:r>
              <a:rPr lang="en-US" sz="1867" dirty="0"/>
              <a:t> </a:t>
            </a:r>
            <a:r>
              <a:rPr lang="en-US" sz="1867" dirty="0" err="1"/>
              <a:t>polusi</a:t>
            </a:r>
            <a:r>
              <a:rPr lang="en-US" sz="1867" dirty="0"/>
              <a:t> air </a:t>
            </a:r>
            <a:r>
              <a:rPr lang="en-US" sz="1867" dirty="0" err="1"/>
              <a:t>dan</a:t>
            </a:r>
            <a:r>
              <a:rPr lang="en-US" sz="1867" dirty="0"/>
              <a:t> </a:t>
            </a:r>
            <a:r>
              <a:rPr lang="en-US" sz="1867" dirty="0" err="1"/>
              <a:t>memastikan</a:t>
            </a:r>
            <a:r>
              <a:rPr lang="en-US" sz="1867" dirty="0"/>
              <a:t> </a:t>
            </a:r>
            <a:r>
              <a:rPr lang="en-US" sz="1867" dirty="0" err="1"/>
              <a:t>pertumbuhan</a:t>
            </a:r>
            <a:r>
              <a:rPr lang="en-US" sz="1867" dirty="0"/>
              <a:t> </a:t>
            </a:r>
            <a:r>
              <a:rPr lang="en-US" sz="1867" dirty="0" err="1"/>
              <a:t>ikan</a:t>
            </a:r>
            <a:r>
              <a:rPr lang="en-US" sz="1867" dirty="0"/>
              <a:t> yang </a:t>
            </a:r>
            <a:r>
              <a:rPr lang="en-US" sz="1867" dirty="0" err="1"/>
              <a:t>cepat</a:t>
            </a:r>
            <a:r>
              <a:rPr lang="en-US" sz="1867" dirty="0"/>
              <a:t> </a:t>
            </a:r>
            <a:r>
              <a:rPr lang="en-US" sz="1867" dirty="0" err="1"/>
              <a:t>dan</a:t>
            </a:r>
            <a:r>
              <a:rPr lang="en-US" sz="1867" dirty="0"/>
              <a:t> </a:t>
            </a:r>
            <a:r>
              <a:rPr lang="en-US" sz="1867" dirty="0" err="1"/>
              <a:t>sehat</a:t>
            </a:r>
            <a:r>
              <a:rPr lang="en-US" sz="1867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4812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89450" y="2677054"/>
            <a:ext cx="3213100" cy="252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7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7475" y="2270654"/>
            <a:ext cx="43370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8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MIKROTIK PORT SCANNER / ROUTER OS PORT TESTER</a:t>
            </a:r>
            <a:br>
              <a:rPr lang="fr-FR" b="1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5882" y="1762794"/>
            <a:ext cx="3914258" cy="38682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22695" y="1294695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@echo off</a:t>
            </a:r>
          </a:p>
          <a:p>
            <a:r>
              <a:rPr lang="en-US" sz="1200" dirty="0"/>
              <a:t>title ROUTEROS PORT TESTER BY BNT</a:t>
            </a:r>
          </a:p>
          <a:p>
            <a:r>
              <a:rPr lang="en-US" sz="1200" dirty="0"/>
              <a:t>:Loop </a:t>
            </a:r>
          </a:p>
          <a:p>
            <a:r>
              <a:rPr lang="en-US" sz="1200" dirty="0"/>
              <a:t>echo.</a:t>
            </a:r>
          </a:p>
          <a:p>
            <a:r>
              <a:rPr lang="en-US" sz="1200" dirty="0"/>
              <a:t>echo =================================</a:t>
            </a:r>
          </a:p>
          <a:p>
            <a:r>
              <a:rPr lang="en-US" sz="1200" dirty="0"/>
              <a:t>echo -= ROUTEROS PORT TESTER BY BNT =-</a:t>
            </a:r>
          </a:p>
          <a:p>
            <a:r>
              <a:rPr lang="en-US" sz="1200" dirty="0"/>
              <a:t>echo =================================</a:t>
            </a:r>
          </a:p>
          <a:p>
            <a:r>
              <a:rPr lang="en-US" sz="1200" dirty="0"/>
              <a:t>echo.</a:t>
            </a:r>
          </a:p>
          <a:p>
            <a:r>
              <a:rPr lang="en-US" sz="1200" dirty="0"/>
              <a:t>set /p </a:t>
            </a:r>
            <a:r>
              <a:rPr lang="en-US" sz="1200" dirty="0" err="1"/>
              <a:t>ip</a:t>
            </a:r>
            <a:r>
              <a:rPr lang="en-US" sz="1200" dirty="0"/>
              <a:t>="Enter IP Address: "</a:t>
            </a:r>
          </a:p>
          <a:p>
            <a:r>
              <a:rPr lang="en-US" sz="1200" dirty="0"/>
              <a:t>echo.</a:t>
            </a:r>
          </a:p>
          <a:p>
            <a:r>
              <a:rPr lang="en-US" sz="1200" dirty="0"/>
              <a:t>echo PORT INFO:</a:t>
            </a:r>
          </a:p>
          <a:p>
            <a:r>
              <a:rPr lang="en-US" sz="1200" dirty="0"/>
              <a:t>echo - 8291 / </a:t>
            </a:r>
            <a:r>
              <a:rPr lang="en-US" sz="1200" dirty="0" err="1"/>
              <a:t>Winbox</a:t>
            </a:r>
            <a:endParaRPr lang="en-US" sz="1200" dirty="0"/>
          </a:p>
          <a:p>
            <a:r>
              <a:rPr lang="en-US" sz="1200" dirty="0"/>
              <a:t>echo - 80   / WWW </a:t>
            </a:r>
            <a:r>
              <a:rPr lang="en-US" sz="1200" dirty="0" err="1"/>
              <a:t>Webfig</a:t>
            </a:r>
            <a:r>
              <a:rPr lang="en-US" sz="1200" dirty="0"/>
              <a:t> http</a:t>
            </a:r>
          </a:p>
          <a:p>
            <a:r>
              <a:rPr lang="en-US" sz="1200" dirty="0"/>
              <a:t>echo - 443  / WWW-SSL </a:t>
            </a:r>
            <a:r>
              <a:rPr lang="en-US" sz="1200" dirty="0" err="1"/>
              <a:t>Webfig</a:t>
            </a:r>
            <a:r>
              <a:rPr lang="en-US" sz="1200" dirty="0"/>
              <a:t> https</a:t>
            </a:r>
          </a:p>
          <a:p>
            <a:r>
              <a:rPr lang="en-US" sz="1200" dirty="0"/>
              <a:t>echo - 8728 / API</a:t>
            </a:r>
          </a:p>
          <a:p>
            <a:r>
              <a:rPr lang="en-US" sz="1200" dirty="0"/>
              <a:t>echo - 8729 / API-SSL</a:t>
            </a:r>
          </a:p>
          <a:p>
            <a:r>
              <a:rPr lang="en-US" sz="1200" dirty="0"/>
              <a:t>echo - 21   / FTP</a:t>
            </a:r>
          </a:p>
          <a:p>
            <a:r>
              <a:rPr lang="en-US" sz="1200" dirty="0"/>
              <a:t>echo - 22   / SSH</a:t>
            </a:r>
          </a:p>
          <a:p>
            <a:r>
              <a:rPr lang="en-US" sz="1200" dirty="0"/>
              <a:t>echo - 23   / Telnet</a:t>
            </a:r>
          </a:p>
          <a:p>
            <a:r>
              <a:rPr lang="en-US" sz="1200" dirty="0"/>
              <a:t>echo - 3128 / Open proxy</a:t>
            </a:r>
          </a:p>
          <a:p>
            <a:r>
              <a:rPr lang="en-US" sz="1200" dirty="0"/>
              <a:t>echo - 8080 / Open proxy</a:t>
            </a:r>
          </a:p>
          <a:p>
            <a:r>
              <a:rPr lang="en-US" sz="1200" dirty="0"/>
              <a:t>echo - 53   / DNS</a:t>
            </a:r>
          </a:p>
          <a:p>
            <a:r>
              <a:rPr lang="en-US" sz="1200" dirty="0"/>
              <a:t>echo - 2000 / </a:t>
            </a:r>
            <a:r>
              <a:rPr lang="en-US" sz="1200" dirty="0" err="1"/>
              <a:t>Btest</a:t>
            </a:r>
            <a:r>
              <a:rPr lang="en-US" sz="1200" dirty="0"/>
              <a:t> Server</a:t>
            </a:r>
          </a:p>
          <a:p>
            <a:r>
              <a:rPr lang="en-US" sz="1200" dirty="0"/>
              <a:t>echo.</a:t>
            </a:r>
          </a:p>
          <a:p>
            <a:r>
              <a:rPr lang="en-US" sz="1200" dirty="0"/>
              <a:t>echo Try for </a:t>
            </a:r>
            <a:r>
              <a:rPr lang="en-US" sz="1200" dirty="0" err="1"/>
              <a:t>Scaning</a:t>
            </a:r>
            <a:r>
              <a:rPr lang="en-US" sz="1200" dirty="0"/>
              <a:t> Port Please Wait...</a:t>
            </a:r>
          </a:p>
          <a:p>
            <a:r>
              <a:rPr lang="en-US" sz="1200" dirty="0"/>
              <a:t>echo.</a:t>
            </a:r>
          </a:p>
          <a:p>
            <a:r>
              <a:rPr lang="en-US" sz="1200" dirty="0" err="1"/>
              <a:t>PortCheck</a:t>
            </a:r>
            <a:r>
              <a:rPr lang="en-US" sz="1200" dirty="0"/>
              <a:t> %</a:t>
            </a:r>
            <a:r>
              <a:rPr lang="en-US" sz="1200" dirty="0" err="1"/>
              <a:t>ip</a:t>
            </a:r>
            <a:r>
              <a:rPr lang="en-US" sz="1200" dirty="0"/>
              <a:t>% 8291,80,443,8728,8729,21,22,23,3128,8080,53,2000</a:t>
            </a:r>
          </a:p>
          <a:p>
            <a:r>
              <a:rPr lang="en-US" sz="1200" dirty="0"/>
              <a:t>echo.</a:t>
            </a:r>
          </a:p>
          <a:p>
            <a:r>
              <a:rPr lang="en-US" sz="1200" dirty="0"/>
              <a:t>IF %ERRORLEVEL%==1 echo - WARNING!! Open ports found, danger from attack!</a:t>
            </a:r>
          </a:p>
          <a:p>
            <a:r>
              <a:rPr lang="en-US" sz="1200" dirty="0"/>
              <a:t>echo - Please change your default port to another port</a:t>
            </a:r>
          </a:p>
          <a:p>
            <a:r>
              <a:rPr lang="en-US" sz="1200" dirty="0"/>
              <a:t>echo. </a:t>
            </a:r>
          </a:p>
          <a:p>
            <a:r>
              <a:rPr lang="en-US" sz="1200" dirty="0"/>
              <a:t>echo Scan Port Complete..</a:t>
            </a:r>
          </a:p>
          <a:p>
            <a:r>
              <a:rPr lang="en-US" sz="1200" dirty="0"/>
              <a:t>echo.</a:t>
            </a:r>
          </a:p>
          <a:p>
            <a:r>
              <a:rPr lang="en-US" sz="1200" dirty="0"/>
              <a:t>pause</a:t>
            </a:r>
          </a:p>
          <a:p>
            <a:r>
              <a:rPr lang="en-US" sz="1200" dirty="0" err="1"/>
              <a:t>cls</a:t>
            </a:r>
            <a:endParaRPr lang="en-US" sz="1200" dirty="0"/>
          </a:p>
          <a:p>
            <a:r>
              <a:rPr lang="en-US" sz="1200" dirty="0" err="1"/>
              <a:t>goto</a:t>
            </a:r>
            <a:r>
              <a:rPr lang="en-US" sz="1200" dirty="0"/>
              <a:t> loop</a:t>
            </a:r>
          </a:p>
        </p:txBody>
      </p:sp>
    </p:spTree>
    <p:extLst>
      <p:ext uri="{BB962C8B-B14F-4D97-AF65-F5344CB8AC3E}">
        <p14:creationId xmlns:p14="http://schemas.microsoft.com/office/powerpoint/2010/main" val="220193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331761-3839-0505-1C6B-2ABA81B08B9A}"/>
              </a:ext>
            </a:extLst>
          </p:cNvPr>
          <p:cNvSpPr/>
          <p:nvPr/>
        </p:nvSpPr>
        <p:spPr>
          <a:xfrm>
            <a:off x="648187" y="1671858"/>
            <a:ext cx="33534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Congestion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B817B4-CA00-A491-8795-2FEA9C54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CCE82-B17F-C140-F8F1-7FC67F78B1C5}"/>
              </a:ext>
            </a:extLst>
          </p:cNvPr>
          <p:cNvSpPr txBox="1"/>
          <p:nvPr/>
        </p:nvSpPr>
        <p:spPr>
          <a:xfrm>
            <a:off x="1154051" y="2379744"/>
            <a:ext cx="9457801" cy="3098605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txBody>
          <a:bodyPr wrap="square">
            <a:spAutoFit/>
          </a:bodyPr>
          <a:lstStyle/>
          <a:p>
            <a:pPr marL="390525" marR="106045" indent="-342900" algn="just">
              <a:lnSpc>
                <a:spcPct val="1150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Congestion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merupakan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sebuah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kondisi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terjadi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pada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jaringan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komunikasi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dimana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terlalu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banyak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paket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datang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pada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sebuah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subnet yang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menyebabkan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kinerja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jaringan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menjadi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turun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390525" marR="106045" indent="-342900" algn="just">
              <a:lnSpc>
                <a:spcPct val="1150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Faktor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dapat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mempengaruhi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terjadinya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i="1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Congestion 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: </a:t>
            </a:r>
            <a:endParaRPr lang="en-ID" sz="2000" dirty="0">
              <a:effectLst/>
              <a:latin typeface="Segoe UI Symbol" panose="020B0502040204020203" pitchFamily="34" charset="0"/>
              <a:ea typeface="Segoe UI Symbol" panose="020B0502040204020203" pitchFamily="34" charset="0"/>
              <a:cs typeface="Times New Roman" panose="02020603050405020304" pitchFamily="18" charset="0"/>
            </a:endParaRPr>
          </a:p>
          <a:p>
            <a:pPr marL="742950" marR="106045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Trafik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masuk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mendekati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batas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maksimal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.</a:t>
            </a:r>
            <a:endParaRPr lang="en-ID" sz="2000" dirty="0">
              <a:latin typeface="Segoe UI Symbol" panose="020B0502040204020203" pitchFamily="34" charset="0"/>
              <a:ea typeface="Segoe UI Symbol" panose="020B0502040204020203" pitchFamily="34" charset="0"/>
              <a:cs typeface="Times New Roman" panose="02020603050405020304" pitchFamily="18" charset="0"/>
            </a:endParaRPr>
          </a:p>
          <a:p>
            <a:pPr marL="742950" marR="106045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Kinerja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perangkat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router yang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lambat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dalam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melakukan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queuing buffer, updating table, dan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sebagainya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. </a:t>
            </a:r>
            <a:endParaRPr lang="en-ID" sz="2000" dirty="0">
              <a:latin typeface="Segoe UI Symbol" panose="020B0502040204020203" pitchFamily="34" charset="0"/>
              <a:ea typeface="Segoe UI Symbol" panose="020B0502040204020203" pitchFamily="34" charset="0"/>
              <a:cs typeface="Times New Roman" panose="02020603050405020304" pitchFamily="18" charset="0"/>
            </a:endParaRPr>
          </a:p>
          <a:p>
            <a:pPr marL="742950" marR="106045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Buffer pada router yang </a:t>
            </a:r>
            <a:r>
              <a:rPr lang="en-US" sz="20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dibatasi</a:t>
            </a:r>
            <a:r>
              <a:rPr lang="en-US" sz="20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. </a:t>
            </a:r>
            <a:endParaRPr lang="en-ID" sz="2000" dirty="0">
              <a:effectLst/>
              <a:latin typeface="Segoe UI Symbol" panose="020B0502040204020203" pitchFamily="34" charset="0"/>
              <a:ea typeface="Segoe UI Symbol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48187" y="545465"/>
            <a:ext cx="10515600" cy="817822"/>
          </a:xfrm>
        </p:spPr>
        <p:txBody>
          <a:bodyPr/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Char char="ü"/>
            </a:pPr>
            <a:r>
              <a:rPr lang="en-US" dirty="0" smtClean="0"/>
              <a:t>Congestion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29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331761-3839-0505-1C6B-2ABA81B08B9A}"/>
              </a:ext>
            </a:extLst>
          </p:cNvPr>
          <p:cNvSpPr/>
          <p:nvPr/>
        </p:nvSpPr>
        <p:spPr>
          <a:xfrm>
            <a:off x="698064" y="137713"/>
            <a:ext cx="33534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QoS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B817B4-CA00-A491-8795-2FEA9C54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CCE82-B17F-C140-F8F1-7FC67F78B1C5}"/>
              </a:ext>
            </a:extLst>
          </p:cNvPr>
          <p:cNvSpPr txBox="1"/>
          <p:nvPr/>
        </p:nvSpPr>
        <p:spPr>
          <a:xfrm>
            <a:off x="989739" y="2108507"/>
            <a:ext cx="6006016" cy="3462743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ID" sz="2400" dirty="0">
                <a:solidFill>
                  <a:srgbClr val="000000"/>
                </a:solidFill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Quality of Services: </a:t>
            </a:r>
            <a:r>
              <a:rPr lang="en-ID" sz="2400" dirty="0" err="1">
                <a:solidFill>
                  <a:srgbClr val="000000"/>
                </a:solidFill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etode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pengukuran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bertujuan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untuk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menentukan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kemampuan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sebuah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jaringan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pada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kelas-kelas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tertentu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dalam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hal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ini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contohnya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seperti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aplikasi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jaringan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host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atau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perangkat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router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dengan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tujuan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memberikan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layanan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jaringan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lebih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baik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dan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maksimal</a:t>
            </a:r>
            <a:r>
              <a:rPr lang="en-ID" sz="2400" dirty="0">
                <a:solidFill>
                  <a:srgbClr val="000000"/>
                </a:solidFill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F67FF-DFAA-B39F-0412-55912BC5D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755" y="1209707"/>
            <a:ext cx="4361543" cy="436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3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331761-3839-0505-1C6B-2ABA81B08B9A}"/>
              </a:ext>
            </a:extLst>
          </p:cNvPr>
          <p:cNvSpPr/>
          <p:nvPr/>
        </p:nvSpPr>
        <p:spPr>
          <a:xfrm>
            <a:off x="698064" y="137713"/>
            <a:ext cx="33534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QoS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B817B4-CA00-A491-8795-2FEA9C54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D8FBB09-FD5C-0AC8-2F0C-D1B5F4D903B2}"/>
              </a:ext>
            </a:extLst>
          </p:cNvPr>
          <p:cNvGraphicFramePr/>
          <p:nvPr>
            <p:extLst/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881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331761-3839-0505-1C6B-2ABA81B08B9A}"/>
              </a:ext>
            </a:extLst>
          </p:cNvPr>
          <p:cNvSpPr/>
          <p:nvPr/>
        </p:nvSpPr>
        <p:spPr>
          <a:xfrm>
            <a:off x="698064" y="137713"/>
            <a:ext cx="33534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Bandwidth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B817B4-CA00-A491-8795-2FEA9C54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DE77F-37EF-1885-6D6D-C2DEDA696EE2}"/>
              </a:ext>
            </a:extLst>
          </p:cNvPr>
          <p:cNvSpPr txBox="1"/>
          <p:nvPr/>
        </p:nvSpPr>
        <p:spPr>
          <a:xfrm>
            <a:off x="990599" y="2668013"/>
            <a:ext cx="5750859" cy="2355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algn="just">
              <a:lnSpc>
                <a:spcPct val="115000"/>
              </a:lnSpc>
            </a:pP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Bandwidth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merupakan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kapasitas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atau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lebar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frekuensi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yang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dilewati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oleh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sinyal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dalam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media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transmisi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dengan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satuan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6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waktu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600" i="1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bit per second</a:t>
            </a:r>
            <a:r>
              <a:rPr lang="en-ID" sz="26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(bps).</a:t>
            </a:r>
            <a:endParaRPr lang="en-ID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48A58A-02C9-FB36-4A70-46B2E4354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007" y="1649505"/>
            <a:ext cx="3896405" cy="389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3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331761-3839-0505-1C6B-2ABA81B08B9A}"/>
              </a:ext>
            </a:extLst>
          </p:cNvPr>
          <p:cNvSpPr/>
          <p:nvPr/>
        </p:nvSpPr>
        <p:spPr>
          <a:xfrm>
            <a:off x="698064" y="137713"/>
            <a:ext cx="33534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Throughput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B817B4-CA00-A491-8795-2FEA9C54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DE77F-37EF-1885-6D6D-C2DEDA696EE2}"/>
              </a:ext>
            </a:extLst>
          </p:cNvPr>
          <p:cNvSpPr txBox="1"/>
          <p:nvPr/>
        </p:nvSpPr>
        <p:spPr>
          <a:xfrm>
            <a:off x="1008529" y="2392562"/>
            <a:ext cx="5750859" cy="207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algn="just">
              <a:lnSpc>
                <a:spcPct val="115000"/>
              </a:lnSpc>
            </a:pPr>
            <a:r>
              <a:rPr lang="en-ID" sz="2200" dirty="0" err="1">
                <a:solidFill>
                  <a:srgbClr val="000000"/>
                </a:solidFill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emampuan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atau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kecepatan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transfer data yang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sebenarnya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dalam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suatu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jaringan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ketika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terjadi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proses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pengiriman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data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dengan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satuan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waktu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i="1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bit per second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(bps). </a:t>
            </a:r>
          </a:p>
          <a:p>
            <a:pPr marL="270510" algn="just">
              <a:lnSpc>
                <a:spcPct val="115000"/>
              </a:lnSpc>
            </a:pPr>
            <a:endParaRPr lang="en-ID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218E4C-4C75-0E6A-2F9E-AE315983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970" y="4292972"/>
            <a:ext cx="4789976" cy="122928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E0C98A-8F06-D103-9E70-9FD27FC50B9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70887" y="2375605"/>
          <a:ext cx="4808735" cy="20728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5595">
                  <a:extLst>
                    <a:ext uri="{9D8B030D-6E8A-4147-A177-3AD203B41FA5}">
                      <a16:colId xmlns:a16="http://schemas.microsoft.com/office/drawing/2014/main" val="4236951660"/>
                    </a:ext>
                  </a:extLst>
                </a:gridCol>
                <a:gridCol w="1963321">
                  <a:extLst>
                    <a:ext uri="{9D8B030D-6E8A-4147-A177-3AD203B41FA5}">
                      <a16:colId xmlns:a16="http://schemas.microsoft.com/office/drawing/2014/main" val="1847924446"/>
                    </a:ext>
                  </a:extLst>
                </a:gridCol>
                <a:gridCol w="1149819">
                  <a:extLst>
                    <a:ext uri="{9D8B030D-6E8A-4147-A177-3AD203B41FA5}">
                      <a16:colId xmlns:a16="http://schemas.microsoft.com/office/drawing/2014/main" val="1743489804"/>
                    </a:ext>
                  </a:extLst>
                </a:gridCol>
              </a:tblGrid>
              <a:tr h="4700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Kategori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Throughput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Indeks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8599547"/>
                  </a:ext>
                </a:extLst>
              </a:tr>
              <a:tr h="3205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Bad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0-388 kbps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0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8579890"/>
                  </a:ext>
                </a:extLst>
              </a:tr>
              <a:tr h="3205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Poor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388-700 kbps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1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072899"/>
                  </a:ext>
                </a:extLst>
              </a:tr>
              <a:tr h="3205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Fair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700-1200 kbps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2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1584973"/>
                  </a:ext>
                </a:extLst>
              </a:tr>
              <a:tr h="3205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Good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1200 kbps-2,1 Mbps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3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9520058"/>
                  </a:ext>
                </a:extLst>
              </a:tr>
              <a:tr h="3205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Excelent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&gt;2,1 Mbps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 dirty="0">
                          <a:effectLst/>
                        </a:rPr>
                        <a:t>4</a:t>
                      </a:r>
                      <a:endParaRPr lang="en-ID" sz="12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135711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B5FBD76-B592-9B0E-E268-19ED08FA41D6}"/>
              </a:ext>
            </a:extLst>
          </p:cNvPr>
          <p:cNvSpPr txBox="1"/>
          <p:nvPr/>
        </p:nvSpPr>
        <p:spPr>
          <a:xfrm>
            <a:off x="7785846" y="1954775"/>
            <a:ext cx="359933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5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Standarisasi</a:t>
            </a:r>
            <a:r>
              <a:rPr lang="en-ID" sz="15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15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Penilaian</a:t>
            </a:r>
            <a:r>
              <a:rPr lang="en-ID" sz="15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QoS (TIPHON)</a:t>
            </a:r>
            <a:r>
              <a:rPr lang="en-ID" sz="1500" dirty="0">
                <a:effectLst/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endParaRPr lang="en-US" sz="15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43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331761-3839-0505-1C6B-2ABA81B08B9A}"/>
              </a:ext>
            </a:extLst>
          </p:cNvPr>
          <p:cNvSpPr/>
          <p:nvPr/>
        </p:nvSpPr>
        <p:spPr>
          <a:xfrm>
            <a:off x="698064" y="137713"/>
            <a:ext cx="33534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Jitter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B817B4-CA00-A491-8795-2FEA9C54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DE77F-37EF-1885-6D6D-C2DEDA696EE2}"/>
              </a:ext>
            </a:extLst>
          </p:cNvPr>
          <p:cNvSpPr txBox="1"/>
          <p:nvPr/>
        </p:nvSpPr>
        <p:spPr>
          <a:xfrm>
            <a:off x="1008529" y="2623286"/>
            <a:ext cx="5750859" cy="2005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algn="just">
              <a:lnSpc>
                <a:spcPct val="115000"/>
              </a:lnSpc>
            </a:pPr>
            <a:r>
              <a:rPr lang="en-ID" sz="22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V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ariasi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waktu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kedatangan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paket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data. Ketika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paket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data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dikirim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oleh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pengirim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dalam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waktu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secara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bersamaan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,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namun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kedatangan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paket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data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tersebut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bisa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jadi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tidak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bersaaman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.</a:t>
            </a:r>
            <a:r>
              <a:rPr lang="en-ID" sz="2200" dirty="0">
                <a:effectLst/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34A546-764E-956C-4156-E2A73FDEA0F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159326" y="2716309"/>
          <a:ext cx="4448960" cy="15184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3935">
                  <a:extLst>
                    <a:ext uri="{9D8B030D-6E8A-4147-A177-3AD203B41FA5}">
                      <a16:colId xmlns:a16="http://schemas.microsoft.com/office/drawing/2014/main" val="2625109727"/>
                    </a:ext>
                  </a:extLst>
                </a:gridCol>
                <a:gridCol w="1681090">
                  <a:extLst>
                    <a:ext uri="{9D8B030D-6E8A-4147-A177-3AD203B41FA5}">
                      <a16:colId xmlns:a16="http://schemas.microsoft.com/office/drawing/2014/main" val="1470605687"/>
                    </a:ext>
                  </a:extLst>
                </a:gridCol>
                <a:gridCol w="1383935">
                  <a:extLst>
                    <a:ext uri="{9D8B030D-6E8A-4147-A177-3AD203B41FA5}">
                      <a16:colId xmlns:a16="http://schemas.microsoft.com/office/drawing/2014/main" val="205383765"/>
                    </a:ext>
                  </a:extLst>
                </a:gridCol>
              </a:tblGrid>
              <a:tr h="3566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Kategori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Jitter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Indeks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7663179"/>
                  </a:ext>
                </a:extLst>
              </a:tr>
              <a:tr h="2904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Poor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125 - 225 ms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 dirty="0">
                          <a:effectLst/>
                        </a:rPr>
                        <a:t>1</a:t>
                      </a:r>
                      <a:endParaRPr lang="en-ID" sz="12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2930897"/>
                  </a:ext>
                </a:extLst>
              </a:tr>
              <a:tr h="2904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Medium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75 – 125 ms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2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9095704"/>
                  </a:ext>
                </a:extLst>
              </a:tr>
              <a:tr h="2904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Good 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0-75 ms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3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9098256"/>
                  </a:ext>
                </a:extLst>
              </a:tr>
              <a:tr h="2904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Perfect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0 ms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 dirty="0">
                          <a:effectLst/>
                        </a:rPr>
                        <a:t>4</a:t>
                      </a:r>
                      <a:endParaRPr lang="en-ID" sz="12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605675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02DE5B0-35F6-E0A4-5967-1558C16D2018}"/>
              </a:ext>
            </a:extLst>
          </p:cNvPr>
          <p:cNvSpPr txBox="1"/>
          <p:nvPr/>
        </p:nvSpPr>
        <p:spPr>
          <a:xfrm>
            <a:off x="7584141" y="2300121"/>
            <a:ext cx="359933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5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Standarisasi</a:t>
            </a:r>
            <a:r>
              <a:rPr lang="en-ID" sz="15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15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Penilaian</a:t>
            </a:r>
            <a:r>
              <a:rPr lang="en-ID" sz="15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Jitter (TIPHON)</a:t>
            </a:r>
            <a:r>
              <a:rPr lang="en-ID" sz="1500" dirty="0">
                <a:effectLst/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endParaRPr lang="en-US" sz="15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76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331761-3839-0505-1C6B-2ABA81B08B9A}"/>
              </a:ext>
            </a:extLst>
          </p:cNvPr>
          <p:cNvSpPr/>
          <p:nvPr/>
        </p:nvSpPr>
        <p:spPr>
          <a:xfrm>
            <a:off x="698064" y="137713"/>
            <a:ext cx="33534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Packet Loss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B817B4-CA00-A491-8795-2FEA9C54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DE77F-37EF-1885-6D6D-C2DEDA696EE2}"/>
              </a:ext>
            </a:extLst>
          </p:cNvPr>
          <p:cNvSpPr txBox="1"/>
          <p:nvPr/>
        </p:nvSpPr>
        <p:spPr>
          <a:xfrm>
            <a:off x="1008529" y="2623286"/>
            <a:ext cx="5750859" cy="1616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algn="just">
              <a:lnSpc>
                <a:spcPct val="115000"/>
              </a:lnSpc>
            </a:pP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Parameter yang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menggambarkan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suatu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kondisi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yang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menunjukkan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jumlah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total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paket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data yang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hilang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dari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pengirim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</a:t>
            </a:r>
            <a:r>
              <a:rPr lang="en-ID" sz="22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22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penerima</a:t>
            </a:r>
            <a:r>
              <a:rPr lang="en-ID" sz="2200" dirty="0">
                <a:solidFill>
                  <a:srgbClr val="000000"/>
                </a:solidFill>
                <a:latin typeface="Segoe UI Symbol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D" sz="2200" dirty="0">
              <a:effectLst/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2DE5B0-35F6-E0A4-5967-1558C16D2018}"/>
              </a:ext>
            </a:extLst>
          </p:cNvPr>
          <p:cNvSpPr txBox="1"/>
          <p:nvPr/>
        </p:nvSpPr>
        <p:spPr>
          <a:xfrm>
            <a:off x="7372854" y="2323208"/>
            <a:ext cx="39982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5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Standarisasi</a:t>
            </a:r>
            <a:r>
              <a:rPr lang="en-ID" sz="15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15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Penilaian</a:t>
            </a:r>
            <a:r>
              <a:rPr lang="en-ID" sz="15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15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Packet Loss</a:t>
            </a:r>
            <a:r>
              <a:rPr lang="en-ID" sz="15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(TIPHON)</a:t>
            </a:r>
            <a:r>
              <a:rPr lang="en-ID" sz="1500" dirty="0">
                <a:effectLst/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endParaRPr lang="en-US" sz="15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25B6C9-BD89-351B-B023-0AA5FD989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096" y="4492438"/>
            <a:ext cx="5892800" cy="10287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C72A9C-035D-2B7B-781E-AB51F941E97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161567" y="2751589"/>
          <a:ext cx="4420832" cy="1882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5185">
                  <a:extLst>
                    <a:ext uri="{9D8B030D-6E8A-4147-A177-3AD203B41FA5}">
                      <a16:colId xmlns:a16="http://schemas.microsoft.com/office/drawing/2014/main" val="119172642"/>
                    </a:ext>
                  </a:extLst>
                </a:gridCol>
                <a:gridCol w="1670462">
                  <a:extLst>
                    <a:ext uri="{9D8B030D-6E8A-4147-A177-3AD203B41FA5}">
                      <a16:colId xmlns:a16="http://schemas.microsoft.com/office/drawing/2014/main" val="4133516291"/>
                    </a:ext>
                  </a:extLst>
                </a:gridCol>
                <a:gridCol w="1375185">
                  <a:extLst>
                    <a:ext uri="{9D8B030D-6E8A-4147-A177-3AD203B41FA5}">
                      <a16:colId xmlns:a16="http://schemas.microsoft.com/office/drawing/2014/main" val="1556321550"/>
                    </a:ext>
                  </a:extLst>
                </a:gridCol>
              </a:tblGrid>
              <a:tr h="4420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Kategori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Packet Loss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Indeks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067714"/>
                  </a:ext>
                </a:extLst>
              </a:tr>
              <a:tr h="360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Poor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&gt; 25%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1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9126116"/>
                  </a:ext>
                </a:extLst>
              </a:tr>
              <a:tr h="360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Medium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12-24%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2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1303352"/>
                  </a:ext>
                </a:extLst>
              </a:tr>
              <a:tr h="360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Good 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3-14%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3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2474446"/>
                  </a:ext>
                </a:extLst>
              </a:tr>
              <a:tr h="360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Perfect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0-2%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 dirty="0">
                          <a:effectLst/>
                        </a:rPr>
                        <a:t>4</a:t>
                      </a:r>
                      <a:endParaRPr lang="en-ID" sz="12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3701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41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331761-3839-0505-1C6B-2ABA81B08B9A}"/>
              </a:ext>
            </a:extLst>
          </p:cNvPr>
          <p:cNvSpPr/>
          <p:nvPr/>
        </p:nvSpPr>
        <p:spPr>
          <a:xfrm>
            <a:off x="698064" y="137713"/>
            <a:ext cx="33534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Latency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B817B4-CA00-A491-8795-2FEA9C54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DE77F-37EF-1885-6D6D-C2DEDA696EE2}"/>
              </a:ext>
            </a:extLst>
          </p:cNvPr>
          <p:cNvSpPr txBox="1"/>
          <p:nvPr/>
        </p:nvSpPr>
        <p:spPr>
          <a:xfrm>
            <a:off x="1008529" y="2623286"/>
            <a:ext cx="10143565" cy="9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algn="just">
              <a:lnSpc>
                <a:spcPct val="115000"/>
              </a:lnSpc>
            </a:pPr>
            <a:r>
              <a:rPr lang="en-ID" sz="24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T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otal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waktu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tunda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suatu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paket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data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dari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satu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titik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ke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titik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lain 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menjadi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tujuannya</a:t>
            </a:r>
            <a:r>
              <a:rPr lang="en-ID" sz="24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.</a:t>
            </a:r>
            <a:r>
              <a:rPr lang="en-ID" sz="2400" dirty="0">
                <a:effectLst/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2DE5B0-35F6-E0A4-5967-1558C16D2018}"/>
              </a:ext>
            </a:extLst>
          </p:cNvPr>
          <p:cNvSpPr txBox="1"/>
          <p:nvPr/>
        </p:nvSpPr>
        <p:spPr>
          <a:xfrm>
            <a:off x="4285634" y="3621655"/>
            <a:ext cx="39982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5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Standarisasi</a:t>
            </a:r>
            <a:r>
              <a:rPr lang="en-ID" sz="15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1500" dirty="0" err="1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Penilaian</a:t>
            </a:r>
            <a:r>
              <a:rPr lang="en-ID" sz="15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15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Latency </a:t>
            </a:r>
            <a:r>
              <a:rPr lang="en-ID" sz="1500" dirty="0">
                <a:solidFill>
                  <a:srgbClr val="000000"/>
                </a:solidFill>
                <a:effectLst/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(TIPHON)</a:t>
            </a:r>
            <a:r>
              <a:rPr lang="en-ID" sz="1500" dirty="0">
                <a:effectLst/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endParaRPr lang="en-US" sz="15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B80371A-8A55-D992-8C6D-F07B205B80A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651379" y="4028836"/>
          <a:ext cx="4857863" cy="17757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1132">
                  <a:extLst>
                    <a:ext uri="{9D8B030D-6E8A-4147-A177-3AD203B41FA5}">
                      <a16:colId xmlns:a16="http://schemas.microsoft.com/office/drawing/2014/main" val="1196846348"/>
                    </a:ext>
                  </a:extLst>
                </a:gridCol>
                <a:gridCol w="1835599">
                  <a:extLst>
                    <a:ext uri="{9D8B030D-6E8A-4147-A177-3AD203B41FA5}">
                      <a16:colId xmlns:a16="http://schemas.microsoft.com/office/drawing/2014/main" val="2800571866"/>
                    </a:ext>
                  </a:extLst>
                </a:gridCol>
                <a:gridCol w="1511132">
                  <a:extLst>
                    <a:ext uri="{9D8B030D-6E8A-4147-A177-3AD203B41FA5}">
                      <a16:colId xmlns:a16="http://schemas.microsoft.com/office/drawing/2014/main" val="1791759555"/>
                    </a:ext>
                  </a:extLst>
                </a:gridCol>
              </a:tblGrid>
              <a:tr h="417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Kategori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Packet Loss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Indeks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7362481"/>
                  </a:ext>
                </a:extLst>
              </a:tr>
              <a:tr h="3396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Poor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&gt; 450 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1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8494255"/>
                  </a:ext>
                </a:extLst>
              </a:tr>
              <a:tr h="3396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Medium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300 – 450 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2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1040715"/>
                  </a:ext>
                </a:extLst>
              </a:tr>
              <a:tr h="3396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Good 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150 – 300 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3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9259157"/>
                  </a:ext>
                </a:extLst>
              </a:tr>
              <a:tr h="3396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Perfect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>
                          <a:effectLst/>
                        </a:rPr>
                        <a:t>&lt; 150 s</a:t>
                      </a:r>
                      <a:endParaRPr lang="en-ID" sz="12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200" dirty="0">
                          <a:effectLst/>
                        </a:rPr>
                        <a:t>4</a:t>
                      </a:r>
                      <a:endParaRPr lang="en-ID" sz="12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0653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10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652" y="2402378"/>
            <a:ext cx="8748464" cy="1219200"/>
          </a:xfrm>
        </p:spPr>
        <p:txBody>
          <a:bodyPr/>
          <a:lstStyle/>
          <a:p>
            <a:r>
              <a:rPr lang="en-US" dirty="0" smtClean="0"/>
              <a:t>Network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35968" y="4028498"/>
            <a:ext cx="10515600" cy="1649095"/>
          </a:xfrm>
        </p:spPr>
        <p:txBody>
          <a:bodyPr/>
          <a:lstStyle/>
          <a:p>
            <a:pPr lvl="1"/>
            <a:r>
              <a:rPr lang="en-GB" dirty="0" smtClean="0"/>
              <a:t>Bandwidth and Throughput</a:t>
            </a:r>
            <a:endParaRPr lang="en-GB" dirty="0"/>
          </a:p>
          <a:p>
            <a:pPr lvl="1"/>
            <a:r>
              <a:rPr lang="en-GB" dirty="0" smtClean="0"/>
              <a:t>Sources/Definitions </a:t>
            </a:r>
            <a:r>
              <a:rPr lang="en-GB" dirty="0"/>
              <a:t>of </a:t>
            </a:r>
            <a:r>
              <a:rPr lang="en-GB" dirty="0" smtClean="0"/>
              <a:t>latency, jitter and loss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37953" y="57871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Char char="ü"/>
            </a:pPr>
            <a:r>
              <a:rPr lang="en-US" dirty="0" smtClean="0"/>
              <a:t>Network Performance</a:t>
            </a:r>
            <a:endParaRPr lang="fr-FR" altLang="en-US" dirty="0" smtClean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98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ea typeface="ＭＳ Ｐゴシック" charset="0"/>
                <a:cs typeface="ＭＳ Ｐゴシック" charset="0"/>
              </a:rPr>
              <a:t>Network properties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Latency</a:t>
            </a:r>
            <a:endParaRPr lang="pt-PT" dirty="0" smtClean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pt-PT" dirty="0" smtClean="0">
                <a:ea typeface="ＭＳ Ｐゴシック" charset="0"/>
                <a:cs typeface="ＭＳ Ｐゴシック" charset="0"/>
              </a:rPr>
              <a:t>Network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Delays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–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fixed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and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variable</a:t>
            </a:r>
            <a:endParaRPr lang="pt-PT" dirty="0" smtClean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Jitter</a:t>
            </a:r>
            <a:endParaRPr lang="pt-PT" dirty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pt-PT" dirty="0" err="1" smtClean="0">
                <a:ea typeface="ＭＳ Ｐゴシック" charset="0"/>
              </a:rPr>
              <a:t>Variation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in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Delay</a:t>
            </a:r>
            <a:r>
              <a:rPr lang="pt-PT" dirty="0" smtClean="0">
                <a:ea typeface="ＭＳ Ｐゴシック" charset="0"/>
              </a:rPr>
              <a:t>: causes </a:t>
            </a:r>
            <a:r>
              <a:rPr lang="pt-PT" dirty="0" err="1" smtClean="0">
                <a:ea typeface="ＭＳ Ｐゴシック" charset="0"/>
              </a:rPr>
              <a:t>and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impact</a:t>
            </a:r>
            <a:endParaRPr lang="pt-PT" dirty="0">
              <a:ea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</a:rPr>
              <a:t>Throughput</a:t>
            </a:r>
            <a:endParaRPr lang="pt-PT" dirty="0" smtClean="0">
              <a:ea typeface="ＭＳ Ｐゴシック" charset="0"/>
            </a:endParaRPr>
          </a:p>
          <a:p>
            <a:pPr lvl="1" eaLnBrk="1" hangingPunct="1"/>
            <a:r>
              <a:rPr lang="pt-PT" dirty="0" err="1" smtClean="0">
                <a:ea typeface="ＭＳ Ｐゴシック" charset="0"/>
              </a:rPr>
              <a:t>Bandwidth</a:t>
            </a:r>
            <a:r>
              <a:rPr lang="pt-PT" dirty="0" smtClean="0">
                <a:ea typeface="ＭＳ Ｐゴシック" charset="0"/>
              </a:rPr>
              <a:t>/</a:t>
            </a:r>
            <a:r>
              <a:rPr lang="pt-PT" dirty="0" err="1" smtClean="0">
                <a:ea typeface="ＭＳ Ｐゴシック" charset="0"/>
              </a:rPr>
              <a:t>Capacity</a:t>
            </a:r>
            <a:r>
              <a:rPr lang="pt-PT" dirty="0" smtClean="0">
                <a:ea typeface="ＭＳ Ｐゴシック" charset="0"/>
              </a:rPr>
              <a:t>: </a:t>
            </a:r>
            <a:r>
              <a:rPr lang="pt-PT" dirty="0" err="1" smtClean="0">
                <a:ea typeface="ＭＳ Ｐゴシック" charset="0"/>
              </a:rPr>
              <a:t>actual</a:t>
            </a:r>
            <a:r>
              <a:rPr lang="pt-PT" dirty="0" smtClean="0">
                <a:ea typeface="ＭＳ Ｐゴシック" charset="0"/>
              </a:rPr>
              <a:t>/</a:t>
            </a:r>
            <a:r>
              <a:rPr lang="pt-PT" dirty="0" err="1" smtClean="0">
                <a:ea typeface="ＭＳ Ｐゴシック" charset="0"/>
              </a:rPr>
              <a:t>available</a:t>
            </a:r>
            <a:endParaRPr lang="pt-PT" dirty="0">
              <a:ea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Losses</a:t>
            </a:r>
            <a:endParaRPr lang="pt-PT" dirty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GB" dirty="0" smtClean="0">
                <a:ea typeface="ＭＳ Ｐゴシック" charset="0"/>
                <a:cs typeface="ＭＳ Ｐゴシック" charset="0"/>
              </a:rPr>
              <a:t>Packets drops, link and device failures, loops</a:t>
            </a:r>
            <a:endParaRPr lang="en-GB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4004DAE-B997-5447-86D1-CABA5110C66F}" type="slidenum">
              <a:rPr lang="en-GB" sz="1400"/>
              <a:pPr eaLnBrk="1" hangingPunct="1"/>
              <a:t>27</a:t>
            </a:fld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55335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Latency &amp; Jitter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2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Reality Check</a:t>
            </a:r>
            <a:endParaRPr lang="en-GB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36638" y="1700808"/>
            <a:ext cx="9631362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GB" sz="3500" dirty="0">
                <a:solidFill>
                  <a:srgbClr val="FF9900"/>
                </a:solidFill>
              </a:rPr>
              <a:t>GOLDEN RULE</a:t>
            </a:r>
          </a:p>
          <a:p>
            <a:pPr algn="ctr">
              <a:buFontTx/>
              <a:buNone/>
            </a:pPr>
            <a:r>
              <a:rPr lang="en-GB" dirty="0"/>
              <a:t>Information propagation IS NOT instantaneous</a:t>
            </a: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1676400" y="2880322"/>
            <a:ext cx="8648700" cy="2392363"/>
            <a:chOff x="624" y="2087"/>
            <a:chExt cx="5448" cy="1507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624" y="2880"/>
              <a:ext cx="5448" cy="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latin typeface="Arial" charset="0"/>
                </a:rPr>
                <a:t>It is not possible for </a:t>
              </a: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EVERY</a:t>
              </a:r>
              <a:r>
                <a:rPr lang="en-GB" sz="3100" b="1" dirty="0">
                  <a:latin typeface="Arial" charset="0"/>
                </a:rPr>
                <a:t> user to share the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EXACT</a:t>
              </a:r>
              <a:r>
                <a:rPr lang="en-GB" sz="3100" b="1" dirty="0">
                  <a:latin typeface="Arial" charset="0"/>
                </a:rPr>
                <a:t> same state at </a:t>
              </a: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EVERY</a:t>
              </a:r>
              <a:r>
                <a:rPr lang="en-GB" sz="3100" b="1" dirty="0">
                  <a:latin typeface="Arial" charset="0"/>
                </a:rPr>
                <a:t> instance</a:t>
              </a: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2705" y="2087"/>
              <a:ext cx="882" cy="624"/>
            </a:xfrm>
            <a:prstGeom prst="downArrow">
              <a:avLst>
                <a:gd name="adj1" fmla="val 50000"/>
                <a:gd name="adj2" fmla="val 25000"/>
              </a:avLst>
            </a:prstGeom>
            <a:ln>
              <a:headEnd/>
              <a:tailEnd/>
            </a:ln>
            <a:ex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GB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75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Impact on the Shared Experience</a:t>
            </a:r>
            <a:endParaRPr lang="en-GB" dirty="0"/>
          </a:p>
        </p:txBody>
      </p:sp>
      <p:grpSp>
        <p:nvGrpSpPr>
          <p:cNvPr id="6271" name="Group 6270"/>
          <p:cNvGrpSpPr/>
          <p:nvPr/>
        </p:nvGrpSpPr>
        <p:grpSpPr>
          <a:xfrm>
            <a:off x="4952992" y="4143380"/>
            <a:ext cx="2143140" cy="1500198"/>
            <a:chOff x="3428992" y="4143380"/>
            <a:chExt cx="2143140" cy="1500198"/>
          </a:xfrm>
        </p:grpSpPr>
        <p:sp>
          <p:nvSpPr>
            <p:cNvPr id="6179" name="Rectangle 6178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80" name="Freeform 6179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6181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03" name="Flowchart: Document 6202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04" name="Flowchart: Document 6203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05" name="Flowchart: Document 6204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  <p:sp>
          <p:nvSpPr>
            <p:cNvPr id="6182" name="Flowchart: Process 6181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83" name="Freeform 6182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84" name="Freeform 6183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185" name="Group 3043"/>
          <p:cNvGrpSpPr/>
          <p:nvPr/>
        </p:nvGrpSpPr>
        <p:grpSpPr>
          <a:xfrm>
            <a:off x="5024430" y="4929198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195" name="Oval 6194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6" name="Rectangle 6195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7" name="Rectangle 6196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8" name="Rectangle 6197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9" name="Rectangle 6198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00" name="Rectangle 6199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01" name="Oval 6200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02" name="Oval 6201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</p:grpSp>
      <p:grpSp>
        <p:nvGrpSpPr>
          <p:cNvPr id="6272" name="Group 6271"/>
          <p:cNvGrpSpPr/>
          <p:nvPr/>
        </p:nvGrpSpPr>
        <p:grpSpPr>
          <a:xfrm>
            <a:off x="2666976" y="1857364"/>
            <a:ext cx="2143140" cy="1500198"/>
            <a:chOff x="3428992" y="4143380"/>
            <a:chExt cx="2143140" cy="1500198"/>
          </a:xfrm>
        </p:grpSpPr>
        <p:sp>
          <p:nvSpPr>
            <p:cNvPr id="6273" name="Rectangle 6272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74" name="Freeform 6273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6275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79" name="Flowchart: Document 6278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80" name="Flowchart: Document 6279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81" name="Flowchart: Document 6280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  <p:sp>
          <p:nvSpPr>
            <p:cNvPr id="6276" name="Flowchart: Process 6275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77" name="Freeform 6276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78" name="Freeform 6277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282" name="Group 3043"/>
          <p:cNvGrpSpPr/>
          <p:nvPr/>
        </p:nvGrpSpPr>
        <p:grpSpPr>
          <a:xfrm>
            <a:off x="2738414" y="2643182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283" name="Oval 6282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4" name="Rectangle 6283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5" name="Rectangle 6284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6" name="Rectangle 6285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7" name="Rectangle 6286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8" name="Rectangle 6287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9" name="Oval 6288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0" name="Oval 6289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</p:grpSp>
      <p:grpSp>
        <p:nvGrpSpPr>
          <p:cNvPr id="6291" name="Group 6290"/>
          <p:cNvGrpSpPr/>
          <p:nvPr/>
        </p:nvGrpSpPr>
        <p:grpSpPr>
          <a:xfrm>
            <a:off x="7596198" y="1785926"/>
            <a:ext cx="2143140" cy="1500198"/>
            <a:chOff x="3428992" y="4143380"/>
            <a:chExt cx="2143140" cy="1500198"/>
          </a:xfrm>
        </p:grpSpPr>
        <p:sp>
          <p:nvSpPr>
            <p:cNvPr id="6292" name="Rectangle 6291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3" name="Freeform 6292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6294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98" name="Flowchart: Document 6297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99" name="Flowchart: Document 6298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300" name="Flowchart: Document 6299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  <p:sp>
          <p:nvSpPr>
            <p:cNvPr id="6295" name="Flowchart: Process 6294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6" name="Freeform 6295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7" name="Freeform 6296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301" name="Group 3043"/>
          <p:cNvGrpSpPr/>
          <p:nvPr/>
        </p:nvGrpSpPr>
        <p:grpSpPr>
          <a:xfrm>
            <a:off x="7667636" y="2571744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302" name="Oval 6301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3" name="Rectangle 6302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4" name="Rectangle 6303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5" name="Rectangle 6304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6" name="Rectangle 6305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7" name="Rectangle 6306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8" name="Oval 6307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9" name="Oval 6308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</p:grpSp>
      <p:sp>
        <p:nvSpPr>
          <p:cNvPr id="6310" name="TextBox 6309"/>
          <p:cNvSpPr txBox="1"/>
          <p:nvPr/>
        </p:nvSpPr>
        <p:spPr>
          <a:xfrm>
            <a:off x="3238481" y="3357563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Host A</a:t>
            </a:r>
          </a:p>
        </p:txBody>
      </p:sp>
      <p:sp>
        <p:nvSpPr>
          <p:cNvPr id="6311" name="TextBox 6310"/>
          <p:cNvSpPr txBox="1"/>
          <p:nvPr/>
        </p:nvSpPr>
        <p:spPr>
          <a:xfrm>
            <a:off x="5667373" y="5643579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Host B</a:t>
            </a:r>
          </a:p>
        </p:txBody>
      </p:sp>
      <p:sp>
        <p:nvSpPr>
          <p:cNvPr id="6312" name="TextBox 6311"/>
          <p:cNvSpPr txBox="1"/>
          <p:nvPr/>
        </p:nvSpPr>
        <p:spPr>
          <a:xfrm>
            <a:off x="8239141" y="3286125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Host C</a:t>
            </a:r>
          </a:p>
        </p:txBody>
      </p:sp>
    </p:spTree>
    <p:extLst>
      <p:ext uri="{BB962C8B-B14F-4D97-AF65-F5344CB8AC3E}">
        <p14:creationId xmlns:p14="http://schemas.microsoft.com/office/powerpoint/2010/main" val="418288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6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6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25362" y="2816395"/>
            <a:ext cx="964413" cy="964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Mental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95731" y="1651889"/>
            <a:ext cx="964413" cy="964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5731" y="3875823"/>
            <a:ext cx="964413" cy="964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Muscles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4113" y="2691379"/>
            <a:ext cx="964413" cy="964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Local Host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9209445" y="2852616"/>
            <a:ext cx="1214446" cy="857256"/>
            <a:chOff x="5929322" y="3357562"/>
            <a:chExt cx="1214446" cy="857256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15" name="Group 14"/>
            <p:cNvGrpSpPr/>
            <p:nvPr/>
          </p:nvGrpSpPr>
          <p:grpSpPr>
            <a:xfrm>
              <a:off x="5929322" y="3357562"/>
              <a:ext cx="1214446" cy="857256"/>
              <a:chOff x="5929322" y="3357562"/>
              <a:chExt cx="1214446" cy="857256"/>
            </a:xfrm>
            <a:grpFill/>
          </p:grpSpPr>
          <p:sp>
            <p:nvSpPr>
              <p:cNvPr id="10" name="Oval 9"/>
              <p:cNvSpPr/>
              <p:nvPr/>
            </p:nvSpPr>
            <p:spPr>
              <a:xfrm>
                <a:off x="5929322" y="3571876"/>
                <a:ext cx="785818" cy="4286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6143636" y="3357562"/>
                <a:ext cx="785818" cy="4286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6357950" y="3571876"/>
                <a:ext cx="785818" cy="4286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6000760" y="3786190"/>
                <a:ext cx="785818" cy="4286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6357950" y="3357562"/>
                <a:ext cx="785818" cy="4286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6215074" y="3571876"/>
              <a:ext cx="785818" cy="4286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latin typeface="Arial" pitchFamily="34" charset="0"/>
                  <a:cs typeface="Arial" pitchFamily="34" charset="0"/>
                </a:rPr>
                <a:t>Network</a:t>
              </a:r>
            </a:p>
          </p:txBody>
        </p:sp>
      </p:grpSp>
      <p:sp>
        <p:nvSpPr>
          <p:cNvPr id="24" name="Left-Right Arrow 23"/>
          <p:cNvSpPr/>
          <p:nvPr/>
        </p:nvSpPr>
        <p:spPr>
          <a:xfrm>
            <a:off x="2731251" y="3227163"/>
            <a:ext cx="500066" cy="214314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Left-Right Arrow 26"/>
          <p:cNvSpPr/>
          <p:nvPr/>
        </p:nvSpPr>
        <p:spPr>
          <a:xfrm>
            <a:off x="6596066" y="3155725"/>
            <a:ext cx="500066" cy="214314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Left-Right Arrow 29"/>
          <p:cNvSpPr/>
          <p:nvPr/>
        </p:nvSpPr>
        <p:spPr>
          <a:xfrm>
            <a:off x="8102156" y="3155725"/>
            <a:ext cx="500066" cy="214314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ight Arrow 30"/>
          <p:cNvSpPr/>
          <p:nvPr/>
        </p:nvSpPr>
        <p:spPr>
          <a:xfrm rot="5400000">
            <a:off x="3372373" y="2368087"/>
            <a:ext cx="682300" cy="2143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ight Arrow 32"/>
          <p:cNvSpPr/>
          <p:nvPr/>
        </p:nvSpPr>
        <p:spPr>
          <a:xfrm flipV="1">
            <a:off x="3729808" y="4251210"/>
            <a:ext cx="428628" cy="2143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1725361" y="5013113"/>
            <a:ext cx="3434782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160144" y="5013113"/>
            <a:ext cx="3364749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8524893" y="5013113"/>
            <a:ext cx="1898999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602221" y="2882963"/>
            <a:ext cx="821538" cy="7013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Access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52794" y="5155990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Human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7505" y="5155990"/>
            <a:ext cx="729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53521" y="5155990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Network</a:t>
            </a:r>
          </a:p>
        </p:txBody>
      </p:sp>
      <p:sp>
        <p:nvSpPr>
          <p:cNvPr id="2" name="Rectangle 1"/>
          <p:cNvSpPr/>
          <p:nvPr/>
        </p:nvSpPr>
        <p:spPr>
          <a:xfrm>
            <a:off x="3713524" y="2134095"/>
            <a:ext cx="482207" cy="773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 rot="5400000">
            <a:off x="3358966" y="4035886"/>
            <a:ext cx="690122" cy="76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231318" y="2816395"/>
            <a:ext cx="964413" cy="964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Human Brain</a:t>
            </a:r>
          </a:p>
        </p:txBody>
      </p:sp>
      <p:sp>
        <p:nvSpPr>
          <p:cNvPr id="36" name="Right Arrow 35"/>
          <p:cNvSpPr/>
          <p:nvPr/>
        </p:nvSpPr>
        <p:spPr>
          <a:xfrm flipH="1" flipV="1">
            <a:off x="5160143" y="2065608"/>
            <a:ext cx="1037222" cy="2143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ight Arrow 36"/>
          <p:cNvSpPr/>
          <p:nvPr/>
        </p:nvSpPr>
        <p:spPr>
          <a:xfrm rot="16200000" flipV="1">
            <a:off x="5749058" y="4006496"/>
            <a:ext cx="682300" cy="2143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5160144" y="4358384"/>
            <a:ext cx="933959" cy="1071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 rot="5400000">
            <a:off x="5659110" y="2547504"/>
            <a:ext cx="933959" cy="1071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611897" y="2775454"/>
            <a:ext cx="964413" cy="964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Devices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735403" y="5589241"/>
            <a:ext cx="8707868" cy="419875"/>
            <a:chOff x="211403" y="5434045"/>
            <a:chExt cx="8707868" cy="419875"/>
          </a:xfrm>
        </p:grpSpPr>
        <p:cxnSp>
          <p:nvCxnSpPr>
            <p:cNvPr id="43" name="Straight Connector 42"/>
            <p:cNvCxnSpPr/>
            <p:nvPr/>
          </p:nvCxnSpPr>
          <p:spPr>
            <a:xfrm flipV="1">
              <a:off x="211403" y="5434045"/>
              <a:ext cx="3434782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3646185" y="5434045"/>
              <a:ext cx="3364749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7020272" y="5434045"/>
              <a:ext cx="1898999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1122323" y="5576921"/>
              <a:ext cx="16129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Internal Processing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599032" y="5576921"/>
              <a:ext cx="1459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Local Processing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25248" y="5576921"/>
              <a:ext cx="16626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Network Processing</a:t>
              </a:r>
            </a:p>
          </p:txBody>
        </p:sp>
      </p:grp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Overview of the Challenge</a:t>
            </a:r>
            <a:endParaRPr lang="en-GB" dirty="0"/>
          </a:p>
        </p:txBody>
      </p:sp>
      <p:grpSp>
        <p:nvGrpSpPr>
          <p:cNvPr id="23" name="Group 22"/>
          <p:cNvGrpSpPr/>
          <p:nvPr/>
        </p:nvGrpSpPr>
        <p:grpSpPr>
          <a:xfrm>
            <a:off x="1735403" y="6021288"/>
            <a:ext cx="8794662" cy="720344"/>
            <a:chOff x="211403" y="5853920"/>
            <a:chExt cx="8794662" cy="720344"/>
          </a:xfrm>
        </p:grpSpPr>
        <p:sp>
          <p:nvSpPr>
            <p:cNvPr id="53" name="Left Brace 52"/>
            <p:cNvSpPr/>
            <p:nvPr/>
          </p:nvSpPr>
          <p:spPr>
            <a:xfrm rot="16200000">
              <a:off x="4412279" y="1653044"/>
              <a:ext cx="392910" cy="8794662"/>
            </a:xfrm>
            <a:prstGeom prst="leftBrace">
              <a:avLst>
                <a:gd name="adj1" fmla="val 44805"/>
                <a:gd name="adj2" fmla="val 50000"/>
              </a:avLst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77396" y="6297265"/>
              <a:ext cx="76626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The total processing time must not exceed the interactive threshold which is determined by </a:t>
              </a:r>
              <a:r>
                <a:rPr lang="en-GB" sz="1200" b="1" dirty="0" err="1">
                  <a:latin typeface="Arial" pitchFamily="34" charset="0"/>
                  <a:cs typeface="Arial" pitchFamily="34" charset="0"/>
                </a:rPr>
                <a:t>Gameplay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925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Rectangle 2307"/>
          <p:cNvSpPr/>
          <p:nvPr/>
        </p:nvSpPr>
        <p:spPr>
          <a:xfrm>
            <a:off x="3309918" y="2319348"/>
            <a:ext cx="4286280" cy="24288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Application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35560" y="260648"/>
            <a:ext cx="8153400" cy="990600"/>
          </a:xfrm>
        </p:spPr>
        <p:txBody>
          <a:bodyPr/>
          <a:lstStyle/>
          <a:p>
            <a:r>
              <a:rPr lang="en-GB" dirty="0" smtClean="0"/>
              <a:t>Latency and Jitter : Single Host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2095472" y="376503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298" name="Group 2297"/>
          <p:cNvGrpSpPr/>
          <p:nvPr/>
        </p:nvGrpSpPr>
        <p:grpSpPr>
          <a:xfrm>
            <a:off x="8310578" y="431961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778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</p:pic>
          <p:grpSp>
            <p:nvGrpSpPr>
              <p:cNvPr id="1780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grpSp>
              <p:nvGrpSpPr>
                <p:cNvPr id="1783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Calibri"/>
                  </a:endParaRPr>
                </a:p>
              </p:txBody>
            </p:sp>
            <p:grpSp>
              <p:nvGrpSpPr>
                <p:cNvPr id="178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78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1502" y="3319480"/>
            <a:ext cx="714380" cy="802118"/>
          </a:xfrm>
          <a:prstGeom prst="rect">
            <a:avLst/>
          </a:prstGeom>
          <a:noFill/>
        </p:spPr>
      </p:pic>
      <p:grpSp>
        <p:nvGrpSpPr>
          <p:cNvPr id="2299" name="Group 2298"/>
          <p:cNvGrpSpPr/>
          <p:nvPr/>
        </p:nvGrpSpPr>
        <p:grpSpPr>
          <a:xfrm>
            <a:off x="8739206" y="181928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809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810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811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7881950" y="2247910"/>
            <a:ext cx="571504" cy="1643074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7881950" y="389098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1853" name="Group 1852"/>
          <p:cNvGrpSpPr/>
          <p:nvPr/>
        </p:nvGrpSpPr>
        <p:grpSpPr>
          <a:xfrm>
            <a:off x="5095868" y="260510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noFill/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855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4952993" y="2319349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 Narrow" pitchFamily="34" charset="0"/>
              </a:rPr>
              <a:t>System Model</a:t>
            </a:r>
          </a:p>
        </p:txBody>
      </p:sp>
      <p:sp>
        <p:nvSpPr>
          <p:cNvPr id="2300" name="Rounded Rectangle 2299"/>
          <p:cNvSpPr/>
          <p:nvPr/>
        </p:nvSpPr>
        <p:spPr>
          <a:xfrm>
            <a:off x="3452794" y="3676670"/>
            <a:ext cx="1143008" cy="428628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Input</a:t>
            </a:r>
          </a:p>
        </p:txBody>
      </p:sp>
      <p:sp>
        <p:nvSpPr>
          <p:cNvPr id="2301" name="Rounded Rectangle 2300"/>
          <p:cNvSpPr/>
          <p:nvPr/>
        </p:nvSpPr>
        <p:spPr>
          <a:xfrm>
            <a:off x="4881554" y="3676670"/>
            <a:ext cx="1143008" cy="428628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2302" name="Rounded Rectangle 2301"/>
          <p:cNvSpPr/>
          <p:nvPr/>
        </p:nvSpPr>
        <p:spPr>
          <a:xfrm>
            <a:off x="6310314" y="3676670"/>
            <a:ext cx="1143008" cy="428628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Rendering</a:t>
            </a:r>
          </a:p>
        </p:txBody>
      </p:sp>
      <p:sp>
        <p:nvSpPr>
          <p:cNvPr id="2306" name="Right Arrow 2305"/>
          <p:cNvSpPr/>
          <p:nvPr/>
        </p:nvSpPr>
        <p:spPr>
          <a:xfrm>
            <a:off x="2952728" y="381954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7524760" y="3748108"/>
            <a:ext cx="500066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9" name="Right Arrow 2308"/>
          <p:cNvSpPr/>
          <p:nvPr/>
        </p:nvSpPr>
        <p:spPr>
          <a:xfrm>
            <a:off x="4595802" y="374810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6024562" y="374810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324" name="Group 2323"/>
          <p:cNvGrpSpPr/>
          <p:nvPr/>
        </p:nvGrpSpPr>
        <p:grpSpPr>
          <a:xfrm>
            <a:off x="2381224" y="4033860"/>
            <a:ext cx="785818" cy="1285884"/>
            <a:chOff x="857224" y="3429000"/>
            <a:chExt cx="785818" cy="1285884"/>
          </a:xfrm>
        </p:grpSpPr>
        <p:sp>
          <p:nvSpPr>
            <p:cNvPr id="2311" name="Oval 2310"/>
            <p:cNvSpPr/>
            <p:nvPr/>
          </p:nvSpPr>
          <p:spPr>
            <a:xfrm>
              <a:off x="857224" y="4357694"/>
              <a:ext cx="428628" cy="35719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cxnSp>
          <p:nvCxnSpPr>
            <p:cNvPr id="2313" name="Straight Arrow Connector 2312"/>
            <p:cNvCxnSpPr/>
            <p:nvPr/>
          </p:nvCxnSpPr>
          <p:spPr>
            <a:xfrm rot="5400000" flipH="1" flipV="1">
              <a:off x="892943" y="3607595"/>
              <a:ext cx="928694" cy="571504"/>
            </a:xfrm>
            <a:prstGeom prst="straightConnector1">
              <a:avLst/>
            </a:prstGeom>
            <a:ln>
              <a:headEnd type="none" w="med" len="med"/>
              <a:tailEnd type="oval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</p:grpSp>
      <p:grpSp>
        <p:nvGrpSpPr>
          <p:cNvPr id="2316" name="Group 2315"/>
          <p:cNvGrpSpPr/>
          <p:nvPr/>
        </p:nvGrpSpPr>
        <p:grpSpPr>
          <a:xfrm>
            <a:off x="4095736" y="4638720"/>
            <a:ext cx="642942" cy="1071570"/>
            <a:chOff x="1009624" y="4043384"/>
            <a:chExt cx="642942" cy="1071570"/>
          </a:xfrm>
        </p:grpSpPr>
        <p:sp>
          <p:nvSpPr>
            <p:cNvPr id="2314" name="Oval 2313"/>
            <p:cNvSpPr/>
            <p:nvPr/>
          </p:nvSpPr>
          <p:spPr>
            <a:xfrm>
              <a:off x="1009624" y="4510094"/>
              <a:ext cx="428628" cy="35719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cxnSp>
          <p:nvCxnSpPr>
            <p:cNvPr id="2315" name="Straight Arrow Connector 2314"/>
            <p:cNvCxnSpPr>
              <a:endCxn id="2309" idx="2"/>
            </p:cNvCxnSpPr>
            <p:nvPr/>
          </p:nvCxnSpPr>
          <p:spPr>
            <a:xfrm rot="5400000" flipH="1" flipV="1">
              <a:off x="902467" y="4364855"/>
              <a:ext cx="1071570" cy="428628"/>
            </a:xfrm>
            <a:prstGeom prst="straightConnector1">
              <a:avLst/>
            </a:prstGeom>
            <a:ln>
              <a:headEnd type="none" w="med" len="med"/>
              <a:tailEnd type="oval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</p:grpSp>
      <p:grpSp>
        <p:nvGrpSpPr>
          <p:cNvPr id="2319" name="Group 2318"/>
          <p:cNvGrpSpPr/>
          <p:nvPr/>
        </p:nvGrpSpPr>
        <p:grpSpPr>
          <a:xfrm>
            <a:off x="6167438" y="4638720"/>
            <a:ext cx="571504" cy="1285884"/>
            <a:chOff x="866748" y="3829070"/>
            <a:chExt cx="571504" cy="1285884"/>
          </a:xfrm>
        </p:grpSpPr>
        <p:sp>
          <p:nvSpPr>
            <p:cNvPr id="2320" name="Oval 2319"/>
            <p:cNvSpPr/>
            <p:nvPr/>
          </p:nvSpPr>
          <p:spPr>
            <a:xfrm>
              <a:off x="1009624" y="4510094"/>
              <a:ext cx="428628" cy="35719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cxnSp>
          <p:nvCxnSpPr>
            <p:cNvPr id="2321" name="Straight Arrow Connector 2320"/>
            <p:cNvCxnSpPr>
              <a:endCxn id="2310" idx="2"/>
            </p:cNvCxnSpPr>
            <p:nvPr/>
          </p:nvCxnSpPr>
          <p:spPr>
            <a:xfrm rot="16200000" flipV="1">
              <a:off x="402401" y="4293417"/>
              <a:ext cx="1285884" cy="357190"/>
            </a:xfrm>
            <a:prstGeom prst="straightConnector1">
              <a:avLst/>
            </a:prstGeom>
            <a:ln>
              <a:headEnd type="none" w="med" len="med"/>
              <a:tailEnd type="oval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90788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Rectangle 2307"/>
          <p:cNvSpPr/>
          <p:nvPr/>
        </p:nvSpPr>
        <p:spPr>
          <a:xfrm>
            <a:off x="3309918" y="1714488"/>
            <a:ext cx="4286280" cy="24288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>
                <a:latin typeface="Arial" pitchFamily="34" charset="0"/>
                <a:cs typeface="Arial" pitchFamily="34" charset="0"/>
              </a:rPr>
              <a:t>Application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Networked Host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2095472" y="316017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" name="Group 2297"/>
          <p:cNvGrpSpPr/>
          <p:nvPr/>
        </p:nvGrpSpPr>
        <p:grpSpPr>
          <a:xfrm>
            <a:off x="8310578" y="371475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4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  <a:noFill/>
            </p:spPr>
          </p:pic>
          <p:grpSp>
            <p:nvGrpSpPr>
              <p:cNvPr id="5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solidFill>
                  <a:srgbClr val="4F81BD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grpSp>
              <p:nvGrpSpPr>
                <p:cNvPr id="6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Calibri"/>
                  </a:endParaRPr>
                </a:p>
              </p:txBody>
            </p:sp>
            <p:grpSp>
              <p:nvGrpSpPr>
                <p:cNvPr id="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1502" y="2714620"/>
            <a:ext cx="714380" cy="802118"/>
          </a:xfrm>
          <a:prstGeom prst="rect">
            <a:avLst/>
          </a:prstGeom>
          <a:noFill/>
        </p:spPr>
      </p:pic>
      <p:grpSp>
        <p:nvGrpSpPr>
          <p:cNvPr id="9" name="Group 2298"/>
          <p:cNvGrpSpPr/>
          <p:nvPr/>
        </p:nvGrpSpPr>
        <p:grpSpPr>
          <a:xfrm>
            <a:off x="8739206" y="121442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0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1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solidFill>
                  <a:srgbClr val="D59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solidFill>
                  <a:srgbClr val="E7BE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2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7881950" y="1643050"/>
            <a:ext cx="571504" cy="1643074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7881950" y="328612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13" name="Group 1852"/>
          <p:cNvGrpSpPr/>
          <p:nvPr/>
        </p:nvGrpSpPr>
        <p:grpSpPr>
          <a:xfrm>
            <a:off x="5095868" y="200024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4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4952993" y="1714489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 Narrow" pitchFamily="34" charset="0"/>
              </a:rPr>
              <a:t>System Model</a:t>
            </a:r>
          </a:p>
        </p:txBody>
      </p:sp>
      <p:sp>
        <p:nvSpPr>
          <p:cNvPr id="2300" name="Rounded Rectangle 2299"/>
          <p:cNvSpPr/>
          <p:nvPr/>
        </p:nvSpPr>
        <p:spPr>
          <a:xfrm>
            <a:off x="345279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Input</a:t>
            </a:r>
          </a:p>
        </p:txBody>
      </p:sp>
      <p:sp>
        <p:nvSpPr>
          <p:cNvPr id="2301" name="Rounded Rectangle 2300"/>
          <p:cNvSpPr/>
          <p:nvPr/>
        </p:nvSpPr>
        <p:spPr>
          <a:xfrm>
            <a:off x="488155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2302" name="Rounded Rectangle 2301"/>
          <p:cNvSpPr/>
          <p:nvPr/>
        </p:nvSpPr>
        <p:spPr>
          <a:xfrm>
            <a:off x="631031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Rendering</a:t>
            </a:r>
          </a:p>
        </p:txBody>
      </p:sp>
      <p:sp>
        <p:nvSpPr>
          <p:cNvPr id="2306" name="Right Arrow 2305"/>
          <p:cNvSpPr/>
          <p:nvPr/>
        </p:nvSpPr>
        <p:spPr>
          <a:xfrm>
            <a:off x="2952728" y="321468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7524760" y="3143248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9" name="Right Arrow 2308"/>
          <p:cNvSpPr/>
          <p:nvPr/>
        </p:nvSpPr>
        <p:spPr>
          <a:xfrm rot="5400000">
            <a:off x="3631389" y="3821909"/>
            <a:ext cx="785818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6024562" y="3143248"/>
            <a:ext cx="285752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05" name="Right Arrow 104"/>
          <p:cNvSpPr/>
          <p:nvPr/>
        </p:nvSpPr>
        <p:spPr>
          <a:xfrm rot="16200000" flipV="1">
            <a:off x="5060149" y="3750471"/>
            <a:ext cx="785818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3881422" y="4357694"/>
            <a:ext cx="1785950" cy="857256"/>
            <a:chOff x="2357422" y="4357694"/>
            <a:chExt cx="1785950" cy="857256"/>
          </a:xfrm>
        </p:grpSpPr>
        <p:sp>
          <p:nvSpPr>
            <p:cNvPr id="106" name="Rectangle 105"/>
            <p:cNvSpPr/>
            <p:nvPr/>
          </p:nvSpPr>
          <p:spPr>
            <a:xfrm>
              <a:off x="2357422" y="4357694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Network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357422" y="4643446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Link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357422" y="4929198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Physical</a:t>
              </a:r>
            </a:p>
          </p:txBody>
        </p:sp>
      </p:grpSp>
      <p:sp>
        <p:nvSpPr>
          <p:cNvPr id="109" name="Right Arrow 108"/>
          <p:cNvSpPr/>
          <p:nvPr/>
        </p:nvSpPr>
        <p:spPr>
          <a:xfrm rot="5400000">
            <a:off x="4524364" y="5286388"/>
            <a:ext cx="285752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0" name="Right Arrow 109"/>
          <p:cNvSpPr/>
          <p:nvPr/>
        </p:nvSpPr>
        <p:spPr>
          <a:xfrm rot="16200000" flipV="1">
            <a:off x="4810116" y="5214950"/>
            <a:ext cx="285752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1" name="Cloud 110"/>
          <p:cNvSpPr/>
          <p:nvPr/>
        </p:nvSpPr>
        <p:spPr>
          <a:xfrm>
            <a:off x="3952860" y="5572140"/>
            <a:ext cx="1785950" cy="571504"/>
          </a:xfrm>
          <a:prstGeom prst="clou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Internet</a:t>
            </a:r>
          </a:p>
        </p:txBody>
      </p:sp>
      <p:grpSp>
        <p:nvGrpSpPr>
          <p:cNvPr id="113" name="Group 112"/>
          <p:cNvGrpSpPr/>
          <p:nvPr/>
        </p:nvGrpSpPr>
        <p:grpSpPr>
          <a:xfrm>
            <a:off x="2095472" y="3429002"/>
            <a:ext cx="1071570" cy="1071569"/>
            <a:chOff x="571472" y="3429001"/>
            <a:chExt cx="1071570" cy="1071569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4" name="Oval 113"/>
            <p:cNvSpPr/>
            <p:nvPr/>
          </p:nvSpPr>
          <p:spPr>
            <a:xfrm>
              <a:off x="571472" y="4143380"/>
              <a:ext cx="428628" cy="35719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cxnSp>
          <p:nvCxnSpPr>
            <p:cNvPr id="115" name="Straight Arrow Connector 114"/>
            <p:cNvCxnSpPr>
              <a:stCxn id="114" idx="7"/>
            </p:cNvCxnSpPr>
            <p:nvPr/>
          </p:nvCxnSpPr>
          <p:spPr>
            <a:xfrm rot="5400000" flipH="1" flipV="1">
              <a:off x="906841" y="3459489"/>
              <a:ext cx="766689" cy="705713"/>
            </a:xfrm>
            <a:prstGeom prst="straightConnector1">
              <a:avLst/>
            </a:prstGeom>
            <a:grpFill/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2952729" y="3857630"/>
            <a:ext cx="1000133" cy="1214445"/>
            <a:chOff x="857224" y="3357563"/>
            <a:chExt cx="1000133" cy="121444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7" name="Oval 116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cxnSp>
          <p:nvCxnSpPr>
            <p:cNvPr id="118" name="Straight Arrow Connector 117"/>
            <p:cNvCxnSpPr/>
            <p:nvPr/>
          </p:nvCxnSpPr>
          <p:spPr>
            <a:xfrm rot="5400000" flipH="1" flipV="1">
              <a:off x="1071539" y="3429001"/>
              <a:ext cx="857255" cy="714380"/>
            </a:xfrm>
            <a:prstGeom prst="straightConnector1">
              <a:avLst/>
            </a:prstGeom>
            <a:grpFill/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/>
          <p:cNvGrpSpPr/>
          <p:nvPr/>
        </p:nvGrpSpPr>
        <p:grpSpPr>
          <a:xfrm>
            <a:off x="3238480" y="5715016"/>
            <a:ext cx="714380" cy="357190"/>
            <a:chOff x="857224" y="4214818"/>
            <a:chExt cx="714380" cy="35719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3" name="Oval 122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cxnSp>
          <p:nvCxnSpPr>
            <p:cNvPr id="124" name="Straight Arrow Connector 123"/>
            <p:cNvCxnSpPr>
              <a:stCxn id="123" idx="6"/>
            </p:cNvCxnSpPr>
            <p:nvPr/>
          </p:nvCxnSpPr>
          <p:spPr>
            <a:xfrm flipV="1">
              <a:off x="1285852" y="4357694"/>
              <a:ext cx="285752" cy="35719"/>
            </a:xfrm>
            <a:prstGeom prst="straightConnector1">
              <a:avLst/>
            </a:prstGeom>
            <a:grpFill/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5524498" y="3857628"/>
            <a:ext cx="785817" cy="1214446"/>
            <a:chOff x="928665" y="3500440"/>
            <a:chExt cx="785817" cy="1214446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6" name="Oval 125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  <p:cxnSp>
          <p:nvCxnSpPr>
            <p:cNvPr id="127" name="Straight Arrow Connector 126"/>
            <p:cNvCxnSpPr>
              <a:stCxn id="126" idx="1"/>
            </p:cNvCxnSpPr>
            <p:nvPr/>
          </p:nvCxnSpPr>
          <p:spPr>
            <a:xfrm rot="16200000" flipV="1">
              <a:off x="683863" y="3745242"/>
              <a:ext cx="909565" cy="419961"/>
            </a:xfrm>
            <a:prstGeom prst="straightConnector1">
              <a:avLst/>
            </a:prstGeom>
            <a:grpFill/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/>
          <p:cNvGrpSpPr/>
          <p:nvPr/>
        </p:nvGrpSpPr>
        <p:grpSpPr>
          <a:xfrm>
            <a:off x="6167439" y="3429000"/>
            <a:ext cx="1143004" cy="1571634"/>
            <a:chOff x="928666" y="3143250"/>
            <a:chExt cx="1143004" cy="1571634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8" name="Oval 137"/>
            <p:cNvSpPr/>
            <p:nvPr/>
          </p:nvSpPr>
          <p:spPr>
            <a:xfrm>
              <a:off x="1643042" y="4357694"/>
              <a:ext cx="428628" cy="35719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  <p:cxnSp>
          <p:nvCxnSpPr>
            <p:cNvPr id="139" name="Straight Arrow Connector 138"/>
            <p:cNvCxnSpPr>
              <a:stCxn id="138" idx="1"/>
              <a:endCxn id="2310" idx="2"/>
            </p:cNvCxnSpPr>
            <p:nvPr/>
          </p:nvCxnSpPr>
          <p:spPr>
            <a:xfrm rot="16200000" flipV="1">
              <a:off x="683863" y="3388053"/>
              <a:ext cx="1266753" cy="777148"/>
            </a:xfrm>
            <a:prstGeom prst="straightConnector1">
              <a:avLst/>
            </a:prstGeom>
            <a:grpFill/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8824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3309918" y="6072206"/>
            <a:ext cx="4286280" cy="5714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>
                <a:latin typeface="Arial" pitchFamily="34" charset="0"/>
                <a:cs typeface="Arial" pitchFamily="34" charset="0"/>
              </a:rPr>
              <a:t>Server Application</a:t>
            </a:r>
          </a:p>
        </p:txBody>
      </p:sp>
      <p:sp>
        <p:nvSpPr>
          <p:cNvPr id="2308" name="Rectangle 2307"/>
          <p:cNvSpPr/>
          <p:nvPr/>
        </p:nvSpPr>
        <p:spPr>
          <a:xfrm>
            <a:off x="3309918" y="1357298"/>
            <a:ext cx="4286280" cy="24288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>
                <a:latin typeface="Arial" pitchFamily="34" charset="0"/>
                <a:cs typeface="Arial" pitchFamily="34" charset="0"/>
              </a:rPr>
              <a:t>Application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Client and Server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2095472" y="280298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" name="Group 2297"/>
          <p:cNvGrpSpPr/>
          <p:nvPr/>
        </p:nvGrpSpPr>
        <p:grpSpPr>
          <a:xfrm>
            <a:off x="8310578" y="335756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4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  <a:noFill/>
            </p:spPr>
          </p:pic>
          <p:grpSp>
            <p:nvGrpSpPr>
              <p:cNvPr id="5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solidFill>
                  <a:srgbClr val="4F81BD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grpSp>
              <p:nvGrpSpPr>
                <p:cNvPr id="6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Calibri"/>
                  </a:endParaRPr>
                </a:p>
              </p:txBody>
            </p:sp>
            <p:grpSp>
              <p:nvGrpSpPr>
                <p:cNvPr id="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1502" y="2357430"/>
            <a:ext cx="714380" cy="802118"/>
          </a:xfrm>
          <a:prstGeom prst="rect">
            <a:avLst/>
          </a:prstGeom>
          <a:noFill/>
        </p:spPr>
      </p:pic>
      <p:grpSp>
        <p:nvGrpSpPr>
          <p:cNvPr id="9" name="Group 2298"/>
          <p:cNvGrpSpPr/>
          <p:nvPr/>
        </p:nvGrpSpPr>
        <p:grpSpPr>
          <a:xfrm>
            <a:off x="8739206" y="121442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0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1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solidFill>
                  <a:srgbClr val="D59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solidFill>
                  <a:srgbClr val="E7BE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2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7881950" y="1857364"/>
            <a:ext cx="571504" cy="1071570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7881950" y="292893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13" name="Group 1852"/>
          <p:cNvGrpSpPr/>
          <p:nvPr/>
        </p:nvGrpSpPr>
        <p:grpSpPr>
          <a:xfrm>
            <a:off x="5095868" y="164305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4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4952993" y="1357299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 Narrow" pitchFamily="34" charset="0"/>
              </a:rPr>
              <a:t>System Model</a:t>
            </a:r>
          </a:p>
        </p:txBody>
      </p:sp>
      <p:sp>
        <p:nvSpPr>
          <p:cNvPr id="2300" name="Rounded Rectangle 2299"/>
          <p:cNvSpPr/>
          <p:nvPr/>
        </p:nvSpPr>
        <p:spPr>
          <a:xfrm>
            <a:off x="3452794" y="271462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Input</a:t>
            </a:r>
          </a:p>
        </p:txBody>
      </p:sp>
      <p:sp>
        <p:nvSpPr>
          <p:cNvPr id="2301" name="Rounded Rectangle 2300"/>
          <p:cNvSpPr/>
          <p:nvPr/>
        </p:nvSpPr>
        <p:spPr>
          <a:xfrm>
            <a:off x="4881554" y="271462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2302" name="Rounded Rectangle 2301"/>
          <p:cNvSpPr/>
          <p:nvPr/>
        </p:nvSpPr>
        <p:spPr>
          <a:xfrm>
            <a:off x="6310314" y="271462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Rendering</a:t>
            </a:r>
          </a:p>
        </p:txBody>
      </p:sp>
      <p:sp>
        <p:nvSpPr>
          <p:cNvPr id="2306" name="Right Arrow 2305"/>
          <p:cNvSpPr/>
          <p:nvPr/>
        </p:nvSpPr>
        <p:spPr>
          <a:xfrm>
            <a:off x="2952728" y="285749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7524760" y="2786058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9" name="Right Arrow 2308"/>
          <p:cNvSpPr/>
          <p:nvPr/>
        </p:nvSpPr>
        <p:spPr>
          <a:xfrm rot="5400000">
            <a:off x="3631389" y="3464719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6024562" y="278605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05" name="Right Arrow 104"/>
          <p:cNvSpPr/>
          <p:nvPr/>
        </p:nvSpPr>
        <p:spPr>
          <a:xfrm rot="16200000" flipV="1">
            <a:off x="5060149" y="3393281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5" name="Group 111"/>
          <p:cNvGrpSpPr/>
          <p:nvPr/>
        </p:nvGrpSpPr>
        <p:grpSpPr>
          <a:xfrm>
            <a:off x="3881422" y="4000504"/>
            <a:ext cx="1785950" cy="857256"/>
            <a:chOff x="2357422" y="4357694"/>
            <a:chExt cx="1785950" cy="857256"/>
          </a:xfrm>
        </p:grpSpPr>
        <p:sp>
          <p:nvSpPr>
            <p:cNvPr id="106" name="Rectangle 105"/>
            <p:cNvSpPr/>
            <p:nvPr/>
          </p:nvSpPr>
          <p:spPr>
            <a:xfrm>
              <a:off x="2357422" y="4357694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Network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357422" y="4643446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Link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357422" y="4929198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Physical</a:t>
              </a:r>
            </a:p>
          </p:txBody>
        </p:sp>
      </p:grpSp>
      <p:sp>
        <p:nvSpPr>
          <p:cNvPr id="109" name="Right Arrow 108"/>
          <p:cNvSpPr/>
          <p:nvPr/>
        </p:nvSpPr>
        <p:spPr>
          <a:xfrm rot="5400000">
            <a:off x="4524364" y="492919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0" name="Right Arrow 109"/>
          <p:cNvSpPr/>
          <p:nvPr/>
        </p:nvSpPr>
        <p:spPr>
          <a:xfrm rot="16200000" flipV="1">
            <a:off x="4810116" y="4857760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1" name="Cloud 110"/>
          <p:cNvSpPr/>
          <p:nvPr/>
        </p:nvSpPr>
        <p:spPr>
          <a:xfrm>
            <a:off x="3952860" y="5214950"/>
            <a:ext cx="1785950" cy="571504"/>
          </a:xfrm>
          <a:prstGeom prst="clou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Internet</a:t>
            </a:r>
          </a:p>
        </p:txBody>
      </p:sp>
      <p:grpSp>
        <p:nvGrpSpPr>
          <p:cNvPr id="16" name="Group 112"/>
          <p:cNvGrpSpPr/>
          <p:nvPr/>
        </p:nvGrpSpPr>
        <p:grpSpPr>
          <a:xfrm>
            <a:off x="2095472" y="3071812"/>
            <a:ext cx="1071570" cy="1071569"/>
            <a:chOff x="571472" y="3429001"/>
            <a:chExt cx="1071570" cy="1071569"/>
          </a:xfrm>
        </p:grpSpPr>
        <p:sp>
          <p:nvSpPr>
            <p:cNvPr id="114" name="Oval 113"/>
            <p:cNvSpPr/>
            <p:nvPr/>
          </p:nvSpPr>
          <p:spPr>
            <a:xfrm>
              <a:off x="571472" y="4143380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cxnSp>
          <p:nvCxnSpPr>
            <p:cNvPr id="115" name="Straight Arrow Connector 114"/>
            <p:cNvCxnSpPr>
              <a:stCxn id="114" idx="7"/>
            </p:cNvCxnSpPr>
            <p:nvPr/>
          </p:nvCxnSpPr>
          <p:spPr>
            <a:xfrm rot="5400000" flipH="1" flipV="1">
              <a:off x="906841" y="3459489"/>
              <a:ext cx="766689" cy="705713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15"/>
          <p:cNvGrpSpPr/>
          <p:nvPr/>
        </p:nvGrpSpPr>
        <p:grpSpPr>
          <a:xfrm>
            <a:off x="2952729" y="3500440"/>
            <a:ext cx="1000133" cy="1214445"/>
            <a:chOff x="857224" y="3357563"/>
            <a:chExt cx="1000133" cy="1214445"/>
          </a:xfrm>
        </p:grpSpPr>
        <p:sp>
          <p:nvSpPr>
            <p:cNvPr id="117" name="Oval 116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cxnSp>
          <p:nvCxnSpPr>
            <p:cNvPr id="118" name="Straight Arrow Connector 117"/>
            <p:cNvCxnSpPr/>
            <p:nvPr/>
          </p:nvCxnSpPr>
          <p:spPr>
            <a:xfrm rot="5400000" flipH="1" flipV="1">
              <a:off x="1071539" y="3429001"/>
              <a:ext cx="857255" cy="71438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21"/>
          <p:cNvGrpSpPr/>
          <p:nvPr/>
        </p:nvGrpSpPr>
        <p:grpSpPr>
          <a:xfrm>
            <a:off x="3238480" y="5357826"/>
            <a:ext cx="714380" cy="357190"/>
            <a:chOff x="857224" y="4214818"/>
            <a:chExt cx="714380" cy="357190"/>
          </a:xfrm>
        </p:grpSpPr>
        <p:sp>
          <p:nvSpPr>
            <p:cNvPr id="123" name="Oval 122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cxnSp>
          <p:nvCxnSpPr>
            <p:cNvPr id="124" name="Straight Arrow Connector 123"/>
            <p:cNvCxnSpPr>
              <a:stCxn id="123" idx="6"/>
            </p:cNvCxnSpPr>
            <p:nvPr/>
          </p:nvCxnSpPr>
          <p:spPr>
            <a:xfrm flipV="1">
              <a:off x="1285852" y="4357694"/>
              <a:ext cx="285752" cy="35719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24"/>
          <p:cNvGrpSpPr/>
          <p:nvPr/>
        </p:nvGrpSpPr>
        <p:grpSpPr>
          <a:xfrm>
            <a:off x="5524498" y="3500438"/>
            <a:ext cx="785817" cy="1214446"/>
            <a:chOff x="928665" y="3500440"/>
            <a:chExt cx="785817" cy="1214446"/>
          </a:xfrm>
        </p:grpSpPr>
        <p:sp>
          <p:nvSpPr>
            <p:cNvPr id="126" name="Oval 125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  <p:cxnSp>
          <p:nvCxnSpPr>
            <p:cNvPr id="127" name="Straight Arrow Connector 126"/>
            <p:cNvCxnSpPr>
              <a:stCxn id="126" idx="1"/>
            </p:cNvCxnSpPr>
            <p:nvPr/>
          </p:nvCxnSpPr>
          <p:spPr>
            <a:xfrm rot="16200000" flipV="1">
              <a:off x="683863" y="3745242"/>
              <a:ext cx="909565" cy="41996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36"/>
          <p:cNvGrpSpPr/>
          <p:nvPr/>
        </p:nvGrpSpPr>
        <p:grpSpPr>
          <a:xfrm>
            <a:off x="6167439" y="3000372"/>
            <a:ext cx="1143004" cy="1643072"/>
            <a:chOff x="928666" y="3071812"/>
            <a:chExt cx="1143004" cy="1643072"/>
          </a:xfrm>
        </p:grpSpPr>
        <p:sp>
          <p:nvSpPr>
            <p:cNvPr id="138" name="Oval 137"/>
            <p:cNvSpPr/>
            <p:nvPr/>
          </p:nvSpPr>
          <p:spPr>
            <a:xfrm>
              <a:off x="1643042" y="43576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6</a:t>
              </a:r>
            </a:p>
          </p:txBody>
        </p:sp>
        <p:cxnSp>
          <p:nvCxnSpPr>
            <p:cNvPr id="139" name="Straight Arrow Connector 138"/>
            <p:cNvCxnSpPr>
              <a:stCxn id="138" idx="1"/>
              <a:endCxn id="2310" idx="2"/>
            </p:cNvCxnSpPr>
            <p:nvPr/>
          </p:nvCxnSpPr>
          <p:spPr>
            <a:xfrm rot="16200000" flipV="1">
              <a:off x="648144" y="3352334"/>
              <a:ext cx="1338191" cy="77714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Rounded Rectangle 127"/>
          <p:cNvSpPr/>
          <p:nvPr/>
        </p:nvSpPr>
        <p:spPr>
          <a:xfrm>
            <a:off x="4167174" y="6143644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129" name="Right Arrow 128"/>
          <p:cNvSpPr/>
          <p:nvPr/>
        </p:nvSpPr>
        <p:spPr>
          <a:xfrm rot="5400000">
            <a:off x="4452926" y="5857892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30" name="Right Arrow 129"/>
          <p:cNvSpPr/>
          <p:nvPr/>
        </p:nvSpPr>
        <p:spPr>
          <a:xfrm rot="16200000" flipV="1">
            <a:off x="4738678" y="5786454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32" name="Group 124"/>
          <p:cNvGrpSpPr/>
          <p:nvPr/>
        </p:nvGrpSpPr>
        <p:grpSpPr>
          <a:xfrm>
            <a:off x="5310183" y="5643579"/>
            <a:ext cx="1214444" cy="714379"/>
            <a:chOff x="500038" y="4357696"/>
            <a:chExt cx="1214444" cy="714379"/>
          </a:xfrm>
        </p:grpSpPr>
        <p:sp>
          <p:nvSpPr>
            <p:cNvPr id="133" name="Oval 132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  <p:cxnSp>
          <p:nvCxnSpPr>
            <p:cNvPr id="134" name="Straight Arrow Connector 133"/>
            <p:cNvCxnSpPr>
              <a:stCxn id="133" idx="3"/>
              <a:endCxn id="128" idx="3"/>
            </p:cNvCxnSpPr>
            <p:nvPr/>
          </p:nvCxnSpPr>
          <p:spPr>
            <a:xfrm rot="5400000">
              <a:off x="719582" y="4443032"/>
              <a:ext cx="409499" cy="84858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649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28988" y="2919413"/>
            <a:ext cx="5072062" cy="857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rPr>
              <a:t>Application</a:t>
            </a:r>
            <a:endParaRPr lang="en-GB" sz="1100" b="1">
              <a:solidFill>
                <a:schemeClr val="tx1"/>
              </a:solidFill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14739" y="3276601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3276601"/>
            <a:ext cx="1214438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0864" y="3276601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Rendering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0239" y="3276601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9675" y="3276601"/>
            <a:ext cx="1214438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Display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543176" y="4062414"/>
            <a:ext cx="7000875" cy="1587"/>
          </a:xfrm>
          <a:prstGeom prst="straightConnector1">
            <a:avLst/>
          </a:prstGeom>
          <a:ln w="508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6" name="TextBox 19"/>
          <p:cNvSpPr txBox="1">
            <a:spLocks noChangeArrowheads="1"/>
          </p:cNvSpPr>
          <p:nvPr/>
        </p:nvSpPr>
        <p:spPr bwMode="auto">
          <a:xfrm>
            <a:off x="4186239" y="4205289"/>
            <a:ext cx="3500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sz="1800">
                <a:latin typeface="Tw Cen MT" charset="0"/>
              </a:rPr>
              <a:t>Path A</a:t>
            </a:r>
          </a:p>
        </p:txBody>
      </p:sp>
      <p:cxnSp>
        <p:nvCxnSpPr>
          <p:cNvPr id="22" name="Straight Arrow Connector 21"/>
          <p:cNvCxnSpPr>
            <a:stCxn id="13" idx="3"/>
            <a:endCxn id="9" idx="1"/>
          </p:cNvCxnSpPr>
          <p:nvPr/>
        </p:nvCxnSpPr>
        <p:spPr>
          <a:xfrm>
            <a:off x="3114676" y="3490914"/>
            <a:ext cx="500063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3"/>
            <a:endCxn id="10" idx="1"/>
          </p:cNvCxnSpPr>
          <p:nvPr/>
        </p:nvCxnSpPr>
        <p:spPr>
          <a:xfrm>
            <a:off x="4829176" y="3490914"/>
            <a:ext cx="42862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3"/>
            <a:endCxn id="11" idx="1"/>
          </p:cNvCxnSpPr>
          <p:nvPr/>
        </p:nvCxnSpPr>
        <p:spPr>
          <a:xfrm>
            <a:off x="6472239" y="3490914"/>
            <a:ext cx="42862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1" idx="3"/>
            <a:endCxn id="14" idx="1"/>
          </p:cNvCxnSpPr>
          <p:nvPr/>
        </p:nvCxnSpPr>
        <p:spPr>
          <a:xfrm>
            <a:off x="8115301" y="3490914"/>
            <a:ext cx="71437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2"/>
          <p:cNvSpPr>
            <a:spLocks noGrp="1"/>
          </p:cNvSpPr>
          <p:nvPr>
            <p:ph type="title"/>
          </p:nvPr>
        </p:nvSpPr>
        <p:spPr>
          <a:xfrm>
            <a:off x="2135560" y="260648"/>
            <a:ext cx="8153400" cy="990600"/>
          </a:xfrm>
        </p:spPr>
        <p:txBody>
          <a:bodyPr/>
          <a:lstStyle/>
          <a:p>
            <a:r>
              <a:rPr lang="en-GB" dirty="0" smtClean="0"/>
              <a:t>Latency and Jitter : Single Host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68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Group 37"/>
          <p:cNvGrpSpPr>
            <a:grpSpLocks/>
          </p:cNvGrpSpPr>
          <p:nvPr/>
        </p:nvGrpSpPr>
        <p:grpSpPr bwMode="auto">
          <a:xfrm>
            <a:off x="2286000" y="1733840"/>
            <a:ext cx="7539038" cy="5241925"/>
            <a:chOff x="-71470" y="721475"/>
            <a:chExt cx="8715436" cy="6060325"/>
          </a:xfrm>
        </p:grpSpPr>
        <p:sp>
          <p:nvSpPr>
            <p:cNvPr id="4" name="Rectangle 3"/>
            <p:cNvSpPr/>
            <p:nvPr/>
          </p:nvSpPr>
          <p:spPr>
            <a:xfrm>
              <a:off x="1928914" y="721475"/>
              <a:ext cx="5072534" cy="8571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r>
                <a:rPr lang="en-GB" sz="12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rPr>
                <a:t>Client Application</a:t>
              </a:r>
              <a:endParaRPr lang="en-GB" sz="11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9459" name="Group 14"/>
            <p:cNvGrpSpPr>
              <a:grpSpLocks/>
            </p:cNvGrpSpPr>
            <p:nvPr/>
          </p:nvGrpSpPr>
          <p:grpSpPr bwMode="auto">
            <a:xfrm>
              <a:off x="3214678" y="1864483"/>
              <a:ext cx="857256" cy="857256"/>
              <a:chOff x="2643174" y="3357562"/>
              <a:chExt cx="1643074" cy="1500198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644559" y="3358288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Network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644559" y="3859339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Link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644559" y="4360390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Physical</a:t>
                </a:r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2072061" y="1079369"/>
              <a:ext cx="928619" cy="42763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287166" y="1079369"/>
              <a:ext cx="1213076" cy="42763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Simulation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14963" y="1079369"/>
              <a:ext cx="1214912" cy="42763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Rendering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4002" y="1079369"/>
              <a:ext cx="785472" cy="4276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Device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429054" y="1079369"/>
              <a:ext cx="1214912" cy="4276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Display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99667" y="5150175"/>
              <a:ext cx="2358251" cy="8571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r>
                <a:rPr lang="en-GB" sz="12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rPr>
                <a:t>Server Application</a:t>
              </a:r>
              <a:endParaRPr lang="en-GB" sz="11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143826" y="5508067"/>
              <a:ext cx="1213078" cy="4276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Simulation</a:t>
              </a:r>
            </a:p>
          </p:txBody>
        </p:sp>
        <p:grpSp>
          <p:nvGrpSpPr>
            <p:cNvPr id="19467" name="Group 21"/>
            <p:cNvGrpSpPr>
              <a:grpSpLocks/>
            </p:cNvGrpSpPr>
            <p:nvPr/>
          </p:nvGrpSpPr>
          <p:grpSpPr bwMode="auto">
            <a:xfrm>
              <a:off x="3214678" y="3864747"/>
              <a:ext cx="857256" cy="857256"/>
              <a:chOff x="2643174" y="3357562"/>
              <a:chExt cx="1643074" cy="1500198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2644559" y="3358758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Physical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644559" y="3859808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Link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644559" y="4360859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Network</a:t>
                </a:r>
              </a:p>
            </p:txBody>
          </p:sp>
        </p:grpSp>
        <p:cxnSp>
          <p:nvCxnSpPr>
            <p:cNvPr id="30" name="Straight Arrow Connector 29"/>
            <p:cNvCxnSpPr>
              <a:stCxn id="13" idx="3"/>
              <a:endCxn id="9" idx="1"/>
            </p:cNvCxnSpPr>
            <p:nvPr/>
          </p:nvCxnSpPr>
          <p:spPr>
            <a:xfrm>
              <a:off x="1499474" y="1292269"/>
              <a:ext cx="572587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hape 31"/>
            <p:cNvCxnSpPr>
              <a:stCxn id="9" idx="3"/>
            </p:cNvCxnSpPr>
            <p:nvPr/>
          </p:nvCxnSpPr>
          <p:spPr>
            <a:xfrm>
              <a:off x="3000680" y="1292269"/>
              <a:ext cx="427606" cy="572629"/>
            </a:xfrm>
            <a:prstGeom prst="bentConnector2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2857491" y="3292801"/>
              <a:ext cx="1143423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5400000" flipH="1" flipV="1">
              <a:off x="3285095" y="3292801"/>
              <a:ext cx="1143423" cy="1836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loud 25"/>
            <p:cNvSpPr/>
            <p:nvPr/>
          </p:nvSpPr>
          <p:spPr>
            <a:xfrm>
              <a:off x="3000680" y="3078064"/>
              <a:ext cx="1286486" cy="501051"/>
            </a:xfrm>
            <a:prstGeom prst="clou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9" name="Shape 38"/>
            <p:cNvCxnSpPr>
              <a:endCxn id="10" idx="1"/>
            </p:cNvCxnSpPr>
            <p:nvPr/>
          </p:nvCxnSpPr>
          <p:spPr>
            <a:xfrm rot="5400000" flipH="1" flipV="1">
              <a:off x="3786132" y="1363863"/>
              <a:ext cx="572629" cy="429440"/>
            </a:xfrm>
            <a:prstGeom prst="bentConnector2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hape 40"/>
            <p:cNvCxnSpPr>
              <a:endCxn id="19" idx="1"/>
            </p:cNvCxnSpPr>
            <p:nvPr/>
          </p:nvCxnSpPr>
          <p:spPr>
            <a:xfrm rot="5400000">
              <a:off x="2750136" y="5116228"/>
              <a:ext cx="1000266" cy="212885"/>
            </a:xfrm>
            <a:prstGeom prst="bentConnector4">
              <a:avLst>
                <a:gd name="adj1" fmla="val 21871"/>
                <a:gd name="adj2" fmla="val 281163"/>
              </a:avLst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hape 43"/>
            <p:cNvCxnSpPr>
              <a:stCxn id="19" idx="3"/>
            </p:cNvCxnSpPr>
            <p:nvPr/>
          </p:nvCxnSpPr>
          <p:spPr>
            <a:xfrm flipH="1" flipV="1">
              <a:off x="3857726" y="4722538"/>
              <a:ext cx="499178" cy="1000266"/>
            </a:xfrm>
            <a:prstGeom prst="bentConnector4">
              <a:avLst>
                <a:gd name="adj1" fmla="val -60226"/>
                <a:gd name="adj2" fmla="val 79580"/>
              </a:avLst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 50"/>
            <p:cNvSpPr/>
            <p:nvPr/>
          </p:nvSpPr>
          <p:spPr>
            <a:xfrm>
              <a:off x="1016813" y="1635479"/>
              <a:ext cx="7038048" cy="5146321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347371 h 5336001"/>
                <a:gd name="connsiteX1" fmla="*/ 1055670 w 7039429"/>
                <a:gd name="connsiteY1" fmla="*/ 716344 h 5336001"/>
                <a:gd name="connsiteX2" fmla="*/ 984232 w 7039429"/>
                <a:gd name="connsiteY2" fmla="*/ 4645435 h 5336001"/>
                <a:gd name="connsiteX3" fmla="*/ 3984628 w 7039429"/>
                <a:gd name="connsiteY3" fmla="*/ 4645434 h 5336001"/>
                <a:gd name="connsiteX4" fmla="*/ 4341818 w 7039429"/>
                <a:gd name="connsiteY4" fmla="*/ 502030 h 5336001"/>
                <a:gd name="connsiteX5" fmla="*/ 7039429 w 7039429"/>
                <a:gd name="connsiteY5" fmla="*/ 347371 h 5336001"/>
                <a:gd name="connsiteX0" fmla="*/ 0 w 7039429"/>
                <a:gd name="connsiteY0" fmla="*/ 561685 h 5550316"/>
                <a:gd name="connsiteX1" fmla="*/ 1055670 w 7039429"/>
                <a:gd name="connsiteY1" fmla="*/ 930658 h 5550316"/>
                <a:gd name="connsiteX2" fmla="*/ 984232 w 7039429"/>
                <a:gd name="connsiteY2" fmla="*/ 4859749 h 5550316"/>
                <a:gd name="connsiteX3" fmla="*/ 4198942 w 7039429"/>
                <a:gd name="connsiteY3" fmla="*/ 4859749 h 5550316"/>
                <a:gd name="connsiteX4" fmla="*/ 4341818 w 7039429"/>
                <a:gd name="connsiteY4" fmla="*/ 716344 h 5550316"/>
                <a:gd name="connsiteX5" fmla="*/ 7039429 w 7039429"/>
                <a:gd name="connsiteY5" fmla="*/ 561685 h 5550316"/>
                <a:gd name="connsiteX0" fmla="*/ 0 w 7039429"/>
                <a:gd name="connsiteY0" fmla="*/ 347371 h 5336002"/>
                <a:gd name="connsiteX1" fmla="*/ 1055670 w 7039429"/>
                <a:gd name="connsiteY1" fmla="*/ 716344 h 5336002"/>
                <a:gd name="connsiteX2" fmla="*/ 984232 w 7039429"/>
                <a:gd name="connsiteY2" fmla="*/ 4645435 h 5336002"/>
                <a:gd name="connsiteX3" fmla="*/ 4198942 w 7039429"/>
                <a:gd name="connsiteY3" fmla="*/ 4645435 h 5336002"/>
                <a:gd name="connsiteX4" fmla="*/ 4341818 w 7039429"/>
                <a:gd name="connsiteY4" fmla="*/ 502030 h 5336002"/>
                <a:gd name="connsiteX5" fmla="*/ 7039429 w 7039429"/>
                <a:gd name="connsiteY5" fmla="*/ 347371 h 5336002"/>
                <a:gd name="connsiteX0" fmla="*/ 0 w 7039429"/>
                <a:gd name="connsiteY0" fmla="*/ 633123 h 5633661"/>
                <a:gd name="connsiteX1" fmla="*/ 1127108 w 7039429"/>
                <a:gd name="connsiteY1" fmla="*/ 716344 h 5633661"/>
                <a:gd name="connsiteX2" fmla="*/ 984232 w 7039429"/>
                <a:gd name="connsiteY2" fmla="*/ 4931187 h 5633661"/>
                <a:gd name="connsiteX3" fmla="*/ 4198942 w 7039429"/>
                <a:gd name="connsiteY3" fmla="*/ 4931187 h 5633661"/>
                <a:gd name="connsiteX4" fmla="*/ 4341818 w 7039429"/>
                <a:gd name="connsiteY4" fmla="*/ 787782 h 5633661"/>
                <a:gd name="connsiteX5" fmla="*/ 7039429 w 7039429"/>
                <a:gd name="connsiteY5" fmla="*/ 633123 h 5633661"/>
                <a:gd name="connsiteX0" fmla="*/ 0 w 7039429"/>
                <a:gd name="connsiteY0" fmla="*/ 145973 h 5146511"/>
                <a:gd name="connsiteX1" fmla="*/ 1127108 w 7039429"/>
                <a:gd name="connsiteY1" fmla="*/ 229194 h 5146511"/>
                <a:gd name="connsiteX2" fmla="*/ 984232 w 7039429"/>
                <a:gd name="connsiteY2" fmla="*/ 4444037 h 5146511"/>
                <a:gd name="connsiteX3" fmla="*/ 4198942 w 7039429"/>
                <a:gd name="connsiteY3" fmla="*/ 4444037 h 5146511"/>
                <a:gd name="connsiteX4" fmla="*/ 4341818 w 7039429"/>
                <a:gd name="connsiteY4" fmla="*/ 300632 h 5146511"/>
                <a:gd name="connsiteX5" fmla="*/ 7039429 w 7039429"/>
                <a:gd name="connsiteY5" fmla="*/ 145973 h 5146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39429" h="5146511">
                  <a:moveTo>
                    <a:pt x="0" y="145973"/>
                  </a:moveTo>
                  <a:cubicBezTo>
                    <a:pt x="546705" y="155649"/>
                    <a:pt x="878723" y="0"/>
                    <a:pt x="1127108" y="229194"/>
                  </a:cubicBezTo>
                  <a:cubicBezTo>
                    <a:pt x="1375493" y="458388"/>
                    <a:pt x="472260" y="3741563"/>
                    <a:pt x="984232" y="4444037"/>
                  </a:cubicBezTo>
                  <a:cubicBezTo>
                    <a:pt x="1496204" y="5146511"/>
                    <a:pt x="3639344" y="5134604"/>
                    <a:pt x="4198942" y="4444037"/>
                  </a:cubicBezTo>
                  <a:cubicBezTo>
                    <a:pt x="4758540" y="3753470"/>
                    <a:pt x="4065716" y="587883"/>
                    <a:pt x="4341818" y="300632"/>
                  </a:cubicBezTo>
                  <a:cubicBezTo>
                    <a:pt x="4617920" y="13381"/>
                    <a:pt x="5854096" y="160487"/>
                    <a:pt x="7039429" y="145973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1796779" y="1936477"/>
              <a:ext cx="3536460" cy="4588374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0 h 4895807"/>
                <a:gd name="connsiteX1" fmla="*/ 1055670 w 7039429"/>
                <a:gd name="connsiteY1" fmla="*/ 368973 h 4895807"/>
                <a:gd name="connsiteX2" fmla="*/ 1198546 w 7039429"/>
                <a:gd name="connsiteY2" fmla="*/ 4226625 h 4895807"/>
                <a:gd name="connsiteX3" fmla="*/ 3984628 w 7039429"/>
                <a:gd name="connsiteY3" fmla="*/ 4298063 h 4895807"/>
                <a:gd name="connsiteX4" fmla="*/ 3357586 w 7039429"/>
                <a:gd name="connsiteY4" fmla="*/ 640159 h 4895807"/>
                <a:gd name="connsiteX5" fmla="*/ 7039429 w 7039429"/>
                <a:gd name="connsiteY5" fmla="*/ 0 h 4895807"/>
                <a:gd name="connsiteX0" fmla="*/ 0 w 4344468"/>
                <a:gd name="connsiteY0" fmla="*/ 40930 h 4936737"/>
                <a:gd name="connsiteX1" fmla="*/ 1055670 w 4344468"/>
                <a:gd name="connsiteY1" fmla="*/ 409903 h 4936737"/>
                <a:gd name="connsiteX2" fmla="*/ 1198546 w 4344468"/>
                <a:gd name="connsiteY2" fmla="*/ 4267555 h 4936737"/>
                <a:gd name="connsiteX3" fmla="*/ 3984628 w 4344468"/>
                <a:gd name="connsiteY3" fmla="*/ 4338993 h 4936737"/>
                <a:gd name="connsiteX4" fmla="*/ 3357586 w 4344468"/>
                <a:gd name="connsiteY4" fmla="*/ 681089 h 4936737"/>
                <a:gd name="connsiteX5" fmla="*/ 4286280 w 4344468"/>
                <a:gd name="connsiteY5" fmla="*/ 252461 h 4936737"/>
                <a:gd name="connsiteX0" fmla="*/ 0 w 4344468"/>
                <a:gd name="connsiteY0" fmla="*/ 0 h 4895807"/>
                <a:gd name="connsiteX1" fmla="*/ 1055670 w 4344468"/>
                <a:gd name="connsiteY1" fmla="*/ 368973 h 4895807"/>
                <a:gd name="connsiteX2" fmla="*/ 1198546 w 4344468"/>
                <a:gd name="connsiteY2" fmla="*/ 4226625 h 4895807"/>
                <a:gd name="connsiteX3" fmla="*/ 3984628 w 4344468"/>
                <a:gd name="connsiteY3" fmla="*/ 4298063 h 4895807"/>
                <a:gd name="connsiteX4" fmla="*/ 3357586 w 4344468"/>
                <a:gd name="connsiteY4" fmla="*/ 640159 h 4895807"/>
                <a:gd name="connsiteX0" fmla="*/ 0 w 4332562"/>
                <a:gd name="connsiteY0" fmla="*/ 0 h 4943433"/>
                <a:gd name="connsiteX1" fmla="*/ 1055670 w 4332562"/>
                <a:gd name="connsiteY1" fmla="*/ 368973 h 4943433"/>
                <a:gd name="connsiteX2" fmla="*/ 1198546 w 4332562"/>
                <a:gd name="connsiteY2" fmla="*/ 4226625 h 4943433"/>
                <a:gd name="connsiteX3" fmla="*/ 3984628 w 4332562"/>
                <a:gd name="connsiteY3" fmla="*/ 4298063 h 4943433"/>
                <a:gd name="connsiteX4" fmla="*/ 3286148 w 4332562"/>
                <a:gd name="connsiteY4" fmla="*/ 354407 h 4943433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247383 w 3524275"/>
                <a:gd name="connsiteY0" fmla="*/ 586071 h 5160531"/>
                <a:gd name="connsiteX1" fmla="*/ 834787 w 3524275"/>
                <a:gd name="connsiteY1" fmla="*/ 642942 h 5160531"/>
                <a:gd name="connsiteX2" fmla="*/ 390259 w 3524275"/>
                <a:gd name="connsiteY2" fmla="*/ 4443723 h 5160531"/>
                <a:gd name="connsiteX3" fmla="*/ 3176341 w 3524275"/>
                <a:gd name="connsiteY3" fmla="*/ 4515161 h 5160531"/>
                <a:gd name="connsiteX4" fmla="*/ 2477861 w 3524275"/>
                <a:gd name="connsiteY4" fmla="*/ 571505 h 5160531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775255 w 3536181"/>
                <a:gd name="connsiteY0" fmla="*/ 0 h 4589027"/>
                <a:gd name="connsiteX1" fmla="*/ 402165 w 3536181"/>
                <a:gd name="connsiteY1" fmla="*/ 3872219 h 4589027"/>
                <a:gd name="connsiteX2" fmla="*/ 3188247 w 3536181"/>
                <a:gd name="connsiteY2" fmla="*/ 3943657 h 4589027"/>
                <a:gd name="connsiteX3" fmla="*/ 2489767 w 3536181"/>
                <a:gd name="connsiteY3" fmla="*/ 1 h 458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6181" h="4589027">
                  <a:moveTo>
                    <a:pt x="775255" y="0"/>
                  </a:moveTo>
                  <a:cubicBezTo>
                    <a:pt x="805021" y="803677"/>
                    <a:pt x="0" y="3214943"/>
                    <a:pt x="402165" y="3872219"/>
                  </a:cubicBezTo>
                  <a:cubicBezTo>
                    <a:pt x="804330" y="4529495"/>
                    <a:pt x="2840313" y="4589027"/>
                    <a:pt x="3188247" y="3943657"/>
                  </a:cubicBezTo>
                  <a:cubicBezTo>
                    <a:pt x="3536181" y="3298287"/>
                    <a:pt x="2439492" y="681090"/>
                    <a:pt x="2489767" y="1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54" name="Straight Arrow Connector 53"/>
            <p:cNvCxnSpPr>
              <a:stCxn id="10" idx="3"/>
              <a:endCxn id="11" idx="1"/>
            </p:cNvCxnSpPr>
            <p:nvPr/>
          </p:nvCxnSpPr>
          <p:spPr>
            <a:xfrm>
              <a:off x="5500242" y="1292269"/>
              <a:ext cx="214721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11" idx="3"/>
              <a:endCxn id="14" idx="1"/>
            </p:cNvCxnSpPr>
            <p:nvPr/>
          </p:nvCxnSpPr>
          <p:spPr>
            <a:xfrm>
              <a:off x="6929875" y="1292269"/>
              <a:ext cx="499178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eform 57"/>
            <p:cNvSpPr/>
            <p:nvPr/>
          </p:nvSpPr>
          <p:spPr>
            <a:xfrm>
              <a:off x="2789631" y="2490752"/>
              <a:ext cx="122959" cy="1587578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0 h 4895807"/>
                <a:gd name="connsiteX1" fmla="*/ 1055670 w 7039429"/>
                <a:gd name="connsiteY1" fmla="*/ 368973 h 4895807"/>
                <a:gd name="connsiteX2" fmla="*/ 1198546 w 7039429"/>
                <a:gd name="connsiteY2" fmla="*/ 4226625 h 4895807"/>
                <a:gd name="connsiteX3" fmla="*/ 3984628 w 7039429"/>
                <a:gd name="connsiteY3" fmla="*/ 4298063 h 4895807"/>
                <a:gd name="connsiteX4" fmla="*/ 3357586 w 7039429"/>
                <a:gd name="connsiteY4" fmla="*/ 640159 h 4895807"/>
                <a:gd name="connsiteX5" fmla="*/ 7039429 w 7039429"/>
                <a:gd name="connsiteY5" fmla="*/ 0 h 4895807"/>
                <a:gd name="connsiteX0" fmla="*/ 0 w 4344468"/>
                <a:gd name="connsiteY0" fmla="*/ 40930 h 4936737"/>
                <a:gd name="connsiteX1" fmla="*/ 1055670 w 4344468"/>
                <a:gd name="connsiteY1" fmla="*/ 409903 h 4936737"/>
                <a:gd name="connsiteX2" fmla="*/ 1198546 w 4344468"/>
                <a:gd name="connsiteY2" fmla="*/ 4267555 h 4936737"/>
                <a:gd name="connsiteX3" fmla="*/ 3984628 w 4344468"/>
                <a:gd name="connsiteY3" fmla="*/ 4338993 h 4936737"/>
                <a:gd name="connsiteX4" fmla="*/ 3357586 w 4344468"/>
                <a:gd name="connsiteY4" fmla="*/ 681089 h 4936737"/>
                <a:gd name="connsiteX5" fmla="*/ 4286280 w 4344468"/>
                <a:gd name="connsiteY5" fmla="*/ 252461 h 4936737"/>
                <a:gd name="connsiteX0" fmla="*/ 0 w 4344468"/>
                <a:gd name="connsiteY0" fmla="*/ 0 h 4895807"/>
                <a:gd name="connsiteX1" fmla="*/ 1055670 w 4344468"/>
                <a:gd name="connsiteY1" fmla="*/ 368973 h 4895807"/>
                <a:gd name="connsiteX2" fmla="*/ 1198546 w 4344468"/>
                <a:gd name="connsiteY2" fmla="*/ 4226625 h 4895807"/>
                <a:gd name="connsiteX3" fmla="*/ 3984628 w 4344468"/>
                <a:gd name="connsiteY3" fmla="*/ 4298063 h 4895807"/>
                <a:gd name="connsiteX4" fmla="*/ 3357586 w 4344468"/>
                <a:gd name="connsiteY4" fmla="*/ 640159 h 4895807"/>
                <a:gd name="connsiteX0" fmla="*/ 0 w 4332562"/>
                <a:gd name="connsiteY0" fmla="*/ 0 h 4943433"/>
                <a:gd name="connsiteX1" fmla="*/ 1055670 w 4332562"/>
                <a:gd name="connsiteY1" fmla="*/ 368973 h 4943433"/>
                <a:gd name="connsiteX2" fmla="*/ 1198546 w 4332562"/>
                <a:gd name="connsiteY2" fmla="*/ 4226625 h 4943433"/>
                <a:gd name="connsiteX3" fmla="*/ 3984628 w 4332562"/>
                <a:gd name="connsiteY3" fmla="*/ 4298063 h 4943433"/>
                <a:gd name="connsiteX4" fmla="*/ 3286148 w 4332562"/>
                <a:gd name="connsiteY4" fmla="*/ 354407 h 4943433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247383 w 3524275"/>
                <a:gd name="connsiteY0" fmla="*/ 586071 h 5160531"/>
                <a:gd name="connsiteX1" fmla="*/ 834787 w 3524275"/>
                <a:gd name="connsiteY1" fmla="*/ 642942 h 5160531"/>
                <a:gd name="connsiteX2" fmla="*/ 390259 w 3524275"/>
                <a:gd name="connsiteY2" fmla="*/ 4443723 h 5160531"/>
                <a:gd name="connsiteX3" fmla="*/ 3176341 w 3524275"/>
                <a:gd name="connsiteY3" fmla="*/ 4515161 h 5160531"/>
                <a:gd name="connsiteX4" fmla="*/ 2477861 w 3524275"/>
                <a:gd name="connsiteY4" fmla="*/ 571505 h 5160531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775255 w 3536181"/>
                <a:gd name="connsiteY0" fmla="*/ 0 h 4589027"/>
                <a:gd name="connsiteX1" fmla="*/ 402165 w 3536181"/>
                <a:gd name="connsiteY1" fmla="*/ 3872219 h 4589027"/>
                <a:gd name="connsiteX2" fmla="*/ 3188247 w 3536181"/>
                <a:gd name="connsiteY2" fmla="*/ 3943657 h 4589027"/>
                <a:gd name="connsiteX3" fmla="*/ 2489767 w 3536181"/>
                <a:gd name="connsiteY3" fmla="*/ 1 h 4589027"/>
                <a:gd name="connsiteX0" fmla="*/ 775255 w 3188247"/>
                <a:gd name="connsiteY0" fmla="*/ 0 h 4589027"/>
                <a:gd name="connsiteX1" fmla="*/ 402165 w 3188247"/>
                <a:gd name="connsiteY1" fmla="*/ 3872219 h 4589027"/>
                <a:gd name="connsiteX2" fmla="*/ 3188247 w 3188247"/>
                <a:gd name="connsiteY2" fmla="*/ 3943657 h 4589027"/>
                <a:gd name="connsiteX0" fmla="*/ 775255 w 805021"/>
                <a:gd name="connsiteY0" fmla="*/ 0 h 3872219"/>
                <a:gd name="connsiteX1" fmla="*/ 402165 w 805021"/>
                <a:gd name="connsiteY1" fmla="*/ 3872219 h 3872219"/>
                <a:gd name="connsiteX0" fmla="*/ 427321 w 457087"/>
                <a:gd name="connsiteY0" fmla="*/ 0 h 2160135"/>
                <a:gd name="connsiteX1" fmla="*/ 402165 w 457087"/>
                <a:gd name="connsiteY1" fmla="*/ 2160135 h 2160135"/>
                <a:gd name="connsiteX0" fmla="*/ 427321 w 457087"/>
                <a:gd name="connsiteY0" fmla="*/ 0 h 1588631"/>
                <a:gd name="connsiteX1" fmla="*/ 402165 w 457087"/>
                <a:gd name="connsiteY1" fmla="*/ 1588631 h 1588631"/>
                <a:gd name="connsiteX0" fmla="*/ 82819 w 112585"/>
                <a:gd name="connsiteY0" fmla="*/ 0 h 1588631"/>
                <a:gd name="connsiteX1" fmla="*/ 57663 w 112585"/>
                <a:gd name="connsiteY1" fmla="*/ 1588631 h 1588631"/>
                <a:gd name="connsiteX0" fmla="*/ 25156 w 102687"/>
                <a:gd name="connsiteY0" fmla="*/ 0 h 1588631"/>
                <a:gd name="connsiteX1" fmla="*/ 0 w 102687"/>
                <a:gd name="connsiteY1" fmla="*/ 1588631 h 1588631"/>
                <a:gd name="connsiteX0" fmla="*/ 93681 w 123447"/>
                <a:gd name="connsiteY0" fmla="*/ 0 h 1588631"/>
                <a:gd name="connsiteX1" fmla="*/ 68525 w 123447"/>
                <a:gd name="connsiteY1" fmla="*/ 1588631 h 1588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447" h="1588631">
                  <a:moveTo>
                    <a:pt x="93681" y="0"/>
                  </a:moveTo>
                  <a:cubicBezTo>
                    <a:pt x="123447" y="803677"/>
                    <a:pt x="0" y="989860"/>
                    <a:pt x="68525" y="1588631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481" name="TextBox 58"/>
            <p:cNvSpPr txBox="1">
              <a:spLocks noChangeArrowheads="1"/>
            </p:cNvSpPr>
            <p:nvPr/>
          </p:nvSpPr>
          <p:spPr bwMode="auto">
            <a:xfrm>
              <a:off x="-71470" y="2709597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C</a:t>
              </a:r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 flipV="1">
              <a:off x="1143442" y="1864898"/>
              <a:ext cx="607457" cy="49921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83" name="TextBox 61"/>
            <p:cNvSpPr txBox="1">
              <a:spLocks noChangeArrowheads="1"/>
            </p:cNvSpPr>
            <p:nvPr/>
          </p:nvSpPr>
          <p:spPr bwMode="auto">
            <a:xfrm>
              <a:off x="-71470" y="2138093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D</a:t>
              </a:r>
            </a:p>
          </p:txBody>
        </p:sp>
        <p:sp>
          <p:nvSpPr>
            <p:cNvPr id="19484" name="TextBox 62"/>
            <p:cNvSpPr txBox="1">
              <a:spLocks noChangeArrowheads="1"/>
            </p:cNvSpPr>
            <p:nvPr/>
          </p:nvSpPr>
          <p:spPr bwMode="auto">
            <a:xfrm>
              <a:off x="-71470" y="3352539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B</a:t>
              </a:r>
            </a:p>
          </p:txBody>
        </p:sp>
        <p:cxnSp>
          <p:nvCxnSpPr>
            <p:cNvPr id="65" name="Straight Arrow Connector 64"/>
            <p:cNvCxnSpPr/>
            <p:nvPr/>
          </p:nvCxnSpPr>
          <p:spPr>
            <a:xfrm flipV="1">
              <a:off x="1143442" y="2507271"/>
              <a:ext cx="1284650" cy="429472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V="1">
              <a:off x="1143442" y="3364379"/>
              <a:ext cx="1642518" cy="143157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itle 2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Latency and Jitter : Client and Server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34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2524100" y="1643050"/>
            <a:ext cx="7000924" cy="39290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5238744" y="3355776"/>
            <a:ext cx="1500198" cy="7893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Handler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84836" y="2071678"/>
            <a:ext cx="2125281" cy="7893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447078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411359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375640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339921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2666977" y="4639874"/>
            <a:ext cx="2125281" cy="7893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445292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40957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7239009" y="2071678"/>
            <a:ext cx="2125281" cy="7893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802482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766763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731044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7221150" y="4639874"/>
            <a:ext cx="2125281" cy="7893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76676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731044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7239009" y="3357562"/>
            <a:ext cx="2125281" cy="7893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7310447" y="340756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4810117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4792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6738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6738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6738943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2095472" y="2285992"/>
            <a:ext cx="500066" cy="35719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2095472" y="4857760"/>
            <a:ext cx="500066" cy="35719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9453586" y="2285992"/>
            <a:ext cx="500066" cy="35719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9453586" y="3500438"/>
            <a:ext cx="500066" cy="35719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9453586" y="4857760"/>
            <a:ext cx="500066" cy="35719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5738810" y="2285992"/>
            <a:ext cx="928694" cy="7858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Routing Table</a:t>
            </a: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5954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167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Input Queues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39075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Output Queues</a:t>
            </a:r>
          </a:p>
        </p:txBody>
      </p:sp>
    </p:spTree>
    <p:extLst>
      <p:ext uri="{BB962C8B-B14F-4D97-AF65-F5344CB8AC3E}">
        <p14:creationId xmlns:p14="http://schemas.microsoft.com/office/powerpoint/2010/main" val="244222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2524100" y="1643050"/>
            <a:ext cx="7000924" cy="39290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5238744" y="3355776"/>
            <a:ext cx="1500198" cy="7893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Handler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84836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447078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411359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375640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339921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2666977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445292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40957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7239009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802482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766763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731044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7221150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76676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731044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7239009" y="3357562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7310447" y="340756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4810117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4792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6738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6738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6738943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2095472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2095472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9453586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9453586" y="3500438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9453586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5738810" y="2285992"/>
            <a:ext cx="928694" cy="78581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Routing Table</a:t>
            </a: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5954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167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Input Queues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39075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Output Queues</a:t>
            </a:r>
          </a:p>
        </p:txBody>
      </p:sp>
      <p:sp>
        <p:nvSpPr>
          <p:cNvPr id="2" name="Oval 1"/>
          <p:cNvSpPr/>
          <p:nvPr/>
        </p:nvSpPr>
        <p:spPr>
          <a:xfrm>
            <a:off x="2434802" y="2041115"/>
            <a:ext cx="2893239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</a:p>
        </p:txBody>
      </p:sp>
      <p:sp>
        <p:nvSpPr>
          <p:cNvPr id="37" name="Oval 36"/>
          <p:cNvSpPr/>
          <p:nvPr/>
        </p:nvSpPr>
        <p:spPr>
          <a:xfrm>
            <a:off x="6828240" y="2041115"/>
            <a:ext cx="3300209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</a:p>
        </p:txBody>
      </p:sp>
      <p:sp>
        <p:nvSpPr>
          <p:cNvPr id="39" name="Oval 38"/>
          <p:cNvSpPr/>
          <p:nvPr/>
        </p:nvSpPr>
        <p:spPr>
          <a:xfrm>
            <a:off x="5015880" y="3231381"/>
            <a:ext cx="2294566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</a:p>
        </p:txBody>
      </p:sp>
    </p:spTree>
    <p:extLst>
      <p:ext uri="{BB962C8B-B14F-4D97-AF65-F5344CB8AC3E}">
        <p14:creationId xmlns:p14="http://schemas.microsoft.com/office/powerpoint/2010/main" val="360140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743201" y="2190751"/>
            <a:ext cx="1357313" cy="13573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6513" y="1976439"/>
            <a:ext cx="2857500" cy="15716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grpSp>
        <p:nvGrpSpPr>
          <p:cNvPr id="21507" name="Group 27"/>
          <p:cNvGrpSpPr>
            <a:grpSpLocks/>
          </p:cNvGrpSpPr>
          <p:nvPr/>
        </p:nvGrpSpPr>
        <p:grpSpPr bwMode="auto">
          <a:xfrm>
            <a:off x="8529638" y="2690813"/>
            <a:ext cx="571500" cy="214312"/>
            <a:chOff x="2000232" y="2000240"/>
            <a:chExt cx="571505" cy="214315"/>
          </a:xfrm>
        </p:grpSpPr>
        <p:sp>
          <p:nvSpPr>
            <p:cNvPr id="29" name="Rectangle 28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1" name="Straight Connector 30"/>
            <p:cNvCxnSpPr>
              <a:stCxn id="30" idx="0"/>
              <a:endCxn id="30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16200000" flipH="1">
              <a:off x="2393141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2250265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/>
          <p:cNvSpPr/>
          <p:nvPr/>
        </p:nvSpPr>
        <p:spPr>
          <a:xfrm>
            <a:off x="7386638" y="2762251"/>
            <a:ext cx="857250" cy="428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Handle</a:t>
            </a:r>
          </a:p>
        </p:txBody>
      </p:sp>
      <p:grpSp>
        <p:nvGrpSpPr>
          <p:cNvPr id="21509" name="Group 34"/>
          <p:cNvGrpSpPr>
            <a:grpSpLocks/>
          </p:cNvGrpSpPr>
          <p:nvPr/>
        </p:nvGrpSpPr>
        <p:grpSpPr bwMode="auto">
          <a:xfrm>
            <a:off x="8529638" y="3048001"/>
            <a:ext cx="571500" cy="214313"/>
            <a:chOff x="2000232" y="2000240"/>
            <a:chExt cx="571505" cy="214315"/>
          </a:xfrm>
        </p:grpSpPr>
        <p:sp>
          <p:nvSpPr>
            <p:cNvPr id="36" name="Rectangle 35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8" name="Straight Connector 37"/>
            <p:cNvCxnSpPr>
              <a:stCxn id="37" idx="0"/>
              <a:endCxn id="37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2393140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2250264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/>
          <p:nvPr/>
        </p:nvCxnSpPr>
        <p:spPr>
          <a:xfrm>
            <a:off x="4100514" y="2976564"/>
            <a:ext cx="2428875" cy="1587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4" idx="6"/>
          </p:cNvCxnSpPr>
          <p:nvPr/>
        </p:nvCxnSpPr>
        <p:spPr>
          <a:xfrm flipV="1">
            <a:off x="8243888" y="2797175"/>
            <a:ext cx="285750" cy="1793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4" idx="6"/>
          </p:cNvCxnSpPr>
          <p:nvPr/>
        </p:nvCxnSpPr>
        <p:spPr>
          <a:xfrm>
            <a:off x="8243888" y="2976563"/>
            <a:ext cx="285750" cy="177800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13" name="Group 53"/>
          <p:cNvGrpSpPr>
            <a:grpSpLocks/>
          </p:cNvGrpSpPr>
          <p:nvPr/>
        </p:nvGrpSpPr>
        <p:grpSpPr bwMode="auto">
          <a:xfrm>
            <a:off x="6529388" y="2870201"/>
            <a:ext cx="571500" cy="214313"/>
            <a:chOff x="2000232" y="2000240"/>
            <a:chExt cx="571505" cy="214315"/>
          </a:xfrm>
        </p:grpSpPr>
        <p:sp>
          <p:nvSpPr>
            <p:cNvPr id="55" name="Rectangle 54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7" name="Straight Connector 56"/>
            <p:cNvCxnSpPr>
              <a:stCxn id="56" idx="0"/>
              <a:endCxn id="56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16200000" flipH="1">
              <a:off x="2393140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2250264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/>
          <p:cNvCxnSpPr>
            <a:endCxn id="34" idx="2"/>
          </p:cNvCxnSpPr>
          <p:nvPr/>
        </p:nvCxnSpPr>
        <p:spPr>
          <a:xfrm flipV="1">
            <a:off x="7100888" y="2976564"/>
            <a:ext cx="285750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3529013" y="4191000"/>
            <a:ext cx="1143000" cy="1143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Receiver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4314826" y="2786064"/>
            <a:ext cx="500063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815013" y="2786064"/>
            <a:ext cx="500062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 flipV="1">
            <a:off x="4529139" y="2762250"/>
            <a:ext cx="71437" cy="71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GB" sz="1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029325" y="2762250"/>
            <a:ext cx="71438" cy="71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GB" sz="1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886575" y="4191000"/>
            <a:ext cx="1143000" cy="1143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58200" y="4191000"/>
            <a:ext cx="1143000" cy="1143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cxnSp>
        <p:nvCxnSpPr>
          <p:cNvPr id="81" name="Elbow Connector 80"/>
          <p:cNvCxnSpPr>
            <a:endCxn id="79" idx="3"/>
          </p:cNvCxnSpPr>
          <p:nvPr/>
        </p:nvCxnSpPr>
        <p:spPr>
          <a:xfrm>
            <a:off x="9101138" y="3154364"/>
            <a:ext cx="500062" cy="1608137"/>
          </a:xfrm>
          <a:prstGeom prst="bentConnector3">
            <a:avLst>
              <a:gd name="adj1" fmla="val 145708"/>
            </a:avLst>
          </a:prstGeom>
          <a:ln w="22225"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9" idx="1"/>
            <a:endCxn id="78" idx="3"/>
          </p:cNvCxnSpPr>
          <p:nvPr/>
        </p:nvCxnSpPr>
        <p:spPr>
          <a:xfrm rot="10800000">
            <a:off x="8029576" y="4762500"/>
            <a:ext cx="428625" cy="1588"/>
          </a:xfrm>
          <a:prstGeom prst="straightConnector1">
            <a:avLst/>
          </a:prstGeom>
          <a:ln w="22225"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8" idx="1"/>
            <a:endCxn id="70" idx="3"/>
          </p:cNvCxnSpPr>
          <p:nvPr/>
        </p:nvCxnSpPr>
        <p:spPr>
          <a:xfrm rot="10800000">
            <a:off x="4672013" y="4762500"/>
            <a:ext cx="2214562" cy="15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25" name="Group 99"/>
          <p:cNvGrpSpPr>
            <a:grpSpLocks/>
          </p:cNvGrpSpPr>
          <p:nvPr/>
        </p:nvGrpSpPr>
        <p:grpSpPr bwMode="auto">
          <a:xfrm>
            <a:off x="3386138" y="2619376"/>
            <a:ext cx="569912" cy="373063"/>
            <a:chOff x="500034" y="2055019"/>
            <a:chExt cx="569916" cy="373849"/>
          </a:xfrm>
        </p:grpSpPr>
        <p:grpSp>
          <p:nvGrpSpPr>
            <p:cNvPr id="21534" name="Group 89"/>
            <p:cNvGrpSpPr>
              <a:grpSpLocks/>
            </p:cNvGrpSpPr>
            <p:nvPr/>
          </p:nvGrpSpPr>
          <p:grpSpPr bwMode="auto">
            <a:xfrm>
              <a:off x="1000100" y="2055019"/>
              <a:ext cx="69850" cy="373849"/>
              <a:chOff x="1028700" y="2019302"/>
              <a:chExt cx="69850" cy="373849"/>
            </a:xfrm>
          </p:grpSpPr>
          <p:sp>
            <p:nvSpPr>
              <p:cNvPr id="42" name="Rectangle 41"/>
              <p:cNvSpPr/>
              <p:nvPr/>
            </p:nvSpPr>
            <p:spPr>
              <a:xfrm rot="5400000">
                <a:off x="876700" y="2171302"/>
                <a:ext cx="373849" cy="69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 rot="5400000">
                <a:off x="923624" y="2218225"/>
                <a:ext cx="286352" cy="635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44" name="Straight Connector 43"/>
              <p:cNvCxnSpPr>
                <a:stCxn id="43" idx="0"/>
                <a:endCxn id="43" idx="2"/>
              </p:cNvCxnSpPr>
              <p:nvPr/>
            </p:nvCxnSpPr>
            <p:spPr>
              <a:xfrm flipH="1">
                <a:off x="1035050" y="2249975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H="1">
                <a:off x="1035050" y="2321562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 flipH="1">
                <a:off x="1035050" y="2178386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Rectangle 91"/>
            <p:cNvSpPr/>
            <p:nvPr/>
          </p:nvSpPr>
          <p:spPr>
            <a:xfrm rot="5400000">
              <a:off x="778249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 rot="5400000">
              <a:off x="705224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 rot="5400000">
              <a:off x="635373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 rot="5400000">
              <a:off x="455985" y="2099068"/>
              <a:ext cx="373849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1526" name="TextBox 100"/>
          <p:cNvSpPr txBox="1">
            <a:spLocks noChangeArrowheads="1"/>
          </p:cNvSpPr>
          <p:nvPr/>
        </p:nvSpPr>
        <p:spPr bwMode="auto">
          <a:xfrm>
            <a:off x="4243388" y="2119313"/>
            <a:ext cx="11709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Transmission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7" name="TextBox 101"/>
          <p:cNvSpPr txBox="1">
            <a:spLocks noChangeArrowheads="1"/>
          </p:cNvSpPr>
          <p:nvPr/>
        </p:nvSpPr>
        <p:spPr bwMode="auto">
          <a:xfrm>
            <a:off x="4814889" y="3476625"/>
            <a:ext cx="1102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Propagation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8" name="TextBox 102"/>
          <p:cNvSpPr txBox="1">
            <a:spLocks noChangeArrowheads="1"/>
          </p:cNvSpPr>
          <p:nvPr/>
        </p:nvSpPr>
        <p:spPr bwMode="auto">
          <a:xfrm>
            <a:off x="8040217" y="3619501"/>
            <a:ext cx="84502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Queuing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9" name="TextBox 103"/>
          <p:cNvSpPr txBox="1">
            <a:spLocks noChangeArrowheads="1"/>
          </p:cNvSpPr>
          <p:nvPr/>
        </p:nvSpPr>
        <p:spPr bwMode="auto">
          <a:xfrm>
            <a:off x="6240016" y="3573016"/>
            <a:ext cx="17272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Handling/Processing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cxnSp>
        <p:nvCxnSpPr>
          <p:cNvPr id="106" name="Straight Arrow Connector 105"/>
          <p:cNvCxnSpPr>
            <a:stCxn id="21529" idx="0"/>
            <a:endCxn id="34" idx="4"/>
          </p:cNvCxnSpPr>
          <p:nvPr/>
        </p:nvCxnSpPr>
        <p:spPr>
          <a:xfrm flipV="1">
            <a:off x="7103619" y="3190876"/>
            <a:ext cx="711644" cy="382141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21528" idx="0"/>
          </p:cNvCxnSpPr>
          <p:nvPr/>
        </p:nvCxnSpPr>
        <p:spPr>
          <a:xfrm flipV="1">
            <a:off x="8462728" y="3262314"/>
            <a:ext cx="352660" cy="357186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Left Brace 108"/>
          <p:cNvSpPr/>
          <p:nvPr/>
        </p:nvSpPr>
        <p:spPr>
          <a:xfrm rot="16200000">
            <a:off x="5172076" y="2405063"/>
            <a:ext cx="142875" cy="2000250"/>
          </a:xfrm>
          <a:prstGeom prst="leftBrac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12" name="Straight Arrow Connector 111"/>
          <p:cNvCxnSpPr>
            <a:stCxn id="21526" idx="1"/>
          </p:cNvCxnSpPr>
          <p:nvPr/>
        </p:nvCxnSpPr>
        <p:spPr>
          <a:xfrm flipH="1">
            <a:off x="3957638" y="2380923"/>
            <a:ext cx="285750" cy="309890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2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GB" dirty="0" smtClean="0"/>
              <a:t>Network Delay : 4 Components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746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0"/>
            <a:ext cx="8892480" cy="1124744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 loss and </a:t>
            </a:r>
            <a:r>
              <a:rPr lang="en-US" dirty="0" smtClean="0"/>
              <a:t>delay (latency/lag) </a:t>
            </a:r>
            <a:r>
              <a:rPr lang="en-US" dirty="0"/>
              <a:t>occur?</a:t>
            </a:r>
          </a:p>
        </p:txBody>
      </p:sp>
      <p:sp>
        <p:nvSpPr>
          <p:cNvPr id="1034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03439" y="1371601"/>
            <a:ext cx="8135937" cy="1625352"/>
          </a:xfrm>
        </p:spPr>
        <p:txBody>
          <a:bodyPr>
            <a:normAutofit/>
          </a:bodyPr>
          <a:lstStyle/>
          <a:p>
            <a:r>
              <a:rPr lang="en-US" dirty="0"/>
              <a:t>packets </a:t>
            </a:r>
            <a:r>
              <a:rPr lang="en-US" i="1" dirty="0"/>
              <a:t>queue</a:t>
            </a:r>
            <a:r>
              <a:rPr lang="en-US" dirty="0"/>
              <a:t> in router buffers</a:t>
            </a:r>
            <a:r>
              <a:rPr lang="en-US" sz="3200" dirty="0"/>
              <a:t>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packet arrival rate to link exceeds output link capacity</a:t>
            </a:r>
          </a:p>
          <a:p>
            <a:pPr lvl="1"/>
            <a:r>
              <a:rPr lang="en-US" dirty="0"/>
              <a:t>packets queue, wait for turn</a:t>
            </a:r>
          </a:p>
        </p:txBody>
      </p:sp>
      <p:graphicFrame>
        <p:nvGraphicFramePr>
          <p:cNvPr id="103426" name="Object 2"/>
          <p:cNvGraphicFramePr>
            <a:graphicFrameLocks noChangeAspect="1"/>
          </p:cNvGraphicFramePr>
          <p:nvPr/>
        </p:nvGraphicFramePr>
        <p:xfrm>
          <a:off x="2822576" y="515620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1034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6" y="515620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2" name="Oval 6"/>
          <p:cNvSpPr>
            <a:spLocks noChangeArrowheads="1"/>
          </p:cNvSpPr>
          <p:nvPr/>
        </p:nvSpPr>
        <p:spPr bwMode="auto">
          <a:xfrm>
            <a:off x="3863976" y="49149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3" name="Rectangle 7"/>
          <p:cNvSpPr>
            <a:spLocks noChangeArrowheads="1"/>
          </p:cNvSpPr>
          <p:nvPr/>
        </p:nvSpPr>
        <p:spPr bwMode="auto">
          <a:xfrm>
            <a:off x="3863976" y="4846639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34" name="Oval 8"/>
          <p:cNvSpPr>
            <a:spLocks noChangeArrowheads="1"/>
          </p:cNvSpPr>
          <p:nvPr/>
        </p:nvSpPr>
        <p:spPr bwMode="auto">
          <a:xfrm>
            <a:off x="3873501" y="46180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3435" name="Group 9"/>
          <p:cNvGrpSpPr>
            <a:grpSpLocks/>
          </p:cNvGrpSpPr>
          <p:nvPr/>
        </p:nvGrpSpPr>
        <p:grpSpPr bwMode="auto">
          <a:xfrm>
            <a:off x="4219576" y="4648201"/>
            <a:ext cx="498475" cy="119063"/>
            <a:chOff x="2208" y="2184"/>
            <a:chExt cx="176" cy="69"/>
          </a:xfrm>
        </p:grpSpPr>
        <p:grpSp>
          <p:nvGrpSpPr>
            <p:cNvPr id="103477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03482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3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4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478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03479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0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1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3436" name="Oval 18"/>
          <p:cNvSpPr>
            <a:spLocks noChangeArrowheads="1"/>
          </p:cNvSpPr>
          <p:nvPr/>
        </p:nvSpPr>
        <p:spPr bwMode="auto">
          <a:xfrm>
            <a:off x="6959601" y="493395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7" name="Line 19"/>
          <p:cNvSpPr>
            <a:spLocks noChangeShapeType="1"/>
          </p:cNvSpPr>
          <p:nvPr/>
        </p:nvSpPr>
        <p:spPr bwMode="auto">
          <a:xfrm>
            <a:off x="6969125" y="4913313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8" name="Rectangle 20"/>
          <p:cNvSpPr>
            <a:spLocks noChangeArrowheads="1"/>
          </p:cNvSpPr>
          <p:nvPr/>
        </p:nvSpPr>
        <p:spPr bwMode="auto">
          <a:xfrm>
            <a:off x="6969126" y="4875214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39" name="Oval 21"/>
          <p:cNvSpPr>
            <a:spLocks noChangeArrowheads="1"/>
          </p:cNvSpPr>
          <p:nvPr/>
        </p:nvSpPr>
        <p:spPr bwMode="auto">
          <a:xfrm>
            <a:off x="6978651" y="4646613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3427" name="Object 3"/>
          <p:cNvGraphicFramePr>
            <a:graphicFrameLocks noChangeAspect="1"/>
          </p:cNvGraphicFramePr>
          <p:nvPr/>
        </p:nvGraphicFramePr>
        <p:xfrm>
          <a:off x="2508251" y="414655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1034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1" y="414655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0" name="Line 24"/>
          <p:cNvSpPr>
            <a:spLocks noChangeShapeType="1"/>
          </p:cNvSpPr>
          <p:nvPr/>
        </p:nvSpPr>
        <p:spPr bwMode="auto">
          <a:xfrm>
            <a:off x="3133726" y="4552950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1" name="Line 25"/>
          <p:cNvSpPr>
            <a:spLocks noChangeShapeType="1"/>
          </p:cNvSpPr>
          <p:nvPr/>
        </p:nvSpPr>
        <p:spPr bwMode="auto">
          <a:xfrm flipV="1">
            <a:off x="3438526" y="5538788"/>
            <a:ext cx="195263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2" name="Line 26"/>
          <p:cNvSpPr>
            <a:spLocks noChangeShapeType="1"/>
          </p:cNvSpPr>
          <p:nvPr/>
        </p:nvSpPr>
        <p:spPr bwMode="auto">
          <a:xfrm>
            <a:off x="5057776" y="4972051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3" name="Line 28"/>
          <p:cNvSpPr>
            <a:spLocks noChangeShapeType="1"/>
          </p:cNvSpPr>
          <p:nvPr/>
        </p:nvSpPr>
        <p:spPr bwMode="auto">
          <a:xfrm flipH="1">
            <a:off x="3638550" y="4543426"/>
            <a:ext cx="0" cy="1000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4" name="Line 29"/>
          <p:cNvSpPr>
            <a:spLocks noChangeShapeType="1"/>
          </p:cNvSpPr>
          <p:nvPr/>
        </p:nvSpPr>
        <p:spPr bwMode="auto">
          <a:xfrm>
            <a:off x="3648076" y="4976813"/>
            <a:ext cx="200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5" name="Rectangle 40"/>
          <p:cNvSpPr>
            <a:spLocks noChangeArrowheads="1"/>
          </p:cNvSpPr>
          <p:nvPr/>
        </p:nvSpPr>
        <p:spPr bwMode="auto">
          <a:xfrm>
            <a:off x="4724400" y="4843464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46" name="Rectangle 41"/>
          <p:cNvSpPr>
            <a:spLocks noChangeArrowheads="1"/>
          </p:cNvSpPr>
          <p:nvPr/>
        </p:nvSpPr>
        <p:spPr bwMode="auto">
          <a:xfrm>
            <a:off x="4886325" y="4843464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7" name="Rectangle 42"/>
          <p:cNvSpPr>
            <a:spLocks noChangeArrowheads="1"/>
          </p:cNvSpPr>
          <p:nvPr/>
        </p:nvSpPr>
        <p:spPr bwMode="auto">
          <a:xfrm>
            <a:off x="3671889" y="4743451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8" name="Line 44"/>
          <p:cNvSpPr>
            <a:spLocks noChangeShapeType="1"/>
          </p:cNvSpPr>
          <p:nvPr/>
        </p:nvSpPr>
        <p:spPr bwMode="auto">
          <a:xfrm>
            <a:off x="3848100" y="4848226"/>
            <a:ext cx="2428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9" name="Line 45"/>
          <p:cNvSpPr>
            <a:spLocks noChangeShapeType="1"/>
          </p:cNvSpPr>
          <p:nvPr/>
        </p:nvSpPr>
        <p:spPr bwMode="auto">
          <a:xfrm flipV="1">
            <a:off x="3514725" y="5124451"/>
            <a:ext cx="0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50" name="Text Box 47"/>
          <p:cNvSpPr txBox="1">
            <a:spLocks noChangeArrowheads="1"/>
          </p:cNvSpPr>
          <p:nvPr/>
        </p:nvSpPr>
        <p:spPr bwMode="auto">
          <a:xfrm>
            <a:off x="2155825" y="4170363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rgbClr val="00CC66"/>
                </a:solidFill>
                <a:latin typeface="Comic Sans MS" charset="0"/>
              </a:rPr>
              <a:t>A</a:t>
            </a:r>
            <a:endParaRPr lang="en-US">
              <a:solidFill>
                <a:srgbClr val="00CC66"/>
              </a:solidFill>
            </a:endParaRPr>
          </a:p>
        </p:txBody>
      </p:sp>
      <p:sp>
        <p:nvSpPr>
          <p:cNvPr id="103451" name="Text Box 48"/>
          <p:cNvSpPr txBox="1">
            <a:spLocks noChangeArrowheads="1"/>
          </p:cNvSpPr>
          <p:nvPr/>
        </p:nvSpPr>
        <p:spPr bwMode="auto">
          <a:xfrm>
            <a:off x="2432050" y="51895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Comic Sans MS" charset="0"/>
              </a:rPr>
              <a:t>B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3452" name="Rectangle 63"/>
          <p:cNvSpPr>
            <a:spLocks noChangeArrowheads="1"/>
          </p:cNvSpPr>
          <p:nvPr/>
        </p:nvSpPr>
        <p:spPr bwMode="auto">
          <a:xfrm>
            <a:off x="5014914" y="4781551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93"/>
          <p:cNvGrpSpPr>
            <a:grpSpLocks/>
          </p:cNvGrpSpPr>
          <p:nvPr/>
        </p:nvGrpSpPr>
        <p:grpSpPr bwMode="auto">
          <a:xfrm>
            <a:off x="5110164" y="3317875"/>
            <a:ext cx="5670547" cy="1454150"/>
            <a:chOff x="2259" y="2090"/>
            <a:chExt cx="3572" cy="916"/>
          </a:xfrm>
        </p:grpSpPr>
        <p:sp>
          <p:nvSpPr>
            <p:cNvPr id="103475" name="Text Box 66"/>
            <p:cNvSpPr txBox="1">
              <a:spLocks noChangeArrowheads="1"/>
            </p:cNvSpPr>
            <p:nvPr/>
          </p:nvSpPr>
          <p:spPr bwMode="auto">
            <a:xfrm>
              <a:off x="2602" y="2090"/>
              <a:ext cx="3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packet being transmitted 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(transmission delay)</a:t>
              </a:r>
            </a:p>
          </p:txBody>
        </p:sp>
        <p:sp>
          <p:nvSpPr>
            <p:cNvPr id="103476" name="Line 67"/>
            <p:cNvSpPr>
              <a:spLocks noChangeShapeType="1"/>
            </p:cNvSpPr>
            <p:nvPr/>
          </p:nvSpPr>
          <p:spPr bwMode="auto">
            <a:xfrm rot="10800000" flipV="1">
              <a:off x="2259" y="2294"/>
              <a:ext cx="105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94"/>
          <p:cNvGrpSpPr>
            <a:grpSpLocks/>
          </p:cNvGrpSpPr>
          <p:nvPr/>
        </p:nvGrpSpPr>
        <p:grpSpPr bwMode="auto">
          <a:xfrm>
            <a:off x="4862514" y="5102225"/>
            <a:ext cx="4476747" cy="808038"/>
            <a:chOff x="2103" y="3214"/>
            <a:chExt cx="2820" cy="509"/>
          </a:xfrm>
        </p:grpSpPr>
        <p:sp>
          <p:nvSpPr>
            <p:cNvPr id="103473" name="Text Box 72"/>
            <p:cNvSpPr txBox="1">
              <a:spLocks noChangeArrowheads="1"/>
            </p:cNvSpPr>
            <p:nvPr/>
          </p:nvSpPr>
          <p:spPr bwMode="auto">
            <a:xfrm>
              <a:off x="2530" y="3490"/>
              <a:ext cx="23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packets </a:t>
              </a:r>
              <a:r>
                <a:rPr lang="en-US" sz="1800" dirty="0" err="1">
                  <a:solidFill>
                    <a:srgbClr val="008000"/>
                  </a:solidFill>
                  <a:latin typeface="Comic Sans MS" charset="0"/>
                </a:rPr>
                <a:t>queueing</a:t>
              </a:r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 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(</a:t>
              </a:r>
              <a:r>
                <a:rPr lang="en-US" sz="1800" dirty="0" err="1">
                  <a:solidFill>
                    <a:srgbClr val="FF0000"/>
                  </a:solidFill>
                  <a:latin typeface="Comic Sans MS" charset="0"/>
                </a:rPr>
                <a:t>queueing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 delay)</a:t>
              </a:r>
              <a:endParaRPr lang="en-US" sz="1800" dirty="0"/>
            </a:p>
          </p:txBody>
        </p:sp>
        <p:sp>
          <p:nvSpPr>
            <p:cNvPr id="103474" name="Line 73"/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3455" name="Group 74"/>
          <p:cNvGrpSpPr>
            <a:grpSpLocks/>
          </p:cNvGrpSpPr>
          <p:nvPr/>
        </p:nvGrpSpPr>
        <p:grpSpPr bwMode="auto">
          <a:xfrm>
            <a:off x="7305676" y="4705351"/>
            <a:ext cx="498475" cy="119063"/>
            <a:chOff x="2208" y="2184"/>
            <a:chExt cx="176" cy="69"/>
          </a:xfrm>
        </p:grpSpPr>
        <p:grpSp>
          <p:nvGrpSpPr>
            <p:cNvPr id="103465" name="Group 75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03470" name="Line 7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71" name="Line 7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72" name="Line 7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466" name="Group 79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03467" name="Line 8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68" name="Line 8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69" name="Line 8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3456" name="Rectangle 84"/>
          <p:cNvSpPr>
            <a:spLocks noChangeArrowheads="1"/>
          </p:cNvSpPr>
          <p:nvPr/>
        </p:nvSpPr>
        <p:spPr bwMode="auto">
          <a:xfrm>
            <a:off x="3197225" y="4271964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57" name="Line 85"/>
          <p:cNvSpPr>
            <a:spLocks noChangeShapeType="1"/>
          </p:cNvSpPr>
          <p:nvPr/>
        </p:nvSpPr>
        <p:spPr bwMode="auto">
          <a:xfrm>
            <a:off x="3327400" y="4378326"/>
            <a:ext cx="2428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58" name="Rectangle 86"/>
          <p:cNvSpPr>
            <a:spLocks noChangeArrowheads="1"/>
          </p:cNvSpPr>
          <p:nvPr/>
        </p:nvSpPr>
        <p:spPr bwMode="auto">
          <a:xfrm>
            <a:off x="3468689" y="5302251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59" name="Rectangle 88"/>
          <p:cNvSpPr>
            <a:spLocks noChangeArrowheads="1"/>
          </p:cNvSpPr>
          <p:nvPr/>
        </p:nvSpPr>
        <p:spPr bwMode="auto">
          <a:xfrm>
            <a:off x="4584700" y="4843464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60" name="Rectangle 89"/>
          <p:cNvSpPr>
            <a:spLocks noChangeArrowheads="1"/>
          </p:cNvSpPr>
          <p:nvPr/>
        </p:nvSpPr>
        <p:spPr bwMode="auto">
          <a:xfrm>
            <a:off x="4445000" y="4843464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61" name="Rectangle 90"/>
          <p:cNvSpPr>
            <a:spLocks noChangeArrowheads="1"/>
          </p:cNvSpPr>
          <p:nvPr/>
        </p:nvSpPr>
        <p:spPr bwMode="auto">
          <a:xfrm>
            <a:off x="4305300" y="4843464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10" name="Group 95"/>
          <p:cNvGrpSpPr>
            <a:grpSpLocks/>
          </p:cNvGrpSpPr>
          <p:nvPr/>
        </p:nvGrpSpPr>
        <p:grpSpPr bwMode="auto">
          <a:xfrm>
            <a:off x="4041776" y="5064125"/>
            <a:ext cx="4621213" cy="1511300"/>
            <a:chOff x="1586" y="3190"/>
            <a:chExt cx="2911" cy="952"/>
          </a:xfrm>
        </p:grpSpPr>
        <p:sp>
          <p:nvSpPr>
            <p:cNvPr id="103463" name="Line 91"/>
            <p:cNvSpPr>
              <a:spLocks noChangeShapeType="1"/>
            </p:cNvSpPr>
            <p:nvPr/>
          </p:nvSpPr>
          <p:spPr bwMode="auto">
            <a:xfrm rot="10800000" flipH="1">
              <a:off x="1798" y="3190"/>
              <a:ext cx="105" cy="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64" name="Text Box 92"/>
            <p:cNvSpPr txBox="1">
              <a:spLocks noChangeArrowheads="1"/>
            </p:cNvSpPr>
            <p:nvPr/>
          </p:nvSpPr>
          <p:spPr bwMode="auto">
            <a:xfrm>
              <a:off x="1586" y="3738"/>
              <a:ext cx="2911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free (available) buffers: arriving packets </a:t>
              </a:r>
            </a:p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dropped (loss) if no free buffers</a:t>
              </a:r>
              <a:endParaRPr lang="en-US" sz="1800" dirty="0">
                <a:solidFill>
                  <a:srgbClr val="008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770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266700"/>
            <a:ext cx="7772400" cy="1143000"/>
          </a:xfrm>
        </p:spPr>
        <p:txBody>
          <a:bodyPr/>
          <a:lstStyle/>
          <a:p>
            <a:r>
              <a:rPr lang="en-US" dirty="0"/>
              <a:t>Four sources of packet delay</a:t>
            </a:r>
          </a:p>
        </p:txBody>
      </p:sp>
      <p:sp>
        <p:nvSpPr>
          <p:cNvPr id="1054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991544" y="1556792"/>
            <a:ext cx="3810000" cy="1974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1. nodal processing: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ea typeface="ＭＳ Ｐゴシック" charset="0"/>
              </a:rPr>
              <a:t>check bit errors</a:t>
            </a:r>
          </a:p>
          <a:p>
            <a:pPr lvl="1"/>
            <a:r>
              <a:rPr lang="en-US" dirty="0">
                <a:ea typeface="ＭＳ Ｐゴシック" charset="0"/>
              </a:rPr>
              <a:t>determine output link</a:t>
            </a:r>
          </a:p>
        </p:txBody>
      </p:sp>
      <p:grpSp>
        <p:nvGrpSpPr>
          <p:cNvPr id="105480" name="Group 5"/>
          <p:cNvGrpSpPr>
            <a:grpSpLocks/>
          </p:cNvGrpSpPr>
          <p:nvPr/>
        </p:nvGrpSpPr>
        <p:grpSpPr bwMode="auto">
          <a:xfrm>
            <a:off x="2207568" y="4509121"/>
            <a:ext cx="6021388" cy="2174875"/>
            <a:chOff x="494" y="2702"/>
            <a:chExt cx="3793" cy="1370"/>
          </a:xfrm>
        </p:grpSpPr>
        <p:graphicFrame>
          <p:nvGraphicFramePr>
            <p:cNvPr id="105474" name="Object 2"/>
            <p:cNvGraphicFramePr>
              <a:graphicFrameLocks noChangeAspect="1"/>
            </p:cNvGraphicFramePr>
            <p:nvPr/>
          </p:nvGraphicFramePr>
          <p:xfrm>
            <a:off x="914" y="3452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10547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3452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82" name="Oval 7"/>
            <p:cNvSpPr>
              <a:spLocks noChangeArrowheads="1"/>
            </p:cNvSpPr>
            <p:nvPr/>
          </p:nvSpPr>
          <p:spPr bwMode="auto">
            <a:xfrm>
              <a:off x="1570" y="3300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3" name="Rectangle 8"/>
            <p:cNvSpPr>
              <a:spLocks noChangeArrowheads="1"/>
            </p:cNvSpPr>
            <p:nvPr/>
          </p:nvSpPr>
          <p:spPr bwMode="auto">
            <a:xfrm>
              <a:off x="1570" y="3257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5484" name="Oval 9"/>
            <p:cNvSpPr>
              <a:spLocks noChangeArrowheads="1"/>
            </p:cNvSpPr>
            <p:nvPr/>
          </p:nvSpPr>
          <p:spPr bwMode="auto">
            <a:xfrm>
              <a:off x="1576" y="3113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5485" name="Group 10"/>
            <p:cNvGrpSpPr>
              <a:grpSpLocks/>
            </p:cNvGrpSpPr>
            <p:nvPr/>
          </p:nvGrpSpPr>
          <p:grpSpPr bwMode="auto">
            <a:xfrm>
              <a:off x="1794" y="3132"/>
              <a:ext cx="314" cy="75"/>
              <a:chOff x="2208" y="2184"/>
              <a:chExt cx="176" cy="69"/>
            </a:xfrm>
          </p:grpSpPr>
          <p:grpSp>
            <p:nvGrpSpPr>
              <p:cNvPr id="105523" name="Group 11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552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9" name="Line 1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30" name="Line 1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524" name="Group 15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552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6" name="Line 1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7" name="Line 1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5486" name="Oval 19"/>
            <p:cNvSpPr>
              <a:spLocks noChangeArrowheads="1"/>
            </p:cNvSpPr>
            <p:nvPr/>
          </p:nvSpPr>
          <p:spPr bwMode="auto">
            <a:xfrm>
              <a:off x="3520" y="3312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7" name="Line 20"/>
            <p:cNvSpPr>
              <a:spLocks noChangeShapeType="1"/>
            </p:cNvSpPr>
            <p:nvPr/>
          </p:nvSpPr>
          <p:spPr bwMode="auto">
            <a:xfrm>
              <a:off x="3526" y="3299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8" name="Rectangle 21"/>
            <p:cNvSpPr>
              <a:spLocks noChangeArrowheads="1"/>
            </p:cNvSpPr>
            <p:nvPr/>
          </p:nvSpPr>
          <p:spPr bwMode="auto">
            <a:xfrm>
              <a:off x="3526" y="3275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5489" name="Oval 22"/>
            <p:cNvSpPr>
              <a:spLocks noChangeArrowheads="1"/>
            </p:cNvSpPr>
            <p:nvPr/>
          </p:nvSpPr>
          <p:spPr bwMode="auto">
            <a:xfrm>
              <a:off x="3532" y="3131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5475" name="Object 3"/>
            <p:cNvGraphicFramePr>
              <a:graphicFrameLocks noChangeAspect="1"/>
            </p:cNvGraphicFramePr>
            <p:nvPr/>
          </p:nvGraphicFramePr>
          <p:xfrm>
            <a:off x="716" y="281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10547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16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90" name="Line 24"/>
            <p:cNvSpPr>
              <a:spLocks noChangeShapeType="1"/>
            </p:cNvSpPr>
            <p:nvPr/>
          </p:nvSpPr>
          <p:spPr bwMode="auto">
            <a:xfrm>
              <a:off x="1110" y="3072"/>
              <a:ext cx="3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1" name="Line 25"/>
            <p:cNvSpPr>
              <a:spLocks noChangeShapeType="1"/>
            </p:cNvSpPr>
            <p:nvPr/>
          </p:nvSpPr>
          <p:spPr bwMode="auto">
            <a:xfrm flipV="1">
              <a:off x="1302" y="3693"/>
              <a:ext cx="123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2" name="Line 26"/>
            <p:cNvSpPr>
              <a:spLocks noChangeShapeType="1"/>
            </p:cNvSpPr>
            <p:nvPr/>
          </p:nvSpPr>
          <p:spPr bwMode="auto">
            <a:xfrm>
              <a:off x="2322" y="3336"/>
              <a:ext cx="1218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3" name="Line 27"/>
            <p:cNvSpPr>
              <a:spLocks noChangeShapeType="1"/>
            </p:cNvSpPr>
            <p:nvPr/>
          </p:nvSpPr>
          <p:spPr bwMode="auto">
            <a:xfrm flipH="1">
              <a:off x="1428" y="3066"/>
              <a:ext cx="0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4" name="Line 28"/>
            <p:cNvSpPr>
              <a:spLocks noChangeShapeType="1"/>
            </p:cNvSpPr>
            <p:nvPr/>
          </p:nvSpPr>
          <p:spPr bwMode="auto">
            <a:xfrm>
              <a:off x="1434" y="3339"/>
              <a:ext cx="1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5" name="Rectangle 29"/>
            <p:cNvSpPr>
              <a:spLocks noChangeArrowheads="1"/>
            </p:cNvSpPr>
            <p:nvPr/>
          </p:nvSpPr>
          <p:spPr bwMode="auto">
            <a:xfrm>
              <a:off x="2901" y="3210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6" name="Rectangle 30"/>
            <p:cNvSpPr>
              <a:spLocks noChangeArrowheads="1"/>
            </p:cNvSpPr>
            <p:nvPr/>
          </p:nvSpPr>
          <p:spPr bwMode="auto">
            <a:xfrm>
              <a:off x="2112" y="325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7" name="Rectangle 31"/>
            <p:cNvSpPr>
              <a:spLocks noChangeArrowheads="1"/>
            </p:cNvSpPr>
            <p:nvPr/>
          </p:nvSpPr>
          <p:spPr bwMode="auto">
            <a:xfrm>
              <a:off x="2214" y="325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8" name="Rectangle 32"/>
            <p:cNvSpPr>
              <a:spLocks noChangeArrowheads="1"/>
            </p:cNvSpPr>
            <p:nvPr/>
          </p:nvSpPr>
          <p:spPr bwMode="auto">
            <a:xfrm>
              <a:off x="1449" y="3192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9" name="Line 33"/>
            <p:cNvSpPr>
              <a:spLocks noChangeShapeType="1"/>
            </p:cNvSpPr>
            <p:nvPr/>
          </p:nvSpPr>
          <p:spPr bwMode="auto">
            <a:xfrm>
              <a:off x="1560" y="3258"/>
              <a:ext cx="153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0" name="Line 34"/>
            <p:cNvSpPr>
              <a:spLocks noChangeShapeType="1"/>
            </p:cNvSpPr>
            <p:nvPr/>
          </p:nvSpPr>
          <p:spPr bwMode="auto">
            <a:xfrm flipV="1">
              <a:off x="1350" y="3432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1" name="Line 35"/>
            <p:cNvSpPr>
              <a:spLocks noChangeShapeType="1"/>
            </p:cNvSpPr>
            <p:nvPr/>
          </p:nvSpPr>
          <p:spPr bwMode="auto">
            <a:xfrm flipV="1">
              <a:off x="3387" y="3084"/>
              <a:ext cx="2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2" name="Text Box 36"/>
            <p:cNvSpPr txBox="1">
              <a:spLocks noChangeArrowheads="1"/>
            </p:cNvSpPr>
            <p:nvPr/>
          </p:nvSpPr>
          <p:spPr bwMode="auto">
            <a:xfrm>
              <a:off x="494" y="2831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0CC66"/>
                  </a:solidFill>
                  <a:latin typeface="Comic Sans MS" charset="0"/>
                </a:rPr>
                <a:t>A</a:t>
              </a:r>
              <a:endParaRPr lang="en-US">
                <a:solidFill>
                  <a:srgbClr val="00CC66"/>
                </a:solidFill>
              </a:endParaRPr>
            </a:p>
          </p:txBody>
        </p:sp>
        <p:sp>
          <p:nvSpPr>
            <p:cNvPr id="105503" name="Text Box 37"/>
            <p:cNvSpPr txBox="1">
              <a:spLocks noChangeArrowheads="1"/>
            </p:cNvSpPr>
            <p:nvPr/>
          </p:nvSpPr>
          <p:spPr bwMode="auto">
            <a:xfrm>
              <a:off x="668" y="3473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2"/>
                  </a:solidFill>
                  <a:latin typeface="Comic Sans MS" charset="0"/>
                </a:rPr>
                <a:t>B</a:t>
              </a:r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5504" name="Rectangle 38"/>
            <p:cNvSpPr>
              <a:spLocks noChangeArrowheads="1"/>
            </p:cNvSpPr>
            <p:nvPr/>
          </p:nvSpPr>
          <p:spPr bwMode="auto">
            <a:xfrm>
              <a:off x="2295" y="3216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5" name="Text Box 39"/>
            <p:cNvSpPr txBox="1">
              <a:spLocks noChangeArrowheads="1"/>
            </p:cNvSpPr>
            <p:nvPr/>
          </p:nvSpPr>
          <p:spPr bwMode="auto">
            <a:xfrm>
              <a:off x="2540" y="2966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propagation</a:t>
              </a:r>
              <a:endParaRPr lang="en-US" sz="1800"/>
            </a:p>
          </p:txBody>
        </p:sp>
        <p:sp>
          <p:nvSpPr>
            <p:cNvPr id="105506" name="Line 40"/>
            <p:cNvSpPr>
              <a:spLocks noChangeShapeType="1"/>
            </p:cNvSpPr>
            <p:nvPr/>
          </p:nvSpPr>
          <p:spPr bwMode="auto">
            <a:xfrm rot="10800000">
              <a:off x="2385" y="3084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7" name="Text Box 41"/>
            <p:cNvSpPr txBox="1">
              <a:spLocks noChangeArrowheads="1"/>
            </p:cNvSpPr>
            <p:nvPr/>
          </p:nvSpPr>
          <p:spPr bwMode="auto">
            <a:xfrm>
              <a:off x="1346" y="270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transmission</a:t>
              </a:r>
              <a:endParaRPr lang="en-US" sz="1800"/>
            </a:p>
          </p:txBody>
        </p:sp>
        <p:sp>
          <p:nvSpPr>
            <p:cNvPr id="105508" name="Line 42"/>
            <p:cNvSpPr>
              <a:spLocks noChangeShapeType="1"/>
            </p:cNvSpPr>
            <p:nvPr/>
          </p:nvSpPr>
          <p:spPr bwMode="auto">
            <a:xfrm rot="10800000" flipH="1" flipV="1">
              <a:off x="2022" y="2874"/>
              <a:ext cx="333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9" name="Text Box 43"/>
            <p:cNvSpPr txBox="1">
              <a:spLocks noChangeArrowheads="1"/>
            </p:cNvSpPr>
            <p:nvPr/>
          </p:nvSpPr>
          <p:spPr bwMode="auto">
            <a:xfrm>
              <a:off x="1424" y="3668"/>
              <a:ext cx="82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nodal</a:t>
              </a:r>
            </a:p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processing</a:t>
              </a:r>
              <a:endParaRPr lang="en-US" sz="1800"/>
            </a:p>
          </p:txBody>
        </p:sp>
        <p:sp>
          <p:nvSpPr>
            <p:cNvPr id="105510" name="Line 44"/>
            <p:cNvSpPr>
              <a:spLocks noChangeShapeType="1"/>
            </p:cNvSpPr>
            <p:nvPr/>
          </p:nvSpPr>
          <p:spPr bwMode="auto">
            <a:xfrm rot="10800000">
              <a:off x="1587" y="3696"/>
              <a:ext cx="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1" name="Line 45"/>
            <p:cNvSpPr>
              <a:spLocks noChangeShapeType="1"/>
            </p:cNvSpPr>
            <p:nvPr/>
          </p:nvSpPr>
          <p:spPr bwMode="auto">
            <a:xfrm rot="10800000" flipV="1">
              <a:off x="2097" y="3546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2" name="Text Box 46"/>
            <p:cNvSpPr txBox="1">
              <a:spLocks noChangeArrowheads="1"/>
            </p:cNvSpPr>
            <p:nvPr/>
          </p:nvSpPr>
          <p:spPr bwMode="auto">
            <a:xfrm>
              <a:off x="2354" y="3830"/>
              <a:ext cx="6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queueing</a:t>
              </a:r>
              <a:endParaRPr lang="en-US" sz="1800"/>
            </a:p>
          </p:txBody>
        </p:sp>
        <p:sp>
          <p:nvSpPr>
            <p:cNvPr id="105513" name="Line 47"/>
            <p:cNvSpPr>
              <a:spLocks noChangeShapeType="1"/>
            </p:cNvSpPr>
            <p:nvPr/>
          </p:nvSpPr>
          <p:spPr bwMode="auto">
            <a:xfrm rot="10800000">
              <a:off x="2199" y="3546"/>
              <a:ext cx="375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5514" name="Group 48"/>
            <p:cNvGrpSpPr>
              <a:grpSpLocks/>
            </p:cNvGrpSpPr>
            <p:nvPr/>
          </p:nvGrpSpPr>
          <p:grpSpPr bwMode="auto">
            <a:xfrm>
              <a:off x="3738" y="3168"/>
              <a:ext cx="314" cy="75"/>
              <a:chOff x="2208" y="2184"/>
              <a:chExt cx="176" cy="69"/>
            </a:xfrm>
          </p:grpSpPr>
          <p:grpSp>
            <p:nvGrpSpPr>
              <p:cNvPr id="105515" name="Group 49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5520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1" name="Line 5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2" name="Line 5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516" name="Group 53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5517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18" name="Line 5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19" name="Line 5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5481" name="Rectangle 58"/>
          <p:cNvSpPr>
            <a:spLocks noChangeArrowheads="1"/>
          </p:cNvSpPr>
          <p:nvPr/>
        </p:nvSpPr>
        <p:spPr bwMode="auto">
          <a:xfrm>
            <a:off x="5951984" y="1484784"/>
            <a:ext cx="4468346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bg1"/>
              </a:buClr>
              <a:buSzPct val="200000"/>
            </a:pP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  <a:r>
              <a:rPr lang="en-US" sz="2800" dirty="0" err="1">
                <a:solidFill>
                  <a:srgbClr val="FF0000"/>
                </a:solidFill>
              </a:rPr>
              <a:t>queueing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50000"/>
              <a:buFont typeface="Wingdings" charset="2"/>
              <a:buChar char="§"/>
            </a:pPr>
            <a:r>
              <a:rPr lang="en-US" sz="2400" dirty="0"/>
              <a:t>time waiting at output link for transmission (can also be incurred at input to router, waiting for processing) 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50000"/>
              <a:buFont typeface="Wingdings" charset="2"/>
              <a:buChar char="§"/>
            </a:pPr>
            <a:r>
              <a:rPr lang="en-US" sz="2400" dirty="0"/>
              <a:t>depends on congestion level of router</a:t>
            </a:r>
          </a:p>
        </p:txBody>
      </p:sp>
    </p:spTree>
    <p:extLst>
      <p:ext uri="{BB962C8B-B14F-4D97-AF65-F5344CB8AC3E}">
        <p14:creationId xmlns:p14="http://schemas.microsoft.com/office/powerpoint/2010/main" val="361852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0"/>
            <a:ext cx="7772400" cy="1143000"/>
          </a:xfrm>
        </p:spPr>
        <p:txBody>
          <a:bodyPr/>
          <a:lstStyle/>
          <a:p>
            <a:r>
              <a:rPr lang="en-US" sz="3600" dirty="0"/>
              <a:t>Delay in packet-switched networks</a:t>
            </a:r>
            <a:endParaRPr lang="en-US" dirty="0"/>
          </a:p>
        </p:txBody>
      </p:sp>
      <p:sp>
        <p:nvSpPr>
          <p:cNvPr id="1075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91544" y="1556793"/>
            <a:ext cx="3672408" cy="2232248"/>
          </a:xfrm>
        </p:spPr>
        <p:txBody>
          <a:bodyPr>
            <a:normAutofit/>
          </a:bodyPr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FF0000"/>
                </a:solidFill>
              </a:rPr>
              <a:t>3. Transmission delay:</a:t>
            </a:r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R</a:t>
            </a:r>
            <a:r>
              <a:rPr lang="en-US" sz="2400" dirty="0"/>
              <a:t>=link bandwidth (bps)</a:t>
            </a:r>
          </a:p>
          <a:p>
            <a:r>
              <a:rPr lang="en-US" sz="2400" dirty="0"/>
              <a:t>L=packet length (bits)</a:t>
            </a:r>
          </a:p>
          <a:p>
            <a:r>
              <a:rPr lang="en-US" sz="2400" dirty="0"/>
              <a:t>time to send bits into link = L/R</a:t>
            </a:r>
          </a:p>
        </p:txBody>
      </p:sp>
      <p:sp>
        <p:nvSpPr>
          <p:cNvPr id="1075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23992" y="1484784"/>
            <a:ext cx="4152900" cy="2232248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FF0000"/>
                </a:solidFill>
                <a:latin typeface="Comic Sans MS" charset="0"/>
              </a:rPr>
              <a:t>4. </a:t>
            </a:r>
            <a:r>
              <a:rPr lang="en-US" sz="2400" dirty="0">
                <a:solidFill>
                  <a:srgbClr val="FF0000"/>
                </a:solidFill>
              </a:rPr>
              <a:t>Propagation delay:</a:t>
            </a:r>
          </a:p>
          <a:p>
            <a:r>
              <a:rPr lang="en-US" sz="2400" dirty="0"/>
              <a:t>d = length of physical link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</a:t>
            </a:r>
            <a:r>
              <a:rPr lang="en-US" sz="2400" dirty="0"/>
              <a:t> = propagation speed in medium (~2x10</a:t>
            </a:r>
            <a:r>
              <a:rPr lang="en-US" sz="2400" baseline="30000" dirty="0"/>
              <a:t>8</a:t>
            </a:r>
            <a:r>
              <a:rPr lang="en-US" sz="2400" dirty="0"/>
              <a:t> m/sec)</a:t>
            </a:r>
          </a:p>
          <a:p>
            <a:r>
              <a:rPr lang="en-US" sz="2400" dirty="0"/>
              <a:t>propagation delay = d/s</a:t>
            </a:r>
          </a:p>
        </p:txBody>
      </p:sp>
      <p:grpSp>
        <p:nvGrpSpPr>
          <p:cNvPr id="107529" name="Group 5"/>
          <p:cNvGrpSpPr>
            <a:grpSpLocks/>
          </p:cNvGrpSpPr>
          <p:nvPr/>
        </p:nvGrpSpPr>
        <p:grpSpPr bwMode="auto">
          <a:xfrm>
            <a:off x="2146300" y="4432301"/>
            <a:ext cx="6021388" cy="2174875"/>
            <a:chOff x="494" y="2702"/>
            <a:chExt cx="3793" cy="1370"/>
          </a:xfrm>
        </p:grpSpPr>
        <p:graphicFrame>
          <p:nvGraphicFramePr>
            <p:cNvPr id="107522" name="Object 2"/>
            <p:cNvGraphicFramePr>
              <a:graphicFrameLocks noChangeAspect="1"/>
            </p:cNvGraphicFramePr>
            <p:nvPr/>
          </p:nvGraphicFramePr>
          <p:xfrm>
            <a:off x="914" y="3452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10752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3452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32" name="Oval 7"/>
            <p:cNvSpPr>
              <a:spLocks noChangeArrowheads="1"/>
            </p:cNvSpPr>
            <p:nvPr/>
          </p:nvSpPr>
          <p:spPr bwMode="auto">
            <a:xfrm>
              <a:off x="1570" y="3300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3" name="Rectangle 8"/>
            <p:cNvSpPr>
              <a:spLocks noChangeArrowheads="1"/>
            </p:cNvSpPr>
            <p:nvPr/>
          </p:nvSpPr>
          <p:spPr bwMode="auto">
            <a:xfrm>
              <a:off x="1570" y="3257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7534" name="Oval 9"/>
            <p:cNvSpPr>
              <a:spLocks noChangeArrowheads="1"/>
            </p:cNvSpPr>
            <p:nvPr/>
          </p:nvSpPr>
          <p:spPr bwMode="auto">
            <a:xfrm>
              <a:off x="1576" y="3113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7535" name="Group 10"/>
            <p:cNvGrpSpPr>
              <a:grpSpLocks/>
            </p:cNvGrpSpPr>
            <p:nvPr/>
          </p:nvGrpSpPr>
          <p:grpSpPr bwMode="auto">
            <a:xfrm>
              <a:off x="1794" y="3132"/>
              <a:ext cx="314" cy="75"/>
              <a:chOff x="2208" y="2184"/>
              <a:chExt cx="176" cy="69"/>
            </a:xfrm>
          </p:grpSpPr>
          <p:grpSp>
            <p:nvGrpSpPr>
              <p:cNvPr id="107573" name="Group 11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757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9" name="Line 1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80" name="Line 1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7574" name="Group 15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757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6" name="Line 1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7" name="Line 1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7536" name="Oval 19"/>
            <p:cNvSpPr>
              <a:spLocks noChangeArrowheads="1"/>
            </p:cNvSpPr>
            <p:nvPr/>
          </p:nvSpPr>
          <p:spPr bwMode="auto">
            <a:xfrm>
              <a:off x="3520" y="3312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7" name="Line 20"/>
            <p:cNvSpPr>
              <a:spLocks noChangeShapeType="1"/>
            </p:cNvSpPr>
            <p:nvPr/>
          </p:nvSpPr>
          <p:spPr bwMode="auto">
            <a:xfrm>
              <a:off x="3526" y="3299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8" name="Rectangle 21"/>
            <p:cNvSpPr>
              <a:spLocks noChangeArrowheads="1"/>
            </p:cNvSpPr>
            <p:nvPr/>
          </p:nvSpPr>
          <p:spPr bwMode="auto">
            <a:xfrm>
              <a:off x="3526" y="3275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7539" name="Oval 22"/>
            <p:cNvSpPr>
              <a:spLocks noChangeArrowheads="1"/>
            </p:cNvSpPr>
            <p:nvPr/>
          </p:nvSpPr>
          <p:spPr bwMode="auto">
            <a:xfrm>
              <a:off x="3532" y="3131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7523" name="Object 3"/>
            <p:cNvGraphicFramePr>
              <a:graphicFrameLocks noChangeAspect="1"/>
            </p:cNvGraphicFramePr>
            <p:nvPr/>
          </p:nvGraphicFramePr>
          <p:xfrm>
            <a:off x="716" y="281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10752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16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40" name="Line 24"/>
            <p:cNvSpPr>
              <a:spLocks noChangeShapeType="1"/>
            </p:cNvSpPr>
            <p:nvPr/>
          </p:nvSpPr>
          <p:spPr bwMode="auto">
            <a:xfrm>
              <a:off x="1110" y="3072"/>
              <a:ext cx="3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1" name="Line 25"/>
            <p:cNvSpPr>
              <a:spLocks noChangeShapeType="1"/>
            </p:cNvSpPr>
            <p:nvPr/>
          </p:nvSpPr>
          <p:spPr bwMode="auto">
            <a:xfrm flipV="1">
              <a:off x="1302" y="3693"/>
              <a:ext cx="123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2" name="Line 26"/>
            <p:cNvSpPr>
              <a:spLocks noChangeShapeType="1"/>
            </p:cNvSpPr>
            <p:nvPr/>
          </p:nvSpPr>
          <p:spPr bwMode="auto">
            <a:xfrm>
              <a:off x="2322" y="3336"/>
              <a:ext cx="1218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3" name="Line 27"/>
            <p:cNvSpPr>
              <a:spLocks noChangeShapeType="1"/>
            </p:cNvSpPr>
            <p:nvPr/>
          </p:nvSpPr>
          <p:spPr bwMode="auto">
            <a:xfrm flipH="1">
              <a:off x="1428" y="3066"/>
              <a:ext cx="0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4" name="Line 28"/>
            <p:cNvSpPr>
              <a:spLocks noChangeShapeType="1"/>
            </p:cNvSpPr>
            <p:nvPr/>
          </p:nvSpPr>
          <p:spPr bwMode="auto">
            <a:xfrm>
              <a:off x="1434" y="3339"/>
              <a:ext cx="1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5" name="Rectangle 29"/>
            <p:cNvSpPr>
              <a:spLocks noChangeArrowheads="1"/>
            </p:cNvSpPr>
            <p:nvPr/>
          </p:nvSpPr>
          <p:spPr bwMode="auto">
            <a:xfrm>
              <a:off x="2901" y="3210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6" name="Rectangle 30"/>
            <p:cNvSpPr>
              <a:spLocks noChangeArrowheads="1"/>
            </p:cNvSpPr>
            <p:nvPr/>
          </p:nvSpPr>
          <p:spPr bwMode="auto">
            <a:xfrm>
              <a:off x="2112" y="325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7" name="Rectangle 31"/>
            <p:cNvSpPr>
              <a:spLocks noChangeArrowheads="1"/>
            </p:cNvSpPr>
            <p:nvPr/>
          </p:nvSpPr>
          <p:spPr bwMode="auto">
            <a:xfrm>
              <a:off x="2214" y="325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8" name="Rectangle 32"/>
            <p:cNvSpPr>
              <a:spLocks noChangeArrowheads="1"/>
            </p:cNvSpPr>
            <p:nvPr/>
          </p:nvSpPr>
          <p:spPr bwMode="auto">
            <a:xfrm>
              <a:off x="1449" y="3192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9" name="Line 33"/>
            <p:cNvSpPr>
              <a:spLocks noChangeShapeType="1"/>
            </p:cNvSpPr>
            <p:nvPr/>
          </p:nvSpPr>
          <p:spPr bwMode="auto">
            <a:xfrm>
              <a:off x="1560" y="3258"/>
              <a:ext cx="153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0" name="Line 34"/>
            <p:cNvSpPr>
              <a:spLocks noChangeShapeType="1"/>
            </p:cNvSpPr>
            <p:nvPr/>
          </p:nvSpPr>
          <p:spPr bwMode="auto">
            <a:xfrm flipV="1">
              <a:off x="1350" y="3432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1" name="Line 35"/>
            <p:cNvSpPr>
              <a:spLocks noChangeShapeType="1"/>
            </p:cNvSpPr>
            <p:nvPr/>
          </p:nvSpPr>
          <p:spPr bwMode="auto">
            <a:xfrm flipV="1">
              <a:off x="3387" y="3084"/>
              <a:ext cx="2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2" name="Text Box 36"/>
            <p:cNvSpPr txBox="1">
              <a:spLocks noChangeArrowheads="1"/>
            </p:cNvSpPr>
            <p:nvPr/>
          </p:nvSpPr>
          <p:spPr bwMode="auto">
            <a:xfrm>
              <a:off x="494" y="2831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0CC66"/>
                  </a:solidFill>
                  <a:latin typeface="Comic Sans MS" charset="0"/>
                </a:rPr>
                <a:t>A</a:t>
              </a:r>
              <a:endParaRPr lang="en-US">
                <a:solidFill>
                  <a:srgbClr val="00CC66"/>
                </a:solidFill>
              </a:endParaRPr>
            </a:p>
          </p:txBody>
        </p:sp>
        <p:sp>
          <p:nvSpPr>
            <p:cNvPr id="107553" name="Text Box 37"/>
            <p:cNvSpPr txBox="1">
              <a:spLocks noChangeArrowheads="1"/>
            </p:cNvSpPr>
            <p:nvPr/>
          </p:nvSpPr>
          <p:spPr bwMode="auto">
            <a:xfrm>
              <a:off x="668" y="3473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2"/>
                  </a:solidFill>
                  <a:latin typeface="Comic Sans MS" charset="0"/>
                </a:rPr>
                <a:t>B</a:t>
              </a:r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7554" name="Rectangle 38"/>
            <p:cNvSpPr>
              <a:spLocks noChangeArrowheads="1"/>
            </p:cNvSpPr>
            <p:nvPr/>
          </p:nvSpPr>
          <p:spPr bwMode="auto">
            <a:xfrm>
              <a:off x="2295" y="3216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5" name="Text Box 39"/>
            <p:cNvSpPr txBox="1">
              <a:spLocks noChangeArrowheads="1"/>
            </p:cNvSpPr>
            <p:nvPr/>
          </p:nvSpPr>
          <p:spPr bwMode="auto">
            <a:xfrm>
              <a:off x="2540" y="2966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propagation</a:t>
              </a:r>
              <a:endParaRPr lang="en-US" sz="1800"/>
            </a:p>
          </p:txBody>
        </p:sp>
        <p:sp>
          <p:nvSpPr>
            <p:cNvPr id="107556" name="Line 40"/>
            <p:cNvSpPr>
              <a:spLocks noChangeShapeType="1"/>
            </p:cNvSpPr>
            <p:nvPr/>
          </p:nvSpPr>
          <p:spPr bwMode="auto">
            <a:xfrm rot="10800000">
              <a:off x="2385" y="3084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7" name="Text Box 41"/>
            <p:cNvSpPr txBox="1">
              <a:spLocks noChangeArrowheads="1"/>
            </p:cNvSpPr>
            <p:nvPr/>
          </p:nvSpPr>
          <p:spPr bwMode="auto">
            <a:xfrm>
              <a:off x="1346" y="270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transmission</a:t>
              </a:r>
              <a:endParaRPr lang="en-US" sz="1800"/>
            </a:p>
          </p:txBody>
        </p:sp>
        <p:sp>
          <p:nvSpPr>
            <p:cNvPr id="107558" name="Line 42"/>
            <p:cNvSpPr>
              <a:spLocks noChangeShapeType="1"/>
            </p:cNvSpPr>
            <p:nvPr/>
          </p:nvSpPr>
          <p:spPr bwMode="auto">
            <a:xfrm rot="10800000" flipH="1" flipV="1">
              <a:off x="2022" y="2874"/>
              <a:ext cx="333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9" name="Text Box 43"/>
            <p:cNvSpPr txBox="1">
              <a:spLocks noChangeArrowheads="1"/>
            </p:cNvSpPr>
            <p:nvPr/>
          </p:nvSpPr>
          <p:spPr bwMode="auto">
            <a:xfrm>
              <a:off x="1424" y="3668"/>
              <a:ext cx="82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nodal</a:t>
              </a:r>
            </a:p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processing</a:t>
              </a:r>
              <a:endParaRPr lang="en-US" sz="1800"/>
            </a:p>
          </p:txBody>
        </p:sp>
        <p:sp>
          <p:nvSpPr>
            <p:cNvPr id="107560" name="Line 44"/>
            <p:cNvSpPr>
              <a:spLocks noChangeShapeType="1"/>
            </p:cNvSpPr>
            <p:nvPr/>
          </p:nvSpPr>
          <p:spPr bwMode="auto">
            <a:xfrm rot="10800000">
              <a:off x="1587" y="3696"/>
              <a:ext cx="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61" name="Line 45"/>
            <p:cNvSpPr>
              <a:spLocks noChangeShapeType="1"/>
            </p:cNvSpPr>
            <p:nvPr/>
          </p:nvSpPr>
          <p:spPr bwMode="auto">
            <a:xfrm rot="10800000" flipV="1">
              <a:off x="2097" y="3546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62" name="Text Box 46"/>
            <p:cNvSpPr txBox="1">
              <a:spLocks noChangeArrowheads="1"/>
            </p:cNvSpPr>
            <p:nvPr/>
          </p:nvSpPr>
          <p:spPr bwMode="auto">
            <a:xfrm>
              <a:off x="2354" y="3830"/>
              <a:ext cx="6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queueing</a:t>
              </a:r>
              <a:endParaRPr lang="en-US" sz="1800"/>
            </a:p>
          </p:txBody>
        </p:sp>
        <p:sp>
          <p:nvSpPr>
            <p:cNvPr id="107563" name="Line 47"/>
            <p:cNvSpPr>
              <a:spLocks noChangeShapeType="1"/>
            </p:cNvSpPr>
            <p:nvPr/>
          </p:nvSpPr>
          <p:spPr bwMode="auto">
            <a:xfrm rot="10800000">
              <a:off x="2199" y="3546"/>
              <a:ext cx="375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7564" name="Group 48"/>
            <p:cNvGrpSpPr>
              <a:grpSpLocks/>
            </p:cNvGrpSpPr>
            <p:nvPr/>
          </p:nvGrpSpPr>
          <p:grpSpPr bwMode="auto">
            <a:xfrm>
              <a:off x="3738" y="3168"/>
              <a:ext cx="314" cy="75"/>
              <a:chOff x="2208" y="2184"/>
              <a:chExt cx="176" cy="69"/>
            </a:xfrm>
          </p:grpSpPr>
          <p:grpSp>
            <p:nvGrpSpPr>
              <p:cNvPr id="107565" name="Group 49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7570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1" name="Line 5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2" name="Line 5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7566" name="Group 53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7567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68" name="Line 5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69" name="Line 5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7530" name="Rectangle 57"/>
          <p:cNvSpPr>
            <a:spLocks noChangeArrowheads="1"/>
          </p:cNvSpPr>
          <p:nvPr/>
        </p:nvSpPr>
        <p:spPr bwMode="auto">
          <a:xfrm>
            <a:off x="4151785" y="3717032"/>
            <a:ext cx="38004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</a:pPr>
            <a:r>
              <a:rPr lang="en-US" sz="2000" dirty="0">
                <a:solidFill>
                  <a:srgbClr val="FF0000"/>
                </a:solidFill>
              </a:rPr>
              <a:t>Note: </a:t>
            </a:r>
            <a:r>
              <a:rPr lang="en-US" sz="2000" dirty="0"/>
              <a:t>s and R are </a:t>
            </a:r>
            <a:r>
              <a:rPr lang="en-US" sz="2000" i="1" dirty="0"/>
              <a:t>very </a:t>
            </a:r>
            <a:r>
              <a:rPr lang="en-US" sz="2000" dirty="0"/>
              <a:t>different quantities!</a:t>
            </a:r>
          </a:p>
        </p:txBody>
      </p:sp>
      <p:sp>
        <p:nvSpPr>
          <p:cNvPr id="107531" name="Rectangle 58"/>
          <p:cNvSpPr>
            <a:spLocks noChangeArrowheads="1"/>
          </p:cNvSpPr>
          <p:nvPr/>
        </p:nvSpPr>
        <p:spPr bwMode="auto">
          <a:xfrm>
            <a:off x="4151784" y="3717032"/>
            <a:ext cx="3676650" cy="804292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2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6" name="Picture 60" descr="queueDel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7" y="1628800"/>
            <a:ext cx="4505921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266700"/>
            <a:ext cx="7772400" cy="1143000"/>
          </a:xfrm>
        </p:spPr>
        <p:txBody>
          <a:bodyPr/>
          <a:lstStyle/>
          <a:p>
            <a:r>
              <a:rPr lang="en-US" sz="3600" dirty="0"/>
              <a:t>A note on </a:t>
            </a:r>
            <a:r>
              <a:rPr lang="en-US" sz="3600" dirty="0" err="1"/>
              <a:t>Queueing</a:t>
            </a:r>
            <a:r>
              <a:rPr lang="en-US" sz="3600" dirty="0"/>
              <a:t> delay</a:t>
            </a:r>
            <a:endParaRPr lang="en-US" dirty="0"/>
          </a:p>
        </p:txBody>
      </p:sp>
      <p:sp>
        <p:nvSpPr>
          <p:cNvPr id="1157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95500" y="1638301"/>
            <a:ext cx="3810000" cy="1781175"/>
          </a:xfrm>
        </p:spPr>
        <p:txBody>
          <a:bodyPr>
            <a:normAutofit/>
          </a:bodyPr>
          <a:lstStyle/>
          <a:p>
            <a:r>
              <a:rPr lang="en-US" sz="2400" dirty="0"/>
              <a:t>R=link bandwidth (bps)</a:t>
            </a:r>
          </a:p>
          <a:p>
            <a:r>
              <a:rPr lang="en-US" sz="2400" dirty="0"/>
              <a:t>L=packet length (bits)</a:t>
            </a:r>
          </a:p>
          <a:p>
            <a:r>
              <a:rPr lang="en-US" sz="2400" dirty="0"/>
              <a:t>a=average packet arrival rate</a:t>
            </a:r>
          </a:p>
        </p:txBody>
      </p:sp>
      <p:sp>
        <p:nvSpPr>
          <p:cNvPr id="115719" name="Rectangle 61"/>
          <p:cNvSpPr>
            <a:spLocks noChangeArrowheads="1"/>
          </p:cNvSpPr>
          <p:nvPr/>
        </p:nvSpPr>
        <p:spPr bwMode="auto">
          <a:xfrm>
            <a:off x="1991544" y="3552826"/>
            <a:ext cx="3818706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</a:pPr>
            <a:r>
              <a:rPr lang="en-US" sz="2400" dirty="0">
                <a:solidFill>
                  <a:srgbClr val="FF0000"/>
                </a:solidFill>
              </a:rPr>
              <a:t>traffic intensity = La/R</a:t>
            </a:r>
          </a:p>
        </p:txBody>
      </p:sp>
      <p:sp>
        <p:nvSpPr>
          <p:cNvPr id="115720" name="Rectangle 62"/>
          <p:cNvSpPr>
            <a:spLocks noChangeArrowheads="1"/>
          </p:cNvSpPr>
          <p:nvPr/>
        </p:nvSpPr>
        <p:spPr bwMode="auto">
          <a:xfrm>
            <a:off x="2095500" y="4448176"/>
            <a:ext cx="69723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/>
              <a:t>La/R ~ 0: average </a:t>
            </a:r>
            <a:r>
              <a:rPr lang="en-US" sz="2400" dirty="0" err="1"/>
              <a:t>queueing</a:t>
            </a:r>
            <a:r>
              <a:rPr lang="en-US" sz="2400" dirty="0"/>
              <a:t> delay small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/>
              <a:t>La/R -&gt; 1: delays become large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/>
              <a:t>La/R &gt; 1: more </a:t>
            </a:r>
            <a:r>
              <a:rPr lang="ja-JP" altLang="en-US" sz="2400" dirty="0"/>
              <a:t>“</a:t>
            </a:r>
            <a:r>
              <a:rPr lang="en-US" sz="2400" dirty="0"/>
              <a:t>work</a:t>
            </a:r>
            <a:r>
              <a:rPr lang="ja-JP" altLang="en-US" sz="2400" dirty="0"/>
              <a:t>”</a:t>
            </a:r>
            <a:r>
              <a:rPr lang="en-US" sz="2400" dirty="0"/>
              <a:t> arriving than can be serviced, average delay infinite!</a:t>
            </a:r>
          </a:p>
        </p:txBody>
      </p:sp>
    </p:spTree>
    <p:extLst>
      <p:ext uri="{BB962C8B-B14F-4D97-AF65-F5344CB8AC3E}">
        <p14:creationId xmlns:p14="http://schemas.microsoft.com/office/powerpoint/2010/main" val="302793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</a:t>
            </a:r>
            <a:r>
              <a:rPr lang="en-US" dirty="0"/>
              <a:t>delay</a:t>
            </a:r>
          </a:p>
        </p:txBody>
      </p:sp>
      <p:sp>
        <p:nvSpPr>
          <p:cNvPr id="1136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2547938"/>
            <a:ext cx="7772400" cy="4049414"/>
          </a:xfrm>
        </p:spPr>
        <p:txBody>
          <a:bodyPr>
            <a:noAutofit/>
          </a:bodyPr>
          <a:lstStyle/>
          <a:p>
            <a:r>
              <a:rPr lang="en-US" dirty="0" err="1"/>
              <a:t>d</a:t>
            </a:r>
            <a:r>
              <a:rPr lang="en-US" baseline="-25000" dirty="0" err="1"/>
              <a:t>nodalproc</a:t>
            </a:r>
            <a:r>
              <a:rPr lang="en-US" dirty="0"/>
              <a:t> = processing delay in the node (router)</a:t>
            </a:r>
          </a:p>
          <a:p>
            <a:pPr lvl="1"/>
            <a:r>
              <a:rPr lang="en-US" dirty="0">
                <a:ea typeface="ＭＳ Ｐゴシック" charset="0"/>
              </a:rPr>
              <a:t>typically a few </a:t>
            </a:r>
            <a:r>
              <a:rPr lang="en-US" dirty="0" err="1">
                <a:ea typeface="ＭＳ Ｐゴシック" charset="0"/>
              </a:rPr>
              <a:t>microsecs</a:t>
            </a:r>
            <a:r>
              <a:rPr lang="en-US" dirty="0">
                <a:ea typeface="ＭＳ Ｐゴシック" charset="0"/>
              </a:rPr>
              <a:t> or less</a:t>
            </a:r>
          </a:p>
          <a:p>
            <a:r>
              <a:rPr lang="en-US" dirty="0" err="1"/>
              <a:t>d</a:t>
            </a:r>
            <a:r>
              <a:rPr lang="en-US" baseline="-25000" dirty="0" err="1"/>
              <a:t>queue</a:t>
            </a:r>
            <a:r>
              <a:rPr lang="en-US" dirty="0"/>
              <a:t> = queuing delay</a:t>
            </a:r>
          </a:p>
          <a:p>
            <a:pPr lvl="1"/>
            <a:r>
              <a:rPr lang="en-US" dirty="0">
                <a:ea typeface="ＭＳ Ｐゴシック" charset="0"/>
              </a:rPr>
              <a:t>depends on congestion</a:t>
            </a:r>
          </a:p>
          <a:p>
            <a:r>
              <a:rPr lang="en-US" dirty="0" err="1"/>
              <a:t>d</a:t>
            </a:r>
            <a:r>
              <a:rPr lang="en-US" baseline="-25000" dirty="0" err="1"/>
              <a:t>trans</a:t>
            </a:r>
            <a:r>
              <a:rPr lang="en-US" dirty="0"/>
              <a:t> = transmission delay</a:t>
            </a:r>
          </a:p>
          <a:p>
            <a:pPr lvl="1"/>
            <a:r>
              <a:rPr lang="en-US" dirty="0">
                <a:ea typeface="ＭＳ Ｐゴシック" charset="0"/>
              </a:rPr>
              <a:t>= L/R, significant for low-speed links</a:t>
            </a:r>
          </a:p>
          <a:p>
            <a:r>
              <a:rPr lang="en-US" dirty="0" err="1"/>
              <a:t>d</a:t>
            </a:r>
            <a:r>
              <a:rPr lang="en-US" baseline="-25000" dirty="0" err="1"/>
              <a:t>prop</a:t>
            </a:r>
            <a:r>
              <a:rPr lang="en-US" dirty="0"/>
              <a:t> = propagation delay</a:t>
            </a:r>
          </a:p>
          <a:p>
            <a:pPr lvl="1"/>
            <a:r>
              <a:rPr lang="en-US" dirty="0">
                <a:ea typeface="ＭＳ Ｐゴシック" charset="0"/>
              </a:rPr>
              <a:t>a few </a:t>
            </a:r>
            <a:r>
              <a:rPr lang="en-US" dirty="0" err="1">
                <a:ea typeface="ＭＳ Ｐゴシック" charset="0"/>
              </a:rPr>
              <a:t>microsecs</a:t>
            </a:r>
            <a:r>
              <a:rPr lang="en-US" dirty="0">
                <a:ea typeface="ＭＳ Ｐゴシック" charset="0"/>
              </a:rPr>
              <a:t> to hundreds of </a:t>
            </a:r>
            <a:r>
              <a:rPr lang="en-US" dirty="0" err="1">
                <a:ea typeface="ＭＳ Ｐゴシック" charset="0"/>
              </a:rPr>
              <a:t>msecs</a:t>
            </a:r>
            <a:endParaRPr lang="en-US" dirty="0">
              <a:ea typeface="ＭＳ Ｐゴシック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5560" y="1628801"/>
            <a:ext cx="6661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 err="1"/>
              <a:t>d</a:t>
            </a:r>
            <a:r>
              <a:rPr lang="en-US" sz="3600" baseline="-25000" dirty="0" err="1"/>
              <a:t>total</a:t>
            </a:r>
            <a:r>
              <a:rPr lang="en-US" sz="3600" dirty="0"/>
              <a:t> =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nodalproc</a:t>
            </a:r>
            <a:r>
              <a:rPr lang="en-US" sz="3600" dirty="0"/>
              <a:t>+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queue</a:t>
            </a:r>
            <a:r>
              <a:rPr lang="en-US" sz="3600" dirty="0"/>
              <a:t>+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trans</a:t>
            </a:r>
            <a:r>
              <a:rPr lang="en-US" sz="3600" dirty="0"/>
              <a:t>+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prop</a:t>
            </a:r>
            <a:endParaRPr lang="en-US" sz="3600" baseline="-25000" dirty="0"/>
          </a:p>
        </p:txBody>
      </p:sp>
    </p:spTree>
    <p:extLst>
      <p:ext uri="{BB962C8B-B14F-4D97-AF65-F5344CB8AC3E}">
        <p14:creationId xmlns:p14="http://schemas.microsoft.com/office/powerpoint/2010/main" val="350080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dirty="0">
                <a:latin typeface="Comic Sans MS" charset="0"/>
              </a:rPr>
              <a:t>“</a:t>
            </a:r>
            <a:r>
              <a:rPr lang="en-US" sz="3600" dirty="0"/>
              <a:t>Real</a:t>
            </a:r>
            <a:r>
              <a:rPr lang="ja-JP" altLang="en-US" sz="3600" dirty="0"/>
              <a:t>”</a:t>
            </a:r>
            <a:r>
              <a:rPr lang="en-US" sz="3600" dirty="0"/>
              <a:t> Internet delays and routes</a:t>
            </a:r>
          </a:p>
        </p:txBody>
      </p:sp>
      <p:sp>
        <p:nvSpPr>
          <p:cNvPr id="11776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0"/>
            <a:ext cx="7772400" cy="3098800"/>
          </a:xfrm>
        </p:spPr>
        <p:txBody>
          <a:bodyPr>
            <a:normAutofit/>
          </a:bodyPr>
          <a:lstStyle/>
          <a:p>
            <a:r>
              <a:rPr lang="en-US" sz="2400" dirty="0"/>
              <a:t>What do </a:t>
            </a:r>
            <a:r>
              <a:rPr lang="ja-JP" altLang="en-US" sz="2400" dirty="0"/>
              <a:t>“</a:t>
            </a:r>
            <a:r>
              <a:rPr lang="en-US" sz="2400" dirty="0"/>
              <a:t>real</a:t>
            </a:r>
            <a:r>
              <a:rPr lang="ja-JP" altLang="en-US" sz="2400" dirty="0"/>
              <a:t>”</a:t>
            </a:r>
            <a:r>
              <a:rPr lang="en-US" sz="2400" dirty="0"/>
              <a:t> Internet delay &amp; loss look like? </a:t>
            </a:r>
          </a:p>
          <a:p>
            <a:r>
              <a:rPr lang="en-US" sz="2400" b="1" u="sng" dirty="0" err="1">
                <a:solidFill>
                  <a:srgbClr val="FF0000"/>
                </a:solidFill>
              </a:rPr>
              <a:t>Traceroute</a:t>
            </a:r>
            <a:r>
              <a:rPr lang="en-US" sz="2400" u="sng" dirty="0">
                <a:solidFill>
                  <a:srgbClr val="FF0000"/>
                </a:solidFill>
              </a:rPr>
              <a:t> program:</a:t>
            </a:r>
            <a:r>
              <a:rPr lang="en-US" sz="2400" dirty="0"/>
              <a:t> provides delay measurement from source to router along end-end Internet path towards destination.  For all </a:t>
            </a:r>
            <a:r>
              <a:rPr lang="en-US" sz="2400" i="1" dirty="0" err="1"/>
              <a:t>i</a:t>
            </a:r>
            <a:r>
              <a:rPr lang="en-US" sz="2400" i="1" dirty="0"/>
              <a:t>:</a:t>
            </a:r>
          </a:p>
          <a:p>
            <a:pPr lvl="1"/>
            <a:r>
              <a:rPr lang="en-US" sz="2000" dirty="0">
                <a:ea typeface="ＭＳ Ｐゴシック" charset="0"/>
              </a:rPr>
              <a:t>sends three packets that will reach router </a:t>
            </a:r>
            <a:r>
              <a:rPr lang="en-US" sz="2000" i="1" dirty="0" err="1">
                <a:ea typeface="ＭＳ Ｐゴシック" charset="0"/>
              </a:rPr>
              <a:t>i</a:t>
            </a:r>
            <a:r>
              <a:rPr lang="en-US" sz="2000" dirty="0">
                <a:ea typeface="ＭＳ Ｐゴシック" charset="0"/>
              </a:rPr>
              <a:t> on path towards destination</a:t>
            </a:r>
          </a:p>
          <a:p>
            <a:pPr lvl="1"/>
            <a:r>
              <a:rPr lang="en-US" sz="2000" dirty="0">
                <a:ea typeface="ＭＳ Ｐゴシック" charset="0"/>
              </a:rPr>
              <a:t>router </a:t>
            </a:r>
            <a:r>
              <a:rPr lang="en-US" sz="2000" i="1" dirty="0" err="1">
                <a:ea typeface="ＭＳ Ｐゴシック" charset="0"/>
              </a:rPr>
              <a:t>i</a:t>
            </a:r>
            <a:r>
              <a:rPr lang="en-US" sz="2000" dirty="0">
                <a:ea typeface="ＭＳ Ｐゴシック" charset="0"/>
              </a:rPr>
              <a:t> will return packets to sender</a:t>
            </a:r>
          </a:p>
          <a:p>
            <a:pPr lvl="1"/>
            <a:r>
              <a:rPr lang="en-US" sz="2000" dirty="0">
                <a:ea typeface="ＭＳ Ｐゴシック" charset="0"/>
              </a:rPr>
              <a:t>sender times interval between transmission and reply.</a:t>
            </a:r>
            <a:endParaRPr lang="en-US" dirty="0">
              <a:ea typeface="ＭＳ Ｐゴシック" charset="0"/>
            </a:endParaRPr>
          </a:p>
          <a:p>
            <a:endParaRPr lang="en-US" dirty="0">
              <a:latin typeface="Comic Sans MS" charset="0"/>
            </a:endParaRPr>
          </a:p>
        </p:txBody>
      </p:sp>
      <p:graphicFrame>
        <p:nvGraphicFramePr>
          <p:cNvPr id="117762" name="Object 2"/>
          <p:cNvGraphicFramePr>
            <a:graphicFrameLocks noChangeAspect="1"/>
          </p:cNvGraphicFramePr>
          <p:nvPr/>
        </p:nvGraphicFramePr>
        <p:xfrm>
          <a:off x="2508251" y="5078414"/>
          <a:ext cx="4159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1177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1" y="5078414"/>
                        <a:ext cx="4159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8" name="Line 38"/>
          <p:cNvSpPr>
            <a:spLocks noChangeShapeType="1"/>
          </p:cNvSpPr>
          <p:nvPr/>
        </p:nvSpPr>
        <p:spPr bwMode="auto">
          <a:xfrm>
            <a:off x="2809876" y="5319713"/>
            <a:ext cx="288925" cy="265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69" name="Line 105"/>
          <p:cNvSpPr>
            <a:spLocks noChangeShapeType="1"/>
          </p:cNvSpPr>
          <p:nvPr/>
        </p:nvSpPr>
        <p:spPr bwMode="auto">
          <a:xfrm flipV="1">
            <a:off x="3603625" y="5370513"/>
            <a:ext cx="458788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0" name="Line 106"/>
          <p:cNvSpPr>
            <a:spLocks noChangeShapeType="1"/>
          </p:cNvSpPr>
          <p:nvPr/>
        </p:nvSpPr>
        <p:spPr bwMode="auto">
          <a:xfrm>
            <a:off x="4538664" y="53546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1" name="Line 108"/>
          <p:cNvSpPr>
            <a:spLocks noChangeShapeType="1"/>
          </p:cNvSpPr>
          <p:nvPr/>
        </p:nvSpPr>
        <p:spPr bwMode="auto">
          <a:xfrm flipH="1">
            <a:off x="4300538" y="508635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2" name="Line 113"/>
          <p:cNvSpPr>
            <a:spLocks noChangeShapeType="1"/>
          </p:cNvSpPr>
          <p:nvPr/>
        </p:nvSpPr>
        <p:spPr bwMode="auto">
          <a:xfrm flipH="1">
            <a:off x="5514976" y="5414963"/>
            <a:ext cx="620713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7773" name="Group 144"/>
          <p:cNvGrpSpPr>
            <a:grpSpLocks/>
          </p:cNvGrpSpPr>
          <p:nvPr/>
        </p:nvGrpSpPr>
        <p:grpSpPr bwMode="auto">
          <a:xfrm>
            <a:off x="3084513" y="5467351"/>
            <a:ext cx="501650" cy="233363"/>
            <a:chOff x="3600" y="219"/>
            <a:chExt cx="360" cy="175"/>
          </a:xfrm>
        </p:grpSpPr>
        <p:sp>
          <p:nvSpPr>
            <p:cNvPr id="117842" name="Oval 14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3" name="Line 14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4" name="Line 14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5" name="Rectangle 14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46" name="Oval 14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47" name="Group 15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52" name="Line 15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3" name="Line 15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4" name="Line 15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48" name="Group 15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49" name="Line 15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0" name="Line 15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1" name="Line 15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4" name="Group 158"/>
          <p:cNvGrpSpPr>
            <a:grpSpLocks/>
          </p:cNvGrpSpPr>
          <p:nvPr/>
        </p:nvGrpSpPr>
        <p:grpSpPr bwMode="auto">
          <a:xfrm>
            <a:off x="4037013" y="5238751"/>
            <a:ext cx="501650" cy="233363"/>
            <a:chOff x="3600" y="219"/>
            <a:chExt cx="360" cy="175"/>
          </a:xfrm>
        </p:grpSpPr>
        <p:sp>
          <p:nvSpPr>
            <p:cNvPr id="117829" name="Oval 15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0" name="Line 16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1" name="Line 16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2" name="Rectangle 16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33" name="Oval 16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34" name="Group 16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39" name="Line 16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40" name="Line 16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41" name="Line 16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35" name="Group 16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36" name="Line 1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37" name="Line 1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38" name="Line 1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5" name="Group 186"/>
          <p:cNvGrpSpPr>
            <a:grpSpLocks/>
          </p:cNvGrpSpPr>
          <p:nvPr/>
        </p:nvGrpSpPr>
        <p:grpSpPr bwMode="auto">
          <a:xfrm>
            <a:off x="5024438" y="5446713"/>
            <a:ext cx="500062" cy="233362"/>
            <a:chOff x="3600" y="219"/>
            <a:chExt cx="360" cy="175"/>
          </a:xfrm>
        </p:grpSpPr>
        <p:sp>
          <p:nvSpPr>
            <p:cNvPr id="117816" name="Oval 18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7" name="Line 18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8" name="Line 18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9" name="Rectangle 19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20" name="Oval 19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21" name="Group 19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26" name="Line 19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7" name="Line 19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8" name="Line 19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22" name="Group 19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23" name="Line 19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4" name="Line 19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5" name="Line 19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17776" name="Line 260"/>
          <p:cNvSpPr>
            <a:spLocks noChangeShapeType="1"/>
          </p:cNvSpPr>
          <p:nvPr/>
        </p:nvSpPr>
        <p:spPr bwMode="auto">
          <a:xfrm>
            <a:off x="6634164" y="53800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7" name="Line 261"/>
          <p:cNvSpPr>
            <a:spLocks noChangeShapeType="1"/>
          </p:cNvSpPr>
          <p:nvPr/>
        </p:nvSpPr>
        <p:spPr bwMode="auto">
          <a:xfrm flipH="1">
            <a:off x="7572376" y="5326063"/>
            <a:ext cx="557213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7778" name="Group 262"/>
          <p:cNvGrpSpPr>
            <a:grpSpLocks/>
          </p:cNvGrpSpPr>
          <p:nvPr/>
        </p:nvGrpSpPr>
        <p:grpSpPr bwMode="auto">
          <a:xfrm>
            <a:off x="6132513" y="5264151"/>
            <a:ext cx="501650" cy="233363"/>
            <a:chOff x="3600" y="219"/>
            <a:chExt cx="360" cy="175"/>
          </a:xfrm>
        </p:grpSpPr>
        <p:sp>
          <p:nvSpPr>
            <p:cNvPr id="117803" name="Oval 26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4" name="Line 26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5" name="Line 26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6" name="Rectangle 26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07" name="Oval 26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08" name="Group 26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13" name="Line 2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4" name="Line 2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5" name="Line 2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09" name="Group 27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10" name="Line 2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1" name="Line 2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2" name="Line 2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9" name="Group 276"/>
          <p:cNvGrpSpPr>
            <a:grpSpLocks/>
          </p:cNvGrpSpPr>
          <p:nvPr/>
        </p:nvGrpSpPr>
        <p:grpSpPr bwMode="auto">
          <a:xfrm>
            <a:off x="7119938" y="5472113"/>
            <a:ext cx="500062" cy="233362"/>
            <a:chOff x="3600" y="219"/>
            <a:chExt cx="360" cy="175"/>
          </a:xfrm>
        </p:grpSpPr>
        <p:sp>
          <p:nvSpPr>
            <p:cNvPr id="117790" name="Oval 27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1" name="Line 27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2" name="Line 27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3" name="Rectangle 28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794" name="Oval 28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795" name="Group 28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00" name="Line 28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01" name="Line 28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02" name="Line 28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796" name="Group 28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797" name="Line 28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798" name="Line 28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799" name="Line 28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17763" name="Object 3"/>
          <p:cNvGraphicFramePr>
            <a:graphicFrameLocks noChangeAspect="1"/>
          </p:cNvGraphicFramePr>
          <p:nvPr/>
        </p:nvGraphicFramePr>
        <p:xfrm>
          <a:off x="8121651" y="5180014"/>
          <a:ext cx="4159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1177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1651" y="5180014"/>
                        <a:ext cx="4159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80" name="Line 291"/>
          <p:cNvSpPr>
            <a:spLocks noChangeShapeType="1"/>
          </p:cNvSpPr>
          <p:nvPr/>
        </p:nvSpPr>
        <p:spPr bwMode="auto">
          <a:xfrm>
            <a:off x="4268788" y="548640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1" name="Line 292"/>
          <p:cNvSpPr>
            <a:spLocks noChangeShapeType="1"/>
          </p:cNvSpPr>
          <p:nvPr/>
        </p:nvSpPr>
        <p:spPr bwMode="auto">
          <a:xfrm>
            <a:off x="6192838" y="507365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2" name="Line 294"/>
          <p:cNvSpPr>
            <a:spLocks noChangeShapeType="1"/>
          </p:cNvSpPr>
          <p:nvPr/>
        </p:nvSpPr>
        <p:spPr bwMode="auto">
          <a:xfrm flipH="1">
            <a:off x="4910138" y="567690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3" name="Line 295"/>
          <p:cNvSpPr>
            <a:spLocks noChangeShapeType="1"/>
          </p:cNvSpPr>
          <p:nvPr/>
        </p:nvSpPr>
        <p:spPr bwMode="auto">
          <a:xfrm>
            <a:off x="5265738" y="5181600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43" name="Freeform 299"/>
          <p:cNvSpPr>
            <a:spLocks/>
          </p:cNvSpPr>
          <p:nvPr/>
        </p:nvSpPr>
        <p:spPr bwMode="auto">
          <a:xfrm>
            <a:off x="2813050" y="5295900"/>
            <a:ext cx="419100" cy="419100"/>
          </a:xfrm>
          <a:custGeom>
            <a:avLst/>
            <a:gdLst>
              <a:gd name="T0" fmla="*/ 60 w 264"/>
              <a:gd name="T1" fmla="*/ 0 h 264"/>
              <a:gd name="T2" fmla="*/ 228 w 264"/>
              <a:gd name="T3" fmla="*/ 220 h 264"/>
              <a:gd name="T4" fmla="*/ 0 w 264"/>
              <a:gd name="T5" fmla="*/ 88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4" name="Text Box 300"/>
          <p:cNvSpPr txBox="1">
            <a:spLocks noChangeArrowheads="1"/>
          </p:cNvSpPr>
          <p:nvPr/>
        </p:nvSpPr>
        <p:spPr bwMode="auto">
          <a:xfrm>
            <a:off x="2911476" y="5038726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  <p:sp>
        <p:nvSpPr>
          <p:cNvPr id="83245" name="Freeform 301"/>
          <p:cNvSpPr>
            <a:spLocks/>
          </p:cNvSpPr>
          <p:nvPr/>
        </p:nvSpPr>
        <p:spPr bwMode="auto">
          <a:xfrm>
            <a:off x="2806700" y="5219701"/>
            <a:ext cx="1346200" cy="474663"/>
          </a:xfrm>
          <a:custGeom>
            <a:avLst/>
            <a:gdLst>
              <a:gd name="T0" fmla="*/ 76 w 848"/>
              <a:gd name="T1" fmla="*/ 76 h 299"/>
              <a:gd name="T2" fmla="*/ 324 w 848"/>
              <a:gd name="T3" fmla="*/ 216 h 299"/>
              <a:gd name="T4" fmla="*/ 820 w 848"/>
              <a:gd name="T5" fmla="*/ 76 h 299"/>
              <a:gd name="T6" fmla="*/ 340 w 848"/>
              <a:gd name="T7" fmla="*/ 296 h 299"/>
              <a:gd name="T8" fmla="*/ 0 w 848"/>
              <a:gd name="T9" fmla="*/ 96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6" name="Text Box 302"/>
          <p:cNvSpPr txBox="1">
            <a:spLocks noChangeArrowheads="1"/>
          </p:cNvSpPr>
          <p:nvPr/>
        </p:nvSpPr>
        <p:spPr bwMode="auto">
          <a:xfrm>
            <a:off x="3482976" y="5527676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  <p:sp>
        <p:nvSpPr>
          <p:cNvPr id="83247" name="Freeform 303"/>
          <p:cNvSpPr>
            <a:spLocks/>
          </p:cNvSpPr>
          <p:nvPr/>
        </p:nvSpPr>
        <p:spPr bwMode="auto">
          <a:xfrm>
            <a:off x="2800350" y="5273676"/>
            <a:ext cx="2247900" cy="403225"/>
          </a:xfrm>
          <a:custGeom>
            <a:avLst/>
            <a:gdLst>
              <a:gd name="T0" fmla="*/ 76 w 1416"/>
              <a:gd name="T1" fmla="*/ 30 h 254"/>
              <a:gd name="T2" fmla="*/ 324 w 1416"/>
              <a:gd name="T3" fmla="*/ 170 h 254"/>
              <a:gd name="T4" fmla="*/ 896 w 1416"/>
              <a:gd name="T5" fmla="*/ 2 h 254"/>
              <a:gd name="T6" fmla="*/ 1400 w 1416"/>
              <a:gd name="T7" fmla="*/ 182 h 254"/>
              <a:gd name="T8" fmla="*/ 896 w 1416"/>
              <a:gd name="T9" fmla="*/ 74 h 254"/>
              <a:gd name="T10" fmla="*/ 340 w 1416"/>
              <a:gd name="T11" fmla="*/ 250 h 254"/>
              <a:gd name="T12" fmla="*/ 0 w 1416"/>
              <a:gd name="T13" fmla="*/ 50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8" name="Text Box 304"/>
          <p:cNvSpPr txBox="1">
            <a:spLocks noChangeArrowheads="1"/>
          </p:cNvSpPr>
          <p:nvPr/>
        </p:nvSpPr>
        <p:spPr bwMode="auto">
          <a:xfrm>
            <a:off x="4549776" y="5013326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</p:spTree>
    <p:extLst>
      <p:ext uri="{BB962C8B-B14F-4D97-AF65-F5344CB8AC3E}">
        <p14:creationId xmlns:p14="http://schemas.microsoft.com/office/powerpoint/2010/main" val="159791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43" grpId="0" animBg="1"/>
      <p:bldP spid="83244" grpId="0"/>
      <p:bldP spid="83245" grpId="0" animBg="1"/>
      <p:bldP spid="83246" grpId="0"/>
      <p:bldP spid="83247" grpId="0" animBg="1"/>
      <p:bldP spid="8324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Rectangle 2"/>
          <p:cNvSpPr>
            <a:spLocks noGrp="1" noChangeArrowheads="1"/>
          </p:cNvSpPr>
          <p:nvPr>
            <p:ph type="title"/>
          </p:nvPr>
        </p:nvSpPr>
        <p:spPr>
          <a:xfrm>
            <a:off x="2303464" y="381001"/>
            <a:ext cx="7583487" cy="599728"/>
          </a:xfrm>
        </p:spPr>
        <p:txBody>
          <a:bodyPr/>
          <a:lstStyle/>
          <a:p>
            <a:r>
              <a:rPr lang="en-US" sz="3600" u="sng" dirty="0"/>
              <a:t>Real</a:t>
            </a:r>
            <a:r>
              <a:rPr lang="en-US" sz="3600" dirty="0"/>
              <a:t> Internet delays and routes</a:t>
            </a:r>
          </a:p>
        </p:txBody>
      </p:sp>
      <p:sp>
        <p:nvSpPr>
          <p:cNvPr id="119813" name="Text Box 4"/>
          <p:cNvSpPr txBox="1">
            <a:spLocks noChangeArrowheads="1"/>
          </p:cNvSpPr>
          <p:nvPr/>
        </p:nvSpPr>
        <p:spPr bwMode="auto">
          <a:xfrm>
            <a:off x="2207568" y="2708920"/>
            <a:ext cx="82296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  </a:t>
            </a:r>
            <a:r>
              <a:rPr lang="en-US" sz="1600" dirty="0" err="1">
                <a:latin typeface="Arial" charset="0"/>
              </a:rPr>
              <a:t>cs-gw</a:t>
            </a:r>
            <a:r>
              <a:rPr lang="en-US" sz="1600" dirty="0">
                <a:latin typeface="Arial" charset="0"/>
              </a:rPr>
              <a:t> (128.119.240.254)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2  border1-rt-fa5-1-0.gw.umass.edu (128.119.3.145)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3  </a:t>
            </a:r>
            <a:r>
              <a:rPr lang="en-US" sz="1600" dirty="0" err="1">
                <a:latin typeface="Arial" charset="0"/>
              </a:rPr>
              <a:t>cht-vbns.gw.umass.edu</a:t>
            </a:r>
            <a:r>
              <a:rPr lang="en-US" sz="1600" dirty="0">
                <a:latin typeface="Arial" charset="0"/>
              </a:rPr>
              <a:t> (128.119.3.130)  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5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4  jn1-at1-0-0-19.wor.vbns.net (204.147.132.129)  16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5  jn1-so7-0-0-0.wae.vbns.net (204.147.136.136)  21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6  </a:t>
            </a:r>
            <a:r>
              <a:rPr lang="en-US" sz="1600" dirty="0" err="1">
                <a:latin typeface="Arial" charset="0"/>
              </a:rPr>
              <a:t>abilene-vbns.abilene.ucaid.edu</a:t>
            </a:r>
            <a:r>
              <a:rPr lang="en-US" sz="1600" dirty="0">
                <a:latin typeface="Arial" charset="0"/>
              </a:rPr>
              <a:t> (198.32.11.9)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7  </a:t>
            </a:r>
            <a:r>
              <a:rPr lang="en-US" sz="1600" dirty="0" err="1">
                <a:latin typeface="Arial" charset="0"/>
              </a:rPr>
              <a:t>nycm-wash.abilene.ucaid.edu</a:t>
            </a:r>
            <a:r>
              <a:rPr lang="en-US" sz="1600" dirty="0">
                <a:latin typeface="Arial" charset="0"/>
              </a:rPr>
              <a:t> (198.32.8.46)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8  62.40.103.253 (62.40.103.253)  104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109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9  de2-1.de1.de.geant.net (62.40.96.129)  109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10  de.fr1.fr.geant.net (62.40.96.50)  113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121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114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11  renater-gw.fr1.fr.geant.net (62.40.103.54)  112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12  nio-n2.cssi.renater.fr (193.51.206.13)  111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13  </a:t>
            </a:r>
            <a:r>
              <a:rPr lang="en-US" sz="1600" dirty="0" err="1">
                <a:latin typeface="Arial" charset="0"/>
              </a:rPr>
              <a:t>nice.cssi.renater.fr</a:t>
            </a:r>
            <a:r>
              <a:rPr lang="en-US" sz="1600" dirty="0">
                <a:latin typeface="Arial" charset="0"/>
              </a:rPr>
              <a:t> (195.220.98.102)  123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14  r3t2-nice.cssi.renater.fr (195.220.98.110)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15  eurecom-valbonne.r3t2.ft.net (193.48.50.54)  135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133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16  194.214.211.25 (194.214.211.25)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17  * * *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18  * * *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19  </a:t>
            </a:r>
            <a:r>
              <a:rPr lang="en-US" sz="1600" dirty="0" err="1">
                <a:latin typeface="Arial" charset="0"/>
              </a:rPr>
              <a:t>fantasia.eurecom.fr</a:t>
            </a:r>
            <a:r>
              <a:rPr lang="en-US" sz="1600" dirty="0">
                <a:latin typeface="Arial" charset="0"/>
              </a:rPr>
              <a:t> (193.55.113.142)  132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136</a:t>
            </a:r>
            <a:r>
              <a:rPr lang="en-US" dirty="0"/>
              <a:t> </a:t>
            </a:r>
            <a:r>
              <a:rPr lang="en-US" sz="1600" dirty="0" err="1"/>
              <a:t>ms</a:t>
            </a:r>
            <a:endParaRPr lang="en-US" sz="1600" dirty="0"/>
          </a:p>
        </p:txBody>
      </p:sp>
      <p:sp>
        <p:nvSpPr>
          <p:cNvPr id="119814" name="Text Box 5"/>
          <p:cNvSpPr txBox="1">
            <a:spLocks noChangeArrowheads="1"/>
          </p:cNvSpPr>
          <p:nvPr/>
        </p:nvSpPr>
        <p:spPr bwMode="auto">
          <a:xfrm>
            <a:off x="2279577" y="1412776"/>
            <a:ext cx="819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 err="1">
                <a:solidFill>
                  <a:srgbClr val="FF0000"/>
                </a:solidFill>
                <a:latin typeface="+mn-lt"/>
              </a:rPr>
              <a:t>traceroute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: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gaia.cs.umass.edu</a:t>
            </a:r>
            <a:r>
              <a:rPr lang="en-US" dirty="0">
                <a:latin typeface="+mn-lt"/>
              </a:rPr>
              <a:t> to </a:t>
            </a:r>
            <a:r>
              <a:rPr lang="en-US" dirty="0" err="1">
                <a:latin typeface="+mn-lt"/>
              </a:rPr>
              <a:t>www.eurecom.fr</a:t>
            </a:r>
            <a:endParaRPr lang="en-US" dirty="0">
              <a:latin typeface="+mn-lt"/>
            </a:endParaRPr>
          </a:p>
        </p:txBody>
      </p:sp>
      <p:sp>
        <p:nvSpPr>
          <p:cNvPr id="119815" name="Line 6"/>
          <p:cNvSpPr>
            <a:spLocks noChangeShapeType="1"/>
          </p:cNvSpPr>
          <p:nvPr/>
        </p:nvSpPr>
        <p:spPr bwMode="auto">
          <a:xfrm>
            <a:off x="3071664" y="5949281"/>
            <a:ext cx="1231900" cy="84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6" name="Text Box 7"/>
          <p:cNvSpPr txBox="1">
            <a:spLocks noChangeArrowheads="1"/>
          </p:cNvSpPr>
          <p:nvPr/>
        </p:nvSpPr>
        <p:spPr bwMode="auto">
          <a:xfrm>
            <a:off x="3863752" y="1772816"/>
            <a:ext cx="456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latin typeface="+mn-lt"/>
              </a:rPr>
              <a:t>Three delay measurements from </a:t>
            </a:r>
          </a:p>
          <a:p>
            <a:r>
              <a:rPr lang="en-US" sz="1800" dirty="0" err="1">
                <a:solidFill>
                  <a:srgbClr val="FF0000"/>
                </a:solidFill>
                <a:latin typeface="+mn-lt"/>
              </a:rPr>
              <a:t>gaia.cs.umass.edu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 to </a:t>
            </a:r>
            <a:r>
              <a:rPr lang="en-US" sz="1800" dirty="0" err="1">
                <a:solidFill>
                  <a:srgbClr val="FF0000"/>
                </a:solidFill>
                <a:latin typeface="+mn-lt"/>
              </a:rPr>
              <a:t>cs-gw.cs.umass.edu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 </a:t>
            </a:r>
          </a:p>
        </p:txBody>
      </p:sp>
      <p:sp>
        <p:nvSpPr>
          <p:cNvPr id="119817" name="Line 8"/>
          <p:cNvSpPr>
            <a:spLocks noChangeShapeType="1"/>
          </p:cNvSpPr>
          <p:nvPr/>
        </p:nvSpPr>
        <p:spPr bwMode="auto">
          <a:xfrm flipV="1">
            <a:off x="5231904" y="2492896"/>
            <a:ext cx="360040" cy="2160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8" name="Line 9"/>
          <p:cNvSpPr>
            <a:spLocks noChangeShapeType="1"/>
          </p:cNvSpPr>
          <p:nvPr/>
        </p:nvSpPr>
        <p:spPr bwMode="auto">
          <a:xfrm flipH="1" flipV="1">
            <a:off x="5735960" y="2492896"/>
            <a:ext cx="72008" cy="2160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9" name="Line 10"/>
          <p:cNvSpPr>
            <a:spLocks noChangeShapeType="1"/>
          </p:cNvSpPr>
          <p:nvPr/>
        </p:nvSpPr>
        <p:spPr bwMode="auto">
          <a:xfrm flipH="1" flipV="1">
            <a:off x="6096000" y="2492896"/>
            <a:ext cx="150689" cy="24650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1" name="Text Box 12"/>
          <p:cNvSpPr txBox="1">
            <a:spLocks noChangeArrowheads="1"/>
          </p:cNvSpPr>
          <p:nvPr/>
        </p:nvSpPr>
        <p:spPr bwMode="auto">
          <a:xfrm>
            <a:off x="4381500" y="5877272"/>
            <a:ext cx="6286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latin typeface="Comic Sans MS" charset="0"/>
              </a:rPr>
              <a:t>*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means no response (probe lost, router not replying)</a:t>
            </a:r>
          </a:p>
        </p:txBody>
      </p:sp>
      <p:sp>
        <p:nvSpPr>
          <p:cNvPr id="119822" name="Freeform 14"/>
          <p:cNvSpPr>
            <a:spLocks/>
          </p:cNvSpPr>
          <p:nvPr/>
        </p:nvSpPr>
        <p:spPr bwMode="auto">
          <a:xfrm>
            <a:off x="7680177" y="4005065"/>
            <a:ext cx="1012825" cy="246063"/>
          </a:xfrm>
          <a:custGeom>
            <a:avLst/>
            <a:gdLst>
              <a:gd name="T0" fmla="*/ 593 w 638"/>
              <a:gd name="T1" fmla="*/ 0 h 155"/>
              <a:gd name="T2" fmla="*/ 623 w 638"/>
              <a:gd name="T3" fmla="*/ 38 h 155"/>
              <a:gd name="T4" fmla="*/ 608 w 638"/>
              <a:gd name="T5" fmla="*/ 123 h 155"/>
              <a:gd name="T6" fmla="*/ 446 w 638"/>
              <a:gd name="T7" fmla="*/ 154 h 155"/>
              <a:gd name="T8" fmla="*/ 0 w 638"/>
              <a:gd name="T9" fmla="*/ 130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823" name="Text Box 15"/>
          <p:cNvSpPr txBox="1">
            <a:spLocks noChangeArrowheads="1"/>
          </p:cNvSpPr>
          <p:nvPr/>
        </p:nvSpPr>
        <p:spPr bwMode="auto">
          <a:xfrm>
            <a:off x="8688288" y="3789040"/>
            <a:ext cx="159165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2000" dirty="0">
                <a:solidFill>
                  <a:srgbClr val="FF0000"/>
                </a:solidFill>
                <a:latin typeface="+mn-lt"/>
              </a:rPr>
              <a:t>trans-oceanic</a:t>
            </a:r>
          </a:p>
          <a:p>
            <a:r>
              <a:rPr lang="en-US" sz="2000" dirty="0">
                <a:solidFill>
                  <a:srgbClr val="FF0000"/>
                </a:solidFill>
                <a:latin typeface="+mn-lt"/>
              </a:rPr>
              <a:t>link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99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Traceroute</a:t>
            </a:r>
            <a:r>
              <a:rPr lang="en-US" dirty="0" smtClean="0"/>
              <a:t> Command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Man</a:t>
            </a:r>
            <a:r>
              <a:rPr lang="en-US" dirty="0" smtClean="0"/>
              <a:t> pages will give you the full options that can be used with </a:t>
            </a:r>
            <a:r>
              <a:rPr lang="en-US" i="1" dirty="0" err="1" smtClean="0"/>
              <a:t>traceroute</a:t>
            </a:r>
            <a:endParaRPr lang="en-US" i="1" dirty="0" smtClean="0"/>
          </a:p>
          <a:p>
            <a:r>
              <a:rPr lang="en-US" dirty="0" smtClean="0"/>
              <a:t>Example below specifies the time to wait ‘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’ for a response before giving up (5secs default), the number of queries ‘</a:t>
            </a:r>
            <a:r>
              <a:rPr lang="en-US" dirty="0" smtClean="0">
                <a:solidFill>
                  <a:srgbClr val="FF0000"/>
                </a:solidFill>
              </a:rPr>
              <a:t>q</a:t>
            </a:r>
            <a:r>
              <a:rPr lang="en-US" dirty="0" smtClean="0"/>
              <a:t>’ to send (3 default), and max number of hops ‘</a:t>
            </a:r>
            <a:r>
              <a:rPr lang="en-US" dirty="0" smtClean="0">
                <a:solidFill>
                  <a:srgbClr val="FF0000"/>
                </a:solidFill>
              </a:rPr>
              <a:t>m</a:t>
            </a:r>
            <a:r>
              <a:rPr lang="en-US" dirty="0" smtClean="0"/>
              <a:t>’ to reach destination (30 default)</a:t>
            </a:r>
          </a:p>
          <a:p>
            <a:r>
              <a:rPr lang="en-US" dirty="0" err="1" smtClean="0"/>
              <a:t>traceroute</a:t>
            </a:r>
            <a:r>
              <a:rPr lang="en-US" dirty="0" smtClean="0"/>
              <a:t> </a:t>
            </a:r>
            <a:r>
              <a:rPr lang="en-US" dirty="0"/>
              <a:t>-w 3 -q 1 -m 16 </a:t>
            </a:r>
            <a:r>
              <a:rPr lang="en-US" dirty="0" err="1" smtClean="0"/>
              <a:t>test.com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Jitter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6648" y="1600200"/>
            <a:ext cx="8153400" cy="5069160"/>
          </a:xfrm>
        </p:spPr>
        <p:txBody>
          <a:bodyPr/>
          <a:lstStyle/>
          <a:p>
            <a:r>
              <a:rPr lang="en-GB" dirty="0" smtClean="0"/>
              <a:t>Jitter is: Variation </a:t>
            </a:r>
            <a:r>
              <a:rPr lang="en-GB" dirty="0"/>
              <a:t>in packet delay</a:t>
            </a:r>
          </a:p>
          <a:p>
            <a:r>
              <a:rPr lang="en-GB" dirty="0"/>
              <a:t>Causes</a:t>
            </a:r>
          </a:p>
          <a:p>
            <a:pPr lvl="1"/>
            <a:r>
              <a:rPr lang="en-GB" dirty="0"/>
              <a:t>Variation in packet lengths -&gt; different transmission times</a:t>
            </a:r>
          </a:p>
          <a:p>
            <a:pPr lvl="1"/>
            <a:r>
              <a:rPr lang="en-GB" dirty="0"/>
              <a:t>Variation in path lengths -&gt; no fixed paths in the </a:t>
            </a:r>
            <a:r>
              <a:rPr lang="en-GB" dirty="0" smtClean="0"/>
              <a:t>Internet</a:t>
            </a:r>
          </a:p>
          <a:p>
            <a:r>
              <a:rPr lang="en-GB" dirty="0" smtClean="0"/>
              <a:t>Jitter is caused by the technology of the Internet</a:t>
            </a:r>
          </a:p>
          <a:p>
            <a:pPr lvl="1"/>
            <a:r>
              <a:rPr lang="en-GB" dirty="0" smtClean="0"/>
              <a:t>Routers are capacity bound and demand on routers changes rapidly</a:t>
            </a:r>
          </a:p>
          <a:p>
            <a:pPr lvl="1"/>
            <a:r>
              <a:rPr lang="en-GB" dirty="0" smtClean="0"/>
              <a:t>Some link layers (notably wireless) are shared medium so transmitters will conflict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41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/>
          <p:cNvCxnSpPr/>
          <p:nvPr/>
        </p:nvCxnSpPr>
        <p:spPr>
          <a:xfrm>
            <a:off x="5095876" y="1990726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2632076" y="4240213"/>
            <a:ext cx="4929187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4489451" y="4240213"/>
            <a:ext cx="4929187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4" name="TextBox 34"/>
          <p:cNvSpPr txBox="1">
            <a:spLocks noChangeArrowheads="1"/>
          </p:cNvSpPr>
          <p:nvPr/>
        </p:nvSpPr>
        <p:spPr bwMode="auto">
          <a:xfrm>
            <a:off x="3124201" y="6389688"/>
            <a:ext cx="157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>
                <a:latin typeface="Tw Cen MT" charset="0"/>
              </a:rPr>
              <a:t>Sender</a:t>
            </a:r>
          </a:p>
        </p:txBody>
      </p:sp>
      <p:sp>
        <p:nvSpPr>
          <p:cNvPr id="25605" name="TextBox 35"/>
          <p:cNvSpPr txBox="1">
            <a:spLocks noChangeArrowheads="1"/>
          </p:cNvSpPr>
          <p:nvPr/>
        </p:nvSpPr>
        <p:spPr bwMode="auto">
          <a:xfrm>
            <a:off x="7315200" y="6389688"/>
            <a:ext cx="2071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>
                <a:latin typeface="Tw Cen MT" charset="0"/>
              </a:rPr>
              <a:t>Receiver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095876" y="2633664"/>
            <a:ext cx="1857375" cy="1000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095876" y="3276601"/>
            <a:ext cx="1857375" cy="785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095876" y="3919538"/>
            <a:ext cx="1864221" cy="1453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095876" y="4562476"/>
            <a:ext cx="1864221" cy="11707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981576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981576" y="2562225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4997451" y="3205163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981576" y="3848100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997451" y="449103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838951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840538" y="256222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856413" y="320516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6840538" y="3848100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6856413" y="4491038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83736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853238" y="577691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98951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005388" y="577691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/>
          <a:lstStyle/>
          <a:p>
            <a:r>
              <a:rPr lang="en-GB" dirty="0" smtClean="0"/>
              <a:t>Jitter</a:t>
            </a: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2783633" y="2060849"/>
            <a:ext cx="1741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A sends at</a:t>
            </a:r>
          </a:p>
          <a:p>
            <a:r>
              <a:rPr lang="en-US" dirty="0">
                <a:solidFill>
                  <a:srgbClr val="FF0000"/>
                </a:solidFill>
              </a:rPr>
              <a:t>fixed</a:t>
            </a:r>
            <a:r>
              <a:rPr lang="en-US" dirty="0"/>
              <a:t> intervals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2185" y="2204865"/>
            <a:ext cx="1960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B receives at</a:t>
            </a:r>
          </a:p>
          <a:p>
            <a:r>
              <a:rPr lang="en-US" dirty="0">
                <a:solidFill>
                  <a:srgbClr val="FF0000"/>
                </a:solidFill>
              </a:rPr>
              <a:t>irregular</a:t>
            </a:r>
            <a:r>
              <a:rPr lang="en-US" dirty="0"/>
              <a:t> intervals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7176120" y="2636912"/>
            <a:ext cx="360040" cy="4320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7248128" y="2924944"/>
            <a:ext cx="576064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24442" y="4437113"/>
            <a:ext cx="2856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Sometimes packets</a:t>
            </a:r>
          </a:p>
          <a:p>
            <a:r>
              <a:rPr lang="en-US" dirty="0"/>
              <a:t>arrive </a:t>
            </a:r>
            <a:r>
              <a:rPr lang="en-US" dirty="0">
                <a:solidFill>
                  <a:srgbClr val="FF0000"/>
                </a:solidFill>
              </a:rPr>
              <a:t>after</a:t>
            </a:r>
            <a:r>
              <a:rPr lang="en-US" dirty="0"/>
              <a:t> interval </a:t>
            </a:r>
            <a:r>
              <a:rPr lang="en-US" dirty="0">
                <a:solidFill>
                  <a:srgbClr val="FF0000"/>
                </a:solidFill>
              </a:rPr>
              <a:t>deadline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032104" y="5013176"/>
            <a:ext cx="576064" cy="288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Brace 10"/>
          <p:cNvSpPr/>
          <p:nvPr/>
        </p:nvSpPr>
        <p:spPr>
          <a:xfrm>
            <a:off x="7032104" y="2708920"/>
            <a:ext cx="144016" cy="86409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>
            <a:off x="7032104" y="3645024"/>
            <a:ext cx="144016" cy="43204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4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2595564" y="6192839"/>
            <a:ext cx="585787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 flipH="1" flipV="1">
            <a:off x="308769" y="3907631"/>
            <a:ext cx="4572000" cy="15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6" name="TextBox 6"/>
          <p:cNvSpPr txBox="1">
            <a:spLocks noChangeArrowheads="1"/>
          </p:cNvSpPr>
          <p:nvPr/>
        </p:nvSpPr>
        <p:spPr bwMode="auto">
          <a:xfrm>
            <a:off x="6738939" y="6264276"/>
            <a:ext cx="19944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Interpacket arrival time</a:t>
            </a:r>
            <a:endParaRPr lang="en-GB" sz="1800"/>
          </a:p>
        </p:txBody>
      </p:sp>
      <p:sp>
        <p:nvSpPr>
          <p:cNvPr id="44037" name="TextBox 7"/>
          <p:cNvSpPr txBox="1">
            <a:spLocks noChangeArrowheads="1"/>
          </p:cNvSpPr>
          <p:nvPr/>
        </p:nvSpPr>
        <p:spPr bwMode="auto">
          <a:xfrm rot="-5400000">
            <a:off x="1168102" y="3770412"/>
            <a:ext cx="21627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Frequency of occurrence</a:t>
            </a:r>
            <a:endParaRPr lang="en-GB" sz="1800"/>
          </a:p>
        </p:txBody>
      </p:sp>
      <p:cxnSp>
        <p:nvCxnSpPr>
          <p:cNvPr id="9" name="Straight Connector 8"/>
          <p:cNvCxnSpPr/>
          <p:nvPr/>
        </p:nvCxnSpPr>
        <p:spPr>
          <a:xfrm rot="5400000" flipH="1" flipV="1">
            <a:off x="3631406" y="4299744"/>
            <a:ext cx="3786188" cy="0"/>
          </a:xfrm>
          <a:prstGeom prst="line">
            <a:avLst/>
          </a:pr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extBox 9"/>
          <p:cNvSpPr txBox="1">
            <a:spLocks noChangeArrowheads="1"/>
          </p:cNvSpPr>
          <p:nvPr/>
        </p:nvSpPr>
        <p:spPr bwMode="auto">
          <a:xfrm>
            <a:off x="5667376" y="1692275"/>
            <a:ext cx="8018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Correct</a:t>
            </a:r>
          </a:p>
          <a:p>
            <a:pPr eaLnBrk="1" hangingPunct="1"/>
            <a:r>
              <a:rPr lang="en-GB" sz="1400"/>
              <a:t>spacing</a:t>
            </a:r>
          </a:p>
        </p:txBody>
      </p:sp>
      <p:sp>
        <p:nvSpPr>
          <p:cNvPr id="11" name="Freeform 10"/>
          <p:cNvSpPr/>
          <p:nvPr/>
        </p:nvSpPr>
        <p:spPr>
          <a:xfrm>
            <a:off x="3365501" y="2547938"/>
            <a:ext cx="4302125" cy="3644900"/>
          </a:xfrm>
          <a:custGeom>
            <a:avLst/>
            <a:gdLst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6" fmla="*/ 4011168 w 4667504"/>
              <a:gd name="connsiteY6" fmla="*/ 2919984 h 4118864"/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0" fmla="*/ 0 w 4437888"/>
              <a:gd name="connsiteY0" fmla="*/ 3651504 h 4118864"/>
              <a:gd name="connsiteX1" fmla="*/ 1280160 w 4437888"/>
              <a:gd name="connsiteY1" fmla="*/ 3468624 h 4118864"/>
              <a:gd name="connsiteX2" fmla="*/ 2145792 w 4437888"/>
              <a:gd name="connsiteY2" fmla="*/ 6096 h 4118864"/>
              <a:gd name="connsiteX3" fmla="*/ 2877312 w 4437888"/>
              <a:gd name="connsiteY3" fmla="*/ 3505200 h 4118864"/>
              <a:gd name="connsiteX4" fmla="*/ 4437888 w 4437888"/>
              <a:gd name="connsiteY4" fmla="*/ 3688080 h 4118864"/>
              <a:gd name="connsiteX0" fmla="*/ 0 w 4374082"/>
              <a:gd name="connsiteY0" fmla="*/ 3651504 h 4109341"/>
              <a:gd name="connsiteX1" fmla="*/ 1280160 w 4374082"/>
              <a:gd name="connsiteY1" fmla="*/ 3468624 h 4109341"/>
              <a:gd name="connsiteX2" fmla="*/ 2145792 w 4374082"/>
              <a:gd name="connsiteY2" fmla="*/ 6096 h 4109341"/>
              <a:gd name="connsiteX3" fmla="*/ 2877312 w 4374082"/>
              <a:gd name="connsiteY3" fmla="*/ 3505200 h 4109341"/>
              <a:gd name="connsiteX4" fmla="*/ 4374082 w 4374082"/>
              <a:gd name="connsiteY4" fmla="*/ 3630944 h 4109341"/>
              <a:gd name="connsiteX0" fmla="*/ 0 w 4374082"/>
              <a:gd name="connsiteY0" fmla="*/ 3737418 h 4162106"/>
              <a:gd name="connsiteX1" fmla="*/ 1280160 w 4374082"/>
              <a:gd name="connsiteY1" fmla="*/ 3554538 h 4162106"/>
              <a:gd name="connsiteX2" fmla="*/ 2145792 w 4374082"/>
              <a:gd name="connsiteY2" fmla="*/ 92010 h 4162106"/>
              <a:gd name="connsiteX3" fmla="*/ 2802446 w 4374082"/>
              <a:gd name="connsiteY3" fmla="*/ 3002479 h 4162106"/>
              <a:gd name="connsiteX4" fmla="*/ 4374082 w 4374082"/>
              <a:gd name="connsiteY4" fmla="*/ 3716858 h 4162106"/>
              <a:gd name="connsiteX0" fmla="*/ 0 w 4374082"/>
              <a:gd name="connsiteY0" fmla="*/ 3645408 h 3857752"/>
              <a:gd name="connsiteX1" fmla="*/ 1516562 w 4374082"/>
              <a:gd name="connsiteY1" fmla="*/ 2910469 h 3857752"/>
              <a:gd name="connsiteX2" fmla="*/ 2145792 w 4374082"/>
              <a:gd name="connsiteY2" fmla="*/ 0 h 3857752"/>
              <a:gd name="connsiteX3" fmla="*/ 2802446 w 4374082"/>
              <a:gd name="connsiteY3" fmla="*/ 2910469 h 3857752"/>
              <a:gd name="connsiteX4" fmla="*/ 4374082 w 4374082"/>
              <a:gd name="connsiteY4" fmla="*/ 3624848 h 3857752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02644"/>
              <a:gd name="connsiteY0" fmla="*/ 3645408 h 3645408"/>
              <a:gd name="connsiteX1" fmla="*/ 1516562 w 4302644"/>
              <a:gd name="connsiteY1" fmla="*/ 2910469 h 3645408"/>
              <a:gd name="connsiteX2" fmla="*/ 2145792 w 4302644"/>
              <a:gd name="connsiteY2" fmla="*/ 0 h 3645408"/>
              <a:gd name="connsiteX3" fmla="*/ 2802446 w 4302644"/>
              <a:gd name="connsiteY3" fmla="*/ 2910469 h 3645408"/>
              <a:gd name="connsiteX4" fmla="*/ 4302644 w 4302644"/>
              <a:gd name="connsiteY4" fmla="*/ 3645408 h 364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02644" h="3645408">
                <a:moveTo>
                  <a:pt x="0" y="3645408"/>
                </a:moveTo>
                <a:cubicBezTo>
                  <a:pt x="978502" y="3623598"/>
                  <a:pt x="1158930" y="3518037"/>
                  <a:pt x="1516562" y="2910469"/>
                </a:cubicBezTo>
                <a:cubicBezTo>
                  <a:pt x="1874194" y="2302901"/>
                  <a:pt x="1931478" y="0"/>
                  <a:pt x="2145792" y="0"/>
                </a:cubicBezTo>
                <a:cubicBezTo>
                  <a:pt x="2360106" y="0"/>
                  <a:pt x="2442971" y="2302901"/>
                  <a:pt x="2802446" y="2910469"/>
                </a:cubicBezTo>
                <a:cubicBezTo>
                  <a:pt x="3161921" y="3518037"/>
                  <a:pt x="3339212" y="3600944"/>
                  <a:pt x="4302644" y="3645408"/>
                </a:cubicBezTo>
              </a:path>
            </a:pathLst>
          </a:cu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Freeform 11"/>
          <p:cNvSpPr/>
          <p:nvPr/>
        </p:nvSpPr>
        <p:spPr>
          <a:xfrm>
            <a:off x="4452938" y="2525714"/>
            <a:ext cx="3281362" cy="3667125"/>
          </a:xfrm>
          <a:custGeom>
            <a:avLst/>
            <a:gdLst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6" fmla="*/ 4011168 w 4667504"/>
              <a:gd name="connsiteY6" fmla="*/ 2919984 h 4118864"/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0" fmla="*/ 0 w 4437888"/>
              <a:gd name="connsiteY0" fmla="*/ 3651504 h 4118864"/>
              <a:gd name="connsiteX1" fmla="*/ 1280160 w 4437888"/>
              <a:gd name="connsiteY1" fmla="*/ 3468624 h 4118864"/>
              <a:gd name="connsiteX2" fmla="*/ 2145792 w 4437888"/>
              <a:gd name="connsiteY2" fmla="*/ 6096 h 4118864"/>
              <a:gd name="connsiteX3" fmla="*/ 2877312 w 4437888"/>
              <a:gd name="connsiteY3" fmla="*/ 3505200 h 4118864"/>
              <a:gd name="connsiteX4" fmla="*/ 4437888 w 4437888"/>
              <a:gd name="connsiteY4" fmla="*/ 3688080 h 4118864"/>
              <a:gd name="connsiteX0" fmla="*/ 0 w 4374082"/>
              <a:gd name="connsiteY0" fmla="*/ 3651504 h 4109341"/>
              <a:gd name="connsiteX1" fmla="*/ 1280160 w 4374082"/>
              <a:gd name="connsiteY1" fmla="*/ 3468624 h 4109341"/>
              <a:gd name="connsiteX2" fmla="*/ 2145792 w 4374082"/>
              <a:gd name="connsiteY2" fmla="*/ 6096 h 4109341"/>
              <a:gd name="connsiteX3" fmla="*/ 2877312 w 4374082"/>
              <a:gd name="connsiteY3" fmla="*/ 3505200 h 4109341"/>
              <a:gd name="connsiteX4" fmla="*/ 4374082 w 4374082"/>
              <a:gd name="connsiteY4" fmla="*/ 3630944 h 4109341"/>
              <a:gd name="connsiteX0" fmla="*/ 0 w 4374082"/>
              <a:gd name="connsiteY0" fmla="*/ 3737418 h 4162106"/>
              <a:gd name="connsiteX1" fmla="*/ 1280160 w 4374082"/>
              <a:gd name="connsiteY1" fmla="*/ 3554538 h 4162106"/>
              <a:gd name="connsiteX2" fmla="*/ 2145792 w 4374082"/>
              <a:gd name="connsiteY2" fmla="*/ 92010 h 4162106"/>
              <a:gd name="connsiteX3" fmla="*/ 2802446 w 4374082"/>
              <a:gd name="connsiteY3" fmla="*/ 3002479 h 4162106"/>
              <a:gd name="connsiteX4" fmla="*/ 4374082 w 4374082"/>
              <a:gd name="connsiteY4" fmla="*/ 3716858 h 4162106"/>
              <a:gd name="connsiteX0" fmla="*/ 0 w 4374082"/>
              <a:gd name="connsiteY0" fmla="*/ 3645408 h 3857752"/>
              <a:gd name="connsiteX1" fmla="*/ 1516562 w 4374082"/>
              <a:gd name="connsiteY1" fmla="*/ 2910469 h 3857752"/>
              <a:gd name="connsiteX2" fmla="*/ 2145792 w 4374082"/>
              <a:gd name="connsiteY2" fmla="*/ 0 h 3857752"/>
              <a:gd name="connsiteX3" fmla="*/ 2802446 w 4374082"/>
              <a:gd name="connsiteY3" fmla="*/ 2910469 h 3857752"/>
              <a:gd name="connsiteX4" fmla="*/ 4374082 w 4374082"/>
              <a:gd name="connsiteY4" fmla="*/ 3624848 h 3857752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02644"/>
              <a:gd name="connsiteY0" fmla="*/ 3645408 h 3645408"/>
              <a:gd name="connsiteX1" fmla="*/ 1516562 w 4302644"/>
              <a:gd name="connsiteY1" fmla="*/ 2910469 h 3645408"/>
              <a:gd name="connsiteX2" fmla="*/ 2145792 w 4302644"/>
              <a:gd name="connsiteY2" fmla="*/ 0 h 3645408"/>
              <a:gd name="connsiteX3" fmla="*/ 2802446 w 4302644"/>
              <a:gd name="connsiteY3" fmla="*/ 2910469 h 3645408"/>
              <a:gd name="connsiteX4" fmla="*/ 4302644 w 4302644"/>
              <a:gd name="connsiteY4" fmla="*/ 3645408 h 3645408"/>
              <a:gd name="connsiteX0" fmla="*/ 0 w 4302644"/>
              <a:gd name="connsiteY0" fmla="*/ 3654233 h 3654233"/>
              <a:gd name="connsiteX1" fmla="*/ 1516562 w 4302644"/>
              <a:gd name="connsiteY1" fmla="*/ 2919294 h 3654233"/>
              <a:gd name="connsiteX2" fmla="*/ 2145792 w 4302644"/>
              <a:gd name="connsiteY2" fmla="*/ 8825 h 3654233"/>
              <a:gd name="connsiteX3" fmla="*/ 3000396 w 4302644"/>
              <a:gd name="connsiteY3" fmla="*/ 2866345 h 3654233"/>
              <a:gd name="connsiteX4" fmla="*/ 4302644 w 4302644"/>
              <a:gd name="connsiteY4" fmla="*/ 3654233 h 3654233"/>
              <a:gd name="connsiteX0" fmla="*/ 0 w 4352544"/>
              <a:gd name="connsiteY0" fmla="*/ 3654233 h 3654233"/>
              <a:gd name="connsiteX1" fmla="*/ 1516562 w 4352544"/>
              <a:gd name="connsiteY1" fmla="*/ 2919294 h 3654233"/>
              <a:gd name="connsiteX2" fmla="*/ 2145792 w 4352544"/>
              <a:gd name="connsiteY2" fmla="*/ 8825 h 3654233"/>
              <a:gd name="connsiteX3" fmla="*/ 3000396 w 4352544"/>
              <a:gd name="connsiteY3" fmla="*/ 2866345 h 3654233"/>
              <a:gd name="connsiteX4" fmla="*/ 4352544 w 4352544"/>
              <a:gd name="connsiteY4" fmla="*/ 3615547 h 3654233"/>
              <a:gd name="connsiteX0" fmla="*/ 0 w 3280974"/>
              <a:gd name="connsiteY0" fmla="*/ 3580726 h 3615547"/>
              <a:gd name="connsiteX1" fmla="*/ 444992 w 3280974"/>
              <a:gd name="connsiteY1" fmla="*/ 2919294 h 3615547"/>
              <a:gd name="connsiteX2" fmla="*/ 1074222 w 3280974"/>
              <a:gd name="connsiteY2" fmla="*/ 8825 h 3615547"/>
              <a:gd name="connsiteX3" fmla="*/ 1928826 w 3280974"/>
              <a:gd name="connsiteY3" fmla="*/ 2866345 h 3615547"/>
              <a:gd name="connsiteX4" fmla="*/ 3280974 w 3280974"/>
              <a:gd name="connsiteY4" fmla="*/ 3615547 h 3615547"/>
              <a:gd name="connsiteX0" fmla="*/ 0 w 3280974"/>
              <a:gd name="connsiteY0" fmla="*/ 3580726 h 3615547"/>
              <a:gd name="connsiteX1" fmla="*/ 444992 w 3280974"/>
              <a:gd name="connsiteY1" fmla="*/ 2919294 h 3615547"/>
              <a:gd name="connsiteX2" fmla="*/ 1074222 w 3280974"/>
              <a:gd name="connsiteY2" fmla="*/ 8825 h 3615547"/>
              <a:gd name="connsiteX3" fmla="*/ 1928826 w 3280974"/>
              <a:gd name="connsiteY3" fmla="*/ 2866345 h 3615547"/>
              <a:gd name="connsiteX4" fmla="*/ 3280974 w 3280974"/>
              <a:gd name="connsiteY4" fmla="*/ 3615547 h 3615547"/>
              <a:gd name="connsiteX0" fmla="*/ 0 w 3280974"/>
              <a:gd name="connsiteY0" fmla="*/ 3652164 h 3652164"/>
              <a:gd name="connsiteX1" fmla="*/ 444992 w 3280974"/>
              <a:gd name="connsiteY1" fmla="*/ 2919294 h 3652164"/>
              <a:gd name="connsiteX2" fmla="*/ 1074222 w 3280974"/>
              <a:gd name="connsiteY2" fmla="*/ 8825 h 3652164"/>
              <a:gd name="connsiteX3" fmla="*/ 1928826 w 3280974"/>
              <a:gd name="connsiteY3" fmla="*/ 2866345 h 3652164"/>
              <a:gd name="connsiteX4" fmla="*/ 3280974 w 3280974"/>
              <a:gd name="connsiteY4" fmla="*/ 3615547 h 3652164"/>
              <a:gd name="connsiteX0" fmla="*/ 0 w 3280974"/>
              <a:gd name="connsiteY0" fmla="*/ 3652164 h 3652164"/>
              <a:gd name="connsiteX1" fmla="*/ 444992 w 3280974"/>
              <a:gd name="connsiteY1" fmla="*/ 2919294 h 3652164"/>
              <a:gd name="connsiteX2" fmla="*/ 1074222 w 3280974"/>
              <a:gd name="connsiteY2" fmla="*/ 8825 h 3652164"/>
              <a:gd name="connsiteX3" fmla="*/ 1928826 w 3280974"/>
              <a:gd name="connsiteY3" fmla="*/ 2866345 h 3652164"/>
              <a:gd name="connsiteX4" fmla="*/ 3280974 w 3280974"/>
              <a:gd name="connsiteY4" fmla="*/ 3615547 h 3652164"/>
              <a:gd name="connsiteX0" fmla="*/ 0 w 3280974"/>
              <a:gd name="connsiteY0" fmla="*/ 3667152 h 3667152"/>
              <a:gd name="connsiteX1" fmla="*/ 571504 w 3280974"/>
              <a:gd name="connsiteY1" fmla="*/ 2738457 h 3667152"/>
              <a:gd name="connsiteX2" fmla="*/ 1074222 w 3280974"/>
              <a:gd name="connsiteY2" fmla="*/ 23813 h 3667152"/>
              <a:gd name="connsiteX3" fmla="*/ 1928826 w 3280974"/>
              <a:gd name="connsiteY3" fmla="*/ 2881333 h 3667152"/>
              <a:gd name="connsiteX4" fmla="*/ 3280974 w 3280974"/>
              <a:gd name="connsiteY4" fmla="*/ 3630535 h 3667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0974" h="3667152">
                <a:moveTo>
                  <a:pt x="0" y="3667152"/>
                </a:moveTo>
                <a:cubicBezTo>
                  <a:pt x="131174" y="3143158"/>
                  <a:pt x="392467" y="3345680"/>
                  <a:pt x="571504" y="2738457"/>
                </a:cubicBezTo>
                <a:cubicBezTo>
                  <a:pt x="750541" y="2131234"/>
                  <a:pt x="848002" y="0"/>
                  <a:pt x="1074222" y="23813"/>
                </a:cubicBezTo>
                <a:cubicBezTo>
                  <a:pt x="1300442" y="47626"/>
                  <a:pt x="1561034" y="2280213"/>
                  <a:pt x="1928826" y="2881333"/>
                </a:cubicBezTo>
                <a:cubicBezTo>
                  <a:pt x="2296618" y="3482453"/>
                  <a:pt x="2317542" y="3586071"/>
                  <a:pt x="3280974" y="3630535"/>
                </a:cubicBezTo>
              </a:path>
            </a:pathLst>
          </a:custGeom>
          <a:ln w="22225"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>
            <a:off x="7524750" y="2335213"/>
            <a:ext cx="642938" cy="0"/>
          </a:xfrm>
          <a:prstGeom prst="line">
            <a:avLst/>
          </a:pr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24750" y="2620963"/>
            <a:ext cx="642938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4" name="TextBox 14"/>
          <p:cNvSpPr txBox="1">
            <a:spLocks noChangeArrowheads="1"/>
          </p:cNvSpPr>
          <p:nvPr/>
        </p:nvSpPr>
        <p:spPr bwMode="auto">
          <a:xfrm>
            <a:off x="8239125" y="2120901"/>
            <a:ext cx="1919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Gaussian distribution</a:t>
            </a:r>
          </a:p>
        </p:txBody>
      </p:sp>
      <p:sp>
        <p:nvSpPr>
          <p:cNvPr id="44045" name="TextBox 15"/>
          <p:cNvSpPr txBox="1">
            <a:spLocks noChangeArrowheads="1"/>
          </p:cNvSpPr>
          <p:nvPr/>
        </p:nvSpPr>
        <p:spPr bwMode="auto">
          <a:xfrm>
            <a:off x="8239125" y="2455864"/>
            <a:ext cx="1919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Observed distribution</a:t>
            </a:r>
          </a:p>
        </p:txBody>
      </p:sp>
      <p:sp>
        <p:nvSpPr>
          <p:cNvPr id="44046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Arial" charset="0"/>
                <a:ea typeface="ＭＳ Ｐゴシック" charset="0"/>
                <a:cs typeface="ＭＳ Ｐゴシック" charset="0"/>
              </a:rPr>
              <a:t>Variance of inter-packet arrival times</a:t>
            </a:r>
          </a:p>
        </p:txBody>
      </p:sp>
    </p:spTree>
    <p:extLst>
      <p:ext uri="{BB962C8B-B14F-4D97-AF65-F5344CB8AC3E}">
        <p14:creationId xmlns:p14="http://schemas.microsoft.com/office/powerpoint/2010/main" val="113843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Network Perspective</a:t>
            </a:r>
            <a:endParaRPr lang="en-GB" dirty="0"/>
          </a:p>
        </p:txBody>
      </p:sp>
      <p:sp>
        <p:nvSpPr>
          <p:cNvPr id="92" name="Rectangle 91"/>
          <p:cNvSpPr/>
          <p:nvPr/>
        </p:nvSpPr>
        <p:spPr>
          <a:xfrm flipH="1">
            <a:off x="1881158" y="2784272"/>
            <a:ext cx="1285884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Sender</a:t>
            </a:r>
          </a:p>
        </p:txBody>
      </p:sp>
      <p:sp>
        <p:nvSpPr>
          <p:cNvPr id="94" name="Rectangle 93"/>
          <p:cNvSpPr/>
          <p:nvPr/>
        </p:nvSpPr>
        <p:spPr>
          <a:xfrm flipH="1">
            <a:off x="3905234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3571857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323848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 flipH="1">
            <a:off x="823914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 flipH="1">
            <a:off x="7667636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 flipH="1">
            <a:off x="7239008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 flipH="1">
            <a:off x="4238612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/>
          <p:cNvSpPr/>
          <p:nvPr/>
        </p:nvSpPr>
        <p:spPr>
          <a:xfrm flipH="1">
            <a:off x="859633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 flipH="1">
            <a:off x="8953520" y="2782486"/>
            <a:ext cx="1285884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Receiver</a:t>
            </a:r>
          </a:p>
        </p:txBody>
      </p:sp>
      <p:cxnSp>
        <p:nvCxnSpPr>
          <p:cNvPr id="46" name="Straight Connector 45"/>
          <p:cNvCxnSpPr/>
          <p:nvPr/>
        </p:nvCxnSpPr>
        <p:spPr>
          <a:xfrm>
            <a:off x="3167042" y="3429000"/>
            <a:ext cx="578647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loud 37"/>
          <p:cNvSpPr/>
          <p:nvPr/>
        </p:nvSpPr>
        <p:spPr>
          <a:xfrm>
            <a:off x="5024430" y="2714620"/>
            <a:ext cx="1857388" cy="928694"/>
          </a:xfrm>
          <a:prstGeom prst="cloud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Internet</a:t>
            </a:r>
          </a:p>
        </p:txBody>
      </p:sp>
      <p:sp>
        <p:nvSpPr>
          <p:cNvPr id="48" name="Right Brace 47"/>
          <p:cNvSpPr/>
          <p:nvPr/>
        </p:nvSpPr>
        <p:spPr>
          <a:xfrm rot="16200000">
            <a:off x="3667108" y="2285992"/>
            <a:ext cx="428628" cy="1285884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ight Brace 48"/>
          <p:cNvSpPr/>
          <p:nvPr/>
        </p:nvSpPr>
        <p:spPr>
          <a:xfrm rot="16200000">
            <a:off x="7774793" y="1964521"/>
            <a:ext cx="428628" cy="1785950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ight Brace 49"/>
          <p:cNvSpPr/>
          <p:nvPr/>
        </p:nvSpPr>
        <p:spPr>
          <a:xfrm rot="5400000" flipV="1">
            <a:off x="5845967" y="1035827"/>
            <a:ext cx="428628" cy="5643602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/>
          <p:cNvSpPr txBox="1"/>
          <p:nvPr/>
        </p:nvSpPr>
        <p:spPr>
          <a:xfrm>
            <a:off x="3238481" y="2428869"/>
            <a:ext cx="1304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Regular Timing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1884" y="2357431"/>
            <a:ext cx="1286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Jittered Timing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81620" y="4071943"/>
            <a:ext cx="1414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Network Latency</a:t>
            </a:r>
          </a:p>
        </p:txBody>
      </p:sp>
      <p:sp>
        <p:nvSpPr>
          <p:cNvPr id="2" name="Rectangle 1"/>
          <p:cNvSpPr/>
          <p:nvPr/>
        </p:nvSpPr>
        <p:spPr>
          <a:xfrm>
            <a:off x="2524100" y="4591386"/>
            <a:ext cx="74944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Transmission Delay : </a:t>
            </a:r>
            <a:r>
              <a:rPr lang="en-GB" dirty="0">
                <a:latin typeface="Arial" pitchFamily="34" charset="0"/>
                <a:cs typeface="Arial" pitchFamily="34" charset="0"/>
              </a:rPr>
              <a:t>time it takes to put a packet on the outgoing link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GB" b="1" dirty="0">
                <a:latin typeface="Arial" pitchFamily="34" charset="0"/>
                <a:cs typeface="Arial" pitchFamily="34" charset="0"/>
              </a:rPr>
              <a:t>Propagation Delay : </a:t>
            </a:r>
            <a:r>
              <a:rPr lang="en-GB" dirty="0">
                <a:latin typeface="Arial" pitchFamily="34" charset="0"/>
                <a:cs typeface="Arial" pitchFamily="34" charset="0"/>
              </a:rPr>
              <a:t>time it takes for the packet to arrive at destination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574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ym typeface="Arial"/>
              </a:rPr>
              <a:t>Difference: Jitter and Latency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3464" y="1712270"/>
            <a:ext cx="7583487" cy="4565291"/>
          </a:xfrm>
        </p:spPr>
        <p:txBody>
          <a:bodyPr/>
          <a:lstStyle/>
          <a:p>
            <a:pPr marL="0" indent="0">
              <a:buNone/>
            </a:pPr>
            <a:r>
              <a:rPr lang="en" sz="2400" b="1" dirty="0">
                <a:latin typeface="Arial"/>
                <a:ea typeface="Arial"/>
                <a:cs typeface="Arial"/>
                <a:sym typeface="Arial"/>
              </a:rPr>
              <a:t>Latency and Jitter affect streams of packets travelling across the network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hape 97"/>
          <p:cNvSpPr/>
          <p:nvPr/>
        </p:nvSpPr>
        <p:spPr>
          <a:xfrm>
            <a:off x="2482380" y="2621208"/>
            <a:ext cx="7272808" cy="34857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3593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7" name="Group 11"/>
          <p:cNvGrpSpPr>
            <a:grpSpLocks/>
          </p:cNvGrpSpPr>
          <p:nvPr/>
        </p:nvGrpSpPr>
        <p:grpSpPr bwMode="auto">
          <a:xfrm>
            <a:off x="3943350" y="2998788"/>
            <a:ext cx="4362450" cy="3422650"/>
            <a:chOff x="2571736" y="3286124"/>
            <a:chExt cx="4000528" cy="3138007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3571868" y="3929445"/>
              <a:ext cx="1857596" cy="4279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rot="5400000">
              <a:off x="2321614" y="4536379"/>
              <a:ext cx="2500508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rot="5400000">
              <a:off x="4179210" y="4536379"/>
              <a:ext cx="2500508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1" name="TextBox 6"/>
            <p:cNvSpPr txBox="1">
              <a:spLocks noChangeArrowheads="1"/>
            </p:cNvSpPr>
            <p:nvPr/>
          </p:nvSpPr>
          <p:spPr bwMode="auto">
            <a:xfrm>
              <a:off x="2786050" y="6000768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Client</a:t>
              </a:r>
              <a:r>
                <a:rPr lang="en-GB" baseline="-25000">
                  <a:latin typeface="Tw Cen MT" charset="0"/>
                </a:rPr>
                <a:t>A</a:t>
              </a:r>
            </a:p>
          </p:txBody>
        </p:sp>
        <p:sp>
          <p:nvSpPr>
            <p:cNvPr id="29702" name="TextBox 7"/>
            <p:cNvSpPr txBox="1">
              <a:spLocks noChangeArrowheads="1"/>
            </p:cNvSpPr>
            <p:nvPr/>
          </p:nvSpPr>
          <p:spPr bwMode="auto">
            <a:xfrm>
              <a:off x="4500562" y="6000768"/>
              <a:ext cx="2071702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Client</a:t>
              </a:r>
              <a:r>
                <a:rPr lang="en-GB" baseline="-25000">
                  <a:latin typeface="Tw Cen MT" charset="0"/>
                </a:rPr>
                <a:t>B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rot="10800000" flipV="1">
              <a:off x="3571868" y="4929356"/>
              <a:ext cx="1857596" cy="4279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4" name="TextBox 35"/>
            <p:cNvSpPr txBox="1">
              <a:spLocks noChangeArrowheads="1"/>
            </p:cNvSpPr>
            <p:nvPr/>
          </p:nvSpPr>
          <p:spPr bwMode="auto">
            <a:xfrm>
              <a:off x="2571736" y="3714752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dirty="0">
                  <a:latin typeface="Tw Cen MT" charset="0"/>
                </a:rPr>
                <a:t>T</a:t>
              </a:r>
              <a:r>
                <a:rPr lang="en-GB" baseline="-25000" dirty="0">
                  <a:latin typeface="Tw Cen MT" charset="0"/>
                </a:rPr>
                <a:t>A0</a:t>
              </a:r>
            </a:p>
          </p:txBody>
        </p:sp>
        <p:sp>
          <p:nvSpPr>
            <p:cNvPr id="29705" name="TextBox 36"/>
            <p:cNvSpPr txBox="1">
              <a:spLocks noChangeArrowheads="1"/>
            </p:cNvSpPr>
            <p:nvPr/>
          </p:nvSpPr>
          <p:spPr bwMode="auto">
            <a:xfrm>
              <a:off x="2571736" y="5192925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A1</a:t>
              </a:r>
            </a:p>
          </p:txBody>
        </p:sp>
        <p:sp>
          <p:nvSpPr>
            <p:cNvPr id="29706" name="TextBox 38"/>
            <p:cNvSpPr txBox="1">
              <a:spLocks noChangeArrowheads="1"/>
            </p:cNvSpPr>
            <p:nvPr/>
          </p:nvSpPr>
          <p:spPr bwMode="auto">
            <a:xfrm>
              <a:off x="4857752" y="4214818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B0</a:t>
              </a:r>
            </a:p>
          </p:txBody>
        </p:sp>
        <p:sp>
          <p:nvSpPr>
            <p:cNvPr id="29707" name="TextBox 39"/>
            <p:cNvSpPr txBox="1">
              <a:spLocks noChangeArrowheads="1"/>
            </p:cNvSpPr>
            <p:nvPr/>
          </p:nvSpPr>
          <p:spPr bwMode="auto">
            <a:xfrm>
              <a:off x="4857752" y="4764297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B1</a:t>
              </a:r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/>
          <a:lstStyle/>
          <a:p>
            <a:r>
              <a:rPr lang="en-US" altLang="en-US" dirty="0" smtClean="0">
                <a:sym typeface="Arial"/>
              </a:rPr>
              <a:t>Network </a:t>
            </a:r>
            <a:r>
              <a:rPr lang="en" altLang="en-US" dirty="0" smtClean="0">
                <a:sym typeface="Arial"/>
              </a:rPr>
              <a:t>Latency</a:t>
            </a:r>
            <a:r>
              <a:rPr lang="en-US" altLang="en-US" dirty="0" smtClean="0">
                <a:sym typeface="Arial"/>
              </a:rPr>
              <a:t> Estimate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495600" y="1700808"/>
            <a:ext cx="58974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Latency Estimate = ((T</a:t>
            </a:r>
            <a:r>
              <a:rPr lang="en-US" baseline="-25000" dirty="0"/>
              <a:t>A1</a:t>
            </a:r>
            <a:r>
              <a:rPr lang="en-US" dirty="0"/>
              <a:t> – T</a:t>
            </a:r>
            <a:r>
              <a:rPr lang="en-US" baseline="-25000" dirty="0"/>
              <a:t>A0</a:t>
            </a:r>
            <a:r>
              <a:rPr lang="en-US" dirty="0"/>
              <a:t>) - (T</a:t>
            </a:r>
            <a:r>
              <a:rPr lang="en-US" baseline="-25000" dirty="0"/>
              <a:t>B1</a:t>
            </a:r>
            <a:r>
              <a:rPr lang="en-US" dirty="0"/>
              <a:t> – T</a:t>
            </a:r>
            <a:r>
              <a:rPr lang="en-US" baseline="-25000" dirty="0"/>
              <a:t>B0</a:t>
            </a:r>
            <a:r>
              <a:rPr lang="en-US" dirty="0"/>
              <a:t>))/2</a:t>
            </a:r>
          </a:p>
          <a:p>
            <a:endParaRPr lang="en-US" dirty="0"/>
          </a:p>
          <a:p>
            <a:r>
              <a:rPr lang="en-US" dirty="0"/>
              <a:t>Clock Offset Estimate = (T</a:t>
            </a:r>
            <a:r>
              <a:rPr lang="en-US" baseline="-25000" dirty="0"/>
              <a:t>B0 </a:t>
            </a:r>
            <a:r>
              <a:rPr lang="en-US" dirty="0"/>
              <a:t>- T</a:t>
            </a:r>
            <a:r>
              <a:rPr lang="en-US" baseline="-25000" dirty="0"/>
              <a:t>A0</a:t>
            </a:r>
            <a:r>
              <a:rPr lang="en-US" dirty="0"/>
              <a:t>) – Network Latency Estimate</a:t>
            </a:r>
          </a:p>
        </p:txBody>
      </p:sp>
    </p:spTree>
    <p:extLst>
      <p:ext uri="{BB962C8B-B14F-4D97-AF65-F5344CB8AC3E}">
        <p14:creationId xmlns:p14="http://schemas.microsoft.com/office/powerpoint/2010/main" val="25852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/>
          <p:cNvCxnSpPr/>
          <p:nvPr/>
        </p:nvCxnSpPr>
        <p:spPr>
          <a:xfrm>
            <a:off x="5095876" y="1990726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5087889" y="1776414"/>
            <a:ext cx="9575" cy="374082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954838" y="1776414"/>
            <a:ext cx="5258" cy="388483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4" name="TextBox 34"/>
          <p:cNvSpPr txBox="1">
            <a:spLocks noChangeArrowheads="1"/>
          </p:cNvSpPr>
          <p:nvPr/>
        </p:nvSpPr>
        <p:spPr bwMode="auto">
          <a:xfrm>
            <a:off x="2639617" y="1700808"/>
            <a:ext cx="157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dirty="0">
                <a:latin typeface="Tw Cen MT" charset="0"/>
              </a:rPr>
              <a:t>Sender</a:t>
            </a:r>
          </a:p>
        </p:txBody>
      </p:sp>
      <p:sp>
        <p:nvSpPr>
          <p:cNvPr id="25605" name="TextBox 35"/>
          <p:cNvSpPr txBox="1">
            <a:spLocks noChangeArrowheads="1"/>
          </p:cNvSpPr>
          <p:nvPr/>
        </p:nvSpPr>
        <p:spPr bwMode="auto">
          <a:xfrm>
            <a:off x="7464152" y="1772816"/>
            <a:ext cx="2071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dirty="0">
                <a:latin typeface="Tw Cen MT" charset="0"/>
              </a:rPr>
              <a:t>Receiver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095876" y="2633664"/>
            <a:ext cx="1857375" cy="1000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095876" y="3276601"/>
            <a:ext cx="1857375" cy="785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095876" y="3919539"/>
            <a:ext cx="1857375" cy="12858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095876" y="4562475"/>
            <a:ext cx="1857375" cy="9286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981576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981576" y="2562225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4997451" y="3205163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981576" y="3848100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997451" y="449103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838951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840538" y="256222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856413" y="320516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6840538" y="3848100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6856413" y="4491038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83736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98951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/>
          <a:lstStyle/>
          <a:p>
            <a:r>
              <a:rPr lang="en-US" altLang="en-US" dirty="0" smtClean="0">
                <a:sym typeface="Arial"/>
              </a:rPr>
              <a:t>Network Jitter Estimate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104113" y="2564904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R0</a:t>
            </a:r>
          </a:p>
        </p:txBody>
      </p:sp>
      <p:sp>
        <p:nvSpPr>
          <p:cNvPr id="3" name="Rectangle 2"/>
          <p:cNvSpPr/>
          <p:nvPr/>
        </p:nvSpPr>
        <p:spPr>
          <a:xfrm>
            <a:off x="7104113" y="3429000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R1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11825" y="1772816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S0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1825" y="2420888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31" y="5816734"/>
            <a:ext cx="81280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Jitter Estimate = (T</a:t>
            </a:r>
            <a:r>
              <a:rPr lang="en-US" sz="2000" baseline="-25000" dirty="0"/>
              <a:t>R1</a:t>
            </a:r>
            <a:r>
              <a:rPr lang="en-US" sz="2000" dirty="0"/>
              <a:t> – T</a:t>
            </a:r>
            <a:r>
              <a:rPr lang="en-US" sz="2000" baseline="-25000" dirty="0"/>
              <a:t>R0</a:t>
            </a:r>
            <a:r>
              <a:rPr lang="en-US" sz="2000" dirty="0"/>
              <a:t>) - (T</a:t>
            </a:r>
            <a:r>
              <a:rPr lang="en-US" sz="2000" baseline="-25000" dirty="0"/>
              <a:t>S1</a:t>
            </a:r>
            <a:r>
              <a:rPr lang="en-US" sz="2000" dirty="0"/>
              <a:t> – T</a:t>
            </a:r>
            <a:r>
              <a:rPr lang="en-US" sz="2000" baseline="-25000" dirty="0"/>
              <a:t>S0</a:t>
            </a:r>
            <a:r>
              <a:rPr lang="en-US" sz="2000" dirty="0"/>
              <a:t>)</a:t>
            </a:r>
          </a:p>
          <a:p>
            <a:r>
              <a:rPr lang="en-US" sz="2000" dirty="0"/>
              <a:t>Jitter Moving </a:t>
            </a:r>
            <a:r>
              <a:rPr lang="en-US" sz="2000" dirty="0" err="1"/>
              <a:t>Average</a:t>
            </a:r>
            <a:r>
              <a:rPr lang="en-US" sz="2800" b="1" baseline="-25000" dirty="0" err="1"/>
              <a:t>i</a:t>
            </a:r>
            <a:r>
              <a:rPr lang="en-US" sz="2000" dirty="0"/>
              <a:t> = a x Jitter </a:t>
            </a:r>
            <a:r>
              <a:rPr lang="en-US" sz="2000" dirty="0" err="1"/>
              <a:t>Estimate</a:t>
            </a:r>
            <a:r>
              <a:rPr lang="en-US" sz="2800" b="1" baseline="-25000" dirty="0" err="1"/>
              <a:t>i</a:t>
            </a:r>
            <a:r>
              <a:rPr lang="en-US" sz="2000" dirty="0"/>
              <a:t> + (1-a) x Jitter Moving Average</a:t>
            </a:r>
            <a:r>
              <a:rPr lang="en-US" sz="2800" b="1" baseline="-25000" dirty="0"/>
              <a:t>i-1</a:t>
            </a:r>
          </a:p>
          <a:p>
            <a:r>
              <a:rPr lang="en-US" sz="2000" dirty="0"/>
              <a:t>where  0 &lt; a &lt; 1</a:t>
            </a:r>
          </a:p>
        </p:txBody>
      </p:sp>
    </p:spTree>
    <p:extLst>
      <p:ext uri="{BB962C8B-B14F-4D97-AF65-F5344CB8AC3E}">
        <p14:creationId xmlns:p14="http://schemas.microsoft.com/office/powerpoint/2010/main" val="286540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Throughput &amp; Loss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18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Bandwidth/Capacity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Bandwidth is a shared resource</a:t>
            </a:r>
          </a:p>
          <a:p>
            <a:r>
              <a:rPr lang="en-US" dirty="0" smtClean="0"/>
              <a:t>At local level we share the wireless or share a home or office router</a:t>
            </a:r>
          </a:p>
          <a:p>
            <a:r>
              <a:rPr lang="en-US" dirty="0" smtClean="0"/>
              <a:t>However probably, the bottleneck is likely to be upstream to our ISP</a:t>
            </a:r>
          </a:p>
          <a:p>
            <a:r>
              <a:rPr lang="en-US" dirty="0" smtClean="0"/>
              <a:t>ISP have intra-ISP bottlenecks</a:t>
            </a:r>
          </a:p>
          <a:p>
            <a:r>
              <a:rPr lang="en-US" dirty="0" smtClean="0"/>
              <a:t>The destination site (BBC, Facebook) might have inbound capacity limits</a:t>
            </a:r>
          </a:p>
        </p:txBody>
      </p:sp>
    </p:spTree>
    <p:extLst>
      <p:ext uri="{BB962C8B-B14F-4D97-AF65-F5344CB8AC3E}">
        <p14:creationId xmlns:p14="http://schemas.microsoft.com/office/powerpoint/2010/main" val="98848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Loss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36638" y="1700808"/>
            <a:ext cx="9631362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GB" sz="3500" dirty="0">
                <a:solidFill>
                  <a:srgbClr val="FF9900"/>
                </a:solidFill>
              </a:rPr>
              <a:t>Another GOLDEN RULE</a:t>
            </a:r>
          </a:p>
          <a:p>
            <a:pPr algn="ctr">
              <a:buFontTx/>
              <a:buNone/>
            </a:pPr>
            <a:r>
              <a:rPr lang="en-GB" dirty="0"/>
              <a:t>Packet Loss is a Good Thing</a:t>
            </a: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2057398" y="2996210"/>
            <a:ext cx="7883532" cy="2857501"/>
            <a:chOff x="864" y="2160"/>
            <a:chExt cx="4966" cy="1800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864" y="2880"/>
              <a:ext cx="4966" cy="10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latin typeface="Arial" charset="0"/>
                </a:rPr>
                <a:t>It is the Internet’s defence against failure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/>
                <a:t>Dropping packets (hopefully) causes senders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latin typeface="Arial" charset="0"/>
                </a:rPr>
                <a:t>(processes or users) to rate-limit</a:t>
              </a: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2160" y="2160"/>
              <a:ext cx="2160" cy="62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9E0000"/>
            </a:solidFill>
            <a:ln w="12700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  <a:extLst/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2136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2524100" y="1643050"/>
            <a:ext cx="7000924" cy="3929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Loss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5238744" y="3355776"/>
            <a:ext cx="1500198" cy="7893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Handler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84836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447078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4127431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378407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3440721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2666977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445292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40957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7239009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802482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766763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731044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7221150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76676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731044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7239009" y="3357562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7310447" y="340756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4810117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4792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6738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6738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6738943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2095472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2095472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9453586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9453586" y="3500438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9453586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5738810" y="2285992"/>
            <a:ext cx="928694" cy="78581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Routing Table</a:t>
            </a: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5954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167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Input Queues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39075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Output Queues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97366" y="2134392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2754011" y="214709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/>
          <p:cNvSpPr/>
          <p:nvPr/>
        </p:nvSpPr>
        <p:spPr>
          <a:xfrm>
            <a:off x="1719538" y="2106285"/>
            <a:ext cx="2068944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Loss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95473" y="2134392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23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loss</a:t>
            </a:r>
          </a:p>
        </p:txBody>
      </p:sp>
      <p:sp>
        <p:nvSpPr>
          <p:cNvPr id="1218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8013" y="1546226"/>
            <a:ext cx="8394700" cy="2098799"/>
          </a:xfrm>
        </p:spPr>
        <p:txBody>
          <a:bodyPr>
            <a:normAutofit/>
          </a:bodyPr>
          <a:lstStyle/>
          <a:p>
            <a:r>
              <a:rPr lang="en-US" sz="2400" dirty="0"/>
              <a:t>queue (aka buffer) preceding link has finite capacity</a:t>
            </a:r>
          </a:p>
          <a:p>
            <a:r>
              <a:rPr lang="en-US" sz="2400" dirty="0"/>
              <a:t>packet arriving to full queue dropped (aka lost)</a:t>
            </a:r>
          </a:p>
          <a:p>
            <a:r>
              <a:rPr lang="en-US" sz="2400" dirty="0"/>
              <a:t>lost packet may be retransmitted by previous node, by source end system, or not at all</a:t>
            </a:r>
          </a:p>
        </p:txBody>
      </p:sp>
      <p:graphicFrame>
        <p:nvGraphicFramePr>
          <p:cNvPr id="121858" name="Object 2"/>
          <p:cNvGraphicFramePr>
            <a:graphicFrameLocks noChangeAspect="1"/>
          </p:cNvGraphicFramePr>
          <p:nvPr/>
        </p:nvGraphicFramePr>
        <p:xfrm>
          <a:off x="3575051" y="534670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1218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534670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4" name="Oval 6"/>
          <p:cNvSpPr>
            <a:spLocks noChangeArrowheads="1"/>
          </p:cNvSpPr>
          <p:nvPr/>
        </p:nvSpPr>
        <p:spPr bwMode="auto">
          <a:xfrm>
            <a:off x="4616451" y="51054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5" name="Rectangle 7"/>
          <p:cNvSpPr>
            <a:spLocks noChangeArrowheads="1"/>
          </p:cNvSpPr>
          <p:nvPr/>
        </p:nvSpPr>
        <p:spPr bwMode="auto">
          <a:xfrm>
            <a:off x="4616451" y="5037139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21866" name="Oval 8"/>
          <p:cNvSpPr>
            <a:spLocks noChangeArrowheads="1"/>
          </p:cNvSpPr>
          <p:nvPr/>
        </p:nvSpPr>
        <p:spPr bwMode="auto">
          <a:xfrm>
            <a:off x="4625976" y="48085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1867" name="Group 9"/>
          <p:cNvGrpSpPr>
            <a:grpSpLocks/>
          </p:cNvGrpSpPr>
          <p:nvPr/>
        </p:nvGrpSpPr>
        <p:grpSpPr bwMode="auto">
          <a:xfrm>
            <a:off x="4972051" y="4838701"/>
            <a:ext cx="498475" cy="119063"/>
            <a:chOff x="2208" y="2184"/>
            <a:chExt cx="176" cy="69"/>
          </a:xfrm>
        </p:grpSpPr>
        <p:grpSp>
          <p:nvGrpSpPr>
            <p:cNvPr id="121893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21898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9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900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894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21895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6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7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1859" name="Object 3"/>
          <p:cNvGraphicFramePr>
            <a:graphicFrameLocks noChangeAspect="1"/>
          </p:cNvGraphicFramePr>
          <p:nvPr/>
        </p:nvGraphicFramePr>
        <p:xfrm>
          <a:off x="3260726" y="433705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1218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6" y="433705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8" name="Line 23"/>
          <p:cNvSpPr>
            <a:spLocks noChangeShapeType="1"/>
          </p:cNvSpPr>
          <p:nvPr/>
        </p:nvSpPr>
        <p:spPr bwMode="auto">
          <a:xfrm>
            <a:off x="3886201" y="4743450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9" name="Line 24"/>
          <p:cNvSpPr>
            <a:spLocks noChangeShapeType="1"/>
          </p:cNvSpPr>
          <p:nvPr/>
        </p:nvSpPr>
        <p:spPr bwMode="auto">
          <a:xfrm flipV="1">
            <a:off x="4191001" y="5729288"/>
            <a:ext cx="195263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0" name="Line 25"/>
          <p:cNvSpPr>
            <a:spLocks noChangeShapeType="1"/>
          </p:cNvSpPr>
          <p:nvPr/>
        </p:nvSpPr>
        <p:spPr bwMode="auto">
          <a:xfrm>
            <a:off x="5810251" y="5162551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1" name="Line 26"/>
          <p:cNvSpPr>
            <a:spLocks noChangeShapeType="1"/>
          </p:cNvSpPr>
          <p:nvPr/>
        </p:nvSpPr>
        <p:spPr bwMode="auto">
          <a:xfrm flipH="1">
            <a:off x="4391025" y="4733926"/>
            <a:ext cx="0" cy="1000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2" name="Line 27"/>
          <p:cNvSpPr>
            <a:spLocks noChangeShapeType="1"/>
          </p:cNvSpPr>
          <p:nvPr/>
        </p:nvSpPr>
        <p:spPr bwMode="auto">
          <a:xfrm>
            <a:off x="4400551" y="5167313"/>
            <a:ext cx="200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3" name="Rectangle 28"/>
          <p:cNvSpPr>
            <a:spLocks noChangeArrowheads="1"/>
          </p:cNvSpPr>
          <p:nvPr/>
        </p:nvSpPr>
        <p:spPr bwMode="auto">
          <a:xfrm>
            <a:off x="6729414" y="4962526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4" name="Rectangle 29"/>
          <p:cNvSpPr>
            <a:spLocks noChangeArrowheads="1"/>
          </p:cNvSpPr>
          <p:nvPr/>
        </p:nvSpPr>
        <p:spPr bwMode="auto">
          <a:xfrm>
            <a:off x="5476875" y="5033964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5" name="Rectangle 30"/>
          <p:cNvSpPr>
            <a:spLocks noChangeArrowheads="1"/>
          </p:cNvSpPr>
          <p:nvPr/>
        </p:nvSpPr>
        <p:spPr bwMode="auto">
          <a:xfrm>
            <a:off x="5638800" y="5033964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6" name="Rectangle 31"/>
          <p:cNvSpPr>
            <a:spLocks noChangeArrowheads="1"/>
          </p:cNvSpPr>
          <p:nvPr/>
        </p:nvSpPr>
        <p:spPr bwMode="auto">
          <a:xfrm>
            <a:off x="4329114" y="5208589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7" name="Freeform 32"/>
          <p:cNvSpPr>
            <a:spLocks/>
          </p:cNvSpPr>
          <p:nvPr/>
        </p:nvSpPr>
        <p:spPr bwMode="auto">
          <a:xfrm>
            <a:off x="4427538" y="5087939"/>
            <a:ext cx="228600" cy="103187"/>
          </a:xfrm>
          <a:custGeom>
            <a:avLst/>
            <a:gdLst>
              <a:gd name="T0" fmla="*/ 0 w 111"/>
              <a:gd name="T1" fmla="*/ 67 h 67"/>
              <a:gd name="T2" fmla="*/ 0 w 111"/>
              <a:gd name="T3" fmla="*/ 0 h 67"/>
              <a:gd name="T4" fmla="*/ 111 w 111"/>
              <a:gd name="T5" fmla="*/ 1 h 67"/>
              <a:gd name="T6" fmla="*/ 0 60000 65536"/>
              <a:gd name="T7" fmla="*/ 0 60000 65536"/>
              <a:gd name="T8" fmla="*/ 0 60000 65536"/>
              <a:gd name="T9" fmla="*/ 0 w 111"/>
              <a:gd name="T10" fmla="*/ 0 h 67"/>
              <a:gd name="T11" fmla="*/ 111 w 111"/>
              <a:gd name="T12" fmla="*/ 67 h 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1" h="67">
                <a:moveTo>
                  <a:pt x="0" y="67"/>
                </a:moveTo>
                <a:lnTo>
                  <a:pt x="0" y="0"/>
                </a:lnTo>
                <a:lnTo>
                  <a:pt x="111" y="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8" name="Line 33"/>
          <p:cNvSpPr>
            <a:spLocks noChangeShapeType="1"/>
          </p:cNvSpPr>
          <p:nvPr/>
        </p:nvSpPr>
        <p:spPr bwMode="auto">
          <a:xfrm flipV="1">
            <a:off x="4333875" y="5451476"/>
            <a:ext cx="0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9" name="Text Box 35"/>
          <p:cNvSpPr txBox="1">
            <a:spLocks noChangeArrowheads="1"/>
          </p:cNvSpPr>
          <p:nvPr/>
        </p:nvSpPr>
        <p:spPr bwMode="auto">
          <a:xfrm>
            <a:off x="2908300" y="4360863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1"/>
                </a:solidFill>
                <a:latin typeface="Comic Sans MS" charset="0"/>
              </a:rPr>
              <a:t>A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1880" name="Text Box 36"/>
          <p:cNvSpPr txBox="1">
            <a:spLocks noChangeArrowheads="1"/>
          </p:cNvSpPr>
          <p:nvPr/>
        </p:nvSpPr>
        <p:spPr bwMode="auto">
          <a:xfrm>
            <a:off x="3184525" y="53800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Comic Sans MS" charset="0"/>
              </a:rPr>
              <a:t>B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1881" name="Text Box 40"/>
          <p:cNvSpPr txBox="1">
            <a:spLocks noChangeArrowheads="1"/>
          </p:cNvSpPr>
          <p:nvPr/>
        </p:nvSpPr>
        <p:spPr bwMode="auto">
          <a:xfrm>
            <a:off x="6289676" y="4203701"/>
            <a:ext cx="2881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packet being transmitted</a:t>
            </a:r>
            <a:endParaRPr lang="en-US" sz="1800"/>
          </a:p>
        </p:txBody>
      </p:sp>
      <p:sp>
        <p:nvSpPr>
          <p:cNvPr id="121882" name="Line 41"/>
          <p:cNvSpPr>
            <a:spLocks noChangeShapeType="1"/>
          </p:cNvSpPr>
          <p:nvPr/>
        </p:nvSpPr>
        <p:spPr bwMode="auto">
          <a:xfrm rot="10800000" flipV="1">
            <a:off x="5807076" y="4495800"/>
            <a:ext cx="727075" cy="5778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83" name="Rectangle 56"/>
          <p:cNvSpPr>
            <a:spLocks noChangeArrowheads="1"/>
          </p:cNvSpPr>
          <p:nvPr/>
        </p:nvSpPr>
        <p:spPr bwMode="auto">
          <a:xfrm>
            <a:off x="5313364" y="5032376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4" name="Rectangle 57"/>
          <p:cNvSpPr>
            <a:spLocks noChangeArrowheads="1"/>
          </p:cNvSpPr>
          <p:nvPr/>
        </p:nvSpPr>
        <p:spPr bwMode="auto">
          <a:xfrm>
            <a:off x="5151439" y="5032376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5" name="Rectangle 58"/>
          <p:cNvSpPr>
            <a:spLocks noChangeArrowheads="1"/>
          </p:cNvSpPr>
          <p:nvPr/>
        </p:nvSpPr>
        <p:spPr bwMode="auto">
          <a:xfrm>
            <a:off x="6110289" y="5375276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6" name="Rectangle 59"/>
          <p:cNvSpPr>
            <a:spLocks noChangeArrowheads="1"/>
          </p:cNvSpPr>
          <p:nvPr/>
        </p:nvSpPr>
        <p:spPr bwMode="auto">
          <a:xfrm>
            <a:off x="4822825" y="5032376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7" name="Rectangle 61"/>
          <p:cNvSpPr>
            <a:spLocks noChangeArrowheads="1"/>
          </p:cNvSpPr>
          <p:nvPr/>
        </p:nvSpPr>
        <p:spPr bwMode="auto">
          <a:xfrm>
            <a:off x="4657725" y="5033964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8" name="Rectangle 62"/>
          <p:cNvSpPr>
            <a:spLocks noChangeArrowheads="1"/>
          </p:cNvSpPr>
          <p:nvPr/>
        </p:nvSpPr>
        <p:spPr bwMode="auto">
          <a:xfrm>
            <a:off x="4629151" y="5010150"/>
            <a:ext cx="1171575" cy="242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89" name="Line 63"/>
          <p:cNvSpPr>
            <a:spLocks noChangeShapeType="1"/>
          </p:cNvSpPr>
          <p:nvPr/>
        </p:nvSpPr>
        <p:spPr bwMode="auto">
          <a:xfrm rot="10800000">
            <a:off x="4532314" y="5448301"/>
            <a:ext cx="771525" cy="3968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90" name="Text Box 64"/>
          <p:cNvSpPr txBox="1">
            <a:spLocks noChangeArrowheads="1"/>
          </p:cNvSpPr>
          <p:nvPr/>
        </p:nvSpPr>
        <p:spPr bwMode="auto">
          <a:xfrm>
            <a:off x="5232400" y="5661025"/>
            <a:ext cx="20780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packet arriving to</a:t>
            </a:r>
          </a:p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full buffer</a:t>
            </a:r>
            <a:r>
              <a:rPr lang="en-US" sz="1800">
                <a:latin typeface="Comic Sans MS" charset="0"/>
              </a:rPr>
              <a:t> </a:t>
            </a:r>
            <a:r>
              <a:rPr lang="en-US" sz="1800">
                <a:solidFill>
                  <a:srgbClr val="FF0000"/>
                </a:solidFill>
                <a:latin typeface="Comic Sans MS" charset="0"/>
              </a:rPr>
              <a:t>is </a:t>
            </a:r>
            <a:r>
              <a:rPr lang="en-US" sz="1800" i="1">
                <a:solidFill>
                  <a:srgbClr val="FF0000"/>
                </a:solidFill>
                <a:latin typeface="Comic Sans MS" charset="0"/>
              </a:rPr>
              <a:t>lost</a:t>
            </a:r>
          </a:p>
        </p:txBody>
      </p:sp>
      <p:sp>
        <p:nvSpPr>
          <p:cNvPr id="121891" name="Text Box 65"/>
          <p:cNvSpPr txBox="1">
            <a:spLocks noChangeArrowheads="1"/>
          </p:cNvSpPr>
          <p:nvPr/>
        </p:nvSpPr>
        <p:spPr bwMode="auto">
          <a:xfrm>
            <a:off x="4470400" y="4022725"/>
            <a:ext cx="1639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rgbClr val="FF0000"/>
                </a:solidFill>
                <a:latin typeface="Comic Sans MS" charset="0"/>
              </a:rPr>
              <a:t>buffer </a:t>
            </a:r>
          </a:p>
          <a:p>
            <a:pPr algn="ctr"/>
            <a:r>
              <a:rPr lang="en-US" sz="1800">
                <a:solidFill>
                  <a:srgbClr val="FF0000"/>
                </a:solidFill>
                <a:latin typeface="Comic Sans MS" charset="0"/>
              </a:rPr>
              <a:t>(waiting area)</a:t>
            </a:r>
            <a:endParaRPr lang="en-US" sz="1800"/>
          </a:p>
        </p:txBody>
      </p:sp>
      <p:sp>
        <p:nvSpPr>
          <p:cNvPr id="121892" name="Line 66"/>
          <p:cNvSpPr>
            <a:spLocks noChangeShapeType="1"/>
          </p:cNvSpPr>
          <p:nvPr/>
        </p:nvSpPr>
        <p:spPr bwMode="auto">
          <a:xfrm>
            <a:off x="4762500" y="4619626"/>
            <a:ext cx="0" cy="3333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1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Throughput : Network Perspective</a:t>
            </a:r>
            <a:endParaRPr lang="en-GB" dirty="0"/>
          </a:p>
        </p:txBody>
      </p:sp>
      <p:sp>
        <p:nvSpPr>
          <p:cNvPr id="4" name="Can 3"/>
          <p:cNvSpPr/>
          <p:nvPr/>
        </p:nvSpPr>
        <p:spPr>
          <a:xfrm rot="16200000">
            <a:off x="7788188" y="2312875"/>
            <a:ext cx="648072" cy="2592288"/>
          </a:xfrm>
          <a:prstGeom prst="can">
            <a:avLst/>
          </a:prstGeom>
          <a:solidFill>
            <a:schemeClr val="accent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n 4"/>
          <p:cNvSpPr/>
          <p:nvPr/>
        </p:nvSpPr>
        <p:spPr>
          <a:xfrm rot="16200000">
            <a:off x="3179676" y="2318753"/>
            <a:ext cx="1512168" cy="2592288"/>
          </a:xfrm>
          <a:prstGeom prst="can">
            <a:avLst/>
          </a:prstGeom>
          <a:solidFill>
            <a:schemeClr val="accent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571421" y="1700808"/>
            <a:ext cx="4737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Throughput : </a:t>
            </a:r>
            <a:r>
              <a:rPr lang="en-GB" dirty="0">
                <a:latin typeface="Arial" pitchFamily="34" charset="0"/>
                <a:cs typeface="Arial" pitchFamily="34" charset="0"/>
              </a:rPr>
              <a:t>number of bits per time of unit</a:t>
            </a:r>
            <a:endParaRPr lang="en-GB" dirty="0"/>
          </a:p>
        </p:txBody>
      </p:sp>
      <p:sp>
        <p:nvSpPr>
          <p:cNvPr id="8" name="Right Arrow 7"/>
          <p:cNvSpPr/>
          <p:nvPr/>
        </p:nvSpPr>
        <p:spPr>
          <a:xfrm>
            <a:off x="2095472" y="3035014"/>
            <a:ext cx="760168" cy="1159765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9479246" y="3436301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5296357" y="3284982"/>
            <a:ext cx="1591731" cy="648073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32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Throughput : Network Perspective</a:t>
            </a:r>
            <a:endParaRPr lang="en-GB" dirty="0"/>
          </a:p>
        </p:txBody>
      </p:sp>
      <p:sp>
        <p:nvSpPr>
          <p:cNvPr id="4" name="Can 3"/>
          <p:cNvSpPr/>
          <p:nvPr/>
        </p:nvSpPr>
        <p:spPr>
          <a:xfrm rot="16200000">
            <a:off x="7788188" y="2312875"/>
            <a:ext cx="648072" cy="2592288"/>
          </a:xfrm>
          <a:prstGeom prst="can">
            <a:avLst/>
          </a:prstGeom>
          <a:solidFill>
            <a:schemeClr val="accent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n 4"/>
          <p:cNvSpPr/>
          <p:nvPr/>
        </p:nvSpPr>
        <p:spPr>
          <a:xfrm rot="16200000">
            <a:off x="3179676" y="2318753"/>
            <a:ext cx="1512168" cy="2592288"/>
          </a:xfrm>
          <a:prstGeom prst="can">
            <a:avLst/>
          </a:prstGeom>
          <a:solidFill>
            <a:schemeClr val="accent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571421" y="1700808"/>
            <a:ext cx="4737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Throughput : </a:t>
            </a:r>
            <a:r>
              <a:rPr lang="en-GB" dirty="0">
                <a:latin typeface="Arial" pitchFamily="34" charset="0"/>
                <a:cs typeface="Arial" pitchFamily="34" charset="0"/>
              </a:rPr>
              <a:t>number of bits per time of unit</a:t>
            </a:r>
            <a:endParaRPr lang="en-GB" dirty="0"/>
          </a:p>
        </p:txBody>
      </p:sp>
      <p:sp>
        <p:nvSpPr>
          <p:cNvPr id="8" name="Right Arrow 7"/>
          <p:cNvSpPr/>
          <p:nvPr/>
        </p:nvSpPr>
        <p:spPr>
          <a:xfrm>
            <a:off x="2095472" y="3035014"/>
            <a:ext cx="760168" cy="1159765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9479246" y="3436301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5296357" y="3284982"/>
            <a:ext cx="1591731" cy="648073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223792" y="2299589"/>
            <a:ext cx="3600400" cy="2618859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Potential Loss and Increased Delay</a:t>
            </a:r>
          </a:p>
        </p:txBody>
      </p:sp>
    </p:spTree>
    <p:extLst>
      <p:ext uri="{BB962C8B-B14F-4D97-AF65-F5344CB8AC3E}">
        <p14:creationId xmlns:p14="http://schemas.microsoft.com/office/powerpoint/2010/main" val="231713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Line 321"/>
          <p:cNvSpPr>
            <a:spLocks noChangeShapeType="1"/>
          </p:cNvSpPr>
          <p:nvPr/>
        </p:nvSpPr>
        <p:spPr bwMode="auto">
          <a:xfrm>
            <a:off x="2965451" y="4530725"/>
            <a:ext cx="6316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0" name="Rectangle 2"/>
          <p:cNvSpPr>
            <a:spLocks noGrp="1" noChangeArrowheads="1"/>
          </p:cNvSpPr>
          <p:nvPr>
            <p:ph type="title"/>
          </p:nvPr>
        </p:nvSpPr>
        <p:spPr>
          <a:xfrm>
            <a:off x="2303464" y="381000"/>
            <a:ext cx="7583487" cy="798546"/>
          </a:xfrm>
        </p:spPr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1239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3113" y="1447801"/>
            <a:ext cx="7239000" cy="2193925"/>
          </a:xfrm>
        </p:spPr>
        <p:txBody>
          <a:bodyPr>
            <a:noAutofit/>
          </a:bodyPr>
          <a:lstStyle/>
          <a:p>
            <a:r>
              <a:rPr lang="en-US" sz="2400" i="1" dirty="0">
                <a:solidFill>
                  <a:srgbClr val="FF3300"/>
                </a:solidFill>
              </a:rPr>
              <a:t>throughput:</a:t>
            </a:r>
            <a:r>
              <a:rPr lang="en-US" sz="2400" dirty="0"/>
              <a:t> rate (bits/time unit) at which bits transferred between sender/receiver</a:t>
            </a:r>
          </a:p>
          <a:p>
            <a:pPr lvl="1"/>
            <a:r>
              <a:rPr lang="en-US" i="1" dirty="0">
                <a:solidFill>
                  <a:srgbClr val="FF3300"/>
                </a:solidFill>
                <a:ea typeface="ＭＳ Ｐゴシック" charset="0"/>
              </a:rPr>
              <a:t>instantaneous</a:t>
            </a:r>
            <a:r>
              <a:rPr lang="en-US" i="1" dirty="0">
                <a:ea typeface="ＭＳ Ｐゴシック" charset="0"/>
              </a:rPr>
              <a:t>:</a:t>
            </a:r>
            <a:r>
              <a:rPr lang="en-US" dirty="0">
                <a:ea typeface="ＭＳ Ｐゴシック" charset="0"/>
              </a:rPr>
              <a:t> rate at given point in time</a:t>
            </a:r>
          </a:p>
          <a:p>
            <a:pPr lvl="1"/>
            <a:r>
              <a:rPr lang="en-US" i="1" dirty="0">
                <a:solidFill>
                  <a:srgbClr val="FF3300"/>
                </a:solidFill>
                <a:ea typeface="ＭＳ Ｐゴシック" charset="0"/>
              </a:rPr>
              <a:t>average:</a:t>
            </a:r>
            <a:r>
              <a:rPr lang="en-US" dirty="0">
                <a:ea typeface="ＭＳ Ｐゴシック" charset="0"/>
              </a:rPr>
              <a:t> rate over longer period of time</a:t>
            </a:r>
          </a:p>
        </p:txBody>
      </p:sp>
      <p:grpSp>
        <p:nvGrpSpPr>
          <p:cNvPr id="123912" name="Group 246"/>
          <p:cNvGrpSpPr>
            <a:grpSpLocks/>
          </p:cNvGrpSpPr>
          <p:nvPr/>
        </p:nvGrpSpPr>
        <p:grpSpPr bwMode="auto">
          <a:xfrm>
            <a:off x="5330825" y="4394201"/>
            <a:ext cx="1055688" cy="360363"/>
            <a:chOff x="3600" y="219"/>
            <a:chExt cx="360" cy="175"/>
          </a:xfrm>
        </p:grpSpPr>
        <p:sp>
          <p:nvSpPr>
            <p:cNvPr id="123947" name="Oval 24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8" name="Line 24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9" name="Line 24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50" name="Rectangle 25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23951" name="Oval 25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952" name="Group 25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3957" name="Line 2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8" name="Line 2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9" name="Line 2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953" name="Group 25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3954" name="Line 25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5" name="Line 25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6" name="Line 25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3906" name="Object 2"/>
          <p:cNvGraphicFramePr>
            <a:graphicFrameLocks noChangeAspect="1"/>
          </p:cNvGraphicFramePr>
          <p:nvPr/>
        </p:nvGraphicFramePr>
        <p:xfrm>
          <a:off x="9245601" y="4062414"/>
          <a:ext cx="785813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1239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5601" y="4062414"/>
                        <a:ext cx="785813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13" name="Group 300"/>
          <p:cNvGrpSpPr>
            <a:grpSpLocks/>
          </p:cNvGrpSpPr>
          <p:nvPr/>
        </p:nvGrpSpPr>
        <p:grpSpPr bwMode="auto">
          <a:xfrm>
            <a:off x="2466975" y="3981450"/>
            <a:ext cx="374650" cy="838200"/>
            <a:chOff x="4180" y="783"/>
            <a:chExt cx="150" cy="307"/>
          </a:xfrm>
        </p:grpSpPr>
        <p:sp>
          <p:nvSpPr>
            <p:cNvPr id="123939" name="AutoShape 30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0" name="Rectangle 30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1" name="Rectangle 30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2" name="AutoShape 30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3" name="Line 30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4" name="Line 30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5" name="Rectangle 30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6" name="Rectangle 30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914" name="Text Box 325"/>
          <p:cNvSpPr txBox="1">
            <a:spLocks noChangeArrowheads="1"/>
          </p:cNvSpPr>
          <p:nvPr/>
        </p:nvSpPr>
        <p:spPr bwMode="auto">
          <a:xfrm>
            <a:off x="1766888" y="5043489"/>
            <a:ext cx="21272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server, with</a:t>
            </a:r>
          </a:p>
          <a:p>
            <a:pPr algn="ctr"/>
            <a:r>
              <a:rPr lang="en-US" sz="2000">
                <a:latin typeface="Comic Sans MS" charset="0"/>
              </a:rPr>
              <a:t>file of F bits </a:t>
            </a:r>
          </a:p>
          <a:p>
            <a:pPr algn="ctr"/>
            <a:r>
              <a:rPr lang="en-US" sz="2000">
                <a:latin typeface="Comic Sans MS" charset="0"/>
              </a:rPr>
              <a:t>to send to client</a:t>
            </a:r>
          </a:p>
        </p:txBody>
      </p:sp>
      <p:sp>
        <p:nvSpPr>
          <p:cNvPr id="123915" name="AutoShape 327"/>
          <p:cNvSpPr>
            <a:spLocks noChangeArrowheads="1"/>
          </p:cNvSpPr>
          <p:nvPr/>
        </p:nvSpPr>
        <p:spPr bwMode="auto">
          <a:xfrm>
            <a:off x="1943101" y="3641726"/>
            <a:ext cx="449263" cy="581025"/>
          </a:xfrm>
          <a:prstGeom prst="can">
            <a:avLst>
              <a:gd name="adj" fmla="val 2614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16" name="Text Box 328"/>
          <p:cNvSpPr txBox="1">
            <a:spLocks noChangeArrowheads="1"/>
          </p:cNvSpPr>
          <p:nvPr/>
        </p:nvSpPr>
        <p:spPr bwMode="auto">
          <a:xfrm>
            <a:off x="4198938" y="4973639"/>
            <a:ext cx="1651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link capacity</a:t>
            </a:r>
          </a:p>
          <a:p>
            <a:pPr algn="ctr"/>
            <a:r>
              <a:rPr lang="en-US" sz="2000">
                <a:latin typeface="Comic Sans MS" charset="0"/>
              </a:rPr>
              <a:t> R</a:t>
            </a:r>
            <a:r>
              <a:rPr lang="en-US" sz="2800" baseline="-25000">
                <a:latin typeface="Comic Sans MS" charset="0"/>
              </a:rPr>
              <a:t>s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sp>
        <p:nvSpPr>
          <p:cNvPr id="123917" name="Text Box 329"/>
          <p:cNvSpPr txBox="1">
            <a:spLocks noChangeArrowheads="1"/>
          </p:cNvSpPr>
          <p:nvPr/>
        </p:nvSpPr>
        <p:spPr bwMode="auto">
          <a:xfrm>
            <a:off x="7067550" y="4970464"/>
            <a:ext cx="1651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link capacity</a:t>
            </a:r>
          </a:p>
          <a:p>
            <a:pPr algn="ctr"/>
            <a:r>
              <a:rPr lang="en-US" sz="2000">
                <a:latin typeface="Comic Sans MS" charset="0"/>
              </a:rPr>
              <a:t> R</a:t>
            </a:r>
            <a:r>
              <a:rPr lang="en-US" sz="2800" baseline="-25000">
                <a:latin typeface="Comic Sans MS" charset="0"/>
              </a:rPr>
              <a:t>c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grpSp>
        <p:nvGrpSpPr>
          <p:cNvPr id="6" name="Group 338"/>
          <p:cNvGrpSpPr>
            <a:grpSpLocks/>
          </p:cNvGrpSpPr>
          <p:nvPr/>
        </p:nvGrpSpPr>
        <p:grpSpPr bwMode="auto">
          <a:xfrm>
            <a:off x="2928938" y="4371975"/>
            <a:ext cx="3568700" cy="1676400"/>
            <a:chOff x="913" y="2726"/>
            <a:chExt cx="2248" cy="1056"/>
          </a:xfrm>
        </p:grpSpPr>
        <p:grpSp>
          <p:nvGrpSpPr>
            <p:cNvPr id="123933" name="Group 335"/>
            <p:cNvGrpSpPr>
              <a:grpSpLocks/>
            </p:cNvGrpSpPr>
            <p:nvPr/>
          </p:nvGrpSpPr>
          <p:grpSpPr bwMode="auto">
            <a:xfrm>
              <a:off x="913" y="2726"/>
              <a:ext cx="1463" cy="247"/>
              <a:chOff x="2249" y="3430"/>
              <a:chExt cx="1389" cy="256"/>
            </a:xfrm>
          </p:grpSpPr>
          <p:sp>
            <p:nvSpPr>
              <p:cNvPr id="255309" name="Oval 33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08" name="Rectangle 332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37" name="Oval 331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10" name="Rectangle 334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34" name="Text Box 336"/>
            <p:cNvSpPr txBox="1">
              <a:spLocks noChangeArrowheads="1"/>
            </p:cNvSpPr>
            <p:nvPr/>
          </p:nvSpPr>
          <p:spPr bwMode="auto">
            <a:xfrm>
              <a:off x="1392" y="3148"/>
              <a:ext cx="1769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pipe that can carry</a:t>
              </a:r>
            </a:p>
            <a:p>
              <a:pPr algn="ctr"/>
              <a:r>
                <a:rPr lang="en-US" sz="2000">
                  <a:latin typeface="Comic Sans MS" charset="0"/>
                </a:rPr>
                <a:t>fluid at rate</a:t>
              </a:r>
            </a:p>
            <a:p>
              <a:pPr algn="ctr"/>
              <a:r>
                <a:rPr lang="en-US" sz="2000">
                  <a:latin typeface="Comic Sans MS" charset="0"/>
                </a:rPr>
                <a:t> R</a:t>
              </a:r>
              <a:r>
                <a:rPr lang="en-US" sz="2800" baseline="-25000">
                  <a:latin typeface="Comic Sans MS" charset="0"/>
                </a:rPr>
                <a:t>s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bits/sec)</a:t>
              </a:r>
            </a:p>
          </p:txBody>
        </p:sp>
      </p:grpSp>
      <p:sp>
        <p:nvSpPr>
          <p:cNvPr id="123919" name="Line 337"/>
          <p:cNvSpPr>
            <a:spLocks noChangeShapeType="1"/>
          </p:cNvSpPr>
          <p:nvPr/>
        </p:nvSpPr>
        <p:spPr bwMode="auto">
          <a:xfrm flipH="1" flipV="1">
            <a:off x="4325939" y="4614863"/>
            <a:ext cx="477837" cy="450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20" name="Line 347"/>
          <p:cNvSpPr>
            <a:spLocks noChangeShapeType="1"/>
          </p:cNvSpPr>
          <p:nvPr/>
        </p:nvSpPr>
        <p:spPr bwMode="auto">
          <a:xfrm flipH="1" flipV="1">
            <a:off x="7358064" y="4557714"/>
            <a:ext cx="479425" cy="522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21" name="AutoShape 349"/>
          <p:cNvSpPr>
            <a:spLocks noChangeArrowheads="1"/>
          </p:cNvSpPr>
          <p:nvPr/>
        </p:nvSpPr>
        <p:spPr bwMode="auto">
          <a:xfrm flipV="1">
            <a:off x="2032001" y="4064001"/>
            <a:ext cx="974725" cy="720725"/>
          </a:xfrm>
          <a:custGeom>
            <a:avLst/>
            <a:gdLst>
              <a:gd name="T0" fmla="*/ 682578 w 21600"/>
              <a:gd name="T1" fmla="*/ 0 h 21600"/>
              <a:gd name="T2" fmla="*/ 682578 w 21600"/>
              <a:gd name="T3" fmla="*/ 405675 h 21600"/>
              <a:gd name="T4" fmla="*/ 146073 w 21600"/>
              <a:gd name="T5" fmla="*/ 720725 h 21600"/>
              <a:gd name="T6" fmla="*/ 974725 w 21600"/>
              <a:gd name="T7" fmla="*/ 202837 h 21600"/>
              <a:gd name="T8" fmla="*/ 3 60000 65536"/>
              <a:gd name="T9" fmla="*/ 1 60000 65536"/>
              <a:gd name="T10" fmla="*/ 1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22" name="AutoShape 350"/>
          <p:cNvSpPr>
            <a:spLocks noChangeArrowheads="1"/>
          </p:cNvSpPr>
          <p:nvPr/>
        </p:nvSpPr>
        <p:spPr bwMode="auto">
          <a:xfrm>
            <a:off x="8810625" y="4325939"/>
            <a:ext cx="889000" cy="485775"/>
          </a:xfrm>
          <a:prstGeom prst="rightArrow">
            <a:avLst>
              <a:gd name="adj1" fmla="val 50000"/>
              <a:gd name="adj2" fmla="val 457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48"/>
          <p:cNvGrpSpPr>
            <a:grpSpLocks/>
          </p:cNvGrpSpPr>
          <p:nvPr/>
        </p:nvGrpSpPr>
        <p:grpSpPr bwMode="auto">
          <a:xfrm>
            <a:off x="6434139" y="4248150"/>
            <a:ext cx="3178175" cy="1822450"/>
            <a:chOff x="3093" y="2676"/>
            <a:chExt cx="2002" cy="1148"/>
          </a:xfrm>
        </p:grpSpPr>
        <p:grpSp>
          <p:nvGrpSpPr>
            <p:cNvPr id="123927" name="Group 341"/>
            <p:cNvGrpSpPr>
              <a:grpSpLocks/>
            </p:cNvGrpSpPr>
            <p:nvPr/>
          </p:nvGrpSpPr>
          <p:grpSpPr bwMode="auto">
            <a:xfrm>
              <a:off x="3093" y="2676"/>
              <a:ext cx="1765" cy="366"/>
              <a:chOff x="2249" y="3430"/>
              <a:chExt cx="1389" cy="256"/>
            </a:xfrm>
          </p:grpSpPr>
          <p:sp>
            <p:nvSpPr>
              <p:cNvPr id="255318" name="Oval 342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19" name="Rectangle 343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31" name="Oval 344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21" name="Rectangle 345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28" name="Text Box 346"/>
            <p:cNvSpPr txBox="1">
              <a:spLocks noChangeArrowheads="1"/>
            </p:cNvSpPr>
            <p:nvPr/>
          </p:nvSpPr>
          <p:spPr bwMode="auto">
            <a:xfrm>
              <a:off x="3235" y="3190"/>
              <a:ext cx="1860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pipe that can carry</a:t>
              </a:r>
            </a:p>
            <a:p>
              <a:pPr algn="ctr"/>
              <a:r>
                <a:rPr lang="en-US" sz="2000">
                  <a:latin typeface="Comic Sans MS" charset="0"/>
                </a:rPr>
                <a:t>fluid at rate</a:t>
              </a:r>
            </a:p>
            <a:p>
              <a:pPr algn="ctr"/>
              <a:r>
                <a:rPr lang="en-US" sz="2000">
                  <a:latin typeface="Comic Sans MS" charset="0"/>
                </a:rPr>
                <a:t> 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bits/sec)</a:t>
              </a:r>
            </a:p>
          </p:txBody>
        </p:sp>
      </p:grpSp>
      <p:sp>
        <p:nvSpPr>
          <p:cNvPr id="123924" name="AutoShape 351"/>
          <p:cNvSpPr>
            <a:spLocks noChangeArrowheads="1"/>
          </p:cNvSpPr>
          <p:nvPr/>
        </p:nvSpPr>
        <p:spPr bwMode="auto">
          <a:xfrm>
            <a:off x="5232401" y="4319589"/>
            <a:ext cx="1484313" cy="485775"/>
          </a:xfrm>
          <a:prstGeom prst="rightArrow">
            <a:avLst>
              <a:gd name="adj1" fmla="val 50000"/>
              <a:gd name="adj2" fmla="val 763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25" name="Line 352"/>
          <p:cNvSpPr>
            <a:spLocks noChangeShapeType="1"/>
          </p:cNvSpPr>
          <p:nvPr/>
        </p:nvSpPr>
        <p:spPr bwMode="auto">
          <a:xfrm>
            <a:off x="2554288" y="4876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5329" name="Text Box 353"/>
          <p:cNvSpPr txBox="1">
            <a:spLocks noChangeArrowheads="1"/>
          </p:cNvSpPr>
          <p:nvPr/>
        </p:nvSpPr>
        <p:spPr bwMode="auto">
          <a:xfrm>
            <a:off x="1524000" y="5067301"/>
            <a:ext cx="2319338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server sends bits </a:t>
            </a:r>
          </a:p>
          <a:p>
            <a:pPr algn="ctr"/>
            <a:r>
              <a:rPr lang="en-US" sz="2000">
                <a:latin typeface="Comic Sans MS" charset="0"/>
              </a:rPr>
              <a:t>(fluid) into pipe</a:t>
            </a:r>
          </a:p>
          <a:p>
            <a:pPr algn="ctr"/>
            <a:endParaRPr lang="en-US" sz="2000">
              <a:latin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2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32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(more)</a:t>
            </a:r>
          </a:p>
        </p:txBody>
      </p:sp>
      <p:sp>
        <p:nvSpPr>
          <p:cNvPr id="12493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043114" y="1447800"/>
            <a:ext cx="8150225" cy="554038"/>
          </a:xfrm>
        </p:spPr>
        <p:txBody>
          <a:bodyPr>
            <a:normAutofit/>
          </a:bodyPr>
          <a:lstStyle/>
          <a:p>
            <a:r>
              <a:rPr lang="en-US" i="1" dirty="0" err="1">
                <a:solidFill>
                  <a:srgbClr val="FF3300"/>
                </a:solidFill>
              </a:rPr>
              <a:t>R</a:t>
            </a:r>
            <a:r>
              <a:rPr lang="en-US" i="1" baseline="-25000" dirty="0" err="1">
                <a:solidFill>
                  <a:srgbClr val="FF3300"/>
                </a:solidFill>
              </a:rPr>
              <a:t>s</a:t>
            </a:r>
            <a:r>
              <a:rPr lang="en-US" i="1" dirty="0">
                <a:solidFill>
                  <a:srgbClr val="FF3300"/>
                </a:solidFill>
              </a:rPr>
              <a:t> &lt; </a:t>
            </a:r>
            <a:r>
              <a:rPr lang="en-US" i="1" dirty="0" err="1">
                <a:solidFill>
                  <a:srgbClr val="FF3300"/>
                </a:solidFill>
              </a:rPr>
              <a:t>R</a:t>
            </a:r>
            <a:r>
              <a:rPr lang="en-US" i="1" baseline="-25000" dirty="0" err="1">
                <a:solidFill>
                  <a:srgbClr val="FF3300"/>
                </a:solidFill>
              </a:rPr>
              <a:t>c</a:t>
            </a:r>
            <a:r>
              <a:rPr lang="en-US" i="1" dirty="0">
                <a:solidFill>
                  <a:srgbClr val="FF3300"/>
                </a:solidFill>
              </a:rPr>
              <a:t>  </a:t>
            </a:r>
            <a:r>
              <a:rPr lang="en-US" dirty="0"/>
              <a:t>What is average end-end throughput?</a:t>
            </a:r>
          </a:p>
        </p:txBody>
      </p:sp>
      <p:sp>
        <p:nvSpPr>
          <p:cNvPr id="124936" name="Line 2"/>
          <p:cNvSpPr>
            <a:spLocks noChangeShapeType="1"/>
          </p:cNvSpPr>
          <p:nvPr/>
        </p:nvSpPr>
        <p:spPr bwMode="auto">
          <a:xfrm>
            <a:off x="3636964" y="2741613"/>
            <a:ext cx="5811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4937" name="Group 5"/>
          <p:cNvGrpSpPr>
            <a:grpSpLocks/>
          </p:cNvGrpSpPr>
          <p:nvPr/>
        </p:nvGrpSpPr>
        <p:grpSpPr bwMode="auto">
          <a:xfrm>
            <a:off x="5813425" y="2633664"/>
            <a:ext cx="971550" cy="282575"/>
            <a:chOff x="3600" y="219"/>
            <a:chExt cx="360" cy="175"/>
          </a:xfrm>
        </p:grpSpPr>
        <p:sp>
          <p:nvSpPr>
            <p:cNvPr id="125010" name="Oval 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1" name="Line 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2" name="Line 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3" name="Rectangle 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25014" name="Oval 1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5015" name="Group 1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5020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21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22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016" name="Group 1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5017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18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19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9628188" y="2454276"/>
          <a:ext cx="72231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1249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8188" y="2454276"/>
                        <a:ext cx="722312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38" name="Group 20"/>
          <p:cNvGrpSpPr>
            <a:grpSpLocks/>
          </p:cNvGrpSpPr>
          <p:nvPr/>
        </p:nvGrpSpPr>
        <p:grpSpPr bwMode="auto">
          <a:xfrm>
            <a:off x="3179764" y="2311400"/>
            <a:ext cx="344487" cy="655638"/>
            <a:chOff x="4180" y="783"/>
            <a:chExt cx="150" cy="307"/>
          </a:xfrm>
        </p:grpSpPr>
        <p:sp>
          <p:nvSpPr>
            <p:cNvPr id="125002" name="AutoShape 2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3" name="Rectangle 2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4" name="Rectangle 2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5" name="AutoShape 2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6" name="Line 2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7" name="Line 2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8" name="Rectangle 2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9" name="Rectangle 2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4939" name="AutoShape 30"/>
          <p:cNvSpPr>
            <a:spLocks noChangeArrowheads="1"/>
          </p:cNvSpPr>
          <p:nvPr/>
        </p:nvSpPr>
        <p:spPr bwMode="auto">
          <a:xfrm>
            <a:off x="2697163" y="2044701"/>
            <a:ext cx="412750" cy="455613"/>
          </a:xfrm>
          <a:prstGeom prst="can">
            <a:avLst>
              <a:gd name="adj" fmla="val 2231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4940" name="Group 34"/>
          <p:cNvGrpSpPr>
            <a:grpSpLocks/>
          </p:cNvGrpSpPr>
          <p:nvPr/>
        </p:nvGrpSpPr>
        <p:grpSpPr bwMode="auto">
          <a:xfrm>
            <a:off x="3590926" y="2606676"/>
            <a:ext cx="2136775" cy="307975"/>
            <a:chOff x="2249" y="3430"/>
            <a:chExt cx="1389" cy="256"/>
          </a:xfrm>
        </p:grpSpPr>
        <p:sp>
          <p:nvSpPr>
            <p:cNvPr id="256035" name="Oval 35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36" name="Rectangle 36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0" name="Oval 37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38" name="Rectangle 38"/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4941" name="Text Box 39"/>
          <p:cNvSpPr txBox="1">
            <a:spLocks noChangeArrowheads="1"/>
          </p:cNvSpPr>
          <p:nvPr/>
        </p:nvSpPr>
        <p:spPr bwMode="auto">
          <a:xfrm>
            <a:off x="3379789" y="2562226"/>
            <a:ext cx="2586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  R</a:t>
            </a:r>
            <a:r>
              <a:rPr lang="en-US" sz="2800" baseline="-25000">
                <a:latin typeface="Comic Sans MS" charset="0"/>
              </a:rPr>
              <a:t>s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sp>
        <p:nvSpPr>
          <p:cNvPr id="124942" name="AutoShape 42"/>
          <p:cNvSpPr>
            <a:spLocks noChangeArrowheads="1"/>
          </p:cNvSpPr>
          <p:nvPr/>
        </p:nvSpPr>
        <p:spPr bwMode="auto">
          <a:xfrm flipV="1">
            <a:off x="2779713" y="2374900"/>
            <a:ext cx="895350" cy="565150"/>
          </a:xfrm>
          <a:custGeom>
            <a:avLst/>
            <a:gdLst>
              <a:gd name="T0" fmla="*/ 626994 w 21600"/>
              <a:gd name="T1" fmla="*/ 0 h 21600"/>
              <a:gd name="T2" fmla="*/ 626994 w 21600"/>
              <a:gd name="T3" fmla="*/ 318106 h 21600"/>
              <a:gd name="T4" fmla="*/ 134178 w 21600"/>
              <a:gd name="T5" fmla="*/ 565150 h 21600"/>
              <a:gd name="T6" fmla="*/ 895350 w 21600"/>
              <a:gd name="T7" fmla="*/ 159053 h 21600"/>
              <a:gd name="T8" fmla="*/ 3 60000 65536"/>
              <a:gd name="T9" fmla="*/ 1 60000 65536"/>
              <a:gd name="T10" fmla="*/ 1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4943" name="AutoShape 43"/>
          <p:cNvSpPr>
            <a:spLocks noChangeArrowheads="1"/>
          </p:cNvSpPr>
          <p:nvPr/>
        </p:nvSpPr>
        <p:spPr bwMode="auto">
          <a:xfrm>
            <a:off x="9013826" y="2581276"/>
            <a:ext cx="817563" cy="379413"/>
          </a:xfrm>
          <a:prstGeom prst="rightArrow">
            <a:avLst>
              <a:gd name="adj1" fmla="val 50000"/>
              <a:gd name="adj2" fmla="val 538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4944" name="Group 54"/>
          <p:cNvGrpSpPr>
            <a:grpSpLocks/>
          </p:cNvGrpSpPr>
          <p:nvPr/>
        </p:nvGrpSpPr>
        <p:grpSpPr bwMode="auto">
          <a:xfrm>
            <a:off x="6964364" y="2473326"/>
            <a:ext cx="2790825" cy="569913"/>
            <a:chOff x="3130" y="3069"/>
            <a:chExt cx="1911" cy="366"/>
          </a:xfrm>
        </p:grpSpPr>
        <p:grpSp>
          <p:nvGrpSpPr>
            <p:cNvPr id="124992" name="Group 45"/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256046" name="Oval 46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47" name="Rectangle 47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7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96" name="Oval 48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49" name="Rectangle 49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93" name="Text Box 50"/>
            <p:cNvSpPr txBox="1">
              <a:spLocks noChangeArrowheads="1"/>
            </p:cNvSpPr>
            <p:nvPr/>
          </p:nvSpPr>
          <p:spPr bwMode="auto">
            <a:xfrm>
              <a:off x="3181" y="3135"/>
              <a:ext cx="1860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</p:grpSp>
      <p:sp>
        <p:nvSpPr>
          <p:cNvPr id="124945" name="AutoShape 51"/>
          <p:cNvSpPr>
            <a:spLocks noChangeArrowheads="1"/>
          </p:cNvSpPr>
          <p:nvPr/>
        </p:nvSpPr>
        <p:spPr bwMode="auto">
          <a:xfrm>
            <a:off x="5722938" y="2574925"/>
            <a:ext cx="1365250" cy="381000"/>
          </a:xfrm>
          <a:prstGeom prst="rightArrow">
            <a:avLst>
              <a:gd name="adj1" fmla="val 50000"/>
              <a:gd name="adj2" fmla="val 895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109"/>
          <p:cNvGrpSpPr>
            <a:grpSpLocks/>
          </p:cNvGrpSpPr>
          <p:nvPr/>
        </p:nvGrpSpPr>
        <p:grpSpPr bwMode="auto">
          <a:xfrm>
            <a:off x="2079625" y="3341688"/>
            <a:ext cx="8307388" cy="1536700"/>
            <a:chOff x="350" y="2105"/>
            <a:chExt cx="5233" cy="968"/>
          </a:xfrm>
        </p:grpSpPr>
        <p:sp>
          <p:nvSpPr>
            <p:cNvPr id="124951" name="Rectangle 56"/>
            <p:cNvSpPr>
              <a:spLocks noChangeArrowheads="1"/>
            </p:cNvSpPr>
            <p:nvPr/>
          </p:nvSpPr>
          <p:spPr bwMode="auto">
            <a:xfrm>
              <a:off x="350" y="2105"/>
              <a:ext cx="507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57200" indent="-457200">
                <a:spcBef>
                  <a:spcPct val="20000"/>
                </a:spcBef>
                <a:buSzPct val="100000"/>
                <a:buFont typeface="Arial"/>
                <a:buChar char="•"/>
              </a:pPr>
              <a:r>
                <a:rPr lang="en-US" sz="2400" i="1" dirty="0" err="1">
                  <a:solidFill>
                    <a:srgbClr val="FF0000"/>
                  </a:solidFill>
                </a:rPr>
                <a:t>R</a:t>
              </a:r>
              <a:r>
                <a:rPr lang="en-US" sz="2400" i="1" baseline="-25000" dirty="0" err="1">
                  <a:solidFill>
                    <a:srgbClr val="FF0000"/>
                  </a:solidFill>
                </a:rPr>
                <a:t>s</a:t>
              </a:r>
              <a:r>
                <a:rPr lang="en-US" sz="2400" i="1" dirty="0">
                  <a:solidFill>
                    <a:srgbClr val="FF0000"/>
                  </a:solidFill>
                </a:rPr>
                <a:t> &gt; </a:t>
              </a:r>
              <a:r>
                <a:rPr lang="en-US" sz="2400" i="1" dirty="0" err="1">
                  <a:solidFill>
                    <a:srgbClr val="FF0000"/>
                  </a:solidFill>
                </a:rPr>
                <a:t>R</a:t>
              </a:r>
              <a:r>
                <a:rPr lang="en-US" sz="2400" i="1" baseline="-25000" dirty="0" err="1">
                  <a:solidFill>
                    <a:srgbClr val="FF0000"/>
                  </a:solidFill>
                </a:rPr>
                <a:t>c</a:t>
              </a:r>
              <a:r>
                <a:rPr lang="en-US" sz="2400" i="1" dirty="0">
                  <a:solidFill>
                    <a:srgbClr val="FF0000"/>
                  </a:solidFill>
                </a:rPr>
                <a:t>  </a:t>
              </a:r>
              <a:r>
                <a:rPr lang="en-US" sz="2400" dirty="0"/>
                <a:t>What </a:t>
              </a:r>
              <a:r>
                <a:rPr lang="en-US" sz="2400" dirty="0">
                  <a:latin typeface="Comic Sans MS" charset="0"/>
                </a:rPr>
                <a:t>is average end-end throughput?</a:t>
              </a:r>
            </a:p>
          </p:txBody>
        </p:sp>
        <p:sp>
          <p:nvSpPr>
            <p:cNvPr id="124952" name="Line 57"/>
            <p:cNvSpPr>
              <a:spLocks noChangeShapeType="1"/>
            </p:cNvSpPr>
            <p:nvPr/>
          </p:nvSpPr>
          <p:spPr bwMode="auto">
            <a:xfrm>
              <a:off x="1354" y="2920"/>
              <a:ext cx="36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53" name="Group 58"/>
            <p:cNvGrpSpPr>
              <a:grpSpLocks/>
            </p:cNvGrpSpPr>
            <p:nvPr/>
          </p:nvGrpSpPr>
          <p:grpSpPr bwMode="auto">
            <a:xfrm>
              <a:off x="2725" y="2852"/>
              <a:ext cx="612" cy="178"/>
              <a:chOff x="3600" y="219"/>
              <a:chExt cx="360" cy="175"/>
            </a:xfrm>
          </p:grpSpPr>
          <p:sp>
            <p:nvSpPr>
              <p:cNvPr id="124979" name="Oval 5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0" name="Line 6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1" name="Line 6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2" name="Rectangle 6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124983" name="Oval 6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4984" name="Group 6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24989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90" name="Line 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91" name="Line 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4985" name="Group 6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24986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87" name="Line 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88" name="Line 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124931" name="Object 3"/>
            <p:cNvGraphicFramePr>
              <a:graphicFrameLocks noChangeAspect="1"/>
            </p:cNvGraphicFramePr>
            <p:nvPr/>
          </p:nvGraphicFramePr>
          <p:xfrm>
            <a:off x="5128" y="2739"/>
            <a:ext cx="45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9" name="Clip" r:id="rId5" imgW="1305000" imgH="1085760" progId="MS_ClipArt_Gallery.2">
                    <p:embed/>
                  </p:oleObj>
                </mc:Choice>
                <mc:Fallback>
                  <p:oleObj name="Clip" r:id="rId5" imgW="1305000" imgH="1085760" progId="MS_ClipArt_Gallery.2">
                    <p:embed/>
                    <p:pic>
                      <p:nvPicPr>
                        <p:cNvPr id="12493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8" y="2739"/>
                          <a:ext cx="45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4954" name="Group 73"/>
            <p:cNvGrpSpPr>
              <a:grpSpLocks/>
            </p:cNvGrpSpPr>
            <p:nvPr/>
          </p:nvGrpSpPr>
          <p:grpSpPr bwMode="auto">
            <a:xfrm>
              <a:off x="1066" y="2649"/>
              <a:ext cx="217" cy="413"/>
              <a:chOff x="4180" y="783"/>
              <a:chExt cx="150" cy="307"/>
            </a:xfrm>
          </p:grpSpPr>
          <p:sp>
            <p:nvSpPr>
              <p:cNvPr id="124971" name="AutoShape 74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2" name="Rectangle 75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3" name="Rectangle 76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4" name="AutoShape 77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5" name="Line 78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6" name="Line 79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7" name="Rectangle 80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8" name="Rectangle 81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55" name="AutoShape 82"/>
            <p:cNvSpPr>
              <a:spLocks noChangeArrowheads="1"/>
            </p:cNvSpPr>
            <p:nvPr/>
          </p:nvSpPr>
          <p:spPr bwMode="auto">
            <a:xfrm>
              <a:off x="762" y="2481"/>
              <a:ext cx="260" cy="287"/>
            </a:xfrm>
            <a:prstGeom prst="can">
              <a:avLst>
                <a:gd name="adj" fmla="val 2231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56" name="AutoShape 90"/>
            <p:cNvSpPr>
              <a:spLocks noChangeArrowheads="1"/>
            </p:cNvSpPr>
            <p:nvPr/>
          </p:nvSpPr>
          <p:spPr bwMode="auto">
            <a:xfrm>
              <a:off x="4741" y="2819"/>
              <a:ext cx="515" cy="239"/>
            </a:xfrm>
            <a:prstGeom prst="rightArrow">
              <a:avLst>
                <a:gd name="adj1" fmla="val 50000"/>
                <a:gd name="adj2" fmla="val 5387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4957" name="Group 92"/>
            <p:cNvGrpSpPr>
              <a:grpSpLocks/>
            </p:cNvGrpSpPr>
            <p:nvPr/>
          </p:nvGrpSpPr>
          <p:grpSpPr bwMode="auto">
            <a:xfrm>
              <a:off x="1328" y="2714"/>
              <a:ext cx="1347" cy="359"/>
              <a:chOff x="2249" y="3430"/>
              <a:chExt cx="1389" cy="256"/>
            </a:xfrm>
          </p:grpSpPr>
          <p:sp>
            <p:nvSpPr>
              <p:cNvPr id="256093" name="Oval 9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4" name="Rectangle 94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69" name="Oval 95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6" name="Rectangle 96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58" name="Text Box 97"/>
            <p:cNvSpPr txBox="1">
              <a:spLocks noChangeArrowheads="1"/>
            </p:cNvSpPr>
            <p:nvPr/>
          </p:nvSpPr>
          <p:spPr bwMode="auto">
            <a:xfrm>
              <a:off x="1313" y="2788"/>
              <a:ext cx="14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R</a:t>
              </a:r>
              <a:r>
                <a:rPr lang="en-US" sz="2800" baseline="-25000">
                  <a:latin typeface="Comic Sans MS" charset="0"/>
                </a:rPr>
                <a:t>s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  <p:grpSp>
          <p:nvGrpSpPr>
            <p:cNvPr id="124959" name="Group 83"/>
            <p:cNvGrpSpPr>
              <a:grpSpLocks/>
            </p:cNvGrpSpPr>
            <p:nvPr/>
          </p:nvGrpSpPr>
          <p:grpSpPr bwMode="auto">
            <a:xfrm>
              <a:off x="3419" y="2835"/>
              <a:ext cx="1621" cy="194"/>
              <a:chOff x="2249" y="3430"/>
              <a:chExt cx="1389" cy="256"/>
            </a:xfrm>
          </p:grpSpPr>
          <p:sp>
            <p:nvSpPr>
              <p:cNvPr id="256084" name="Oval 84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85" name="Rectangle 85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65" name="Oval 86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87" name="Rectangle 87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60" name="Text Box 88"/>
            <p:cNvSpPr txBox="1">
              <a:spLocks noChangeArrowheads="1"/>
            </p:cNvSpPr>
            <p:nvPr/>
          </p:nvSpPr>
          <p:spPr bwMode="auto">
            <a:xfrm>
              <a:off x="3475" y="2807"/>
              <a:ext cx="16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 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  <p:sp>
          <p:nvSpPr>
            <p:cNvPr id="124961" name="AutoShape 98"/>
            <p:cNvSpPr>
              <a:spLocks noChangeArrowheads="1"/>
            </p:cNvSpPr>
            <p:nvPr/>
          </p:nvSpPr>
          <p:spPr bwMode="auto">
            <a:xfrm>
              <a:off x="2668" y="2815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62" name="AutoShape 89"/>
            <p:cNvSpPr>
              <a:spLocks noChangeArrowheads="1"/>
            </p:cNvSpPr>
            <p:nvPr/>
          </p:nvSpPr>
          <p:spPr bwMode="auto">
            <a:xfrm flipV="1">
              <a:off x="814" y="2689"/>
              <a:ext cx="564" cy="356"/>
            </a:xfrm>
            <a:custGeom>
              <a:avLst/>
              <a:gdLst>
                <a:gd name="T0" fmla="*/ 395 w 21600"/>
                <a:gd name="T1" fmla="*/ 0 h 21600"/>
                <a:gd name="T2" fmla="*/ 395 w 21600"/>
                <a:gd name="T3" fmla="*/ 200 h 21600"/>
                <a:gd name="T4" fmla="*/ 85 w 21600"/>
                <a:gd name="T5" fmla="*/ 356 h 21600"/>
                <a:gd name="T6" fmla="*/ 564 w 21600"/>
                <a:gd name="T7" fmla="*/ 100 h 21600"/>
                <a:gd name="T8" fmla="*/ 3 60000 65536"/>
                <a:gd name="T9" fmla="*/ 1 60000 65536"/>
                <a:gd name="T10" fmla="*/ 1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108"/>
          <p:cNvGrpSpPr>
            <a:grpSpLocks/>
          </p:cNvGrpSpPr>
          <p:nvPr/>
        </p:nvGrpSpPr>
        <p:grpSpPr bwMode="auto">
          <a:xfrm>
            <a:off x="1727201" y="5157792"/>
            <a:ext cx="8607425" cy="1366839"/>
            <a:chOff x="128" y="3249"/>
            <a:chExt cx="5422" cy="861"/>
          </a:xfrm>
        </p:grpSpPr>
        <p:sp>
          <p:nvSpPr>
            <p:cNvPr id="124948" name="Rectangle 102"/>
            <p:cNvSpPr>
              <a:spLocks noChangeArrowheads="1"/>
            </p:cNvSpPr>
            <p:nvPr/>
          </p:nvSpPr>
          <p:spPr bwMode="auto">
            <a:xfrm>
              <a:off x="128" y="3249"/>
              <a:ext cx="5403" cy="8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49" name="Text Box 101"/>
            <p:cNvSpPr txBox="1">
              <a:spLocks noChangeArrowheads="1"/>
            </p:cNvSpPr>
            <p:nvPr/>
          </p:nvSpPr>
          <p:spPr bwMode="auto">
            <a:xfrm>
              <a:off x="208" y="3585"/>
              <a:ext cx="534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b="1" dirty="0">
                  <a:latin typeface="+mn-lt"/>
                </a:rPr>
                <a:t>link</a:t>
              </a:r>
              <a:r>
                <a:rPr lang="en-US" dirty="0">
                  <a:latin typeface="+mn-lt"/>
                </a:rPr>
                <a:t> on end-2-end path that constrains end-2-end throughput, i.e., the smallest/narrowest link</a:t>
              </a:r>
            </a:p>
          </p:txBody>
        </p:sp>
        <p:sp>
          <p:nvSpPr>
            <p:cNvPr id="124950" name="Text Box 104"/>
            <p:cNvSpPr txBox="1">
              <a:spLocks noChangeArrowheads="1"/>
            </p:cNvSpPr>
            <p:nvPr/>
          </p:nvSpPr>
          <p:spPr bwMode="auto">
            <a:xfrm>
              <a:off x="204" y="3249"/>
              <a:ext cx="17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solidFill>
                    <a:srgbClr val="FF3300"/>
                  </a:solidFill>
                  <a:latin typeface="+mn-lt"/>
                </a:rPr>
                <a:t>bottleneck link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546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Tw Cen MT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>
                <a:latin typeface="Tw Cen MT" charset="0"/>
                <a:ea typeface="ＭＳ Ｐゴシック" charset="0"/>
                <a:cs typeface="ＭＳ Ｐゴシック" charset="0"/>
              </a:rPr>
              <a:t>STATE OF THE INTERNET</a:t>
            </a:r>
          </a:p>
        </p:txBody>
      </p:sp>
    </p:spTree>
    <p:extLst>
      <p:ext uri="{BB962C8B-B14F-4D97-AF65-F5344CB8AC3E}">
        <p14:creationId xmlns:p14="http://schemas.microsoft.com/office/powerpoint/2010/main" val="25911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Bandwidth and Latency: </a:t>
            </a:r>
            <a:r>
              <a:rPr lang="en-US" b="1" dirty="0" smtClean="0">
                <a:solidFill>
                  <a:srgbClr val="FF0000"/>
                </a:solidFill>
              </a:rPr>
              <a:t>Wired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Broadband is now common in homes</a:t>
            </a:r>
          </a:p>
          <a:p>
            <a:pPr lvl="1"/>
            <a:r>
              <a:rPr lang="en-US" dirty="0" smtClean="0"/>
              <a:t>500Kbps – 1Gbps</a:t>
            </a:r>
          </a:p>
          <a:p>
            <a:pPr lvl="1"/>
            <a:r>
              <a:rPr lang="en-US" dirty="0" smtClean="0"/>
              <a:t>Depends on technology (twisted-pair v. optical)</a:t>
            </a:r>
          </a:p>
          <a:p>
            <a:r>
              <a:rPr lang="en-US" dirty="0" smtClean="0"/>
              <a:t>Offices have always been different</a:t>
            </a:r>
          </a:p>
          <a:p>
            <a:pPr lvl="1"/>
            <a:r>
              <a:rPr lang="en-US" dirty="0" smtClean="0"/>
              <a:t>1Gbps Ethernet, switched (not shared) is common</a:t>
            </a:r>
          </a:p>
          <a:p>
            <a:pPr lvl="1"/>
            <a:r>
              <a:rPr lang="en-US" dirty="0" smtClean="0"/>
              <a:t>Outbound varies enormously</a:t>
            </a:r>
          </a:p>
          <a:p>
            <a:r>
              <a:rPr lang="en-US" dirty="0" smtClean="0"/>
              <a:t>Low Latency</a:t>
            </a:r>
          </a:p>
        </p:txBody>
      </p:sp>
    </p:spTree>
    <p:extLst>
      <p:ext uri="{BB962C8B-B14F-4D97-AF65-F5344CB8AC3E}">
        <p14:creationId xmlns:p14="http://schemas.microsoft.com/office/powerpoint/2010/main" val="332921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and Latency: </a:t>
            </a:r>
            <a:r>
              <a:rPr lang="en-US" i="1" dirty="0" smtClean="0">
                <a:solidFill>
                  <a:srgbClr val="FF0000"/>
                </a:solidFill>
              </a:rPr>
              <a:t>Wireless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6648" y="1600200"/>
            <a:ext cx="8153400" cy="5141168"/>
          </a:xfrm>
        </p:spPr>
        <p:txBody>
          <a:bodyPr/>
          <a:lstStyle/>
          <a:p>
            <a:r>
              <a:rPr lang="en-US" dirty="0"/>
              <a:t>2G</a:t>
            </a:r>
          </a:p>
          <a:p>
            <a:pPr lvl="1"/>
            <a:r>
              <a:rPr lang="en-US" dirty="0"/>
              <a:t>Don’t try, run web or </a:t>
            </a:r>
            <a:r>
              <a:rPr lang="en-US" dirty="0" err="1"/>
              <a:t>sms</a:t>
            </a:r>
            <a:r>
              <a:rPr lang="en-US" dirty="0"/>
              <a:t>-based applications!</a:t>
            </a:r>
          </a:p>
          <a:p>
            <a:r>
              <a:rPr lang="en-US" dirty="0"/>
              <a:t>3G / 4G</a:t>
            </a:r>
          </a:p>
          <a:p>
            <a:pPr lvl="1"/>
            <a:r>
              <a:rPr lang="en-US" dirty="0"/>
              <a:t>3G: ~2.4Mbps</a:t>
            </a:r>
          </a:p>
          <a:p>
            <a:pPr lvl="1"/>
            <a:r>
              <a:rPr lang="en-US" dirty="0"/>
              <a:t>4G: 100Mbps – 1Gbps</a:t>
            </a:r>
          </a:p>
          <a:p>
            <a:r>
              <a:rPr lang="en-US" dirty="0"/>
              <a:t>802.11a-n, ac</a:t>
            </a:r>
          </a:p>
          <a:p>
            <a:pPr lvl="1"/>
            <a:r>
              <a:rPr lang="en-US" dirty="0"/>
              <a:t>b: 11 Mbps</a:t>
            </a:r>
          </a:p>
          <a:p>
            <a:pPr lvl="1"/>
            <a:r>
              <a:rPr lang="en-US" dirty="0"/>
              <a:t>g: 54 Mbps</a:t>
            </a:r>
          </a:p>
          <a:p>
            <a:pPr lvl="1"/>
            <a:r>
              <a:rPr lang="en-US" dirty="0"/>
              <a:t>n: 74 Mbps</a:t>
            </a:r>
          </a:p>
          <a:p>
            <a:pPr lvl="1"/>
            <a:r>
              <a:rPr lang="en-US" dirty="0"/>
              <a:t>ac: 150Mbps</a:t>
            </a:r>
          </a:p>
          <a:p>
            <a:r>
              <a:rPr lang="en-US" dirty="0"/>
              <a:t>Latency is moderate-poor: its shared bandwidth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20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Effect of distance on throughput and download times</a:t>
            </a:r>
            <a:endParaRPr lang="en-US" sz="3600" dirty="0">
              <a:latin typeface="Tw Cen MT" charset="0"/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996415"/>
              </p:ext>
            </p:extLst>
          </p:nvPr>
        </p:nvGraphicFramePr>
        <p:xfrm>
          <a:off x="2135560" y="1628800"/>
          <a:ext cx="8044455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Document" r:id="rId3" imgW="5638800" imgH="1968500" progId="Word.Document.12">
                  <p:link updateAutomatic="1"/>
                </p:oleObj>
              </mc:Choice>
              <mc:Fallback>
                <p:oleObj name="Document" r:id="rId3" imgW="5638800" imgH="1968500" progId="Word.Document.12">
                  <p:link updateAutomatic="1"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5560" y="1628800"/>
                        <a:ext cx="8044455" cy="280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1991544" y="465313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Based on (Leighton, 2009</a:t>
            </a:r>
            <a:r>
              <a:rPr lang="en-GB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31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Tiga orang berbicara — Foto Stok © orlaimagen #6205769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97" y="1808970"/>
            <a:ext cx="4110803" cy="308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10800000">
            <a:off x="4086419" y="3508349"/>
            <a:ext cx="1807135" cy="15622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838200" y="5374342"/>
            <a:ext cx="9708776" cy="788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3" y="5451525"/>
            <a:ext cx="812987" cy="6345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627130" y="5906796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16325" y="5768297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9" name="Rectangle 8"/>
          <p:cNvSpPr/>
          <p:nvPr/>
        </p:nvSpPr>
        <p:spPr>
          <a:xfrm>
            <a:off x="8701490" y="6045296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09530" y="6183795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05022" y="6299211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6690" y="6430062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252788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1384</TotalTime>
  <Words>3233</Words>
  <Application>Microsoft Office PowerPoint</Application>
  <PresentationFormat>Widescreen</PresentationFormat>
  <Paragraphs>682</Paragraphs>
  <Slides>68</Slides>
  <Notes>28</Notes>
  <HiddenSlides>4</HiddenSlides>
  <MMClips>0</MMClips>
  <ScaleCrop>false</ScaleCrop>
  <HeadingPairs>
    <vt:vector size="10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87" baseType="lpstr">
      <vt:lpstr>Malgun Gothic</vt:lpstr>
      <vt:lpstr>MS PGothic</vt:lpstr>
      <vt:lpstr>Yu Gothic</vt:lpstr>
      <vt:lpstr>Yu Gothic Light</vt:lpstr>
      <vt:lpstr>Arial</vt:lpstr>
      <vt:lpstr>Arial Narrow</vt:lpstr>
      <vt:lpstr>Calibri</vt:lpstr>
      <vt:lpstr>Calibri Light</vt:lpstr>
      <vt:lpstr>Comic Sans MS</vt:lpstr>
      <vt:lpstr>Courier New</vt:lpstr>
      <vt:lpstr>Muli</vt:lpstr>
      <vt:lpstr>Segoe UI Symbol</vt:lpstr>
      <vt:lpstr>Source Sans Pro</vt:lpstr>
      <vt:lpstr>Times New Roman</vt:lpstr>
      <vt:lpstr>Tw Cen MT</vt:lpstr>
      <vt:lpstr>Wingdings</vt:lpstr>
      <vt:lpstr>Office Theme</vt:lpstr>
      <vt:lpstr>file:///\\localhost\Users\anthonysteed\Desktop\Macintosh%20HD:Users:anthonysteed:Dropbox:netbook:chapter%2010.docx!OLE_LINK3</vt:lpstr>
      <vt:lpstr>Clip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RouterOS Virtual Labs</vt:lpstr>
      <vt:lpstr>PowerPoint Presentation</vt:lpstr>
      <vt:lpstr>PowerPoint Presentation</vt:lpstr>
      <vt:lpstr>MIKROTIK PORT SCANNER / ROUTER OS PORT TESTER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Performance</vt:lpstr>
      <vt:lpstr>Network properties</vt:lpstr>
      <vt:lpstr>Latency &amp; Jitter</vt:lpstr>
      <vt:lpstr>Reality Check</vt:lpstr>
      <vt:lpstr>Impact on the Shared Experience</vt:lpstr>
      <vt:lpstr>Overview of the Challenge</vt:lpstr>
      <vt:lpstr>Latency and Jitter : Single Host</vt:lpstr>
      <vt:lpstr>Latency and Jitter : Networked Host</vt:lpstr>
      <vt:lpstr>Latency and Jitter : Client and Server</vt:lpstr>
      <vt:lpstr>Latency and Jitter : Single Host</vt:lpstr>
      <vt:lpstr>Latency and Jitter : Client and Server</vt:lpstr>
      <vt:lpstr>Latency : Network Perspective</vt:lpstr>
      <vt:lpstr>Latency : Network Perspective</vt:lpstr>
      <vt:lpstr>Network Delay : 4 Components</vt:lpstr>
      <vt:lpstr>How do loss and delay (latency/lag) occur?</vt:lpstr>
      <vt:lpstr>Four sources of packet delay</vt:lpstr>
      <vt:lpstr>Delay in packet-switched networks</vt:lpstr>
      <vt:lpstr>A note on Queueing delay</vt:lpstr>
      <vt:lpstr>Total delay</vt:lpstr>
      <vt:lpstr>“Real” Internet delays and routes</vt:lpstr>
      <vt:lpstr>Real Internet delays and routes</vt:lpstr>
      <vt:lpstr>Traceroute Command</vt:lpstr>
      <vt:lpstr>Jitter</vt:lpstr>
      <vt:lpstr>Jitter</vt:lpstr>
      <vt:lpstr>Variance of inter-packet arrival times</vt:lpstr>
      <vt:lpstr>Latency and Jitter : Network Perspective</vt:lpstr>
      <vt:lpstr>Difference: Jitter and Latency</vt:lpstr>
      <vt:lpstr>Network Latency Estimate</vt:lpstr>
      <vt:lpstr>Network Jitter Estimate</vt:lpstr>
      <vt:lpstr>Throughput &amp; Loss</vt:lpstr>
      <vt:lpstr>Network Bandwidth/Capacity</vt:lpstr>
      <vt:lpstr>Loss</vt:lpstr>
      <vt:lpstr>Loss : Network Perspective</vt:lpstr>
      <vt:lpstr>Packet loss</vt:lpstr>
      <vt:lpstr>Throughput : Network Perspective</vt:lpstr>
      <vt:lpstr>Throughput : Network Perspective</vt:lpstr>
      <vt:lpstr>Throughput</vt:lpstr>
      <vt:lpstr>Throughput (more)</vt:lpstr>
      <vt:lpstr>STATE OF THE INTERNET</vt:lpstr>
      <vt:lpstr>Bandwidth and Latency: Wired</vt:lpstr>
      <vt:lpstr>Bandwidth and Latency: Wireless</vt:lpstr>
      <vt:lpstr>Effect of distance on throughput and download times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Gde</cp:lastModifiedBy>
  <cp:revision>47</cp:revision>
  <dcterms:created xsi:type="dcterms:W3CDTF">2022-08-25T13:17:53Z</dcterms:created>
  <dcterms:modified xsi:type="dcterms:W3CDTF">2025-10-21T09:51:44Z</dcterms:modified>
</cp:coreProperties>
</file>