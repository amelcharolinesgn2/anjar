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73" r:id="rId2"/>
  </p:sldMasterIdLst>
  <p:notesMasterIdLst>
    <p:notesMasterId r:id="rId142"/>
  </p:notesMasterIdLst>
  <p:handoutMasterIdLst>
    <p:handoutMasterId r:id="rId143"/>
  </p:handoutMasterIdLst>
  <p:sldIdLst>
    <p:sldId id="484" r:id="rId3"/>
    <p:sldId id="426" r:id="rId4"/>
    <p:sldId id="427" r:id="rId5"/>
    <p:sldId id="428" r:id="rId6"/>
    <p:sldId id="429" r:id="rId7"/>
    <p:sldId id="430" r:id="rId8"/>
    <p:sldId id="431" r:id="rId9"/>
    <p:sldId id="432" r:id="rId10"/>
    <p:sldId id="433" r:id="rId11"/>
    <p:sldId id="434" r:id="rId12"/>
    <p:sldId id="435" r:id="rId13"/>
    <p:sldId id="436" r:id="rId14"/>
    <p:sldId id="437" r:id="rId15"/>
    <p:sldId id="438" r:id="rId16"/>
    <p:sldId id="439" r:id="rId17"/>
    <p:sldId id="440" r:id="rId18"/>
    <p:sldId id="441" r:id="rId19"/>
    <p:sldId id="442" r:id="rId20"/>
    <p:sldId id="443" r:id="rId21"/>
    <p:sldId id="444" r:id="rId22"/>
    <p:sldId id="445" r:id="rId23"/>
    <p:sldId id="446" r:id="rId24"/>
    <p:sldId id="447" r:id="rId25"/>
    <p:sldId id="448" r:id="rId26"/>
    <p:sldId id="449" r:id="rId27"/>
    <p:sldId id="450" r:id="rId28"/>
    <p:sldId id="451" r:id="rId29"/>
    <p:sldId id="452" r:id="rId30"/>
    <p:sldId id="453" r:id="rId31"/>
    <p:sldId id="454" r:id="rId32"/>
    <p:sldId id="455" r:id="rId33"/>
    <p:sldId id="456" r:id="rId34"/>
    <p:sldId id="457" r:id="rId35"/>
    <p:sldId id="458" r:id="rId36"/>
    <p:sldId id="459" r:id="rId37"/>
    <p:sldId id="460" r:id="rId38"/>
    <p:sldId id="461" r:id="rId39"/>
    <p:sldId id="462" r:id="rId40"/>
    <p:sldId id="463" r:id="rId41"/>
    <p:sldId id="464" r:id="rId42"/>
    <p:sldId id="465" r:id="rId43"/>
    <p:sldId id="466" r:id="rId44"/>
    <p:sldId id="467" r:id="rId45"/>
    <p:sldId id="468" r:id="rId46"/>
    <p:sldId id="469" r:id="rId47"/>
    <p:sldId id="470" r:id="rId48"/>
    <p:sldId id="471" r:id="rId49"/>
    <p:sldId id="472" r:id="rId50"/>
    <p:sldId id="473" r:id="rId51"/>
    <p:sldId id="474" r:id="rId52"/>
    <p:sldId id="475" r:id="rId53"/>
    <p:sldId id="476" r:id="rId54"/>
    <p:sldId id="477" r:id="rId55"/>
    <p:sldId id="478" r:id="rId56"/>
    <p:sldId id="479" r:id="rId57"/>
    <p:sldId id="480" r:id="rId58"/>
    <p:sldId id="481" r:id="rId59"/>
    <p:sldId id="482" r:id="rId60"/>
    <p:sldId id="483" r:id="rId61"/>
    <p:sldId id="344" r:id="rId62"/>
    <p:sldId id="345" r:id="rId63"/>
    <p:sldId id="346" r:id="rId64"/>
    <p:sldId id="347" r:id="rId65"/>
    <p:sldId id="349" r:id="rId66"/>
    <p:sldId id="348" r:id="rId67"/>
    <p:sldId id="350" r:id="rId68"/>
    <p:sldId id="351" r:id="rId69"/>
    <p:sldId id="352" r:id="rId70"/>
    <p:sldId id="353" r:id="rId71"/>
    <p:sldId id="354" r:id="rId72"/>
    <p:sldId id="357" r:id="rId73"/>
    <p:sldId id="358" r:id="rId74"/>
    <p:sldId id="359" r:id="rId75"/>
    <p:sldId id="360" r:id="rId76"/>
    <p:sldId id="361" r:id="rId77"/>
    <p:sldId id="362" r:id="rId78"/>
    <p:sldId id="363" r:id="rId79"/>
    <p:sldId id="364" r:id="rId80"/>
    <p:sldId id="365" r:id="rId81"/>
    <p:sldId id="366" r:id="rId82"/>
    <p:sldId id="367" r:id="rId83"/>
    <p:sldId id="368" r:id="rId84"/>
    <p:sldId id="369" r:id="rId85"/>
    <p:sldId id="371" r:id="rId86"/>
    <p:sldId id="370" r:id="rId87"/>
    <p:sldId id="372" r:id="rId88"/>
    <p:sldId id="374" r:id="rId89"/>
    <p:sldId id="373" r:id="rId90"/>
    <p:sldId id="375" r:id="rId91"/>
    <p:sldId id="379" r:id="rId92"/>
    <p:sldId id="376" r:id="rId93"/>
    <p:sldId id="377" r:id="rId94"/>
    <p:sldId id="378" r:id="rId95"/>
    <p:sldId id="381" r:id="rId96"/>
    <p:sldId id="380" r:id="rId97"/>
    <p:sldId id="382" r:id="rId98"/>
    <p:sldId id="383" r:id="rId99"/>
    <p:sldId id="384" r:id="rId100"/>
    <p:sldId id="385" r:id="rId101"/>
    <p:sldId id="336" r:id="rId102"/>
    <p:sldId id="337" r:id="rId103"/>
    <p:sldId id="338" r:id="rId104"/>
    <p:sldId id="339" r:id="rId105"/>
    <p:sldId id="341" r:id="rId106"/>
    <p:sldId id="386" r:id="rId107"/>
    <p:sldId id="388" r:id="rId108"/>
    <p:sldId id="387" r:id="rId109"/>
    <p:sldId id="389" r:id="rId110"/>
    <p:sldId id="390" r:id="rId111"/>
    <p:sldId id="391" r:id="rId112"/>
    <p:sldId id="392" r:id="rId113"/>
    <p:sldId id="393" r:id="rId114"/>
    <p:sldId id="394" r:id="rId115"/>
    <p:sldId id="395" r:id="rId116"/>
    <p:sldId id="396" r:id="rId117"/>
    <p:sldId id="398" r:id="rId118"/>
    <p:sldId id="397" r:id="rId119"/>
    <p:sldId id="399" r:id="rId120"/>
    <p:sldId id="400" r:id="rId121"/>
    <p:sldId id="401" r:id="rId122"/>
    <p:sldId id="402" r:id="rId123"/>
    <p:sldId id="403" r:id="rId124"/>
    <p:sldId id="404" r:id="rId125"/>
    <p:sldId id="405" r:id="rId126"/>
    <p:sldId id="407" r:id="rId127"/>
    <p:sldId id="409" r:id="rId128"/>
    <p:sldId id="406" r:id="rId129"/>
    <p:sldId id="408" r:id="rId130"/>
    <p:sldId id="417" r:id="rId131"/>
    <p:sldId id="413" r:id="rId132"/>
    <p:sldId id="411" r:id="rId133"/>
    <p:sldId id="412" r:id="rId134"/>
    <p:sldId id="422" r:id="rId135"/>
    <p:sldId id="419" r:id="rId136"/>
    <p:sldId id="420" r:id="rId137"/>
    <p:sldId id="421" r:id="rId138"/>
    <p:sldId id="423" r:id="rId139"/>
    <p:sldId id="424" r:id="rId140"/>
    <p:sldId id="418" r:id="rId141"/>
  </p:sldIdLst>
  <p:sldSz cx="12192000" cy="6858000"/>
  <p:notesSz cx="6858000" cy="9144000"/>
  <p:defaultTextStyle>
    <a:defPPr>
      <a:defRPr lang="en-US"/>
    </a:defPPr>
    <a:lvl1pPr algn="ctr" rtl="0" eaLnBrk="0" fontAlgn="base" hangingPunct="0">
      <a:lnSpc>
        <a:spcPct val="90000"/>
      </a:lnSpc>
      <a:spcBef>
        <a:spcPct val="0"/>
      </a:spcBef>
      <a:spcAft>
        <a:spcPct val="0"/>
      </a:spcAft>
      <a:defRPr sz="2400" kern="1200">
        <a:solidFill>
          <a:schemeClr val="tx1"/>
        </a:solidFill>
        <a:latin typeface="Arial" pitchFamily="1" charset="0"/>
        <a:ea typeface="+mn-ea"/>
        <a:cs typeface="+mn-cs"/>
      </a:defRPr>
    </a:lvl1pPr>
    <a:lvl2pPr marL="457200" algn="ctr" rtl="0" eaLnBrk="0" fontAlgn="base" hangingPunct="0">
      <a:lnSpc>
        <a:spcPct val="90000"/>
      </a:lnSpc>
      <a:spcBef>
        <a:spcPct val="0"/>
      </a:spcBef>
      <a:spcAft>
        <a:spcPct val="0"/>
      </a:spcAft>
      <a:defRPr sz="2400" kern="1200">
        <a:solidFill>
          <a:schemeClr val="tx1"/>
        </a:solidFill>
        <a:latin typeface="Arial" pitchFamily="1" charset="0"/>
        <a:ea typeface="+mn-ea"/>
        <a:cs typeface="+mn-cs"/>
      </a:defRPr>
    </a:lvl2pPr>
    <a:lvl3pPr marL="914400" algn="ctr" rtl="0" eaLnBrk="0" fontAlgn="base" hangingPunct="0">
      <a:lnSpc>
        <a:spcPct val="90000"/>
      </a:lnSpc>
      <a:spcBef>
        <a:spcPct val="0"/>
      </a:spcBef>
      <a:spcAft>
        <a:spcPct val="0"/>
      </a:spcAft>
      <a:defRPr sz="2400" kern="1200">
        <a:solidFill>
          <a:schemeClr val="tx1"/>
        </a:solidFill>
        <a:latin typeface="Arial" pitchFamily="1" charset="0"/>
        <a:ea typeface="+mn-ea"/>
        <a:cs typeface="+mn-cs"/>
      </a:defRPr>
    </a:lvl3pPr>
    <a:lvl4pPr marL="1371600" algn="ctr" rtl="0" eaLnBrk="0" fontAlgn="base" hangingPunct="0">
      <a:lnSpc>
        <a:spcPct val="90000"/>
      </a:lnSpc>
      <a:spcBef>
        <a:spcPct val="0"/>
      </a:spcBef>
      <a:spcAft>
        <a:spcPct val="0"/>
      </a:spcAft>
      <a:defRPr sz="2400" kern="1200">
        <a:solidFill>
          <a:schemeClr val="tx1"/>
        </a:solidFill>
        <a:latin typeface="Arial" pitchFamily="1" charset="0"/>
        <a:ea typeface="+mn-ea"/>
        <a:cs typeface="+mn-cs"/>
      </a:defRPr>
    </a:lvl4pPr>
    <a:lvl5pPr marL="1828800" algn="ctr" rtl="0" eaLnBrk="0" fontAlgn="base" hangingPunct="0">
      <a:lnSpc>
        <a:spcPct val="90000"/>
      </a:lnSpc>
      <a:spcBef>
        <a:spcPct val="0"/>
      </a:spcBef>
      <a:spcAft>
        <a:spcPct val="0"/>
      </a:spcAft>
      <a:defRPr sz="2400" kern="1200">
        <a:solidFill>
          <a:schemeClr val="tx1"/>
        </a:solidFill>
        <a:latin typeface="Arial" pitchFamily="1" charset="0"/>
        <a:ea typeface="+mn-ea"/>
        <a:cs typeface="+mn-cs"/>
      </a:defRPr>
    </a:lvl5pPr>
    <a:lvl6pPr marL="2286000" algn="l" defTabSz="457200" rtl="0" eaLnBrk="1" latinLnBrk="0" hangingPunct="1">
      <a:defRPr sz="2400" kern="1200">
        <a:solidFill>
          <a:schemeClr val="tx1"/>
        </a:solidFill>
        <a:latin typeface="Arial" pitchFamily="1" charset="0"/>
        <a:ea typeface="+mn-ea"/>
        <a:cs typeface="+mn-cs"/>
      </a:defRPr>
    </a:lvl6pPr>
    <a:lvl7pPr marL="2743200" algn="l" defTabSz="457200" rtl="0" eaLnBrk="1" latinLnBrk="0" hangingPunct="1">
      <a:defRPr sz="2400" kern="1200">
        <a:solidFill>
          <a:schemeClr val="tx1"/>
        </a:solidFill>
        <a:latin typeface="Arial" pitchFamily="1" charset="0"/>
        <a:ea typeface="+mn-ea"/>
        <a:cs typeface="+mn-cs"/>
      </a:defRPr>
    </a:lvl7pPr>
    <a:lvl8pPr marL="3200400" algn="l" defTabSz="457200" rtl="0" eaLnBrk="1" latinLnBrk="0" hangingPunct="1">
      <a:defRPr sz="2400" kern="1200">
        <a:solidFill>
          <a:schemeClr val="tx1"/>
        </a:solidFill>
        <a:latin typeface="Arial" pitchFamily="1" charset="0"/>
        <a:ea typeface="+mn-ea"/>
        <a:cs typeface="+mn-cs"/>
      </a:defRPr>
    </a:lvl8pPr>
    <a:lvl9pPr marL="3657600" algn="l" defTabSz="457200" rtl="0" eaLnBrk="1" latinLnBrk="0" hangingPunct="1">
      <a:defRPr sz="2400" kern="1200">
        <a:solidFill>
          <a:schemeClr val="tx1"/>
        </a:solidFill>
        <a:latin typeface="Arial" pitchFamily="1"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36B8"/>
    <a:srgbClr val="5A2785"/>
    <a:srgbClr val="86DCFE"/>
    <a:srgbClr val="CC3399"/>
    <a:srgbClr val="FF3399"/>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7" autoAdjust="0"/>
    <p:restoredTop sz="92227" autoAdjust="0"/>
  </p:normalViewPr>
  <p:slideViewPr>
    <p:cSldViewPr>
      <p:cViewPr>
        <p:scale>
          <a:sx n="100" d="100"/>
          <a:sy n="100" d="100"/>
        </p:scale>
        <p:origin x="954" y="228"/>
      </p:cViewPr>
      <p:guideLst>
        <p:guide orient="horz" pos="2160"/>
        <p:guide pos="384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514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slide" Target="slides/slide1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defRPr sz="1200" smtClean="0">
                <a:latin typeface="Arial" charset="0"/>
              </a:defRPr>
            </a:lvl1pPr>
          </a:lstStyle>
          <a:p>
            <a:pPr>
              <a:defRPr/>
            </a:pPr>
            <a:endParaRPr lang="en-US"/>
          </a:p>
        </p:txBody>
      </p:sp>
      <p:sp>
        <p:nvSpPr>
          <p:cNvPr id="3481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defRPr sz="1200" smtClean="0">
                <a:latin typeface="Arial" charset="0"/>
              </a:defRPr>
            </a:lvl1pPr>
          </a:lstStyle>
          <a:p>
            <a:pPr>
              <a:defRPr/>
            </a:pPr>
            <a:endParaRPr lang="en-US"/>
          </a:p>
        </p:txBody>
      </p:sp>
      <p:sp>
        <p:nvSpPr>
          <p:cNvPr id="3482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defRPr sz="1200" smtClean="0">
                <a:latin typeface="Arial" charset="0"/>
              </a:defRPr>
            </a:lvl1pPr>
          </a:lstStyle>
          <a:p>
            <a:pPr>
              <a:defRPr/>
            </a:pPr>
            <a:endParaRPr lang="en-US"/>
          </a:p>
        </p:txBody>
      </p:sp>
      <p:sp>
        <p:nvSpPr>
          <p:cNvPr id="3482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defRPr sz="1200"/>
            </a:lvl1pPr>
          </a:lstStyle>
          <a:p>
            <a:fld id="{101AB4C6-0383-F940-B865-7F2DEF5B1326}"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defRPr sz="1200" smtClean="0">
                <a:latin typeface="Arial" charset="0"/>
              </a:defRPr>
            </a:lvl1pPr>
          </a:lstStyle>
          <a:p>
            <a:pPr>
              <a:defRPr/>
            </a:pPr>
            <a:endParaRPr lang="en-US"/>
          </a:p>
        </p:txBody>
      </p:sp>
      <p:sp>
        <p:nvSpPr>
          <p:cNvPr id="1945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defRPr sz="1200" smtClean="0">
                <a:latin typeface="Arial" charset="0"/>
              </a:defRPr>
            </a:lvl1pPr>
          </a:lstStyle>
          <a:p>
            <a:pPr>
              <a:defRPr/>
            </a:pPr>
            <a:endParaRPr lang="en-US"/>
          </a:p>
        </p:txBody>
      </p:sp>
      <p:sp>
        <p:nvSpPr>
          <p:cNvPr id="8602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946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defRPr sz="1200" smtClean="0">
                <a:latin typeface="Arial" charset="0"/>
              </a:defRPr>
            </a:lvl1pPr>
          </a:lstStyle>
          <a:p>
            <a:pPr>
              <a:defRPr/>
            </a:pPr>
            <a:endParaRPr lang="en-US"/>
          </a:p>
        </p:txBody>
      </p:sp>
      <p:sp>
        <p:nvSpPr>
          <p:cNvPr id="1946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defRPr sz="1200"/>
            </a:lvl1pPr>
          </a:lstStyle>
          <a:p>
            <a:fld id="{533C74C9-D69A-BB42-A3BA-0CB67941AC2D}"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33C74C9-D69A-BB42-A3BA-0CB67941AC2D}" type="slidenum">
              <a:rPr lang="en-US" smtClean="0"/>
              <a:pPr/>
              <a:t>1</a:t>
            </a:fld>
            <a:endParaRPr lang="en-US"/>
          </a:p>
        </p:txBody>
      </p:sp>
    </p:spTree>
    <p:extLst>
      <p:ext uri="{BB962C8B-B14F-4D97-AF65-F5344CB8AC3E}">
        <p14:creationId xmlns:p14="http://schemas.microsoft.com/office/powerpoint/2010/main" val="3547144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93D84C49-80E7-5449-93AB-3F6E0136656F}" type="slidenum">
              <a:rPr lang="en-US"/>
              <a:pPr/>
              <a:t>2</a:t>
            </a:fld>
            <a:endParaRPr lang="en-US"/>
          </a:p>
        </p:txBody>
      </p:sp>
      <p:sp>
        <p:nvSpPr>
          <p:cNvPr id="17411" name="Rectangle 2"/>
          <p:cNvSpPr>
            <a:spLocks noGrp="1" noRot="1" noChangeAspect="1" noChangeArrowheads="1" noTextEdit="1"/>
          </p:cNvSpPr>
          <p:nvPr>
            <p:ph type="sldImg"/>
          </p:nvPr>
        </p:nvSpPr>
        <p:spPr>
          <a:xfrm>
            <a:off x="381000" y="685800"/>
            <a:ext cx="6096000" cy="3429000"/>
          </a:xfrm>
          <a:ln/>
        </p:spPr>
      </p:sp>
      <p:sp>
        <p:nvSpPr>
          <p:cNvPr id="17412" name="Rectangle 3"/>
          <p:cNvSpPr>
            <a:spLocks noGrp="1" noChangeArrowheads="1"/>
          </p:cNvSpPr>
          <p:nvPr>
            <p:ph type="body" idx="1"/>
          </p:nvPr>
        </p:nvSpPr>
        <p:spPr>
          <a:noFill/>
          <a:ln/>
        </p:spPr>
        <p:txBody>
          <a:bodyPr/>
          <a:lstStyle/>
          <a:p>
            <a:pPr eaLnBrk="1" hangingPunct="1"/>
            <a:r>
              <a:rPr lang="en-US">
                <a:latin typeface="Arial" pitchFamily="1" charset="0"/>
              </a:rPr>
              <a:t>b</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76EC1249-171E-B14A-B43E-3BD1D3BC70FB}" type="slidenum">
              <a:rPr lang="en-US"/>
              <a:pPr/>
              <a:t>3</a:t>
            </a:fld>
            <a:endParaRPr lang="en-US"/>
          </a:p>
        </p:txBody>
      </p:sp>
      <p:sp>
        <p:nvSpPr>
          <p:cNvPr id="19459" name="Rectangle 2"/>
          <p:cNvSpPr>
            <a:spLocks noGrp="1" noRot="1" noChangeAspect="1" noChangeArrowheads="1" noTextEdit="1"/>
          </p:cNvSpPr>
          <p:nvPr>
            <p:ph type="sldImg"/>
          </p:nvPr>
        </p:nvSpPr>
        <p:spPr>
          <a:xfrm>
            <a:off x="381000" y="685800"/>
            <a:ext cx="6096000" cy="3429000"/>
          </a:xfrm>
          <a:ln/>
        </p:spPr>
      </p:sp>
      <p:sp>
        <p:nvSpPr>
          <p:cNvPr id="19460" name="Rectangle 3"/>
          <p:cNvSpPr>
            <a:spLocks noGrp="1" noChangeArrowheads="1"/>
          </p:cNvSpPr>
          <p:nvPr>
            <p:ph type="body" idx="1"/>
          </p:nvPr>
        </p:nvSpPr>
        <p:spPr>
          <a:noFill/>
          <a:ln/>
        </p:spPr>
        <p:txBody>
          <a:bodyPr/>
          <a:lstStyle/>
          <a:p>
            <a:pPr eaLnBrk="1" hangingPunct="1"/>
            <a:r>
              <a:rPr lang="en-US">
                <a:latin typeface="Arial" pitchFamily="1" charset="0"/>
              </a:rPr>
              <a:t>The most common issue when it comes to QoS is bad design.  Typical issues from customers:</a:t>
            </a:r>
          </a:p>
          <a:p>
            <a:pPr eaLnBrk="1" hangingPunct="1"/>
            <a:endParaRPr lang="en-US">
              <a:latin typeface="Arial" pitchFamily="1" charset="0"/>
            </a:endParaRPr>
          </a:p>
          <a:p>
            <a:pPr eaLnBrk="1" hangingPunct="1">
              <a:buFontTx/>
              <a:buChar char="-"/>
            </a:pPr>
            <a:r>
              <a:rPr lang="en-US">
                <a:latin typeface="Arial" pitchFamily="1" charset="0"/>
              </a:rPr>
              <a:t>They want to use ‘QoS’ or ‘Shaping’ or ‘LLQ’, instead of having requirements for their traffic</a:t>
            </a:r>
          </a:p>
          <a:p>
            <a:pPr eaLnBrk="1" hangingPunct="1">
              <a:buFontTx/>
              <a:buChar char="-"/>
            </a:pPr>
            <a:r>
              <a:rPr lang="en-US">
                <a:latin typeface="Arial" pitchFamily="1" charset="0"/>
              </a:rPr>
              <a:t>They want QoS mechanisms to work the way they think they should work, instead of how they were designed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B4376780-56D2-BC43-B245-20FBD6F752F4}" type="slidenum">
              <a:rPr lang="en-US"/>
              <a:pPr/>
              <a:t>4</a:t>
            </a:fld>
            <a:endParaRPr lang="en-US"/>
          </a:p>
        </p:txBody>
      </p:sp>
      <p:sp>
        <p:nvSpPr>
          <p:cNvPr id="21507" name="Rectangle 2"/>
          <p:cNvSpPr>
            <a:spLocks noGrp="1" noRot="1" noChangeAspect="1" noChangeArrowheads="1" noTextEdit="1"/>
          </p:cNvSpPr>
          <p:nvPr>
            <p:ph type="sldImg"/>
          </p:nvPr>
        </p:nvSpPr>
        <p:spPr>
          <a:xfrm>
            <a:off x="381000" y="685800"/>
            <a:ext cx="6096000" cy="3429000"/>
          </a:xfrm>
          <a:ln/>
        </p:spPr>
      </p:sp>
      <p:sp>
        <p:nvSpPr>
          <p:cNvPr id="21508" name="Rectangle 3"/>
          <p:cNvSpPr>
            <a:spLocks noGrp="1" noChangeArrowheads="1"/>
          </p:cNvSpPr>
          <p:nvPr>
            <p:ph type="body" idx="1"/>
          </p:nvPr>
        </p:nvSpPr>
        <p:spPr>
          <a:noFill/>
          <a:ln/>
        </p:spPr>
        <p:txBody>
          <a:bodyPr/>
          <a:lstStyle/>
          <a:p>
            <a:pPr eaLnBrk="1" hangingPunct="1">
              <a:lnSpc>
                <a:spcPct val="90000"/>
              </a:lnSpc>
            </a:pPr>
            <a:r>
              <a:rPr lang="en-US" sz="1000">
                <a:latin typeface="Arial" pitchFamily="1" charset="0"/>
              </a:rPr>
              <a:t>Packets come in</a:t>
            </a:r>
          </a:p>
          <a:p>
            <a:pPr eaLnBrk="1" hangingPunct="1">
              <a:lnSpc>
                <a:spcPct val="90000"/>
              </a:lnSpc>
            </a:pPr>
            <a:endParaRPr lang="en-US" sz="1000">
              <a:latin typeface="Arial" pitchFamily="1" charset="0"/>
            </a:endParaRPr>
          </a:p>
          <a:p>
            <a:pPr eaLnBrk="1" hangingPunct="1">
              <a:lnSpc>
                <a:spcPct val="90000"/>
              </a:lnSpc>
            </a:pPr>
            <a:r>
              <a:rPr lang="en-US" sz="1000">
                <a:latin typeface="Arial" pitchFamily="1" charset="0"/>
              </a:rPr>
              <a:t>They are classified first.</a:t>
            </a:r>
          </a:p>
          <a:p>
            <a:pPr eaLnBrk="1" hangingPunct="1">
              <a:lnSpc>
                <a:spcPct val="90000"/>
              </a:lnSpc>
            </a:pPr>
            <a:endParaRPr lang="en-US" sz="1000">
              <a:latin typeface="Arial" pitchFamily="1" charset="0"/>
            </a:endParaRPr>
          </a:p>
          <a:p>
            <a:pPr eaLnBrk="1" hangingPunct="1">
              <a:lnSpc>
                <a:spcPct val="90000"/>
              </a:lnSpc>
            </a:pPr>
            <a:r>
              <a:rPr lang="en-US" sz="1000">
                <a:latin typeface="Arial" pitchFamily="1" charset="0"/>
              </a:rPr>
              <a:t>Then if there are buffers left on the tx-ring and no packets in the queue, they are moved on the ring and from there will get to the wire (FIFO).</a:t>
            </a:r>
          </a:p>
          <a:p>
            <a:pPr eaLnBrk="1" hangingPunct="1">
              <a:lnSpc>
                <a:spcPct val="90000"/>
              </a:lnSpc>
            </a:pPr>
            <a:r>
              <a:rPr lang="en-US" sz="1000">
                <a:latin typeface="Arial" pitchFamily="1" charset="0"/>
              </a:rPr>
              <a:t>If not the queuing algorithm decides in which queue they will go.</a:t>
            </a:r>
          </a:p>
          <a:p>
            <a:pPr eaLnBrk="1" hangingPunct="1">
              <a:lnSpc>
                <a:spcPct val="90000"/>
              </a:lnSpc>
            </a:pPr>
            <a:r>
              <a:rPr lang="en-US" sz="1000">
                <a:latin typeface="Arial" pitchFamily="1" charset="0"/>
              </a:rPr>
              <a:t>If the queues are full, one packet will be dropped.  Might be the one coming in, might be another one depending on the results of the WFQ algorithm.</a:t>
            </a:r>
          </a:p>
          <a:p>
            <a:pPr eaLnBrk="1" hangingPunct="1">
              <a:lnSpc>
                <a:spcPct val="90000"/>
              </a:lnSpc>
            </a:pPr>
            <a:endParaRPr lang="en-US" sz="1000">
              <a:latin typeface="Arial" pitchFamily="1" charset="0"/>
            </a:endParaRPr>
          </a:p>
          <a:p>
            <a:pPr eaLnBrk="1" hangingPunct="1">
              <a:lnSpc>
                <a:spcPct val="90000"/>
              </a:lnSpc>
            </a:pPr>
            <a:r>
              <a:rPr lang="en-US" sz="1000">
                <a:latin typeface="Arial" pitchFamily="1" charset="0"/>
              </a:rPr>
              <a:t>If packets are present in the queues, the scheduler takes the next one according to the configured algorithm: </a:t>
            </a:r>
          </a:p>
          <a:p>
            <a:pPr eaLnBrk="1" hangingPunct="1">
              <a:lnSpc>
                <a:spcPct val="90000"/>
              </a:lnSpc>
            </a:pPr>
            <a:endParaRPr lang="en-US" sz="1000">
              <a:latin typeface="Arial" pitchFamily="1" charset="0"/>
            </a:endParaRPr>
          </a:p>
          <a:p>
            <a:pPr eaLnBrk="1" hangingPunct="1">
              <a:lnSpc>
                <a:spcPct val="90000"/>
              </a:lnSpc>
            </a:pPr>
            <a:r>
              <a:rPr lang="en-US" sz="1000">
                <a:latin typeface="Arial" pitchFamily="1" charset="0"/>
              </a:rPr>
              <a:t>LLQ first.</a:t>
            </a:r>
          </a:p>
          <a:p>
            <a:pPr eaLnBrk="1" hangingPunct="1">
              <a:lnSpc>
                <a:spcPct val="90000"/>
              </a:lnSpc>
            </a:pPr>
            <a:r>
              <a:rPr lang="en-US" sz="1000">
                <a:latin typeface="Arial" pitchFamily="1" charset="0"/>
              </a:rPr>
              <a:t>Then the other queues according to the weight assigned to them.</a:t>
            </a:r>
          </a:p>
          <a:p>
            <a:pPr eaLnBrk="1" hangingPunct="1">
              <a:lnSpc>
                <a:spcPct val="90000"/>
              </a:lnSpc>
            </a:pPr>
            <a:endParaRPr lang="en-US" sz="1000">
              <a:latin typeface="Arial" pitchFamily="1" charset="0"/>
            </a:endParaRPr>
          </a:p>
          <a:p>
            <a:pPr eaLnBrk="1" hangingPunct="1">
              <a:lnSpc>
                <a:spcPct val="90000"/>
              </a:lnSpc>
            </a:pPr>
            <a:r>
              <a:rPr lang="en-US" sz="1000">
                <a:latin typeface="Arial" pitchFamily="1" charset="0"/>
              </a:rPr>
              <a:t>To prevent LLQ from starving other classes, a policer is applied to drop packets if we reach the maximum configured rate</a:t>
            </a:r>
          </a:p>
          <a:p>
            <a:pPr eaLnBrk="1" hangingPunct="1">
              <a:lnSpc>
                <a:spcPct val="90000"/>
              </a:lnSpc>
            </a:pPr>
            <a:endParaRPr lang="en-US" sz="1000">
              <a:latin typeface="Arial" pitchFamily="1" charset="0"/>
            </a:endParaRPr>
          </a:p>
          <a:p>
            <a:pPr eaLnBrk="1" hangingPunct="1">
              <a:lnSpc>
                <a:spcPct val="90000"/>
              </a:lnSpc>
            </a:pPr>
            <a:r>
              <a:rPr lang="en-US" sz="1000">
                <a:latin typeface="Arial" pitchFamily="1" charset="0"/>
              </a:rPr>
              <a:t>WRED does earl random drops in the queues to prevent TCP synchronisation</a:t>
            </a:r>
          </a:p>
          <a:p>
            <a:pPr eaLnBrk="1" hangingPunct="1">
              <a:lnSpc>
                <a:spcPct val="90000"/>
              </a:lnSpc>
            </a:pPr>
            <a:endParaRPr lang="en-US" sz="1000">
              <a:latin typeface="Arial" pitchFamily="1" charset="0"/>
            </a:endParaRPr>
          </a:p>
          <a:p>
            <a:pPr eaLnBrk="1" hangingPunct="1">
              <a:lnSpc>
                <a:spcPct val="90000"/>
              </a:lnSpc>
            </a:pPr>
            <a:r>
              <a:rPr lang="en-US" sz="1000">
                <a:latin typeface="Arial" pitchFamily="1" charset="0"/>
              </a:rPr>
              <a:t>A shaper can replace the tx-ring if we want to whole thing to be lower that the wire speed</a:t>
            </a:r>
          </a:p>
          <a:p>
            <a:pPr eaLnBrk="1" hangingPunct="1">
              <a:lnSpc>
                <a:spcPct val="90000"/>
              </a:lnSpc>
            </a:pPr>
            <a:r>
              <a:rPr lang="en-US" sz="1000">
                <a:latin typeface="Arial" pitchFamily="1" charset="0"/>
              </a:rPr>
              <a:t>The shaper can be assigned directly to a queue as well.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1C589942-24BF-2B4B-BB9A-B6F69EC0422A}" type="slidenum">
              <a:rPr lang="en-US"/>
              <a:pPr/>
              <a:t>5</a:t>
            </a:fld>
            <a:endParaRPr lang="en-US"/>
          </a:p>
        </p:txBody>
      </p:sp>
      <p:sp>
        <p:nvSpPr>
          <p:cNvPr id="23555" name="Rectangle 2"/>
          <p:cNvSpPr>
            <a:spLocks noGrp="1" noRot="1" noChangeAspect="1" noChangeArrowheads="1" noTextEdit="1"/>
          </p:cNvSpPr>
          <p:nvPr>
            <p:ph type="sldImg"/>
          </p:nvPr>
        </p:nvSpPr>
        <p:spPr>
          <a:xfrm>
            <a:off x="381000" y="685800"/>
            <a:ext cx="6096000" cy="3429000"/>
          </a:xfrm>
          <a:ln/>
        </p:spPr>
      </p:sp>
      <p:sp>
        <p:nvSpPr>
          <p:cNvPr id="23556" name="Rectangle 3"/>
          <p:cNvSpPr>
            <a:spLocks noGrp="1" noChangeArrowheads="1"/>
          </p:cNvSpPr>
          <p:nvPr>
            <p:ph type="body" idx="1"/>
          </p:nvPr>
        </p:nvSpPr>
        <p:spPr>
          <a:noFill/>
          <a:ln/>
        </p:spPr>
        <p:txBody>
          <a:bodyPr/>
          <a:lstStyle/>
          <a:p>
            <a:pPr eaLnBrk="1" hangingPunct="1"/>
            <a:r>
              <a:rPr lang="en-US">
                <a:latin typeface="Arial" pitchFamily="1" charset="0"/>
              </a:rPr>
              <a:t>So here is how the QoS we applied at the entrance of the Nightclub would look like when configured on the router.</a:t>
            </a:r>
          </a:p>
          <a:p>
            <a:pPr eaLnBrk="1" hangingPunct="1"/>
            <a:r>
              <a:rPr lang="en-US">
                <a:latin typeface="Arial" pitchFamily="1" charset="0"/>
              </a:rPr>
              <a:t>The command used to display this is ‘show policy-map interface’, which is your number one troubleshooting tool when working on QoS related problems.</a:t>
            </a:r>
          </a:p>
          <a:p>
            <a:pPr eaLnBrk="1" hangingPunct="1"/>
            <a:r>
              <a:rPr lang="en-US">
                <a:latin typeface="Arial" pitchFamily="1" charset="0"/>
              </a:rPr>
              <a:t>Colors match the ‘toon character’ performing the related task.</a:t>
            </a:r>
          </a:p>
          <a:p>
            <a:pPr eaLnBrk="1" hangingPunct="1"/>
            <a:endParaRPr lang="en-US">
              <a:latin typeface="Arial" pitchFamily="1" charset="0"/>
            </a:endParaRPr>
          </a:p>
          <a:p>
            <a:pPr eaLnBrk="1" hangingPunct="1"/>
            <a:r>
              <a:rPr lang="en-US">
                <a:latin typeface="Arial" pitchFamily="1" charset="0"/>
              </a:rPr>
              <a:t>Already notice two counters, packets (pink) and pkts matched (yellow), where on represents the customer Anna saw (that is: all of them), while the other were queued by Bob (only when entrance was full)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9384BB18-4F1B-1E4A-8D5A-830B6904C374}" type="slidenum">
              <a:rPr lang="en-US"/>
              <a:pPr/>
              <a:t>8</a:t>
            </a:fld>
            <a:endParaRPr lang="en-US"/>
          </a:p>
        </p:txBody>
      </p:sp>
      <p:sp>
        <p:nvSpPr>
          <p:cNvPr id="27651" name="Rectangle 2"/>
          <p:cNvSpPr>
            <a:spLocks noGrp="1" noRot="1" noChangeAspect="1" noChangeArrowheads="1" noTextEdit="1"/>
          </p:cNvSpPr>
          <p:nvPr>
            <p:ph type="sldImg"/>
          </p:nvPr>
        </p:nvSpPr>
        <p:spPr>
          <a:xfrm>
            <a:off x="381000" y="685800"/>
            <a:ext cx="6096000" cy="3429000"/>
          </a:xfrm>
          <a:ln/>
        </p:spPr>
      </p:sp>
      <p:sp>
        <p:nvSpPr>
          <p:cNvPr id="27652" name="Rectangle 3"/>
          <p:cNvSpPr>
            <a:spLocks noGrp="1" noChangeArrowheads="1"/>
          </p:cNvSpPr>
          <p:nvPr>
            <p:ph type="body" idx="1"/>
          </p:nvPr>
        </p:nvSpPr>
        <p:spPr>
          <a:noFill/>
          <a:ln/>
        </p:spPr>
        <p:txBody>
          <a:bodyPr/>
          <a:lstStyle/>
          <a:p>
            <a:pPr eaLnBrk="1" hangingPunct="1"/>
            <a:r>
              <a:rPr lang="en-US">
                <a:latin typeface="Arial" pitchFamily="1" charset="0"/>
              </a:rPr>
              <a:t>Let’s quickly explain the first two, and spend some more time on the last 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B4F59629-5590-DB45-B172-D8DA91AAB6B8}" type="slidenum">
              <a:rPr lang="en-US"/>
              <a:pPr/>
              <a:t>11</a:t>
            </a:fld>
            <a:endParaRPr lang="en-US"/>
          </a:p>
        </p:txBody>
      </p:sp>
      <p:sp>
        <p:nvSpPr>
          <p:cNvPr id="31747" name="Rectangle 2"/>
          <p:cNvSpPr>
            <a:spLocks noGrp="1" noRot="1" noChangeAspect="1" noChangeArrowheads="1" noTextEdit="1"/>
          </p:cNvSpPr>
          <p:nvPr>
            <p:ph type="sldImg"/>
          </p:nvPr>
        </p:nvSpPr>
        <p:spPr>
          <a:xfrm>
            <a:off x="381000" y="685800"/>
            <a:ext cx="6096000" cy="3429000"/>
          </a:xfrm>
          <a:ln/>
        </p:spPr>
      </p:sp>
      <p:sp>
        <p:nvSpPr>
          <p:cNvPr id="31748" name="Rectangle 3"/>
          <p:cNvSpPr>
            <a:spLocks noGrp="1" noChangeArrowheads="1"/>
          </p:cNvSpPr>
          <p:nvPr>
            <p:ph type="body" idx="1"/>
          </p:nvPr>
        </p:nvSpPr>
        <p:spPr>
          <a:noFill/>
          <a:ln/>
        </p:spPr>
        <p:txBody>
          <a:bodyPr/>
          <a:lstStyle/>
          <a:p>
            <a:pPr eaLnBrk="1" hangingPunct="1"/>
            <a:r>
              <a:rPr lang="en-US">
                <a:latin typeface="Arial" pitchFamily="1" charset="0"/>
              </a:rPr>
              <a:t>The most popular model, let’s look at how we standardized those policies to make it work end to end.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BB559FC3-93FF-FA49-AEA5-6E9379A211D0}" type="slidenum">
              <a:rPr lang="en-US"/>
              <a:pPr/>
              <a:t>12</a:t>
            </a:fld>
            <a:endParaRPr lang="en-US"/>
          </a:p>
        </p:txBody>
      </p:sp>
      <p:sp>
        <p:nvSpPr>
          <p:cNvPr id="33795" name="Rectangle 2"/>
          <p:cNvSpPr>
            <a:spLocks noGrp="1" noRot="1" noChangeAspect="1" noChangeArrowheads="1" noTextEdit="1"/>
          </p:cNvSpPr>
          <p:nvPr>
            <p:ph type="sldImg"/>
          </p:nvPr>
        </p:nvSpPr>
        <p:spPr>
          <a:xfrm>
            <a:off x="381000" y="685800"/>
            <a:ext cx="6096000" cy="3429000"/>
          </a:xfrm>
          <a:ln/>
        </p:spPr>
      </p:sp>
      <p:sp>
        <p:nvSpPr>
          <p:cNvPr id="33796" name="Rectangle 3"/>
          <p:cNvSpPr>
            <a:spLocks noGrp="1" noChangeArrowheads="1"/>
          </p:cNvSpPr>
          <p:nvPr>
            <p:ph type="body" idx="1"/>
          </p:nvPr>
        </p:nvSpPr>
        <p:spPr>
          <a:noFill/>
          <a:ln/>
        </p:spPr>
        <p:txBody>
          <a:bodyPr/>
          <a:lstStyle/>
          <a:p>
            <a:pPr eaLnBrk="1" hangingPunct="1"/>
            <a:r>
              <a:rPr lang="en-US">
                <a:latin typeface="Arial" pitchFamily="1" charset="0"/>
              </a:rPr>
              <a:t>DiffServ Domain: on portion of network controlled by one authority where DiffServ is applied as QoS Service Model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6D7BF3E5-2C28-3145-AC7D-EC5FE88879C4}" type="slidenum">
              <a:rPr lang="en-US"/>
              <a:pPr/>
              <a:t>14</a:t>
            </a:fld>
            <a:endParaRPr lang="en-US"/>
          </a:p>
        </p:txBody>
      </p:sp>
      <p:sp>
        <p:nvSpPr>
          <p:cNvPr id="36867" name="Rectangle 2"/>
          <p:cNvSpPr>
            <a:spLocks noGrp="1" noRot="1" noChangeAspect="1" noChangeArrowheads="1" noTextEdit="1"/>
          </p:cNvSpPr>
          <p:nvPr>
            <p:ph type="sldImg"/>
          </p:nvPr>
        </p:nvSpPr>
        <p:spPr>
          <a:xfrm>
            <a:off x="381000" y="685800"/>
            <a:ext cx="6096000" cy="3429000"/>
          </a:xfrm>
          <a:ln/>
        </p:spPr>
      </p:sp>
      <p:sp>
        <p:nvSpPr>
          <p:cNvPr id="36868" name="Rectangle 3"/>
          <p:cNvSpPr>
            <a:spLocks noGrp="1" noChangeArrowheads="1"/>
          </p:cNvSpPr>
          <p:nvPr>
            <p:ph type="body" idx="1"/>
          </p:nvPr>
        </p:nvSpPr>
        <p:spPr>
          <a:noFill/>
          <a:ln/>
        </p:spPr>
        <p:txBody>
          <a:bodyPr/>
          <a:lstStyle/>
          <a:p>
            <a:pPr eaLnBrk="1" hangingPunct="1"/>
            <a:r>
              <a:rPr lang="en-US">
                <a:latin typeface="Arial" pitchFamily="1" charset="0"/>
              </a:rPr>
              <a:t>Defines the “</a:t>
            </a:r>
            <a:r>
              <a:rPr lang="en-US">
                <a:solidFill>
                  <a:schemeClr val="tx2"/>
                </a:solidFill>
                <a:latin typeface="Arial" pitchFamily="1" charset="0"/>
              </a:rPr>
              <a:t>Externally observable forwarding behavior</a:t>
            </a:r>
            <a:r>
              <a:rPr lang="en-US">
                <a:latin typeface="Arial" pitchFamily="1" charset="0"/>
              </a:rPr>
              <a:t>” of a DiffServ node.</a:t>
            </a:r>
          </a:p>
          <a:p>
            <a:pPr eaLnBrk="1" hangingPunct="1"/>
            <a:r>
              <a:rPr lang="en-US">
                <a:latin typeface="Arial" pitchFamily="1" charset="0"/>
              </a:rPr>
              <a:t> =&gt; loss percentage, delay, jitter, drop precedence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3C7F6D68-A82C-4348-8C1F-83BCE43DB0B4}" type="slidenum">
              <a:rPr lang="en-US"/>
              <a:pPr/>
              <a:t>15</a:t>
            </a:fld>
            <a:endParaRPr lang="en-US"/>
          </a:p>
        </p:txBody>
      </p:sp>
      <p:sp>
        <p:nvSpPr>
          <p:cNvPr id="38915" name="Rectangle 2"/>
          <p:cNvSpPr>
            <a:spLocks noGrp="1" noRot="1" noChangeAspect="1" noChangeArrowheads="1" noTextEdit="1"/>
          </p:cNvSpPr>
          <p:nvPr>
            <p:ph type="sldImg"/>
          </p:nvPr>
        </p:nvSpPr>
        <p:spPr>
          <a:xfrm>
            <a:off x="-80963" y="244475"/>
            <a:ext cx="7127876" cy="4010025"/>
          </a:xfrm>
          <a:ln/>
        </p:spPr>
      </p:sp>
      <p:sp>
        <p:nvSpPr>
          <p:cNvPr id="38916" name="Rectangle 3"/>
          <p:cNvSpPr>
            <a:spLocks noGrp="1" noChangeArrowheads="1"/>
          </p:cNvSpPr>
          <p:nvPr>
            <p:ph type="body" idx="1"/>
          </p:nvPr>
        </p:nvSpPr>
        <p:spPr>
          <a:xfrm>
            <a:off x="398463" y="4395788"/>
            <a:ext cx="6032500" cy="4273550"/>
          </a:xfrm>
          <a:noFill/>
          <a:ln/>
        </p:spPr>
        <p:txBody>
          <a:bodyPr/>
          <a:lstStyle/>
          <a:p>
            <a:pPr eaLnBrk="1" hangingPunct="1"/>
            <a:endParaRPr lang="en-GB">
              <a:latin typeface="Arial" pitchFamily="1"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81A0A476-2238-C74C-9357-89F36B93F806}" type="slidenum">
              <a:rPr lang="en-US"/>
              <a:pPr/>
              <a:t>18</a:t>
            </a:fld>
            <a:endParaRPr lang="en-US"/>
          </a:p>
        </p:txBody>
      </p:sp>
      <p:sp>
        <p:nvSpPr>
          <p:cNvPr id="43011" name="Rectangle 2"/>
          <p:cNvSpPr>
            <a:spLocks noGrp="1" noRot="1" noChangeAspect="1" noChangeArrowheads="1" noTextEdit="1"/>
          </p:cNvSpPr>
          <p:nvPr>
            <p:ph type="sldImg"/>
          </p:nvPr>
        </p:nvSpPr>
        <p:spPr>
          <a:xfrm>
            <a:off x="381000" y="685800"/>
            <a:ext cx="6096000" cy="3429000"/>
          </a:xfrm>
          <a:ln/>
        </p:spPr>
      </p:sp>
      <p:sp>
        <p:nvSpPr>
          <p:cNvPr id="43012" name="Rectangle 3"/>
          <p:cNvSpPr>
            <a:spLocks noGrp="1" noChangeArrowheads="1"/>
          </p:cNvSpPr>
          <p:nvPr>
            <p:ph type="body" idx="1"/>
          </p:nvPr>
        </p:nvSpPr>
        <p:spPr>
          <a:noFill/>
          <a:ln/>
        </p:spPr>
        <p:txBody>
          <a:bodyPr/>
          <a:lstStyle/>
          <a:p>
            <a:pPr marL="228600" indent="-228600" eaLnBrk="1" hangingPunct="1"/>
            <a:r>
              <a:rPr lang="en-US">
                <a:latin typeface="Arial" pitchFamily="1" charset="0"/>
              </a:rPr>
              <a:t>Do small  IP Prec to DSCP exercise on the white board.</a:t>
            </a:r>
          </a:p>
          <a:p>
            <a:pPr marL="228600" indent="-228600" eaLnBrk="1" hangingPunct="1"/>
            <a:endParaRPr lang="en-US">
              <a:latin typeface="Arial" pitchFamily="1" charset="0"/>
            </a:endParaRPr>
          </a:p>
          <a:p>
            <a:pPr marL="228600" indent="-228600" eaLnBrk="1" hangingPunct="1"/>
            <a:r>
              <a:rPr lang="en-US">
                <a:latin typeface="Arial" pitchFamily="1" charset="0"/>
              </a:rPr>
              <a:t>DSCP			Precedence</a:t>
            </a:r>
          </a:p>
          <a:p>
            <a:pPr marL="228600" indent="-228600" eaLnBrk="1" hangingPunct="1"/>
            <a:r>
              <a:rPr lang="en-US">
                <a:latin typeface="Arial" pitchFamily="1" charset="0"/>
              </a:rPr>
              <a:t>101000 		(Prec 5)</a:t>
            </a:r>
          </a:p>
          <a:p>
            <a:pPr marL="228600" indent="-228600" eaLnBrk="1" hangingPunct="1"/>
            <a:r>
              <a:rPr lang="en-US">
                <a:latin typeface="Arial" pitchFamily="1" charset="0"/>
              </a:rPr>
              <a:t>010000		(Prec 2)</a:t>
            </a:r>
          </a:p>
          <a:p>
            <a:pPr marL="228600" indent="-228600" eaLnBrk="1" hangingPunct="1"/>
            <a:r>
              <a:rPr lang="en-US">
                <a:latin typeface="Arial" pitchFamily="1" charset="0"/>
              </a:rPr>
              <a:t>56			(111000 =&gt; Prec 7)</a:t>
            </a:r>
          </a:p>
          <a:p>
            <a:pPr marL="228600" indent="-228600" eaLnBrk="1" hangingPunct="1"/>
            <a:r>
              <a:rPr lang="en-US">
                <a:latin typeface="Arial" pitchFamily="1" charset="0"/>
              </a:rPr>
              <a:t>48			(110000 =&gt; Prec 6)</a:t>
            </a:r>
          </a:p>
          <a:p>
            <a:pPr marL="228600" indent="-228600" eaLnBrk="1" hangingPunct="1"/>
            <a:r>
              <a:rPr lang="en-US">
                <a:latin typeface="Arial" pitchFamily="1" charset="0"/>
              </a:rPr>
              <a:t>(100000 =&gt;32)	Prec 4</a:t>
            </a:r>
          </a:p>
          <a:p>
            <a:pPr marL="228600" indent="-228600" eaLnBrk="1" hangingPunct="1"/>
            <a:endParaRPr lang="en-US">
              <a:latin typeface="Arial" pitchFamily="1"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0169C42A-FB7D-FA41-853D-560BABBBFF78}" type="slidenum">
              <a:rPr lang="en-US"/>
              <a:pPr/>
              <a:t>19</a:t>
            </a:fld>
            <a:endParaRPr lang="en-US"/>
          </a:p>
        </p:txBody>
      </p:sp>
      <p:sp>
        <p:nvSpPr>
          <p:cNvPr id="45059" name="Rectangle 2"/>
          <p:cNvSpPr>
            <a:spLocks noGrp="1" noRot="1" noChangeAspect="1" noChangeArrowheads="1" noTextEdit="1"/>
          </p:cNvSpPr>
          <p:nvPr>
            <p:ph type="sldImg"/>
          </p:nvPr>
        </p:nvSpPr>
        <p:spPr>
          <a:xfrm>
            <a:off x="381000" y="685800"/>
            <a:ext cx="6096000" cy="3429000"/>
          </a:xfrm>
          <a:ln/>
        </p:spPr>
      </p:sp>
      <p:sp>
        <p:nvSpPr>
          <p:cNvPr id="45060" name="Rectangle 3"/>
          <p:cNvSpPr>
            <a:spLocks noGrp="1" noChangeArrowheads="1"/>
          </p:cNvSpPr>
          <p:nvPr>
            <p:ph type="body" idx="1"/>
          </p:nvPr>
        </p:nvSpPr>
        <p:spPr>
          <a:noFill/>
          <a:ln/>
        </p:spPr>
        <p:txBody>
          <a:bodyPr/>
          <a:lstStyle/>
          <a:p>
            <a:pPr eaLnBrk="1" hangingPunct="1"/>
            <a:r>
              <a:rPr lang="en-US">
                <a:latin typeface="Arial" pitchFamily="1" charset="0"/>
              </a:rPr>
              <a:t>Another exercise on white board:</a:t>
            </a:r>
          </a:p>
          <a:p>
            <a:pPr eaLnBrk="1" hangingPunct="1"/>
            <a:endParaRPr lang="en-US">
              <a:latin typeface="Arial" pitchFamily="1" charset="0"/>
            </a:endParaRPr>
          </a:p>
          <a:p>
            <a:pPr eaLnBrk="1" hangingPunct="1"/>
            <a:r>
              <a:rPr lang="en-US">
                <a:latin typeface="Arial" pitchFamily="1" charset="0"/>
              </a:rPr>
              <a:t>DSCP name		Binary		Decimal</a:t>
            </a:r>
          </a:p>
          <a:p>
            <a:pPr eaLnBrk="1" hangingPunct="1"/>
            <a:r>
              <a:rPr lang="en-US">
                <a:latin typeface="Arial" pitchFamily="1" charset="0"/>
              </a:rPr>
              <a:t>AF21		(010010)		 (18)</a:t>
            </a:r>
          </a:p>
          <a:p>
            <a:pPr eaLnBrk="1" hangingPunct="1"/>
            <a:r>
              <a:rPr lang="en-US">
                <a:latin typeface="Arial" pitchFamily="1" charset="0"/>
              </a:rPr>
              <a:t>(AF33)		011110		(30)</a:t>
            </a:r>
          </a:p>
          <a:p>
            <a:pPr eaLnBrk="1" hangingPunct="1"/>
            <a:r>
              <a:rPr lang="en-US">
                <a:latin typeface="Arial" pitchFamily="1" charset="0"/>
              </a:rPr>
              <a:t>(AF42)		(100100)		 36</a:t>
            </a:r>
          </a:p>
          <a:p>
            <a:pPr eaLnBrk="1" hangingPunct="1"/>
            <a:r>
              <a:rPr lang="en-US">
                <a:latin typeface="Arial" pitchFamily="1" charset="0"/>
              </a:rPr>
              <a:t>EF 		101110		46</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EEE80535-4361-7A45-A2B2-2BBC7C4DE674}" type="slidenum">
              <a:rPr lang="en-US"/>
              <a:pPr/>
              <a:t>20</a:t>
            </a:fld>
            <a:endParaRPr lang="en-US"/>
          </a:p>
        </p:txBody>
      </p:sp>
      <p:sp>
        <p:nvSpPr>
          <p:cNvPr id="47107" name="Rectangle 2"/>
          <p:cNvSpPr>
            <a:spLocks noGrp="1" noRot="1" noChangeAspect="1" noChangeArrowheads="1" noTextEdit="1"/>
          </p:cNvSpPr>
          <p:nvPr>
            <p:ph type="sldImg"/>
          </p:nvPr>
        </p:nvSpPr>
        <p:spPr>
          <a:xfrm>
            <a:off x="381000" y="685800"/>
            <a:ext cx="6096000" cy="3429000"/>
          </a:xfrm>
          <a:ln/>
        </p:spPr>
      </p:sp>
      <p:sp>
        <p:nvSpPr>
          <p:cNvPr id="47108" name="Rectangle 3"/>
          <p:cNvSpPr>
            <a:spLocks noGrp="1" noChangeArrowheads="1"/>
          </p:cNvSpPr>
          <p:nvPr>
            <p:ph type="body" idx="1"/>
          </p:nvPr>
        </p:nvSpPr>
        <p:spPr>
          <a:noFill/>
          <a:ln/>
        </p:spPr>
        <p:txBody>
          <a:bodyPr/>
          <a:lstStyle/>
          <a:p>
            <a:pPr eaLnBrk="1" hangingPunct="1"/>
            <a:r>
              <a:rPr lang="en-US">
                <a:latin typeface="Arial" pitchFamily="1" charset="0"/>
              </a:rPr>
              <a:t>Answers:</a:t>
            </a:r>
          </a:p>
          <a:p>
            <a:pPr eaLnBrk="1" hangingPunct="1"/>
            <a:endParaRPr lang="en-US">
              <a:latin typeface="Arial" pitchFamily="1" charset="0"/>
            </a:endParaRPr>
          </a:p>
          <a:p>
            <a:pPr eaLnBrk="1" hangingPunct="1">
              <a:buFontTx/>
              <a:buChar char="-"/>
            </a:pPr>
            <a:r>
              <a:rPr lang="en-US">
                <a:latin typeface="Arial" pitchFamily="1" charset="0"/>
              </a:rPr>
              <a:t>Best Effort, Integrated Services, Differentiated Services</a:t>
            </a:r>
          </a:p>
          <a:p>
            <a:pPr eaLnBrk="1" hangingPunct="1">
              <a:buFontTx/>
              <a:buChar char="-"/>
            </a:pPr>
            <a:r>
              <a:rPr lang="en-US">
                <a:latin typeface="Arial" pitchFamily="1" charset="0"/>
              </a:rPr>
              <a:t>Integrated Services.  Because we need a protocol to allow application to reserve bandwidth before using it.</a:t>
            </a:r>
          </a:p>
          <a:p>
            <a:pPr eaLnBrk="1" hangingPunct="1">
              <a:buFontTx/>
              <a:buChar char="-"/>
            </a:pPr>
            <a:r>
              <a:rPr lang="en-US">
                <a:latin typeface="Arial" pitchFamily="1" charset="0"/>
              </a:rPr>
              <a:t>Differentiated Services Code Point</a:t>
            </a:r>
          </a:p>
          <a:p>
            <a:pPr eaLnBrk="1" hangingPunct="1">
              <a:buFontTx/>
              <a:buChar char="-"/>
            </a:pPr>
            <a:r>
              <a:rPr lang="en-US">
                <a:latin typeface="Arial" pitchFamily="1" charset="0"/>
              </a:rPr>
              <a:t>101000 = class selector (Prec 5), 110010 = EF (not af52 ! Only 4 AF classes), 010110 Assured Forwarding (af23)</a:t>
            </a:r>
          </a:p>
          <a:p>
            <a:pPr eaLnBrk="1" hangingPunct="1">
              <a:buFontTx/>
              <a:buChar char="-"/>
            </a:pPr>
            <a:r>
              <a:rPr lang="en-US">
                <a:latin typeface="Arial" pitchFamily="1" charset="0"/>
              </a:rPr>
              <a:t>Expedite Forwarding (need delay guarantee)</a:t>
            </a:r>
          </a:p>
          <a:p>
            <a:pPr eaLnBrk="1" hangingPunct="1">
              <a:buFontTx/>
              <a:buChar char="-"/>
            </a:pPr>
            <a:endParaRPr lang="en-US">
              <a:latin typeface="Arial" pitchFamily="1"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EA540EF4-EF3D-C74A-B83E-A2FEE92EB4E3}" type="slidenum">
              <a:rPr lang="en-US"/>
              <a:pPr/>
              <a:t>21</a:t>
            </a:fld>
            <a:endParaRPr lang="en-US"/>
          </a:p>
        </p:txBody>
      </p:sp>
      <p:sp>
        <p:nvSpPr>
          <p:cNvPr id="49155" name="Rectangle 2"/>
          <p:cNvSpPr>
            <a:spLocks noGrp="1" noRot="1" noChangeAspect="1" noChangeArrowheads="1" noTextEdit="1"/>
          </p:cNvSpPr>
          <p:nvPr>
            <p:ph type="sldImg"/>
          </p:nvPr>
        </p:nvSpPr>
        <p:spPr>
          <a:xfrm>
            <a:off x="-80963" y="244475"/>
            <a:ext cx="7127876" cy="4010025"/>
          </a:xfrm>
          <a:ln/>
        </p:spPr>
      </p:sp>
      <p:sp>
        <p:nvSpPr>
          <p:cNvPr id="49156" name="Rectangle 3"/>
          <p:cNvSpPr>
            <a:spLocks noGrp="1" noChangeArrowheads="1"/>
          </p:cNvSpPr>
          <p:nvPr>
            <p:ph type="body" idx="1"/>
          </p:nvPr>
        </p:nvSpPr>
        <p:spPr>
          <a:xfrm>
            <a:off x="398463" y="4395788"/>
            <a:ext cx="6032500" cy="4273550"/>
          </a:xfrm>
          <a:noFill/>
          <a:ln/>
        </p:spPr>
        <p:txBody>
          <a:bodyPr/>
          <a:lstStyle/>
          <a:p>
            <a:pPr eaLnBrk="1" hangingPunct="1">
              <a:lnSpc>
                <a:spcPct val="95000"/>
              </a:lnSpc>
              <a:spcBef>
                <a:spcPct val="50000"/>
              </a:spcBef>
              <a:buClr>
                <a:srgbClr val="35C5FF"/>
              </a:buClr>
            </a:pPr>
            <a:r>
              <a:rPr lang="en-US">
                <a:latin typeface="Arial" pitchFamily="1" charset="0"/>
              </a:rPr>
              <a:t>Cisco IOS 12.1(5)T and later versions comply with the core DiffServ RFCs.</a:t>
            </a:r>
          </a:p>
          <a:p>
            <a:pPr eaLnBrk="1" hangingPunct="1"/>
            <a:endParaRPr lang="en-US">
              <a:latin typeface="Arial" pitchFamily="1"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E9312A86-C999-F947-9457-063863D42F32}" type="slidenum">
              <a:rPr lang="en-US"/>
              <a:pPr/>
              <a:t>24</a:t>
            </a:fld>
            <a:endParaRPr lang="en-US"/>
          </a:p>
        </p:txBody>
      </p:sp>
      <p:sp>
        <p:nvSpPr>
          <p:cNvPr id="53251" name="Rectangle 2"/>
          <p:cNvSpPr>
            <a:spLocks noGrp="1" noRot="1" noChangeAspect="1" noChangeArrowheads="1" noTextEdit="1"/>
          </p:cNvSpPr>
          <p:nvPr>
            <p:ph type="sldImg"/>
          </p:nvPr>
        </p:nvSpPr>
        <p:spPr>
          <a:xfrm>
            <a:off x="-79375" y="246063"/>
            <a:ext cx="7123113" cy="4008437"/>
          </a:xfrm>
          <a:ln/>
        </p:spPr>
      </p:sp>
      <p:sp>
        <p:nvSpPr>
          <p:cNvPr id="53252" name="Rectangle 3"/>
          <p:cNvSpPr>
            <a:spLocks noGrp="1" noChangeArrowheads="1"/>
          </p:cNvSpPr>
          <p:nvPr>
            <p:ph type="body" idx="1"/>
          </p:nvPr>
        </p:nvSpPr>
        <p:spPr>
          <a:xfrm>
            <a:off x="398463" y="4397375"/>
            <a:ext cx="6032500" cy="4270375"/>
          </a:xfrm>
          <a:noFill/>
          <a:ln/>
        </p:spPr>
        <p:txBody>
          <a:bodyPr/>
          <a:lstStyle/>
          <a:p>
            <a:pPr eaLnBrk="1" hangingPunct="1"/>
            <a:endParaRPr lang="en-GB">
              <a:latin typeface="Arial" pitchFamily="1"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7DEAA2D6-50C3-E448-989F-D7F57EC14286}" type="slidenum">
              <a:rPr lang="en-US"/>
              <a:pPr/>
              <a:t>25</a:t>
            </a:fld>
            <a:endParaRPr lang="en-US"/>
          </a:p>
        </p:txBody>
      </p:sp>
      <p:sp>
        <p:nvSpPr>
          <p:cNvPr id="55299" name="Rectangle 2"/>
          <p:cNvSpPr>
            <a:spLocks noGrp="1" noRot="1" noChangeAspect="1" noChangeArrowheads="1" noTextEdit="1"/>
          </p:cNvSpPr>
          <p:nvPr>
            <p:ph type="sldImg"/>
          </p:nvPr>
        </p:nvSpPr>
        <p:spPr>
          <a:xfrm>
            <a:off x="-79375" y="246063"/>
            <a:ext cx="7123113" cy="4008437"/>
          </a:xfrm>
          <a:ln/>
        </p:spPr>
      </p:sp>
      <p:sp>
        <p:nvSpPr>
          <p:cNvPr id="55300" name="Rectangle 3"/>
          <p:cNvSpPr>
            <a:spLocks noGrp="1" noChangeArrowheads="1"/>
          </p:cNvSpPr>
          <p:nvPr>
            <p:ph type="body" idx="1"/>
          </p:nvPr>
        </p:nvSpPr>
        <p:spPr>
          <a:xfrm>
            <a:off x="398463" y="4397375"/>
            <a:ext cx="6032500" cy="4270375"/>
          </a:xfrm>
          <a:noFill/>
          <a:ln/>
        </p:spPr>
        <p:txBody>
          <a:bodyPr/>
          <a:lstStyle/>
          <a:p>
            <a:pPr eaLnBrk="1" hangingPunct="1"/>
            <a:endParaRPr lang="en-GB">
              <a:latin typeface="Arial" pitchFamily="1"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EDA85622-3F8B-2346-B73D-E266332194C3}" type="slidenum">
              <a:rPr lang="en-US"/>
              <a:pPr/>
              <a:t>27</a:t>
            </a:fld>
            <a:endParaRPr lang="en-US"/>
          </a:p>
        </p:txBody>
      </p:sp>
      <p:sp>
        <p:nvSpPr>
          <p:cNvPr id="58371" name="Rectangle 2"/>
          <p:cNvSpPr>
            <a:spLocks noGrp="1" noRot="1" noChangeAspect="1" noChangeArrowheads="1" noTextEdit="1"/>
          </p:cNvSpPr>
          <p:nvPr>
            <p:ph type="sldImg"/>
          </p:nvPr>
        </p:nvSpPr>
        <p:spPr>
          <a:xfrm>
            <a:off x="381000" y="685800"/>
            <a:ext cx="6096000" cy="3429000"/>
          </a:xfrm>
          <a:ln/>
        </p:spPr>
      </p:sp>
      <p:sp>
        <p:nvSpPr>
          <p:cNvPr id="58372" name="Rectangle 3"/>
          <p:cNvSpPr>
            <a:spLocks noGrp="1" noChangeArrowheads="1"/>
          </p:cNvSpPr>
          <p:nvPr>
            <p:ph type="body" idx="1"/>
          </p:nvPr>
        </p:nvSpPr>
        <p:spPr>
          <a:noFill/>
          <a:ln/>
        </p:spPr>
        <p:txBody>
          <a:bodyPr/>
          <a:lstStyle/>
          <a:p>
            <a:pPr eaLnBrk="1" hangingPunct="1"/>
            <a:r>
              <a:rPr lang="en-US">
                <a:latin typeface="Arial" pitchFamily="1" charset="0"/>
              </a:rPr>
              <a:t>Class-map was defining classes, here we define what we do with them.</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7D100BF9-3A1E-BD46-AF6F-BAAEF9F448FD}" type="slidenum">
              <a:rPr lang="en-US"/>
              <a:pPr/>
              <a:t>29</a:t>
            </a:fld>
            <a:endParaRPr lang="en-US"/>
          </a:p>
        </p:txBody>
      </p:sp>
      <p:sp>
        <p:nvSpPr>
          <p:cNvPr id="61443" name="Rectangle 2"/>
          <p:cNvSpPr>
            <a:spLocks noGrp="1" noRot="1" noChangeAspect="1" noChangeArrowheads="1" noTextEdit="1"/>
          </p:cNvSpPr>
          <p:nvPr>
            <p:ph type="sldImg"/>
          </p:nvPr>
        </p:nvSpPr>
        <p:spPr>
          <a:xfrm>
            <a:off x="381000" y="685800"/>
            <a:ext cx="6096000" cy="3429000"/>
          </a:xfrm>
          <a:ln/>
        </p:spPr>
      </p:sp>
      <p:sp>
        <p:nvSpPr>
          <p:cNvPr id="61444" name="Rectangle 3"/>
          <p:cNvSpPr>
            <a:spLocks noGrp="1" noChangeArrowheads="1"/>
          </p:cNvSpPr>
          <p:nvPr>
            <p:ph type="body" idx="1"/>
          </p:nvPr>
        </p:nvSpPr>
        <p:spPr>
          <a:noFill/>
          <a:ln/>
        </p:spPr>
        <p:txBody>
          <a:bodyPr/>
          <a:lstStyle/>
          <a:p>
            <a:pPr eaLnBrk="1" hangingPunct="1"/>
            <a:r>
              <a:rPr lang="en-US" sz="1000">
                <a:latin typeface="Arial" pitchFamily="1" charset="0"/>
              </a:rPr>
              <a:t>Applying the service policy is not as trivial as I may seem.  Here are some restricions:</a:t>
            </a:r>
          </a:p>
          <a:p>
            <a:pPr eaLnBrk="1" hangingPunct="1"/>
            <a:endParaRPr lang="en-US" sz="1000">
              <a:latin typeface="Arial" pitchFamily="1" charset="0"/>
            </a:endParaRPr>
          </a:p>
          <a:p>
            <a:pPr eaLnBrk="1" hangingPunct="1"/>
            <a:r>
              <a:rPr lang="en-US" sz="1000">
                <a:latin typeface="Arial" pitchFamily="1" charset="0"/>
              </a:rPr>
              <a:t>Today, there are various logical interfaces where a QoS service policy can be attached: ATM PVC/FR DLCI, sub-interface and main-interface. One can attach a service policy to all of the above three interfaces, however there is no need to support such an attachment today. We allow only the following combination of service policies and every other combination should be blocked with proper error messages to the user. The combos that are valid are: Input direction ---------------- Today, one can attach a service-policy at all three logical interface. The fix will be to allow service-policy attachment to only one logical interface. However, one should be able to attach service-policy to multiple logical interfaces which are peers (for eg attaching service policy to each of the ATM pvcs/FR dlcis is ok) but not to logical interfaces that are not peers (for eg attaching a service-policy to the main interface and a sub-interface should be blocked). Output direction ----------------- Today, one can attach a service-policy at all three logical interfaces. However, we support only service-policy at no more than 2 logical interfaces simultaneously. For eg we can support a service-policy attached to a pvc and a service-policy attached to a main-interface. But we do not support a service-policy attached to pvc and one attached to the sub-interface and one attached to the main-interface. The following combinations are valid: pvc(dlci) and main-interface sub-interface and main-interface The following combinations are blocked: pvc(dlci) and sub-interface pvc(dlci) and sub-interface and main-interface </a:t>
            </a:r>
            <a:endParaRPr lang="en-GB" sz="1000">
              <a:latin typeface="Arial" pitchFamily="1" charset="0"/>
            </a:endParaRPr>
          </a:p>
          <a:p>
            <a:pPr eaLnBrk="1" hangingPunct="1"/>
            <a:endParaRPr lang="en-US" sz="1000">
              <a:latin typeface="Arial" pitchFamily="1"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4D8CFC5F-F488-064B-85C1-6191BB353037}" type="slidenum">
              <a:rPr lang="en-US"/>
              <a:pPr/>
              <a:t>30</a:t>
            </a:fld>
            <a:endParaRPr lang="en-US"/>
          </a:p>
        </p:txBody>
      </p:sp>
      <p:sp>
        <p:nvSpPr>
          <p:cNvPr id="63491" name="Rectangle 2"/>
          <p:cNvSpPr>
            <a:spLocks noGrp="1" noRot="1" noChangeAspect="1" noChangeArrowheads="1" noTextEdit="1"/>
          </p:cNvSpPr>
          <p:nvPr>
            <p:ph type="sldImg"/>
          </p:nvPr>
        </p:nvSpPr>
        <p:spPr>
          <a:xfrm>
            <a:off x="381000" y="685800"/>
            <a:ext cx="6096000" cy="3429000"/>
          </a:xfrm>
          <a:ln/>
        </p:spPr>
      </p:sp>
      <p:sp>
        <p:nvSpPr>
          <p:cNvPr id="63492" name="Rectangle 3"/>
          <p:cNvSpPr>
            <a:spLocks noGrp="1" noChangeArrowheads="1"/>
          </p:cNvSpPr>
          <p:nvPr>
            <p:ph type="body" idx="1"/>
          </p:nvPr>
        </p:nvSpPr>
        <p:spPr>
          <a:noFill/>
          <a:ln/>
        </p:spPr>
        <p:txBody>
          <a:bodyPr/>
          <a:lstStyle/>
          <a:p>
            <a:pPr eaLnBrk="1" hangingPunct="1"/>
            <a:r>
              <a:rPr lang="en-US">
                <a:latin typeface="Arial" pitchFamily="1" charset="0"/>
              </a:rPr>
              <a:t>More about parent shaper and queuing in the next sections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ADDFF605-A7F3-C543-9F72-E1CA8FD3E0ED}" type="slidenum">
              <a:rPr lang="en-US"/>
              <a:pPr/>
              <a:t>31</a:t>
            </a:fld>
            <a:endParaRPr lang="en-US"/>
          </a:p>
        </p:txBody>
      </p:sp>
      <p:sp>
        <p:nvSpPr>
          <p:cNvPr id="65539" name="Rectangle 2"/>
          <p:cNvSpPr>
            <a:spLocks noGrp="1" noRot="1" noChangeAspect="1" noChangeArrowheads="1" noTextEdit="1"/>
          </p:cNvSpPr>
          <p:nvPr>
            <p:ph type="sldImg"/>
          </p:nvPr>
        </p:nvSpPr>
        <p:spPr>
          <a:xfrm>
            <a:off x="381000" y="685800"/>
            <a:ext cx="6096000" cy="3429000"/>
          </a:xfrm>
          <a:ln/>
        </p:spPr>
      </p:sp>
      <p:sp>
        <p:nvSpPr>
          <p:cNvPr id="65540" name="Rectangle 3"/>
          <p:cNvSpPr>
            <a:spLocks noGrp="1" noChangeArrowheads="1"/>
          </p:cNvSpPr>
          <p:nvPr>
            <p:ph type="body" idx="1"/>
          </p:nvPr>
        </p:nvSpPr>
        <p:spPr>
          <a:noFill/>
          <a:ln/>
        </p:spPr>
        <p:txBody>
          <a:bodyPr/>
          <a:lstStyle/>
          <a:p>
            <a:pPr eaLnBrk="1" hangingPunct="1"/>
            <a:r>
              <a:rPr lang="en-US">
                <a:latin typeface="Arial" pitchFamily="1" charset="0"/>
              </a:rPr>
              <a:t>Class-map definition</a:t>
            </a:r>
          </a:p>
          <a:p>
            <a:pPr eaLnBrk="1" hangingPunct="1"/>
            <a:r>
              <a:rPr lang="en-US">
                <a:latin typeface="Arial" pitchFamily="1" charset="0"/>
              </a:rPr>
              <a:t>Policy-map definition</a:t>
            </a:r>
          </a:p>
          <a:p>
            <a:pPr eaLnBrk="1" hangingPunct="1"/>
            <a:r>
              <a:rPr lang="en-US">
                <a:latin typeface="Arial" pitchFamily="1" charset="0"/>
              </a:rPr>
              <a:t>Service-policy on the interface</a:t>
            </a:r>
          </a:p>
          <a:p>
            <a:pPr eaLnBrk="1" hangingPunct="1"/>
            <a:endParaRPr lang="en-US">
              <a:latin typeface="Arial" pitchFamily="1" charset="0"/>
            </a:endParaRPr>
          </a:p>
          <a:p>
            <a:pPr eaLnBrk="1" hangingPunct="1"/>
            <a:r>
              <a:rPr lang="en-US">
                <a:latin typeface="Arial" pitchFamily="1" charset="0"/>
              </a:rPr>
              <a:t>Yes and no</a:t>
            </a:r>
          </a:p>
          <a:p>
            <a:pPr eaLnBrk="1" hangingPunct="1"/>
            <a:r>
              <a:rPr lang="en-US">
                <a:latin typeface="Arial" pitchFamily="1" charset="0"/>
              </a:rPr>
              <a:t>Yes in input</a:t>
            </a:r>
          </a:p>
          <a:p>
            <a:pPr eaLnBrk="1" hangingPunct="1"/>
            <a:r>
              <a:rPr lang="en-US">
                <a:latin typeface="Arial" pitchFamily="1" charset="0"/>
              </a:rPr>
              <a:t>Yes in output</a:t>
            </a:r>
          </a:p>
          <a:p>
            <a:pPr eaLnBrk="1" hangingPunct="1"/>
            <a:endParaRPr lang="en-US">
              <a:latin typeface="Arial" pitchFamily="1" charset="0"/>
            </a:endParaRPr>
          </a:p>
          <a:p>
            <a:pPr eaLnBrk="1" hangingPunct="1"/>
            <a:r>
              <a:rPr lang="en-US">
                <a:latin typeface="Arial" pitchFamily="1" charset="0"/>
              </a:rPr>
              <a:t>Parent</a:t>
            </a:r>
          </a:p>
          <a:p>
            <a:pPr eaLnBrk="1" hangingPunct="1"/>
            <a:endParaRPr lang="en-US">
              <a:latin typeface="Arial" pitchFamily="1" charset="0"/>
            </a:endParaRPr>
          </a:p>
          <a:p>
            <a:pPr eaLnBrk="1" hangingPunct="1"/>
            <a:r>
              <a:rPr lang="en-US">
                <a:latin typeface="Arial" pitchFamily="1" charset="0"/>
              </a:rPr>
              <a:t>Sometimes, HW limitation are hidden by MQC, and end-users may try to configure unsupported/unrealistic QoS implementations on their router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6055F435-61C9-074B-B27B-C6BDB1511F63}" type="slidenum">
              <a:rPr lang="en-US"/>
              <a:pPr/>
              <a:t>32</a:t>
            </a:fld>
            <a:endParaRPr lang="en-US"/>
          </a:p>
        </p:txBody>
      </p:sp>
      <p:sp>
        <p:nvSpPr>
          <p:cNvPr id="67587" name="Rectangle 2"/>
          <p:cNvSpPr>
            <a:spLocks noGrp="1" noRot="1" noChangeAspect="1" noChangeArrowheads="1" noTextEdit="1"/>
          </p:cNvSpPr>
          <p:nvPr>
            <p:ph type="sldImg"/>
          </p:nvPr>
        </p:nvSpPr>
        <p:spPr>
          <a:xfrm>
            <a:off x="381000" y="685800"/>
            <a:ext cx="6096000" cy="3429000"/>
          </a:xfrm>
          <a:ln/>
        </p:spPr>
      </p:sp>
      <p:sp>
        <p:nvSpPr>
          <p:cNvPr id="67588" name="Rectangle 3"/>
          <p:cNvSpPr>
            <a:spLocks noGrp="1" noChangeArrowheads="1"/>
          </p:cNvSpPr>
          <p:nvPr>
            <p:ph type="body" idx="1"/>
          </p:nvPr>
        </p:nvSpPr>
        <p:spPr>
          <a:noFill/>
          <a:ln/>
        </p:spPr>
        <p:txBody>
          <a:bodyPr/>
          <a:lstStyle/>
          <a:p>
            <a:pPr eaLnBrk="1" hangingPunct="1"/>
            <a:r>
              <a:rPr lang="en-US">
                <a:latin typeface="Arial" pitchFamily="1" charset="0"/>
              </a:rPr>
              <a:t>R1-eth-R2-serial-R3</a:t>
            </a:r>
          </a:p>
          <a:p>
            <a:pPr eaLnBrk="1" hangingPunct="1"/>
            <a:endParaRPr lang="en-US">
              <a:latin typeface="Arial" pitchFamily="1" charset="0"/>
            </a:endParaRPr>
          </a:p>
          <a:p>
            <a:pPr eaLnBrk="1" hangingPunct="1"/>
            <a:r>
              <a:rPr lang="en-US">
                <a:latin typeface="Arial" pitchFamily="1" charset="0"/>
              </a:rPr>
              <a:t>R1: IOU Pagent to pre-configure</a:t>
            </a:r>
          </a:p>
          <a:p>
            <a:pPr eaLnBrk="1" hangingPunct="1"/>
            <a:r>
              <a:rPr lang="en-US">
                <a:latin typeface="Arial" pitchFamily="1" charset="0"/>
              </a:rPr>
              <a:t>R2/R3: IOU 12.3 latest</a:t>
            </a:r>
          </a:p>
          <a:p>
            <a:pPr eaLnBrk="1" hangingPunct="1"/>
            <a:endParaRPr lang="en-US">
              <a:latin typeface="Arial" pitchFamily="1" charset="0"/>
            </a:endParaRPr>
          </a:p>
          <a:p>
            <a:pPr eaLnBrk="1" hangingPunct="1"/>
            <a:r>
              <a:rPr lang="en-US">
                <a:latin typeface="Arial" pitchFamily="1" charset="0"/>
              </a:rPr>
              <a:t>Configure a class-map to match telnet traffic</a:t>
            </a:r>
          </a:p>
          <a:p>
            <a:pPr eaLnBrk="1" hangingPunct="1"/>
            <a:r>
              <a:rPr lang="en-US">
                <a:latin typeface="Arial" pitchFamily="1" charset="0"/>
              </a:rPr>
              <a:t>Configure a policy-map marking telnet traffic with precedence 5</a:t>
            </a:r>
          </a:p>
          <a:p>
            <a:pPr eaLnBrk="1" hangingPunct="1"/>
            <a:r>
              <a:rPr lang="en-US">
                <a:latin typeface="Arial" pitchFamily="1" charset="0"/>
              </a:rPr>
              <a:t>Apply the policy-map on the serial interface between R2 and R3, outgoing direction.</a:t>
            </a:r>
          </a:p>
          <a:p>
            <a:pPr eaLnBrk="1" hangingPunct="1"/>
            <a:endParaRPr lang="en-US">
              <a:latin typeface="Arial" pitchFamily="1" charset="0"/>
            </a:endParaRPr>
          </a:p>
          <a:p>
            <a:pPr eaLnBrk="1" hangingPunct="1"/>
            <a:r>
              <a:rPr lang="en-US">
                <a:latin typeface="Arial" pitchFamily="1" charset="0"/>
              </a:rPr>
              <a:t>R1 flows used here:  </a:t>
            </a:r>
          </a:p>
          <a:p>
            <a:pPr eaLnBrk="1" hangingPunct="1"/>
            <a:r>
              <a:rPr lang="en-US">
                <a:latin typeface="Arial" pitchFamily="1" charset="0"/>
              </a:rPr>
              <a:t>1 flow to port 23, TOS 0</a:t>
            </a:r>
          </a:p>
          <a:p>
            <a:pPr eaLnBrk="1" hangingPunct="1"/>
            <a:r>
              <a:rPr lang="en-US">
                <a:latin typeface="Arial" pitchFamily="1" charset="0"/>
              </a:rPr>
              <a:t>(1 flow TOS 0)</a:t>
            </a:r>
          </a:p>
          <a:p>
            <a:pPr eaLnBrk="1" hangingPunct="1"/>
            <a:r>
              <a:rPr lang="en-US">
                <a:latin typeface="Arial" pitchFamily="1" charset="0"/>
              </a:rPr>
              <a:t>(1 flow TOS 6)</a:t>
            </a:r>
          </a:p>
          <a:p>
            <a:pPr eaLnBrk="1" hangingPunct="1"/>
            <a:endParaRPr lang="en-US">
              <a:latin typeface="Arial" pitchFamily="1"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E3CBFC2F-A4B2-E94E-A4D3-0F22AA5ACDDD}" type="slidenum">
              <a:rPr lang="en-US"/>
              <a:pPr/>
              <a:t>36</a:t>
            </a:fld>
            <a:endParaRPr lang="en-US"/>
          </a:p>
        </p:txBody>
      </p:sp>
      <p:sp>
        <p:nvSpPr>
          <p:cNvPr id="72707" name="Rectangle 2"/>
          <p:cNvSpPr>
            <a:spLocks noGrp="1" noRot="1" noChangeAspect="1" noChangeArrowheads="1" noTextEdit="1"/>
          </p:cNvSpPr>
          <p:nvPr>
            <p:ph type="sldImg"/>
          </p:nvPr>
        </p:nvSpPr>
        <p:spPr>
          <a:xfrm>
            <a:off x="381000" y="685800"/>
            <a:ext cx="6096000" cy="3429000"/>
          </a:xfrm>
          <a:ln/>
        </p:spPr>
      </p:sp>
      <p:sp>
        <p:nvSpPr>
          <p:cNvPr id="72708" name="Rectangle 3"/>
          <p:cNvSpPr>
            <a:spLocks noGrp="1" noChangeArrowheads="1"/>
          </p:cNvSpPr>
          <p:nvPr>
            <p:ph type="body" idx="1"/>
          </p:nvPr>
        </p:nvSpPr>
        <p:spPr>
          <a:noFill/>
          <a:ln/>
        </p:spPr>
        <p:txBody>
          <a:bodyPr/>
          <a:lstStyle/>
          <a:p>
            <a:pPr eaLnBrk="1" hangingPunct="1"/>
            <a:r>
              <a:rPr lang="en-US">
                <a:latin typeface="Arial" pitchFamily="1" charset="0"/>
              </a:rPr>
              <a:t>QoS group is usually set on input and reused for output classification.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D2BB99FB-028E-CB41-ABEA-01C650DBF294}" type="slidenum">
              <a:rPr lang="en-US"/>
              <a:pPr/>
              <a:t>37</a:t>
            </a:fld>
            <a:endParaRPr lang="en-US"/>
          </a:p>
        </p:txBody>
      </p:sp>
      <p:sp>
        <p:nvSpPr>
          <p:cNvPr id="74755" name="Rectangle 2"/>
          <p:cNvSpPr>
            <a:spLocks noGrp="1" noRot="1" noChangeAspect="1" noChangeArrowheads="1" noTextEdit="1"/>
          </p:cNvSpPr>
          <p:nvPr>
            <p:ph type="sldImg"/>
          </p:nvPr>
        </p:nvSpPr>
        <p:spPr>
          <a:xfrm>
            <a:off x="381000" y="685800"/>
            <a:ext cx="6096000" cy="3429000"/>
          </a:xfrm>
          <a:ln/>
        </p:spPr>
      </p:sp>
      <p:sp>
        <p:nvSpPr>
          <p:cNvPr id="74756" name="Rectangle 3"/>
          <p:cNvSpPr>
            <a:spLocks noGrp="1" noChangeArrowheads="1"/>
          </p:cNvSpPr>
          <p:nvPr>
            <p:ph type="body" idx="1"/>
          </p:nvPr>
        </p:nvSpPr>
        <p:spPr>
          <a:noFill/>
          <a:ln/>
        </p:spPr>
        <p:txBody>
          <a:bodyPr/>
          <a:lstStyle/>
          <a:p>
            <a:pPr eaLnBrk="1" hangingPunct="1"/>
            <a:r>
              <a:rPr lang="en-US">
                <a:latin typeface="Arial" pitchFamily="1" charset="0"/>
              </a:rPr>
              <a:t>- Identifies to which high-level protocol a packet belongs.  Goes beyond traditional classification and handles dynamically assigned UDP and TCP ports.</a:t>
            </a:r>
          </a:p>
          <a:p>
            <a:pPr eaLnBrk="1" hangingPunct="1"/>
            <a:r>
              <a:rPr lang="en-US">
                <a:latin typeface="Arial" pitchFamily="1" charset="0"/>
              </a:rPr>
              <a:t>- The engineering documents refer to NBAR as a Stateful Inspection Language Engine (StILE), which is a high-level language for describing packets.  At initialization, this language is reduced to a state graph.  This state graph can be thought of as a flow chart instructing the router how to classify a packet.  </a:t>
            </a:r>
          </a:p>
          <a:p>
            <a:pPr eaLnBrk="1" hangingPunct="1"/>
            <a:r>
              <a:rPr lang="en-US">
                <a:latin typeface="Arial" pitchFamily="1" charset="0"/>
              </a:rPr>
              <a:t>- Each node in the graph will examine some bytes in a packet and use that information to produce a pointer to the next node.</a:t>
            </a:r>
          </a:p>
          <a:p>
            <a:pPr eaLnBrk="1" hangingPunct="1"/>
            <a:r>
              <a:rPr lang="en-US">
                <a:latin typeface="Arial" pitchFamily="1" charset="0"/>
              </a:rPr>
              <a:t>- StILE supports several types of nodes, including:</a:t>
            </a:r>
          </a:p>
          <a:p>
            <a:pPr lvl="1" eaLnBrk="1" hangingPunct="1"/>
            <a:r>
              <a:rPr lang="en-US">
                <a:latin typeface="Arial" pitchFamily="1" charset="0"/>
              </a:rPr>
              <a:t>Decision nodes – Jump subnodes analyze a part of the packet that is 8 bits or less in length, while range subnodes analyze a value that is between the limits of some large range with an upper and lower limit.</a:t>
            </a:r>
          </a:p>
          <a:p>
            <a:pPr lvl="1" eaLnBrk="1" hangingPunct="1"/>
            <a:r>
              <a:rPr lang="en-US">
                <a:latin typeface="Arial" pitchFamily="1" charset="0"/>
              </a:rPr>
              <a:t>Decision update nodes – Alter the state graph during execution.  E.g. StILE may identify the TCP port number that will be used for the H.225 control channel of a VoIP call and save it to the state graph to perform further analysis for that channel.</a:t>
            </a:r>
          </a:p>
          <a:p>
            <a:pPr eaLnBrk="1" hangingPunct="1"/>
            <a:endParaRPr lang="en-US">
              <a:latin typeface="Arial" pitchFamily="1"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0B6820BA-CE0A-7443-9100-0CDCC218C046}" type="slidenum">
              <a:rPr lang="en-US"/>
              <a:pPr/>
              <a:t>38</a:t>
            </a:fld>
            <a:endParaRPr lang="en-US"/>
          </a:p>
        </p:txBody>
      </p:sp>
      <p:sp>
        <p:nvSpPr>
          <p:cNvPr id="76803" name="Rectangle 2"/>
          <p:cNvSpPr>
            <a:spLocks noGrp="1" noRot="1" noChangeAspect="1" noChangeArrowheads="1" noTextEdit="1"/>
          </p:cNvSpPr>
          <p:nvPr>
            <p:ph type="sldImg"/>
          </p:nvPr>
        </p:nvSpPr>
        <p:spPr>
          <a:xfrm>
            <a:off x="-79375" y="246063"/>
            <a:ext cx="7123113" cy="4008437"/>
          </a:xfrm>
          <a:ln/>
        </p:spPr>
      </p:sp>
      <p:sp>
        <p:nvSpPr>
          <p:cNvPr id="76804" name="Rectangle 3"/>
          <p:cNvSpPr>
            <a:spLocks noGrp="1" noChangeArrowheads="1"/>
          </p:cNvSpPr>
          <p:nvPr>
            <p:ph type="body" idx="1"/>
          </p:nvPr>
        </p:nvSpPr>
        <p:spPr>
          <a:xfrm>
            <a:off x="398463" y="4397375"/>
            <a:ext cx="6032500" cy="4270375"/>
          </a:xfrm>
          <a:noFill/>
          <a:ln/>
        </p:spPr>
        <p:txBody>
          <a:bodyPr/>
          <a:lstStyle/>
          <a:p>
            <a:pPr eaLnBrk="1" hangingPunct="1"/>
            <a:endParaRPr lang="en-GB">
              <a:latin typeface="Arial" pitchFamily="1"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0D297A6E-ABFD-FF40-83E1-7EF723026BD8}" type="slidenum">
              <a:rPr lang="en-US"/>
              <a:pPr/>
              <a:t>39</a:t>
            </a:fld>
            <a:endParaRPr lang="en-US"/>
          </a:p>
        </p:txBody>
      </p:sp>
      <p:sp>
        <p:nvSpPr>
          <p:cNvPr id="78851" name="Rectangle 2"/>
          <p:cNvSpPr>
            <a:spLocks noGrp="1" noRot="1" noChangeAspect="1" noChangeArrowheads="1" noTextEdit="1"/>
          </p:cNvSpPr>
          <p:nvPr>
            <p:ph type="sldImg"/>
          </p:nvPr>
        </p:nvSpPr>
        <p:spPr>
          <a:xfrm>
            <a:off x="512763" y="563563"/>
            <a:ext cx="5843587" cy="3287712"/>
          </a:xfrm>
          <a:ln/>
        </p:spPr>
      </p:sp>
      <p:sp>
        <p:nvSpPr>
          <p:cNvPr id="78852" name="Rectangle 3"/>
          <p:cNvSpPr>
            <a:spLocks noGrp="1" noChangeArrowheads="1"/>
          </p:cNvSpPr>
          <p:nvPr>
            <p:ph type="body" idx="1"/>
          </p:nvPr>
        </p:nvSpPr>
        <p:spPr>
          <a:xfrm>
            <a:off x="858838" y="3997325"/>
            <a:ext cx="5160962" cy="4306888"/>
          </a:xfrm>
          <a:noFill/>
          <a:ln/>
        </p:spPr>
        <p:txBody>
          <a:bodyPr/>
          <a:lstStyle/>
          <a:p>
            <a:pPr defTabSz="949325" eaLnBrk="1" hangingPunct="1"/>
            <a:r>
              <a:rPr lang="en-GB">
                <a:latin typeface="Times New Roman" pitchFamily="1" charset="0"/>
              </a:rPr>
              <a:t>Slide from Tim McSweeney</a:t>
            </a:r>
            <a:endParaRPr lang="en-US">
              <a:latin typeface="Times New Roman" pitchFamily="1" charset="0"/>
            </a:endParaRPr>
          </a:p>
          <a:p>
            <a:pPr defTabSz="949325" eaLnBrk="1" hangingPunct="1"/>
            <a:endParaRPr lang="en-US">
              <a:latin typeface="Times New Roman" pitchFamily="1" charset="0"/>
            </a:endParaRPr>
          </a:p>
          <a:p>
            <a:pPr defTabSz="949325" eaLnBrk="1" hangingPunct="1"/>
            <a:r>
              <a:rPr lang="en-US">
                <a:latin typeface="Times New Roman" pitchFamily="1" charset="0"/>
              </a:rPr>
              <a:t>When specifying a URL for classification, include only the portion of the URL following the</a:t>
            </a:r>
          </a:p>
          <a:p>
            <a:pPr defTabSz="949325" eaLnBrk="1" hangingPunct="1"/>
            <a:r>
              <a:rPr lang="en-US">
                <a:latin typeface="Times New Roman" pitchFamily="1" charset="0"/>
              </a:rPr>
              <a:t>www.hostname.domain in the match statement. For example, for the URL</a:t>
            </a:r>
          </a:p>
          <a:p>
            <a:pPr defTabSz="949325" eaLnBrk="1" hangingPunct="1"/>
            <a:r>
              <a:rPr lang="en-US">
                <a:latin typeface="Times New Roman" pitchFamily="1" charset="0"/>
              </a:rPr>
              <a:t>www.cisco.com/latest/whatsnew.html, include only /latest/whatsnew.html.</a:t>
            </a:r>
          </a:p>
          <a:p>
            <a:pPr defTabSz="949325" eaLnBrk="1" hangingPunct="1"/>
            <a:endParaRPr lang="en-US">
              <a:latin typeface="Times New Roman" pitchFamily="1" charset="0"/>
            </a:endParaRPr>
          </a:p>
          <a:p>
            <a:pPr defTabSz="949325" eaLnBrk="1" hangingPunct="1"/>
            <a:r>
              <a:rPr lang="en-US">
                <a:latin typeface="Times New Roman" pitchFamily="1" charset="0"/>
              </a:rPr>
              <a:t>Host specification is identical to URL specification. NBAR performs a regular expression match on the</a:t>
            </a:r>
          </a:p>
          <a:p>
            <a:pPr defTabSz="949325" eaLnBrk="1" hangingPunct="1"/>
            <a:r>
              <a:rPr lang="en-US">
                <a:latin typeface="Times New Roman" pitchFamily="1" charset="0"/>
              </a:rPr>
              <a:t>Host field contents inside an HTTP GET packet and classifies all packets from that host. For example,</a:t>
            </a:r>
          </a:p>
          <a:p>
            <a:pPr defTabSz="949325" eaLnBrk="1" hangingPunct="1"/>
            <a:r>
              <a:rPr lang="en-US">
                <a:latin typeface="Times New Roman" pitchFamily="1" charset="0"/>
              </a:rPr>
              <a:t>for the URL www.cisco.com/latest/whatsnew.html, include only www.cisco.com.</a:t>
            </a:r>
          </a:p>
          <a:p>
            <a:pPr defTabSz="949325" eaLnBrk="1" hangingPunct="1"/>
            <a:endParaRPr lang="en-US">
              <a:latin typeface="Times New Roman" pitchFamily="1" charset="0"/>
            </a:endParaRPr>
          </a:p>
          <a:p>
            <a:pPr defTabSz="949325" eaLnBrk="1" hangingPunct="1"/>
            <a:r>
              <a:rPr lang="en-US">
                <a:latin typeface="Times New Roman" pitchFamily="1" charset="0"/>
              </a:rPr>
              <a:t>For MIME type matching, the MIME type can contain any user-specified text string. A list of the</a:t>
            </a:r>
          </a:p>
          <a:p>
            <a:pPr defTabSz="949325" eaLnBrk="1" hangingPunct="1"/>
            <a:r>
              <a:rPr lang="en-US">
                <a:latin typeface="Times New Roman" pitchFamily="1" charset="0"/>
              </a:rPr>
              <a:t>Internet Assigned Numbers Authority (IANA)-supported MIME types can be found at:</a:t>
            </a:r>
          </a:p>
          <a:p>
            <a:pPr defTabSz="949325" eaLnBrk="1" hangingPunct="1"/>
            <a:r>
              <a:rPr lang="en-US">
                <a:latin typeface="Times New Roman" pitchFamily="1" charset="0"/>
              </a:rPr>
              <a:t>ftp://ftp.isi.edu/in-notes/iana/assignments/media-types/media-types</a:t>
            </a:r>
          </a:p>
          <a:p>
            <a:pPr defTabSz="949325" eaLnBrk="1" hangingPunct="1"/>
            <a:endParaRPr lang="en-US">
              <a:latin typeface="Times New Roman" pitchFamily="1" charset="0"/>
            </a:endParaRPr>
          </a:p>
          <a:p>
            <a:pPr defTabSz="949325" eaLnBrk="1" hangingPunct="1"/>
            <a:r>
              <a:rPr lang="en-US">
                <a:latin typeface="Times New Roman" pitchFamily="1" charset="0"/>
              </a:rPr>
              <a:t>In MIME type matching, NBAR classifies the packet containing the MIME type and all subsequent</a:t>
            </a:r>
          </a:p>
          <a:p>
            <a:pPr defTabSz="949325" eaLnBrk="1" hangingPunct="1"/>
            <a:r>
              <a:rPr lang="en-US">
                <a:latin typeface="Times New Roman" pitchFamily="1" charset="0"/>
              </a:rPr>
              <a:t>packets, which are sent to the source of the HTTP GET request.</a:t>
            </a:r>
          </a:p>
          <a:p>
            <a:pPr defTabSz="949325" eaLnBrk="1" hangingPunct="1"/>
            <a:r>
              <a:rPr lang="en-US">
                <a:latin typeface="Arial" pitchFamily="1" charset="0"/>
              </a:rPr>
              <a:t>29056</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146573E6-D9B1-B348-B246-F3FAE0B72066}" type="slidenum">
              <a:rPr lang="en-US"/>
              <a:pPr/>
              <a:t>40</a:t>
            </a:fld>
            <a:endParaRPr lang="en-US"/>
          </a:p>
        </p:txBody>
      </p:sp>
      <p:sp>
        <p:nvSpPr>
          <p:cNvPr id="80899" name="Rectangle 2"/>
          <p:cNvSpPr>
            <a:spLocks noGrp="1" noRot="1" noChangeAspect="1" noChangeArrowheads="1" noTextEdit="1"/>
          </p:cNvSpPr>
          <p:nvPr>
            <p:ph type="sldImg"/>
          </p:nvPr>
        </p:nvSpPr>
        <p:spPr>
          <a:xfrm>
            <a:off x="-79375" y="246063"/>
            <a:ext cx="7123113" cy="4008437"/>
          </a:xfrm>
          <a:ln/>
        </p:spPr>
      </p:sp>
      <p:sp>
        <p:nvSpPr>
          <p:cNvPr id="80900" name="Rectangle 3"/>
          <p:cNvSpPr>
            <a:spLocks noGrp="1" noChangeArrowheads="1"/>
          </p:cNvSpPr>
          <p:nvPr>
            <p:ph type="body" idx="1"/>
          </p:nvPr>
        </p:nvSpPr>
        <p:spPr>
          <a:xfrm>
            <a:off x="398463" y="4397375"/>
            <a:ext cx="6032500" cy="4270375"/>
          </a:xfrm>
          <a:noFill/>
          <a:ln/>
        </p:spPr>
        <p:txBody>
          <a:bodyPr/>
          <a:lstStyle/>
          <a:p>
            <a:pPr eaLnBrk="1" hangingPunct="1"/>
            <a:endParaRPr lang="en-GB">
              <a:latin typeface="Arial" pitchFamily="1"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DF32600D-87BD-EF4D-89A9-D4CD23E410E0}" type="slidenum">
              <a:rPr lang="en-US"/>
              <a:pPr/>
              <a:t>42</a:t>
            </a:fld>
            <a:endParaRPr lang="en-US"/>
          </a:p>
        </p:txBody>
      </p:sp>
      <p:sp>
        <p:nvSpPr>
          <p:cNvPr id="83971" name="Rectangle 2"/>
          <p:cNvSpPr>
            <a:spLocks noGrp="1" noRot="1" noChangeAspect="1" noChangeArrowheads="1" noTextEdit="1"/>
          </p:cNvSpPr>
          <p:nvPr>
            <p:ph type="sldImg"/>
          </p:nvPr>
        </p:nvSpPr>
        <p:spPr>
          <a:xfrm>
            <a:off x="381000" y="685800"/>
            <a:ext cx="6096000" cy="3429000"/>
          </a:xfrm>
          <a:ln/>
        </p:spPr>
      </p:sp>
      <p:sp>
        <p:nvSpPr>
          <p:cNvPr id="83972" name="Rectangle 3"/>
          <p:cNvSpPr>
            <a:spLocks noGrp="1" noChangeArrowheads="1"/>
          </p:cNvSpPr>
          <p:nvPr>
            <p:ph type="body" idx="1"/>
          </p:nvPr>
        </p:nvSpPr>
        <p:spPr>
          <a:noFill/>
          <a:ln/>
        </p:spPr>
        <p:txBody>
          <a:bodyPr/>
          <a:lstStyle/>
          <a:p>
            <a:pPr eaLnBrk="1" hangingPunct="1"/>
            <a:r>
              <a:rPr lang="en-US">
                <a:latin typeface="Arial" pitchFamily="1" charset="0"/>
              </a:rPr>
              <a:t>While it is ok to match on TOS bits since they are copied, matching on other IP Header field is not that easy =&gt; qos pre-classify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72552728-8A9B-4E43-9A52-DFFCF3CACB17}" type="slidenum">
              <a:rPr lang="en-US"/>
              <a:pPr/>
              <a:t>45</a:t>
            </a:fld>
            <a:endParaRPr lang="en-US"/>
          </a:p>
        </p:txBody>
      </p:sp>
      <p:sp>
        <p:nvSpPr>
          <p:cNvPr id="88067" name="Rectangle 2"/>
          <p:cNvSpPr>
            <a:spLocks noGrp="1" noRot="1" noChangeAspect="1" noChangeArrowheads="1" noTextEdit="1"/>
          </p:cNvSpPr>
          <p:nvPr>
            <p:ph type="sldImg"/>
          </p:nvPr>
        </p:nvSpPr>
        <p:spPr>
          <a:xfrm>
            <a:off x="-79375" y="246063"/>
            <a:ext cx="7123113" cy="4008437"/>
          </a:xfrm>
          <a:ln/>
        </p:spPr>
      </p:sp>
      <p:sp>
        <p:nvSpPr>
          <p:cNvPr id="88068" name="Rectangle 3"/>
          <p:cNvSpPr>
            <a:spLocks noGrp="1" noChangeArrowheads="1"/>
          </p:cNvSpPr>
          <p:nvPr>
            <p:ph type="body" idx="1"/>
          </p:nvPr>
        </p:nvSpPr>
        <p:spPr>
          <a:xfrm>
            <a:off x="398463" y="4397375"/>
            <a:ext cx="6032500" cy="4270375"/>
          </a:xfrm>
          <a:noFill/>
          <a:ln/>
        </p:spPr>
        <p:txBody>
          <a:bodyPr/>
          <a:lstStyle/>
          <a:p>
            <a:pPr eaLnBrk="1" hangingPunct="1"/>
            <a:endParaRPr lang="en-GB">
              <a:latin typeface="Arial" pitchFamily="1"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19EDDE9E-89D7-374C-95C1-431FA53E2818}" type="slidenum">
              <a:rPr lang="en-US"/>
              <a:pPr/>
              <a:t>46</a:t>
            </a:fld>
            <a:endParaRPr lang="en-US"/>
          </a:p>
        </p:txBody>
      </p:sp>
      <p:sp>
        <p:nvSpPr>
          <p:cNvPr id="90115" name="Rectangle 2"/>
          <p:cNvSpPr>
            <a:spLocks noGrp="1" noRot="1" noChangeAspect="1" noChangeArrowheads="1" noTextEdit="1"/>
          </p:cNvSpPr>
          <p:nvPr>
            <p:ph type="sldImg"/>
          </p:nvPr>
        </p:nvSpPr>
        <p:spPr>
          <a:xfrm>
            <a:off x="-79375" y="246063"/>
            <a:ext cx="7123113" cy="4008437"/>
          </a:xfrm>
          <a:ln/>
        </p:spPr>
      </p:sp>
      <p:sp>
        <p:nvSpPr>
          <p:cNvPr id="90116" name="Rectangle 3"/>
          <p:cNvSpPr>
            <a:spLocks noGrp="1" noChangeArrowheads="1"/>
          </p:cNvSpPr>
          <p:nvPr>
            <p:ph type="body" idx="1"/>
          </p:nvPr>
        </p:nvSpPr>
        <p:spPr>
          <a:xfrm>
            <a:off x="398463" y="4397375"/>
            <a:ext cx="6032500" cy="4270375"/>
          </a:xfrm>
          <a:noFill/>
          <a:ln/>
        </p:spPr>
        <p:txBody>
          <a:bodyPr/>
          <a:lstStyle/>
          <a:p>
            <a:pPr eaLnBrk="1" hangingPunct="1"/>
            <a:endParaRPr lang="en-GB">
              <a:latin typeface="Arial" pitchFamily="1"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8477DA69-C49E-CE4E-8E34-9C4EA0B049DF}" type="slidenum">
              <a:rPr lang="en-US"/>
              <a:pPr/>
              <a:t>47</a:t>
            </a:fld>
            <a:endParaRPr lang="en-US"/>
          </a:p>
        </p:txBody>
      </p:sp>
      <p:sp>
        <p:nvSpPr>
          <p:cNvPr id="92163" name="Rectangle 2"/>
          <p:cNvSpPr>
            <a:spLocks noGrp="1" noRot="1" noChangeAspect="1" noChangeArrowheads="1" noTextEdit="1"/>
          </p:cNvSpPr>
          <p:nvPr>
            <p:ph type="sldImg"/>
          </p:nvPr>
        </p:nvSpPr>
        <p:spPr>
          <a:xfrm>
            <a:off x="-79375" y="246063"/>
            <a:ext cx="7123113" cy="4008437"/>
          </a:xfrm>
          <a:ln/>
        </p:spPr>
      </p:sp>
      <p:sp>
        <p:nvSpPr>
          <p:cNvPr id="92164" name="Rectangle 3"/>
          <p:cNvSpPr>
            <a:spLocks noGrp="1" noChangeArrowheads="1"/>
          </p:cNvSpPr>
          <p:nvPr>
            <p:ph type="body" idx="1"/>
          </p:nvPr>
        </p:nvSpPr>
        <p:spPr>
          <a:xfrm>
            <a:off x="398463" y="4397375"/>
            <a:ext cx="6032500" cy="4270375"/>
          </a:xfrm>
          <a:noFill/>
          <a:ln/>
        </p:spPr>
        <p:txBody>
          <a:bodyPr/>
          <a:lstStyle/>
          <a:p>
            <a:pPr eaLnBrk="1" hangingPunct="1"/>
            <a:r>
              <a:rPr lang="en-US">
                <a:latin typeface="Arial" pitchFamily="1" charset="0"/>
              </a:rPr>
              <a:t>This illustrate why any marking should be done in the INPUT policy-map and used in the OUTPUT policy-map, not both at the same time, because the classification done according to the class map is done in the steps 1 and 3 (dark green), and the QoS actions in 2 and 4 (orange) are done based on this classification AFTER.  So if we re-mark traffic in the orange sections, the QoS action won’t be taken based on this re-marking since the traffic has already been classified.  Even if marking is done before some other actions in the order of operation.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798D2451-B39F-4D44-8633-F7542CBDAAE6}" type="slidenum">
              <a:rPr lang="en-US"/>
              <a:pPr/>
              <a:t>48</a:t>
            </a:fld>
            <a:endParaRPr lang="en-US"/>
          </a:p>
        </p:txBody>
      </p:sp>
      <p:sp>
        <p:nvSpPr>
          <p:cNvPr id="94211" name="Rectangle 2"/>
          <p:cNvSpPr>
            <a:spLocks noGrp="1" noRot="1" noChangeAspect="1" noChangeArrowheads="1" noTextEdit="1"/>
          </p:cNvSpPr>
          <p:nvPr>
            <p:ph type="sldImg"/>
          </p:nvPr>
        </p:nvSpPr>
        <p:spPr>
          <a:xfrm>
            <a:off x="381000" y="685800"/>
            <a:ext cx="6096000" cy="3429000"/>
          </a:xfrm>
          <a:ln/>
        </p:spPr>
      </p:sp>
      <p:sp>
        <p:nvSpPr>
          <p:cNvPr id="94212" name="Rectangle 3"/>
          <p:cNvSpPr>
            <a:spLocks noGrp="1" noChangeArrowheads="1"/>
          </p:cNvSpPr>
          <p:nvPr>
            <p:ph type="body" idx="1"/>
          </p:nvPr>
        </p:nvSpPr>
        <p:spPr>
          <a:noFill/>
          <a:ln/>
        </p:spPr>
        <p:txBody>
          <a:bodyPr/>
          <a:lstStyle/>
          <a:p>
            <a:pPr eaLnBrk="1" hangingPunct="1"/>
            <a:r>
              <a:rPr lang="en-US">
                <a:latin typeface="Arial" pitchFamily="1" charset="0"/>
              </a:rPr>
              <a:t>Show policy-map interface output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61C20E44-44AE-9948-BACF-1064AE976331}" type="slidenum">
              <a:rPr lang="en-US"/>
              <a:pPr/>
              <a:t>49</a:t>
            </a:fld>
            <a:endParaRPr lang="en-US"/>
          </a:p>
        </p:txBody>
      </p:sp>
      <p:sp>
        <p:nvSpPr>
          <p:cNvPr id="96259" name="Rectangle 2"/>
          <p:cNvSpPr>
            <a:spLocks noGrp="1" noRot="1" noChangeAspect="1" noChangeArrowheads="1" noTextEdit="1"/>
          </p:cNvSpPr>
          <p:nvPr>
            <p:ph type="sldImg"/>
          </p:nvPr>
        </p:nvSpPr>
        <p:spPr>
          <a:xfrm>
            <a:off x="381000" y="685800"/>
            <a:ext cx="6096000" cy="3429000"/>
          </a:xfrm>
          <a:ln/>
        </p:spPr>
      </p:sp>
      <p:sp>
        <p:nvSpPr>
          <p:cNvPr id="96260" name="Rectangle 3"/>
          <p:cNvSpPr>
            <a:spLocks noGrp="1" noChangeArrowheads="1"/>
          </p:cNvSpPr>
          <p:nvPr>
            <p:ph type="body" idx="1"/>
          </p:nvPr>
        </p:nvSpPr>
        <p:spPr>
          <a:noFill/>
          <a:ln/>
        </p:spPr>
        <p:txBody>
          <a:bodyPr/>
          <a:lstStyle/>
          <a:p>
            <a:pPr eaLnBrk="1" hangingPunct="1"/>
            <a:r>
              <a:rPr lang="en-US">
                <a:latin typeface="Arial" pitchFamily="1" charset="0"/>
              </a:rPr>
              <a:t>Less impact of ACLs</a:t>
            </a:r>
          </a:p>
          <a:p>
            <a:pPr eaLnBrk="1" hangingPunct="1"/>
            <a:r>
              <a:rPr lang="en-US">
                <a:latin typeface="Arial" pitchFamily="1" charset="0"/>
              </a:rPr>
              <a:t>Accurate counters</a:t>
            </a:r>
          </a:p>
          <a:p>
            <a:pPr eaLnBrk="1" hangingPunct="1"/>
            <a:endParaRPr lang="en-US">
              <a:latin typeface="Arial" pitchFamily="1" charset="0"/>
            </a:endParaRPr>
          </a:p>
          <a:p>
            <a:pPr eaLnBrk="1" hangingPunct="1"/>
            <a:r>
              <a:rPr lang="en-US">
                <a:latin typeface="Arial" pitchFamily="1" charset="0"/>
              </a:rPr>
              <a:t>Match</a:t>
            </a:r>
          </a:p>
          <a:p>
            <a:pPr eaLnBrk="1" hangingPunct="1"/>
            <a:endParaRPr lang="en-US">
              <a:latin typeface="Arial" pitchFamily="1" charset="0"/>
            </a:endParaRPr>
          </a:p>
          <a:p>
            <a:pPr eaLnBrk="1" hangingPunct="1"/>
            <a:r>
              <a:rPr lang="en-US">
                <a:latin typeface="Arial" pitchFamily="1" charset="0"/>
              </a:rPr>
              <a:t>Nothing !</a:t>
            </a:r>
          </a:p>
          <a:p>
            <a:pPr eaLnBrk="1" hangingPunct="1"/>
            <a:r>
              <a:rPr lang="en-US">
                <a:latin typeface="Arial" pitchFamily="1" charset="0"/>
              </a:rPr>
              <a:t>Pre-classify only needed if the policy is applied on the Physical and matching has to be done on pre-GRE ;)</a:t>
            </a:r>
          </a:p>
          <a:p>
            <a:pPr eaLnBrk="1" hangingPunct="1"/>
            <a:endParaRPr lang="en-US">
              <a:latin typeface="Arial" pitchFamily="1" charset="0"/>
            </a:endParaRPr>
          </a:p>
          <a:p>
            <a:pPr eaLnBrk="1" hangingPunct="1"/>
            <a:r>
              <a:rPr lang="en-US">
                <a:latin typeface="Arial" pitchFamily="1" charset="0"/>
              </a:rPr>
              <a:t>NBAR</a:t>
            </a:r>
          </a:p>
          <a:p>
            <a:pPr eaLnBrk="1" hangingPunct="1"/>
            <a:endParaRPr lang="en-US">
              <a:latin typeface="Arial" pitchFamily="1" charset="0"/>
            </a:endParaRPr>
          </a:p>
          <a:p>
            <a:pPr eaLnBrk="1" hangingPunct="1"/>
            <a:r>
              <a:rPr lang="en-US">
                <a:latin typeface="Arial" pitchFamily="1" charset="0"/>
              </a:rPr>
              <a:t>No traffic, no common classification and no congestion, service-policy applied to the wrong interface or in the wrong direction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FF519156-BFB3-744B-831A-FFEEE1CD2D6C}" type="slidenum">
              <a:rPr lang="en-US"/>
              <a:pPr/>
              <a:t>50</a:t>
            </a:fld>
            <a:endParaRPr lang="en-US"/>
          </a:p>
        </p:txBody>
      </p:sp>
      <p:sp>
        <p:nvSpPr>
          <p:cNvPr id="98307" name="Rectangle 2"/>
          <p:cNvSpPr>
            <a:spLocks noGrp="1" noRot="1" noChangeAspect="1" noChangeArrowheads="1" noTextEdit="1"/>
          </p:cNvSpPr>
          <p:nvPr>
            <p:ph type="sldImg"/>
          </p:nvPr>
        </p:nvSpPr>
        <p:spPr>
          <a:xfrm>
            <a:off x="381000" y="685800"/>
            <a:ext cx="6096000" cy="3429000"/>
          </a:xfrm>
          <a:ln/>
        </p:spPr>
      </p:sp>
      <p:sp>
        <p:nvSpPr>
          <p:cNvPr id="98308" name="Rectangle 3"/>
          <p:cNvSpPr>
            <a:spLocks noGrp="1" noChangeArrowheads="1"/>
          </p:cNvSpPr>
          <p:nvPr>
            <p:ph type="body" idx="1"/>
          </p:nvPr>
        </p:nvSpPr>
        <p:spPr>
          <a:noFill/>
          <a:ln/>
        </p:spPr>
        <p:txBody>
          <a:bodyPr/>
          <a:lstStyle/>
          <a:p>
            <a:pPr eaLnBrk="1" hangingPunct="1"/>
            <a:endParaRPr lang="en-US">
              <a:latin typeface="Arial" pitchFamily="1"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DA7E3F14-5E5B-1449-9A35-514483C4570B}" type="slidenum">
              <a:rPr lang="en-US"/>
              <a:pPr/>
              <a:t>56</a:t>
            </a:fld>
            <a:endParaRPr lang="en-US"/>
          </a:p>
        </p:txBody>
      </p:sp>
      <p:sp>
        <p:nvSpPr>
          <p:cNvPr id="105475" name="Rectangle 2"/>
          <p:cNvSpPr>
            <a:spLocks noGrp="1" noRot="1" noChangeAspect="1" noChangeArrowheads="1" noTextEdit="1"/>
          </p:cNvSpPr>
          <p:nvPr>
            <p:ph type="sldImg"/>
          </p:nvPr>
        </p:nvSpPr>
        <p:spPr>
          <a:xfrm>
            <a:off x="-79375" y="246063"/>
            <a:ext cx="7123113" cy="4008437"/>
          </a:xfrm>
          <a:ln/>
        </p:spPr>
      </p:sp>
      <p:sp>
        <p:nvSpPr>
          <p:cNvPr id="105476" name="Rectangle 3"/>
          <p:cNvSpPr>
            <a:spLocks noGrp="1" noChangeArrowheads="1"/>
          </p:cNvSpPr>
          <p:nvPr>
            <p:ph type="body" idx="1"/>
          </p:nvPr>
        </p:nvSpPr>
        <p:spPr>
          <a:xfrm>
            <a:off x="398463" y="4397375"/>
            <a:ext cx="6032500" cy="4270375"/>
          </a:xfrm>
          <a:noFill/>
          <a:ln/>
        </p:spPr>
        <p:txBody>
          <a:bodyPr/>
          <a:lstStyle/>
          <a:p>
            <a:pPr eaLnBrk="1" hangingPunct="1"/>
            <a:endParaRPr lang="en-GB">
              <a:latin typeface="Arial" pitchFamily="1"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127314A0-6E3B-1A4B-95A2-440FCD52F443}" type="slidenum">
              <a:rPr lang="en-US"/>
              <a:pPr/>
              <a:t>57</a:t>
            </a:fld>
            <a:endParaRPr lang="en-US"/>
          </a:p>
        </p:txBody>
      </p:sp>
      <p:sp>
        <p:nvSpPr>
          <p:cNvPr id="107523" name="Rectangle 2"/>
          <p:cNvSpPr>
            <a:spLocks noGrp="1" noRot="1" noChangeAspect="1" noChangeArrowheads="1" noTextEdit="1"/>
          </p:cNvSpPr>
          <p:nvPr>
            <p:ph type="sldImg"/>
          </p:nvPr>
        </p:nvSpPr>
        <p:spPr>
          <a:xfrm>
            <a:off x="-79375" y="246063"/>
            <a:ext cx="7123113" cy="4008437"/>
          </a:xfrm>
          <a:ln/>
        </p:spPr>
      </p:sp>
      <p:sp>
        <p:nvSpPr>
          <p:cNvPr id="107524" name="Rectangle 3"/>
          <p:cNvSpPr>
            <a:spLocks noGrp="1" noChangeArrowheads="1"/>
          </p:cNvSpPr>
          <p:nvPr>
            <p:ph type="body" idx="1"/>
          </p:nvPr>
        </p:nvSpPr>
        <p:spPr>
          <a:xfrm>
            <a:off x="398463" y="4397375"/>
            <a:ext cx="6032500" cy="4270375"/>
          </a:xfrm>
          <a:noFill/>
          <a:ln/>
        </p:spPr>
        <p:txBody>
          <a:bodyPr/>
          <a:lstStyle/>
          <a:p>
            <a:pPr eaLnBrk="1" hangingPunct="1"/>
            <a:endParaRPr lang="en-GB">
              <a:latin typeface="Arial" pitchFamily="1"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FA159A29-BD2F-4543-BD13-62E246861A98}" type="slidenum">
              <a:rPr lang="en-US"/>
              <a:pPr/>
              <a:t>58</a:t>
            </a:fld>
            <a:endParaRPr lang="en-US"/>
          </a:p>
        </p:txBody>
      </p:sp>
      <p:sp>
        <p:nvSpPr>
          <p:cNvPr id="109571" name="Rectangle 2"/>
          <p:cNvSpPr>
            <a:spLocks noGrp="1" noRot="1" noChangeAspect="1" noChangeArrowheads="1" noTextEdit="1"/>
          </p:cNvSpPr>
          <p:nvPr>
            <p:ph type="sldImg"/>
          </p:nvPr>
        </p:nvSpPr>
        <p:spPr>
          <a:xfrm>
            <a:off x="381000" y="685800"/>
            <a:ext cx="6096000" cy="3429000"/>
          </a:xfrm>
          <a:ln/>
        </p:spPr>
      </p:sp>
      <p:sp>
        <p:nvSpPr>
          <p:cNvPr id="109572" name="Rectangle 3"/>
          <p:cNvSpPr>
            <a:spLocks noGrp="1" noChangeArrowheads="1"/>
          </p:cNvSpPr>
          <p:nvPr>
            <p:ph type="body" idx="1"/>
          </p:nvPr>
        </p:nvSpPr>
        <p:spPr>
          <a:noFill/>
          <a:ln/>
        </p:spPr>
        <p:txBody>
          <a:bodyPr/>
          <a:lstStyle/>
          <a:p>
            <a:pPr eaLnBrk="1" hangingPunct="1"/>
            <a:r>
              <a:rPr lang="en-US">
                <a:latin typeface="Arial" pitchFamily="1" charset="0"/>
              </a:rPr>
              <a:t>Class-based policer and class-based marking</a:t>
            </a:r>
          </a:p>
          <a:p>
            <a:pPr eaLnBrk="1" hangingPunct="1"/>
            <a:endParaRPr lang="en-US">
              <a:latin typeface="Arial" pitchFamily="1" charset="0"/>
            </a:endParaRPr>
          </a:p>
          <a:p>
            <a:pPr eaLnBrk="1" hangingPunct="1"/>
            <a:r>
              <a:rPr lang="en-US">
                <a:latin typeface="Arial" pitchFamily="1" charset="0"/>
              </a:rPr>
              <a:t>Police and Set</a:t>
            </a:r>
          </a:p>
          <a:p>
            <a:pPr eaLnBrk="1" hangingPunct="1"/>
            <a:endParaRPr lang="en-US">
              <a:latin typeface="Arial" pitchFamily="1" charset="0"/>
            </a:endParaRPr>
          </a:p>
          <a:p>
            <a:pPr eaLnBrk="1" hangingPunct="1"/>
            <a:r>
              <a:rPr lang="en-US">
                <a:latin typeface="Arial" pitchFamily="1" charset="0"/>
              </a:rPr>
              <a:t>No, because qos-group is internal to the router</a:t>
            </a:r>
          </a:p>
          <a:p>
            <a:pPr eaLnBrk="1" hangingPunct="1"/>
            <a:endParaRPr lang="en-US">
              <a:latin typeface="Arial" pitchFamily="1" charset="0"/>
            </a:endParaRPr>
          </a:p>
          <a:p>
            <a:pPr eaLnBrk="1" hangingPunct="1"/>
            <a:r>
              <a:rPr lang="en-US">
                <a:latin typeface="Arial" pitchFamily="1" charset="0"/>
              </a:rPr>
              <a:t>Mark the packet itself (DSCP, Precedence)</a:t>
            </a:r>
          </a:p>
          <a:p>
            <a:pPr eaLnBrk="1" hangingPunct="1"/>
            <a:endParaRPr lang="en-US">
              <a:latin typeface="Arial" pitchFamily="1" charset="0"/>
            </a:endParaRPr>
          </a:p>
          <a:p>
            <a:pPr eaLnBrk="1" hangingPunct="1"/>
            <a:r>
              <a:rPr lang="en-US">
                <a:latin typeface="Arial" pitchFamily="1" charset="0"/>
              </a:rPr>
              <a:t>No, because queuing decision is done based on classification, and classification occurs before marking.</a:t>
            </a:r>
          </a:p>
          <a:p>
            <a:pPr eaLnBrk="1" hangingPunct="1"/>
            <a:endParaRPr lang="en-US">
              <a:latin typeface="Arial" pitchFamily="1" charset="0"/>
            </a:endParaRPr>
          </a:p>
          <a:p>
            <a:pPr eaLnBrk="1" hangingPunct="1"/>
            <a:r>
              <a:rPr lang="en-US">
                <a:latin typeface="Arial" pitchFamily="1" charset="0"/>
              </a:rPr>
              <a:t>Mark the packet using an INPUT policy, and queue it in the OUTPUT policy</a:t>
            </a:r>
          </a:p>
          <a:p>
            <a:pPr eaLnBrk="1" hangingPunct="1"/>
            <a:endParaRPr lang="en-US">
              <a:latin typeface="Arial" pitchFamily="1"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1C500A27-CDF9-A44E-BCA0-DD2399AD12E0}" type="slidenum">
              <a:rPr lang="en-US"/>
              <a:pPr/>
              <a:t>59</a:t>
            </a:fld>
            <a:endParaRPr lang="en-US"/>
          </a:p>
        </p:txBody>
      </p:sp>
      <p:sp>
        <p:nvSpPr>
          <p:cNvPr id="87043" name="Rectangle 2"/>
          <p:cNvSpPr>
            <a:spLocks noGrp="1" noRot="1" noChangeAspect="1" noChangeArrowheads="1" noTextEdit="1"/>
          </p:cNvSpPr>
          <p:nvPr>
            <p:ph type="sldImg"/>
          </p:nvPr>
        </p:nvSpPr>
        <p:spPr>
          <a:xfrm>
            <a:off x="381000" y="685800"/>
            <a:ext cx="6096000" cy="3429000"/>
          </a:xfrm>
          <a:ln/>
        </p:spPr>
      </p:sp>
      <p:sp>
        <p:nvSpPr>
          <p:cNvPr id="87044" name="Rectangle 3"/>
          <p:cNvSpPr>
            <a:spLocks noGrp="1" noChangeArrowheads="1"/>
          </p:cNvSpPr>
          <p:nvPr>
            <p:ph type="body" idx="1"/>
          </p:nvPr>
        </p:nvSpPr>
        <p:spPr>
          <a:noFill/>
          <a:ln/>
        </p:spPr>
        <p:txBody>
          <a:bodyPr/>
          <a:lstStyle/>
          <a:p>
            <a:pPr eaLnBrk="1" hangingPunct="1"/>
            <a:r>
              <a:rPr lang="en-US">
                <a:latin typeface="Arial" pitchFamily="1" charset="0"/>
              </a:rPr>
              <a:t>Bob’s role.</a:t>
            </a:r>
          </a:p>
          <a:p>
            <a:pPr eaLnBrk="1" hangingPunct="1"/>
            <a:r>
              <a:rPr lang="en-US">
                <a:latin typeface="Arial" pitchFamily="1" charset="0"/>
              </a:rPr>
              <a:t>Let’s see which instruction you can give him to handle the flow of customers coming in.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D0866D98-D529-3E46-9F3E-593882C38FAC}" type="slidenum">
              <a:rPr lang="en-US"/>
              <a:pPr/>
              <a:t>60</a:t>
            </a:fld>
            <a:endParaRPr lang="en-US"/>
          </a:p>
        </p:txBody>
      </p:sp>
      <p:sp>
        <p:nvSpPr>
          <p:cNvPr id="88067" name="Rectangle 2"/>
          <p:cNvSpPr>
            <a:spLocks noGrp="1" noRot="1" noChangeAspect="1" noChangeArrowheads="1" noTextEdit="1"/>
          </p:cNvSpPr>
          <p:nvPr>
            <p:ph type="sldImg"/>
          </p:nvPr>
        </p:nvSpPr>
        <p:spPr>
          <a:xfrm>
            <a:off x="-79375" y="246063"/>
            <a:ext cx="7123113" cy="4008437"/>
          </a:xfrm>
          <a:ln/>
        </p:spPr>
      </p:sp>
      <p:sp>
        <p:nvSpPr>
          <p:cNvPr id="88068" name="Rectangle 3"/>
          <p:cNvSpPr>
            <a:spLocks noGrp="1" noChangeArrowheads="1"/>
          </p:cNvSpPr>
          <p:nvPr>
            <p:ph type="body" idx="1"/>
          </p:nvPr>
        </p:nvSpPr>
        <p:spPr>
          <a:xfrm>
            <a:off x="398463" y="4397375"/>
            <a:ext cx="6032500" cy="4271963"/>
          </a:xfrm>
          <a:noFill/>
          <a:ln/>
        </p:spPr>
        <p:txBody>
          <a:bodyPr/>
          <a:lstStyle/>
          <a:p>
            <a:pPr eaLnBrk="1" hangingPunct="1">
              <a:lnSpc>
                <a:spcPct val="80000"/>
              </a:lnSpc>
              <a:buFontTx/>
              <a:buChar char="•"/>
            </a:pPr>
            <a:r>
              <a:rPr lang="en-GB" sz="900">
                <a:latin typeface="Arial" pitchFamily="1" charset="0"/>
              </a:rPr>
              <a:t> </a:t>
            </a:r>
            <a:r>
              <a:rPr lang="en-GB" sz="1100">
                <a:latin typeface="Arial" pitchFamily="1" charset="0"/>
              </a:rPr>
              <a:t>Queuing</a:t>
            </a:r>
            <a:r>
              <a:rPr lang="en-GB" sz="900">
                <a:latin typeface="Arial" pitchFamily="1" charset="0"/>
              </a:rPr>
              <a:t> :</a:t>
            </a:r>
            <a:endParaRPr lang="en-US" sz="900">
              <a:latin typeface="Arial" pitchFamily="1" charset="0"/>
            </a:endParaRPr>
          </a:p>
          <a:p>
            <a:pPr lvl="1" eaLnBrk="1" hangingPunct="1">
              <a:lnSpc>
                <a:spcPct val="80000"/>
              </a:lnSpc>
            </a:pPr>
            <a:r>
              <a:rPr lang="en-US" sz="1100">
                <a:latin typeface="Arial" pitchFamily="1" charset="0"/>
              </a:rPr>
              <a:t>Congestion management entails the creation of queues, assignment of packets to those queues based on </a:t>
            </a:r>
            <a:r>
              <a:rPr lang="en-US" sz="1100">
                <a:solidFill>
                  <a:schemeClr val="folHlink"/>
                </a:solidFill>
                <a:latin typeface="Arial" pitchFamily="1" charset="0"/>
              </a:rPr>
              <a:t>classification</a:t>
            </a:r>
          </a:p>
          <a:p>
            <a:pPr lvl="1" eaLnBrk="1" hangingPunct="1">
              <a:lnSpc>
                <a:spcPct val="80000"/>
              </a:lnSpc>
            </a:pPr>
            <a:endParaRPr lang="en-US" sz="1100">
              <a:solidFill>
                <a:schemeClr val="accent2"/>
              </a:solidFill>
              <a:latin typeface="Arial" pitchFamily="1" charset="0"/>
            </a:endParaRPr>
          </a:p>
          <a:p>
            <a:pPr eaLnBrk="1" hangingPunct="1">
              <a:lnSpc>
                <a:spcPct val="80000"/>
              </a:lnSpc>
              <a:buFontTx/>
              <a:buChar char="•"/>
            </a:pPr>
            <a:r>
              <a:rPr lang="en-US" sz="900">
                <a:latin typeface="Arial" pitchFamily="1" charset="0"/>
              </a:rPr>
              <a:t> </a:t>
            </a:r>
            <a:r>
              <a:rPr lang="en-US" sz="1100">
                <a:latin typeface="Arial" pitchFamily="1" charset="0"/>
              </a:rPr>
              <a:t>Scheduling</a:t>
            </a:r>
            <a:r>
              <a:rPr lang="en-US" sz="900">
                <a:latin typeface="Arial" pitchFamily="1" charset="0"/>
              </a:rPr>
              <a:t> : </a:t>
            </a:r>
          </a:p>
          <a:p>
            <a:pPr lvl="1" eaLnBrk="1" hangingPunct="1">
              <a:lnSpc>
                <a:spcPct val="80000"/>
              </a:lnSpc>
            </a:pPr>
            <a:r>
              <a:rPr lang="en-US" sz="1100">
                <a:latin typeface="Arial" pitchFamily="1" charset="0"/>
              </a:rPr>
              <a:t>Congestion management controls congestion by </a:t>
            </a:r>
            <a:r>
              <a:rPr lang="en-US" sz="1100">
                <a:solidFill>
                  <a:schemeClr val="folHlink"/>
                </a:solidFill>
                <a:latin typeface="Arial" pitchFamily="1" charset="0"/>
              </a:rPr>
              <a:t>determining the order</a:t>
            </a:r>
            <a:r>
              <a:rPr lang="en-US" sz="1100">
                <a:latin typeface="Arial" pitchFamily="1" charset="0"/>
              </a:rPr>
              <a:t> in which packets are sent from different queues out an interface based on packet priorities.</a:t>
            </a:r>
          </a:p>
          <a:p>
            <a:pPr lvl="1" eaLnBrk="1" hangingPunct="1">
              <a:lnSpc>
                <a:spcPct val="80000"/>
              </a:lnSpc>
            </a:pPr>
            <a:r>
              <a:rPr lang="en-US" sz="1100">
                <a:solidFill>
                  <a:schemeClr val="folHlink"/>
                </a:solidFill>
                <a:latin typeface="Arial" pitchFamily="1" charset="0"/>
              </a:rPr>
              <a:t>Scheduling policy specifies how packets of different classes are served with respect to each other</a:t>
            </a:r>
            <a:r>
              <a:rPr lang="en-US" sz="1100">
                <a:latin typeface="Arial" pitchFamily="1" charset="0"/>
              </a:rPr>
              <a:t>. Example scheduling policies include FIFO and WFQ.</a:t>
            </a:r>
          </a:p>
          <a:p>
            <a:pPr eaLnBrk="1" hangingPunct="1"/>
            <a:endParaRPr lang="en-US">
              <a:latin typeface="Arial" pitchFamily="1"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0B8FACDA-281A-AC4E-B0AD-980933DA84E7}" type="slidenum">
              <a:rPr lang="en-US"/>
              <a:pPr/>
              <a:t>61</a:t>
            </a:fld>
            <a:endParaRPr lang="en-US"/>
          </a:p>
        </p:txBody>
      </p:sp>
      <p:sp>
        <p:nvSpPr>
          <p:cNvPr id="89091" name="Rectangle 2"/>
          <p:cNvSpPr>
            <a:spLocks noGrp="1" noRot="1" noChangeAspect="1" noChangeArrowheads="1" noTextEdit="1"/>
          </p:cNvSpPr>
          <p:nvPr>
            <p:ph type="sldImg"/>
          </p:nvPr>
        </p:nvSpPr>
        <p:spPr>
          <a:xfrm>
            <a:off x="381000" y="685800"/>
            <a:ext cx="6096000" cy="3429000"/>
          </a:xfrm>
          <a:ln/>
        </p:spPr>
      </p:sp>
      <p:sp>
        <p:nvSpPr>
          <p:cNvPr id="89092" name="Rectangle 3"/>
          <p:cNvSpPr>
            <a:spLocks noGrp="1" noChangeArrowheads="1"/>
          </p:cNvSpPr>
          <p:nvPr>
            <p:ph type="body" idx="1"/>
          </p:nvPr>
        </p:nvSpPr>
        <p:spPr>
          <a:noFill/>
          <a:ln/>
        </p:spPr>
        <p:txBody>
          <a:bodyPr/>
          <a:lstStyle/>
          <a:p>
            <a:pPr eaLnBrk="1" hangingPunct="1"/>
            <a:r>
              <a:rPr lang="en-US">
                <a:latin typeface="Arial" pitchFamily="1" charset="0"/>
              </a:rPr>
              <a:t>If a tx-ring is high, this will affect the delay of packets, and make QoS less effective.</a:t>
            </a:r>
          </a:p>
          <a:p>
            <a:pPr eaLnBrk="1" hangingPunct="1"/>
            <a:r>
              <a:rPr lang="en-US">
                <a:latin typeface="Arial" pitchFamily="1" charset="0"/>
              </a:rPr>
              <a:t>On the other hand, a very low tx-ring will affect the CPU</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0C3D5A3E-EE9C-6D4F-8E86-3D9628CF349B}" type="slidenum">
              <a:rPr lang="en-US"/>
              <a:pPr/>
              <a:t>62</a:t>
            </a:fld>
            <a:endParaRPr lang="en-US"/>
          </a:p>
        </p:txBody>
      </p:sp>
      <p:sp>
        <p:nvSpPr>
          <p:cNvPr id="90115" name="Rectangle 2"/>
          <p:cNvSpPr>
            <a:spLocks noGrp="1" noRot="1" noChangeAspect="1" noChangeArrowheads="1" noTextEdit="1"/>
          </p:cNvSpPr>
          <p:nvPr>
            <p:ph type="sldImg"/>
          </p:nvPr>
        </p:nvSpPr>
        <p:spPr>
          <a:xfrm>
            <a:off x="381000" y="685800"/>
            <a:ext cx="6096000" cy="3429000"/>
          </a:xfrm>
          <a:ln/>
        </p:spPr>
      </p:sp>
      <p:sp>
        <p:nvSpPr>
          <p:cNvPr id="90116" name="Rectangle 3"/>
          <p:cNvSpPr>
            <a:spLocks noGrp="1" noChangeArrowheads="1"/>
          </p:cNvSpPr>
          <p:nvPr>
            <p:ph type="body" idx="1"/>
          </p:nvPr>
        </p:nvSpPr>
        <p:spPr>
          <a:noFill/>
          <a:ln/>
        </p:spPr>
        <p:txBody>
          <a:bodyPr/>
          <a:lstStyle/>
          <a:p>
            <a:pPr eaLnBrk="1" hangingPunct="1"/>
            <a:r>
              <a:rPr lang="en-US">
                <a:latin typeface="Arial" pitchFamily="1" charset="0"/>
              </a:rPr>
              <a:t>Exact output depends on interface controller (HW Chip used)</a:t>
            </a:r>
          </a:p>
          <a:p>
            <a:pPr eaLnBrk="1" hangingPunct="1"/>
            <a:endParaRPr lang="en-US">
              <a:latin typeface="Arial" pitchFamily="1" charset="0"/>
            </a:endParaRPr>
          </a:p>
          <a:p>
            <a:pPr eaLnBrk="1" hangingPunct="1"/>
            <a:r>
              <a:rPr lang="en-US">
                <a:latin typeface="Arial" pitchFamily="1" charset="0"/>
              </a:rPr>
              <a:t>Applying QoS (other than FIFO) will automatically reduce the size of the tx-ring.</a:t>
            </a:r>
          </a:p>
          <a:p>
            <a:pPr eaLnBrk="1" hangingPunct="1"/>
            <a:r>
              <a:rPr lang="en-US">
                <a:latin typeface="Arial" pitchFamily="1" charset="0"/>
              </a:rPr>
              <a:t>Notable exception are ATM interfaces, where the tx-ring needs to be manually decreased.</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9F8CC41F-6A8F-A945-B5C9-62B8346FC7D5}" type="slidenum">
              <a:rPr lang="en-US"/>
              <a:pPr/>
              <a:t>64</a:t>
            </a:fld>
            <a:endParaRPr lang="en-US"/>
          </a:p>
        </p:txBody>
      </p:sp>
      <p:sp>
        <p:nvSpPr>
          <p:cNvPr id="91139" name="Rectangle 2"/>
          <p:cNvSpPr>
            <a:spLocks noGrp="1" noRot="1" noChangeAspect="1" noChangeArrowheads="1" noTextEdit="1"/>
          </p:cNvSpPr>
          <p:nvPr>
            <p:ph type="sldImg"/>
          </p:nvPr>
        </p:nvSpPr>
        <p:spPr>
          <a:xfrm>
            <a:off x="381000" y="685800"/>
            <a:ext cx="6096000" cy="3429000"/>
          </a:xfrm>
          <a:ln/>
        </p:spPr>
      </p:sp>
      <p:sp>
        <p:nvSpPr>
          <p:cNvPr id="91140" name="Rectangle 3"/>
          <p:cNvSpPr>
            <a:spLocks noGrp="1" noChangeArrowheads="1"/>
          </p:cNvSpPr>
          <p:nvPr>
            <p:ph type="body" idx="1"/>
          </p:nvPr>
        </p:nvSpPr>
        <p:spPr>
          <a:noFill/>
          <a:ln/>
        </p:spPr>
        <p:txBody>
          <a:bodyPr/>
          <a:lstStyle/>
          <a:p>
            <a:pPr eaLnBrk="1" hangingPunct="1"/>
            <a:r>
              <a:rPr lang="en-US">
                <a:latin typeface="Arial" pitchFamily="1" charset="0"/>
              </a:rPr>
              <a:t>Algorithm is actually the instructions you gave to Bob</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353C3918-48F0-B946-8F04-95D9C797B9E0}" type="slidenum">
              <a:rPr lang="en-US"/>
              <a:pPr/>
              <a:t>66</a:t>
            </a:fld>
            <a:endParaRPr lang="en-US"/>
          </a:p>
        </p:txBody>
      </p:sp>
      <p:sp>
        <p:nvSpPr>
          <p:cNvPr id="92163" name="Rectangle 2"/>
          <p:cNvSpPr>
            <a:spLocks noGrp="1" noRot="1" noChangeAspect="1" noChangeArrowheads="1" noTextEdit="1"/>
          </p:cNvSpPr>
          <p:nvPr>
            <p:ph type="sldImg"/>
          </p:nvPr>
        </p:nvSpPr>
        <p:spPr>
          <a:xfrm>
            <a:off x="381000" y="685800"/>
            <a:ext cx="6096000" cy="3429000"/>
          </a:xfrm>
          <a:ln/>
        </p:spPr>
      </p:sp>
      <p:sp>
        <p:nvSpPr>
          <p:cNvPr id="92164" name="Rectangle 3"/>
          <p:cNvSpPr>
            <a:spLocks noGrp="1" noChangeArrowheads="1"/>
          </p:cNvSpPr>
          <p:nvPr>
            <p:ph type="body" idx="1"/>
          </p:nvPr>
        </p:nvSpPr>
        <p:spPr>
          <a:noFill/>
          <a:ln/>
        </p:spPr>
        <p:txBody>
          <a:bodyPr/>
          <a:lstStyle/>
          <a:p>
            <a:pPr eaLnBrk="1" hangingPunct="1"/>
            <a:r>
              <a:rPr lang="en-US">
                <a:latin typeface="Arial" pitchFamily="1" charset="0"/>
              </a:rPr>
              <a:t>Deprecated.</a:t>
            </a:r>
          </a:p>
          <a:p>
            <a:pPr eaLnBrk="1" hangingPunct="1"/>
            <a:r>
              <a:rPr lang="en-US">
                <a:latin typeface="Arial" pitchFamily="1" charset="0"/>
              </a:rPr>
              <a:t>Only here for the record.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EF8C80A7-68B1-A246-85CE-261BA70FD8B1}" type="slidenum">
              <a:rPr lang="en-US"/>
              <a:pPr/>
              <a:t>67</a:t>
            </a:fld>
            <a:endParaRPr lang="en-US"/>
          </a:p>
        </p:txBody>
      </p:sp>
      <p:sp>
        <p:nvSpPr>
          <p:cNvPr id="93187" name="Rectangle 2"/>
          <p:cNvSpPr>
            <a:spLocks noGrp="1" noRot="1" noChangeAspect="1" noChangeArrowheads="1" noTextEdit="1"/>
          </p:cNvSpPr>
          <p:nvPr>
            <p:ph type="sldImg"/>
          </p:nvPr>
        </p:nvSpPr>
        <p:spPr>
          <a:xfrm>
            <a:off x="381000" y="685800"/>
            <a:ext cx="6096000" cy="3429000"/>
          </a:xfrm>
          <a:ln/>
        </p:spPr>
      </p:sp>
      <p:sp>
        <p:nvSpPr>
          <p:cNvPr id="93188" name="Rectangle 3"/>
          <p:cNvSpPr>
            <a:spLocks noGrp="1" noChangeArrowheads="1"/>
          </p:cNvSpPr>
          <p:nvPr>
            <p:ph type="body" idx="1"/>
          </p:nvPr>
        </p:nvSpPr>
        <p:spPr>
          <a:noFill/>
          <a:ln/>
        </p:spPr>
        <p:txBody>
          <a:bodyPr/>
          <a:lstStyle/>
          <a:p>
            <a:pPr eaLnBrk="1" hangingPunct="1"/>
            <a:r>
              <a:rPr lang="en-US">
                <a:latin typeface="Arial" pitchFamily="1" charset="0"/>
              </a:rPr>
              <a:t>Deprecated.</a:t>
            </a:r>
          </a:p>
          <a:p>
            <a:pPr eaLnBrk="1" hangingPunct="1"/>
            <a:r>
              <a:rPr lang="en-US">
                <a:latin typeface="Arial" pitchFamily="1" charset="0"/>
              </a:rPr>
              <a:t>Sill sometimes used because it allowed two levels of priority queues</a:t>
            </a:r>
          </a:p>
          <a:p>
            <a:pPr eaLnBrk="1" hangingPunct="1"/>
            <a:endParaRPr lang="en-US">
              <a:latin typeface="Arial" pitchFamily="1" charset="0"/>
            </a:endParaRPr>
          </a:p>
          <a:p>
            <a:pPr eaLnBrk="1" hangingPunct="1"/>
            <a:r>
              <a:rPr lang="en-US">
                <a:latin typeface="Arial" pitchFamily="1" charset="0"/>
              </a:rPr>
              <a:t>Byte-count based.</a:t>
            </a:r>
          </a:p>
          <a:p>
            <a:pPr eaLnBrk="1" hangingPunct="1"/>
            <a:r>
              <a:rPr lang="en-US">
                <a:latin typeface="Arial" pitchFamily="1" charset="0"/>
              </a:rPr>
              <a:t>Queues were assigned byte counts, that would be decreased by the amount of bytes sent.</a:t>
            </a:r>
          </a:p>
          <a:p>
            <a:pPr eaLnBrk="1" hangingPunct="1"/>
            <a:r>
              <a:rPr lang="en-US">
                <a:latin typeface="Arial" pitchFamily="1" charset="0"/>
              </a:rPr>
              <a:t>If only one byte left, it was still enough to send the packet, and move to the next queue (round robin).</a:t>
            </a:r>
          </a:p>
          <a:p>
            <a:pPr eaLnBrk="1" hangingPunct="1"/>
            <a:endParaRPr lang="en-US">
              <a:latin typeface="Arial" pitchFamily="1" charset="0"/>
            </a:endParaRPr>
          </a:p>
          <a:p>
            <a:pPr eaLnBrk="1" hangingPunct="1"/>
            <a:r>
              <a:rPr lang="en-US">
                <a:latin typeface="Arial" pitchFamily="1" charset="0"/>
              </a:rPr>
              <a:t>Worst case:</a:t>
            </a:r>
          </a:p>
          <a:p>
            <a:pPr eaLnBrk="1" hangingPunct="1"/>
            <a:r>
              <a:rPr lang="en-US">
                <a:latin typeface="Arial" pitchFamily="1" charset="0"/>
              </a:rPr>
              <a:t>Byte count of 2000:  1000 packet sent, 999 packet sent, 1000 packet sent =&gt; just sent 50% more than allocated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18A3F6E0-9007-5F43-B718-FD6066BEF051}" type="slidenum">
              <a:rPr lang="en-US"/>
              <a:pPr/>
              <a:t>75</a:t>
            </a:fld>
            <a:endParaRPr lang="en-US"/>
          </a:p>
        </p:txBody>
      </p:sp>
      <p:sp>
        <p:nvSpPr>
          <p:cNvPr id="94211" name="Rectangle 2"/>
          <p:cNvSpPr>
            <a:spLocks noGrp="1" noRot="1" noChangeAspect="1" noChangeArrowheads="1" noTextEdit="1"/>
          </p:cNvSpPr>
          <p:nvPr>
            <p:ph type="sldImg"/>
          </p:nvPr>
        </p:nvSpPr>
        <p:spPr>
          <a:xfrm>
            <a:off x="730250" y="844550"/>
            <a:ext cx="5397500" cy="3036888"/>
          </a:xfrm>
          <a:ln w="12700" cap="flat">
            <a:solidFill>
              <a:schemeClr val="tx1"/>
            </a:solidFill>
          </a:ln>
        </p:spPr>
      </p:sp>
      <p:sp>
        <p:nvSpPr>
          <p:cNvPr id="94212" name="Rectangle 3"/>
          <p:cNvSpPr>
            <a:spLocks noGrp="1" noChangeArrowheads="1"/>
          </p:cNvSpPr>
          <p:nvPr>
            <p:ph type="body" idx="1"/>
          </p:nvPr>
        </p:nvSpPr>
        <p:spPr>
          <a:xfrm>
            <a:off x="914400" y="3733800"/>
            <a:ext cx="5029200" cy="4724400"/>
          </a:xfrm>
          <a:noFill/>
          <a:ln/>
        </p:spPr>
        <p:txBody>
          <a:bodyPr lIns="89004" tIns="43721" rIns="89004" bIns="43721"/>
          <a:lstStyle/>
          <a:p>
            <a:pPr eaLnBrk="1" hangingPunct="1"/>
            <a:r>
              <a:rPr lang="en-GB">
                <a:latin typeface="Arial" pitchFamily="1" charset="0"/>
              </a:rPr>
              <a:t>http://www.cs.cornell.edu/home/skeshav/book/slides/scheduling/ppframe.htm</a:t>
            </a:r>
          </a:p>
          <a:p>
            <a:pPr eaLnBrk="1" hangingPunct="1"/>
            <a:endParaRPr lang="en-GB">
              <a:latin typeface="Arial" pitchFamily="1" charset="0"/>
            </a:endParaRPr>
          </a:p>
          <a:p>
            <a:pPr eaLnBrk="1" hangingPunct="1"/>
            <a:r>
              <a:rPr lang="en-GB">
                <a:latin typeface="Arial" pitchFamily="1" charset="0"/>
              </a:rPr>
              <a:t>Suppose, in each round, the server served one bit from each active connection</a:t>
            </a:r>
          </a:p>
          <a:p>
            <a:pPr eaLnBrk="1" hangingPunct="1"/>
            <a:r>
              <a:rPr lang="en-GB">
                <a:latin typeface="Arial" pitchFamily="1" charset="0"/>
              </a:rPr>
              <a:t>Round number is the number of rounds already completed</a:t>
            </a:r>
          </a:p>
          <a:p>
            <a:pPr eaLnBrk="1" hangingPunct="1"/>
            <a:r>
              <a:rPr lang="en-GB">
                <a:latin typeface="Arial" pitchFamily="1" charset="0"/>
              </a:rPr>
              <a:t>If a packet of length p arrives to an empty queue when the round number is R, it will complete service when the round number is R + p </a:t>
            </a:r>
            <a:r>
              <a:rPr lang="en-GB">
                <a:latin typeface="Arial" pitchFamily="1" charset="0"/>
                <a:sym typeface="Wingdings" pitchFamily="1" charset="2"/>
              </a:rPr>
              <a:t> finish number = R + p (independent of the number of connections)</a:t>
            </a:r>
          </a:p>
          <a:p>
            <a:pPr eaLnBrk="1" hangingPunct="1"/>
            <a:r>
              <a:rPr lang="en-GB">
                <a:latin typeface="Arial" pitchFamily="1" charset="0"/>
                <a:sym typeface="Wingdings" pitchFamily="1" charset="2"/>
              </a:rPr>
              <a:t>If a packet arrives to a non-empty queue, and the previous packet has a finish number of f, then the packet’s finish number is f + p</a:t>
            </a:r>
          </a:p>
          <a:p>
            <a:pPr eaLnBrk="1" hangingPunct="1"/>
            <a:r>
              <a:rPr lang="en-GB">
                <a:latin typeface="Arial" pitchFamily="1" charset="0"/>
                <a:sym typeface="Wingdings" pitchFamily="1" charset="2"/>
              </a:rPr>
              <a:t>Serve packets in order of finish numbers</a:t>
            </a:r>
            <a:endParaRPr lang="en-GB">
              <a:latin typeface="Arial" pitchFamily="1"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B8D54964-04C7-0741-8543-B8ED8D1571E3}" type="slidenum">
              <a:rPr lang="en-US"/>
              <a:pPr/>
              <a:t>76</a:t>
            </a:fld>
            <a:endParaRPr lang="en-US"/>
          </a:p>
        </p:txBody>
      </p:sp>
      <p:sp>
        <p:nvSpPr>
          <p:cNvPr id="95235" name="Rectangle 2"/>
          <p:cNvSpPr>
            <a:spLocks noGrp="1" noRot="1" noChangeAspect="1" noChangeArrowheads="1" noTextEdit="1"/>
          </p:cNvSpPr>
          <p:nvPr>
            <p:ph type="sldImg"/>
          </p:nvPr>
        </p:nvSpPr>
        <p:spPr>
          <a:xfrm>
            <a:off x="-79375" y="246063"/>
            <a:ext cx="7123113" cy="4008437"/>
          </a:xfrm>
          <a:ln/>
        </p:spPr>
      </p:sp>
      <p:sp>
        <p:nvSpPr>
          <p:cNvPr id="95236" name="Rectangle 3"/>
          <p:cNvSpPr>
            <a:spLocks noGrp="1" noChangeArrowheads="1"/>
          </p:cNvSpPr>
          <p:nvPr>
            <p:ph type="body" idx="1"/>
          </p:nvPr>
        </p:nvSpPr>
        <p:spPr>
          <a:xfrm>
            <a:off x="398463" y="4397375"/>
            <a:ext cx="6032500" cy="4271963"/>
          </a:xfrm>
          <a:noFill/>
          <a:ln/>
        </p:spPr>
        <p:txBody>
          <a:bodyPr/>
          <a:lstStyle/>
          <a:p>
            <a:pPr eaLnBrk="1" hangingPunct="1"/>
            <a:r>
              <a:rPr lang="en-US">
                <a:latin typeface="Arial" pitchFamily="1" charset="0"/>
              </a:rPr>
              <a:t>A hashing algorithm will put the traffic in a physical limited number of queues. The scheduler will serve the packets from different queues based upon the Finishing Time (FT). This way we get an implementation that doesn't work per flow but per packet. The packet with the lowest FT will be sent first to the transmit queue of the interface. </a:t>
            </a:r>
          </a:p>
          <a:p>
            <a:pPr eaLnBrk="1" hangingPunct="1"/>
            <a:r>
              <a:rPr lang="en-US">
                <a:latin typeface="Arial" pitchFamily="1" charset="0"/>
              </a:rPr>
              <a:t>This is how the weight (W) is calculated : </a:t>
            </a:r>
          </a:p>
          <a:p>
            <a:pPr eaLnBrk="1" hangingPunct="1"/>
            <a:r>
              <a:rPr lang="en-US">
                <a:latin typeface="Arial" pitchFamily="1" charset="0"/>
              </a:rPr>
              <a:t>W=K/(precedence +1) </a:t>
            </a:r>
          </a:p>
          <a:p>
            <a:pPr eaLnBrk="1" hangingPunct="1"/>
            <a:r>
              <a:rPr lang="en-US">
                <a:latin typeface="Arial" pitchFamily="1" charset="0"/>
              </a:rPr>
              <a:t>and K=4096 or 32384. </a:t>
            </a:r>
          </a:p>
          <a:p>
            <a:pPr eaLnBrk="1" hangingPunct="1"/>
            <a:r>
              <a:rPr lang="en-US">
                <a:latin typeface="Arial" pitchFamily="1" charset="0"/>
              </a:rPr>
              <a:t>The lower the weight, the higher the priority and the share of the bandwidth. Apart from the weight the length of the packet is also taken into account. The calculation of the FT is done like this : </a:t>
            </a:r>
          </a:p>
          <a:p>
            <a:pPr eaLnBrk="1" hangingPunct="1"/>
            <a:r>
              <a:rPr lang="en-US">
                <a:latin typeface="Arial" pitchFamily="1" charset="0"/>
              </a:rPr>
              <a:t>If Flow F Active, </a:t>
            </a:r>
          </a:p>
          <a:p>
            <a:pPr eaLnBrk="1" hangingPunct="1"/>
            <a:r>
              <a:rPr lang="en-US">
                <a:latin typeface="Arial" pitchFamily="1" charset="0"/>
              </a:rPr>
              <a:t>FT(Pfk+1) = FT(Pfk) + Size(Pfk+1) * W </a:t>
            </a:r>
          </a:p>
          <a:p>
            <a:pPr eaLnBrk="1" hangingPunct="1"/>
            <a:r>
              <a:rPr lang="en-US">
                <a:latin typeface="Arial" pitchFamily="1" charset="0"/>
              </a:rPr>
              <a:t>Else, </a:t>
            </a:r>
          </a:p>
          <a:p>
            <a:pPr eaLnBrk="1" hangingPunct="1"/>
            <a:r>
              <a:rPr lang="en-US">
                <a:latin typeface="Arial" pitchFamily="1" charset="0"/>
              </a:rPr>
              <a:t>FT(Pf0) = Now + Size(Pf0) * W </a:t>
            </a:r>
          </a:p>
          <a:p>
            <a:pPr eaLnBrk="1" hangingPunct="1"/>
            <a:r>
              <a:rPr lang="en-US">
                <a:latin typeface="Arial" pitchFamily="1" charset="0"/>
              </a:rPr>
              <a:t>With Pfk being an already enqueued packet and Pf0 a first packet that comes into a queue. </a:t>
            </a:r>
          </a:p>
          <a:p>
            <a:pPr eaLnBrk="1" hangingPunct="1"/>
            <a:endParaRPr lang="en-US">
              <a:latin typeface="Arial" pitchFamily="1"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2242C7C0-AE10-3A42-9FA4-006C548B0C8C}" type="slidenum">
              <a:rPr lang="en-US"/>
              <a:pPr/>
              <a:t>77</a:t>
            </a:fld>
            <a:endParaRPr lang="en-US"/>
          </a:p>
        </p:txBody>
      </p:sp>
      <p:sp>
        <p:nvSpPr>
          <p:cNvPr id="96259" name="Rectangle 2"/>
          <p:cNvSpPr>
            <a:spLocks noGrp="1" noRot="1" noChangeAspect="1" noChangeArrowheads="1" noTextEdit="1"/>
          </p:cNvSpPr>
          <p:nvPr>
            <p:ph type="sldImg"/>
          </p:nvPr>
        </p:nvSpPr>
        <p:spPr>
          <a:xfrm>
            <a:off x="-79375" y="246063"/>
            <a:ext cx="7123113" cy="4008437"/>
          </a:xfrm>
          <a:ln/>
        </p:spPr>
      </p:sp>
      <p:sp>
        <p:nvSpPr>
          <p:cNvPr id="96260" name="Rectangle 3"/>
          <p:cNvSpPr>
            <a:spLocks noGrp="1" noChangeArrowheads="1"/>
          </p:cNvSpPr>
          <p:nvPr>
            <p:ph type="body" idx="1"/>
          </p:nvPr>
        </p:nvSpPr>
        <p:spPr>
          <a:xfrm>
            <a:off x="398463" y="4397375"/>
            <a:ext cx="6032500" cy="4271963"/>
          </a:xfrm>
          <a:noFill/>
          <a:ln/>
        </p:spPr>
        <p:txBody>
          <a:bodyPr/>
          <a:lstStyle/>
          <a:p>
            <a:pPr eaLnBrk="1" hangingPunct="1">
              <a:lnSpc>
                <a:spcPct val="80000"/>
              </a:lnSpc>
            </a:pPr>
            <a:r>
              <a:rPr lang="en-GB" sz="900">
                <a:latin typeface="Arial" pitchFamily="1" charset="0"/>
              </a:rPr>
              <a:t>Remember weight :</a:t>
            </a:r>
          </a:p>
          <a:p>
            <a:pPr eaLnBrk="1" hangingPunct="1">
              <a:lnSpc>
                <a:spcPct val="80000"/>
              </a:lnSpc>
            </a:pPr>
            <a:r>
              <a:rPr lang="en-US" sz="900">
                <a:latin typeface="Arial" pitchFamily="1" charset="0"/>
              </a:rPr>
              <a:t>W=K/(precedence +1) </a:t>
            </a:r>
          </a:p>
          <a:p>
            <a:pPr eaLnBrk="1" hangingPunct="1">
              <a:lnSpc>
                <a:spcPct val="80000"/>
              </a:lnSpc>
            </a:pPr>
            <a:r>
              <a:rPr lang="en-US" sz="900">
                <a:latin typeface="Arial" pitchFamily="1" charset="0"/>
              </a:rPr>
              <a:t>and K=4096 or 32384. </a:t>
            </a:r>
          </a:p>
          <a:p>
            <a:pPr eaLnBrk="1" hangingPunct="1">
              <a:lnSpc>
                <a:spcPct val="80000"/>
              </a:lnSpc>
            </a:pPr>
            <a:endParaRPr lang="en-GB" sz="900">
              <a:latin typeface="Arial" pitchFamily="1" charset="0"/>
            </a:endParaRPr>
          </a:p>
          <a:p>
            <a:pPr eaLnBrk="1" hangingPunct="1">
              <a:lnSpc>
                <a:spcPct val="80000"/>
              </a:lnSpc>
            </a:pPr>
            <a:r>
              <a:rPr lang="en-GB" sz="900" u="sng">
                <a:latin typeface="Arial" pitchFamily="1" charset="0"/>
              </a:rPr>
              <a:t>How to compute the round number ? </a:t>
            </a:r>
            <a:r>
              <a:rPr lang="en-GB" sz="900" b="1" u="sng">
                <a:latin typeface="Arial" pitchFamily="1" charset="0"/>
                <a:sym typeface="Wingdings" pitchFamily="1" charset="2"/>
              </a:rPr>
              <a:t> when is NOW ?</a:t>
            </a:r>
          </a:p>
          <a:p>
            <a:pPr eaLnBrk="1" hangingPunct="1">
              <a:lnSpc>
                <a:spcPct val="80000"/>
              </a:lnSpc>
            </a:pPr>
            <a:endParaRPr lang="en-GB" sz="900" b="1" u="sng">
              <a:latin typeface="Arial" pitchFamily="1" charset="0"/>
            </a:endParaRPr>
          </a:p>
          <a:p>
            <a:pPr eaLnBrk="1" hangingPunct="1">
              <a:lnSpc>
                <a:spcPct val="80000"/>
              </a:lnSpc>
            </a:pPr>
            <a:r>
              <a:rPr lang="en-GB" sz="900" b="1" u="sng">
                <a:latin typeface="Arial" pitchFamily="1" charset="0"/>
              </a:rPr>
              <a:t>FROM keshav :</a:t>
            </a:r>
          </a:p>
          <a:p>
            <a:pPr eaLnBrk="1" hangingPunct="1">
              <a:lnSpc>
                <a:spcPct val="80000"/>
              </a:lnSpc>
            </a:pPr>
            <a:r>
              <a:rPr lang="en-GB" sz="900">
                <a:latin typeface="Arial" pitchFamily="1" charset="0"/>
              </a:rPr>
              <a:t>Naively : round number = number of rounds of service completed so far</a:t>
            </a:r>
          </a:p>
          <a:p>
            <a:pPr eaLnBrk="1" hangingPunct="1">
              <a:lnSpc>
                <a:spcPct val="80000"/>
              </a:lnSpc>
            </a:pPr>
            <a:r>
              <a:rPr lang="en-GB" sz="900">
                <a:latin typeface="Arial" pitchFamily="1" charset="0"/>
                <a:sym typeface="Wingdings" pitchFamily="1" charset="2"/>
              </a:rPr>
              <a:t> what if a server has not served all connections in a round ? (i.e. round time is too short)</a:t>
            </a:r>
          </a:p>
          <a:p>
            <a:pPr eaLnBrk="1" hangingPunct="1">
              <a:lnSpc>
                <a:spcPct val="80000"/>
              </a:lnSpc>
            </a:pPr>
            <a:r>
              <a:rPr lang="en-GB" sz="900">
                <a:latin typeface="Arial" pitchFamily="1" charset="0"/>
                <a:sym typeface="Wingdings" pitchFamily="1" charset="2"/>
              </a:rPr>
              <a:t> what if new conversations join in halfway through a round ?</a:t>
            </a:r>
          </a:p>
          <a:p>
            <a:pPr eaLnBrk="1" hangingPunct="1">
              <a:lnSpc>
                <a:spcPct val="80000"/>
              </a:lnSpc>
            </a:pPr>
            <a:r>
              <a:rPr lang="en-GB" sz="900" b="1">
                <a:latin typeface="Arial" pitchFamily="1" charset="0"/>
                <a:sym typeface="Wingdings" pitchFamily="1" charset="2"/>
              </a:rPr>
              <a:t>Redefine round number as a real-valued variable that increases at a rate inversely proportional to the number of currently active connections</a:t>
            </a:r>
          </a:p>
          <a:p>
            <a:pPr eaLnBrk="1" hangingPunct="1">
              <a:lnSpc>
                <a:spcPct val="80000"/>
              </a:lnSpc>
            </a:pPr>
            <a:endParaRPr lang="en-GB" sz="900">
              <a:latin typeface="Arial" pitchFamily="1" charset="0"/>
              <a:sym typeface="Wingdings" pitchFamily="1" charset="2"/>
            </a:endParaRPr>
          </a:p>
          <a:p>
            <a:pPr eaLnBrk="1" hangingPunct="1">
              <a:lnSpc>
                <a:spcPct val="80000"/>
              </a:lnSpc>
            </a:pPr>
            <a:r>
              <a:rPr lang="en-GB" sz="900" u="sng">
                <a:latin typeface="Arial" pitchFamily="1" charset="0"/>
                <a:sym typeface="Wingdings" pitchFamily="1" charset="2"/>
              </a:rPr>
              <a:t>Problem : iterated deletion</a:t>
            </a:r>
          </a:p>
          <a:p>
            <a:pPr eaLnBrk="1" hangingPunct="1">
              <a:lnSpc>
                <a:spcPct val="80000"/>
              </a:lnSpc>
            </a:pPr>
            <a:r>
              <a:rPr lang="en-GB" sz="900">
                <a:latin typeface="Arial" pitchFamily="1" charset="0"/>
                <a:sym typeface="Wingdings" pitchFamily="1" charset="2"/>
              </a:rPr>
              <a:t>A server recomputes round number on each packet arrival</a:t>
            </a:r>
          </a:p>
          <a:p>
            <a:pPr eaLnBrk="1" hangingPunct="1">
              <a:lnSpc>
                <a:spcPct val="80000"/>
              </a:lnSpc>
            </a:pPr>
            <a:r>
              <a:rPr lang="en-GB" sz="900">
                <a:latin typeface="Arial" pitchFamily="1" charset="0"/>
                <a:sym typeface="Wingdings" pitchFamily="1" charset="2"/>
              </a:rPr>
              <a:t>At any recomputation, the number of conversations can go up at most by one, but can go down to zero</a:t>
            </a:r>
          </a:p>
          <a:p>
            <a:pPr eaLnBrk="1" hangingPunct="1">
              <a:lnSpc>
                <a:spcPct val="80000"/>
              </a:lnSpc>
            </a:pPr>
            <a:r>
              <a:rPr lang="en-GB" sz="900">
                <a:latin typeface="Arial" pitchFamily="1" charset="0"/>
                <a:sym typeface="Wingdings" pitchFamily="1" charset="2"/>
              </a:rPr>
              <a:t> overestimation</a:t>
            </a:r>
          </a:p>
          <a:p>
            <a:pPr eaLnBrk="1" hangingPunct="1">
              <a:lnSpc>
                <a:spcPct val="80000"/>
              </a:lnSpc>
            </a:pPr>
            <a:r>
              <a:rPr lang="en-GB" sz="900">
                <a:latin typeface="Arial" pitchFamily="1" charset="0"/>
                <a:sym typeface="Wingdings" pitchFamily="1" charset="2"/>
              </a:rPr>
              <a:t>Trick</a:t>
            </a:r>
          </a:p>
          <a:p>
            <a:pPr lvl="1" eaLnBrk="1" hangingPunct="1">
              <a:lnSpc>
                <a:spcPct val="80000"/>
              </a:lnSpc>
            </a:pPr>
            <a:r>
              <a:rPr lang="en-GB" sz="900">
                <a:latin typeface="Arial" pitchFamily="1" charset="0"/>
                <a:sym typeface="Wingdings" pitchFamily="1" charset="2"/>
              </a:rPr>
              <a:t>Use previous count to compute round number</a:t>
            </a:r>
          </a:p>
          <a:p>
            <a:pPr lvl="1" eaLnBrk="1" hangingPunct="1">
              <a:lnSpc>
                <a:spcPct val="80000"/>
              </a:lnSpc>
            </a:pPr>
            <a:r>
              <a:rPr lang="en-GB" sz="900">
                <a:latin typeface="Arial" pitchFamily="1" charset="0"/>
                <a:sym typeface="Wingdings" pitchFamily="1" charset="2"/>
              </a:rPr>
              <a:t>If this makes some conversation inactive, recompute</a:t>
            </a:r>
          </a:p>
          <a:p>
            <a:pPr lvl="1" eaLnBrk="1" hangingPunct="1">
              <a:lnSpc>
                <a:spcPct val="80000"/>
              </a:lnSpc>
            </a:pPr>
            <a:r>
              <a:rPr lang="en-GB" sz="900">
                <a:latin typeface="Arial" pitchFamily="1" charset="0"/>
                <a:sym typeface="Wingdings" pitchFamily="1" charset="2"/>
              </a:rPr>
              <a:t>Repeat until no conversations become inactive</a:t>
            </a:r>
          </a:p>
          <a:p>
            <a:pPr eaLnBrk="1" hangingPunct="1">
              <a:lnSpc>
                <a:spcPct val="80000"/>
              </a:lnSpc>
            </a:pPr>
            <a:r>
              <a:rPr lang="en-GB" sz="900">
                <a:latin typeface="Arial" pitchFamily="1" charset="0"/>
                <a:sym typeface="Wingdings" pitchFamily="1" charset="2"/>
              </a:rPr>
              <a:t>(A connection is active if the last packet served from it, or in its queue, has a finish number greater than the current round number)</a:t>
            </a:r>
            <a:endParaRPr lang="en-US" sz="900">
              <a:latin typeface="Arial" pitchFamily="1"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70047715-898D-B14F-9C4C-06FF1A465B66}" type="slidenum">
              <a:rPr lang="en-US"/>
              <a:pPr/>
              <a:t>78</a:t>
            </a:fld>
            <a:endParaRPr lang="en-US"/>
          </a:p>
        </p:txBody>
      </p:sp>
      <p:sp>
        <p:nvSpPr>
          <p:cNvPr id="97283" name="Rectangle 2"/>
          <p:cNvSpPr>
            <a:spLocks noGrp="1" noRot="1" noChangeAspect="1" noChangeArrowheads="1" noTextEdit="1"/>
          </p:cNvSpPr>
          <p:nvPr>
            <p:ph type="sldImg"/>
          </p:nvPr>
        </p:nvSpPr>
        <p:spPr>
          <a:xfrm>
            <a:off x="693738" y="457200"/>
            <a:ext cx="5414962" cy="3046413"/>
          </a:xfrm>
          <a:ln w="12700" cap="flat">
            <a:solidFill>
              <a:schemeClr val="tx1"/>
            </a:solidFill>
          </a:ln>
        </p:spPr>
      </p:sp>
      <p:sp>
        <p:nvSpPr>
          <p:cNvPr id="97284" name="Rectangle 3"/>
          <p:cNvSpPr>
            <a:spLocks noGrp="1" noChangeArrowheads="1"/>
          </p:cNvSpPr>
          <p:nvPr>
            <p:ph type="body" idx="1"/>
          </p:nvPr>
        </p:nvSpPr>
        <p:spPr>
          <a:xfrm>
            <a:off x="914400" y="3732213"/>
            <a:ext cx="5029200" cy="4725987"/>
          </a:xfrm>
          <a:noFill/>
          <a:ln/>
        </p:spPr>
        <p:txBody>
          <a:bodyPr lIns="90927" tIns="45464" rIns="90927" bIns="45464"/>
          <a:lstStyle/>
          <a:p>
            <a:pPr eaLnBrk="1" hangingPunct="1"/>
            <a:r>
              <a:rPr lang="en-GB">
                <a:latin typeface="Arial" pitchFamily="1" charset="0"/>
              </a:rPr>
              <a:t>WFQ does NOT schedule packets based on their arrival time (as would do FIFO).</a:t>
            </a:r>
          </a:p>
          <a:p>
            <a:pPr eaLnBrk="1" hangingPunct="1"/>
            <a:r>
              <a:rPr lang="en-GB">
                <a:latin typeface="Arial" pitchFamily="1" charset="0"/>
              </a:rPr>
              <a:t>WFQ does the following:</a:t>
            </a:r>
          </a:p>
          <a:p>
            <a:pPr eaLnBrk="1" hangingPunct="1"/>
            <a:r>
              <a:rPr lang="en-GB" u="sng">
                <a:latin typeface="Arial" pitchFamily="1" charset="0"/>
              </a:rPr>
              <a:t>Packet arrival</a:t>
            </a:r>
            <a:r>
              <a:rPr lang="en-GB">
                <a:latin typeface="Arial" pitchFamily="1" charset="0"/>
              </a:rPr>
              <a:t>:</a:t>
            </a:r>
          </a:p>
          <a:p>
            <a:pPr eaLnBrk="1" hangingPunct="1"/>
            <a:r>
              <a:rPr lang="en-GB">
                <a:latin typeface="Arial" pitchFamily="1" charset="0"/>
              </a:rPr>
              <a:t>	1. classify packet in its conversation queue</a:t>
            </a:r>
          </a:p>
          <a:p>
            <a:pPr eaLnBrk="1" hangingPunct="1"/>
            <a:r>
              <a:rPr lang="en-GB">
                <a:latin typeface="Arial" pitchFamily="1" charset="0"/>
              </a:rPr>
              <a:t>	2. tag the packet with its </a:t>
            </a:r>
            <a:r>
              <a:rPr lang="en-GB" u="sng">
                <a:latin typeface="Arial" pitchFamily="1" charset="0"/>
              </a:rPr>
              <a:t>finish round number</a:t>
            </a:r>
            <a:r>
              <a:rPr lang="en-GB">
                <a:latin typeface="Arial" pitchFamily="1" charset="0"/>
              </a:rPr>
              <a:t>: </a:t>
            </a:r>
          </a:p>
          <a:p>
            <a:pPr eaLnBrk="1" hangingPunct="1"/>
            <a:r>
              <a:rPr lang="en-GB">
                <a:latin typeface="Arial" pitchFamily="1" charset="0"/>
              </a:rPr>
              <a:t>	    </a:t>
            </a:r>
            <a:r>
              <a:rPr lang="en-GB" sz="900">
                <a:latin typeface="Arial" pitchFamily="1" charset="0"/>
              </a:rPr>
              <a:t>The Finish round number is computed based on the following parameters:</a:t>
            </a:r>
          </a:p>
          <a:p>
            <a:pPr eaLnBrk="1" hangingPunct="1"/>
            <a:r>
              <a:rPr lang="en-GB" sz="900">
                <a:latin typeface="Arial" pitchFamily="1" charset="0"/>
              </a:rPr>
              <a:t>		- latest finish round number of the packet’s conversation</a:t>
            </a:r>
          </a:p>
          <a:p>
            <a:pPr eaLnBrk="1" hangingPunct="1"/>
            <a:r>
              <a:rPr lang="en-GB" sz="900">
                <a:latin typeface="Arial" pitchFamily="1" charset="0"/>
              </a:rPr>
              <a:t>		- packet size</a:t>
            </a:r>
          </a:p>
          <a:p>
            <a:pPr eaLnBrk="1" hangingPunct="1"/>
            <a:r>
              <a:rPr lang="en-GB" u="sng">
                <a:latin typeface="Arial" pitchFamily="1" charset="0"/>
              </a:rPr>
              <a:t>Scheduling task</a:t>
            </a:r>
            <a:r>
              <a:rPr lang="en-GB">
                <a:latin typeface="Arial" pitchFamily="1" charset="0"/>
              </a:rPr>
              <a:t>:</a:t>
            </a:r>
          </a:p>
          <a:p>
            <a:pPr eaLnBrk="1" hangingPunct="1"/>
            <a:r>
              <a:rPr lang="en-GB">
                <a:latin typeface="Arial" pitchFamily="1" charset="0"/>
              </a:rPr>
              <a:t>Each time the wire is available, WFQ dequeues the packet with lowest finish round number and sends it on the wire</a:t>
            </a:r>
          </a:p>
          <a:p>
            <a:pPr eaLnBrk="1" hangingPunct="1"/>
            <a:r>
              <a:rPr lang="en-GB">
                <a:latin typeface="Arial" pitchFamily="1" charset="0"/>
              </a:rPr>
              <a:t> </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80D3DC4A-CB5A-B24C-AF8A-48EDB8BAE81C}" type="slidenum">
              <a:rPr lang="en-US"/>
              <a:pPr/>
              <a:t>79</a:t>
            </a:fld>
            <a:endParaRPr lang="en-US"/>
          </a:p>
        </p:txBody>
      </p:sp>
      <p:sp>
        <p:nvSpPr>
          <p:cNvPr id="98307" name="Rectangle 2"/>
          <p:cNvSpPr>
            <a:spLocks noGrp="1" noRot="1" noChangeAspect="1" noChangeArrowheads="1" noTextEdit="1"/>
          </p:cNvSpPr>
          <p:nvPr>
            <p:ph type="sldImg"/>
          </p:nvPr>
        </p:nvSpPr>
        <p:spPr>
          <a:xfrm>
            <a:off x="381000" y="685800"/>
            <a:ext cx="6096000" cy="3429000"/>
          </a:xfrm>
          <a:ln/>
        </p:spPr>
      </p:sp>
      <p:sp>
        <p:nvSpPr>
          <p:cNvPr id="98308" name="Rectangle 3"/>
          <p:cNvSpPr>
            <a:spLocks noGrp="1" noChangeArrowheads="1"/>
          </p:cNvSpPr>
          <p:nvPr>
            <p:ph type="body" idx="1"/>
          </p:nvPr>
        </p:nvSpPr>
        <p:spPr>
          <a:noFill/>
          <a:ln/>
        </p:spPr>
        <p:txBody>
          <a:bodyPr/>
          <a:lstStyle/>
          <a:p>
            <a:pPr eaLnBrk="1" hangingPunct="1"/>
            <a:r>
              <a:rPr lang="en-US">
                <a:latin typeface="Arial" pitchFamily="1" charset="0"/>
              </a:rPr>
              <a:t>There is a dropping mechanism associated with WFQ which is more complex than simple tail drop.</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5C6F8661-F2A3-5A42-837A-4CF7E2408D03}" type="slidenum">
              <a:rPr lang="en-US"/>
              <a:pPr/>
              <a:t>83</a:t>
            </a:fld>
            <a:endParaRPr lang="en-US"/>
          </a:p>
        </p:txBody>
      </p:sp>
      <p:sp>
        <p:nvSpPr>
          <p:cNvPr id="99331" name="Rectangle 2"/>
          <p:cNvSpPr>
            <a:spLocks noGrp="1" noRot="1" noChangeAspect="1" noChangeArrowheads="1" noTextEdit="1"/>
          </p:cNvSpPr>
          <p:nvPr>
            <p:ph type="sldImg"/>
          </p:nvPr>
        </p:nvSpPr>
        <p:spPr>
          <a:xfrm>
            <a:off x="381000" y="685800"/>
            <a:ext cx="6096000" cy="3429000"/>
          </a:xfrm>
          <a:ln/>
        </p:spPr>
      </p:sp>
      <p:sp>
        <p:nvSpPr>
          <p:cNvPr id="99332" name="Rectangle 3"/>
          <p:cNvSpPr>
            <a:spLocks noGrp="1" noChangeArrowheads="1"/>
          </p:cNvSpPr>
          <p:nvPr>
            <p:ph type="body" idx="1"/>
          </p:nvPr>
        </p:nvSpPr>
        <p:spPr>
          <a:noFill/>
          <a:ln/>
        </p:spPr>
        <p:txBody>
          <a:bodyPr/>
          <a:lstStyle/>
          <a:p>
            <a:pPr eaLnBrk="1" hangingPunct="1"/>
            <a:r>
              <a:rPr lang="en-US">
                <a:latin typeface="Arial" pitchFamily="1" charset="0"/>
              </a:rPr>
              <a:t>Flows are hashed into (256) conversations</a:t>
            </a:r>
          </a:p>
          <a:p>
            <a:pPr eaLnBrk="1" hangingPunct="1"/>
            <a:r>
              <a:rPr lang="en-US">
                <a:latin typeface="Arial" pitchFamily="1" charset="0"/>
              </a:rPr>
              <a:t>Conversations are mapped to a queue 1-to-1, so we can reasonably say that a conversation = a queue.</a:t>
            </a:r>
          </a:p>
          <a:p>
            <a:pPr eaLnBrk="1" hangingPunct="1"/>
            <a:endParaRPr lang="en-US">
              <a:latin typeface="Arial" pitchFamily="1" charset="0"/>
            </a:endParaRPr>
          </a:p>
          <a:p>
            <a:pPr eaLnBrk="1" hangingPunct="1"/>
            <a:r>
              <a:rPr lang="en-US">
                <a:latin typeface="Arial" pitchFamily="1" charset="0"/>
              </a:rPr>
              <a:t>4096</a:t>
            </a:r>
          </a:p>
          <a:p>
            <a:pPr eaLnBrk="1" hangingPunct="1"/>
            <a:endParaRPr lang="en-US">
              <a:latin typeface="Arial" pitchFamily="1" charset="0"/>
            </a:endParaRPr>
          </a:p>
          <a:p>
            <a:pPr eaLnBrk="1" hangingPunct="1"/>
            <a:r>
              <a:rPr lang="en-US">
                <a:latin typeface="Arial" pitchFamily="1" charset="0"/>
              </a:rPr>
              <a:t>Finish Time</a:t>
            </a:r>
          </a:p>
          <a:p>
            <a:pPr eaLnBrk="1" hangingPunct="1"/>
            <a:endParaRPr lang="en-US">
              <a:latin typeface="Arial" pitchFamily="1" charset="0"/>
            </a:endParaRPr>
          </a:p>
          <a:p>
            <a:pPr eaLnBrk="1" hangingPunct="1"/>
            <a:r>
              <a:rPr lang="en-US">
                <a:latin typeface="Arial" pitchFamily="1" charset="0"/>
              </a:rPr>
              <a:t>Influences the Weight (K/Prec+1) which is used to compute the Finish Time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638A0FA2-6D9D-744C-832C-2228F6C0AC3C}" type="slidenum">
              <a:rPr lang="en-US"/>
              <a:pPr/>
              <a:t>90</a:t>
            </a:fld>
            <a:endParaRPr lang="en-US"/>
          </a:p>
        </p:txBody>
      </p:sp>
      <p:sp>
        <p:nvSpPr>
          <p:cNvPr id="100355" name="Rectangle 2"/>
          <p:cNvSpPr>
            <a:spLocks noGrp="1" noRot="1" noChangeAspect="1" noChangeArrowheads="1" noTextEdit="1"/>
          </p:cNvSpPr>
          <p:nvPr>
            <p:ph type="sldImg"/>
          </p:nvPr>
        </p:nvSpPr>
        <p:spPr>
          <a:xfrm>
            <a:off x="-79375" y="246063"/>
            <a:ext cx="7123113" cy="4008437"/>
          </a:xfrm>
          <a:ln/>
        </p:spPr>
      </p:sp>
      <p:sp>
        <p:nvSpPr>
          <p:cNvPr id="100356" name="Rectangle 3"/>
          <p:cNvSpPr>
            <a:spLocks noGrp="1" noChangeArrowheads="1"/>
          </p:cNvSpPr>
          <p:nvPr>
            <p:ph type="body" idx="1"/>
          </p:nvPr>
        </p:nvSpPr>
        <p:spPr>
          <a:xfrm>
            <a:off x="398463" y="4397375"/>
            <a:ext cx="6032500" cy="4271963"/>
          </a:xfrm>
          <a:noFill/>
          <a:ln/>
        </p:spPr>
        <p:txBody>
          <a:bodyPr/>
          <a:lstStyle/>
          <a:p>
            <a:pPr eaLnBrk="1" hangingPunct="1"/>
            <a:r>
              <a:rPr lang="en-US">
                <a:latin typeface="Arial" pitchFamily="1" charset="0"/>
              </a:rPr>
              <a:t>LLQ and CBWFQ do not implement an absolute reservation.  If a traffic class is not using its configured  bandwidth, any unused bandwidth is shared among the other bandwidth classes. </a:t>
            </a:r>
          </a:p>
          <a:p>
            <a:pPr eaLnBrk="1" hangingPunct="1"/>
            <a:r>
              <a:rPr lang="en-US">
                <a:latin typeface="Arial" pitchFamily="1" charset="0"/>
              </a:rPr>
              <a:t>If excess bandwidth is available, the excess bandwidth is divided amongst the traffic classes in proportion to their configured bandwidths.  If not all of the bandwidth is allocated, the remaining bandwidth is proportionally allocated among the classes, based on their configured bandwidth.</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B010BB85-6E55-9047-BBF8-3388B6E758DC}" type="slidenum">
              <a:rPr lang="en-US"/>
              <a:pPr/>
              <a:t>91</a:t>
            </a:fld>
            <a:endParaRPr lang="en-US"/>
          </a:p>
        </p:txBody>
      </p:sp>
      <p:sp>
        <p:nvSpPr>
          <p:cNvPr id="101379" name="Rectangle 2"/>
          <p:cNvSpPr>
            <a:spLocks noGrp="1" noRot="1" noChangeAspect="1" noChangeArrowheads="1" noTextEdit="1"/>
          </p:cNvSpPr>
          <p:nvPr>
            <p:ph type="sldImg"/>
          </p:nvPr>
        </p:nvSpPr>
        <p:spPr>
          <a:xfrm>
            <a:off x="-79375" y="246063"/>
            <a:ext cx="7123113" cy="4008437"/>
          </a:xfrm>
          <a:ln/>
        </p:spPr>
      </p:sp>
      <p:sp>
        <p:nvSpPr>
          <p:cNvPr id="101380" name="Rectangle 3"/>
          <p:cNvSpPr>
            <a:spLocks noGrp="1" noChangeArrowheads="1"/>
          </p:cNvSpPr>
          <p:nvPr>
            <p:ph type="body" idx="1"/>
          </p:nvPr>
        </p:nvSpPr>
        <p:spPr>
          <a:xfrm>
            <a:off x="398463" y="4397375"/>
            <a:ext cx="6032500" cy="4271963"/>
          </a:xfrm>
          <a:noFill/>
          <a:ln/>
        </p:spPr>
        <p:txBody>
          <a:bodyPr/>
          <a:lstStyle/>
          <a:p>
            <a:pPr eaLnBrk="1" hangingPunct="1"/>
            <a:r>
              <a:rPr lang="en-US">
                <a:latin typeface="Arial" pitchFamily="1" charset="0"/>
              </a:rPr>
              <a:t>Note: The bandwidth command defines a behavior, which is a minimum bandwidth guarantee.</a:t>
            </a:r>
          </a:p>
          <a:p>
            <a:pPr eaLnBrk="1" hangingPunct="1"/>
            <a:r>
              <a:rPr lang="en-US">
                <a:latin typeface="Arial" pitchFamily="1" charset="0"/>
              </a:rPr>
              <a:t>Not all Cisco router platforms use weighted-fair queueing as the underlying algorithm to implement</a:t>
            </a:r>
          </a:p>
          <a:p>
            <a:pPr eaLnBrk="1" hangingPunct="1"/>
            <a:r>
              <a:rPr lang="en-US">
                <a:latin typeface="Arial" pitchFamily="1" charset="0"/>
              </a:rPr>
              <a:t>this behavior. </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D459E5AD-61FD-584C-8D9E-0F9A5B6CC3BB}" type="slidenum">
              <a:rPr lang="en-US"/>
              <a:pPr/>
              <a:t>93</a:t>
            </a:fld>
            <a:endParaRPr lang="en-US"/>
          </a:p>
        </p:txBody>
      </p:sp>
      <p:sp>
        <p:nvSpPr>
          <p:cNvPr id="102403" name="Rectangle 2"/>
          <p:cNvSpPr>
            <a:spLocks noGrp="1" noRot="1" noChangeAspect="1" noChangeArrowheads="1" noTextEdit="1"/>
          </p:cNvSpPr>
          <p:nvPr>
            <p:ph type="sldImg"/>
          </p:nvPr>
        </p:nvSpPr>
        <p:spPr>
          <a:xfrm>
            <a:off x="381000" y="685800"/>
            <a:ext cx="6096000" cy="3429000"/>
          </a:xfrm>
          <a:ln/>
        </p:spPr>
      </p:sp>
      <p:sp>
        <p:nvSpPr>
          <p:cNvPr id="102404" name="Rectangle 3"/>
          <p:cNvSpPr>
            <a:spLocks noGrp="1" noChangeArrowheads="1"/>
          </p:cNvSpPr>
          <p:nvPr>
            <p:ph type="body" idx="1"/>
          </p:nvPr>
        </p:nvSpPr>
        <p:spPr>
          <a:noFill/>
          <a:ln/>
        </p:spPr>
        <p:txBody>
          <a:bodyPr/>
          <a:lstStyle/>
          <a:p>
            <a:pPr eaLnBrk="1" hangingPunct="1"/>
            <a:r>
              <a:rPr lang="en-US">
                <a:latin typeface="Arial" pitchFamily="1" charset="0"/>
              </a:rPr>
              <a:t>FIFO</a:t>
            </a:r>
          </a:p>
          <a:p>
            <a:pPr eaLnBrk="1" hangingPunct="1"/>
            <a:endParaRPr lang="en-US">
              <a:latin typeface="Arial" pitchFamily="1" charset="0"/>
            </a:endParaRPr>
          </a:p>
          <a:p>
            <a:pPr eaLnBrk="1" hangingPunct="1"/>
            <a:r>
              <a:rPr lang="en-US">
                <a:latin typeface="Arial" pitchFamily="1" charset="0"/>
              </a:rPr>
              <a:t>Class-default becomes FIFO and gets a weight matching the configured bandwidth.</a:t>
            </a:r>
          </a:p>
          <a:p>
            <a:pPr eaLnBrk="1" hangingPunct="1"/>
            <a:r>
              <a:rPr lang="en-US">
                <a:latin typeface="Arial" pitchFamily="1" charset="0"/>
              </a:rPr>
              <a:t>This means all traffic in that class now has reserved bandwidth.</a:t>
            </a:r>
          </a:p>
          <a:p>
            <a:pPr eaLnBrk="1" hangingPunct="1"/>
            <a:endParaRPr lang="en-US">
              <a:latin typeface="Arial" pitchFamily="1" charset="0"/>
            </a:endParaRPr>
          </a:p>
          <a:p>
            <a:pPr eaLnBrk="1" hangingPunct="1"/>
            <a:r>
              <a:rPr lang="en-US">
                <a:latin typeface="Arial" pitchFamily="1" charset="0"/>
              </a:rPr>
              <a:t>You need to increase the max-reserved-bandwidth to 80%</a:t>
            </a:r>
          </a:p>
          <a:p>
            <a:pPr eaLnBrk="1" hangingPunct="1"/>
            <a:endParaRPr lang="en-US">
              <a:latin typeface="Arial" pitchFamily="1" charset="0"/>
            </a:endParaRPr>
          </a:p>
          <a:p>
            <a:pPr eaLnBrk="1" hangingPunct="1"/>
            <a:r>
              <a:rPr lang="en-US">
                <a:latin typeface="Arial" pitchFamily="1" charset="0"/>
              </a:rPr>
              <a:t>AF (assured forwarding – guaranteed minimum bandwidth)</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565CBA1F-C1E5-5646-8074-A4EE9E72136C}" type="slidenum">
              <a:rPr lang="en-US"/>
              <a:pPr/>
              <a:t>94</a:t>
            </a:fld>
            <a:endParaRPr lang="en-US"/>
          </a:p>
        </p:txBody>
      </p:sp>
      <p:sp>
        <p:nvSpPr>
          <p:cNvPr id="103427" name="Rectangle 2"/>
          <p:cNvSpPr>
            <a:spLocks noGrp="1" noRot="1" noChangeAspect="1" noChangeArrowheads="1" noTextEdit="1"/>
          </p:cNvSpPr>
          <p:nvPr>
            <p:ph type="sldImg"/>
          </p:nvPr>
        </p:nvSpPr>
        <p:spPr>
          <a:xfrm>
            <a:off x="381000" y="685800"/>
            <a:ext cx="6096000" cy="3429000"/>
          </a:xfrm>
          <a:ln/>
        </p:spPr>
      </p:sp>
      <p:sp>
        <p:nvSpPr>
          <p:cNvPr id="103428" name="Rectangle 3"/>
          <p:cNvSpPr>
            <a:spLocks noGrp="1" noChangeArrowheads="1"/>
          </p:cNvSpPr>
          <p:nvPr>
            <p:ph type="body" idx="1"/>
          </p:nvPr>
        </p:nvSpPr>
        <p:spPr>
          <a:noFill/>
          <a:ln/>
        </p:spPr>
        <p:txBody>
          <a:bodyPr/>
          <a:lstStyle/>
          <a:p>
            <a:pPr eaLnBrk="1" hangingPunct="1"/>
            <a:r>
              <a:rPr lang="en-US">
                <a:latin typeface="Arial" pitchFamily="1" charset="0"/>
              </a:rPr>
              <a:t>- A priority queue was introduced within the WFQ system as a fix for the pervasive voice problems seen by the customers. For more description on that problem please refer to the ddts CSCdm00717 and ENG-36555. There is a need now to support the use of that priority queue for ATM PVCs and also to provide a much richer set of classification criteria (for packets going into the priority queue). This documents describes how both these requirements will be met by introducing CLI support for the priority queue from within the CBWFQ modular CLI framework.</a:t>
            </a:r>
          </a:p>
          <a:p>
            <a:pPr eaLnBrk="1" hangingPunct="1"/>
            <a:r>
              <a:rPr lang="en-US">
                <a:latin typeface="Arial" pitchFamily="1" charset="0"/>
              </a:rPr>
              <a:t>- This work will also provide the differentiated services expedited forwarding (EF) like functionality via the modular CLI CBWFQ framework. Packets going into the priority queue will get the EF class of service. CSCdm66986 will allow one to match packets based on the EF DSCP (diff-serv code point) via access-lists. So if the network elements/hosts set the EF DSCP, EF service will be available to those packets.</a:t>
            </a:r>
          </a:p>
          <a:p>
            <a:pPr eaLnBrk="1" hangingPunct="1"/>
            <a:endParaRPr lang="en-US">
              <a:latin typeface="Arial" pitchFamily="1"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E3A2A021-51E5-9B42-BCAA-1D587E13AC22}" type="slidenum">
              <a:rPr lang="en-US"/>
              <a:pPr/>
              <a:t>97</a:t>
            </a:fld>
            <a:endParaRPr lang="en-US"/>
          </a:p>
        </p:txBody>
      </p:sp>
      <p:sp>
        <p:nvSpPr>
          <p:cNvPr id="104451" name="Rectangle 2"/>
          <p:cNvSpPr>
            <a:spLocks noGrp="1" noRot="1" noChangeAspect="1" noChangeArrowheads="1" noTextEdit="1"/>
          </p:cNvSpPr>
          <p:nvPr>
            <p:ph type="sldImg"/>
          </p:nvPr>
        </p:nvSpPr>
        <p:spPr>
          <a:xfrm>
            <a:off x="381000" y="685800"/>
            <a:ext cx="6096000" cy="3429000"/>
          </a:xfrm>
          <a:ln/>
        </p:spPr>
      </p:sp>
      <p:sp>
        <p:nvSpPr>
          <p:cNvPr id="104452" name="Rectangle 3"/>
          <p:cNvSpPr>
            <a:spLocks noGrp="1" noChangeArrowheads="1"/>
          </p:cNvSpPr>
          <p:nvPr>
            <p:ph type="body" idx="1"/>
          </p:nvPr>
        </p:nvSpPr>
        <p:spPr>
          <a:noFill/>
          <a:ln/>
        </p:spPr>
        <p:txBody>
          <a:bodyPr/>
          <a:lstStyle/>
          <a:p>
            <a:pPr eaLnBrk="1" hangingPunct="1"/>
            <a:r>
              <a:rPr lang="en-US">
                <a:latin typeface="Arial" pitchFamily="1" charset="0"/>
              </a:rPr>
              <a:t>(*) Exception is MLP, where the policer is active even without congestion.</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C65DB1A0-143A-E84D-8DBE-3307DD4045FA}" type="slidenum">
              <a:rPr lang="en-US"/>
              <a:pPr/>
              <a:t>99</a:t>
            </a:fld>
            <a:endParaRPr lang="en-US"/>
          </a:p>
        </p:txBody>
      </p:sp>
      <p:sp>
        <p:nvSpPr>
          <p:cNvPr id="105475" name="Rectangle 2"/>
          <p:cNvSpPr>
            <a:spLocks noGrp="1" noRot="1" noChangeAspect="1" noChangeArrowheads="1" noTextEdit="1"/>
          </p:cNvSpPr>
          <p:nvPr>
            <p:ph type="sldImg"/>
          </p:nvPr>
        </p:nvSpPr>
        <p:spPr>
          <a:xfrm>
            <a:off x="381000" y="685800"/>
            <a:ext cx="6096000" cy="3429000"/>
          </a:xfrm>
          <a:ln/>
        </p:spPr>
      </p:sp>
      <p:sp>
        <p:nvSpPr>
          <p:cNvPr id="105476" name="Rectangle 3"/>
          <p:cNvSpPr>
            <a:spLocks noGrp="1" noChangeArrowheads="1"/>
          </p:cNvSpPr>
          <p:nvPr>
            <p:ph type="body" idx="1"/>
          </p:nvPr>
        </p:nvSpPr>
        <p:spPr>
          <a:noFill/>
          <a:ln/>
        </p:spPr>
        <p:txBody>
          <a:bodyPr/>
          <a:lstStyle/>
          <a:p>
            <a:pPr eaLnBrk="1" hangingPunct="1"/>
            <a:r>
              <a:rPr lang="en-US">
                <a:latin typeface="Arial" pitchFamily="1" charset="0"/>
              </a:rPr>
              <a:t>Bandwidth, Fair-queue, Priority</a:t>
            </a:r>
          </a:p>
          <a:p>
            <a:pPr eaLnBrk="1" hangingPunct="1"/>
            <a:endParaRPr lang="en-US">
              <a:latin typeface="Arial" pitchFamily="1" charset="0"/>
            </a:endParaRPr>
          </a:p>
          <a:p>
            <a:pPr eaLnBrk="1" hangingPunct="1"/>
            <a:r>
              <a:rPr lang="en-US">
                <a:latin typeface="Arial" pitchFamily="1" charset="0"/>
              </a:rPr>
              <a:t>0 – LLQ is always 0</a:t>
            </a:r>
          </a:p>
          <a:p>
            <a:pPr eaLnBrk="1" hangingPunct="1"/>
            <a:endParaRPr lang="en-US">
              <a:latin typeface="Arial" pitchFamily="1" charset="0"/>
            </a:endParaRPr>
          </a:p>
          <a:p>
            <a:pPr eaLnBrk="1" hangingPunct="1"/>
            <a:r>
              <a:rPr lang="en-US">
                <a:latin typeface="Arial" pitchFamily="1" charset="0"/>
              </a:rPr>
              <a:t>Yes, because there is only one LLQ even if configured in different classes in the same policy</a:t>
            </a:r>
          </a:p>
          <a:p>
            <a:pPr eaLnBrk="1" hangingPunct="1"/>
            <a:endParaRPr lang="en-US">
              <a:latin typeface="Arial" pitchFamily="1" charset="0"/>
            </a:endParaRPr>
          </a:p>
          <a:p>
            <a:pPr eaLnBrk="1" hangingPunct="1"/>
            <a:r>
              <a:rPr lang="en-US">
                <a:latin typeface="Arial" pitchFamily="1" charset="0"/>
              </a:rPr>
              <a:t>You were using a lot of bandwidth for voice traffic, much more than what the LLQ was configured for.</a:t>
            </a:r>
          </a:p>
          <a:p>
            <a:pPr eaLnBrk="1" hangingPunct="1"/>
            <a:r>
              <a:rPr lang="en-US">
                <a:latin typeface="Arial" pitchFamily="1" charset="0"/>
              </a:rPr>
              <a:t>Once the whole interface became congested, the built-in policer of the LLQ kicked in and voice traffic dropped down to the configured value.</a:t>
            </a:r>
          </a:p>
          <a:p>
            <a:pPr eaLnBrk="1" hangingPunct="1"/>
            <a:r>
              <a:rPr lang="en-US">
                <a:latin typeface="Arial" pitchFamily="1" charset="0"/>
              </a:rPr>
              <a:t>(such situations should be avoided, it’s a bad design to send more LLQ  traffic than the configured bandwidth.)</a:t>
            </a:r>
          </a:p>
          <a:p>
            <a:pPr eaLnBrk="1" hangingPunct="1"/>
            <a:endParaRPr lang="en-US">
              <a:latin typeface="Arial" pitchFamily="1" charset="0"/>
            </a:endParaRPr>
          </a:p>
          <a:p>
            <a:pPr eaLnBrk="1" hangingPunct="1"/>
            <a:endParaRPr lang="en-US">
              <a:latin typeface="Arial" pitchFamily="1" charset="0"/>
            </a:endParaRPr>
          </a:p>
          <a:p>
            <a:pPr eaLnBrk="1" hangingPunct="1"/>
            <a:endParaRPr lang="en-US">
              <a:latin typeface="Arial" pitchFamily="1" charset="0"/>
            </a:endParaRPr>
          </a:p>
          <a:p>
            <a:pPr eaLnBrk="1" hangingPunct="1"/>
            <a:endParaRPr lang="en-US">
              <a:latin typeface="Arial" pitchFamily="1"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766BF6A1-90D0-2F4C-BCF8-81A7EC3D895E}" type="slidenum">
              <a:rPr lang="en-US"/>
              <a:pPr/>
              <a:t>102</a:t>
            </a:fld>
            <a:endParaRPr lang="en-US"/>
          </a:p>
        </p:txBody>
      </p:sp>
      <p:sp>
        <p:nvSpPr>
          <p:cNvPr id="106499" name="Rectangle 2"/>
          <p:cNvSpPr>
            <a:spLocks noGrp="1" noChangeArrowheads="1"/>
          </p:cNvSpPr>
          <p:nvPr>
            <p:ph type="body" idx="1"/>
          </p:nvPr>
        </p:nvSpPr>
        <p:spPr>
          <a:xfrm>
            <a:off x="914400" y="3022600"/>
            <a:ext cx="5027613" cy="5864225"/>
          </a:xfrm>
          <a:noFill/>
          <a:ln/>
        </p:spPr>
        <p:txBody>
          <a:bodyPr lIns="90629" tIns="45315" rIns="90629" bIns="45315"/>
          <a:lstStyle/>
          <a:p>
            <a:pPr eaLnBrk="1" hangingPunct="1"/>
            <a:r>
              <a:rPr lang="en-GB">
                <a:latin typeface="Arial" pitchFamily="1" charset="0"/>
              </a:rPr>
              <a:t>The token bucket accumulates token at the “Committed Rate”  up to the burst level. When that happens the token overflows.</a:t>
            </a:r>
          </a:p>
          <a:p>
            <a:pPr eaLnBrk="1" hangingPunct="1"/>
            <a:r>
              <a:rPr lang="en-GB">
                <a:latin typeface="Arial" pitchFamily="1" charset="0"/>
              </a:rPr>
              <a:t>As a packet arrives if there is a matching token the packet is said to conform otherwise exceed.</a:t>
            </a:r>
          </a:p>
          <a:p>
            <a:pPr eaLnBrk="1" hangingPunct="1"/>
            <a:r>
              <a:rPr lang="en-GB">
                <a:latin typeface="Arial" pitchFamily="1" charset="0"/>
              </a:rPr>
              <a:t>Token comes in bytes.</a:t>
            </a:r>
          </a:p>
          <a:p>
            <a:pPr eaLnBrk="1" hangingPunct="1"/>
            <a:r>
              <a:rPr lang="en-GB">
                <a:latin typeface="Arial" pitchFamily="1" charset="0"/>
              </a:rPr>
              <a:t>The token size must match the packet size for a conform.</a:t>
            </a:r>
          </a:p>
          <a:p>
            <a:pPr eaLnBrk="1" hangingPunct="1"/>
            <a:r>
              <a:rPr lang="en-GB">
                <a:latin typeface="Arial" pitchFamily="1" charset="0"/>
              </a:rPr>
              <a:t>“Committed Rate” = increments of 8Kbits/milisec.</a:t>
            </a:r>
          </a:p>
        </p:txBody>
      </p:sp>
      <p:sp>
        <p:nvSpPr>
          <p:cNvPr id="106500" name="Rectangle 3"/>
          <p:cNvSpPr>
            <a:spLocks noGrp="1" noRot="1" noChangeAspect="1" noChangeArrowheads="1" noTextEdit="1"/>
          </p:cNvSpPr>
          <p:nvPr>
            <p:ph type="sldImg"/>
          </p:nvPr>
        </p:nvSpPr>
        <p:spPr>
          <a:xfrm>
            <a:off x="1162050" y="328613"/>
            <a:ext cx="4654550" cy="2619375"/>
          </a:xfrm>
          <a:ln w="12700" cap="flat">
            <a:solidFill>
              <a:schemeClr val="tx1"/>
            </a:solidFill>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4DC426AE-9C9F-5B4D-841E-60FA060F748A}" type="slidenum">
              <a:rPr lang="en-US"/>
              <a:pPr/>
              <a:t>104</a:t>
            </a:fld>
            <a:endParaRPr lang="en-US"/>
          </a:p>
        </p:txBody>
      </p:sp>
      <p:sp>
        <p:nvSpPr>
          <p:cNvPr id="107523" name="Rectangle 2"/>
          <p:cNvSpPr>
            <a:spLocks noGrp="1" noRot="1" noChangeAspect="1" noChangeArrowheads="1" noTextEdit="1"/>
          </p:cNvSpPr>
          <p:nvPr>
            <p:ph type="sldImg"/>
          </p:nvPr>
        </p:nvSpPr>
        <p:spPr>
          <a:xfrm>
            <a:off x="-79375" y="246063"/>
            <a:ext cx="7123113" cy="4008437"/>
          </a:xfrm>
          <a:ln/>
        </p:spPr>
      </p:sp>
      <p:sp>
        <p:nvSpPr>
          <p:cNvPr id="107524" name="Rectangle 3"/>
          <p:cNvSpPr>
            <a:spLocks noGrp="1" noChangeArrowheads="1"/>
          </p:cNvSpPr>
          <p:nvPr>
            <p:ph type="body" idx="1"/>
          </p:nvPr>
        </p:nvSpPr>
        <p:spPr>
          <a:xfrm>
            <a:off x="398463" y="4397375"/>
            <a:ext cx="6032500" cy="4270375"/>
          </a:xfrm>
          <a:noFill/>
          <a:ln/>
        </p:spPr>
        <p:txBody>
          <a:bodyPr/>
          <a:lstStyle/>
          <a:p>
            <a:pPr eaLnBrk="1" hangingPunct="1"/>
            <a:r>
              <a:rPr lang="en-US">
                <a:latin typeface="Arial" pitchFamily="1" charset="0"/>
              </a:rPr>
              <a:t>There are generally three reasons to implement traffic shaping:</a:t>
            </a:r>
          </a:p>
          <a:p>
            <a:pPr eaLnBrk="1" hangingPunct="1"/>
            <a:r>
              <a:rPr lang="en-US">
                <a:latin typeface="Arial" pitchFamily="1" charset="0"/>
              </a:rPr>
              <a:t>1. High speed to low speed circuit mismatches. There are two possibilities here: </a:t>
            </a:r>
          </a:p>
          <a:p>
            <a:pPr lvl="1" eaLnBrk="1" hangingPunct="1"/>
            <a:r>
              <a:rPr lang="en-US">
                <a:latin typeface="Arial" pitchFamily="1" charset="0"/>
              </a:rPr>
              <a:t>The hub site has a T1 line into the cloud, while the remote site has a lower speed (56 Kbps). In this case, you need to rate-limit the hub site so that it does not exceed the remote side access rate. </a:t>
            </a:r>
          </a:p>
          <a:p>
            <a:pPr lvl="1" eaLnBrk="1" hangingPunct="1"/>
            <a:r>
              <a:rPr lang="en-US">
                <a:latin typeface="Arial" pitchFamily="1" charset="0"/>
              </a:rPr>
              <a:t>The hub site has a single T1 line into the cloud, while the remote sites also have a full T1 line into the cloud, connecting to the same hub site. In this case, you need to rate-limit the remote sites so as to not overrun the hub. </a:t>
            </a:r>
          </a:p>
          <a:p>
            <a:pPr eaLnBrk="1" hangingPunct="1"/>
            <a:r>
              <a:rPr lang="en-US">
                <a:latin typeface="Arial" pitchFamily="1" charset="0"/>
              </a:rPr>
              <a:t>2. Oversubscription. For example, if the guaranteed rate on a permanent virtual circuit (PVC) is 64 Kbps and the access rate is 128 Kbps on both ends, it is possible to burst above the guaranteed rate when there is no congestion and fall back to the guaranteed rate when there is congestion. </a:t>
            </a:r>
          </a:p>
          <a:p>
            <a:pPr eaLnBrk="1" hangingPunct="1"/>
            <a:r>
              <a:rPr lang="en-US">
                <a:latin typeface="Arial" pitchFamily="1" charset="0"/>
              </a:rPr>
              <a:t>3. Quality of Service. For implementing FRF.12 fragmentation or low latency queuing features for better quality of service to certain packet flows. </a:t>
            </a:r>
          </a:p>
          <a:p>
            <a:pPr eaLnBrk="1" hangingPunct="1"/>
            <a:endParaRPr lang="en-US">
              <a:latin typeface="Arial" pitchFamily="1"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2199D9B0-7F62-1942-9B1F-CBE8EB90A8BE}" type="slidenum">
              <a:rPr lang="en-US"/>
              <a:pPr/>
              <a:t>105</a:t>
            </a:fld>
            <a:endParaRPr lang="en-US"/>
          </a:p>
        </p:txBody>
      </p:sp>
      <p:sp>
        <p:nvSpPr>
          <p:cNvPr id="108547" name="Rectangle 2"/>
          <p:cNvSpPr>
            <a:spLocks noGrp="1" noRot="1" noChangeAspect="1" noChangeArrowheads="1" noTextEdit="1"/>
          </p:cNvSpPr>
          <p:nvPr>
            <p:ph type="sldImg"/>
          </p:nvPr>
        </p:nvSpPr>
        <p:spPr>
          <a:xfrm>
            <a:off x="381000" y="685800"/>
            <a:ext cx="6096000" cy="3429000"/>
          </a:xfrm>
          <a:ln/>
        </p:spPr>
      </p:sp>
      <p:sp>
        <p:nvSpPr>
          <p:cNvPr id="108548" name="Rectangle 3"/>
          <p:cNvSpPr>
            <a:spLocks noGrp="1" noChangeArrowheads="1"/>
          </p:cNvSpPr>
          <p:nvPr>
            <p:ph type="body" idx="1"/>
          </p:nvPr>
        </p:nvSpPr>
        <p:spPr>
          <a:noFill/>
          <a:ln/>
        </p:spPr>
        <p:txBody>
          <a:bodyPr/>
          <a:lstStyle/>
          <a:p>
            <a:pPr eaLnBrk="1" hangingPunct="1"/>
            <a:r>
              <a:rPr lang="en-US">
                <a:latin typeface="Arial" pitchFamily="1" charset="0"/>
              </a:rPr>
              <a:t>Therefore CIR = Bc/Tc</a:t>
            </a:r>
          </a:p>
          <a:p>
            <a:pPr eaLnBrk="1" hangingPunct="1"/>
            <a:endParaRPr lang="en-US">
              <a:latin typeface="Arial" pitchFamily="1" charset="0"/>
            </a:endParaRPr>
          </a:p>
          <a:p>
            <a:pPr eaLnBrk="1" hangingPunct="1"/>
            <a:endParaRPr lang="en-US">
              <a:latin typeface="Arial" pitchFamily="1" charset="0"/>
            </a:endParaRPr>
          </a:p>
          <a:p>
            <a:pPr eaLnBrk="1" hangingPunct="1"/>
            <a:r>
              <a:rPr lang="en-US">
                <a:latin typeface="Arial" pitchFamily="1" charset="0"/>
              </a:rPr>
              <a:t>Drawing on whiteboard: throughput/time</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9283B883-3221-FB4F-9B90-5DEBC957256E}" type="slidenum">
              <a:rPr lang="en-US"/>
              <a:pPr/>
              <a:t>106</a:t>
            </a:fld>
            <a:endParaRPr lang="en-US"/>
          </a:p>
        </p:txBody>
      </p:sp>
      <p:sp>
        <p:nvSpPr>
          <p:cNvPr id="109571" name="Rectangle 2"/>
          <p:cNvSpPr>
            <a:spLocks noGrp="1" noRot="1" noChangeAspect="1" noChangeArrowheads="1" noTextEdit="1"/>
          </p:cNvSpPr>
          <p:nvPr>
            <p:ph type="sldImg"/>
          </p:nvPr>
        </p:nvSpPr>
        <p:spPr>
          <a:xfrm>
            <a:off x="-79375" y="246063"/>
            <a:ext cx="7123113" cy="4008437"/>
          </a:xfrm>
          <a:ln/>
        </p:spPr>
      </p:sp>
      <p:sp>
        <p:nvSpPr>
          <p:cNvPr id="109572" name="Rectangle 3"/>
          <p:cNvSpPr>
            <a:spLocks noGrp="1" noChangeArrowheads="1"/>
          </p:cNvSpPr>
          <p:nvPr>
            <p:ph type="body" idx="1"/>
          </p:nvPr>
        </p:nvSpPr>
        <p:spPr>
          <a:xfrm>
            <a:off x="398463" y="4397375"/>
            <a:ext cx="6032500" cy="4270375"/>
          </a:xfrm>
          <a:noFill/>
          <a:ln/>
        </p:spPr>
        <p:txBody>
          <a:bodyPr/>
          <a:lstStyle/>
          <a:p>
            <a:pPr eaLnBrk="1" hangingPunct="1"/>
            <a:r>
              <a:rPr lang="en-US">
                <a:latin typeface="Arial" pitchFamily="1" charset="0"/>
              </a:rPr>
              <a:t>Let’s suppose a serial interface with 2Mbps of bandwidth</a:t>
            </a:r>
          </a:p>
          <a:p>
            <a:pPr eaLnBrk="1" hangingPunct="1"/>
            <a:r>
              <a:rPr lang="en-US">
                <a:latin typeface="Arial" pitchFamily="1" charset="0"/>
              </a:rPr>
              <a:t>We are shaping at 1 Mbps (CIR).</a:t>
            </a:r>
          </a:p>
          <a:p>
            <a:pPr eaLnBrk="1" hangingPunct="1"/>
            <a:endParaRPr lang="en-US">
              <a:latin typeface="Arial" pitchFamily="1" charset="0"/>
            </a:endParaRPr>
          </a:p>
          <a:p>
            <a:pPr eaLnBrk="1" hangingPunct="1"/>
            <a:r>
              <a:rPr lang="en-US">
                <a:latin typeface="Arial" pitchFamily="1" charset="0"/>
              </a:rPr>
              <a:t>If the Bc (number of token added in one interval) is  1Mbit, this means the Tc will be 1s</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E49E4BA8-5AC3-3A49-B271-47CD5EBD7ABE}" type="slidenum">
              <a:rPr lang="en-US"/>
              <a:pPr/>
              <a:t>107</a:t>
            </a:fld>
            <a:endParaRPr lang="en-US"/>
          </a:p>
        </p:txBody>
      </p:sp>
      <p:sp>
        <p:nvSpPr>
          <p:cNvPr id="110595" name="Rectangle 2"/>
          <p:cNvSpPr>
            <a:spLocks noGrp="1" noRot="1" noChangeAspect="1" noChangeArrowheads="1" noTextEdit="1"/>
          </p:cNvSpPr>
          <p:nvPr>
            <p:ph type="sldImg"/>
          </p:nvPr>
        </p:nvSpPr>
        <p:spPr>
          <a:xfrm>
            <a:off x="-79375" y="246063"/>
            <a:ext cx="7123113" cy="4008437"/>
          </a:xfrm>
          <a:ln/>
        </p:spPr>
      </p:sp>
      <p:sp>
        <p:nvSpPr>
          <p:cNvPr id="110596" name="Rectangle 3"/>
          <p:cNvSpPr>
            <a:spLocks noGrp="1" noChangeArrowheads="1"/>
          </p:cNvSpPr>
          <p:nvPr>
            <p:ph type="body" idx="1"/>
          </p:nvPr>
        </p:nvSpPr>
        <p:spPr>
          <a:xfrm>
            <a:off x="398463" y="4397375"/>
            <a:ext cx="6032500" cy="4270375"/>
          </a:xfrm>
          <a:noFill/>
          <a:ln/>
        </p:spPr>
        <p:txBody>
          <a:bodyPr/>
          <a:lstStyle/>
          <a:p>
            <a:pPr eaLnBrk="1" hangingPunct="1"/>
            <a:r>
              <a:rPr lang="en-US" sz="1000">
                <a:solidFill>
                  <a:srgbClr val="FF0000"/>
                </a:solidFill>
                <a:latin typeface="Arial" pitchFamily="1" charset="0"/>
              </a:rPr>
              <a:t>Supported values from 10 ms to 125 ms.</a:t>
            </a:r>
          </a:p>
          <a:p>
            <a:pPr eaLnBrk="1" hangingPunct="1"/>
            <a:r>
              <a:rPr lang="en-US" sz="1000">
                <a:latin typeface="Arial" pitchFamily="1" charset="0"/>
              </a:rPr>
              <a:t>If a larger value is configured, Cisco IOS actually uses an internal value to ensure better stability.</a:t>
            </a:r>
          </a:p>
          <a:p>
            <a:pPr eaLnBrk="1" hangingPunct="1"/>
            <a:r>
              <a:rPr lang="en-US" sz="1100">
                <a:latin typeface="Arial" pitchFamily="1" charset="0"/>
                <a:sym typeface="Wingdings" pitchFamily="1" charset="2"/>
              </a:rPr>
              <a:t>Bc cannot be lower than 1000 bits</a:t>
            </a:r>
          </a:p>
          <a:p>
            <a:pPr eaLnBrk="1" hangingPunct="1"/>
            <a:endParaRPr lang="en-US" sz="1100">
              <a:latin typeface="Arial" pitchFamily="1" charset="0"/>
              <a:sym typeface="Wingdings" pitchFamily="1" charset="2"/>
            </a:endParaRPr>
          </a:p>
          <a:p>
            <a:pPr eaLnBrk="1" hangingPunct="1"/>
            <a:r>
              <a:rPr lang="en-US" sz="1100">
                <a:latin typeface="Arial" pitchFamily="1" charset="0"/>
                <a:sym typeface="Wingdings" pitchFamily="1" charset="2"/>
              </a:rPr>
              <a:t>Since HQF, default should be 4ms for all traffic.</a:t>
            </a:r>
            <a:endParaRPr lang="en-US" sz="1100">
              <a:latin typeface="Arial" pitchFamily="1" charset="0"/>
            </a:endParaRPr>
          </a:p>
          <a:p>
            <a:pPr eaLnBrk="1" hangingPunct="1"/>
            <a:endParaRPr lang="en-GB">
              <a:latin typeface="Arial" pitchFamily="1"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DF1A0F3C-6188-A44C-BDBC-B66F96A668DA}" type="slidenum">
              <a:rPr lang="en-US"/>
              <a:pPr/>
              <a:t>108</a:t>
            </a:fld>
            <a:endParaRPr lang="en-US"/>
          </a:p>
        </p:txBody>
      </p:sp>
      <p:sp>
        <p:nvSpPr>
          <p:cNvPr id="111619" name="Rectangle 2"/>
          <p:cNvSpPr>
            <a:spLocks noGrp="1" noRot="1" noChangeAspect="1" noChangeArrowheads="1" noTextEdit="1"/>
          </p:cNvSpPr>
          <p:nvPr>
            <p:ph type="sldImg"/>
          </p:nvPr>
        </p:nvSpPr>
        <p:spPr>
          <a:xfrm>
            <a:off x="381000" y="685800"/>
            <a:ext cx="6096000" cy="3429000"/>
          </a:xfrm>
          <a:ln/>
        </p:spPr>
      </p:sp>
      <p:sp>
        <p:nvSpPr>
          <p:cNvPr id="111620" name="Rectangle 3"/>
          <p:cNvSpPr>
            <a:spLocks noGrp="1" noChangeArrowheads="1"/>
          </p:cNvSpPr>
          <p:nvPr>
            <p:ph type="body" idx="1"/>
          </p:nvPr>
        </p:nvSpPr>
        <p:spPr>
          <a:noFill/>
          <a:ln/>
        </p:spPr>
        <p:txBody>
          <a:bodyPr/>
          <a:lstStyle/>
          <a:p>
            <a:pPr eaLnBrk="1" hangingPunct="1"/>
            <a:r>
              <a:rPr lang="en-US">
                <a:latin typeface="Arial" pitchFamily="1" charset="0"/>
              </a:rPr>
              <a:t>CIR is called here ‘mean rate’</a:t>
            </a:r>
          </a:p>
          <a:p>
            <a:pPr eaLnBrk="1" hangingPunct="1"/>
            <a:r>
              <a:rPr lang="en-US">
                <a:latin typeface="Arial" pitchFamily="1" charset="0"/>
              </a:rPr>
              <a:t>Bc ‘sustained burst size’</a:t>
            </a:r>
          </a:p>
          <a:p>
            <a:pPr eaLnBrk="1" hangingPunct="1"/>
            <a:r>
              <a:rPr lang="en-US">
                <a:latin typeface="Arial" pitchFamily="1" charset="0"/>
              </a:rPr>
              <a:t>Be ‘exceed burst size’</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0F545CFE-FDA6-E742-9D2C-96C0D6438612}" type="slidenum">
              <a:rPr lang="en-US"/>
              <a:pPr/>
              <a:t>109</a:t>
            </a:fld>
            <a:endParaRPr lang="en-US"/>
          </a:p>
        </p:txBody>
      </p:sp>
      <p:sp>
        <p:nvSpPr>
          <p:cNvPr id="112643" name="Rectangle 2"/>
          <p:cNvSpPr>
            <a:spLocks noGrp="1" noRot="1" noChangeAspect="1" noChangeArrowheads="1" noTextEdit="1"/>
          </p:cNvSpPr>
          <p:nvPr>
            <p:ph type="sldImg"/>
          </p:nvPr>
        </p:nvSpPr>
        <p:spPr>
          <a:xfrm>
            <a:off x="381000" y="685800"/>
            <a:ext cx="6096000" cy="3429000"/>
          </a:xfrm>
          <a:ln/>
        </p:spPr>
      </p:sp>
      <p:sp>
        <p:nvSpPr>
          <p:cNvPr id="112644" name="Rectangle 3"/>
          <p:cNvSpPr>
            <a:spLocks noGrp="1" noChangeArrowheads="1"/>
          </p:cNvSpPr>
          <p:nvPr>
            <p:ph type="body" idx="1"/>
          </p:nvPr>
        </p:nvSpPr>
        <p:spPr>
          <a:noFill/>
          <a:ln/>
        </p:spPr>
        <p:txBody>
          <a:bodyPr/>
          <a:lstStyle/>
          <a:p>
            <a:pPr eaLnBrk="1" hangingPunct="1"/>
            <a:r>
              <a:rPr lang="en-US">
                <a:latin typeface="Arial" pitchFamily="1" charset="0"/>
              </a:rPr>
              <a:t>Still have to find a use for peak shaping</a:t>
            </a:r>
          </a:p>
          <a:p>
            <a:pPr eaLnBrk="1" hangingPunct="1"/>
            <a:r>
              <a:rPr lang="en-US">
                <a:latin typeface="Arial" pitchFamily="1" charset="0"/>
              </a:rPr>
              <a:t>Basically = shaping at a higher CIR  than the configured one with a Be of zero.</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3F2B2F0A-BFE9-A243-A6A0-C7E90D6BE1CF}" type="slidenum">
              <a:rPr lang="en-US"/>
              <a:pPr/>
              <a:t>111</a:t>
            </a:fld>
            <a:endParaRPr lang="en-US"/>
          </a:p>
        </p:txBody>
      </p:sp>
      <p:sp>
        <p:nvSpPr>
          <p:cNvPr id="113667" name="Rectangle 2"/>
          <p:cNvSpPr>
            <a:spLocks noGrp="1" noRot="1" noChangeAspect="1" noChangeArrowheads="1" noTextEdit="1"/>
          </p:cNvSpPr>
          <p:nvPr>
            <p:ph type="sldImg"/>
          </p:nvPr>
        </p:nvSpPr>
        <p:spPr>
          <a:xfrm>
            <a:off x="-79375" y="246063"/>
            <a:ext cx="7123113" cy="4008437"/>
          </a:xfrm>
          <a:ln/>
        </p:spPr>
      </p:sp>
      <p:sp>
        <p:nvSpPr>
          <p:cNvPr id="113668" name="Rectangle 3"/>
          <p:cNvSpPr>
            <a:spLocks noGrp="1" noChangeArrowheads="1"/>
          </p:cNvSpPr>
          <p:nvPr>
            <p:ph type="body" idx="1"/>
          </p:nvPr>
        </p:nvSpPr>
        <p:spPr>
          <a:xfrm>
            <a:off x="398463" y="4397375"/>
            <a:ext cx="6032500" cy="4270375"/>
          </a:xfrm>
          <a:noFill/>
          <a:ln/>
        </p:spPr>
        <p:txBody>
          <a:bodyPr/>
          <a:lstStyle/>
          <a:p>
            <a:pPr eaLnBrk="1" hangingPunct="1"/>
            <a:endParaRPr lang="en-GB">
              <a:latin typeface="Arial" pitchFamily="1"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FC7D0F2C-F7D6-FF4C-A7F1-4065A33700FF}" type="slidenum">
              <a:rPr lang="en-US"/>
              <a:pPr/>
              <a:t>112</a:t>
            </a:fld>
            <a:endParaRPr lang="en-US"/>
          </a:p>
        </p:txBody>
      </p:sp>
      <p:sp>
        <p:nvSpPr>
          <p:cNvPr id="114691" name="Rectangle 2"/>
          <p:cNvSpPr>
            <a:spLocks noGrp="1" noRot="1" noChangeAspect="1" noChangeArrowheads="1" noTextEdit="1"/>
          </p:cNvSpPr>
          <p:nvPr>
            <p:ph type="sldImg"/>
          </p:nvPr>
        </p:nvSpPr>
        <p:spPr>
          <a:xfrm>
            <a:off x="381000" y="685800"/>
            <a:ext cx="6096000" cy="3429000"/>
          </a:xfrm>
          <a:ln/>
        </p:spPr>
      </p:sp>
      <p:sp>
        <p:nvSpPr>
          <p:cNvPr id="114692" name="Rectangle 3"/>
          <p:cNvSpPr>
            <a:spLocks noGrp="1" noChangeArrowheads="1"/>
          </p:cNvSpPr>
          <p:nvPr>
            <p:ph type="body" idx="1"/>
          </p:nvPr>
        </p:nvSpPr>
        <p:spPr>
          <a:noFill/>
          <a:ln/>
        </p:spPr>
        <p:txBody>
          <a:bodyPr/>
          <a:lstStyle/>
          <a:p>
            <a:pPr eaLnBrk="1" hangingPunct="1"/>
            <a:r>
              <a:rPr lang="en-US">
                <a:latin typeface="Arial" pitchFamily="1" charset="0"/>
              </a:rPr>
              <a:t>Explain why BW&gt;shape rate wouldn’t make sense</a:t>
            </a:r>
          </a:p>
          <a:p>
            <a:pPr eaLnBrk="1" hangingPunct="1"/>
            <a:endParaRPr lang="en-US">
              <a:latin typeface="Arial" pitchFamily="1" charset="0"/>
            </a:endParaRPr>
          </a:p>
          <a:p>
            <a:pPr eaLnBrk="1" hangingPunct="1"/>
            <a:r>
              <a:rPr lang="en-US">
                <a:latin typeface="Arial" pitchFamily="1" charset="0"/>
              </a:rPr>
              <a:t>This is equivalent to Nick moving ot a particular queue</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9852FEA0-D435-6F4B-8115-3F4E594291CA}" type="slidenum">
              <a:rPr lang="en-US"/>
              <a:pPr/>
              <a:t>113</a:t>
            </a:fld>
            <a:endParaRPr lang="en-US"/>
          </a:p>
        </p:txBody>
      </p:sp>
      <p:sp>
        <p:nvSpPr>
          <p:cNvPr id="115715" name="Rectangle 2"/>
          <p:cNvSpPr>
            <a:spLocks noGrp="1" noRot="1" noChangeAspect="1" noChangeArrowheads="1" noTextEdit="1"/>
          </p:cNvSpPr>
          <p:nvPr>
            <p:ph type="sldImg"/>
          </p:nvPr>
        </p:nvSpPr>
        <p:spPr>
          <a:xfrm>
            <a:off x="381000" y="685800"/>
            <a:ext cx="6096000" cy="3429000"/>
          </a:xfrm>
          <a:ln/>
        </p:spPr>
      </p:sp>
      <p:sp>
        <p:nvSpPr>
          <p:cNvPr id="115716" name="Rectangle 3"/>
          <p:cNvSpPr>
            <a:spLocks noGrp="1" noChangeArrowheads="1"/>
          </p:cNvSpPr>
          <p:nvPr>
            <p:ph type="body" idx="1"/>
          </p:nvPr>
        </p:nvSpPr>
        <p:spPr>
          <a:noFill/>
          <a:ln/>
        </p:spPr>
        <p:txBody>
          <a:bodyPr/>
          <a:lstStyle/>
          <a:p>
            <a:pPr eaLnBrk="1" hangingPunct="1"/>
            <a:r>
              <a:rPr lang="en-US">
                <a:latin typeface="Arial" pitchFamily="1" charset="0"/>
              </a:rPr>
              <a:t>This is when Nick tells Bob to start queuing..</a:t>
            </a:r>
          </a:p>
          <a:p>
            <a:pPr eaLnBrk="1" hangingPunct="1"/>
            <a:endParaRPr lang="en-US">
              <a:latin typeface="Arial" pitchFamily="1" charset="0"/>
            </a:endParaRPr>
          </a:p>
          <a:p>
            <a:pPr eaLnBrk="1" hangingPunct="1"/>
            <a:r>
              <a:rPr lang="en-US">
                <a:latin typeface="Arial" pitchFamily="1" charset="0"/>
              </a:rPr>
              <a:t>Ask why this can help with PPPoE</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33DB7F3C-4D2C-9D41-A3F1-D97CC3A2A4B1}" type="slidenum">
              <a:rPr lang="en-US"/>
              <a:pPr/>
              <a:t>114</a:t>
            </a:fld>
            <a:endParaRPr lang="en-US"/>
          </a:p>
        </p:txBody>
      </p:sp>
      <p:sp>
        <p:nvSpPr>
          <p:cNvPr id="116739" name="Rectangle 2"/>
          <p:cNvSpPr>
            <a:spLocks noGrp="1" noRot="1" noChangeAspect="1" noChangeArrowheads="1" noTextEdit="1"/>
          </p:cNvSpPr>
          <p:nvPr>
            <p:ph type="sldImg"/>
          </p:nvPr>
        </p:nvSpPr>
        <p:spPr>
          <a:xfrm>
            <a:off x="381000" y="685800"/>
            <a:ext cx="6096000" cy="3429000"/>
          </a:xfrm>
          <a:ln/>
        </p:spPr>
      </p:sp>
      <p:sp>
        <p:nvSpPr>
          <p:cNvPr id="116740" name="Rectangle 3"/>
          <p:cNvSpPr>
            <a:spLocks noGrp="1" noChangeArrowheads="1"/>
          </p:cNvSpPr>
          <p:nvPr>
            <p:ph type="body" idx="1"/>
          </p:nvPr>
        </p:nvSpPr>
        <p:spPr>
          <a:noFill/>
          <a:ln/>
        </p:spPr>
        <p:txBody>
          <a:bodyPr/>
          <a:lstStyle/>
          <a:p>
            <a:pPr eaLnBrk="1" hangingPunct="1"/>
            <a:r>
              <a:rPr lang="en-US">
                <a:latin typeface="Arial" pitchFamily="1" charset="0"/>
              </a:rPr>
              <a:t>Confusing parameters, don’t use the Shaper</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9B94CBAE-921B-AA4F-864E-6381257B5E62}" type="slidenum">
              <a:rPr lang="en-US"/>
              <a:pPr/>
              <a:t>117</a:t>
            </a:fld>
            <a:endParaRPr lang="en-US"/>
          </a:p>
        </p:txBody>
      </p:sp>
      <p:sp>
        <p:nvSpPr>
          <p:cNvPr id="117763" name="Rectangle 2"/>
          <p:cNvSpPr>
            <a:spLocks noGrp="1" noRot="1" noChangeAspect="1" noChangeArrowheads="1" noTextEdit="1"/>
          </p:cNvSpPr>
          <p:nvPr>
            <p:ph type="sldImg"/>
          </p:nvPr>
        </p:nvSpPr>
        <p:spPr>
          <a:xfrm>
            <a:off x="381000" y="685800"/>
            <a:ext cx="6096000" cy="3429000"/>
          </a:xfrm>
          <a:ln/>
        </p:spPr>
      </p:sp>
      <p:sp>
        <p:nvSpPr>
          <p:cNvPr id="117764" name="Rectangle 3"/>
          <p:cNvSpPr>
            <a:spLocks noGrp="1" noChangeArrowheads="1"/>
          </p:cNvSpPr>
          <p:nvPr>
            <p:ph type="body" idx="1"/>
          </p:nvPr>
        </p:nvSpPr>
        <p:spPr>
          <a:noFill/>
          <a:ln/>
        </p:spPr>
        <p:txBody>
          <a:bodyPr/>
          <a:lstStyle/>
          <a:p>
            <a:pPr eaLnBrk="1" hangingPunct="1"/>
            <a:r>
              <a:rPr lang="en-US" b="1">
                <a:latin typeface="Arial" pitchFamily="1" charset="0"/>
              </a:rPr>
              <a:t>Dual Bucket / Three Color</a:t>
            </a:r>
          </a:p>
          <a:p>
            <a:pPr eaLnBrk="1" hangingPunct="1"/>
            <a:endParaRPr lang="en-US" b="1">
              <a:latin typeface="Arial" pitchFamily="1" charset="0"/>
            </a:endParaRPr>
          </a:p>
          <a:p>
            <a:pPr eaLnBrk="1" hangingPunct="1"/>
            <a:r>
              <a:rPr lang="en-US" b="1">
                <a:latin typeface="Arial" pitchFamily="1" charset="0"/>
              </a:rPr>
              <a:t>Tb1 = actual amount of tokens in 1st bucket</a:t>
            </a:r>
          </a:p>
          <a:p>
            <a:pPr eaLnBrk="1" hangingPunct="1"/>
            <a:r>
              <a:rPr lang="en-US" b="1">
                <a:latin typeface="Arial" pitchFamily="1" charset="0"/>
              </a:rPr>
              <a:t>Tb2 = actual amount of tokens in 2nd bucket</a:t>
            </a:r>
          </a:p>
          <a:p>
            <a:pPr eaLnBrk="1" hangingPunct="1"/>
            <a:r>
              <a:rPr lang="en-US" b="1">
                <a:latin typeface="Arial" pitchFamily="1" charset="0"/>
              </a:rPr>
              <a:t>B = size of packet P</a:t>
            </a:r>
          </a:p>
          <a:p>
            <a:pPr eaLnBrk="1" hangingPunct="1"/>
            <a:endParaRPr lang="en-US" b="1">
              <a:latin typeface="Arial" pitchFamily="1" charset="0"/>
            </a:endParaRPr>
          </a:p>
          <a:p>
            <a:pPr eaLnBrk="1" hangingPunct="1"/>
            <a:r>
              <a:rPr lang="en-US" b="1">
                <a:solidFill>
                  <a:schemeClr val="bg1"/>
                </a:solidFill>
                <a:latin typeface="Arial" pitchFamily="1" charset="0"/>
              </a:rPr>
              <a:t>Packet P arrives :</a:t>
            </a:r>
          </a:p>
          <a:p>
            <a:pPr eaLnBrk="1" hangingPunct="1"/>
            <a:r>
              <a:rPr lang="en-US" b="1">
                <a:solidFill>
                  <a:schemeClr val="bg1"/>
                </a:solidFill>
                <a:latin typeface="Arial" pitchFamily="1" charset="0"/>
              </a:rPr>
              <a:t>If (Tb1 - B) &gt;= 0</a:t>
            </a:r>
          </a:p>
          <a:p>
            <a:pPr eaLnBrk="1" hangingPunct="1"/>
            <a:r>
              <a:rPr lang="en-US" b="1">
                <a:solidFill>
                  <a:schemeClr val="bg1"/>
                </a:solidFill>
                <a:latin typeface="Arial" pitchFamily="1" charset="0"/>
              </a:rPr>
              <a:t>then {</a:t>
            </a:r>
            <a:r>
              <a:rPr lang="en-US" b="1" u="sng">
                <a:solidFill>
                  <a:schemeClr val="bg1"/>
                </a:solidFill>
                <a:latin typeface="Arial" pitchFamily="1" charset="0"/>
              </a:rPr>
              <a:t>conform</a:t>
            </a:r>
            <a:r>
              <a:rPr lang="en-US" b="1">
                <a:solidFill>
                  <a:schemeClr val="bg1"/>
                </a:solidFill>
                <a:latin typeface="Arial" pitchFamily="1" charset="0"/>
              </a:rPr>
              <a:t>(P)</a:t>
            </a:r>
          </a:p>
          <a:p>
            <a:pPr eaLnBrk="1" hangingPunct="1"/>
            <a:r>
              <a:rPr lang="en-US" b="1">
                <a:solidFill>
                  <a:schemeClr val="bg1"/>
                </a:solidFill>
                <a:latin typeface="Arial" pitchFamily="1" charset="0"/>
              </a:rPr>
              <a:t>	   Tb1 = (Tb1 – B) }</a:t>
            </a:r>
          </a:p>
          <a:p>
            <a:pPr eaLnBrk="1" hangingPunct="1"/>
            <a:r>
              <a:rPr lang="en-US" b="1">
                <a:solidFill>
                  <a:schemeClr val="bg1"/>
                </a:solidFill>
                <a:latin typeface="Arial" pitchFamily="1" charset="0"/>
              </a:rPr>
              <a:t>else If (Tb2 – B) &gt;= 0</a:t>
            </a:r>
          </a:p>
          <a:p>
            <a:pPr eaLnBrk="1" hangingPunct="1"/>
            <a:r>
              <a:rPr lang="en-US" b="1">
                <a:solidFill>
                  <a:schemeClr val="bg1"/>
                </a:solidFill>
                <a:latin typeface="Arial" pitchFamily="1" charset="0"/>
              </a:rPr>
              <a:t>	then {</a:t>
            </a:r>
            <a:r>
              <a:rPr lang="en-US" b="1" u="sng">
                <a:solidFill>
                  <a:schemeClr val="bg1"/>
                </a:solidFill>
                <a:latin typeface="Arial" pitchFamily="1" charset="0"/>
              </a:rPr>
              <a:t>exceed</a:t>
            </a:r>
            <a:r>
              <a:rPr lang="en-US" b="1">
                <a:solidFill>
                  <a:schemeClr val="bg1"/>
                </a:solidFill>
                <a:latin typeface="Arial" pitchFamily="1" charset="0"/>
              </a:rPr>
              <a:t>(P)</a:t>
            </a:r>
          </a:p>
          <a:p>
            <a:pPr eaLnBrk="1" hangingPunct="1"/>
            <a:r>
              <a:rPr lang="en-US" b="1">
                <a:solidFill>
                  <a:schemeClr val="bg1"/>
                </a:solidFill>
                <a:latin typeface="Arial" pitchFamily="1" charset="0"/>
              </a:rPr>
              <a:t>	          Tb2 = (Tb2 – B)}</a:t>
            </a:r>
          </a:p>
          <a:p>
            <a:pPr eaLnBrk="1" hangingPunct="1"/>
            <a:r>
              <a:rPr lang="en-US" b="1">
                <a:solidFill>
                  <a:schemeClr val="bg1"/>
                </a:solidFill>
                <a:latin typeface="Arial" pitchFamily="1" charset="0"/>
              </a:rPr>
              <a:t>	else {</a:t>
            </a:r>
            <a:r>
              <a:rPr lang="en-US" b="1" u="sng">
                <a:solidFill>
                  <a:schemeClr val="bg1"/>
                </a:solidFill>
                <a:latin typeface="Arial" pitchFamily="1" charset="0"/>
              </a:rPr>
              <a:t>violate</a:t>
            </a:r>
            <a:r>
              <a:rPr lang="en-US" b="1">
                <a:solidFill>
                  <a:schemeClr val="bg1"/>
                </a:solidFill>
                <a:latin typeface="Arial" pitchFamily="1" charset="0"/>
              </a:rPr>
              <a:t>(p)}</a:t>
            </a:r>
          </a:p>
          <a:p>
            <a:pPr eaLnBrk="1" hangingPunct="1"/>
            <a:endParaRPr lang="en-US">
              <a:latin typeface="Arial" pitchFamily="1"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33635A6A-5389-9E49-B2C2-6C4ADEB0FFFF}" type="slidenum">
              <a:rPr lang="en-US"/>
              <a:pPr/>
              <a:t>118</a:t>
            </a:fld>
            <a:endParaRPr lang="en-US"/>
          </a:p>
        </p:txBody>
      </p:sp>
      <p:sp>
        <p:nvSpPr>
          <p:cNvPr id="118787" name="Rectangle 2"/>
          <p:cNvSpPr>
            <a:spLocks noGrp="1" noRot="1" noChangeAspect="1" noChangeArrowheads="1" noTextEdit="1"/>
          </p:cNvSpPr>
          <p:nvPr>
            <p:ph type="sldImg"/>
          </p:nvPr>
        </p:nvSpPr>
        <p:spPr>
          <a:xfrm>
            <a:off x="381000" y="685800"/>
            <a:ext cx="6096000" cy="3429000"/>
          </a:xfrm>
          <a:ln/>
        </p:spPr>
      </p:sp>
      <p:sp>
        <p:nvSpPr>
          <p:cNvPr id="118788" name="Rectangle 3"/>
          <p:cNvSpPr>
            <a:spLocks noGrp="1" noChangeArrowheads="1"/>
          </p:cNvSpPr>
          <p:nvPr>
            <p:ph type="body" idx="1"/>
          </p:nvPr>
        </p:nvSpPr>
        <p:spPr>
          <a:noFill/>
          <a:ln/>
        </p:spPr>
        <p:txBody>
          <a:bodyPr/>
          <a:lstStyle/>
          <a:p>
            <a:pPr marL="228600" indent="-228600" eaLnBrk="1" hangingPunct="1">
              <a:lnSpc>
                <a:spcPct val="90000"/>
              </a:lnSpc>
            </a:pPr>
            <a:r>
              <a:rPr lang="en-GB" sz="800">
                <a:latin typeface="Arial" pitchFamily="1" charset="0"/>
              </a:rPr>
              <a:t>Assumptions :</a:t>
            </a:r>
            <a:endParaRPr lang="en-US" sz="800">
              <a:latin typeface="Arial" pitchFamily="1" charset="0"/>
            </a:endParaRPr>
          </a:p>
          <a:p>
            <a:pPr marL="228600" indent="-228600" eaLnBrk="1" hangingPunct="1">
              <a:lnSpc>
                <a:spcPct val="90000"/>
              </a:lnSpc>
              <a:buFontTx/>
              <a:buChar char="•"/>
            </a:pPr>
            <a:r>
              <a:rPr lang="en-US" sz="800">
                <a:latin typeface="Arial" pitchFamily="1" charset="0"/>
              </a:rPr>
              <a:t>1token per byte</a:t>
            </a:r>
          </a:p>
          <a:p>
            <a:pPr marL="228600" indent="-228600" eaLnBrk="1" hangingPunct="1">
              <a:lnSpc>
                <a:spcPct val="90000"/>
              </a:lnSpc>
              <a:buFontTx/>
              <a:buChar char="•"/>
            </a:pPr>
            <a:r>
              <a:rPr lang="en-US" sz="800">
                <a:latin typeface="Arial" pitchFamily="1" charset="0"/>
              </a:rPr>
              <a:t>Token buckets starts full at Tb1 = Tb2 = 1000.</a:t>
            </a:r>
          </a:p>
          <a:p>
            <a:pPr marL="228600" indent="-228600" eaLnBrk="1" hangingPunct="1">
              <a:lnSpc>
                <a:spcPct val="90000"/>
              </a:lnSpc>
            </a:pPr>
            <a:endParaRPr lang="en-US" sz="800">
              <a:latin typeface="Arial" pitchFamily="1" charset="0"/>
            </a:endParaRPr>
          </a:p>
          <a:p>
            <a:pPr marL="228600" indent="-228600" eaLnBrk="1" hangingPunct="1">
              <a:lnSpc>
                <a:spcPct val="90000"/>
              </a:lnSpc>
              <a:buFontTx/>
              <a:buAutoNum type="arabicParenR"/>
            </a:pPr>
            <a:r>
              <a:rPr lang="en-US" sz="800" u="sng">
                <a:latin typeface="Arial" pitchFamily="1" charset="0"/>
              </a:rPr>
              <a:t>A 550-byte packet arrives:</a:t>
            </a:r>
          </a:p>
          <a:p>
            <a:pPr marL="685800" lvl="1" indent="-228600" eaLnBrk="1" hangingPunct="1">
              <a:lnSpc>
                <a:spcPct val="90000"/>
              </a:lnSpc>
            </a:pPr>
            <a:r>
              <a:rPr lang="en-US" sz="900">
                <a:latin typeface="Arial" pitchFamily="1" charset="0"/>
              </a:rPr>
              <a:t>	Tb1 – 550 &gt;=0 </a:t>
            </a:r>
            <a:r>
              <a:rPr lang="en-US" sz="900">
                <a:latin typeface="Arial" pitchFamily="1" charset="0"/>
                <a:sym typeface="Wingdings" pitchFamily="1" charset="2"/>
              </a:rPr>
              <a:t> </a:t>
            </a:r>
            <a:r>
              <a:rPr lang="en-US" sz="900" u="sng">
                <a:solidFill>
                  <a:schemeClr val="folHlink"/>
                </a:solidFill>
                <a:latin typeface="Arial" pitchFamily="1" charset="0"/>
                <a:sym typeface="Wingdings" pitchFamily="1" charset="2"/>
              </a:rPr>
              <a:t>conform</a:t>
            </a:r>
            <a:endParaRPr lang="en-US" sz="900">
              <a:latin typeface="Arial" pitchFamily="1" charset="0"/>
            </a:endParaRPr>
          </a:p>
          <a:p>
            <a:pPr marL="685800" lvl="1" indent="-228600" eaLnBrk="1" hangingPunct="1">
              <a:lnSpc>
                <a:spcPct val="90000"/>
              </a:lnSpc>
            </a:pPr>
            <a:r>
              <a:rPr lang="en-US" sz="900">
                <a:latin typeface="Arial" pitchFamily="1" charset="0"/>
              </a:rPr>
              <a:t>	Tb1 =  1000 - 550 = 450 (Tb2 =1000)</a:t>
            </a:r>
          </a:p>
          <a:p>
            <a:pPr marL="685800" lvl="1" indent="-228600" eaLnBrk="1" hangingPunct="1">
              <a:lnSpc>
                <a:spcPct val="90000"/>
              </a:lnSpc>
            </a:pPr>
            <a:endParaRPr lang="en-US" sz="900">
              <a:latin typeface="Arial" pitchFamily="1" charset="0"/>
            </a:endParaRPr>
          </a:p>
          <a:p>
            <a:pPr marL="228600" indent="-228600" eaLnBrk="1" hangingPunct="1">
              <a:lnSpc>
                <a:spcPct val="90000"/>
              </a:lnSpc>
              <a:buFontTx/>
              <a:buAutoNum type="arabicParenR" startAt="2"/>
            </a:pPr>
            <a:r>
              <a:rPr lang="en-US" sz="700" u="sng">
                <a:latin typeface="Arial" pitchFamily="1" charset="0"/>
              </a:rPr>
              <a:t>The next packet arrives .25 seconds later:</a:t>
            </a:r>
          </a:p>
          <a:p>
            <a:pPr marL="685800" lvl="1" indent="-228600" eaLnBrk="1" hangingPunct="1">
              <a:lnSpc>
                <a:spcPct val="90000"/>
              </a:lnSpc>
            </a:pPr>
            <a:r>
              <a:rPr lang="en-US" sz="800">
                <a:latin typeface="Arial" pitchFamily="1" charset="0"/>
              </a:rPr>
              <a:t>	250 tokens are added to Tb1 (0.25 * 8000)/8)</a:t>
            </a:r>
          </a:p>
          <a:p>
            <a:pPr marL="685800" lvl="1" indent="-228600" eaLnBrk="1" hangingPunct="1">
              <a:lnSpc>
                <a:spcPct val="90000"/>
              </a:lnSpc>
            </a:pPr>
            <a:r>
              <a:rPr lang="en-US" sz="800">
                <a:latin typeface="Arial" pitchFamily="1" charset="0"/>
              </a:rPr>
              <a:t>	Tb1 = Tb1 + 250 = 700</a:t>
            </a:r>
          </a:p>
          <a:p>
            <a:pPr marL="685800" lvl="1" indent="-228600" eaLnBrk="1" hangingPunct="1">
              <a:lnSpc>
                <a:spcPct val="90000"/>
              </a:lnSpc>
            </a:pPr>
            <a:endParaRPr lang="en-US" sz="800">
              <a:latin typeface="Arial" pitchFamily="1" charset="0"/>
            </a:endParaRPr>
          </a:p>
          <a:p>
            <a:pPr marL="228600" indent="-228600" eaLnBrk="1" hangingPunct="1">
              <a:lnSpc>
                <a:spcPct val="90000"/>
              </a:lnSpc>
              <a:buFontTx/>
              <a:buAutoNum type="arabicParenR" startAt="3"/>
            </a:pPr>
            <a:r>
              <a:rPr lang="en-US" sz="700" u="sng">
                <a:latin typeface="Arial" pitchFamily="1" charset="0"/>
              </a:rPr>
              <a:t>If the next packet is 800 bytes :</a:t>
            </a:r>
          </a:p>
          <a:p>
            <a:pPr marL="685800" lvl="1" indent="-228600" eaLnBrk="1" hangingPunct="1">
              <a:lnSpc>
                <a:spcPct val="90000"/>
              </a:lnSpc>
            </a:pPr>
            <a:r>
              <a:rPr lang="en-US" sz="800">
                <a:latin typeface="Arial" pitchFamily="1" charset="0"/>
              </a:rPr>
              <a:t>	Tb1 – 800 &lt; 0</a:t>
            </a:r>
          </a:p>
          <a:p>
            <a:pPr marL="685800" lvl="1" indent="-228600" eaLnBrk="1" hangingPunct="1">
              <a:lnSpc>
                <a:spcPct val="90000"/>
              </a:lnSpc>
            </a:pPr>
            <a:r>
              <a:rPr lang="en-US" sz="800">
                <a:latin typeface="Arial" pitchFamily="1" charset="0"/>
              </a:rPr>
              <a:t>	Tb2 – 800 &gt;= 0 </a:t>
            </a:r>
            <a:r>
              <a:rPr lang="en-US" sz="800">
                <a:latin typeface="Arial" pitchFamily="1" charset="0"/>
                <a:sym typeface="Wingdings" pitchFamily="1" charset="2"/>
              </a:rPr>
              <a:t></a:t>
            </a:r>
            <a:r>
              <a:rPr lang="en-US" sz="800" u="sng">
                <a:solidFill>
                  <a:schemeClr val="folHlink"/>
                </a:solidFill>
                <a:latin typeface="Arial" pitchFamily="1" charset="0"/>
                <a:sym typeface="Wingdings" pitchFamily="1" charset="2"/>
              </a:rPr>
              <a:t>exceed</a:t>
            </a:r>
            <a:r>
              <a:rPr lang="en-US" sz="800">
                <a:latin typeface="Arial" pitchFamily="1" charset="0"/>
                <a:sym typeface="Wingdings" pitchFamily="1" charset="2"/>
              </a:rPr>
              <a:t> </a:t>
            </a:r>
          </a:p>
          <a:p>
            <a:pPr marL="685800" lvl="1" indent="-228600" eaLnBrk="1" hangingPunct="1">
              <a:lnSpc>
                <a:spcPct val="90000"/>
              </a:lnSpc>
            </a:pPr>
            <a:r>
              <a:rPr lang="en-US" sz="800">
                <a:latin typeface="Arial" pitchFamily="1" charset="0"/>
                <a:sym typeface="Wingdings" pitchFamily="1" charset="2"/>
              </a:rPr>
              <a:t>	Tb2 = Tb2 – 800 = 200</a:t>
            </a:r>
          </a:p>
          <a:p>
            <a:pPr marL="228600" indent="-228600" eaLnBrk="1" hangingPunct="1">
              <a:lnSpc>
                <a:spcPct val="90000"/>
              </a:lnSpc>
            </a:pPr>
            <a:endParaRPr lang="en-US" sz="900">
              <a:latin typeface="Arial" pitchFamily="1" charset="0"/>
            </a:endParaRPr>
          </a:p>
          <a:p>
            <a:pPr marL="228600" indent="-228600" eaLnBrk="1" hangingPunct="1">
              <a:lnSpc>
                <a:spcPct val="90000"/>
              </a:lnSpc>
              <a:buFontTx/>
              <a:buAutoNum type="arabicParenR" startAt="4"/>
            </a:pPr>
            <a:r>
              <a:rPr lang="en-US" sz="800" u="sng">
                <a:latin typeface="Arial" pitchFamily="1" charset="0"/>
              </a:rPr>
              <a:t>If the next packet arrives .40 seconds later :</a:t>
            </a:r>
          </a:p>
          <a:p>
            <a:pPr marL="228600" indent="-228600" eaLnBrk="1" hangingPunct="1">
              <a:lnSpc>
                <a:spcPct val="90000"/>
              </a:lnSpc>
            </a:pPr>
            <a:r>
              <a:rPr lang="en-US" sz="800">
                <a:latin typeface="Arial" pitchFamily="1" charset="0"/>
              </a:rPr>
              <a:t>	400 tokens are added to Tb1 (.40 * 8000)/8)</a:t>
            </a:r>
          </a:p>
          <a:p>
            <a:pPr marL="228600" indent="-228600" eaLnBrk="1" hangingPunct="1">
              <a:lnSpc>
                <a:spcPct val="90000"/>
              </a:lnSpc>
            </a:pPr>
            <a:r>
              <a:rPr lang="en-US" sz="800">
                <a:latin typeface="Arial" pitchFamily="1" charset="0"/>
              </a:rPr>
              <a:t>	Tb1 &lt;= 1000  ! </a:t>
            </a:r>
            <a:r>
              <a:rPr lang="en-US" sz="800">
                <a:latin typeface="Arial" pitchFamily="1" charset="0"/>
                <a:sym typeface="Wingdings" pitchFamily="1" charset="2"/>
              </a:rPr>
              <a:t></a:t>
            </a:r>
            <a:r>
              <a:rPr lang="en-US" sz="800">
                <a:latin typeface="Arial" pitchFamily="1" charset="0"/>
              </a:rPr>
              <a:t> 700 + 400 = 1000 + 100</a:t>
            </a:r>
          </a:p>
          <a:p>
            <a:pPr marL="228600" indent="-228600" eaLnBrk="1" hangingPunct="1">
              <a:lnSpc>
                <a:spcPct val="90000"/>
              </a:lnSpc>
            </a:pPr>
            <a:r>
              <a:rPr lang="en-US" sz="800">
                <a:latin typeface="Arial" pitchFamily="1" charset="0"/>
              </a:rPr>
              <a:t>Maximum size of Tb1 = 1000 </a:t>
            </a:r>
            <a:r>
              <a:rPr lang="en-US" sz="800">
                <a:latin typeface="Arial" pitchFamily="1" charset="0"/>
                <a:sym typeface="Wingdings" pitchFamily="1" charset="2"/>
              </a:rPr>
              <a:t></a:t>
            </a:r>
            <a:r>
              <a:rPr lang="en-US" sz="800">
                <a:solidFill>
                  <a:schemeClr val="folHlink"/>
                </a:solidFill>
                <a:latin typeface="Arial" pitchFamily="1" charset="0"/>
                <a:sym typeface="Wingdings" pitchFamily="1" charset="2"/>
              </a:rPr>
              <a:t>100 tokens overflow to Tb2</a:t>
            </a:r>
          </a:p>
          <a:p>
            <a:pPr marL="228600" indent="-228600" eaLnBrk="1" hangingPunct="1">
              <a:lnSpc>
                <a:spcPct val="90000"/>
              </a:lnSpc>
            </a:pPr>
            <a:r>
              <a:rPr lang="en-US" sz="800">
                <a:latin typeface="Arial" pitchFamily="1" charset="0"/>
              </a:rPr>
              <a:t>	Tb1 = 1000</a:t>
            </a:r>
          </a:p>
          <a:p>
            <a:pPr marL="228600" indent="-228600" eaLnBrk="1" hangingPunct="1">
              <a:lnSpc>
                <a:spcPct val="90000"/>
              </a:lnSpc>
            </a:pPr>
            <a:r>
              <a:rPr lang="en-US" sz="800">
                <a:latin typeface="Arial" pitchFamily="1" charset="0"/>
              </a:rPr>
              <a:t>	Tb2 = 200 +100 =300</a:t>
            </a:r>
          </a:p>
          <a:p>
            <a:pPr marL="228600" indent="-228600" eaLnBrk="1" hangingPunct="1">
              <a:lnSpc>
                <a:spcPct val="90000"/>
              </a:lnSpc>
            </a:pPr>
            <a:endParaRPr lang="en-US" sz="800" u="sng">
              <a:latin typeface="Arial" pitchFamily="1" charset="0"/>
            </a:endParaRPr>
          </a:p>
          <a:p>
            <a:pPr marL="228600" indent="-228600" eaLnBrk="1" hangingPunct="1">
              <a:lnSpc>
                <a:spcPct val="90000"/>
              </a:lnSpc>
              <a:buFontTx/>
              <a:buAutoNum type="arabicParenR" startAt="5"/>
            </a:pPr>
            <a:r>
              <a:rPr lang="en-US" sz="800" u="sng">
                <a:latin typeface="Arial" pitchFamily="1" charset="0"/>
              </a:rPr>
              <a:t>If the arriving packet is 1100 bytes :</a:t>
            </a:r>
          </a:p>
          <a:p>
            <a:pPr marL="228600" indent="-228600" eaLnBrk="1" hangingPunct="1">
              <a:lnSpc>
                <a:spcPct val="90000"/>
              </a:lnSpc>
            </a:pPr>
            <a:r>
              <a:rPr lang="en-US" sz="800">
                <a:latin typeface="Arial" pitchFamily="1" charset="0"/>
              </a:rPr>
              <a:t>	Tb1 – 1100 &lt; 0</a:t>
            </a:r>
          </a:p>
          <a:p>
            <a:pPr marL="228600" indent="-228600" eaLnBrk="1" hangingPunct="1">
              <a:lnSpc>
                <a:spcPct val="90000"/>
              </a:lnSpc>
            </a:pPr>
            <a:r>
              <a:rPr lang="en-US" sz="800">
                <a:latin typeface="Arial" pitchFamily="1" charset="0"/>
              </a:rPr>
              <a:t>	Tb2 – 1100 &lt; 0 </a:t>
            </a:r>
            <a:r>
              <a:rPr lang="en-US" sz="800">
                <a:latin typeface="Arial" pitchFamily="1" charset="0"/>
                <a:sym typeface="Wingdings" pitchFamily="1" charset="2"/>
              </a:rPr>
              <a:t> </a:t>
            </a:r>
            <a:r>
              <a:rPr lang="en-US" sz="800" u="sng">
                <a:solidFill>
                  <a:schemeClr val="folHlink"/>
                </a:solidFill>
                <a:latin typeface="Arial" pitchFamily="1" charset="0"/>
                <a:sym typeface="Wingdings" pitchFamily="1" charset="2"/>
              </a:rPr>
              <a:t>violate</a:t>
            </a:r>
            <a:endParaRPr lang="en-US" sz="800">
              <a:latin typeface="Arial" pitchFamily="1" charset="0"/>
              <a:sym typeface="Wingdings" pitchFamily="1" charset="2"/>
            </a:endParaRPr>
          </a:p>
          <a:p>
            <a:pPr marL="228600" indent="-228600" eaLnBrk="1" hangingPunct="1">
              <a:lnSpc>
                <a:spcPct val="90000"/>
              </a:lnSpc>
            </a:pPr>
            <a:endParaRPr lang="en-US" sz="900">
              <a:latin typeface="Arial" pitchFamily="1"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A46DE3E5-C15C-EC47-9B12-94F05ED051DF}" type="slidenum">
              <a:rPr lang="en-US"/>
              <a:pPr/>
              <a:t>119</a:t>
            </a:fld>
            <a:endParaRPr lang="en-US"/>
          </a:p>
        </p:txBody>
      </p:sp>
      <p:sp>
        <p:nvSpPr>
          <p:cNvPr id="119811" name="Rectangle 2"/>
          <p:cNvSpPr>
            <a:spLocks noGrp="1" noRot="1" noChangeAspect="1" noChangeArrowheads="1" noTextEdit="1"/>
          </p:cNvSpPr>
          <p:nvPr>
            <p:ph type="sldImg"/>
          </p:nvPr>
        </p:nvSpPr>
        <p:spPr>
          <a:xfrm>
            <a:off x="381000" y="685800"/>
            <a:ext cx="6096000" cy="3429000"/>
          </a:xfrm>
          <a:ln/>
        </p:spPr>
      </p:sp>
      <p:sp>
        <p:nvSpPr>
          <p:cNvPr id="119812" name="Rectangle 3"/>
          <p:cNvSpPr>
            <a:spLocks noGrp="1" noChangeArrowheads="1"/>
          </p:cNvSpPr>
          <p:nvPr>
            <p:ph type="body" idx="1"/>
          </p:nvPr>
        </p:nvSpPr>
        <p:spPr>
          <a:noFill/>
          <a:ln/>
        </p:spPr>
        <p:txBody>
          <a:bodyPr/>
          <a:lstStyle/>
          <a:p>
            <a:pPr eaLnBrk="1" hangingPunct="1"/>
            <a:r>
              <a:rPr lang="en-US" sz="900">
                <a:solidFill>
                  <a:schemeClr val="bg1"/>
                </a:solidFill>
                <a:latin typeface="Arial" pitchFamily="1" charset="0"/>
              </a:rPr>
              <a:t>If (B &gt; Tp(t))</a:t>
            </a:r>
          </a:p>
          <a:p>
            <a:pPr eaLnBrk="1" hangingPunct="1"/>
            <a:r>
              <a:rPr lang="en-US" sz="900">
                <a:solidFill>
                  <a:schemeClr val="bg1"/>
                </a:solidFill>
                <a:latin typeface="Arial" pitchFamily="1" charset="0"/>
              </a:rPr>
              <a:t>Then </a:t>
            </a:r>
            <a:r>
              <a:rPr lang="en-US" sz="900" u="sng">
                <a:solidFill>
                  <a:schemeClr val="bg1"/>
                </a:solidFill>
                <a:latin typeface="Arial" pitchFamily="1" charset="0"/>
              </a:rPr>
              <a:t>violate</a:t>
            </a:r>
            <a:r>
              <a:rPr lang="en-US" sz="900">
                <a:solidFill>
                  <a:schemeClr val="bg1"/>
                </a:solidFill>
                <a:latin typeface="Arial" pitchFamily="1" charset="0"/>
              </a:rPr>
              <a:t>(P)</a:t>
            </a:r>
          </a:p>
          <a:p>
            <a:pPr eaLnBrk="1" hangingPunct="1"/>
            <a:r>
              <a:rPr lang="en-US" sz="1100">
                <a:solidFill>
                  <a:schemeClr val="bg1"/>
                </a:solidFill>
                <a:latin typeface="Arial" pitchFamily="1" charset="0"/>
              </a:rPr>
              <a:t>  Else If (B &gt; Tc(t))</a:t>
            </a:r>
          </a:p>
          <a:p>
            <a:pPr eaLnBrk="1" hangingPunct="1"/>
            <a:r>
              <a:rPr lang="en-US" sz="1100">
                <a:solidFill>
                  <a:schemeClr val="bg1"/>
                </a:solidFill>
                <a:latin typeface="Courier New" pitchFamily="1" charset="0"/>
              </a:rPr>
              <a:t>    </a:t>
            </a:r>
            <a:r>
              <a:rPr lang="en-US" sz="1100">
                <a:solidFill>
                  <a:schemeClr val="bg1"/>
                </a:solidFill>
                <a:latin typeface="Arial" pitchFamily="1" charset="0"/>
              </a:rPr>
              <a:t>Then{</a:t>
            </a:r>
            <a:r>
              <a:rPr lang="en-US" sz="1100" u="sng">
                <a:solidFill>
                  <a:schemeClr val="bg1"/>
                </a:solidFill>
                <a:latin typeface="Arial" pitchFamily="1" charset="0"/>
              </a:rPr>
              <a:t>exceed</a:t>
            </a:r>
            <a:r>
              <a:rPr lang="en-US" sz="1100">
                <a:solidFill>
                  <a:schemeClr val="bg1"/>
                </a:solidFill>
                <a:latin typeface="Arial" pitchFamily="1" charset="0"/>
              </a:rPr>
              <a:t>(P)</a:t>
            </a:r>
          </a:p>
          <a:p>
            <a:pPr eaLnBrk="1" hangingPunct="1"/>
            <a:r>
              <a:rPr lang="en-US" sz="1100">
                <a:solidFill>
                  <a:schemeClr val="bg1"/>
                </a:solidFill>
                <a:latin typeface="Courier New" pitchFamily="1" charset="0"/>
              </a:rPr>
              <a:t>    </a:t>
            </a:r>
            <a:r>
              <a:rPr lang="en-US" sz="1100">
                <a:solidFill>
                  <a:schemeClr val="bg1"/>
                </a:solidFill>
                <a:latin typeface="Arial" pitchFamily="1" charset="0"/>
              </a:rPr>
              <a:t>Tp(t) = Tp(t) – B}</a:t>
            </a:r>
          </a:p>
          <a:p>
            <a:pPr eaLnBrk="1" hangingPunct="1"/>
            <a:r>
              <a:rPr lang="en-US" sz="1100">
                <a:solidFill>
                  <a:schemeClr val="bg1"/>
                </a:solidFill>
                <a:latin typeface="Arial" pitchFamily="1" charset="0"/>
              </a:rPr>
              <a:t>  Else{</a:t>
            </a:r>
            <a:r>
              <a:rPr lang="en-US" sz="1100" u="sng">
                <a:solidFill>
                  <a:schemeClr val="bg1"/>
                </a:solidFill>
                <a:latin typeface="Arial" pitchFamily="1" charset="0"/>
              </a:rPr>
              <a:t>conform</a:t>
            </a:r>
            <a:r>
              <a:rPr lang="en-US" sz="1100">
                <a:solidFill>
                  <a:schemeClr val="bg1"/>
                </a:solidFill>
                <a:latin typeface="Arial" pitchFamily="1" charset="0"/>
              </a:rPr>
              <a:t>(P)</a:t>
            </a:r>
          </a:p>
          <a:p>
            <a:pPr eaLnBrk="1" hangingPunct="1"/>
            <a:r>
              <a:rPr lang="en-US" sz="1100">
                <a:solidFill>
                  <a:schemeClr val="bg1"/>
                </a:solidFill>
                <a:latin typeface="Arial" pitchFamily="1" charset="0"/>
              </a:rPr>
              <a:t>    Tp(t) = Tp(t) – B</a:t>
            </a:r>
          </a:p>
          <a:p>
            <a:pPr eaLnBrk="1" hangingPunct="1"/>
            <a:r>
              <a:rPr lang="en-US" sz="1100">
                <a:solidFill>
                  <a:schemeClr val="bg1"/>
                </a:solidFill>
                <a:latin typeface="Arial" pitchFamily="1" charset="0"/>
              </a:rPr>
              <a:t>    Tc(t) = Tc(t) – B}</a:t>
            </a:r>
          </a:p>
          <a:p>
            <a:pPr eaLnBrk="1" hangingPunct="1"/>
            <a:endParaRPr lang="en-US">
              <a:latin typeface="Arial" pitchFamily="1"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F0D9B43A-D508-5D4C-A5D9-CCFA23432CE4}" type="slidenum">
              <a:rPr lang="en-US"/>
              <a:pPr/>
              <a:t>120</a:t>
            </a:fld>
            <a:endParaRPr lang="en-US"/>
          </a:p>
        </p:txBody>
      </p:sp>
      <p:sp>
        <p:nvSpPr>
          <p:cNvPr id="120835" name="Rectangle 2"/>
          <p:cNvSpPr>
            <a:spLocks noGrp="1" noRot="1" noChangeAspect="1" noChangeArrowheads="1" noTextEdit="1"/>
          </p:cNvSpPr>
          <p:nvPr>
            <p:ph type="sldImg"/>
          </p:nvPr>
        </p:nvSpPr>
        <p:spPr>
          <a:xfrm>
            <a:off x="-79375" y="246063"/>
            <a:ext cx="7123113" cy="4008437"/>
          </a:xfrm>
          <a:ln/>
        </p:spPr>
      </p:sp>
      <p:sp>
        <p:nvSpPr>
          <p:cNvPr id="120836" name="Rectangle 3"/>
          <p:cNvSpPr>
            <a:spLocks noGrp="1" noChangeArrowheads="1"/>
          </p:cNvSpPr>
          <p:nvPr>
            <p:ph type="body" idx="1"/>
          </p:nvPr>
        </p:nvSpPr>
        <p:spPr>
          <a:xfrm>
            <a:off x="398463" y="4397375"/>
            <a:ext cx="6032500" cy="4270375"/>
          </a:xfrm>
          <a:noFill/>
          <a:ln/>
        </p:spPr>
        <p:txBody>
          <a:bodyPr/>
          <a:lstStyle/>
          <a:p>
            <a:pPr eaLnBrk="1" hangingPunct="1"/>
            <a:r>
              <a:rPr lang="en-US" sz="800">
                <a:latin typeface="Arial" pitchFamily="1" charset="0"/>
              </a:rPr>
              <a:t>Tc token bucket – Updated at CIR value with each arriving packet. Bucket can contain up to conform burst (Bc) value.</a:t>
            </a:r>
          </a:p>
          <a:p>
            <a:pPr eaLnBrk="1" hangingPunct="1"/>
            <a:r>
              <a:rPr lang="en-US" sz="800">
                <a:latin typeface="Arial" pitchFamily="1" charset="0"/>
              </a:rPr>
              <a:t>Tp token bucket - Updated at PIR value with each arriving packet. Bucket can contain up to the peak burst (Be) value.</a:t>
            </a:r>
            <a:endParaRPr lang="en-GB" sz="800">
              <a:latin typeface="Arial" pitchFamily="1" charset="0"/>
            </a:endParaRPr>
          </a:p>
          <a:p>
            <a:pPr eaLnBrk="1" hangingPunct="1"/>
            <a:endParaRPr lang="en-GB">
              <a:latin typeface="Arial" pitchFamily="1" charset="0"/>
            </a:endParaRPr>
          </a:p>
          <a:p>
            <a:pPr lvl="1" eaLnBrk="1" hangingPunct="1"/>
            <a:r>
              <a:rPr lang="en-US" sz="1000">
                <a:latin typeface="Courier New" pitchFamily="1" charset="0"/>
              </a:rPr>
              <a:t>Tc(t) = min(CIR * (t-t1) + Tc(t1), Bc)</a:t>
            </a:r>
          </a:p>
          <a:p>
            <a:pPr lvl="1" eaLnBrk="1" hangingPunct="1"/>
            <a:r>
              <a:rPr lang="en-US" sz="1000">
                <a:latin typeface="Courier New" pitchFamily="1" charset="0"/>
              </a:rPr>
              <a:t>Tp(t) = min(PIR * (t-t1) + Tp(t1), Be)</a:t>
            </a:r>
            <a:endParaRPr lang="en-US">
              <a:latin typeface="Arial" pitchFamily="1"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8E230F56-0810-4649-ACF6-87E5EAA72965}" type="slidenum">
              <a:rPr lang="en-US"/>
              <a:pPr/>
              <a:t>121</a:t>
            </a:fld>
            <a:endParaRPr lang="en-US"/>
          </a:p>
        </p:txBody>
      </p:sp>
      <p:sp>
        <p:nvSpPr>
          <p:cNvPr id="121859" name="Rectangle 2"/>
          <p:cNvSpPr>
            <a:spLocks noGrp="1" noRot="1" noChangeAspect="1" noChangeArrowheads="1" noTextEdit="1"/>
          </p:cNvSpPr>
          <p:nvPr>
            <p:ph type="sldImg"/>
          </p:nvPr>
        </p:nvSpPr>
        <p:spPr>
          <a:xfrm>
            <a:off x="381000" y="685800"/>
            <a:ext cx="6096000" cy="3429000"/>
          </a:xfrm>
          <a:ln/>
        </p:spPr>
      </p:sp>
      <p:sp>
        <p:nvSpPr>
          <p:cNvPr id="121860" name="Rectangle 3"/>
          <p:cNvSpPr>
            <a:spLocks noGrp="1" noChangeArrowheads="1"/>
          </p:cNvSpPr>
          <p:nvPr>
            <p:ph type="body" idx="1"/>
          </p:nvPr>
        </p:nvSpPr>
        <p:spPr>
          <a:noFill/>
          <a:ln/>
        </p:spPr>
        <p:txBody>
          <a:bodyPr/>
          <a:lstStyle/>
          <a:p>
            <a:pPr eaLnBrk="1" hangingPunct="1"/>
            <a:r>
              <a:rPr lang="en-US">
                <a:latin typeface="Arial" pitchFamily="1" charset="0"/>
              </a:rPr>
              <a:t>Bob’s role.</a:t>
            </a:r>
          </a:p>
          <a:p>
            <a:pPr eaLnBrk="1" hangingPunct="1"/>
            <a:r>
              <a:rPr lang="en-US">
                <a:latin typeface="Arial" pitchFamily="1" charset="0"/>
              </a:rPr>
              <a:t>Let’s see which instruction you can give him to handle the flow of customers coming in.</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299E12B8-0629-D542-BF39-C5709CC5D800}" type="slidenum">
              <a:rPr lang="en-US"/>
              <a:pPr/>
              <a:t>123</a:t>
            </a:fld>
            <a:endParaRPr lang="en-US"/>
          </a:p>
        </p:txBody>
      </p:sp>
      <p:sp>
        <p:nvSpPr>
          <p:cNvPr id="122883" name="Rectangle 2"/>
          <p:cNvSpPr>
            <a:spLocks noGrp="1" noRot="1" noChangeAspect="1" noChangeArrowheads="1" noTextEdit="1"/>
          </p:cNvSpPr>
          <p:nvPr>
            <p:ph type="sldImg"/>
          </p:nvPr>
        </p:nvSpPr>
        <p:spPr>
          <a:xfrm>
            <a:off x="-80963" y="244475"/>
            <a:ext cx="7127876" cy="4010025"/>
          </a:xfrm>
          <a:ln/>
        </p:spPr>
      </p:sp>
      <p:sp>
        <p:nvSpPr>
          <p:cNvPr id="122884" name="Rectangle 3"/>
          <p:cNvSpPr>
            <a:spLocks noGrp="1" noChangeArrowheads="1"/>
          </p:cNvSpPr>
          <p:nvPr>
            <p:ph type="body" idx="1"/>
          </p:nvPr>
        </p:nvSpPr>
        <p:spPr>
          <a:xfrm>
            <a:off x="398463" y="4395788"/>
            <a:ext cx="6032500" cy="4273550"/>
          </a:xfrm>
          <a:noFill/>
          <a:ln/>
        </p:spPr>
        <p:txBody>
          <a:bodyPr/>
          <a:lstStyle/>
          <a:p>
            <a:pPr eaLnBrk="1" hangingPunct="1"/>
            <a:endParaRPr lang="en-GB">
              <a:latin typeface="Arial" pitchFamily="1"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B65BFD22-F111-D243-B227-568400430977}" type="slidenum">
              <a:rPr lang="en-US"/>
              <a:pPr/>
              <a:t>126</a:t>
            </a:fld>
            <a:endParaRPr lang="en-US"/>
          </a:p>
        </p:txBody>
      </p:sp>
      <p:sp>
        <p:nvSpPr>
          <p:cNvPr id="123907" name="Rectangle 2"/>
          <p:cNvSpPr>
            <a:spLocks noGrp="1" noRot="1" noChangeAspect="1" noChangeArrowheads="1" noTextEdit="1"/>
          </p:cNvSpPr>
          <p:nvPr>
            <p:ph type="sldImg"/>
          </p:nvPr>
        </p:nvSpPr>
        <p:spPr>
          <a:xfrm>
            <a:off x="-80963" y="244475"/>
            <a:ext cx="7127876" cy="4010025"/>
          </a:xfrm>
          <a:ln/>
        </p:spPr>
      </p:sp>
      <p:sp>
        <p:nvSpPr>
          <p:cNvPr id="123908" name="Rectangle 3"/>
          <p:cNvSpPr>
            <a:spLocks noGrp="1" noChangeArrowheads="1"/>
          </p:cNvSpPr>
          <p:nvPr>
            <p:ph type="body" idx="1"/>
          </p:nvPr>
        </p:nvSpPr>
        <p:spPr>
          <a:xfrm>
            <a:off x="398463" y="4395788"/>
            <a:ext cx="6032500" cy="4273550"/>
          </a:xfrm>
          <a:noFill/>
          <a:ln/>
        </p:spPr>
        <p:txBody>
          <a:bodyPr/>
          <a:lstStyle/>
          <a:p>
            <a:pPr eaLnBrk="1" hangingPunct="1"/>
            <a:endParaRPr lang="en-GB">
              <a:latin typeface="Arial" pitchFamily="1"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60406AD6-4441-6447-A54F-F952EDB26E1D}" type="slidenum">
              <a:rPr lang="en-US"/>
              <a:pPr/>
              <a:t>127</a:t>
            </a:fld>
            <a:endParaRPr lang="en-US"/>
          </a:p>
        </p:txBody>
      </p:sp>
      <p:sp>
        <p:nvSpPr>
          <p:cNvPr id="124931" name="Rectangle 2"/>
          <p:cNvSpPr>
            <a:spLocks noGrp="1" noRot="1" noChangeAspect="1" noChangeArrowheads="1" noTextEdit="1"/>
          </p:cNvSpPr>
          <p:nvPr>
            <p:ph type="sldImg"/>
          </p:nvPr>
        </p:nvSpPr>
        <p:spPr>
          <a:xfrm>
            <a:off x="381000" y="685800"/>
            <a:ext cx="6096000" cy="3429000"/>
          </a:xfrm>
          <a:ln/>
        </p:spPr>
      </p:sp>
      <p:sp>
        <p:nvSpPr>
          <p:cNvPr id="124932" name="Rectangle 3"/>
          <p:cNvSpPr>
            <a:spLocks noGrp="1" noChangeArrowheads="1"/>
          </p:cNvSpPr>
          <p:nvPr>
            <p:ph type="body" idx="1"/>
          </p:nvPr>
        </p:nvSpPr>
        <p:spPr>
          <a:noFill/>
          <a:ln/>
        </p:spPr>
        <p:txBody>
          <a:bodyPr/>
          <a:lstStyle/>
          <a:p>
            <a:pPr eaLnBrk="1" hangingPunct="1"/>
            <a:r>
              <a:rPr lang="en-US">
                <a:latin typeface="Arial" pitchFamily="1" charset="0"/>
              </a:rPr>
              <a:t>When the probability starts increasing = Min Threshold</a:t>
            </a:r>
          </a:p>
          <a:p>
            <a:pPr eaLnBrk="1" hangingPunct="1"/>
            <a:r>
              <a:rPr lang="en-US">
                <a:latin typeface="Arial" pitchFamily="1" charset="0"/>
              </a:rPr>
              <a:t>When it reaches 1 = Max Threshold (</a:t>
            </a:r>
            <a:r>
              <a:rPr lang="en-US" sz="1100">
                <a:latin typeface="Arial" pitchFamily="1" charset="0"/>
              </a:rPr>
              <a:t>By default, max threshold is 2x min threshold)</a:t>
            </a:r>
            <a:endParaRPr lang="en-US">
              <a:latin typeface="Arial" pitchFamily="1" charset="0"/>
            </a:endParaRPr>
          </a:p>
          <a:p>
            <a:pPr eaLnBrk="1" hangingPunct="1"/>
            <a:r>
              <a:rPr lang="en-US">
                <a:latin typeface="Arial" pitchFamily="1" charset="0"/>
              </a:rPr>
              <a:t>Slope = Mark probability</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07FB59F5-0ADE-484A-AFA5-FDD906CEC9EB}" type="slidenum">
              <a:rPr lang="en-US"/>
              <a:pPr/>
              <a:t>131</a:t>
            </a:fld>
            <a:endParaRPr lang="en-US"/>
          </a:p>
        </p:txBody>
      </p:sp>
      <p:sp>
        <p:nvSpPr>
          <p:cNvPr id="125955" name="Rectangle 2"/>
          <p:cNvSpPr>
            <a:spLocks noGrp="1" noRot="1" noChangeAspect="1" noChangeArrowheads="1" noTextEdit="1"/>
          </p:cNvSpPr>
          <p:nvPr>
            <p:ph type="sldImg"/>
          </p:nvPr>
        </p:nvSpPr>
        <p:spPr>
          <a:xfrm>
            <a:off x="381000" y="685800"/>
            <a:ext cx="6096000" cy="3429000"/>
          </a:xfrm>
          <a:ln/>
        </p:spPr>
      </p:sp>
      <p:sp>
        <p:nvSpPr>
          <p:cNvPr id="125956" name="Rectangle 3"/>
          <p:cNvSpPr>
            <a:spLocks noGrp="1" noChangeArrowheads="1"/>
          </p:cNvSpPr>
          <p:nvPr>
            <p:ph type="body" idx="1"/>
          </p:nvPr>
        </p:nvSpPr>
        <p:spPr>
          <a:noFill/>
          <a:ln/>
        </p:spPr>
        <p:txBody>
          <a:bodyPr/>
          <a:lstStyle/>
          <a:p>
            <a:pPr marL="228600" indent="-228600" eaLnBrk="1" hangingPunct="1"/>
            <a:r>
              <a:rPr lang="en-US">
                <a:latin typeface="Arial" pitchFamily="1" charset="0"/>
              </a:rPr>
              <a:t>So here is how the QoS we applied at the entrance of the Nightclub would look like when configured on the router.</a:t>
            </a:r>
          </a:p>
          <a:p>
            <a:pPr marL="228600" indent="-228600" eaLnBrk="1" hangingPunct="1"/>
            <a:r>
              <a:rPr lang="en-US">
                <a:latin typeface="Arial" pitchFamily="1" charset="0"/>
              </a:rPr>
              <a:t>The command used to display this is ‘show policy-map interface’, which is your number one troubleshooting tool when working on QoS related problems.</a:t>
            </a:r>
          </a:p>
          <a:p>
            <a:pPr marL="228600" indent="-228600" eaLnBrk="1" hangingPunct="1"/>
            <a:r>
              <a:rPr lang="en-US">
                <a:latin typeface="Arial" pitchFamily="1" charset="0"/>
              </a:rPr>
              <a:t>Colors match the ‘toon character’ performing the related task.</a:t>
            </a:r>
          </a:p>
          <a:p>
            <a:pPr marL="228600" indent="-228600" eaLnBrk="1" hangingPunct="1"/>
            <a:endParaRPr lang="en-US">
              <a:latin typeface="Arial" pitchFamily="1" charset="0"/>
            </a:endParaRPr>
          </a:p>
          <a:p>
            <a:pPr marL="228600" indent="-228600" eaLnBrk="1" hangingPunct="1"/>
            <a:r>
              <a:rPr lang="en-US">
                <a:latin typeface="Arial" pitchFamily="1" charset="0"/>
              </a:rPr>
              <a:t>Already notice two counters, packets (pink) and pkts matched (yellow), where on represents the customer Anna saw (that is: all of them), while the other were queued by Bob (only when entrance was full).</a:t>
            </a:r>
          </a:p>
          <a:p>
            <a:pPr marL="228600" indent="-228600" eaLnBrk="1" hangingPunct="1"/>
            <a:r>
              <a:rPr lang="en-US">
                <a:latin typeface="Arial" pitchFamily="1" charset="0"/>
              </a:rPr>
              <a:t>So the packets counter increments all the time (with Common Classification), while the other one increments only for:</a:t>
            </a:r>
          </a:p>
          <a:p>
            <a:pPr marL="228600" indent="-228600" eaLnBrk="1" hangingPunct="1"/>
            <a:r>
              <a:rPr lang="en-US">
                <a:latin typeface="Arial" pitchFamily="1" charset="0"/>
              </a:rPr>
              <a:t> - non CEF-switched packets (because you saw in IOS Arch that those were queued =&gt; counter incremented_</a:t>
            </a:r>
          </a:p>
          <a:p>
            <a:pPr marL="228600" indent="-228600" eaLnBrk="1" hangingPunct="1"/>
            <a:r>
              <a:rPr lang="en-US">
                <a:latin typeface="Arial" pitchFamily="1" charset="0"/>
              </a:rPr>
              <a:t> - CEF switched packets when tx-ring was full (thus congested)</a:t>
            </a:r>
          </a:p>
          <a:p>
            <a:pPr marL="228600" indent="-228600" eaLnBrk="1" hangingPunct="1"/>
            <a:endParaRPr lang="en-US">
              <a:latin typeface="Arial" pitchFamily="1" charset="0"/>
            </a:endParaRPr>
          </a:p>
          <a:p>
            <a:pPr marL="228600" indent="-228600" eaLnBrk="1" hangingPunct="1"/>
            <a:endParaRPr lang="en-US">
              <a:latin typeface="Arial" pitchFamily="1"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C4481D5D-6747-8143-81AC-60B4295C7860}" type="slidenum">
              <a:rPr lang="en-US"/>
              <a:pPr/>
              <a:t>132</a:t>
            </a:fld>
            <a:endParaRPr lang="en-US"/>
          </a:p>
        </p:txBody>
      </p:sp>
      <p:sp>
        <p:nvSpPr>
          <p:cNvPr id="126979" name="Rectangle 2"/>
          <p:cNvSpPr>
            <a:spLocks noGrp="1" noRot="1" noChangeAspect="1" noChangeArrowheads="1" noTextEdit="1"/>
          </p:cNvSpPr>
          <p:nvPr>
            <p:ph type="sldImg"/>
          </p:nvPr>
        </p:nvSpPr>
        <p:spPr>
          <a:xfrm>
            <a:off x="381000" y="685800"/>
            <a:ext cx="6096000" cy="3429000"/>
          </a:xfrm>
          <a:ln/>
        </p:spPr>
      </p:sp>
      <p:sp>
        <p:nvSpPr>
          <p:cNvPr id="126980" name="Rectangle 3"/>
          <p:cNvSpPr>
            <a:spLocks noGrp="1" noChangeArrowheads="1"/>
          </p:cNvSpPr>
          <p:nvPr>
            <p:ph type="body" idx="1"/>
          </p:nvPr>
        </p:nvSpPr>
        <p:spPr>
          <a:noFill/>
          <a:ln/>
        </p:spPr>
        <p:txBody>
          <a:bodyPr/>
          <a:lstStyle/>
          <a:p>
            <a:pPr eaLnBrk="1" hangingPunct="1">
              <a:lnSpc>
                <a:spcPct val="30000"/>
              </a:lnSpc>
            </a:pPr>
            <a:r>
              <a:rPr lang="en-US" sz="900" b="1" u="sng">
                <a:latin typeface="Courier New" pitchFamily="1" charset="0"/>
              </a:rPr>
              <a:t>CLASSIFICATION</a:t>
            </a:r>
            <a:r>
              <a:rPr lang="en-US" sz="900" b="1">
                <a:latin typeface="Courier New" pitchFamily="1" charset="0"/>
              </a:rPr>
              <a:t>:</a:t>
            </a:r>
          </a:p>
          <a:p>
            <a:pPr eaLnBrk="1" hangingPunct="1">
              <a:lnSpc>
                <a:spcPct val="30000"/>
              </a:lnSpc>
            </a:pPr>
            <a:r>
              <a:rPr lang="en-US" sz="900" b="1">
                <a:latin typeface="Courier New" pitchFamily="1" charset="0"/>
              </a:rPr>
              <a:t> </a:t>
            </a:r>
            <a:r>
              <a:rPr lang="en-US" sz="900" b="1">
                <a:solidFill>
                  <a:srgbClr val="FF3399"/>
                </a:solidFill>
                <a:latin typeface="Courier New" pitchFamily="1" charset="0"/>
              </a:rPr>
              <a:t>4983</a:t>
            </a:r>
            <a:r>
              <a:rPr lang="en-US" sz="900" b="1">
                <a:latin typeface="Courier New" pitchFamily="1" charset="0"/>
              </a:rPr>
              <a:t> packets, </a:t>
            </a:r>
            <a:r>
              <a:rPr lang="en-US" sz="900" b="1">
                <a:solidFill>
                  <a:srgbClr val="FF3399"/>
                </a:solidFill>
                <a:latin typeface="Courier New" pitchFamily="1" charset="0"/>
              </a:rPr>
              <a:t>240814</a:t>
            </a:r>
            <a:r>
              <a:rPr lang="en-US" sz="900" b="1">
                <a:latin typeface="Courier New" pitchFamily="1" charset="0"/>
              </a:rPr>
              <a:t> bytes -&gt; packet classified as belonging to this class</a:t>
            </a:r>
          </a:p>
          <a:p>
            <a:pPr eaLnBrk="1" hangingPunct="1">
              <a:lnSpc>
                <a:spcPct val="30000"/>
              </a:lnSpc>
            </a:pPr>
            <a:r>
              <a:rPr lang="en-US" sz="900" b="1">
                <a:latin typeface="Courier New" pitchFamily="1" charset="0"/>
              </a:rPr>
              <a:t> 5 minute offered rate 230 bps, drop rate 0 bps -&gt; total rate (drops included) and drop rate for this class</a:t>
            </a:r>
          </a:p>
          <a:p>
            <a:pPr eaLnBrk="1" hangingPunct="1">
              <a:lnSpc>
                <a:spcPct val="30000"/>
              </a:lnSpc>
            </a:pPr>
            <a:endParaRPr lang="en-US" sz="900" b="1">
              <a:latin typeface="Courier New" pitchFamily="1" charset="0"/>
            </a:endParaRPr>
          </a:p>
          <a:p>
            <a:pPr eaLnBrk="1" hangingPunct="1">
              <a:lnSpc>
                <a:spcPct val="30000"/>
              </a:lnSpc>
            </a:pPr>
            <a:r>
              <a:rPr lang="en-US" sz="900" b="1" u="sng">
                <a:solidFill>
                  <a:schemeClr val="tx2"/>
                </a:solidFill>
                <a:latin typeface="Courier New" pitchFamily="1" charset="0"/>
              </a:rPr>
              <a:t>SHAPER</a:t>
            </a:r>
            <a:r>
              <a:rPr lang="en-US" sz="900" b="1">
                <a:solidFill>
                  <a:schemeClr val="tx2"/>
                </a:solidFill>
                <a:latin typeface="Courier New" pitchFamily="1" charset="0"/>
              </a:rPr>
              <a:t>:</a:t>
            </a:r>
          </a:p>
          <a:p>
            <a:pPr eaLnBrk="1" hangingPunct="1">
              <a:lnSpc>
                <a:spcPct val="30000"/>
              </a:lnSpc>
            </a:pPr>
            <a:r>
              <a:rPr lang="en-US" sz="900" b="1">
                <a:solidFill>
                  <a:schemeClr val="tx2"/>
                </a:solidFill>
                <a:latin typeface="Courier New" pitchFamily="1" charset="0"/>
              </a:rPr>
              <a:t>Parameters:</a:t>
            </a:r>
          </a:p>
          <a:p>
            <a:pPr eaLnBrk="1" hangingPunct="1">
              <a:lnSpc>
                <a:spcPct val="30000"/>
              </a:lnSpc>
            </a:pPr>
            <a:r>
              <a:rPr lang="en-US" sz="900" b="1">
                <a:solidFill>
                  <a:schemeClr val="tx2"/>
                </a:solidFill>
                <a:latin typeface="Courier New" pitchFamily="1" charset="0"/>
              </a:rPr>
              <a:t>- 4000000/4000000 -&gt; configured CIR</a:t>
            </a:r>
          </a:p>
          <a:p>
            <a:pPr eaLnBrk="1" hangingPunct="1">
              <a:lnSpc>
                <a:spcPct val="30000"/>
              </a:lnSpc>
            </a:pPr>
            <a:r>
              <a:rPr lang="en-US" sz="900" b="1">
                <a:solidFill>
                  <a:schemeClr val="tx2"/>
                </a:solidFill>
                <a:latin typeface="Courier New" pitchFamily="1" charset="0"/>
              </a:rPr>
              <a:t>- 25000 -&gt; Bc + Be in bytes (200000 bits)</a:t>
            </a:r>
          </a:p>
          <a:p>
            <a:pPr eaLnBrk="1" hangingPunct="1">
              <a:lnSpc>
                <a:spcPct val="30000"/>
              </a:lnSpc>
            </a:pPr>
            <a:r>
              <a:rPr lang="en-US" sz="900" b="1">
                <a:solidFill>
                  <a:schemeClr val="tx2"/>
                </a:solidFill>
                <a:latin typeface="Courier New" pitchFamily="1" charset="0"/>
              </a:rPr>
              <a:t>- 100000   -&gt; Bc in bits</a:t>
            </a:r>
          </a:p>
          <a:p>
            <a:pPr eaLnBrk="1" hangingPunct="1">
              <a:lnSpc>
                <a:spcPct val="30000"/>
              </a:lnSpc>
            </a:pPr>
            <a:r>
              <a:rPr lang="en-US" sz="900" b="1">
                <a:solidFill>
                  <a:schemeClr val="tx2"/>
                </a:solidFill>
                <a:latin typeface="Courier New" pitchFamily="1" charset="0"/>
              </a:rPr>
              <a:t>- 100000 -&gt; Be in bits</a:t>
            </a:r>
          </a:p>
          <a:p>
            <a:pPr eaLnBrk="1" hangingPunct="1">
              <a:lnSpc>
                <a:spcPct val="30000"/>
              </a:lnSpc>
            </a:pPr>
            <a:r>
              <a:rPr lang="en-US" sz="900" b="1">
                <a:solidFill>
                  <a:schemeClr val="tx2"/>
                </a:solidFill>
                <a:latin typeface="Courier New" pitchFamily="1" charset="0"/>
              </a:rPr>
              <a:t>- 25 -&gt; Tc</a:t>
            </a:r>
          </a:p>
          <a:p>
            <a:pPr eaLnBrk="1" hangingPunct="1">
              <a:lnSpc>
                <a:spcPct val="30000"/>
              </a:lnSpc>
            </a:pPr>
            <a:r>
              <a:rPr lang="en-US" sz="900" b="1">
                <a:solidFill>
                  <a:schemeClr val="tx2"/>
                </a:solidFill>
                <a:latin typeface="Courier New" pitchFamily="1" charset="0"/>
              </a:rPr>
              <a:t>- 12500 -&gt; Bc in bytes</a:t>
            </a:r>
          </a:p>
          <a:p>
            <a:pPr eaLnBrk="1" hangingPunct="1">
              <a:lnSpc>
                <a:spcPct val="30000"/>
              </a:lnSpc>
            </a:pPr>
            <a:r>
              <a:rPr lang="en-US" sz="900" b="1">
                <a:solidFill>
                  <a:schemeClr val="tx2"/>
                </a:solidFill>
                <a:latin typeface="Courier New" pitchFamily="1" charset="0"/>
              </a:rPr>
              <a:t>Queue Depth 0 -&gt; should match the number of packets queued (in child classes if parent shaper)</a:t>
            </a:r>
          </a:p>
          <a:p>
            <a:pPr eaLnBrk="1" hangingPunct="1">
              <a:lnSpc>
                <a:spcPct val="30000"/>
              </a:lnSpc>
            </a:pPr>
            <a:r>
              <a:rPr lang="en-US" sz="900" b="1">
                <a:solidFill>
                  <a:schemeClr val="tx2"/>
                </a:solidFill>
                <a:latin typeface="Courier New" pitchFamily="1" charset="0"/>
              </a:rPr>
              <a:t>Packets/Bytes -&gt; should match classification since they all go through the shaper</a:t>
            </a:r>
          </a:p>
          <a:p>
            <a:pPr eaLnBrk="1" hangingPunct="1">
              <a:lnSpc>
                <a:spcPct val="30000"/>
              </a:lnSpc>
            </a:pPr>
            <a:r>
              <a:rPr lang="en-US" sz="900" b="1">
                <a:solidFill>
                  <a:schemeClr val="tx2"/>
                </a:solidFill>
                <a:latin typeface="Courier New" pitchFamily="1" charset="0"/>
              </a:rPr>
              <a:t>Packets/Bytes Delayed -&gt; should match the total number of packets that have be queued (pkts/bytes matched) in child classes</a:t>
            </a:r>
          </a:p>
          <a:p>
            <a:pPr eaLnBrk="1" hangingPunct="1">
              <a:lnSpc>
                <a:spcPct val="30000"/>
              </a:lnSpc>
            </a:pPr>
            <a:r>
              <a:rPr lang="en-US" sz="900" b="1">
                <a:solidFill>
                  <a:schemeClr val="tx2"/>
                </a:solidFill>
                <a:latin typeface="Courier New" pitchFamily="1" charset="0"/>
              </a:rPr>
              <a:t>Shaping Active -&gt; if yes, backpressure triggered and packets are being queued (instant value)</a:t>
            </a:r>
          </a:p>
          <a:p>
            <a:pPr eaLnBrk="1" hangingPunct="1">
              <a:lnSpc>
                <a:spcPct val="30000"/>
              </a:lnSpc>
            </a:pPr>
            <a:endParaRPr lang="en-US" sz="900" b="1">
              <a:solidFill>
                <a:schemeClr val="tx2"/>
              </a:solidFill>
              <a:latin typeface="Courier New" pitchFamily="1" charset="0"/>
            </a:endParaRPr>
          </a:p>
          <a:p>
            <a:pPr eaLnBrk="1" hangingPunct="1">
              <a:lnSpc>
                <a:spcPct val="30000"/>
              </a:lnSpc>
            </a:pPr>
            <a:r>
              <a:rPr lang="en-US" sz="900" b="1" i="1">
                <a:solidFill>
                  <a:schemeClr val="tx2"/>
                </a:solidFill>
                <a:latin typeface="Courier New" pitchFamily="1" charset="0"/>
              </a:rPr>
              <a:t>Note: the shaper does not drop, it queues, and the queues drop.</a:t>
            </a:r>
          </a:p>
          <a:p>
            <a:pPr eaLnBrk="1" hangingPunct="1">
              <a:lnSpc>
                <a:spcPct val="30000"/>
              </a:lnSpc>
            </a:pPr>
            <a:endParaRPr lang="en-US" sz="900" b="1" i="1">
              <a:solidFill>
                <a:schemeClr val="tx2"/>
              </a:solidFill>
              <a:latin typeface="Courier New" pitchFamily="1" charset="0"/>
            </a:endParaRPr>
          </a:p>
          <a:p>
            <a:pPr eaLnBrk="1" hangingPunct="1">
              <a:lnSpc>
                <a:spcPct val="30000"/>
              </a:lnSpc>
            </a:pPr>
            <a:r>
              <a:rPr lang="en-US" sz="900" b="1" u="sng">
                <a:solidFill>
                  <a:schemeClr val="tx2"/>
                </a:solidFill>
                <a:latin typeface="Courier New" pitchFamily="1" charset="0"/>
              </a:rPr>
              <a:t>Queuing (priority)</a:t>
            </a:r>
          </a:p>
          <a:p>
            <a:pPr eaLnBrk="1" hangingPunct="1">
              <a:lnSpc>
                <a:spcPct val="30000"/>
              </a:lnSpc>
            </a:pPr>
            <a:r>
              <a:rPr lang="en-US" sz="900" b="1">
                <a:solidFill>
                  <a:schemeClr val="tx2"/>
                </a:solidFill>
                <a:latin typeface="Courier New" pitchFamily="1" charset="0"/>
              </a:rPr>
              <a:t>Classification counters: same as above</a:t>
            </a:r>
          </a:p>
          <a:p>
            <a:pPr eaLnBrk="1" hangingPunct="1">
              <a:lnSpc>
                <a:spcPct val="30000"/>
              </a:lnSpc>
            </a:pPr>
            <a:r>
              <a:rPr lang="en-US" sz="900" b="1">
                <a:solidFill>
                  <a:schemeClr val="tx2"/>
                </a:solidFill>
                <a:latin typeface="Courier New" pitchFamily="1" charset="0"/>
              </a:rPr>
              <a:t>Strict priority -&gt; indicates this is LLQ</a:t>
            </a:r>
          </a:p>
          <a:p>
            <a:pPr eaLnBrk="1" hangingPunct="1">
              <a:lnSpc>
                <a:spcPct val="30000"/>
              </a:lnSpc>
            </a:pPr>
            <a:r>
              <a:rPr lang="en-US" sz="900" b="1">
                <a:solidFill>
                  <a:schemeClr val="tx2"/>
                </a:solidFill>
                <a:latin typeface="Courier New" pitchFamily="1" charset="0"/>
              </a:rPr>
              <a:t>Conversation -&gt; number assigned to this class</a:t>
            </a:r>
          </a:p>
          <a:p>
            <a:pPr eaLnBrk="1" hangingPunct="1">
              <a:lnSpc>
                <a:spcPct val="30000"/>
              </a:lnSpc>
            </a:pPr>
            <a:r>
              <a:rPr lang="en-US" sz="900" b="1">
                <a:solidFill>
                  <a:schemeClr val="tx2"/>
                </a:solidFill>
                <a:latin typeface="Courier New" pitchFamily="1" charset="0"/>
              </a:rPr>
              <a:t>Bandwidth -&gt; reserved bandwidth</a:t>
            </a:r>
          </a:p>
          <a:p>
            <a:pPr eaLnBrk="1" hangingPunct="1">
              <a:lnSpc>
                <a:spcPct val="30000"/>
              </a:lnSpc>
            </a:pPr>
            <a:r>
              <a:rPr lang="en-US" sz="900" b="1">
                <a:solidFill>
                  <a:schemeClr val="tx2"/>
                </a:solidFill>
                <a:latin typeface="Courier New" pitchFamily="1" charset="0"/>
              </a:rPr>
              <a:t>Burst -&gt; Bc of the strict policer associated with the LLQ </a:t>
            </a:r>
          </a:p>
          <a:p>
            <a:pPr eaLnBrk="1" hangingPunct="1">
              <a:lnSpc>
                <a:spcPct val="30000"/>
              </a:lnSpc>
            </a:pPr>
            <a:r>
              <a:rPr lang="en-US" sz="900" b="1">
                <a:solidFill>
                  <a:schemeClr val="tx2"/>
                </a:solidFill>
                <a:latin typeface="Courier New" pitchFamily="1" charset="0"/>
              </a:rPr>
              <a:t>	(here 6400 bytes = 200ms * 256kbit/s = 1/5s * 32kbytes/s = 32000 bytes/5 = 6400 bytes)</a:t>
            </a:r>
          </a:p>
          <a:p>
            <a:pPr eaLnBrk="1" hangingPunct="1">
              <a:lnSpc>
                <a:spcPct val="30000"/>
              </a:lnSpc>
            </a:pPr>
            <a:r>
              <a:rPr lang="en-US" sz="900" b="1">
                <a:solidFill>
                  <a:schemeClr val="tx2"/>
                </a:solidFill>
                <a:latin typeface="Courier New" pitchFamily="1" charset="0"/>
              </a:rPr>
              <a:t>Pkts/byte matched -&gt; packets/byte queued here</a:t>
            </a:r>
          </a:p>
          <a:p>
            <a:pPr eaLnBrk="1" hangingPunct="1">
              <a:lnSpc>
                <a:spcPct val="30000"/>
              </a:lnSpc>
            </a:pPr>
            <a:r>
              <a:rPr lang="en-US" sz="900" b="1">
                <a:solidFill>
                  <a:schemeClr val="tx2"/>
                </a:solidFill>
                <a:latin typeface="Courier New" pitchFamily="1" charset="0"/>
              </a:rPr>
              <a:t>Total/byte drops -&gt; packets/byte dropped in this queue</a:t>
            </a:r>
          </a:p>
          <a:p>
            <a:pPr eaLnBrk="1" hangingPunct="1">
              <a:lnSpc>
                <a:spcPct val="80000"/>
              </a:lnSpc>
            </a:pPr>
            <a:endParaRPr lang="en-US" sz="800">
              <a:latin typeface="Arial" pitchFamily="1" charset="0"/>
            </a:endParaRPr>
          </a:p>
          <a:p>
            <a:pPr eaLnBrk="1" hangingPunct="1">
              <a:lnSpc>
                <a:spcPct val="80000"/>
              </a:lnSpc>
            </a:pPr>
            <a:r>
              <a:rPr lang="en-US" sz="800" b="1" u="sng">
                <a:latin typeface="Arial" pitchFamily="1" charset="0"/>
              </a:rPr>
              <a:t>Queuing (bandwidth)</a:t>
            </a:r>
          </a:p>
          <a:p>
            <a:pPr eaLnBrk="1" hangingPunct="1">
              <a:lnSpc>
                <a:spcPct val="80000"/>
              </a:lnSpc>
            </a:pPr>
            <a:r>
              <a:rPr lang="en-US" sz="900" b="1">
                <a:solidFill>
                  <a:schemeClr val="tx2"/>
                </a:solidFill>
                <a:latin typeface="Courier New" pitchFamily="1" charset="0"/>
              </a:rPr>
              <a:t>Classification counters: same as above</a:t>
            </a:r>
          </a:p>
          <a:p>
            <a:pPr eaLnBrk="1" hangingPunct="1">
              <a:lnSpc>
                <a:spcPct val="30000"/>
              </a:lnSpc>
            </a:pPr>
            <a:r>
              <a:rPr lang="en-US" sz="900" b="1">
                <a:solidFill>
                  <a:schemeClr val="tx2"/>
                </a:solidFill>
                <a:latin typeface="Courier New" pitchFamily="1" charset="0"/>
              </a:rPr>
              <a:t>Conversation -&gt; number assigned to this class</a:t>
            </a:r>
          </a:p>
          <a:p>
            <a:pPr eaLnBrk="1" hangingPunct="1">
              <a:lnSpc>
                <a:spcPct val="80000"/>
              </a:lnSpc>
            </a:pPr>
            <a:r>
              <a:rPr lang="en-US" sz="800" b="1">
                <a:latin typeface="Arial" pitchFamily="1" charset="0"/>
              </a:rPr>
              <a:t>Bandwidth -&gt; reserved bandwidth</a:t>
            </a:r>
          </a:p>
          <a:p>
            <a:pPr eaLnBrk="1" hangingPunct="1">
              <a:lnSpc>
                <a:spcPct val="80000"/>
              </a:lnSpc>
            </a:pPr>
            <a:r>
              <a:rPr lang="en-US" sz="800" b="1">
                <a:latin typeface="Arial" pitchFamily="1" charset="0"/>
              </a:rPr>
              <a:t>Max Threshold 64 -&gt; size of the queue (remember, this is FIFO)</a:t>
            </a:r>
          </a:p>
          <a:p>
            <a:pPr eaLnBrk="1" hangingPunct="1">
              <a:lnSpc>
                <a:spcPct val="30000"/>
              </a:lnSpc>
            </a:pPr>
            <a:r>
              <a:rPr lang="en-US" sz="900" b="1">
                <a:solidFill>
                  <a:schemeClr val="tx2"/>
                </a:solidFill>
                <a:latin typeface="Courier New" pitchFamily="1" charset="0"/>
              </a:rPr>
              <a:t>Pkts/byte matched -&gt; packets/byte queued here</a:t>
            </a:r>
          </a:p>
          <a:p>
            <a:pPr eaLnBrk="1" hangingPunct="1">
              <a:lnSpc>
                <a:spcPct val="80000"/>
              </a:lnSpc>
            </a:pPr>
            <a:r>
              <a:rPr lang="en-US" sz="800" b="1">
                <a:latin typeface="Arial" pitchFamily="1" charset="0"/>
              </a:rPr>
              <a:t>Depth/total drops/no-buffer drops -&gt; number of packets in the queue right now, number of drops, number of drops, not due to algorithm or queue filled but lack of actual buffers in the router (means no QoS applied)</a:t>
            </a:r>
          </a:p>
          <a:p>
            <a:pPr eaLnBrk="1" hangingPunct="1">
              <a:lnSpc>
                <a:spcPct val="80000"/>
              </a:lnSpc>
            </a:pPr>
            <a:endParaRPr lang="en-US" sz="800" b="1">
              <a:latin typeface="Arial" pitchFamily="1" charset="0"/>
            </a:endParaRPr>
          </a:p>
          <a:p>
            <a:pPr eaLnBrk="1" hangingPunct="1">
              <a:lnSpc>
                <a:spcPct val="80000"/>
              </a:lnSpc>
            </a:pPr>
            <a:r>
              <a:rPr lang="en-US" sz="800" b="1" u="sng">
                <a:latin typeface="Arial" pitchFamily="1" charset="0"/>
              </a:rPr>
              <a:t>Queuing (fair-queue)</a:t>
            </a:r>
          </a:p>
          <a:p>
            <a:pPr eaLnBrk="1" hangingPunct="1">
              <a:lnSpc>
                <a:spcPct val="80000"/>
              </a:lnSpc>
            </a:pPr>
            <a:r>
              <a:rPr lang="en-US" sz="900" b="1">
                <a:solidFill>
                  <a:schemeClr val="tx2"/>
                </a:solidFill>
                <a:latin typeface="Courier New" pitchFamily="1" charset="0"/>
              </a:rPr>
              <a:t>Classification counters: same as above</a:t>
            </a:r>
          </a:p>
          <a:p>
            <a:pPr eaLnBrk="1" hangingPunct="1">
              <a:lnSpc>
                <a:spcPct val="80000"/>
              </a:lnSpc>
            </a:pPr>
            <a:r>
              <a:rPr lang="en-US" sz="900" b="1">
                <a:solidFill>
                  <a:schemeClr val="tx2"/>
                </a:solidFill>
                <a:latin typeface="Courier New" pitchFamily="1" charset="0"/>
              </a:rPr>
              <a:t>Flow Based Fair Queuing-&gt; queuing method used here</a:t>
            </a:r>
          </a:p>
          <a:p>
            <a:pPr eaLnBrk="1" hangingPunct="1">
              <a:lnSpc>
                <a:spcPct val="80000"/>
              </a:lnSpc>
            </a:pPr>
            <a:r>
              <a:rPr lang="en-US" sz="900" b="1">
                <a:solidFill>
                  <a:schemeClr val="tx2"/>
                </a:solidFill>
                <a:latin typeface="Courier New" pitchFamily="1" charset="0"/>
              </a:rPr>
              <a:t>Maximum number of Hashed Queues -&gt; number of queues flows will be hashed to (128 is default, up to 4096 configurable)</a:t>
            </a:r>
          </a:p>
          <a:p>
            <a:pPr eaLnBrk="1" hangingPunct="1">
              <a:lnSpc>
                <a:spcPct val="80000"/>
              </a:lnSpc>
            </a:pPr>
            <a:r>
              <a:rPr lang="en-US" sz="900" b="1">
                <a:solidFill>
                  <a:schemeClr val="tx2"/>
                </a:solidFill>
                <a:latin typeface="Courier New" pitchFamily="1" charset="0"/>
              </a:rPr>
              <a:t>Total queued/total drops/no-buffer drops -&gt; same as above, except the first one showing the total number of packets queued in all dynamic fair-queues together.</a:t>
            </a:r>
          </a:p>
          <a:p>
            <a:pPr eaLnBrk="1" hangingPunct="1">
              <a:lnSpc>
                <a:spcPct val="80000"/>
              </a:lnSpc>
            </a:pPr>
            <a:endParaRPr lang="en-US" sz="900" b="1">
              <a:solidFill>
                <a:schemeClr val="tx2"/>
              </a:solidFill>
              <a:latin typeface="Courier New" pitchFamily="1" charset="0"/>
            </a:endParaRPr>
          </a:p>
          <a:p>
            <a:pPr eaLnBrk="1" hangingPunct="1">
              <a:lnSpc>
                <a:spcPct val="80000"/>
              </a:lnSpc>
            </a:pPr>
            <a:r>
              <a:rPr lang="en-US" sz="900" b="1" u="sng">
                <a:solidFill>
                  <a:schemeClr val="tx2"/>
                </a:solidFill>
                <a:latin typeface="Courier New" pitchFamily="1" charset="0"/>
              </a:rPr>
              <a:t>WRED</a:t>
            </a:r>
          </a:p>
          <a:p>
            <a:pPr eaLnBrk="1" hangingPunct="1">
              <a:lnSpc>
                <a:spcPct val="80000"/>
              </a:lnSpc>
            </a:pPr>
            <a:r>
              <a:rPr lang="en-US" sz="900" b="1">
                <a:solidFill>
                  <a:schemeClr val="tx2"/>
                </a:solidFill>
                <a:latin typeface="Courier New" pitchFamily="1" charset="0"/>
              </a:rPr>
              <a:t>Exponential weight: advanced WRED config parameter, not covered during this presentation</a:t>
            </a:r>
          </a:p>
          <a:p>
            <a:pPr eaLnBrk="1" hangingPunct="1">
              <a:lnSpc>
                <a:spcPct val="80000"/>
              </a:lnSpc>
            </a:pPr>
            <a:r>
              <a:rPr lang="en-US" sz="900" b="1">
                <a:solidFill>
                  <a:schemeClr val="tx2"/>
                </a:solidFill>
                <a:latin typeface="Courier New" pitchFamily="1" charset="0"/>
              </a:rPr>
              <a:t>Class -&gt; IP Precedence here.  Could also be configured to DSCP</a:t>
            </a:r>
          </a:p>
          <a:p>
            <a:pPr eaLnBrk="1" hangingPunct="1">
              <a:lnSpc>
                <a:spcPct val="80000"/>
              </a:lnSpc>
            </a:pPr>
            <a:r>
              <a:rPr lang="en-US" sz="900" b="1">
                <a:solidFill>
                  <a:schemeClr val="tx2"/>
                </a:solidFill>
                <a:latin typeface="Courier New" pitchFamily="1" charset="0"/>
              </a:rPr>
              <a:t>Transmitted pkts/bytes -&gt; number of packets/bytes that went through WRED without being dropped</a:t>
            </a:r>
          </a:p>
          <a:p>
            <a:pPr eaLnBrk="1" hangingPunct="1">
              <a:lnSpc>
                <a:spcPct val="80000"/>
              </a:lnSpc>
            </a:pPr>
            <a:r>
              <a:rPr lang="en-US" sz="900" b="1">
                <a:solidFill>
                  <a:schemeClr val="tx2"/>
                </a:solidFill>
                <a:latin typeface="Courier New" pitchFamily="1" charset="0"/>
              </a:rPr>
              <a:t>Random drop pkts/bytes -&gt; number of packets/bytes dropped by the WRED algorithm, real early drops</a:t>
            </a:r>
          </a:p>
          <a:p>
            <a:pPr eaLnBrk="1" hangingPunct="1">
              <a:lnSpc>
                <a:spcPct val="80000"/>
              </a:lnSpc>
            </a:pPr>
            <a:r>
              <a:rPr lang="en-US" sz="900" b="1">
                <a:solidFill>
                  <a:schemeClr val="tx2"/>
                </a:solidFill>
                <a:latin typeface="Courier New" pitchFamily="1" charset="0"/>
              </a:rPr>
              <a:t>Tail drop pkts/bytes -&gt; number of packets/bytes dropped due to queue filled.   Usually not desired, to reduce them you can</a:t>
            </a:r>
          </a:p>
          <a:p>
            <a:pPr eaLnBrk="1" hangingPunct="1">
              <a:lnSpc>
                <a:spcPct val="80000"/>
              </a:lnSpc>
            </a:pPr>
            <a:r>
              <a:rPr lang="en-US" sz="900" b="1">
                <a:solidFill>
                  <a:schemeClr val="tx2"/>
                </a:solidFill>
                <a:latin typeface="Courier New" pitchFamily="1" charset="0"/>
              </a:rPr>
              <a:t>  - Increase Mark Prob (drop more packets once Min is reached)</a:t>
            </a:r>
          </a:p>
          <a:p>
            <a:pPr eaLnBrk="1" hangingPunct="1">
              <a:lnSpc>
                <a:spcPct val="80000"/>
              </a:lnSpc>
            </a:pPr>
            <a:r>
              <a:rPr lang="en-US" sz="900" b="1">
                <a:solidFill>
                  <a:schemeClr val="tx2"/>
                </a:solidFill>
                <a:latin typeface="Courier New" pitchFamily="1" charset="0"/>
              </a:rPr>
              <a:t>  - Decrease Min threshold (start dropping sooner)</a:t>
            </a:r>
          </a:p>
          <a:p>
            <a:pPr eaLnBrk="1" hangingPunct="1">
              <a:lnSpc>
                <a:spcPct val="80000"/>
              </a:lnSpc>
            </a:pPr>
            <a:r>
              <a:rPr lang="en-US" sz="900" b="1">
                <a:solidFill>
                  <a:schemeClr val="tx2"/>
                </a:solidFill>
                <a:latin typeface="Courier New" pitchFamily="1" charset="0"/>
              </a:rPr>
              <a:t> -  Increase Max threshold (queue more, reach 100% drop later)</a:t>
            </a:r>
          </a:p>
          <a:p>
            <a:pPr eaLnBrk="1" hangingPunct="1">
              <a:lnSpc>
                <a:spcPct val="80000"/>
              </a:lnSpc>
            </a:pPr>
            <a:r>
              <a:rPr lang="en-US" sz="900" b="1">
                <a:solidFill>
                  <a:schemeClr val="tx2"/>
                </a:solidFill>
                <a:latin typeface="Courier New" pitchFamily="1" charset="0"/>
              </a:rPr>
              <a:t>Minimum threshold -&gt; number of packets in the queue at which we could start dropping</a:t>
            </a:r>
          </a:p>
          <a:p>
            <a:pPr eaLnBrk="1" hangingPunct="1">
              <a:lnSpc>
                <a:spcPct val="80000"/>
              </a:lnSpc>
            </a:pPr>
            <a:r>
              <a:rPr lang="en-US" sz="900" b="1">
                <a:solidFill>
                  <a:schemeClr val="tx2"/>
                </a:solidFill>
                <a:latin typeface="Courier New" pitchFamily="1" charset="0"/>
              </a:rPr>
              <a:t>Maximum treshold -&gt; number of packets in the queue at which we drop everything</a:t>
            </a:r>
          </a:p>
          <a:p>
            <a:pPr eaLnBrk="1" hangingPunct="1">
              <a:lnSpc>
                <a:spcPct val="80000"/>
              </a:lnSpc>
            </a:pPr>
            <a:r>
              <a:rPr lang="en-US" sz="900" b="1">
                <a:solidFill>
                  <a:schemeClr val="tx2"/>
                </a:solidFill>
                <a:latin typeface="Courier New" pitchFamily="1" charset="0"/>
              </a:rPr>
              <a:t>Mark prob -&gt; chance of packet between Min/Max to be dropped</a:t>
            </a:r>
          </a:p>
          <a:p>
            <a:pPr eaLnBrk="1" hangingPunct="1">
              <a:lnSpc>
                <a:spcPct val="80000"/>
              </a:lnSpc>
            </a:pPr>
            <a:endParaRPr lang="en-US" sz="900" b="1">
              <a:solidFill>
                <a:schemeClr val="tx2"/>
              </a:solidFill>
              <a:latin typeface="Courier New" pitchFamily="1" charset="0"/>
            </a:endParaRPr>
          </a:p>
          <a:p>
            <a:pPr eaLnBrk="1" hangingPunct="1">
              <a:lnSpc>
                <a:spcPct val="80000"/>
              </a:lnSpc>
            </a:pPr>
            <a:endParaRPr lang="en-US" sz="900" b="1">
              <a:solidFill>
                <a:schemeClr val="tx2"/>
              </a:solidFill>
              <a:latin typeface="Courier New" pitchFamily="1" charset="0"/>
            </a:endParaRPr>
          </a:p>
          <a:p>
            <a:pPr eaLnBrk="1" hangingPunct="1">
              <a:lnSpc>
                <a:spcPct val="80000"/>
              </a:lnSpc>
            </a:pPr>
            <a:endParaRPr lang="en-US" sz="800" b="1">
              <a:latin typeface="Arial" pitchFamily="1" charset="0"/>
            </a:endParaRPr>
          </a:p>
          <a:p>
            <a:pPr eaLnBrk="1" hangingPunct="1">
              <a:lnSpc>
                <a:spcPct val="80000"/>
              </a:lnSpc>
            </a:pPr>
            <a:endParaRPr lang="en-US" sz="800" b="1">
              <a:latin typeface="Arial" pitchFamily="1"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a:xfrm>
            <a:off x="381000" y="685800"/>
            <a:ext cx="6096000" cy="3429000"/>
          </a:xfrm>
          <a:ln/>
        </p:spPr>
      </p:sp>
      <p:sp>
        <p:nvSpPr>
          <p:cNvPr id="128003" name="Notes Placeholder 2"/>
          <p:cNvSpPr>
            <a:spLocks noGrp="1"/>
          </p:cNvSpPr>
          <p:nvPr>
            <p:ph type="body" idx="1"/>
          </p:nvPr>
        </p:nvSpPr>
        <p:spPr>
          <a:noFill/>
          <a:ln/>
        </p:spPr>
        <p:txBody>
          <a:bodyPr/>
          <a:lstStyle/>
          <a:p>
            <a:pPr marL="228600" indent="-228600" eaLnBrk="1" hangingPunct="1">
              <a:buFontTx/>
              <a:buAutoNum type="arabicPeriod"/>
            </a:pPr>
            <a:r>
              <a:rPr lang="en-US">
                <a:latin typeface="Arial" pitchFamily="1" charset="0"/>
              </a:rPr>
              <a:t>To verify classification counters, just check them in show policy-map interface.  If they are not increasing, your qos is not applied, it’s a control plane issue.</a:t>
            </a:r>
          </a:p>
          <a:p>
            <a:pPr marL="228600" indent="-228600" eaLnBrk="1" hangingPunct="1">
              <a:buFontTx/>
              <a:buAutoNum type="arabicPeriod"/>
            </a:pPr>
            <a:r>
              <a:rPr lang="en-US">
                <a:latin typeface="Arial" pitchFamily="1" charset="0"/>
              </a:rPr>
              <a:t>Show controller or whatever platform specific command to look for drops due to transmission errors, drops alter down the asic path, etc…</a:t>
            </a:r>
          </a:p>
        </p:txBody>
      </p:sp>
      <p:sp>
        <p:nvSpPr>
          <p:cNvPr id="128004" name="Slide Number Placeholder 3"/>
          <p:cNvSpPr>
            <a:spLocks noGrp="1"/>
          </p:cNvSpPr>
          <p:nvPr>
            <p:ph type="sldNum" sz="quarter" idx="5"/>
          </p:nvPr>
        </p:nvSpPr>
        <p:spPr>
          <a:noFill/>
        </p:spPr>
        <p:txBody>
          <a:bodyPr/>
          <a:lstStyle/>
          <a:p>
            <a:fld id="{6537D2E1-F8C5-484C-BD3E-5EDF3C73D6F5}" type="slidenum">
              <a:rPr lang="en-US"/>
              <a:pPr/>
              <a:t>134</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a:xfrm>
            <a:off x="381000" y="685800"/>
            <a:ext cx="6096000" cy="3429000"/>
          </a:xfrm>
          <a:ln/>
        </p:spPr>
      </p:sp>
      <p:sp>
        <p:nvSpPr>
          <p:cNvPr id="129027" name="Notes Placeholder 2"/>
          <p:cNvSpPr>
            <a:spLocks noGrp="1"/>
          </p:cNvSpPr>
          <p:nvPr>
            <p:ph type="body" idx="1"/>
          </p:nvPr>
        </p:nvSpPr>
        <p:spPr>
          <a:noFill/>
          <a:ln/>
        </p:spPr>
        <p:txBody>
          <a:bodyPr/>
          <a:lstStyle/>
          <a:p>
            <a:pPr marL="228600" indent="-228600" eaLnBrk="1" hangingPunct="1">
              <a:buFontTx/>
              <a:buAutoNum type="arabicPeriod"/>
            </a:pPr>
            <a:endParaRPr lang="en-US">
              <a:latin typeface="Arial" pitchFamily="1" charset="0"/>
            </a:endParaRPr>
          </a:p>
        </p:txBody>
      </p:sp>
      <p:sp>
        <p:nvSpPr>
          <p:cNvPr id="129028" name="Slide Number Placeholder 3"/>
          <p:cNvSpPr>
            <a:spLocks noGrp="1"/>
          </p:cNvSpPr>
          <p:nvPr>
            <p:ph type="sldNum" sz="quarter" idx="5"/>
          </p:nvPr>
        </p:nvSpPr>
        <p:spPr>
          <a:noFill/>
        </p:spPr>
        <p:txBody>
          <a:bodyPr/>
          <a:lstStyle/>
          <a:p>
            <a:fld id="{B248DBD1-A4DE-1F44-B6F4-5CA4A287F341}" type="slidenum">
              <a:rPr lang="en-US"/>
              <a:pPr/>
              <a:t>135</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a:xfrm>
            <a:off x="381000" y="685800"/>
            <a:ext cx="6096000" cy="3429000"/>
          </a:xfrm>
          <a:ln/>
        </p:spPr>
      </p:sp>
      <p:sp>
        <p:nvSpPr>
          <p:cNvPr id="130051" name="Notes Placeholder 2"/>
          <p:cNvSpPr>
            <a:spLocks noGrp="1"/>
          </p:cNvSpPr>
          <p:nvPr>
            <p:ph type="body" idx="1"/>
          </p:nvPr>
        </p:nvSpPr>
        <p:spPr>
          <a:noFill/>
          <a:ln/>
        </p:spPr>
        <p:txBody>
          <a:bodyPr/>
          <a:lstStyle/>
          <a:p>
            <a:pPr marL="228600" indent="-228600" eaLnBrk="1" hangingPunct="1">
              <a:buFontTx/>
              <a:buAutoNum type="arabicPeriod"/>
            </a:pPr>
            <a:endParaRPr lang="en-US">
              <a:latin typeface="Arial" pitchFamily="1" charset="0"/>
            </a:endParaRPr>
          </a:p>
        </p:txBody>
      </p:sp>
      <p:sp>
        <p:nvSpPr>
          <p:cNvPr id="130052" name="Slide Number Placeholder 3"/>
          <p:cNvSpPr>
            <a:spLocks noGrp="1"/>
          </p:cNvSpPr>
          <p:nvPr>
            <p:ph type="sldNum" sz="quarter" idx="5"/>
          </p:nvPr>
        </p:nvSpPr>
        <p:spPr>
          <a:noFill/>
        </p:spPr>
        <p:txBody>
          <a:bodyPr/>
          <a:lstStyle/>
          <a:p>
            <a:fld id="{58FFE003-5958-F34C-B7AA-2AC4B6528AFE}" type="slidenum">
              <a:rPr lang="en-US"/>
              <a:pPr/>
              <a:t>136</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xfrm>
            <a:off x="381000" y="685800"/>
            <a:ext cx="6096000" cy="3429000"/>
          </a:xfrm>
          <a:ln/>
        </p:spPr>
      </p:sp>
      <p:sp>
        <p:nvSpPr>
          <p:cNvPr id="131075" name="Notes Placeholder 2"/>
          <p:cNvSpPr>
            <a:spLocks noGrp="1"/>
          </p:cNvSpPr>
          <p:nvPr>
            <p:ph type="body" idx="1"/>
          </p:nvPr>
        </p:nvSpPr>
        <p:spPr>
          <a:noFill/>
          <a:ln/>
        </p:spPr>
        <p:txBody>
          <a:bodyPr/>
          <a:lstStyle/>
          <a:p>
            <a:pPr marL="228600" indent="-228600" eaLnBrk="1" hangingPunct="1"/>
            <a:r>
              <a:rPr lang="en-US">
                <a:latin typeface="Arial" pitchFamily="1" charset="0"/>
              </a:rPr>
              <a:t>Class real-time:</a:t>
            </a:r>
          </a:p>
          <a:p>
            <a:pPr marL="228600" indent="-228600" eaLnBrk="1" hangingPunct="1">
              <a:buFontTx/>
              <a:buAutoNum type="arabicPeriod"/>
            </a:pPr>
            <a:endParaRPr lang="en-US">
              <a:latin typeface="Arial" pitchFamily="1" charset="0"/>
            </a:endParaRPr>
          </a:p>
          <a:p>
            <a:pPr marL="228600" indent="-228600" eaLnBrk="1" hangingPunct="1"/>
            <a:r>
              <a:rPr lang="en-US">
                <a:latin typeface="Arial" pitchFamily="1" charset="0"/>
              </a:rPr>
              <a:t>Total:     253378 </a:t>
            </a:r>
          </a:p>
          <a:p>
            <a:pPr marL="228600" indent="-228600" eaLnBrk="1" hangingPunct="1"/>
            <a:r>
              <a:rPr lang="en-US">
                <a:latin typeface="Arial" pitchFamily="1" charset="0"/>
              </a:rPr>
              <a:t>Conformed: 60987 </a:t>
            </a:r>
          </a:p>
          <a:p>
            <a:pPr marL="228600" indent="-228600" eaLnBrk="1" hangingPunct="1"/>
            <a:r>
              <a:rPr lang="en-US">
                <a:latin typeface="Arial" pitchFamily="1" charset="0"/>
              </a:rPr>
              <a:t>Violated:  92239 </a:t>
            </a:r>
          </a:p>
          <a:p>
            <a:pPr marL="228600" indent="-228600" eaLnBrk="1" hangingPunct="1">
              <a:buFontTx/>
              <a:buAutoNum type="arabicPeriod"/>
            </a:pPr>
            <a:endParaRPr lang="en-US">
              <a:latin typeface="Arial" pitchFamily="1" charset="0"/>
            </a:endParaRPr>
          </a:p>
          <a:p>
            <a:pPr marL="228600" indent="-228600" eaLnBrk="1" hangingPunct="1"/>
            <a:r>
              <a:rPr lang="en-US">
                <a:latin typeface="Arial" pitchFamily="1" charset="0"/>
              </a:rPr>
              <a:t>So 100152 packets are missing ?</a:t>
            </a:r>
          </a:p>
          <a:p>
            <a:pPr marL="228600" indent="-228600" eaLnBrk="1" hangingPunct="1"/>
            <a:endParaRPr lang="en-US">
              <a:latin typeface="Arial" pitchFamily="1" charset="0"/>
            </a:endParaRPr>
          </a:p>
          <a:p>
            <a:pPr marL="228600" indent="-228600" eaLnBrk="1" hangingPunct="1">
              <a:buFont typeface="Symbol" pitchFamily="1" charset="2"/>
              <a:buChar char="Þ"/>
            </a:pPr>
            <a:r>
              <a:rPr lang="en-US">
                <a:latin typeface="Arial" pitchFamily="1" charset="0"/>
              </a:rPr>
              <a:t>Classification occurs first, so packets were classified in the CHILD before they were dropped in the parent.</a:t>
            </a:r>
          </a:p>
          <a:p>
            <a:pPr marL="228600" indent="-228600" eaLnBrk="1" hangingPunct="1">
              <a:buFont typeface="Symbol" pitchFamily="1" charset="2"/>
              <a:buChar char="Þ"/>
            </a:pPr>
            <a:endParaRPr lang="en-US">
              <a:latin typeface="Arial" pitchFamily="1" charset="0"/>
            </a:endParaRPr>
          </a:p>
          <a:p>
            <a:pPr marL="228600" indent="-228600" eaLnBrk="1" hangingPunct="1">
              <a:buFont typeface="Symbol" pitchFamily="1" charset="2"/>
              <a:buNone/>
            </a:pPr>
            <a:r>
              <a:rPr lang="en-US">
                <a:latin typeface="Arial" pitchFamily="1" charset="0"/>
              </a:rPr>
              <a:t>200304 packets were dropped by the parent, most likely here ½ in each class so 100152.  These are the ‘lost packets’.</a:t>
            </a:r>
          </a:p>
          <a:p>
            <a:pPr marL="228600" indent="-228600" eaLnBrk="1" hangingPunct="1">
              <a:buFont typeface="Symbol" pitchFamily="1" charset="2"/>
              <a:buNone/>
            </a:pPr>
            <a:endParaRPr lang="en-US">
              <a:latin typeface="Arial" pitchFamily="1" charset="0"/>
            </a:endParaRPr>
          </a:p>
          <a:p>
            <a:pPr marL="228600" indent="-228600" eaLnBrk="1" hangingPunct="1">
              <a:buFont typeface="Symbol" pitchFamily="1" charset="2"/>
              <a:buNone/>
            </a:pPr>
            <a:r>
              <a:rPr lang="en-US">
                <a:latin typeface="Arial" pitchFamily="1" charset="0"/>
              </a:rPr>
              <a:t>Would it be the same with shaping ?  No, shaping doesn’t drop, just queues in the child.</a:t>
            </a:r>
          </a:p>
        </p:txBody>
      </p:sp>
      <p:sp>
        <p:nvSpPr>
          <p:cNvPr id="131076" name="Slide Number Placeholder 3"/>
          <p:cNvSpPr>
            <a:spLocks noGrp="1"/>
          </p:cNvSpPr>
          <p:nvPr>
            <p:ph type="sldNum" sz="quarter" idx="5"/>
          </p:nvPr>
        </p:nvSpPr>
        <p:spPr>
          <a:noFill/>
        </p:spPr>
        <p:txBody>
          <a:bodyPr/>
          <a:lstStyle/>
          <a:p>
            <a:fld id="{CA64FA04-2C24-0C4D-8F49-3712E49F2751}" type="slidenum">
              <a:rPr lang="en-US"/>
              <a:pPr/>
              <a:t>137</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xfrm>
            <a:off x="381000" y="685800"/>
            <a:ext cx="6096000" cy="3429000"/>
          </a:xfrm>
          <a:ln/>
        </p:spPr>
      </p:sp>
      <p:sp>
        <p:nvSpPr>
          <p:cNvPr id="132099" name="Notes Placeholder 2"/>
          <p:cNvSpPr>
            <a:spLocks noGrp="1"/>
          </p:cNvSpPr>
          <p:nvPr>
            <p:ph type="body" idx="1"/>
          </p:nvPr>
        </p:nvSpPr>
        <p:spPr>
          <a:noFill/>
          <a:ln/>
        </p:spPr>
        <p:txBody>
          <a:bodyPr/>
          <a:lstStyle/>
          <a:p>
            <a:pPr marL="228600" indent="-228600" eaLnBrk="1" hangingPunct="1">
              <a:buFontTx/>
              <a:buAutoNum type="arabicPeriod"/>
            </a:pPr>
            <a:endParaRPr lang="en-US">
              <a:latin typeface="Arial" pitchFamily="1" charset="0"/>
            </a:endParaRPr>
          </a:p>
        </p:txBody>
      </p:sp>
      <p:sp>
        <p:nvSpPr>
          <p:cNvPr id="132100" name="Slide Number Placeholder 3"/>
          <p:cNvSpPr>
            <a:spLocks noGrp="1"/>
          </p:cNvSpPr>
          <p:nvPr>
            <p:ph type="sldNum" sz="quarter" idx="5"/>
          </p:nvPr>
        </p:nvSpPr>
        <p:spPr>
          <a:noFill/>
        </p:spPr>
        <p:txBody>
          <a:bodyPr/>
          <a:lstStyle/>
          <a:p>
            <a:fld id="{2214C27B-A150-6E41-BC60-4F1B11425F25}" type="slidenum">
              <a:rPr lang="en-US"/>
              <a:pPr/>
              <a:t>138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rot="16200000">
            <a:off x="4724400" y="-3094037"/>
            <a:ext cx="2743200" cy="12192000"/>
          </a:xfrm>
          <a:prstGeom prst="rect">
            <a:avLst/>
          </a:prstGeom>
          <a:solidFill>
            <a:srgbClr val="015F85"/>
          </a:solidFill>
          <a:ln w="9525" algn="ctr">
            <a:noFill/>
            <a:miter lim="800000"/>
            <a:headEnd/>
            <a:tailEnd/>
          </a:ln>
          <a:effectLst/>
        </p:spPr>
        <p:txBody>
          <a:bodyPr wrap="none" lIns="73025" tIns="36512" rIns="73025" bIns="36512" anchor="ctr"/>
          <a:lstStyle/>
          <a:p>
            <a:pPr>
              <a:defRPr/>
            </a:pPr>
            <a:endParaRPr lang="en-US" sz="2400">
              <a:latin typeface="Arial" charset="0"/>
            </a:endParaRPr>
          </a:p>
        </p:txBody>
      </p:sp>
      <p:sp>
        <p:nvSpPr>
          <p:cNvPr id="5" name="Rectangle 3"/>
          <p:cNvSpPr>
            <a:spLocks noChangeArrowheads="1"/>
          </p:cNvSpPr>
          <p:nvPr/>
        </p:nvSpPr>
        <p:spPr bwMode="auto">
          <a:xfrm>
            <a:off x="1534585" y="6670529"/>
            <a:ext cx="2041365" cy="190646"/>
          </a:xfrm>
          <a:prstGeom prst="rect">
            <a:avLst/>
          </a:prstGeom>
          <a:noFill/>
          <a:ln w="9525">
            <a:noFill/>
            <a:miter lim="800000"/>
            <a:headEnd/>
            <a:tailEnd/>
          </a:ln>
          <a:effectLst/>
        </p:spPr>
        <p:txBody>
          <a:bodyPr wrap="none" lIns="82124" tIns="41061" rIns="82124" bIns="41061" anchor="b" anchorCtr="1">
            <a:prstTxWarp prst="textNoShape">
              <a:avLst/>
            </a:prstTxWarp>
            <a:spAutoFit/>
          </a:bodyPr>
          <a:lstStyle/>
          <a:p>
            <a:pPr algn="l" defTabSz="814388">
              <a:lnSpc>
                <a:spcPct val="100000"/>
              </a:lnSpc>
            </a:pPr>
            <a:r>
              <a:rPr lang="en-US" sz="700">
                <a:solidFill>
                  <a:srgbClr val="D3D3D3"/>
                </a:solidFill>
              </a:rPr>
              <a:t>© 2006 Cisco Systems, Inc. All rights reserved.</a:t>
            </a:r>
          </a:p>
        </p:txBody>
      </p:sp>
      <p:sp>
        <p:nvSpPr>
          <p:cNvPr id="6" name="Rectangle 4"/>
          <p:cNvSpPr>
            <a:spLocks noChangeArrowheads="1"/>
          </p:cNvSpPr>
          <p:nvPr/>
        </p:nvSpPr>
        <p:spPr bwMode="auto">
          <a:xfrm>
            <a:off x="4516133" y="6670529"/>
            <a:ext cx="885601" cy="190646"/>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defRPr/>
            </a:pPr>
            <a:r>
              <a:rPr lang="en-US" sz="700">
                <a:solidFill>
                  <a:srgbClr val="D3D3D3"/>
                </a:solidFill>
                <a:latin typeface="Arial" charset="0"/>
              </a:rPr>
              <a:t>Cisco Confidential</a:t>
            </a:r>
          </a:p>
        </p:txBody>
      </p:sp>
      <p:sp>
        <p:nvSpPr>
          <p:cNvPr id="7" name="Rectangle 5"/>
          <p:cNvSpPr>
            <a:spLocks noChangeArrowheads="1"/>
          </p:cNvSpPr>
          <p:nvPr/>
        </p:nvSpPr>
        <p:spPr bwMode="auto">
          <a:xfrm>
            <a:off x="11566372" y="6624363"/>
            <a:ext cx="322946" cy="236812"/>
          </a:xfrm>
          <a:prstGeom prst="rect">
            <a:avLst/>
          </a:prstGeom>
          <a:noFill/>
          <a:ln w="9525" algn="ctr">
            <a:noFill/>
            <a:miter lim="800000"/>
            <a:headEnd/>
            <a:tailEnd/>
          </a:ln>
          <a:effectLst/>
        </p:spPr>
        <p:txBody>
          <a:bodyPr wrap="none" lIns="82124" tIns="41061" rIns="82124" bIns="41061" anchor="b">
            <a:prstTxWarp prst="textNoShape">
              <a:avLst/>
            </a:prstTxWarp>
            <a:spAutoFit/>
          </a:bodyPr>
          <a:lstStyle/>
          <a:p>
            <a:pPr algn="r" defTabSz="814388">
              <a:lnSpc>
                <a:spcPct val="100000"/>
              </a:lnSpc>
            </a:pPr>
            <a:fld id="{B1A1ACEC-9343-BE45-8763-9AFC97D4986E}" type="slidenum">
              <a:rPr lang="en-US" sz="1000">
                <a:solidFill>
                  <a:srgbClr val="D3D3D3"/>
                </a:solidFill>
              </a:rPr>
              <a:pPr algn="r" defTabSz="814388">
                <a:lnSpc>
                  <a:spcPct val="100000"/>
                </a:lnSpc>
              </a:pPr>
              <a:t>‹#›</a:t>
            </a:fld>
            <a:endParaRPr lang="en-US" sz="1000">
              <a:solidFill>
                <a:srgbClr val="D3D3D3"/>
              </a:solidFill>
            </a:endParaRPr>
          </a:p>
        </p:txBody>
      </p:sp>
      <p:grpSp>
        <p:nvGrpSpPr>
          <p:cNvPr id="8" name="Group 6"/>
          <p:cNvGrpSpPr>
            <a:grpSpLocks/>
          </p:cNvGrpSpPr>
          <p:nvPr/>
        </p:nvGrpSpPr>
        <p:grpSpPr bwMode="auto">
          <a:xfrm>
            <a:off x="812800" y="525464"/>
            <a:ext cx="1930400" cy="769937"/>
            <a:chOff x="3272" y="1316"/>
            <a:chExt cx="1889" cy="1002"/>
          </a:xfrm>
        </p:grpSpPr>
        <p:sp>
          <p:nvSpPr>
            <p:cNvPr id="9" name="AutoShape 7"/>
            <p:cNvSpPr>
              <a:spLocks noChangeAspect="1" noChangeArrowheads="1" noTextEdit="1"/>
            </p:cNvSpPr>
            <p:nvPr/>
          </p:nvSpPr>
          <p:spPr bwMode="auto">
            <a:xfrm>
              <a:off x="3272" y="1316"/>
              <a:ext cx="1889" cy="1002"/>
            </a:xfrm>
            <a:prstGeom prst="rect">
              <a:avLst/>
            </a:prstGeom>
            <a:noFill/>
            <a:ln w="9525">
              <a:noFill/>
              <a:miter lim="800000"/>
              <a:headEnd/>
              <a:tailEnd/>
            </a:ln>
          </p:spPr>
          <p:txBody>
            <a:bodyPr/>
            <a:lstStyle/>
            <a:p>
              <a:pPr>
                <a:defRPr/>
              </a:pPr>
              <a:endParaRPr lang="en-US" sz="2400">
                <a:latin typeface="Arial" charset="0"/>
              </a:endParaRPr>
            </a:p>
          </p:txBody>
        </p:sp>
        <p:sp>
          <p:nvSpPr>
            <p:cNvPr id="10" name="Rectangle 8"/>
            <p:cNvSpPr>
              <a:spLocks noChangeArrowheads="1"/>
            </p:cNvSpPr>
            <p:nvPr/>
          </p:nvSpPr>
          <p:spPr bwMode="auto">
            <a:xfrm>
              <a:off x="3802" y="1979"/>
              <a:ext cx="87" cy="326"/>
            </a:xfrm>
            <a:prstGeom prst="rect">
              <a:avLst/>
            </a:prstGeom>
            <a:solidFill>
              <a:srgbClr val="B21A1A"/>
            </a:solidFill>
            <a:ln w="9525">
              <a:noFill/>
              <a:miter lim="800000"/>
              <a:headEnd/>
              <a:tailEnd/>
            </a:ln>
          </p:spPr>
          <p:txBody>
            <a:bodyPr/>
            <a:lstStyle/>
            <a:p>
              <a:pPr>
                <a:defRPr/>
              </a:pPr>
              <a:endParaRPr lang="en-US" sz="2400">
                <a:latin typeface="Arial" charset="0"/>
              </a:endParaRPr>
            </a:p>
          </p:txBody>
        </p:sp>
        <p:sp>
          <p:nvSpPr>
            <p:cNvPr id="11" name="Freeform 9"/>
            <p:cNvSpPr>
              <a:spLocks/>
            </p:cNvSpPr>
            <p:nvPr/>
          </p:nvSpPr>
          <p:spPr bwMode="auto">
            <a:xfrm>
              <a:off x="4303" y="1971"/>
              <a:ext cx="249" cy="343"/>
            </a:xfrm>
            <a:custGeom>
              <a:avLst/>
              <a:gdLst/>
              <a:ahLst/>
              <a:cxnLst>
                <a:cxn ang="0">
                  <a:pos x="58" y="24"/>
                </a:cxn>
                <a:cxn ang="0">
                  <a:pos x="42" y="20"/>
                </a:cxn>
                <a:cxn ang="0">
                  <a:pos x="21" y="40"/>
                </a:cxn>
                <a:cxn ang="0">
                  <a:pos x="42" y="60"/>
                </a:cxn>
                <a:cxn ang="0">
                  <a:pos x="58" y="56"/>
                </a:cxn>
                <a:cxn ang="0">
                  <a:pos x="58" y="77"/>
                </a:cxn>
                <a:cxn ang="0">
                  <a:pos x="41" y="80"/>
                </a:cxn>
                <a:cxn ang="0">
                  <a:pos x="0" y="40"/>
                </a:cxn>
                <a:cxn ang="0">
                  <a:pos x="41" y="0"/>
                </a:cxn>
                <a:cxn ang="0">
                  <a:pos x="58" y="3"/>
                </a:cxn>
                <a:cxn ang="0">
                  <a:pos x="58" y="24"/>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B21A1A"/>
            </a:solidFill>
            <a:ln w="9525">
              <a:noFill/>
              <a:round/>
              <a:headEnd/>
              <a:tailEnd/>
            </a:ln>
          </p:spPr>
          <p:txBody>
            <a:bodyPr/>
            <a:lstStyle/>
            <a:p>
              <a:pPr>
                <a:defRPr/>
              </a:pPr>
              <a:endParaRPr lang="en-US" sz="2400">
                <a:latin typeface="Arial" charset="0"/>
              </a:endParaRPr>
            </a:p>
          </p:txBody>
        </p:sp>
        <p:sp>
          <p:nvSpPr>
            <p:cNvPr id="12" name="Freeform 10"/>
            <p:cNvSpPr>
              <a:spLocks/>
            </p:cNvSpPr>
            <p:nvPr/>
          </p:nvSpPr>
          <p:spPr bwMode="auto">
            <a:xfrm>
              <a:off x="3444" y="1971"/>
              <a:ext cx="249" cy="343"/>
            </a:xfrm>
            <a:custGeom>
              <a:avLst/>
              <a:gdLst/>
              <a:ahLst/>
              <a:cxnLst>
                <a:cxn ang="0">
                  <a:pos x="58" y="24"/>
                </a:cxn>
                <a:cxn ang="0">
                  <a:pos x="42" y="20"/>
                </a:cxn>
                <a:cxn ang="0">
                  <a:pos x="21" y="40"/>
                </a:cxn>
                <a:cxn ang="0">
                  <a:pos x="42" y="60"/>
                </a:cxn>
                <a:cxn ang="0">
                  <a:pos x="58" y="56"/>
                </a:cxn>
                <a:cxn ang="0">
                  <a:pos x="58" y="77"/>
                </a:cxn>
                <a:cxn ang="0">
                  <a:pos x="40" y="80"/>
                </a:cxn>
                <a:cxn ang="0">
                  <a:pos x="0" y="40"/>
                </a:cxn>
                <a:cxn ang="0">
                  <a:pos x="40" y="0"/>
                </a:cxn>
                <a:cxn ang="0">
                  <a:pos x="58" y="3"/>
                </a:cxn>
                <a:cxn ang="0">
                  <a:pos x="58" y="24"/>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B21A1A"/>
            </a:solidFill>
            <a:ln w="9525">
              <a:noFill/>
              <a:round/>
              <a:headEnd/>
              <a:tailEnd/>
            </a:ln>
          </p:spPr>
          <p:txBody>
            <a:bodyPr/>
            <a:lstStyle/>
            <a:p>
              <a:pPr>
                <a:defRPr/>
              </a:pPr>
              <a:endParaRPr lang="en-US" sz="2400">
                <a:latin typeface="Arial" charset="0"/>
              </a:endParaRPr>
            </a:p>
          </p:txBody>
        </p:sp>
        <p:sp>
          <p:nvSpPr>
            <p:cNvPr id="13" name="Freeform 11"/>
            <p:cNvSpPr>
              <a:spLocks noEditPoints="1"/>
            </p:cNvSpPr>
            <p:nvPr/>
          </p:nvSpPr>
          <p:spPr bwMode="auto">
            <a:xfrm>
              <a:off x="4643" y="1971"/>
              <a:ext cx="342" cy="343"/>
            </a:xfrm>
            <a:custGeom>
              <a:avLst/>
              <a:gdLst/>
              <a:ahLst/>
              <a:cxnLst>
                <a:cxn ang="0">
                  <a:pos x="80" y="40"/>
                </a:cxn>
                <a:cxn ang="0">
                  <a:pos x="40" y="80"/>
                </a:cxn>
                <a:cxn ang="0">
                  <a:pos x="0" y="40"/>
                </a:cxn>
                <a:cxn ang="0">
                  <a:pos x="40" y="0"/>
                </a:cxn>
                <a:cxn ang="0">
                  <a:pos x="80" y="40"/>
                </a:cxn>
                <a:cxn ang="0">
                  <a:pos x="40" y="20"/>
                </a:cxn>
                <a:cxn ang="0">
                  <a:pos x="20" y="40"/>
                </a:cxn>
                <a:cxn ang="0">
                  <a:pos x="40" y="60"/>
                </a:cxn>
                <a:cxn ang="0">
                  <a:pos x="60" y="40"/>
                </a:cxn>
                <a:cxn ang="0">
                  <a:pos x="40" y="20"/>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B21A1A"/>
            </a:solidFill>
            <a:ln w="9525">
              <a:noFill/>
              <a:round/>
              <a:headEnd/>
              <a:tailEnd/>
            </a:ln>
          </p:spPr>
          <p:txBody>
            <a:bodyPr/>
            <a:lstStyle/>
            <a:p>
              <a:pPr>
                <a:defRPr/>
              </a:pPr>
              <a:endParaRPr lang="en-US" sz="2400">
                <a:latin typeface="Arial" charset="0"/>
              </a:endParaRPr>
            </a:p>
          </p:txBody>
        </p:sp>
        <p:sp>
          <p:nvSpPr>
            <p:cNvPr id="14" name="Freeform 12"/>
            <p:cNvSpPr>
              <a:spLocks/>
            </p:cNvSpPr>
            <p:nvPr/>
          </p:nvSpPr>
          <p:spPr bwMode="auto">
            <a:xfrm>
              <a:off x="3999" y="1971"/>
              <a:ext cx="224" cy="343"/>
            </a:xfrm>
            <a:custGeom>
              <a:avLst/>
              <a:gdLst/>
              <a:ahLst/>
              <a:cxnLst>
                <a:cxn ang="0">
                  <a:pos x="47" y="19"/>
                </a:cxn>
                <a:cxn ang="0">
                  <a:pos x="32" y="17"/>
                </a:cxn>
                <a:cxn ang="0">
                  <a:pos x="20" y="23"/>
                </a:cxn>
                <a:cxn ang="0">
                  <a:pos x="29" y="30"/>
                </a:cxn>
                <a:cxn ang="0">
                  <a:pos x="34" y="32"/>
                </a:cxn>
                <a:cxn ang="0">
                  <a:pos x="52" y="54"/>
                </a:cxn>
                <a:cxn ang="0">
                  <a:pos x="21" y="80"/>
                </a:cxn>
                <a:cxn ang="0">
                  <a:pos x="0" y="77"/>
                </a:cxn>
                <a:cxn ang="0">
                  <a:pos x="0" y="60"/>
                </a:cxn>
                <a:cxn ang="0">
                  <a:pos x="18" y="63"/>
                </a:cxn>
                <a:cxn ang="0">
                  <a:pos x="32" y="56"/>
                </a:cxn>
                <a:cxn ang="0">
                  <a:pos x="23" y="48"/>
                </a:cxn>
                <a:cxn ang="0">
                  <a:pos x="19" y="47"/>
                </a:cxn>
                <a:cxn ang="0">
                  <a:pos x="0" y="24"/>
                </a:cxn>
                <a:cxn ang="0">
                  <a:pos x="28" y="0"/>
                </a:cxn>
                <a:cxn ang="0">
                  <a:pos x="47" y="3"/>
                </a:cxn>
                <a:cxn ang="0">
                  <a:pos x="47" y="19"/>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B21A1A"/>
            </a:solidFill>
            <a:ln w="9525">
              <a:noFill/>
              <a:round/>
              <a:headEnd/>
              <a:tailEnd/>
            </a:ln>
          </p:spPr>
          <p:txBody>
            <a:bodyPr/>
            <a:lstStyle/>
            <a:p>
              <a:pPr>
                <a:defRPr/>
              </a:pPr>
              <a:endParaRPr lang="en-US" sz="2400">
                <a:latin typeface="Arial" charset="0"/>
              </a:endParaRPr>
            </a:p>
          </p:txBody>
        </p:sp>
        <p:sp>
          <p:nvSpPr>
            <p:cNvPr id="15" name="Freeform 13"/>
            <p:cNvSpPr>
              <a:spLocks/>
            </p:cNvSpPr>
            <p:nvPr/>
          </p:nvSpPr>
          <p:spPr bwMode="auto">
            <a:xfrm>
              <a:off x="3272" y="1587"/>
              <a:ext cx="81" cy="167"/>
            </a:xfrm>
            <a:custGeom>
              <a:avLst/>
              <a:gdLst/>
              <a:ahLst/>
              <a:cxnLst>
                <a:cxn ang="0">
                  <a:pos x="19" y="10"/>
                </a:cxn>
                <a:cxn ang="0">
                  <a:pos x="10" y="0"/>
                </a:cxn>
                <a:cxn ang="0">
                  <a:pos x="0" y="10"/>
                </a:cxn>
                <a:cxn ang="0">
                  <a:pos x="0" y="30"/>
                </a:cxn>
                <a:cxn ang="0">
                  <a:pos x="10" y="39"/>
                </a:cxn>
                <a:cxn ang="0">
                  <a:pos x="19" y="30"/>
                </a:cxn>
                <a:cxn ang="0">
                  <a:pos x="19" y="10"/>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015F85"/>
            </a:solidFill>
            <a:ln w="9525">
              <a:noFill/>
              <a:round/>
              <a:headEnd/>
              <a:tailEnd/>
            </a:ln>
          </p:spPr>
          <p:txBody>
            <a:bodyPr/>
            <a:lstStyle/>
            <a:p>
              <a:pPr>
                <a:defRPr/>
              </a:pPr>
              <a:endParaRPr lang="en-US" sz="2400">
                <a:latin typeface="Arial" charset="0"/>
              </a:endParaRPr>
            </a:p>
          </p:txBody>
        </p:sp>
        <p:sp>
          <p:nvSpPr>
            <p:cNvPr id="16" name="Freeform 14"/>
            <p:cNvSpPr>
              <a:spLocks/>
            </p:cNvSpPr>
            <p:nvPr/>
          </p:nvSpPr>
          <p:spPr bwMode="auto">
            <a:xfrm>
              <a:off x="3500" y="1473"/>
              <a:ext cx="81" cy="281"/>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015F85"/>
            </a:solidFill>
            <a:ln w="9525">
              <a:noFill/>
              <a:round/>
              <a:headEnd/>
              <a:tailEnd/>
            </a:ln>
          </p:spPr>
          <p:txBody>
            <a:bodyPr/>
            <a:lstStyle/>
            <a:p>
              <a:pPr>
                <a:defRPr/>
              </a:pPr>
              <a:endParaRPr lang="en-US" sz="2400">
                <a:latin typeface="Arial" charset="0"/>
              </a:endParaRPr>
            </a:p>
          </p:txBody>
        </p:sp>
        <p:sp>
          <p:nvSpPr>
            <p:cNvPr id="17" name="Freeform 15"/>
            <p:cNvSpPr>
              <a:spLocks/>
            </p:cNvSpPr>
            <p:nvPr/>
          </p:nvSpPr>
          <p:spPr bwMode="auto">
            <a:xfrm>
              <a:off x="3721" y="1320"/>
              <a:ext cx="81" cy="514"/>
            </a:xfrm>
            <a:custGeom>
              <a:avLst/>
              <a:gdLst/>
              <a:ahLst/>
              <a:cxnLst>
                <a:cxn ang="0">
                  <a:pos x="19" y="9"/>
                </a:cxn>
                <a:cxn ang="0">
                  <a:pos x="10" y="0"/>
                </a:cxn>
                <a:cxn ang="0">
                  <a:pos x="0" y="9"/>
                </a:cxn>
                <a:cxn ang="0">
                  <a:pos x="0" y="111"/>
                </a:cxn>
                <a:cxn ang="0">
                  <a:pos x="10" y="120"/>
                </a:cxn>
                <a:cxn ang="0">
                  <a:pos x="19" y="111"/>
                </a:cxn>
                <a:cxn ang="0">
                  <a:pos x="19" y="9"/>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015F85"/>
            </a:solidFill>
            <a:ln w="9525">
              <a:noFill/>
              <a:round/>
              <a:headEnd/>
              <a:tailEnd/>
            </a:ln>
          </p:spPr>
          <p:txBody>
            <a:bodyPr/>
            <a:lstStyle/>
            <a:p>
              <a:pPr>
                <a:defRPr/>
              </a:pPr>
              <a:endParaRPr lang="en-US" sz="2400">
                <a:latin typeface="Arial" charset="0"/>
              </a:endParaRPr>
            </a:p>
          </p:txBody>
        </p:sp>
        <p:sp>
          <p:nvSpPr>
            <p:cNvPr id="18" name="Freeform 16"/>
            <p:cNvSpPr>
              <a:spLocks/>
            </p:cNvSpPr>
            <p:nvPr/>
          </p:nvSpPr>
          <p:spPr bwMode="auto">
            <a:xfrm>
              <a:off x="3949" y="1473"/>
              <a:ext cx="81" cy="281"/>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015F85"/>
            </a:solidFill>
            <a:ln w="9525">
              <a:noFill/>
              <a:round/>
              <a:headEnd/>
              <a:tailEnd/>
            </a:ln>
          </p:spPr>
          <p:txBody>
            <a:bodyPr/>
            <a:lstStyle/>
            <a:p>
              <a:pPr>
                <a:defRPr/>
              </a:pPr>
              <a:endParaRPr lang="en-US" sz="2400">
                <a:latin typeface="Arial" charset="0"/>
              </a:endParaRPr>
            </a:p>
          </p:txBody>
        </p:sp>
        <p:sp>
          <p:nvSpPr>
            <p:cNvPr id="19" name="Freeform 17"/>
            <p:cNvSpPr>
              <a:spLocks/>
            </p:cNvSpPr>
            <p:nvPr/>
          </p:nvSpPr>
          <p:spPr bwMode="auto">
            <a:xfrm>
              <a:off x="4171" y="1587"/>
              <a:ext cx="87" cy="167"/>
            </a:xfrm>
            <a:custGeom>
              <a:avLst/>
              <a:gdLst/>
              <a:ahLst/>
              <a:cxnLst>
                <a:cxn ang="0">
                  <a:pos x="20" y="10"/>
                </a:cxn>
                <a:cxn ang="0">
                  <a:pos x="10" y="0"/>
                </a:cxn>
                <a:cxn ang="0">
                  <a:pos x="0" y="10"/>
                </a:cxn>
                <a:cxn ang="0">
                  <a:pos x="0" y="30"/>
                </a:cxn>
                <a:cxn ang="0">
                  <a:pos x="10" y="39"/>
                </a:cxn>
                <a:cxn ang="0">
                  <a:pos x="20" y="30"/>
                </a:cxn>
                <a:cxn ang="0">
                  <a:pos x="20" y="10"/>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015F85"/>
            </a:solidFill>
            <a:ln w="9525">
              <a:noFill/>
              <a:round/>
              <a:headEnd/>
              <a:tailEnd/>
            </a:ln>
          </p:spPr>
          <p:txBody>
            <a:bodyPr/>
            <a:lstStyle/>
            <a:p>
              <a:pPr>
                <a:defRPr/>
              </a:pPr>
              <a:endParaRPr lang="en-US" sz="2400">
                <a:latin typeface="Arial" charset="0"/>
              </a:endParaRPr>
            </a:p>
          </p:txBody>
        </p:sp>
        <p:sp>
          <p:nvSpPr>
            <p:cNvPr id="20" name="Freeform 18"/>
            <p:cNvSpPr>
              <a:spLocks/>
            </p:cNvSpPr>
            <p:nvPr/>
          </p:nvSpPr>
          <p:spPr bwMode="auto">
            <a:xfrm>
              <a:off x="4399" y="1473"/>
              <a:ext cx="81" cy="281"/>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015F85"/>
            </a:solidFill>
            <a:ln w="9525">
              <a:noFill/>
              <a:round/>
              <a:headEnd/>
              <a:tailEnd/>
            </a:ln>
          </p:spPr>
          <p:txBody>
            <a:bodyPr/>
            <a:lstStyle/>
            <a:p>
              <a:pPr>
                <a:defRPr/>
              </a:pPr>
              <a:endParaRPr lang="en-US" sz="2400">
                <a:latin typeface="Arial" charset="0"/>
              </a:endParaRPr>
            </a:p>
          </p:txBody>
        </p:sp>
        <p:sp>
          <p:nvSpPr>
            <p:cNvPr id="21" name="Freeform 19"/>
            <p:cNvSpPr>
              <a:spLocks/>
            </p:cNvSpPr>
            <p:nvPr/>
          </p:nvSpPr>
          <p:spPr bwMode="auto">
            <a:xfrm>
              <a:off x="4625" y="1320"/>
              <a:ext cx="83" cy="514"/>
            </a:xfrm>
            <a:custGeom>
              <a:avLst/>
              <a:gdLst/>
              <a:ahLst/>
              <a:cxnLst>
                <a:cxn ang="0">
                  <a:pos x="19" y="9"/>
                </a:cxn>
                <a:cxn ang="0">
                  <a:pos x="9" y="0"/>
                </a:cxn>
                <a:cxn ang="0">
                  <a:pos x="0" y="9"/>
                </a:cxn>
                <a:cxn ang="0">
                  <a:pos x="0" y="111"/>
                </a:cxn>
                <a:cxn ang="0">
                  <a:pos x="9" y="120"/>
                </a:cxn>
                <a:cxn ang="0">
                  <a:pos x="19" y="111"/>
                </a:cxn>
                <a:cxn ang="0">
                  <a:pos x="19" y="9"/>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015F85"/>
            </a:solidFill>
            <a:ln w="9525">
              <a:noFill/>
              <a:round/>
              <a:headEnd/>
              <a:tailEnd/>
            </a:ln>
          </p:spPr>
          <p:txBody>
            <a:bodyPr/>
            <a:lstStyle/>
            <a:p>
              <a:pPr>
                <a:defRPr/>
              </a:pPr>
              <a:endParaRPr lang="en-US" sz="2400">
                <a:latin typeface="Arial" charset="0"/>
              </a:endParaRPr>
            </a:p>
          </p:txBody>
        </p:sp>
        <p:sp>
          <p:nvSpPr>
            <p:cNvPr id="22" name="Freeform 20"/>
            <p:cNvSpPr>
              <a:spLocks/>
            </p:cNvSpPr>
            <p:nvPr/>
          </p:nvSpPr>
          <p:spPr bwMode="auto">
            <a:xfrm>
              <a:off x="4848" y="1473"/>
              <a:ext cx="81" cy="281"/>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015F85"/>
            </a:solidFill>
            <a:ln w="9525">
              <a:noFill/>
              <a:round/>
              <a:headEnd/>
              <a:tailEnd/>
            </a:ln>
          </p:spPr>
          <p:txBody>
            <a:bodyPr/>
            <a:lstStyle/>
            <a:p>
              <a:pPr>
                <a:defRPr/>
              </a:pPr>
              <a:endParaRPr lang="en-US" sz="2400">
                <a:latin typeface="Arial" charset="0"/>
              </a:endParaRPr>
            </a:p>
          </p:txBody>
        </p:sp>
        <p:sp>
          <p:nvSpPr>
            <p:cNvPr id="23" name="Freeform 21"/>
            <p:cNvSpPr>
              <a:spLocks/>
            </p:cNvSpPr>
            <p:nvPr/>
          </p:nvSpPr>
          <p:spPr bwMode="auto">
            <a:xfrm>
              <a:off x="5074" y="1587"/>
              <a:ext cx="83" cy="167"/>
            </a:xfrm>
            <a:custGeom>
              <a:avLst/>
              <a:gdLst/>
              <a:ahLst/>
              <a:cxnLst>
                <a:cxn ang="0">
                  <a:pos x="19" y="10"/>
                </a:cxn>
                <a:cxn ang="0">
                  <a:pos x="9" y="0"/>
                </a:cxn>
                <a:cxn ang="0">
                  <a:pos x="0" y="10"/>
                </a:cxn>
                <a:cxn ang="0">
                  <a:pos x="0" y="30"/>
                </a:cxn>
                <a:cxn ang="0">
                  <a:pos x="9" y="39"/>
                </a:cxn>
                <a:cxn ang="0">
                  <a:pos x="19" y="30"/>
                </a:cxn>
                <a:cxn ang="0">
                  <a:pos x="19" y="10"/>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015F85"/>
            </a:solidFill>
            <a:ln w="9525">
              <a:noFill/>
              <a:round/>
              <a:headEnd/>
              <a:tailEnd/>
            </a:ln>
          </p:spPr>
          <p:txBody>
            <a:bodyPr/>
            <a:lstStyle/>
            <a:p>
              <a:pPr>
                <a:defRPr/>
              </a:pPr>
              <a:endParaRPr lang="en-US" sz="2400">
                <a:latin typeface="Arial" charset="0"/>
              </a:endParaRPr>
            </a:p>
          </p:txBody>
        </p:sp>
      </p:grpSp>
      <p:pic>
        <p:nvPicPr>
          <p:cNvPr id="24" name="Picture 24" descr="MAE17639"/>
          <p:cNvPicPr>
            <a:picLocks noChangeAspect="1" noChangeArrowheads="1"/>
          </p:cNvPicPr>
          <p:nvPr/>
        </p:nvPicPr>
        <p:blipFill>
          <a:blip r:embed="rId2"/>
          <a:srcRect/>
          <a:stretch>
            <a:fillRect/>
          </a:stretch>
        </p:blipFill>
        <p:spPr bwMode="auto">
          <a:xfrm>
            <a:off x="6098117" y="1630363"/>
            <a:ext cx="6093883" cy="2743200"/>
          </a:xfrm>
          <a:prstGeom prst="rect">
            <a:avLst/>
          </a:prstGeom>
          <a:noFill/>
          <a:ln w="9525">
            <a:noFill/>
            <a:miter lim="800000"/>
            <a:headEnd/>
            <a:tailEnd/>
          </a:ln>
        </p:spPr>
      </p:pic>
      <p:sp>
        <p:nvSpPr>
          <p:cNvPr id="25" name="Rectangle 25"/>
          <p:cNvSpPr>
            <a:spLocks noChangeArrowheads="1"/>
          </p:cNvSpPr>
          <p:nvPr/>
        </p:nvSpPr>
        <p:spPr bwMode="auto">
          <a:xfrm>
            <a:off x="812800" y="5486400"/>
            <a:ext cx="4267200" cy="990600"/>
          </a:xfrm>
          <a:prstGeom prst="rect">
            <a:avLst/>
          </a:prstGeom>
          <a:noFill/>
          <a:ln w="9525">
            <a:noFill/>
            <a:miter lim="800000"/>
            <a:headEnd/>
            <a:tailEnd/>
          </a:ln>
          <a:effectLst/>
        </p:spPr>
        <p:txBody>
          <a:bodyPr lIns="82124" tIns="41061" rIns="82124" bIns="41061"/>
          <a:lstStyle/>
          <a:p>
            <a:pPr algn="l" eaLnBrk="1" hangingPunct="1">
              <a:lnSpc>
                <a:spcPct val="100000"/>
              </a:lnSpc>
              <a:defRPr/>
            </a:pPr>
            <a:endParaRPr lang="en-US" sz="1600">
              <a:solidFill>
                <a:schemeClr val="bg2"/>
              </a:solidFill>
              <a:latin typeface="Arial" charset="0"/>
            </a:endParaRPr>
          </a:p>
        </p:txBody>
      </p:sp>
      <p:sp>
        <p:nvSpPr>
          <p:cNvPr id="5142" name="Rectangle 22"/>
          <p:cNvSpPr>
            <a:spLocks noGrp="1" noChangeArrowheads="1"/>
          </p:cNvSpPr>
          <p:nvPr>
            <p:ph type="ctrTitle"/>
          </p:nvPr>
        </p:nvSpPr>
        <p:spPr bwMode="white">
          <a:xfrm>
            <a:off x="867834" y="2676526"/>
            <a:ext cx="5024967" cy="830263"/>
          </a:xfrm>
          <a:ln/>
        </p:spPr>
        <p:txBody>
          <a:bodyPr anchor="ctr"/>
          <a:lstStyle>
            <a:lvl1pPr>
              <a:defRPr sz="3000" b="0">
                <a:solidFill>
                  <a:srgbClr val="FFFFFF"/>
                </a:solidFill>
              </a:defRPr>
            </a:lvl1pPr>
          </a:lstStyle>
          <a:p>
            <a:r>
              <a:rPr lang="en-US"/>
              <a:t>Click To Edit Master Title Style</a:t>
            </a:r>
          </a:p>
        </p:txBody>
      </p:sp>
      <p:sp>
        <p:nvSpPr>
          <p:cNvPr id="5143" name="Rectangle 23"/>
          <p:cNvSpPr>
            <a:spLocks noGrp="1" noChangeArrowheads="1"/>
          </p:cNvSpPr>
          <p:nvPr>
            <p:ph type="subTitle" idx="1"/>
          </p:nvPr>
        </p:nvSpPr>
        <p:spPr>
          <a:xfrm>
            <a:off x="867833" y="4733925"/>
            <a:ext cx="9254067" cy="419100"/>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74185" y="1781176"/>
            <a:ext cx="5192183"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269567" y="1781176"/>
            <a:ext cx="5192184"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50867" y="304800"/>
            <a:ext cx="2724151" cy="5048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74184" y="304800"/>
            <a:ext cx="7973483" cy="50482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70BD2E-7B2A-462D-B27F-DC60D627BFFA}"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3269598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70BD2E-7B2A-462D-B27F-DC60D627BFFA}"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147830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370BD2E-7B2A-462D-B27F-DC60D627BFFA}"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17327108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370BD2E-7B2A-462D-B27F-DC60D627BFFA}"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2155806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370BD2E-7B2A-462D-B27F-DC60D627BFFA}"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10323588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70BD2E-7B2A-462D-B27F-DC60D627BFFA}"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26454838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70BD2E-7B2A-462D-B27F-DC60D627BFFA}"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20252688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370BD2E-7B2A-462D-B27F-DC60D627BFFA}"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7323138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370BD2E-7B2A-462D-B27F-DC60D627BFFA}"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2441842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70BD2E-7B2A-462D-B27F-DC60D627BFFA}"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9488948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70BD2E-7B2A-462D-B27F-DC60D627BFFA}"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D352B-9A66-4A8F-8BFF-12075D32D87C}" type="slidenum">
              <a:rPr lang="en-US" smtClean="0"/>
              <a:t>‹#›</a:t>
            </a:fld>
            <a:endParaRPr lang="en-US"/>
          </a:p>
        </p:txBody>
      </p:sp>
    </p:spTree>
    <p:extLst>
      <p:ext uri="{BB962C8B-B14F-4D97-AF65-F5344CB8AC3E}">
        <p14:creationId xmlns:p14="http://schemas.microsoft.com/office/powerpoint/2010/main" val="3921904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1" y="304800"/>
            <a:ext cx="10860617" cy="838200"/>
          </a:xfrm>
          <a:prstGeom prst="rect">
            <a:avLst/>
          </a:prstGeom>
          <a:noFill/>
          <a:ln w="9525">
            <a:noFill/>
            <a:miter lim="800000"/>
            <a:headEnd/>
            <a:tailEnd/>
          </a:ln>
        </p:spPr>
        <p:txBody>
          <a:bodyPr vert="horz" wrap="square" lIns="82124" tIns="41061" rIns="82124" bIns="41061" numCol="1" anchor="b" anchorCtr="0" compatLnSpc="1">
            <a:prstTxWarp prst="textNoShape">
              <a:avLst/>
            </a:prstTxWarp>
          </a:bodyPr>
          <a:lstStyle/>
          <a:p>
            <a:pPr lvl="0"/>
            <a:r>
              <a:rPr lang="en-US"/>
              <a:t>Slide Title</a:t>
            </a:r>
          </a:p>
        </p:txBody>
      </p:sp>
      <p:sp>
        <p:nvSpPr>
          <p:cNvPr id="4099" name="Rectangle 3"/>
          <p:cNvSpPr>
            <a:spLocks noChangeArrowheads="1"/>
          </p:cNvSpPr>
          <p:nvPr/>
        </p:nvSpPr>
        <p:spPr bwMode="auto">
          <a:xfrm>
            <a:off x="0" y="0"/>
            <a:ext cx="12192000" cy="177800"/>
          </a:xfrm>
          <a:prstGeom prst="rect">
            <a:avLst/>
          </a:prstGeom>
          <a:solidFill>
            <a:srgbClr val="015F85"/>
          </a:solidFill>
          <a:ln w="25400" algn="ctr">
            <a:noFill/>
            <a:miter lim="800000"/>
            <a:headEnd/>
            <a:tailEnd/>
          </a:ln>
          <a:effectLst/>
        </p:spPr>
        <p:txBody>
          <a:bodyPr wrap="none" anchor="ctr"/>
          <a:lstStyle/>
          <a:p>
            <a:pPr>
              <a:defRPr/>
            </a:pPr>
            <a:endParaRPr lang="en-US" sz="2400">
              <a:latin typeface="Arial" charset="0"/>
            </a:endParaRPr>
          </a:p>
        </p:txBody>
      </p:sp>
      <p:sp>
        <p:nvSpPr>
          <p:cNvPr id="1030" name="Rectangle 6"/>
          <p:cNvSpPr>
            <a:spLocks noGrp="1" noChangeArrowheads="1"/>
          </p:cNvSpPr>
          <p:nvPr>
            <p:ph type="body" idx="1"/>
          </p:nvPr>
        </p:nvSpPr>
        <p:spPr bwMode="auto">
          <a:xfrm>
            <a:off x="874185" y="1781176"/>
            <a:ext cx="10587567" cy="3571875"/>
          </a:xfrm>
          <a:prstGeom prst="rect">
            <a:avLst/>
          </a:prstGeom>
          <a:noFill/>
          <a:ln w="9525">
            <a:noFill/>
            <a:miter lim="800000"/>
            <a:headEnd/>
            <a:tailEnd/>
          </a:ln>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charset="0"/>
        </a:defRPr>
      </a:lvl2pPr>
      <a:lvl3pPr algn="l" defTabSz="814388" rtl="0" eaLnBrk="0" fontAlgn="base" hangingPunct="0">
        <a:lnSpc>
          <a:spcPct val="90000"/>
        </a:lnSpc>
        <a:spcBef>
          <a:spcPct val="0"/>
        </a:spcBef>
        <a:spcAft>
          <a:spcPct val="0"/>
        </a:spcAft>
        <a:defRPr sz="3200" b="1">
          <a:solidFill>
            <a:schemeClr val="tx2"/>
          </a:solidFill>
          <a:latin typeface="Arial" charset="0"/>
        </a:defRPr>
      </a:lvl3pPr>
      <a:lvl4pPr algn="l" defTabSz="814388" rtl="0" eaLnBrk="0" fontAlgn="base" hangingPunct="0">
        <a:lnSpc>
          <a:spcPct val="90000"/>
        </a:lnSpc>
        <a:spcBef>
          <a:spcPct val="0"/>
        </a:spcBef>
        <a:spcAft>
          <a:spcPct val="0"/>
        </a:spcAft>
        <a:defRPr sz="3200" b="1">
          <a:solidFill>
            <a:schemeClr val="tx2"/>
          </a:solidFill>
          <a:latin typeface="Arial" charset="0"/>
        </a:defRPr>
      </a:lvl4pPr>
      <a:lvl5pPr algn="l" defTabSz="814388" rtl="0" eaLnBrk="0" fontAlgn="base" hangingPunct="0">
        <a:lnSpc>
          <a:spcPct val="90000"/>
        </a:lnSpc>
        <a:spcBef>
          <a:spcPct val="0"/>
        </a:spcBef>
        <a:spcAft>
          <a:spcPct val="0"/>
        </a:spcAft>
        <a:defRPr sz="3200" b="1">
          <a:solidFill>
            <a:schemeClr val="tx2"/>
          </a:solidFill>
          <a:latin typeface="Arial" charset="0"/>
        </a:defRPr>
      </a:lvl5pPr>
      <a:lvl6pPr marL="457200" algn="l" defTabSz="814388" rtl="0" fontAlgn="base">
        <a:lnSpc>
          <a:spcPct val="90000"/>
        </a:lnSpc>
        <a:spcBef>
          <a:spcPct val="0"/>
        </a:spcBef>
        <a:spcAft>
          <a:spcPct val="0"/>
        </a:spcAft>
        <a:defRPr sz="3200" b="1">
          <a:solidFill>
            <a:schemeClr val="tx2"/>
          </a:solidFill>
          <a:latin typeface="Arial" charset="0"/>
        </a:defRPr>
      </a:lvl6pPr>
      <a:lvl7pPr marL="914400" algn="l" defTabSz="814388" rtl="0" fontAlgn="base">
        <a:lnSpc>
          <a:spcPct val="90000"/>
        </a:lnSpc>
        <a:spcBef>
          <a:spcPct val="0"/>
        </a:spcBef>
        <a:spcAft>
          <a:spcPct val="0"/>
        </a:spcAft>
        <a:defRPr sz="3200" b="1">
          <a:solidFill>
            <a:schemeClr val="tx2"/>
          </a:solidFill>
          <a:latin typeface="Arial" charset="0"/>
        </a:defRPr>
      </a:lvl7pPr>
      <a:lvl8pPr marL="1371600" algn="l" defTabSz="814388" rtl="0" fontAlgn="base">
        <a:lnSpc>
          <a:spcPct val="90000"/>
        </a:lnSpc>
        <a:spcBef>
          <a:spcPct val="0"/>
        </a:spcBef>
        <a:spcAft>
          <a:spcPct val="0"/>
        </a:spcAft>
        <a:defRPr sz="3200" b="1">
          <a:solidFill>
            <a:schemeClr val="tx2"/>
          </a:solidFill>
          <a:latin typeface="Arial" charset="0"/>
        </a:defRPr>
      </a:lvl8pPr>
      <a:lvl9pPr marL="1828800" algn="l" defTabSz="814388" rtl="0" fontAlgn="base">
        <a:lnSpc>
          <a:spcPct val="90000"/>
        </a:lnSpc>
        <a:spcBef>
          <a:spcPct val="0"/>
        </a:spcBef>
        <a:spcAft>
          <a:spcPct val="0"/>
        </a:spcAft>
        <a:defRPr sz="3200" b="1">
          <a:solidFill>
            <a:schemeClr val="tx2"/>
          </a:solidFill>
          <a:latin typeface="Arial" charset="0"/>
        </a:defRPr>
      </a:lvl9pPr>
    </p:titleStyle>
    <p:bodyStyle>
      <a:lvl1pPr marL="236538" indent="-236538" algn="l" defTabSz="814388" rtl="0" eaLnBrk="0" fontAlgn="base" hangingPunct="0">
        <a:lnSpc>
          <a:spcPct val="95000"/>
        </a:lnSpc>
        <a:spcBef>
          <a:spcPct val="50000"/>
        </a:spcBef>
        <a:spcAft>
          <a:spcPct val="0"/>
        </a:spcAft>
        <a:buClr>
          <a:schemeClr val="tx2"/>
        </a:buClr>
        <a:buSzPct val="100000"/>
        <a:buFont typeface="Wingdings" pitchFamily="1"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defRPr sz="2000">
          <a:solidFill>
            <a:schemeClr val="tx1"/>
          </a:solidFill>
          <a:latin typeface="+mn-lt"/>
          <a:ea typeface="ＭＳ Ｐゴシック" pitchFamily="1" charset="-128"/>
        </a:defRPr>
      </a:lvl2pPr>
      <a:lvl3pPr marL="914400" algn="l" defTabSz="814388" rtl="0" eaLnBrk="0" fontAlgn="base" hangingPunct="0">
        <a:lnSpc>
          <a:spcPct val="95000"/>
        </a:lnSpc>
        <a:spcBef>
          <a:spcPct val="35000"/>
        </a:spcBef>
        <a:spcAft>
          <a:spcPct val="0"/>
        </a:spcAft>
        <a:defRPr sz="2000">
          <a:solidFill>
            <a:schemeClr val="tx1"/>
          </a:solidFill>
          <a:latin typeface="+mn-lt"/>
          <a:ea typeface="ＭＳ Ｐゴシック" pitchFamily="1" charset="-128"/>
        </a:defRPr>
      </a:lvl3pPr>
      <a:lvl4pPr marL="1254125" indent="117475" algn="l" defTabSz="814388" rtl="0" eaLnBrk="0" fontAlgn="base" hangingPunct="0">
        <a:lnSpc>
          <a:spcPct val="95000"/>
        </a:lnSpc>
        <a:spcBef>
          <a:spcPct val="35000"/>
        </a:spcBef>
        <a:spcAft>
          <a:spcPct val="0"/>
        </a:spcAft>
        <a:defRPr sz="2000">
          <a:solidFill>
            <a:schemeClr val="tx1"/>
          </a:solidFill>
          <a:latin typeface="+mn-lt"/>
          <a:ea typeface="ＭＳ Ｐゴシック" pitchFamily="1" charset="-128"/>
        </a:defRPr>
      </a:lvl4pPr>
      <a:lvl5pPr marL="1604963" indent="223838" algn="l" defTabSz="814388" rtl="0" eaLnBrk="0" fontAlgn="base" hangingPunct="0">
        <a:lnSpc>
          <a:spcPct val="95000"/>
        </a:lnSpc>
        <a:spcBef>
          <a:spcPct val="35000"/>
        </a:spcBef>
        <a:spcAft>
          <a:spcPct val="0"/>
        </a:spcAft>
        <a:defRPr sz="2000">
          <a:solidFill>
            <a:schemeClr val="tx1"/>
          </a:solidFill>
          <a:latin typeface="+mn-lt"/>
          <a:ea typeface="ＭＳ Ｐゴシック" pitchFamily="1" charset="-128"/>
        </a:defRPr>
      </a:lvl5pPr>
      <a:lvl6pPr marL="2062163" algn="l" defTabSz="814388" rtl="0" eaLnBrk="0" fontAlgn="base" hangingPunct="0">
        <a:lnSpc>
          <a:spcPct val="95000"/>
        </a:lnSpc>
        <a:spcBef>
          <a:spcPct val="35000"/>
        </a:spcBef>
        <a:spcAft>
          <a:spcPct val="0"/>
        </a:spcAft>
        <a:defRPr sz="2000">
          <a:solidFill>
            <a:schemeClr val="tx1"/>
          </a:solidFill>
          <a:latin typeface="+mn-lt"/>
        </a:defRPr>
      </a:lvl6pPr>
      <a:lvl7pPr marL="2519363" algn="l" defTabSz="814388" rtl="0" eaLnBrk="0" fontAlgn="base" hangingPunct="0">
        <a:lnSpc>
          <a:spcPct val="95000"/>
        </a:lnSpc>
        <a:spcBef>
          <a:spcPct val="35000"/>
        </a:spcBef>
        <a:spcAft>
          <a:spcPct val="0"/>
        </a:spcAft>
        <a:defRPr sz="2000">
          <a:solidFill>
            <a:schemeClr val="tx1"/>
          </a:solidFill>
          <a:latin typeface="+mn-lt"/>
        </a:defRPr>
      </a:lvl7pPr>
      <a:lvl8pPr marL="2976563" algn="l" defTabSz="814388" rtl="0" eaLnBrk="0" fontAlgn="base" hangingPunct="0">
        <a:lnSpc>
          <a:spcPct val="95000"/>
        </a:lnSpc>
        <a:spcBef>
          <a:spcPct val="35000"/>
        </a:spcBef>
        <a:spcAft>
          <a:spcPct val="0"/>
        </a:spcAft>
        <a:defRPr sz="2000">
          <a:solidFill>
            <a:schemeClr val="tx1"/>
          </a:solidFill>
          <a:latin typeface="+mn-lt"/>
        </a:defRPr>
      </a:lvl8pPr>
      <a:lvl9pPr marL="3433763" algn="l" defTabSz="814388" rtl="0" eaLnBrk="0" fontAlgn="base" hangingPunct="0">
        <a:lnSpc>
          <a:spcPct val="95000"/>
        </a:lnSpc>
        <a:spcBef>
          <a:spcPct val="35000"/>
        </a:spcBef>
        <a:spcAft>
          <a:spcPct val="0"/>
        </a:spcAft>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70BD2E-7B2A-462D-B27F-DC60D627BFFA}" type="datetimeFigureOut">
              <a:rPr lang="en-US" smtClean="0"/>
              <a:t>5/5/2026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ED352B-9A66-4A8F-8BFF-12075D32D87C}" type="slidenum">
              <a:rPr lang="en-US" smtClean="0"/>
              <a:t>‹#›</a:t>
            </a:fld>
            <a:endParaRPr lang="en-US"/>
          </a:p>
        </p:txBody>
      </p:sp>
    </p:spTree>
    <p:extLst>
      <p:ext uri="{BB962C8B-B14F-4D97-AF65-F5344CB8AC3E}">
        <p14:creationId xmlns:p14="http://schemas.microsoft.com/office/powerpoint/2010/main" val="165485857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hyperlink" Target="http%3A%2F%2Fwww.cisco.com%2Funivercd%2Fcc%2Ftd%2Fdoc%2Fproduct%2Fsoftware%2Fios122%2F122cgcr%2Ffqos_c%2Ffqcprt8%2Fqcfmdcli.htm" TargetMode="External"/><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hyperlink" Target="http%3A%2F%2Fwww.cisco.com%2Funivercd%2Fcc%2Ftd%2Fdoc%2Fproduct%2Fsoftware%2Fios122%2F122cgcr%2Ffqos_c%2Ffqcprt1%2Fqcfclass.htm%2523xtocid2010224" TargetMode="External"/><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hyperlink" Target="http%3A%2F%2Fwww.cisco.com%2Fen%2FUS%2Fproducts%2Fsw%2Fiosswrel%2Fps5187%2Fproducts_command_reference_chapter09186a008017cf0e.html%25231112789" TargetMode="External"/><Relationship Id="rId5" Type="http://schemas.openxmlformats.org/officeDocument/2006/relationships/image" Target="../media/image16.wmf"/><Relationship Id="rId4" Type="http://schemas.openxmlformats.org/officeDocument/2006/relationships/image" Target="../media/image15.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hyperlink" Target="http%3A%2F%2Fwww.cisco.com%2Funivercd%2Fcc%2Ftd%2Fdoc%2Fproduct%2Fsoftware%2Fios122%2F122newft%2F122t%2F122t2%2Fftqosvpn.htm" TargetMode="External"/><Relationship Id="rId2" Type="http://schemas.openxmlformats.org/officeDocument/2006/relationships/hyperlink" Target="http%3A%2F%2Fwww.cisco.com%2Fwarp%2Fcustomer%2F105%2Fqostunnel.html" TargetMode="Externa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hyperlink" Target="http%3A%2F%2Fwww.cisco.com%2Fen%2FUS%2Fpartner%2Ftech%2Ftk39%2Ftk48%2Ftechnologies_tech_note09186a00800fe2c1.shtml%2523understand" TargetMode="External"/><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57.xml"/><Relationship Id="rId1" Type="http://schemas.openxmlformats.org/officeDocument/2006/relationships/slideLayout" Target="../slideLayouts/slideLayout13.xml"/><Relationship Id="rId5" Type="http://schemas.openxmlformats.org/officeDocument/2006/relationships/image" Target="../media/image19.wmf"/><Relationship Id="rId4" Type="http://schemas.openxmlformats.org/officeDocument/2006/relationships/image" Target="../media/image18.wmf"/></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263352" y="476672"/>
            <a:ext cx="1485476" cy="946757"/>
          </a:xfrm>
          <a:prstGeom prst="rect">
            <a:avLst/>
          </a:prstGeom>
        </p:spPr>
      </p:pic>
      <p:pic>
        <p:nvPicPr>
          <p:cNvPr id="30" name="Picture 29"/>
          <p:cNvPicPr>
            <a:picLocks noChangeAspect="1"/>
          </p:cNvPicPr>
          <p:nvPr/>
        </p:nvPicPr>
        <p:blipFill rotWithShape="1">
          <a:blip r:embed="rId4"/>
          <a:srcRect l="8646" t="12924" r="16013" b="9596"/>
          <a:stretch/>
        </p:blipFill>
        <p:spPr>
          <a:xfrm>
            <a:off x="490305" y="1773405"/>
            <a:ext cx="907401" cy="933163"/>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587377" y="2243132"/>
            <a:ext cx="764069" cy="242958"/>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458188" y="1262504"/>
            <a:ext cx="1422052" cy="15999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586762" y="1003247"/>
            <a:ext cx="732725" cy="276964"/>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552044" y="984191"/>
            <a:ext cx="252370" cy="128636"/>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581118" y="1007094"/>
            <a:ext cx="274351" cy="93913"/>
          </a:xfrm>
          <a:prstGeom prst="rect">
            <a:avLst/>
          </a:prstGeom>
        </p:spPr>
        <p:txBody>
          <a:bodyPr vert="horz" lIns="60960" tIns="30480" rIns="60960" bIns="3048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67" dirty="0">
                <a:solidFill>
                  <a:srgbClr val="7030A0"/>
                </a:solidFill>
              </a:rPr>
              <a:t>PDS</a:t>
            </a:r>
          </a:p>
        </p:txBody>
      </p:sp>
      <p:pic>
        <p:nvPicPr>
          <p:cNvPr id="18" name="Picture 17"/>
          <p:cNvPicPr>
            <a:picLocks noChangeAspect="1"/>
          </p:cNvPicPr>
          <p:nvPr/>
        </p:nvPicPr>
        <p:blipFill>
          <a:blip r:embed="rId7"/>
          <a:stretch>
            <a:fillRect/>
          </a:stretch>
        </p:blipFill>
        <p:spPr>
          <a:xfrm>
            <a:off x="1345904" y="1091486"/>
            <a:ext cx="146662" cy="209056"/>
          </a:xfrm>
          <a:prstGeom prst="rect">
            <a:avLst/>
          </a:prstGeom>
        </p:spPr>
      </p:pic>
      <p:pic>
        <p:nvPicPr>
          <p:cNvPr id="19" name="Picture 18"/>
          <p:cNvPicPr>
            <a:picLocks noChangeAspect="1"/>
          </p:cNvPicPr>
          <p:nvPr/>
        </p:nvPicPr>
        <p:blipFill>
          <a:blip r:embed="rId8"/>
          <a:stretch>
            <a:fillRect/>
          </a:stretch>
        </p:blipFill>
        <p:spPr>
          <a:xfrm>
            <a:off x="925358" y="1075135"/>
            <a:ext cx="201668" cy="191584"/>
          </a:xfrm>
          <a:prstGeom prst="rect">
            <a:avLst/>
          </a:prstGeom>
        </p:spPr>
      </p:pic>
      <p:pic>
        <p:nvPicPr>
          <p:cNvPr id="20" name="Picture 19"/>
          <p:cNvPicPr>
            <a:picLocks noChangeAspect="1"/>
          </p:cNvPicPr>
          <p:nvPr/>
        </p:nvPicPr>
        <p:blipFill>
          <a:blip r:embed="rId9"/>
          <a:stretch>
            <a:fillRect/>
          </a:stretch>
        </p:blipFill>
        <p:spPr>
          <a:xfrm>
            <a:off x="730072" y="1099853"/>
            <a:ext cx="197154" cy="189886"/>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422346" y="1157189"/>
            <a:ext cx="1378085" cy="195838"/>
          </a:xfrm>
          <a:prstGeom prst="rect">
            <a:avLst/>
          </a:prstGeom>
        </p:spPr>
        <p:txBody>
          <a:bodyPr vert="horz" lIns="60960" tIns="30480" rIns="60960" bIns="3048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400" dirty="0">
                <a:solidFill>
                  <a:schemeClr val="accent1">
                    <a:lumMod val="75000"/>
                  </a:schemeClr>
                </a:solidFill>
              </a:rPr>
              <a:t>Computer </a:t>
            </a:r>
            <a:r>
              <a:rPr lang="en-US" sz="1400" dirty="0">
                <a:solidFill>
                  <a:srgbClr val="00B0F0"/>
                </a:solidFill>
              </a:rPr>
              <a:t>Vision</a:t>
            </a:r>
          </a:p>
        </p:txBody>
      </p:sp>
      <p:sp>
        <p:nvSpPr>
          <p:cNvPr id="28" name="Title 1"/>
          <p:cNvSpPr txBox="1">
            <a:spLocks/>
          </p:cNvSpPr>
          <p:nvPr/>
        </p:nvSpPr>
        <p:spPr>
          <a:xfrm>
            <a:off x="6326868" y="4115707"/>
            <a:ext cx="2869324" cy="338401"/>
          </a:xfrm>
          <a:prstGeom prst="rect">
            <a:avLst/>
          </a:prstGeom>
        </p:spPr>
        <p:txBody>
          <a:bodyPr vert="horz" lIns="60960" tIns="30480" rIns="60960" bIns="3048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1" dirty="0">
                <a:solidFill>
                  <a:schemeClr val="bg1">
                    <a:lumMod val="75000"/>
                  </a:schemeClr>
                </a:solidFill>
              </a:rPr>
              <a:t>@ P. </a:t>
            </a:r>
            <a:r>
              <a:rPr lang="en-US" sz="1600" b="1" dirty="0" err="1">
                <a:solidFill>
                  <a:schemeClr val="bg1">
                    <a:lumMod val="75000"/>
                  </a:schemeClr>
                </a:solidFill>
              </a:rPr>
              <a:t>Siagian</a:t>
            </a:r>
            <a:endParaRPr lang="en-US" sz="1600" b="1" dirty="0">
              <a:solidFill>
                <a:schemeClr val="bg1">
                  <a:lumMod val="75000"/>
                </a:schemeClr>
              </a:solidFill>
            </a:endParaRPr>
          </a:p>
        </p:txBody>
      </p:sp>
      <p:sp>
        <p:nvSpPr>
          <p:cNvPr id="24" name="Rectangle 23"/>
          <p:cNvSpPr/>
          <p:nvPr/>
        </p:nvSpPr>
        <p:spPr>
          <a:xfrm>
            <a:off x="10107809" y="5837131"/>
            <a:ext cx="1865873" cy="175433"/>
          </a:xfrm>
          <a:prstGeom prst="rect">
            <a:avLst/>
          </a:prstGeom>
        </p:spPr>
        <p:txBody>
          <a:bodyPr wrap="square">
            <a:spAutoFit/>
          </a:bodyPr>
          <a:lstStyle/>
          <a:p>
            <a:r>
              <a:rPr lang="en-US" sz="600" dirty="0"/>
              <a:t>https://www.youtube.com/@AmelOline/videos</a:t>
            </a:r>
          </a:p>
        </p:txBody>
      </p:sp>
      <p:sp>
        <p:nvSpPr>
          <p:cNvPr id="25" name="Rectangle 24"/>
          <p:cNvSpPr/>
          <p:nvPr/>
        </p:nvSpPr>
        <p:spPr>
          <a:xfrm>
            <a:off x="10699706" y="5733256"/>
            <a:ext cx="1158923" cy="175433"/>
          </a:xfrm>
          <a:prstGeom prst="rect">
            <a:avLst/>
          </a:prstGeom>
        </p:spPr>
        <p:txBody>
          <a:bodyPr wrap="square">
            <a:spAutoFit/>
          </a:bodyPr>
          <a:lstStyle/>
          <a:p>
            <a:r>
              <a:rPr lang="en-US" sz="600" dirty="0"/>
              <a:t>https://github.com/siagianp</a:t>
            </a:r>
          </a:p>
        </p:txBody>
      </p:sp>
      <p:sp>
        <p:nvSpPr>
          <p:cNvPr id="26" name="Rectangle 25"/>
          <p:cNvSpPr/>
          <p:nvPr/>
        </p:nvSpPr>
        <p:spPr>
          <a:xfrm>
            <a:off x="9413579" y="5941006"/>
            <a:ext cx="2617882" cy="175433"/>
          </a:xfrm>
          <a:prstGeom prst="rect">
            <a:avLst/>
          </a:prstGeom>
        </p:spPr>
        <p:txBody>
          <a:bodyPr wrap="square">
            <a:spAutoFit/>
          </a:bodyPr>
          <a:lstStyle/>
          <a:p>
            <a:r>
              <a:rPr lang="en-US" sz="600" dirty="0"/>
              <a:t>https://github.com/amelcharolinesgn2/IoT_simulator-mqtt-NodeRed</a:t>
            </a:r>
          </a:p>
        </p:txBody>
      </p:sp>
      <p:sp>
        <p:nvSpPr>
          <p:cNvPr id="27" name="Rectangle 26"/>
          <p:cNvSpPr/>
          <p:nvPr/>
        </p:nvSpPr>
        <p:spPr>
          <a:xfrm>
            <a:off x="9719610" y="6044879"/>
            <a:ext cx="2453100" cy="175433"/>
          </a:xfrm>
          <a:prstGeom prst="rect">
            <a:avLst/>
          </a:prstGeom>
        </p:spPr>
        <p:txBody>
          <a:bodyPr wrap="square">
            <a:spAutoFit/>
          </a:bodyPr>
          <a:lstStyle/>
          <a:p>
            <a:r>
              <a:rPr lang="en-US" sz="600" dirty="0"/>
              <a:t>https://github.com/amelcharolinesgn2/Cloud-Infrastructures</a:t>
            </a:r>
          </a:p>
        </p:txBody>
      </p:sp>
      <p:sp>
        <p:nvSpPr>
          <p:cNvPr id="29" name="Rectangle 28"/>
          <p:cNvSpPr/>
          <p:nvPr/>
        </p:nvSpPr>
        <p:spPr>
          <a:xfrm>
            <a:off x="9341228" y="6131440"/>
            <a:ext cx="2850772" cy="175433"/>
          </a:xfrm>
          <a:prstGeom prst="rect">
            <a:avLst/>
          </a:prstGeom>
        </p:spPr>
        <p:txBody>
          <a:bodyPr wrap="square">
            <a:spAutoFit/>
          </a:bodyPr>
          <a:lstStyle/>
          <a:p>
            <a:r>
              <a:rPr lang="en-US" sz="600" dirty="0"/>
              <a:t>https://github.com/amelcharolinesgn2/ClouD-Infrastructure-SISKA-2025</a:t>
            </a:r>
          </a:p>
        </p:txBody>
      </p:sp>
      <p:sp>
        <p:nvSpPr>
          <p:cNvPr id="32" name="Rectangle 31"/>
          <p:cNvSpPr/>
          <p:nvPr/>
        </p:nvSpPr>
        <p:spPr>
          <a:xfrm>
            <a:off x="9199979" y="6229580"/>
            <a:ext cx="2831483" cy="175433"/>
          </a:xfrm>
          <a:prstGeom prst="rect">
            <a:avLst/>
          </a:prstGeom>
        </p:spPr>
        <p:txBody>
          <a:bodyPr wrap="square">
            <a:spAutoFit/>
          </a:bodyPr>
          <a:lstStyle/>
          <a:p>
            <a:r>
              <a:rPr lang="en-US" sz="600" dirty="0"/>
              <a:t>https://github.com/amelcharolinesgn2/Gyroscope-Sensor-Data-Accelerometer</a:t>
            </a:r>
          </a:p>
        </p:txBody>
      </p:sp>
      <p:sp>
        <p:nvSpPr>
          <p:cNvPr id="33" name="Rectangle 2"/>
          <p:cNvSpPr txBox="1">
            <a:spLocks noChangeArrowheads="1"/>
          </p:cNvSpPr>
          <p:nvPr/>
        </p:nvSpPr>
        <p:spPr>
          <a:xfrm>
            <a:off x="4295800" y="1255031"/>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smtClean="0"/>
              <a:t>Cisco </a:t>
            </a:r>
            <a:br>
              <a:rPr lang="en-US" smtClean="0"/>
            </a:br>
            <a:r>
              <a:rPr lang="en-US" smtClean="0"/>
              <a:t>Quality of Service</a:t>
            </a:r>
            <a:endParaRPr lang="en-US" dirty="0" smtClean="0"/>
          </a:p>
        </p:txBody>
      </p:sp>
      <p:pic>
        <p:nvPicPr>
          <p:cNvPr id="34" name="Picture 11" descr="Bob-the-bouncer"/>
          <p:cNvPicPr>
            <a:picLocks noChangeAspect="1" noChangeArrowheads="1"/>
          </p:cNvPicPr>
          <p:nvPr/>
        </p:nvPicPr>
        <p:blipFill>
          <a:blip r:embed="rId10"/>
          <a:srcRect/>
          <a:stretch>
            <a:fillRect/>
          </a:stretch>
        </p:blipFill>
        <p:spPr bwMode="auto">
          <a:xfrm>
            <a:off x="5735960" y="3373814"/>
            <a:ext cx="1566862" cy="2160587"/>
          </a:xfrm>
          <a:prstGeom prst="rect">
            <a:avLst/>
          </a:prstGeom>
          <a:noFill/>
          <a:ln w="9525">
            <a:noFill/>
            <a:miter lim="800000"/>
            <a:headEnd/>
            <a:tailEnd/>
          </a:ln>
        </p:spPr>
      </p:pic>
    </p:spTree>
    <p:extLst>
      <p:ext uri="{BB962C8B-B14F-4D97-AF65-F5344CB8AC3E}">
        <p14:creationId xmlns:p14="http://schemas.microsoft.com/office/powerpoint/2010/main" val="302299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circle(out)">
                                      <p:cBhvr>
                                        <p:cTn id="7"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shapingvspolicing"/>
          <p:cNvPicPr>
            <a:picLocks noChangeAspect="1" noChangeArrowheads="1"/>
          </p:cNvPicPr>
          <p:nvPr/>
        </p:nvPicPr>
        <p:blipFill>
          <a:blip r:embed="rId3"/>
          <a:srcRect/>
          <a:stretch>
            <a:fillRect/>
          </a:stretch>
        </p:blipFill>
        <p:spPr bwMode="auto">
          <a:xfrm>
            <a:off x="5808664" y="2420938"/>
            <a:ext cx="4535487" cy="3402012"/>
          </a:xfrm>
          <a:prstGeom prst="rect">
            <a:avLst/>
          </a:prstGeom>
          <a:noFill/>
          <a:ln w="9525">
            <a:noFill/>
            <a:miter lim="800000"/>
            <a:headEnd/>
            <a:tailEnd/>
          </a:ln>
        </p:spPr>
      </p:pic>
      <p:sp>
        <p:nvSpPr>
          <p:cNvPr id="16387" name="Rectangle 3"/>
          <p:cNvSpPr>
            <a:spLocks noGrp="1" noChangeArrowheads="1"/>
          </p:cNvSpPr>
          <p:nvPr>
            <p:ph type="title"/>
          </p:nvPr>
        </p:nvSpPr>
        <p:spPr/>
        <p:txBody>
          <a:bodyPr/>
          <a:lstStyle/>
          <a:p>
            <a:pPr eaLnBrk="1" hangingPunct="1"/>
            <a:r>
              <a:rPr lang="en-US"/>
              <a:t>What is Quality of Service</a:t>
            </a:r>
          </a:p>
        </p:txBody>
      </p:sp>
      <p:sp>
        <p:nvSpPr>
          <p:cNvPr id="16388" name="Rectangle 4"/>
          <p:cNvSpPr>
            <a:spLocks noGrp="1" noChangeArrowheads="1"/>
          </p:cNvSpPr>
          <p:nvPr>
            <p:ph idx="1"/>
          </p:nvPr>
        </p:nvSpPr>
        <p:spPr>
          <a:xfrm>
            <a:off x="2135189" y="1341438"/>
            <a:ext cx="7940675" cy="5516562"/>
          </a:xfrm>
        </p:spPr>
        <p:txBody>
          <a:bodyPr/>
          <a:lstStyle/>
          <a:p>
            <a:r>
              <a:rPr lang="en-US"/>
              <a:t>Quality of service is the key term to represent the </a:t>
            </a:r>
            <a:r>
              <a:rPr lang="en-US">
                <a:solidFill>
                  <a:schemeClr val="folHlink"/>
                </a:solidFill>
              </a:rPr>
              <a:t>set of requirements</a:t>
            </a:r>
            <a:r>
              <a:rPr lang="en-US"/>
              <a:t> which a user (person or software component) wants to impose to his traffic.</a:t>
            </a:r>
          </a:p>
          <a:p>
            <a:pPr>
              <a:buFont typeface="Wingdings" pitchFamily="1" charset="2"/>
              <a:buNone/>
            </a:pPr>
            <a:endParaRPr lang="en-US"/>
          </a:p>
          <a:p>
            <a:pPr>
              <a:buFont typeface="Wingdings" pitchFamily="1" charset="2"/>
              <a:buNone/>
            </a:pPr>
            <a:endParaRPr lang="en-US"/>
          </a:p>
          <a:p>
            <a:pPr>
              <a:buFont typeface="Wingdings" pitchFamily="1" charset="2"/>
              <a:buNone/>
            </a:pPr>
            <a:endParaRPr lang="en-US"/>
          </a:p>
          <a:p>
            <a:pPr>
              <a:buFont typeface="Wingdings" pitchFamily="1" charset="2"/>
              <a:buNone/>
            </a:pPr>
            <a:endParaRPr lang="en-US"/>
          </a:p>
          <a:p>
            <a:pPr>
              <a:buFont typeface="Wingdings" pitchFamily="1" charset="2"/>
              <a:buNone/>
            </a:pPr>
            <a:endParaRPr lang="en-US"/>
          </a:p>
          <a:p>
            <a:pPr>
              <a:buFont typeface="Wingdings" pitchFamily="1" charset="2"/>
              <a:buNone/>
            </a:pPr>
            <a:endParaRPr lang="en-US"/>
          </a:p>
          <a:p>
            <a:r>
              <a:rPr lang="en-US"/>
              <a:t>Multiple mechanisms are available to fulfill these requirements.</a:t>
            </a:r>
          </a:p>
        </p:txBody>
      </p:sp>
      <p:sp>
        <p:nvSpPr>
          <p:cNvPr id="16389" name="Rectangle 5"/>
          <p:cNvSpPr>
            <a:spLocks noChangeArrowheads="1"/>
          </p:cNvSpPr>
          <p:nvPr/>
        </p:nvSpPr>
        <p:spPr bwMode="auto">
          <a:xfrm>
            <a:off x="3672274" y="3149902"/>
            <a:ext cx="165917" cy="415323"/>
          </a:xfrm>
          <a:prstGeom prst="rect">
            <a:avLst/>
          </a:prstGeom>
          <a:solidFill>
            <a:schemeClr val="folHlink"/>
          </a:solidFill>
          <a:ln w="9525">
            <a:solidFill>
              <a:schemeClr val="tx1"/>
            </a:solidFill>
            <a:miter lim="800000"/>
            <a:headEnd/>
            <a:tailEnd/>
          </a:ln>
        </p:spPr>
        <p:txBody>
          <a:bodyPr wrap="none" lIns="82124" tIns="41061" rIns="82124" bIns="41061" anchor="ctr">
            <a:prstTxWarp prst="textNoShape">
              <a:avLst/>
            </a:prstTxWarp>
            <a:spAutoFit/>
          </a:bodyPr>
          <a:lstStyle/>
          <a:p>
            <a:endParaRPr lang="en-US"/>
          </a:p>
        </p:txBody>
      </p:sp>
      <p:sp>
        <p:nvSpPr>
          <p:cNvPr id="16390" name="Rectangle 6"/>
          <p:cNvSpPr>
            <a:spLocks noChangeArrowheads="1"/>
          </p:cNvSpPr>
          <p:nvPr/>
        </p:nvSpPr>
        <p:spPr bwMode="auto">
          <a:xfrm>
            <a:off x="3359151" y="3653140"/>
            <a:ext cx="1800225" cy="415323"/>
          </a:xfrm>
          <a:prstGeom prst="rect">
            <a:avLst/>
          </a:prstGeom>
          <a:solidFill>
            <a:schemeClr val="accent1"/>
          </a:solidFill>
          <a:ln w="9525">
            <a:solidFill>
              <a:schemeClr val="tx1"/>
            </a:solidFill>
            <a:miter lim="800000"/>
            <a:headEnd/>
            <a:tailEnd/>
          </a:ln>
        </p:spPr>
        <p:txBody>
          <a:bodyPr lIns="82124" tIns="41061" rIns="82124" bIns="41061" anchor="ctr">
            <a:prstTxWarp prst="textNoShape">
              <a:avLst/>
            </a:prstTxWarp>
            <a:spAutoFit/>
          </a:bodyPr>
          <a:lstStyle/>
          <a:p>
            <a:endParaRPr lang="en-US"/>
          </a:p>
        </p:txBody>
      </p:sp>
      <p:sp>
        <p:nvSpPr>
          <p:cNvPr id="16391" name="Rectangle 7"/>
          <p:cNvSpPr>
            <a:spLocks noChangeArrowheads="1"/>
          </p:cNvSpPr>
          <p:nvPr/>
        </p:nvSpPr>
        <p:spPr bwMode="auto">
          <a:xfrm>
            <a:off x="2927351" y="4157965"/>
            <a:ext cx="2232025" cy="415323"/>
          </a:xfrm>
          <a:prstGeom prst="rect">
            <a:avLst/>
          </a:prstGeom>
          <a:solidFill>
            <a:schemeClr val="tx2"/>
          </a:solidFill>
          <a:ln w="9525">
            <a:solidFill>
              <a:schemeClr val="tx1"/>
            </a:solidFill>
            <a:miter lim="800000"/>
            <a:headEnd/>
            <a:tailEnd/>
          </a:ln>
        </p:spPr>
        <p:txBody>
          <a:bodyPr lIns="82124" tIns="41061" rIns="82124" bIns="41061" anchor="ctr">
            <a:prstTxWarp prst="textNoShape">
              <a:avLst/>
            </a:prstTxWarp>
            <a:spAutoFit/>
          </a:bodyPr>
          <a:lstStyle/>
          <a:p>
            <a:endParaRPr lang="en-US"/>
          </a:p>
        </p:txBody>
      </p:sp>
      <p:sp>
        <p:nvSpPr>
          <p:cNvPr id="16392" name="Rectangle 8"/>
          <p:cNvSpPr>
            <a:spLocks noChangeArrowheads="1"/>
          </p:cNvSpPr>
          <p:nvPr/>
        </p:nvSpPr>
        <p:spPr bwMode="auto">
          <a:xfrm>
            <a:off x="4008439" y="4662790"/>
            <a:ext cx="1150937" cy="415323"/>
          </a:xfrm>
          <a:prstGeom prst="rect">
            <a:avLst/>
          </a:prstGeom>
          <a:solidFill>
            <a:schemeClr val="accent2"/>
          </a:solidFill>
          <a:ln w="9525">
            <a:solidFill>
              <a:schemeClr val="tx1"/>
            </a:solidFill>
            <a:miter lim="800000"/>
            <a:headEnd/>
            <a:tailEnd/>
          </a:ln>
        </p:spPr>
        <p:txBody>
          <a:bodyPr lIns="82124" tIns="41061" rIns="82124" bIns="41061" anchor="ctr">
            <a:prstTxWarp prst="textNoShape">
              <a:avLst/>
            </a:prstTxWarp>
            <a:spAutoFit/>
          </a:bodyPr>
          <a:lstStyle/>
          <a:p>
            <a:endParaRPr lang="en-US"/>
          </a:p>
        </p:txBody>
      </p:sp>
      <p:sp>
        <p:nvSpPr>
          <p:cNvPr id="16393" name="AutoShape 9"/>
          <p:cNvSpPr>
            <a:spLocks noChangeArrowheads="1"/>
          </p:cNvSpPr>
          <p:nvPr/>
        </p:nvSpPr>
        <p:spPr bwMode="auto">
          <a:xfrm rot="5400000">
            <a:off x="4726782" y="3699908"/>
            <a:ext cx="1801812" cy="825022"/>
          </a:xfrm>
          <a:prstGeom prst="triangle">
            <a:avLst>
              <a:gd name="adj" fmla="val 50000"/>
            </a:avLst>
          </a:prstGeom>
          <a:solidFill>
            <a:schemeClr val="bg2"/>
          </a:solidFill>
          <a:ln w="9525">
            <a:solidFill>
              <a:schemeClr val="tx1"/>
            </a:solidFill>
            <a:miter lim="800000"/>
            <a:headEnd/>
            <a:tailEnd/>
          </a:ln>
        </p:spPr>
        <p:txBody>
          <a:bodyPr lIns="82124" tIns="41061" rIns="82124" bIns="41061" anchor="ctr">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t>Why do we need them ?</a:t>
            </a:r>
          </a:p>
        </p:txBody>
      </p:sp>
      <p:sp>
        <p:nvSpPr>
          <p:cNvPr id="18435" name="Rectangle 3"/>
          <p:cNvSpPr>
            <a:spLocks noGrp="1" noChangeArrowheads="1"/>
          </p:cNvSpPr>
          <p:nvPr>
            <p:ph idx="1"/>
          </p:nvPr>
        </p:nvSpPr>
        <p:spPr>
          <a:xfrm>
            <a:off x="2179639" y="1781176"/>
            <a:ext cx="7940675" cy="4168775"/>
          </a:xfrm>
        </p:spPr>
        <p:txBody>
          <a:bodyPr/>
          <a:lstStyle/>
          <a:p>
            <a:r>
              <a:rPr lang="en-US"/>
              <a:t>Together, they provide </a:t>
            </a:r>
            <a:r>
              <a:rPr lang="en-US">
                <a:solidFill>
                  <a:schemeClr val="folHlink"/>
                </a:solidFill>
              </a:rPr>
              <a:t>tools</a:t>
            </a:r>
            <a:r>
              <a:rPr lang="en-US"/>
              <a:t> that will allow us to define which action needs to be taken in case of </a:t>
            </a:r>
            <a:r>
              <a:rPr lang="en-US">
                <a:solidFill>
                  <a:schemeClr val="folHlink"/>
                </a:solidFill>
              </a:rPr>
              <a:t>congestion</a:t>
            </a:r>
            <a:r>
              <a:rPr lang="en-US"/>
              <a:t>.</a:t>
            </a:r>
          </a:p>
          <a:p>
            <a:endParaRPr lang="en-US"/>
          </a:p>
          <a:p>
            <a:r>
              <a:rPr lang="en-US"/>
              <a:t>Understanding where they fit, what they exactly do, and how they work together do is necessary to:</a:t>
            </a:r>
          </a:p>
          <a:p>
            <a:pPr lvl="1" indent="0"/>
            <a:r>
              <a:rPr lang="en-US"/>
              <a:t>Correctly design and deploy QoS</a:t>
            </a:r>
          </a:p>
          <a:p>
            <a:pPr lvl="1" indent="0"/>
            <a:r>
              <a:rPr lang="en-US"/>
              <a:t>Monitor its activity</a:t>
            </a:r>
          </a:p>
          <a:p>
            <a:pPr lvl="1" indent="0"/>
            <a:r>
              <a:rPr lang="en-US"/>
              <a:t>Troubleshoot potential issues</a:t>
            </a:r>
          </a:p>
          <a:p>
            <a:endParaRPr lang="en-US"/>
          </a:p>
          <a:p>
            <a:endParaRPr lang="en-US"/>
          </a:p>
          <a:p>
            <a:endParaRPr lang="en-US"/>
          </a:p>
          <a:p>
            <a:endParaRPr lang="en-US"/>
          </a:p>
          <a:p>
            <a:endParaRPr lang="en-US"/>
          </a:p>
          <a:p>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8353811" y="3725371"/>
            <a:ext cx="165917" cy="415323"/>
          </a:xfrm>
          <a:prstGeom prst="rect">
            <a:avLst/>
          </a:prstGeom>
          <a:solidFill>
            <a:srgbClr val="C0C0C0"/>
          </a:solidFill>
          <a:ln w="9525">
            <a:solidFill>
              <a:schemeClr val="tx1"/>
            </a:solidFill>
            <a:miter lim="800000"/>
            <a:headEnd/>
            <a:tailEnd/>
          </a:ln>
        </p:spPr>
        <p:txBody>
          <a:bodyPr wrap="none" lIns="82124" tIns="41061" rIns="82124" bIns="41061" anchor="ctr">
            <a:prstTxWarp prst="textNoShape">
              <a:avLst/>
            </a:prstTxWarp>
            <a:spAutoFit/>
          </a:bodyPr>
          <a:lstStyle/>
          <a:p>
            <a:endParaRPr lang="en-US"/>
          </a:p>
        </p:txBody>
      </p:sp>
      <p:sp>
        <p:nvSpPr>
          <p:cNvPr id="20483" name="Rectangle 3"/>
          <p:cNvSpPr>
            <a:spLocks noChangeArrowheads="1"/>
          </p:cNvSpPr>
          <p:nvPr/>
        </p:nvSpPr>
        <p:spPr bwMode="auto">
          <a:xfrm>
            <a:off x="6600826" y="3725371"/>
            <a:ext cx="792163" cy="415323"/>
          </a:xfrm>
          <a:prstGeom prst="rect">
            <a:avLst/>
          </a:prstGeom>
          <a:solidFill>
            <a:schemeClr val="bg1"/>
          </a:solidFill>
          <a:ln w="9525">
            <a:solidFill>
              <a:schemeClr val="tx1"/>
            </a:solidFill>
            <a:miter lim="800000"/>
            <a:headEnd/>
            <a:tailEnd/>
          </a:ln>
        </p:spPr>
        <p:txBody>
          <a:bodyPr lIns="82124" tIns="41061" rIns="82124" bIns="41061" anchor="ctr">
            <a:prstTxWarp prst="textNoShape">
              <a:avLst/>
            </a:prstTxWarp>
            <a:spAutoFit/>
          </a:bodyPr>
          <a:lstStyle/>
          <a:p>
            <a:endParaRPr lang="en-US"/>
          </a:p>
        </p:txBody>
      </p:sp>
      <p:sp>
        <p:nvSpPr>
          <p:cNvPr id="20484" name="Rectangle 4"/>
          <p:cNvSpPr>
            <a:spLocks noChangeArrowheads="1"/>
          </p:cNvSpPr>
          <p:nvPr/>
        </p:nvSpPr>
        <p:spPr bwMode="auto">
          <a:xfrm>
            <a:off x="2640013" y="2896696"/>
            <a:ext cx="1655762" cy="415323"/>
          </a:xfrm>
          <a:prstGeom prst="rect">
            <a:avLst/>
          </a:prstGeom>
          <a:noFill/>
          <a:ln w="19050">
            <a:solidFill>
              <a:schemeClr val="accent2"/>
            </a:solidFill>
            <a:miter lim="800000"/>
            <a:headEnd/>
            <a:tailEnd/>
          </a:ln>
        </p:spPr>
        <p:txBody>
          <a:bodyPr lIns="82124" tIns="41061" rIns="82124" bIns="41061" anchor="ctr">
            <a:prstTxWarp prst="textNoShape">
              <a:avLst/>
            </a:prstTxWarp>
            <a:spAutoFit/>
          </a:bodyPr>
          <a:lstStyle/>
          <a:p>
            <a:endParaRPr lang="en-US"/>
          </a:p>
        </p:txBody>
      </p:sp>
      <p:sp>
        <p:nvSpPr>
          <p:cNvPr id="20485" name="Rectangle 5"/>
          <p:cNvSpPr>
            <a:spLocks noChangeArrowheads="1"/>
          </p:cNvSpPr>
          <p:nvPr/>
        </p:nvSpPr>
        <p:spPr bwMode="auto">
          <a:xfrm>
            <a:off x="2135189" y="4625484"/>
            <a:ext cx="2160587" cy="415323"/>
          </a:xfrm>
          <a:prstGeom prst="rect">
            <a:avLst/>
          </a:prstGeom>
          <a:noFill/>
          <a:ln w="19050">
            <a:solidFill>
              <a:schemeClr val="tx1"/>
            </a:solidFill>
            <a:miter lim="800000"/>
            <a:headEnd/>
            <a:tailEnd/>
          </a:ln>
        </p:spPr>
        <p:txBody>
          <a:bodyPr lIns="82124" tIns="41061" rIns="82124" bIns="41061" anchor="ctr">
            <a:prstTxWarp prst="textNoShape">
              <a:avLst/>
            </a:prstTxWarp>
            <a:spAutoFit/>
          </a:bodyPr>
          <a:lstStyle/>
          <a:p>
            <a:endParaRPr lang="en-US"/>
          </a:p>
        </p:txBody>
      </p:sp>
      <p:sp>
        <p:nvSpPr>
          <p:cNvPr id="20486" name="Rectangle 6"/>
          <p:cNvSpPr>
            <a:spLocks noChangeArrowheads="1"/>
          </p:cNvSpPr>
          <p:nvPr/>
        </p:nvSpPr>
        <p:spPr bwMode="auto">
          <a:xfrm>
            <a:off x="1703389" y="3761884"/>
            <a:ext cx="2592387" cy="415323"/>
          </a:xfrm>
          <a:prstGeom prst="rect">
            <a:avLst/>
          </a:prstGeom>
          <a:noFill/>
          <a:ln w="19050">
            <a:solidFill>
              <a:srgbClr val="339966"/>
            </a:solidFill>
            <a:miter lim="800000"/>
            <a:headEnd/>
            <a:tailEnd/>
          </a:ln>
        </p:spPr>
        <p:txBody>
          <a:bodyPr lIns="82124" tIns="41061" rIns="82124" bIns="41061" anchor="ctr">
            <a:prstTxWarp prst="textNoShape">
              <a:avLst/>
            </a:prstTxWarp>
            <a:spAutoFit/>
          </a:bodyPr>
          <a:lstStyle/>
          <a:p>
            <a:endParaRPr lang="en-US"/>
          </a:p>
        </p:txBody>
      </p:sp>
      <p:sp>
        <p:nvSpPr>
          <p:cNvPr id="20487" name="Text Box 7"/>
          <p:cNvSpPr txBox="1">
            <a:spLocks noChangeArrowheads="1"/>
          </p:cNvSpPr>
          <p:nvPr/>
        </p:nvSpPr>
        <p:spPr bwMode="auto">
          <a:xfrm>
            <a:off x="6792969" y="2781301"/>
            <a:ext cx="404700" cy="2409715"/>
          </a:xfrm>
          <a:prstGeom prst="rect">
            <a:avLst/>
          </a:prstGeom>
          <a:noFill/>
          <a:ln w="9525">
            <a:noFill/>
            <a:miter lim="800000"/>
            <a:headEnd/>
            <a:tailEnd/>
          </a:ln>
        </p:spPr>
        <p:txBody>
          <a:bodyPr wrap="none" lIns="82124" tIns="41061" rIns="82124" bIns="41061">
            <a:prstTxWarp prst="textNoShape">
              <a:avLst/>
            </a:prstTxWarp>
            <a:spAutoFit/>
          </a:bodyPr>
          <a:lstStyle/>
          <a:p>
            <a:pPr defTabSz="814388"/>
            <a:r>
              <a:rPr lang="en-US"/>
              <a:t>T</a:t>
            </a:r>
          </a:p>
          <a:p>
            <a:pPr defTabSz="814388"/>
            <a:r>
              <a:rPr lang="en-US"/>
              <a:t>X</a:t>
            </a:r>
          </a:p>
          <a:p>
            <a:pPr defTabSz="814388"/>
            <a:endParaRPr lang="en-US"/>
          </a:p>
          <a:p>
            <a:pPr defTabSz="814388"/>
            <a:r>
              <a:rPr lang="en-US"/>
              <a:t>R</a:t>
            </a:r>
          </a:p>
          <a:p>
            <a:pPr defTabSz="814388"/>
            <a:r>
              <a:rPr lang="en-US"/>
              <a:t>I</a:t>
            </a:r>
          </a:p>
          <a:p>
            <a:pPr defTabSz="814388"/>
            <a:r>
              <a:rPr lang="en-US"/>
              <a:t>N</a:t>
            </a:r>
          </a:p>
          <a:p>
            <a:pPr defTabSz="814388"/>
            <a:r>
              <a:rPr lang="en-US"/>
              <a:t>G</a:t>
            </a:r>
          </a:p>
        </p:txBody>
      </p:sp>
      <p:sp>
        <p:nvSpPr>
          <p:cNvPr id="20488" name="Text Box 8"/>
          <p:cNvSpPr txBox="1">
            <a:spLocks noChangeArrowheads="1"/>
          </p:cNvSpPr>
          <p:nvPr/>
        </p:nvSpPr>
        <p:spPr bwMode="auto">
          <a:xfrm>
            <a:off x="8327763" y="3716339"/>
            <a:ext cx="799039" cy="415323"/>
          </a:xfrm>
          <a:prstGeom prst="rect">
            <a:avLst/>
          </a:prstGeom>
          <a:noFill/>
          <a:ln w="9525">
            <a:noFill/>
            <a:miter lim="800000"/>
            <a:headEnd/>
            <a:tailEnd/>
          </a:ln>
        </p:spPr>
        <p:txBody>
          <a:bodyPr wrap="none" lIns="82124" tIns="41061" rIns="82124" bIns="41061">
            <a:prstTxWarp prst="textNoShape">
              <a:avLst/>
            </a:prstTxWarp>
            <a:spAutoFit/>
          </a:bodyPr>
          <a:lstStyle/>
          <a:p>
            <a:pPr defTabSz="814388"/>
            <a:r>
              <a:rPr lang="en-US"/>
              <a:t>Wire</a:t>
            </a:r>
          </a:p>
        </p:txBody>
      </p:sp>
      <p:sp>
        <p:nvSpPr>
          <p:cNvPr id="20489" name="Text Box 9"/>
          <p:cNvSpPr txBox="1">
            <a:spLocks noChangeArrowheads="1"/>
          </p:cNvSpPr>
          <p:nvPr/>
        </p:nvSpPr>
        <p:spPr bwMode="auto">
          <a:xfrm>
            <a:off x="3163858" y="2924176"/>
            <a:ext cx="747743" cy="415323"/>
          </a:xfrm>
          <a:prstGeom prst="rect">
            <a:avLst/>
          </a:prstGeom>
          <a:noFill/>
          <a:ln w="9525">
            <a:noFill/>
            <a:miter lim="800000"/>
            <a:headEnd/>
            <a:tailEnd/>
          </a:ln>
        </p:spPr>
        <p:txBody>
          <a:bodyPr wrap="none" lIns="82124" tIns="41061" rIns="82124" bIns="41061">
            <a:prstTxWarp prst="textNoShape">
              <a:avLst/>
            </a:prstTxWarp>
            <a:spAutoFit/>
          </a:bodyPr>
          <a:lstStyle/>
          <a:p>
            <a:pPr algn="r" defTabSz="814388"/>
            <a:r>
              <a:rPr lang="en-US"/>
              <a:t>LLQ</a:t>
            </a:r>
          </a:p>
        </p:txBody>
      </p:sp>
      <p:sp>
        <p:nvSpPr>
          <p:cNvPr id="20490" name="Text Box 10"/>
          <p:cNvSpPr txBox="1">
            <a:spLocks noChangeArrowheads="1"/>
          </p:cNvSpPr>
          <p:nvPr/>
        </p:nvSpPr>
        <p:spPr bwMode="auto">
          <a:xfrm>
            <a:off x="2264326" y="3789364"/>
            <a:ext cx="1672675" cy="415323"/>
          </a:xfrm>
          <a:prstGeom prst="rect">
            <a:avLst/>
          </a:prstGeom>
          <a:noFill/>
          <a:ln w="9525">
            <a:noFill/>
            <a:miter lim="800000"/>
            <a:headEnd/>
            <a:tailEnd/>
          </a:ln>
        </p:spPr>
        <p:txBody>
          <a:bodyPr wrap="none" lIns="82124" tIns="41061" rIns="82124" bIns="41061">
            <a:prstTxWarp prst="textNoShape">
              <a:avLst/>
            </a:prstTxWarp>
            <a:spAutoFit/>
          </a:bodyPr>
          <a:lstStyle/>
          <a:p>
            <a:pPr algn="r" defTabSz="814388"/>
            <a:r>
              <a:rPr lang="en-US"/>
              <a:t>Class Gold</a:t>
            </a:r>
          </a:p>
        </p:txBody>
      </p:sp>
      <p:sp>
        <p:nvSpPr>
          <p:cNvPr id="20491" name="Text Box 11"/>
          <p:cNvSpPr txBox="1">
            <a:spLocks noChangeArrowheads="1"/>
          </p:cNvSpPr>
          <p:nvPr/>
        </p:nvSpPr>
        <p:spPr bwMode="auto">
          <a:xfrm>
            <a:off x="2118700" y="4652964"/>
            <a:ext cx="1792900" cy="415323"/>
          </a:xfrm>
          <a:prstGeom prst="rect">
            <a:avLst/>
          </a:prstGeom>
          <a:noFill/>
          <a:ln w="9525">
            <a:noFill/>
            <a:miter lim="800000"/>
            <a:headEnd/>
            <a:tailEnd/>
          </a:ln>
        </p:spPr>
        <p:txBody>
          <a:bodyPr wrap="none" lIns="82124" tIns="41061" rIns="82124" bIns="41061">
            <a:prstTxWarp prst="textNoShape">
              <a:avLst/>
            </a:prstTxWarp>
            <a:spAutoFit/>
          </a:bodyPr>
          <a:lstStyle/>
          <a:p>
            <a:pPr algn="r" defTabSz="814388"/>
            <a:r>
              <a:rPr lang="en-US"/>
              <a:t>Class Silver</a:t>
            </a:r>
          </a:p>
        </p:txBody>
      </p:sp>
      <p:sp>
        <p:nvSpPr>
          <p:cNvPr id="20492" name="AutoShape 12"/>
          <p:cNvSpPr>
            <a:spLocks noChangeArrowheads="1"/>
          </p:cNvSpPr>
          <p:nvPr/>
        </p:nvSpPr>
        <p:spPr bwMode="auto">
          <a:xfrm rot="5400000">
            <a:off x="6074877" y="3592752"/>
            <a:ext cx="329585" cy="825022"/>
          </a:xfrm>
          <a:prstGeom prst="triangle">
            <a:avLst>
              <a:gd name="adj" fmla="val 50000"/>
            </a:avLst>
          </a:prstGeom>
          <a:solidFill>
            <a:schemeClr val="accent1"/>
          </a:solidFill>
          <a:ln w="9525">
            <a:solidFill>
              <a:schemeClr val="tx1"/>
            </a:solidFill>
            <a:miter lim="800000"/>
            <a:headEnd/>
            <a:tailEnd/>
          </a:ln>
        </p:spPr>
        <p:txBody>
          <a:bodyPr wrap="none" lIns="82124" tIns="41061" rIns="82124" bIns="41061" anchor="ctr">
            <a:prstTxWarp prst="textNoShape">
              <a:avLst/>
            </a:prstTxWarp>
            <a:spAutoFit/>
          </a:bodyPr>
          <a:lstStyle/>
          <a:p>
            <a:endParaRPr lang="en-US"/>
          </a:p>
        </p:txBody>
      </p:sp>
      <p:sp>
        <p:nvSpPr>
          <p:cNvPr id="20493" name="Text Box 13"/>
          <p:cNvSpPr txBox="1">
            <a:spLocks noChangeArrowheads="1"/>
          </p:cNvSpPr>
          <p:nvPr/>
        </p:nvSpPr>
        <p:spPr bwMode="auto">
          <a:xfrm>
            <a:off x="5481218" y="5210176"/>
            <a:ext cx="1159714" cy="415323"/>
          </a:xfrm>
          <a:prstGeom prst="rect">
            <a:avLst/>
          </a:prstGeom>
          <a:noFill/>
          <a:ln w="9525">
            <a:noFill/>
            <a:miter lim="800000"/>
            <a:headEnd/>
            <a:tailEnd/>
          </a:ln>
        </p:spPr>
        <p:txBody>
          <a:bodyPr wrap="none" lIns="82124" tIns="41061" rIns="82124" bIns="41061">
            <a:prstTxWarp prst="textNoShape">
              <a:avLst/>
            </a:prstTxWarp>
            <a:spAutoFit/>
          </a:bodyPr>
          <a:lstStyle/>
          <a:p>
            <a:pPr defTabSz="814388"/>
            <a:r>
              <a:rPr lang="en-US"/>
              <a:t>Shaper</a:t>
            </a:r>
          </a:p>
        </p:txBody>
      </p:sp>
      <p:sp>
        <p:nvSpPr>
          <p:cNvPr id="20494" name="AutoShape 14"/>
          <p:cNvSpPr>
            <a:spLocks noChangeArrowheads="1"/>
          </p:cNvSpPr>
          <p:nvPr/>
        </p:nvSpPr>
        <p:spPr bwMode="auto">
          <a:xfrm rot="5400000">
            <a:off x="4368007" y="2691846"/>
            <a:ext cx="360363" cy="825022"/>
          </a:xfrm>
          <a:prstGeom prst="triangle">
            <a:avLst>
              <a:gd name="adj" fmla="val 50000"/>
            </a:avLst>
          </a:prstGeom>
          <a:solidFill>
            <a:schemeClr val="accent2"/>
          </a:solidFill>
          <a:ln w="9525">
            <a:solidFill>
              <a:schemeClr val="tx1"/>
            </a:solidFill>
            <a:miter lim="800000"/>
            <a:headEnd/>
            <a:tailEnd/>
          </a:ln>
        </p:spPr>
        <p:txBody>
          <a:bodyPr lIns="82124" tIns="41061" rIns="82124" bIns="41061" anchor="ctr">
            <a:prstTxWarp prst="textNoShape">
              <a:avLst/>
            </a:prstTxWarp>
            <a:spAutoFit/>
          </a:bodyPr>
          <a:lstStyle/>
          <a:p>
            <a:endParaRPr lang="en-US"/>
          </a:p>
        </p:txBody>
      </p:sp>
      <p:sp>
        <p:nvSpPr>
          <p:cNvPr id="20495" name="Text Box 15"/>
          <p:cNvSpPr txBox="1">
            <a:spLocks noChangeArrowheads="1"/>
          </p:cNvSpPr>
          <p:nvPr/>
        </p:nvSpPr>
        <p:spPr bwMode="auto">
          <a:xfrm>
            <a:off x="3913016" y="2586039"/>
            <a:ext cx="1108418" cy="415323"/>
          </a:xfrm>
          <a:prstGeom prst="rect">
            <a:avLst/>
          </a:prstGeom>
          <a:noFill/>
          <a:ln w="9525">
            <a:noFill/>
            <a:miter lim="800000"/>
            <a:headEnd/>
            <a:tailEnd/>
          </a:ln>
        </p:spPr>
        <p:txBody>
          <a:bodyPr wrap="none" lIns="82124" tIns="41061" rIns="82124" bIns="41061">
            <a:prstTxWarp prst="textNoShape">
              <a:avLst/>
            </a:prstTxWarp>
            <a:spAutoFit/>
          </a:bodyPr>
          <a:lstStyle/>
          <a:p>
            <a:pPr defTabSz="814388"/>
            <a:r>
              <a:rPr lang="en-US"/>
              <a:t>Policer</a:t>
            </a:r>
          </a:p>
        </p:txBody>
      </p:sp>
      <p:sp>
        <p:nvSpPr>
          <p:cNvPr id="20496" name="AutoShape 16"/>
          <p:cNvSpPr>
            <a:spLocks noChangeArrowheads="1"/>
          </p:cNvSpPr>
          <p:nvPr/>
        </p:nvSpPr>
        <p:spPr bwMode="auto">
          <a:xfrm>
            <a:off x="5185161" y="3149902"/>
            <a:ext cx="165917" cy="415323"/>
          </a:xfrm>
          <a:prstGeom prst="curvedDownArrow">
            <a:avLst>
              <a:gd name="adj1" fmla="val 20000"/>
              <a:gd name="adj2" fmla="val 40000"/>
              <a:gd name="adj3" fmla="val 35993"/>
            </a:avLst>
          </a:prstGeom>
          <a:solidFill>
            <a:schemeClr val="folHlink"/>
          </a:solidFill>
          <a:ln w="9525">
            <a:solidFill>
              <a:schemeClr val="tx1"/>
            </a:solidFill>
            <a:miter lim="800000"/>
            <a:headEnd/>
            <a:tailEnd/>
          </a:ln>
        </p:spPr>
        <p:txBody>
          <a:bodyPr wrap="none" lIns="82124" tIns="41061" rIns="82124" bIns="41061" anchor="ctr">
            <a:prstTxWarp prst="textNoShape">
              <a:avLst/>
            </a:prstTxWarp>
            <a:spAutoFit/>
          </a:bodyPr>
          <a:lstStyle/>
          <a:p>
            <a:endParaRPr lang="en-US"/>
          </a:p>
        </p:txBody>
      </p:sp>
      <p:sp>
        <p:nvSpPr>
          <p:cNvPr id="20497" name="AutoShape 17"/>
          <p:cNvSpPr>
            <a:spLocks noChangeArrowheads="1"/>
          </p:cNvSpPr>
          <p:nvPr/>
        </p:nvSpPr>
        <p:spPr bwMode="auto">
          <a:xfrm flipH="1">
            <a:off x="4727576" y="4482608"/>
            <a:ext cx="936625" cy="415323"/>
          </a:xfrm>
          <a:prstGeom prst="curvedUpArrow">
            <a:avLst>
              <a:gd name="adj1" fmla="val 20034"/>
              <a:gd name="adj2" fmla="val 40068"/>
              <a:gd name="adj3" fmla="val 33333"/>
            </a:avLst>
          </a:prstGeom>
          <a:solidFill>
            <a:schemeClr val="folHlink"/>
          </a:solidFill>
          <a:ln w="9525">
            <a:solidFill>
              <a:schemeClr val="tx1"/>
            </a:solidFill>
            <a:miter lim="800000"/>
            <a:headEnd/>
            <a:tailEnd/>
          </a:ln>
        </p:spPr>
        <p:txBody>
          <a:bodyPr lIns="82124" tIns="41061" rIns="82124" bIns="41061" anchor="ctr">
            <a:prstTxWarp prst="textNoShape">
              <a:avLst/>
            </a:prstTxWarp>
            <a:spAutoFit/>
          </a:bodyPr>
          <a:lstStyle/>
          <a:p>
            <a:endParaRPr lang="en-US"/>
          </a:p>
        </p:txBody>
      </p:sp>
      <p:sp>
        <p:nvSpPr>
          <p:cNvPr id="20498" name="Text Box 18"/>
          <p:cNvSpPr txBox="1">
            <a:spLocks noChangeArrowheads="1"/>
          </p:cNvSpPr>
          <p:nvPr/>
        </p:nvSpPr>
        <p:spPr bwMode="auto">
          <a:xfrm>
            <a:off x="2036764" y="5745164"/>
            <a:ext cx="1106487" cy="420687"/>
          </a:xfrm>
          <a:prstGeom prst="rect">
            <a:avLst/>
          </a:prstGeom>
          <a:solidFill>
            <a:srgbClr val="99CC00"/>
          </a:solidFill>
          <a:ln w="9525">
            <a:solidFill>
              <a:schemeClr val="tx1"/>
            </a:solidFill>
            <a:miter lim="800000"/>
            <a:headEnd/>
            <a:tailEnd/>
          </a:ln>
        </p:spPr>
        <p:txBody>
          <a:bodyPr wrap="none" lIns="82124" tIns="41061" rIns="82124" bIns="41061">
            <a:prstTxWarp prst="textNoShape">
              <a:avLst/>
            </a:prstTxWarp>
            <a:spAutoFit/>
          </a:bodyPr>
          <a:lstStyle/>
          <a:p>
            <a:pPr defTabSz="814388"/>
            <a:r>
              <a:rPr lang="en-US"/>
              <a:t>WRED</a:t>
            </a:r>
          </a:p>
        </p:txBody>
      </p:sp>
      <p:sp>
        <p:nvSpPr>
          <p:cNvPr id="20499" name="Line 19"/>
          <p:cNvSpPr>
            <a:spLocks noChangeShapeType="1"/>
          </p:cNvSpPr>
          <p:nvPr/>
        </p:nvSpPr>
        <p:spPr bwMode="auto">
          <a:xfrm flipV="1">
            <a:off x="2351088" y="4221164"/>
            <a:ext cx="0" cy="1512887"/>
          </a:xfrm>
          <a:prstGeom prst="line">
            <a:avLst/>
          </a:prstGeom>
          <a:noFill/>
          <a:ln w="31750">
            <a:solidFill>
              <a:schemeClr val="tx1"/>
            </a:solidFill>
            <a:prstDash val="dashDot"/>
            <a:round/>
            <a:headEnd/>
            <a:tailEnd type="triangle" w="med" len="med"/>
          </a:ln>
        </p:spPr>
        <p:txBody>
          <a:bodyPr wrap="none" lIns="82124" tIns="41061" rIns="82124" bIns="41061" anchor="ctr">
            <a:prstTxWarp prst="textNoShape">
              <a:avLst/>
            </a:prstTxWarp>
            <a:spAutoFit/>
          </a:bodyPr>
          <a:lstStyle/>
          <a:p>
            <a:endParaRPr lang="en-US"/>
          </a:p>
        </p:txBody>
      </p:sp>
      <p:sp>
        <p:nvSpPr>
          <p:cNvPr id="20500" name="Line 20"/>
          <p:cNvSpPr>
            <a:spLocks noChangeShapeType="1"/>
          </p:cNvSpPr>
          <p:nvPr/>
        </p:nvSpPr>
        <p:spPr bwMode="auto">
          <a:xfrm flipV="1">
            <a:off x="2782888" y="5013326"/>
            <a:ext cx="0" cy="720725"/>
          </a:xfrm>
          <a:prstGeom prst="line">
            <a:avLst/>
          </a:prstGeom>
          <a:noFill/>
          <a:ln w="31750">
            <a:solidFill>
              <a:schemeClr val="tx1"/>
            </a:solidFill>
            <a:prstDash val="dashDot"/>
            <a:round/>
            <a:headEnd/>
            <a:tailEnd type="triangle" w="med" len="med"/>
          </a:ln>
        </p:spPr>
        <p:txBody>
          <a:bodyPr wrap="none" lIns="82124" tIns="41061" rIns="82124" bIns="41061" anchor="ctr">
            <a:prstTxWarp prst="textNoShape">
              <a:avLst/>
            </a:prstTxWarp>
            <a:spAutoFit/>
          </a:bodyPr>
          <a:lstStyle/>
          <a:p>
            <a:endParaRPr lang="en-US"/>
          </a:p>
        </p:txBody>
      </p:sp>
      <p:sp>
        <p:nvSpPr>
          <p:cNvPr id="20501" name="Text Box 21"/>
          <p:cNvSpPr txBox="1">
            <a:spLocks noChangeArrowheads="1"/>
          </p:cNvSpPr>
          <p:nvPr/>
        </p:nvSpPr>
        <p:spPr bwMode="auto">
          <a:xfrm>
            <a:off x="4433150" y="3860801"/>
            <a:ext cx="1554053" cy="415323"/>
          </a:xfrm>
          <a:prstGeom prst="rect">
            <a:avLst/>
          </a:prstGeom>
          <a:noFill/>
          <a:ln w="9525">
            <a:noFill/>
            <a:miter lim="800000"/>
            <a:headEnd/>
            <a:tailEnd/>
          </a:ln>
        </p:spPr>
        <p:txBody>
          <a:bodyPr wrap="none" lIns="82124" tIns="41061" rIns="82124" bIns="41061">
            <a:prstTxWarp prst="textNoShape">
              <a:avLst/>
            </a:prstTxWarp>
            <a:spAutoFit/>
          </a:bodyPr>
          <a:lstStyle/>
          <a:p>
            <a:pPr defTabSz="814388"/>
            <a:r>
              <a:rPr lang="en-US"/>
              <a:t>Scheduler</a:t>
            </a:r>
          </a:p>
        </p:txBody>
      </p:sp>
      <p:sp>
        <p:nvSpPr>
          <p:cNvPr id="20502" name="AutoShape 22"/>
          <p:cNvSpPr>
            <a:spLocks noChangeArrowheads="1"/>
          </p:cNvSpPr>
          <p:nvPr/>
        </p:nvSpPr>
        <p:spPr bwMode="auto">
          <a:xfrm>
            <a:off x="5066815" y="855901"/>
            <a:ext cx="329585" cy="825022"/>
          </a:xfrm>
          <a:prstGeom prst="diamond">
            <a:avLst/>
          </a:prstGeom>
          <a:solidFill>
            <a:srgbClr val="FF99CC"/>
          </a:solidFill>
          <a:ln w="9525">
            <a:solidFill>
              <a:schemeClr val="tx1"/>
            </a:solidFill>
            <a:miter lim="800000"/>
            <a:headEnd/>
            <a:tailEnd/>
          </a:ln>
        </p:spPr>
        <p:txBody>
          <a:bodyPr wrap="none" lIns="82124" tIns="41061" rIns="82124" bIns="41061" anchor="ctr">
            <a:prstTxWarp prst="textNoShape">
              <a:avLst/>
            </a:prstTxWarp>
            <a:spAutoFit/>
          </a:bodyPr>
          <a:lstStyle/>
          <a:p>
            <a:endParaRPr lang="en-US"/>
          </a:p>
        </p:txBody>
      </p:sp>
      <p:sp>
        <p:nvSpPr>
          <p:cNvPr id="20503" name="Line 23"/>
          <p:cNvSpPr>
            <a:spLocks noChangeShapeType="1"/>
          </p:cNvSpPr>
          <p:nvPr/>
        </p:nvSpPr>
        <p:spPr bwMode="auto">
          <a:xfrm>
            <a:off x="5232400" y="2060576"/>
            <a:ext cx="0" cy="504825"/>
          </a:xfrm>
          <a:prstGeom prst="line">
            <a:avLst/>
          </a:prstGeom>
          <a:noFill/>
          <a:ln w="19050">
            <a:solidFill>
              <a:schemeClr val="tx1"/>
            </a:solidFill>
            <a:round/>
            <a:headEnd/>
            <a:tailEnd type="triangle" w="med" len="med"/>
          </a:ln>
        </p:spPr>
        <p:txBody>
          <a:bodyPr lIns="82124" tIns="41061" rIns="82124" bIns="41061" anchor="ctr">
            <a:prstTxWarp prst="textNoShape">
              <a:avLst/>
            </a:prstTxWarp>
            <a:spAutoFit/>
          </a:bodyPr>
          <a:lstStyle/>
          <a:p>
            <a:endParaRPr lang="en-US"/>
          </a:p>
        </p:txBody>
      </p:sp>
      <p:sp>
        <p:nvSpPr>
          <p:cNvPr id="20504" name="Text Box 24"/>
          <p:cNvSpPr txBox="1">
            <a:spLocks noChangeArrowheads="1"/>
          </p:cNvSpPr>
          <p:nvPr/>
        </p:nvSpPr>
        <p:spPr bwMode="auto">
          <a:xfrm>
            <a:off x="5491530" y="692151"/>
            <a:ext cx="1982055" cy="415323"/>
          </a:xfrm>
          <a:prstGeom prst="rect">
            <a:avLst/>
          </a:prstGeom>
          <a:noFill/>
          <a:ln w="9525">
            <a:noFill/>
            <a:miter lim="800000"/>
            <a:headEnd/>
            <a:tailEnd/>
          </a:ln>
        </p:spPr>
        <p:txBody>
          <a:bodyPr wrap="none" lIns="82124" tIns="41061" rIns="82124" bIns="41061">
            <a:prstTxWarp prst="textNoShape">
              <a:avLst/>
            </a:prstTxWarp>
            <a:spAutoFit/>
          </a:bodyPr>
          <a:lstStyle/>
          <a:p>
            <a:pPr defTabSz="814388"/>
            <a:r>
              <a:rPr lang="en-US"/>
              <a:t>Classification</a:t>
            </a:r>
          </a:p>
        </p:txBody>
      </p:sp>
      <p:sp>
        <p:nvSpPr>
          <p:cNvPr id="20505" name="AutoShape 25"/>
          <p:cNvSpPr>
            <a:spLocks/>
          </p:cNvSpPr>
          <p:nvPr/>
        </p:nvSpPr>
        <p:spPr bwMode="auto">
          <a:xfrm rot="5400000">
            <a:off x="2783682" y="2071979"/>
            <a:ext cx="503237" cy="483606"/>
          </a:xfrm>
          <a:prstGeom prst="leftBrace">
            <a:avLst>
              <a:gd name="adj1" fmla="val 41746"/>
              <a:gd name="adj2" fmla="val 50000"/>
            </a:avLst>
          </a:prstGeom>
          <a:noFill/>
          <a:ln w="31750">
            <a:solidFill>
              <a:schemeClr val="folHlink"/>
            </a:solidFill>
            <a:round/>
            <a:headEnd/>
            <a:tailEnd/>
          </a:ln>
        </p:spPr>
        <p:txBody>
          <a:bodyPr lIns="82124" tIns="41061" rIns="82124" bIns="41061" anchor="ctr">
            <a:prstTxWarp prst="textNoShape">
              <a:avLst/>
            </a:prstTxWarp>
            <a:spAutoFit/>
          </a:bodyPr>
          <a:lstStyle/>
          <a:p>
            <a:endParaRPr lang="en-US"/>
          </a:p>
        </p:txBody>
      </p:sp>
      <p:sp>
        <p:nvSpPr>
          <p:cNvPr id="20506" name="Text Box 26"/>
          <p:cNvSpPr txBox="1">
            <a:spLocks noChangeArrowheads="1"/>
          </p:cNvSpPr>
          <p:nvPr/>
        </p:nvSpPr>
        <p:spPr bwMode="auto">
          <a:xfrm>
            <a:off x="2408996" y="1649414"/>
            <a:ext cx="1244673" cy="415323"/>
          </a:xfrm>
          <a:prstGeom prst="rect">
            <a:avLst/>
          </a:prstGeom>
          <a:noFill/>
          <a:ln w="9525">
            <a:noFill/>
            <a:miter lim="800000"/>
            <a:headEnd/>
            <a:tailEnd/>
          </a:ln>
        </p:spPr>
        <p:txBody>
          <a:bodyPr wrap="none" lIns="82124" tIns="41061" rIns="82124" bIns="41061">
            <a:prstTxWarp prst="textNoShape">
              <a:avLst/>
            </a:prstTxWarp>
            <a:spAutoFit/>
          </a:bodyPr>
          <a:lstStyle/>
          <a:p>
            <a:pPr defTabSz="814388"/>
            <a:r>
              <a:rPr lang="en-US"/>
              <a:t>Queues</a:t>
            </a:r>
          </a:p>
        </p:txBody>
      </p:sp>
    </p:spTree>
  </p:cSld>
  <p:clrMapOvr>
    <a:masterClrMapping/>
  </p:clrMapOvr>
  <p:transition spd="slow">
    <p:blinds/>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idx="1"/>
          </p:nvPr>
        </p:nvSpPr>
        <p:spPr>
          <a:xfrm>
            <a:off x="1524001" y="404813"/>
            <a:ext cx="8964613" cy="6119812"/>
          </a:xfrm>
        </p:spPr>
        <p:txBody>
          <a:bodyPr>
            <a:normAutofit lnSpcReduction="10000"/>
          </a:bodyPr>
          <a:lstStyle/>
          <a:p>
            <a:pPr>
              <a:lnSpc>
                <a:spcPct val="30000"/>
              </a:lnSpc>
              <a:buFont typeface="Wingdings" pitchFamily="1" charset="2"/>
              <a:buNone/>
            </a:pPr>
            <a:r>
              <a:rPr lang="en-US" sz="1500" b="1">
                <a:latin typeface="Courier New" pitchFamily="1" charset="0"/>
              </a:rPr>
              <a:t>show policy-map interface</a:t>
            </a:r>
          </a:p>
          <a:p>
            <a:pPr>
              <a:lnSpc>
                <a:spcPct val="30000"/>
              </a:lnSpc>
              <a:buFont typeface="Wingdings" pitchFamily="1" charset="2"/>
              <a:buNone/>
            </a:pPr>
            <a:r>
              <a:rPr lang="en-US" sz="1500" b="1">
                <a:latin typeface="Courier New" pitchFamily="1" charset="0"/>
              </a:rPr>
              <a:t> Ethernet0/0</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latin typeface="Courier New" pitchFamily="1" charset="0"/>
              </a:rPr>
              <a:t>  Service-policy output: parent</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Class-map: class-default (match-any</a:t>
            </a:r>
            <a:r>
              <a:rPr lang="en-US" sz="1500" b="1">
                <a:latin typeface="Courier New" pitchFamily="1" charset="0"/>
              </a:rPr>
              <a:t>)</a:t>
            </a:r>
          </a:p>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4983</a:t>
            </a:r>
            <a:r>
              <a:rPr lang="en-US" sz="1500" b="1">
                <a:latin typeface="Courier New" pitchFamily="1" charset="0"/>
              </a:rPr>
              <a:t> packets, </a:t>
            </a:r>
            <a:r>
              <a:rPr lang="en-US" sz="1500" b="1">
                <a:solidFill>
                  <a:srgbClr val="FF3399"/>
                </a:solidFill>
                <a:latin typeface="Courier New" pitchFamily="1" charset="0"/>
              </a:rPr>
              <a:t>240814</a:t>
            </a:r>
            <a:r>
              <a:rPr lang="en-US" sz="1500" b="1">
                <a:latin typeface="Courier New" pitchFamily="1" charset="0"/>
              </a:rPr>
              <a:t> bytes</a:t>
            </a:r>
          </a:p>
          <a:p>
            <a:pPr>
              <a:lnSpc>
                <a:spcPct val="30000"/>
              </a:lnSpc>
              <a:buFont typeface="Wingdings" pitchFamily="1" charset="2"/>
              <a:buNone/>
            </a:pPr>
            <a:r>
              <a:rPr lang="en-US" sz="1500" b="1">
                <a:latin typeface="Courier New" pitchFamily="1" charset="0"/>
              </a:rPr>
              <a:t>      5 minute offered rate 0 bps, drop rate 0 bps</a:t>
            </a:r>
          </a:p>
          <a:p>
            <a:pPr>
              <a:lnSpc>
                <a:spcPct val="30000"/>
              </a:lnSpc>
              <a:buFont typeface="Wingdings" pitchFamily="1" charset="2"/>
              <a:buNone/>
            </a:pPr>
            <a:r>
              <a:rPr lang="en-US" sz="1500" b="1">
                <a:solidFill>
                  <a:srgbClr val="FF3399"/>
                </a:solidFill>
                <a:latin typeface="Courier New" pitchFamily="1" charset="0"/>
              </a:rPr>
              <a:t>      Match: any</a:t>
            </a:r>
          </a:p>
          <a:p>
            <a:pPr>
              <a:lnSpc>
                <a:spcPct val="30000"/>
              </a:lnSpc>
              <a:buFont typeface="Wingdings" pitchFamily="1" charset="2"/>
              <a:buNone/>
            </a:pPr>
            <a:r>
              <a:rPr lang="en-US" sz="1500" b="1">
                <a:latin typeface="Courier New" pitchFamily="1" charset="0"/>
              </a:rPr>
              <a:t>      </a:t>
            </a:r>
            <a:r>
              <a:rPr lang="en-US" sz="1500" b="1">
                <a:solidFill>
                  <a:schemeClr val="tx2"/>
                </a:solidFill>
                <a:latin typeface="Courier New" pitchFamily="1" charset="0"/>
              </a:rPr>
              <a:t>Traffic Shaping</a:t>
            </a:r>
          </a:p>
          <a:p>
            <a:pPr>
              <a:lnSpc>
                <a:spcPct val="30000"/>
              </a:lnSpc>
              <a:buFont typeface="Wingdings" pitchFamily="1" charset="2"/>
              <a:buNone/>
            </a:pPr>
            <a:r>
              <a:rPr lang="en-US" sz="1500" b="1">
                <a:latin typeface="Courier New" pitchFamily="1" charset="0"/>
              </a:rPr>
              <a:t>           </a:t>
            </a:r>
            <a:r>
              <a:rPr lang="en-US" sz="1500" b="1">
                <a:solidFill>
                  <a:schemeClr val="tx2"/>
                </a:solidFill>
                <a:latin typeface="Courier New" pitchFamily="1" charset="0"/>
              </a:rPr>
              <a:t>Target/Average   Byte   Sustain   Excess    Interval  Increment</a:t>
            </a:r>
          </a:p>
          <a:p>
            <a:pPr>
              <a:lnSpc>
                <a:spcPct val="30000"/>
              </a:lnSpc>
              <a:buFont typeface="Wingdings" pitchFamily="1" charset="2"/>
              <a:buNone/>
            </a:pPr>
            <a:r>
              <a:rPr lang="en-US" sz="1500" b="1">
                <a:solidFill>
                  <a:schemeClr val="tx2"/>
                </a:solidFill>
                <a:latin typeface="Courier New" pitchFamily="1" charset="0"/>
              </a:rPr>
              <a:t>             Rate           Limit  bits/int  bits/int  (ms)      (bytes)</a:t>
            </a:r>
          </a:p>
          <a:p>
            <a:pPr>
              <a:lnSpc>
                <a:spcPct val="30000"/>
              </a:lnSpc>
              <a:buFont typeface="Wingdings" pitchFamily="1" charset="2"/>
              <a:buNone/>
            </a:pPr>
            <a:r>
              <a:rPr lang="en-US" sz="1500" b="1">
                <a:solidFill>
                  <a:schemeClr val="tx2"/>
                </a:solidFill>
                <a:latin typeface="Courier New" pitchFamily="1" charset="0"/>
              </a:rPr>
              <a:t>          4000000/4000000   25000  100000    100000    25        12500</a:t>
            </a:r>
          </a:p>
          <a:p>
            <a:pPr>
              <a:lnSpc>
                <a:spcPct val="30000"/>
              </a:lnSpc>
              <a:buFont typeface="Wingdings" pitchFamily="1" charset="2"/>
              <a:buNone/>
            </a:pPr>
            <a:endParaRPr lang="en-US" sz="1500" b="1">
              <a:solidFill>
                <a:schemeClr val="tx2"/>
              </a:solidFill>
              <a:latin typeface="Courier New" pitchFamily="1" charset="0"/>
            </a:endParaRPr>
          </a:p>
          <a:p>
            <a:pPr>
              <a:lnSpc>
                <a:spcPct val="30000"/>
              </a:lnSpc>
              <a:buFont typeface="Wingdings" pitchFamily="1" charset="2"/>
              <a:buNone/>
            </a:pPr>
            <a:r>
              <a:rPr lang="en-US" sz="1500" b="1">
                <a:solidFill>
                  <a:schemeClr val="tx2"/>
                </a:solidFill>
                <a:latin typeface="Courier New" pitchFamily="1" charset="0"/>
              </a:rPr>
              <a:t>        Adapt  Queue     Packets   Bytes     Packets   Bytes     Shaping</a:t>
            </a:r>
          </a:p>
          <a:p>
            <a:pPr>
              <a:lnSpc>
                <a:spcPct val="30000"/>
              </a:lnSpc>
              <a:buFont typeface="Wingdings" pitchFamily="1" charset="2"/>
              <a:buNone/>
            </a:pPr>
            <a:r>
              <a:rPr lang="en-US" sz="1500" b="1">
                <a:solidFill>
                  <a:schemeClr val="tx2"/>
                </a:solidFill>
                <a:latin typeface="Courier New" pitchFamily="1" charset="0"/>
              </a:rPr>
              <a:t>        Active Depth                         Delayed   Delayed   Active</a:t>
            </a:r>
          </a:p>
          <a:p>
            <a:pPr>
              <a:lnSpc>
                <a:spcPct val="30000"/>
              </a:lnSpc>
              <a:buFont typeface="Wingdings" pitchFamily="1" charset="2"/>
              <a:buNone/>
            </a:pPr>
            <a:r>
              <a:rPr lang="en-US" sz="1500" b="1">
                <a:solidFill>
                  <a:schemeClr val="tx2"/>
                </a:solidFill>
                <a:latin typeface="Courier New" pitchFamily="1" charset="0"/>
              </a:rPr>
              <a:t>        -      0         4         240       0         0         no</a:t>
            </a:r>
          </a:p>
          <a:p>
            <a:pPr>
              <a:lnSpc>
                <a:spcPct val="30000"/>
              </a:lnSpc>
              <a:buFont typeface="Wingdings" pitchFamily="1" charset="2"/>
              <a:buNone/>
            </a:pPr>
            <a:endParaRPr lang="en-US" sz="1500" b="1">
              <a:solidFill>
                <a:schemeClr val="tx2"/>
              </a:solidFill>
              <a:latin typeface="Courier New" pitchFamily="1" charset="0"/>
            </a:endParaRPr>
          </a:p>
          <a:p>
            <a:pPr>
              <a:lnSpc>
                <a:spcPct val="30000"/>
              </a:lnSpc>
              <a:buFont typeface="Wingdings" pitchFamily="1" charset="2"/>
              <a:buNone/>
            </a:pPr>
            <a:r>
              <a:rPr lang="en-US" sz="1500" b="1">
                <a:latin typeface="Courier New" pitchFamily="1" charset="0"/>
              </a:rPr>
              <a:t>      Service-policy : child</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solidFill>
                  <a:srgbClr val="FF3399"/>
                </a:solidFill>
                <a:latin typeface="Courier New" pitchFamily="1" charset="0"/>
              </a:rPr>
              <a:t>        Class-map: one (match-all)</a:t>
            </a:r>
          </a:p>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575</a:t>
            </a:r>
            <a:r>
              <a:rPr lang="en-US" sz="1500" b="1">
                <a:latin typeface="Courier New" pitchFamily="1" charset="0"/>
              </a:rPr>
              <a:t> packets, </a:t>
            </a:r>
            <a:r>
              <a:rPr lang="en-US" sz="1500" b="1">
                <a:solidFill>
                  <a:srgbClr val="FF3399"/>
                </a:solidFill>
                <a:latin typeface="Courier New" pitchFamily="1" charset="0"/>
              </a:rPr>
              <a:t>10435</a:t>
            </a:r>
            <a:r>
              <a:rPr lang="en-US" sz="1500" b="1">
                <a:latin typeface="Courier New" pitchFamily="1" charset="0"/>
              </a:rPr>
              <a:t> bytes</a:t>
            </a:r>
          </a:p>
          <a:p>
            <a:pPr>
              <a:lnSpc>
                <a:spcPct val="30000"/>
              </a:lnSpc>
              <a:buFont typeface="Wingdings" pitchFamily="1" charset="2"/>
              <a:buNone/>
            </a:pPr>
            <a:r>
              <a:rPr lang="en-US" sz="1500" b="1">
                <a:latin typeface="Courier New" pitchFamily="1" charset="0"/>
              </a:rPr>
              <a:t>          5 minute offered rate 0 bps, drop rate 0 bps</a:t>
            </a:r>
          </a:p>
          <a:p>
            <a:pPr>
              <a:lnSpc>
                <a:spcPct val="30000"/>
              </a:lnSpc>
              <a:buFont typeface="Wingdings" pitchFamily="1" charset="2"/>
              <a:buNone/>
            </a:pPr>
            <a:r>
              <a:rPr lang="en-US" sz="1500" b="1">
                <a:solidFill>
                  <a:srgbClr val="FF3399"/>
                </a:solidFill>
                <a:latin typeface="Courier New" pitchFamily="1" charset="0"/>
              </a:rPr>
              <a:t>          Match: ip precedence 5</a:t>
            </a:r>
          </a:p>
          <a:p>
            <a:pPr>
              <a:lnSpc>
                <a:spcPct val="30000"/>
              </a:lnSpc>
              <a:buFont typeface="Wingdings" pitchFamily="1" charset="2"/>
              <a:buNone/>
            </a:pPr>
            <a:r>
              <a:rPr lang="en-US" sz="1500" b="1">
                <a:solidFill>
                  <a:srgbClr val="FF3399"/>
                </a:solidFill>
                <a:latin typeface="Courier New" pitchFamily="1" charset="0"/>
              </a:rPr>
              <a:t>          Match:  dscp default (0)</a:t>
            </a:r>
          </a:p>
          <a:p>
            <a:pPr>
              <a:lnSpc>
                <a:spcPct val="30000"/>
              </a:lnSpc>
              <a:buFont typeface="Wingdings" pitchFamily="1" charset="2"/>
              <a:buNone/>
            </a:pPr>
            <a:r>
              <a:rPr lang="en-US" sz="1500" b="1">
                <a:latin typeface="Courier New" pitchFamily="1" charset="0"/>
              </a:rPr>
              <a:t>          Queueing</a:t>
            </a:r>
          </a:p>
          <a:p>
            <a:pPr>
              <a:lnSpc>
                <a:spcPct val="30000"/>
              </a:lnSpc>
              <a:buFont typeface="Wingdings" pitchFamily="1" charset="2"/>
              <a:buNone/>
            </a:pPr>
            <a:r>
              <a:rPr lang="en-US" sz="1500" b="1">
                <a:latin typeface="Courier New" pitchFamily="1" charset="0"/>
              </a:rPr>
              <a:t>            </a:t>
            </a:r>
            <a:r>
              <a:rPr lang="en-US" sz="1500" b="1">
                <a:solidFill>
                  <a:schemeClr val="folHlink"/>
                </a:solidFill>
                <a:latin typeface="Courier New" pitchFamily="1" charset="0"/>
              </a:rPr>
              <a:t>Strict Priority</a:t>
            </a:r>
          </a:p>
          <a:p>
            <a:pPr>
              <a:lnSpc>
                <a:spcPct val="30000"/>
              </a:lnSpc>
              <a:buFont typeface="Wingdings" pitchFamily="1" charset="2"/>
              <a:buNone/>
            </a:pPr>
            <a:r>
              <a:rPr lang="en-US" sz="1500" b="1">
                <a:latin typeface="Courier New" pitchFamily="1" charset="0"/>
              </a:rPr>
              <a:t>            Output Queue: Conversation 136</a:t>
            </a:r>
          </a:p>
          <a:p>
            <a:pPr>
              <a:lnSpc>
                <a:spcPct val="30000"/>
              </a:lnSpc>
              <a:buFont typeface="Wingdings" pitchFamily="1" charset="2"/>
              <a:buNone/>
            </a:pPr>
            <a:r>
              <a:rPr lang="en-US" sz="1500" b="1">
                <a:latin typeface="Courier New" pitchFamily="1" charset="0"/>
              </a:rPr>
              <a:t>            </a:t>
            </a:r>
            <a:r>
              <a:rPr lang="en-US" sz="1500" b="1">
                <a:solidFill>
                  <a:schemeClr val="folHlink"/>
                </a:solidFill>
                <a:latin typeface="Courier New" pitchFamily="1" charset="0"/>
              </a:rPr>
              <a:t>Bandwidth 256</a:t>
            </a:r>
            <a:r>
              <a:rPr lang="en-US" sz="1500" b="1">
                <a:latin typeface="Courier New" pitchFamily="1" charset="0"/>
              </a:rPr>
              <a:t> (kbps) Burst </a:t>
            </a:r>
            <a:r>
              <a:rPr lang="en-US" sz="1500" b="1">
                <a:solidFill>
                  <a:schemeClr val="accent2"/>
                </a:solidFill>
                <a:latin typeface="Courier New" pitchFamily="1" charset="0"/>
              </a:rPr>
              <a:t>6400</a:t>
            </a:r>
            <a:r>
              <a:rPr lang="en-US" sz="1500" b="1">
                <a:latin typeface="Courier New" pitchFamily="1" charset="0"/>
              </a:rPr>
              <a:t> (Bytes)</a:t>
            </a:r>
          </a:p>
          <a:p>
            <a:pPr>
              <a:lnSpc>
                <a:spcPct val="30000"/>
              </a:lnSpc>
              <a:buFont typeface="Wingdings" pitchFamily="1" charset="2"/>
              <a:buNone/>
            </a:pPr>
            <a:r>
              <a:rPr lang="en-US" sz="1500" b="1">
                <a:latin typeface="Courier New" pitchFamily="1" charset="0"/>
              </a:rPr>
              <a:t>            (pkts matched/bytes matched) </a:t>
            </a:r>
            <a:r>
              <a:rPr lang="en-US" sz="1500" b="1">
                <a:solidFill>
                  <a:schemeClr val="folHlink"/>
                </a:solidFill>
                <a:latin typeface="Courier New" pitchFamily="1" charset="0"/>
              </a:rPr>
              <a:t>0/0</a:t>
            </a:r>
          </a:p>
          <a:p>
            <a:pPr>
              <a:lnSpc>
                <a:spcPct val="30000"/>
              </a:lnSpc>
              <a:buFont typeface="Wingdings" pitchFamily="1" charset="2"/>
              <a:buNone/>
            </a:pPr>
            <a:r>
              <a:rPr lang="en-US" sz="1500" b="1">
                <a:latin typeface="Courier New" pitchFamily="1" charset="0"/>
              </a:rPr>
              <a:t>            (total drops/bytes drops) </a:t>
            </a:r>
            <a:r>
              <a:rPr lang="en-US" sz="1500" b="1">
                <a:solidFill>
                  <a:schemeClr val="folHlink"/>
                </a:solidFill>
                <a:latin typeface="Courier New" pitchFamily="1" charset="0"/>
              </a:rPr>
              <a:t>0/0</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latin typeface="Courier New" pitchFamily="1" charset="0"/>
              </a:rPr>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idx="1"/>
          </p:nvPr>
        </p:nvSpPr>
        <p:spPr>
          <a:xfrm>
            <a:off x="1271587" y="477838"/>
            <a:ext cx="9432926" cy="6335712"/>
          </a:xfrm>
        </p:spPr>
        <p:txBody>
          <a:bodyPr/>
          <a:lstStyle/>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Class-map: two (match-all)</a:t>
            </a:r>
          </a:p>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254 packets, 16743 bytes</a:t>
            </a:r>
          </a:p>
          <a:p>
            <a:pPr>
              <a:lnSpc>
                <a:spcPct val="30000"/>
              </a:lnSpc>
              <a:buFont typeface="Wingdings" pitchFamily="1" charset="2"/>
              <a:buNone/>
            </a:pPr>
            <a:r>
              <a:rPr lang="en-US" sz="1500" b="1">
                <a:latin typeface="Courier New" pitchFamily="1" charset="0"/>
              </a:rPr>
              <a:t>          5 minute offered rate 2000 bps, drop rate 0 bps</a:t>
            </a:r>
          </a:p>
          <a:p>
            <a:pPr>
              <a:lnSpc>
                <a:spcPct val="30000"/>
              </a:lnSpc>
              <a:buFont typeface="Wingdings" pitchFamily="1" charset="2"/>
              <a:buNone/>
            </a:pPr>
            <a:r>
              <a:rPr lang="en-US" sz="1500" b="1">
                <a:solidFill>
                  <a:srgbClr val="FF3399"/>
                </a:solidFill>
                <a:latin typeface="Courier New" pitchFamily="1" charset="0"/>
              </a:rPr>
              <a:t>          Match: any</a:t>
            </a:r>
          </a:p>
          <a:p>
            <a:pPr>
              <a:lnSpc>
                <a:spcPct val="30000"/>
              </a:lnSpc>
              <a:buFont typeface="Wingdings" pitchFamily="1" charset="2"/>
              <a:buNone/>
            </a:pPr>
            <a:r>
              <a:rPr lang="en-US" sz="1500" b="1">
                <a:solidFill>
                  <a:srgbClr val="FF3399"/>
                </a:solidFill>
                <a:latin typeface="Courier New" pitchFamily="1" charset="0"/>
              </a:rPr>
              <a:t>          Match:  dscp 1</a:t>
            </a:r>
          </a:p>
          <a:p>
            <a:pPr>
              <a:lnSpc>
                <a:spcPct val="30000"/>
              </a:lnSpc>
              <a:buFont typeface="Wingdings" pitchFamily="1" charset="2"/>
              <a:buNone/>
            </a:pPr>
            <a:r>
              <a:rPr lang="en-US" sz="1500" b="1">
                <a:latin typeface="Courier New" pitchFamily="1" charset="0"/>
              </a:rPr>
              <a:t>          Queueing</a:t>
            </a:r>
          </a:p>
          <a:p>
            <a:pPr>
              <a:lnSpc>
                <a:spcPct val="30000"/>
              </a:lnSpc>
              <a:buFont typeface="Wingdings" pitchFamily="1" charset="2"/>
              <a:buNone/>
            </a:pPr>
            <a:r>
              <a:rPr lang="en-US" sz="1500" b="1">
                <a:latin typeface="Courier New" pitchFamily="1" charset="0"/>
              </a:rPr>
              <a:t>            Output Queue: Conversation 137</a:t>
            </a:r>
          </a:p>
          <a:p>
            <a:pPr>
              <a:lnSpc>
                <a:spcPct val="30000"/>
              </a:lnSpc>
              <a:buFont typeface="Wingdings" pitchFamily="1" charset="2"/>
              <a:buNone/>
            </a:pPr>
            <a:r>
              <a:rPr lang="en-US" sz="1500" b="1">
                <a:latin typeface="Courier New" pitchFamily="1" charset="0"/>
              </a:rPr>
              <a:t>            </a:t>
            </a:r>
            <a:r>
              <a:rPr lang="en-US" sz="1500" b="1">
                <a:solidFill>
                  <a:schemeClr val="folHlink"/>
                </a:solidFill>
                <a:latin typeface="Courier New" pitchFamily="1" charset="0"/>
              </a:rPr>
              <a:t>Bandwidth</a:t>
            </a:r>
            <a:r>
              <a:rPr lang="en-US" sz="1500" b="1">
                <a:latin typeface="Courier New" pitchFamily="1" charset="0"/>
              </a:rPr>
              <a:t> </a:t>
            </a:r>
            <a:r>
              <a:rPr lang="en-US" sz="1500" b="1">
                <a:solidFill>
                  <a:schemeClr val="folHlink"/>
                </a:solidFill>
                <a:latin typeface="Courier New" pitchFamily="1" charset="0"/>
              </a:rPr>
              <a:t>512</a:t>
            </a:r>
            <a:r>
              <a:rPr lang="en-US" sz="1500" b="1">
                <a:latin typeface="Courier New" pitchFamily="1" charset="0"/>
              </a:rPr>
              <a:t> (kbps) Max Threshold </a:t>
            </a:r>
            <a:r>
              <a:rPr lang="en-US" sz="1500" b="1">
                <a:solidFill>
                  <a:schemeClr val="folHlink"/>
                </a:solidFill>
                <a:latin typeface="Courier New" pitchFamily="1" charset="0"/>
              </a:rPr>
              <a:t>64</a:t>
            </a:r>
            <a:r>
              <a:rPr lang="en-US" sz="1500" b="1">
                <a:latin typeface="Courier New" pitchFamily="1" charset="0"/>
              </a:rPr>
              <a:t> (packets)</a:t>
            </a:r>
          </a:p>
          <a:p>
            <a:pPr>
              <a:lnSpc>
                <a:spcPct val="30000"/>
              </a:lnSpc>
              <a:buFont typeface="Wingdings" pitchFamily="1" charset="2"/>
              <a:buNone/>
            </a:pPr>
            <a:r>
              <a:rPr lang="en-US" sz="1500" b="1">
                <a:latin typeface="Courier New" pitchFamily="1" charset="0"/>
              </a:rPr>
              <a:t>            (pkts matched/bytes matched) </a:t>
            </a:r>
            <a:r>
              <a:rPr lang="en-US" sz="1500" b="1">
                <a:solidFill>
                  <a:schemeClr val="folHlink"/>
                </a:solidFill>
                <a:latin typeface="Courier New" pitchFamily="1" charset="0"/>
              </a:rPr>
              <a:t>2/0</a:t>
            </a:r>
          </a:p>
          <a:p>
            <a:pPr>
              <a:lnSpc>
                <a:spcPct val="30000"/>
              </a:lnSpc>
              <a:buFont typeface="Wingdings" pitchFamily="1" charset="2"/>
              <a:buNone/>
            </a:pPr>
            <a:r>
              <a:rPr lang="en-US" sz="1500" b="1">
                <a:latin typeface="Courier New" pitchFamily="1" charset="0"/>
              </a:rPr>
              <a:t>        (depth/total drops/no-buffer drops) </a:t>
            </a:r>
            <a:r>
              <a:rPr lang="en-US" sz="1500" b="1">
                <a:solidFill>
                  <a:schemeClr val="folHlink"/>
                </a:solidFill>
                <a:latin typeface="Courier New" pitchFamily="1" charset="0"/>
              </a:rPr>
              <a:t>0/0</a:t>
            </a:r>
            <a:r>
              <a:rPr lang="en-US" sz="1500" b="1">
                <a:latin typeface="Courier New" pitchFamily="1" charset="0"/>
              </a:rPr>
              <a:t>/0</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solidFill>
                  <a:srgbClr val="FF3399"/>
                </a:solidFill>
                <a:latin typeface="Courier New" pitchFamily="1" charset="0"/>
              </a:rPr>
              <a:t>        Class-map: class-default (match-any)</a:t>
            </a:r>
          </a:p>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1 packets, 60 bytes</a:t>
            </a:r>
          </a:p>
          <a:p>
            <a:pPr>
              <a:lnSpc>
                <a:spcPct val="30000"/>
              </a:lnSpc>
              <a:buFont typeface="Wingdings" pitchFamily="1" charset="2"/>
              <a:buNone/>
            </a:pPr>
            <a:r>
              <a:rPr lang="en-US" sz="1500" b="1">
                <a:latin typeface="Courier New" pitchFamily="1" charset="0"/>
              </a:rPr>
              <a:t>          5 minute offered rate 0 bps, drop rate 0 bps</a:t>
            </a:r>
          </a:p>
          <a:p>
            <a:pPr>
              <a:lnSpc>
                <a:spcPct val="30000"/>
              </a:lnSpc>
              <a:buFont typeface="Wingdings" pitchFamily="1" charset="2"/>
              <a:buNone/>
            </a:pPr>
            <a:r>
              <a:rPr lang="en-US" sz="1500" b="1">
                <a:latin typeface="Courier New" pitchFamily="1" charset="0"/>
              </a:rPr>
              <a:t>          Match: any</a:t>
            </a:r>
          </a:p>
          <a:p>
            <a:pPr>
              <a:lnSpc>
                <a:spcPct val="30000"/>
              </a:lnSpc>
              <a:buFont typeface="Wingdings" pitchFamily="1" charset="2"/>
              <a:buNone/>
            </a:pPr>
            <a:r>
              <a:rPr lang="en-US" sz="1500" b="1">
                <a:latin typeface="Courier New" pitchFamily="1" charset="0"/>
              </a:rPr>
              <a:t>          Queueing</a:t>
            </a:r>
          </a:p>
          <a:p>
            <a:pPr>
              <a:lnSpc>
                <a:spcPct val="30000"/>
              </a:lnSpc>
              <a:buFont typeface="Wingdings" pitchFamily="1" charset="2"/>
              <a:buNone/>
            </a:pPr>
            <a:r>
              <a:rPr lang="en-US" sz="1500" b="1">
                <a:latin typeface="Courier New" pitchFamily="1" charset="0"/>
              </a:rPr>
              <a:t>            </a:t>
            </a:r>
            <a:r>
              <a:rPr lang="en-US" sz="1500" b="1">
                <a:solidFill>
                  <a:schemeClr val="folHlink"/>
                </a:solidFill>
                <a:latin typeface="Courier New" pitchFamily="1" charset="0"/>
              </a:rPr>
              <a:t>Flow Based Fair Queueing</a:t>
            </a:r>
          </a:p>
          <a:p>
            <a:pPr>
              <a:lnSpc>
                <a:spcPct val="30000"/>
              </a:lnSpc>
              <a:buFont typeface="Wingdings" pitchFamily="1" charset="2"/>
              <a:buNone/>
            </a:pPr>
            <a:r>
              <a:rPr lang="en-US" sz="1500" b="1">
                <a:latin typeface="Courier New" pitchFamily="1" charset="0"/>
              </a:rPr>
              <a:t>            Maximum Number of Hashed Queues 128</a:t>
            </a:r>
          </a:p>
          <a:p>
            <a:pPr>
              <a:lnSpc>
                <a:spcPct val="30000"/>
              </a:lnSpc>
              <a:buFont typeface="Wingdings" pitchFamily="1" charset="2"/>
              <a:buNone/>
            </a:pPr>
            <a:r>
              <a:rPr lang="en-US" sz="1500" b="1">
                <a:latin typeface="Courier New" pitchFamily="1" charset="0"/>
              </a:rPr>
              <a:t>        (total queued/total drops/no-buffer drops) </a:t>
            </a:r>
            <a:r>
              <a:rPr lang="en-US" sz="1500" b="1">
                <a:solidFill>
                  <a:schemeClr val="folHlink"/>
                </a:solidFill>
                <a:latin typeface="Courier New" pitchFamily="1" charset="0"/>
              </a:rPr>
              <a:t>0/0</a:t>
            </a:r>
            <a:r>
              <a:rPr lang="en-US" sz="1500" b="1">
                <a:latin typeface="Courier New" pitchFamily="1" charset="0"/>
              </a:rPr>
              <a:t>/0</a:t>
            </a:r>
          </a:p>
          <a:p>
            <a:pPr>
              <a:lnSpc>
                <a:spcPct val="30000"/>
              </a:lnSpc>
              <a:buFont typeface="Wingdings" pitchFamily="1" charset="2"/>
              <a:buNone/>
            </a:pPr>
            <a:r>
              <a:rPr lang="en-US" sz="1500" b="1">
                <a:latin typeface="Courier New" pitchFamily="1" charset="0"/>
              </a:rPr>
              <a:t>             exponential weight: 9</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latin typeface="Courier New" pitchFamily="1" charset="0"/>
              </a:rPr>
              <a:t>  class    Transmitted      Random drop      Tail drop    Minimum Maximum  Mark</a:t>
            </a:r>
          </a:p>
          <a:p>
            <a:pPr>
              <a:lnSpc>
                <a:spcPct val="30000"/>
              </a:lnSpc>
              <a:buFont typeface="Wingdings" pitchFamily="1" charset="2"/>
              <a:buNone/>
            </a:pPr>
            <a:r>
              <a:rPr lang="en-US" sz="1500" b="1">
                <a:latin typeface="Courier New" pitchFamily="1" charset="0"/>
              </a:rPr>
              <a:t>           pkts/bytes       pkts/bytes       pkts/bytes    thresh  thresh  prob</a:t>
            </a:r>
          </a:p>
          <a:p>
            <a:pPr>
              <a:lnSpc>
                <a:spcPct val="30000"/>
              </a:lnSpc>
              <a:buFont typeface="Wingdings" pitchFamily="1" charset="2"/>
              <a:buNone/>
            </a:pPr>
            <a:r>
              <a:rPr lang="en-US" sz="1500" b="1">
                <a:latin typeface="Courier New" pitchFamily="1" charset="0"/>
              </a:rPr>
              <a:t>      </a:t>
            </a:r>
            <a:r>
              <a:rPr lang="en-US" sz="1500" b="1">
                <a:solidFill>
                  <a:srgbClr val="669900"/>
                </a:solidFill>
                <a:latin typeface="Courier New" pitchFamily="1" charset="0"/>
              </a:rPr>
              <a:t>0       3/452             0/0              0/0           20      40  1/10</a:t>
            </a:r>
          </a:p>
          <a:p>
            <a:pPr>
              <a:lnSpc>
                <a:spcPct val="30000"/>
              </a:lnSpc>
              <a:buFont typeface="Wingdings" pitchFamily="1" charset="2"/>
              <a:buNone/>
            </a:pPr>
            <a:r>
              <a:rPr lang="en-US" sz="1500" b="1">
                <a:solidFill>
                  <a:srgbClr val="669900"/>
                </a:solidFill>
                <a:latin typeface="Courier New" pitchFamily="1" charset="0"/>
              </a:rPr>
              <a:t>      1       0/0               0/0              0/0           22      40  1/10</a:t>
            </a:r>
          </a:p>
          <a:p>
            <a:pPr>
              <a:lnSpc>
                <a:spcPct val="30000"/>
              </a:lnSpc>
              <a:buFont typeface="Wingdings" pitchFamily="1" charset="2"/>
              <a:buNone/>
            </a:pPr>
            <a:r>
              <a:rPr lang="en-US" sz="1500" b="1">
                <a:solidFill>
                  <a:srgbClr val="669900"/>
                </a:solidFill>
                <a:latin typeface="Courier New" pitchFamily="1" charset="0"/>
              </a:rPr>
              <a:t>      2       0/0               0/0              0/0           24      40  1/10</a:t>
            </a:r>
          </a:p>
          <a:p>
            <a:pPr>
              <a:lnSpc>
                <a:spcPct val="30000"/>
              </a:lnSpc>
              <a:buFont typeface="Wingdings" pitchFamily="1" charset="2"/>
              <a:buNone/>
            </a:pPr>
            <a:r>
              <a:rPr lang="en-US" sz="1500" b="1">
                <a:solidFill>
                  <a:srgbClr val="669900"/>
                </a:solidFill>
                <a:latin typeface="Courier New" pitchFamily="1" charset="0"/>
              </a:rPr>
              <a:t>      3       0/0               0/0              0/0           26      40  1/10</a:t>
            </a:r>
          </a:p>
          <a:p>
            <a:pPr>
              <a:lnSpc>
                <a:spcPct val="30000"/>
              </a:lnSpc>
              <a:buFont typeface="Wingdings" pitchFamily="1" charset="2"/>
              <a:buNone/>
            </a:pPr>
            <a:r>
              <a:rPr lang="en-US" sz="1500" b="1">
                <a:solidFill>
                  <a:srgbClr val="669900"/>
                </a:solidFill>
                <a:latin typeface="Courier New" pitchFamily="1" charset="0"/>
              </a:rPr>
              <a:t>      4       0/0               0/0              0/0           28      40  1/10</a:t>
            </a:r>
          </a:p>
          <a:p>
            <a:pPr>
              <a:lnSpc>
                <a:spcPct val="30000"/>
              </a:lnSpc>
              <a:buFont typeface="Wingdings" pitchFamily="1" charset="2"/>
              <a:buNone/>
            </a:pPr>
            <a:r>
              <a:rPr lang="en-US" sz="1500" b="1">
                <a:solidFill>
                  <a:srgbClr val="669900"/>
                </a:solidFill>
                <a:latin typeface="Courier New" pitchFamily="1" charset="0"/>
              </a:rPr>
              <a:t>      5       0/0               0/0              0/0           30      40  1/10</a:t>
            </a:r>
          </a:p>
          <a:p>
            <a:pPr>
              <a:lnSpc>
                <a:spcPct val="30000"/>
              </a:lnSpc>
              <a:buFont typeface="Wingdings" pitchFamily="1" charset="2"/>
              <a:buNone/>
            </a:pPr>
            <a:r>
              <a:rPr lang="en-US" sz="1500" b="1">
                <a:solidFill>
                  <a:srgbClr val="669900"/>
                </a:solidFill>
                <a:latin typeface="Courier New" pitchFamily="1" charset="0"/>
              </a:rPr>
              <a:t>      6       0/0               0/0              0/0           32      40  1/10</a:t>
            </a:r>
          </a:p>
          <a:p>
            <a:pPr>
              <a:lnSpc>
                <a:spcPct val="30000"/>
              </a:lnSpc>
              <a:buFont typeface="Wingdings" pitchFamily="1" charset="2"/>
              <a:buNone/>
            </a:pPr>
            <a:r>
              <a:rPr lang="en-US" sz="1500" b="1">
                <a:solidFill>
                  <a:srgbClr val="669900"/>
                </a:solidFill>
                <a:latin typeface="Courier New" pitchFamily="1" charset="0"/>
              </a:rPr>
              <a:t>      7       0/0               0/0              0/0           34      40  1/10</a:t>
            </a:r>
          </a:p>
          <a:p>
            <a:pPr>
              <a:lnSpc>
                <a:spcPct val="30000"/>
              </a:lnSpc>
              <a:buFont typeface="Wingdings" pitchFamily="1" charset="2"/>
              <a:buNone/>
            </a:pPr>
            <a:r>
              <a:rPr lang="en-US" sz="1500" b="1">
                <a:solidFill>
                  <a:srgbClr val="669900"/>
                </a:solidFill>
                <a:latin typeface="Courier New" pitchFamily="1" charset="0"/>
              </a:rPr>
              <a:t>   rsvp       0/0               0/0              0/0           36      40  1/10</a:t>
            </a:r>
          </a:p>
          <a:p>
            <a:pPr>
              <a:lnSpc>
                <a:spcPct val="30000"/>
              </a:lnSpc>
              <a:buFont typeface="Wingdings" pitchFamily="1" charset="2"/>
              <a:buNone/>
            </a:pPr>
            <a:endParaRPr lang="en-US" sz="1500" b="1">
              <a:solidFill>
                <a:srgbClr val="669900"/>
              </a:solidFill>
              <a:latin typeface="Courier New" pitchFamily="1" charset="0"/>
            </a:endParaRPr>
          </a:p>
          <a:p>
            <a:pPr>
              <a:lnSpc>
                <a:spcPct val="30000"/>
              </a:lnSpc>
              <a:buFont typeface="Wingdings" pitchFamily="1" charset="2"/>
              <a:buNone/>
            </a:pPr>
            <a:endParaRPr lang="en-US" sz="1500" b="1">
              <a:latin typeface="Courier New" pitchFamily="1" charset="0"/>
            </a:endParaRPr>
          </a:p>
          <a:p>
            <a:pPr>
              <a:lnSpc>
                <a:spcPct val="75000"/>
              </a:lnSpc>
              <a:buFont typeface="Wingdings" pitchFamily="1" charset="2"/>
              <a:buNone/>
            </a:pPr>
            <a:endParaRPr lang="en-US" sz="1500" b="1">
              <a:latin typeface="Courier New" pitchFamily="1"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7" name="Rectangle 6"/>
          <p:cNvSpPr>
            <a:spLocks noChangeArrowheads="1"/>
          </p:cNvSpPr>
          <p:nvPr/>
        </p:nvSpPr>
        <p:spPr bwMode="auto">
          <a:xfrm>
            <a:off x="1872692" y="1561701"/>
            <a:ext cx="5029200" cy="415323"/>
          </a:xfrm>
          <a:prstGeom prst="rect">
            <a:avLst/>
          </a:prstGeom>
          <a:solidFill>
            <a:srgbClr val="015F85"/>
          </a:solidFill>
          <a:ln w="9525">
            <a:noFill/>
            <a:miter lim="800000"/>
            <a:headEnd/>
            <a:tailEnd/>
          </a:ln>
        </p:spPr>
        <p:txBody>
          <a:bodyPr lIns="82124" tIns="41061" rIns="82124" bIns="41061" anchor="ctr">
            <a:prstTxWarp prst="textNoShape">
              <a:avLst/>
            </a:prstTxWarp>
            <a:spAutoFit/>
          </a:bodyPr>
          <a:lstStyle/>
          <a:p>
            <a:endParaRPr lang="en-US"/>
          </a:p>
        </p:txBody>
      </p:sp>
      <p:sp>
        <p:nvSpPr>
          <p:cNvPr id="25605" name="Rectangle 7"/>
          <p:cNvSpPr>
            <a:spLocks noChangeArrowheads="1"/>
          </p:cNvSpPr>
          <p:nvPr/>
        </p:nvSpPr>
        <p:spPr bwMode="auto">
          <a:xfrm>
            <a:off x="2855641" y="1143000"/>
            <a:ext cx="6397625" cy="838200"/>
          </a:xfrm>
          <a:prstGeom prst="rect">
            <a:avLst/>
          </a:prstGeom>
          <a:noFill/>
          <a:ln w="9525">
            <a:noFill/>
            <a:miter lim="800000"/>
            <a:headEnd/>
            <a:tailEnd/>
          </a:ln>
        </p:spPr>
        <p:txBody>
          <a:bodyPr lIns="82124" tIns="41061" rIns="82124" bIns="41061" anchor="b">
            <a:prstTxWarp prst="textNoShape">
              <a:avLst/>
            </a:prstTxWarp>
          </a:bodyPr>
          <a:lstStyle/>
          <a:p>
            <a:pPr algn="l" defTabSz="814388" eaLnBrk="1" hangingPunct="1"/>
            <a:r>
              <a:rPr lang="en-US" sz="3200" b="1" dirty="0" err="1">
                <a:solidFill>
                  <a:schemeClr val="bg1"/>
                </a:solidFill>
              </a:rPr>
              <a:t>QoS</a:t>
            </a:r>
            <a:r>
              <a:rPr lang="en-US" sz="3200" b="1" dirty="0">
                <a:solidFill>
                  <a:schemeClr val="bg1"/>
                </a:solidFill>
              </a:rPr>
              <a:t> Models</a:t>
            </a:r>
          </a:p>
        </p:txBody>
      </p:sp>
      <p:pic>
        <p:nvPicPr>
          <p:cNvPr id="9" name="Picture 11" descr="Bob-the-bouncer"/>
          <p:cNvPicPr>
            <a:picLocks noChangeAspect="1" noChangeArrowheads="1"/>
          </p:cNvPicPr>
          <p:nvPr/>
        </p:nvPicPr>
        <p:blipFill>
          <a:blip r:embed="rId2"/>
          <a:srcRect/>
          <a:stretch>
            <a:fillRect/>
          </a:stretch>
        </p:blipFill>
        <p:spPr bwMode="auto">
          <a:xfrm>
            <a:off x="7968208" y="1220892"/>
            <a:ext cx="1566862" cy="2160587"/>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out)">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t>QoS Service Models</a:t>
            </a:r>
          </a:p>
        </p:txBody>
      </p:sp>
      <p:sp>
        <p:nvSpPr>
          <p:cNvPr id="36867" name="Rectangle 3"/>
          <p:cNvSpPr>
            <a:spLocks noGrp="1" noChangeArrowheads="1"/>
          </p:cNvSpPr>
          <p:nvPr>
            <p:ph idx="1"/>
          </p:nvPr>
        </p:nvSpPr>
        <p:spPr/>
        <p:txBody>
          <a:bodyPr/>
          <a:lstStyle/>
          <a:p>
            <a:r>
              <a:rPr lang="en-US"/>
              <a:t>These are global, high level framework describing how QoS can be applied in a network.</a:t>
            </a:r>
          </a:p>
          <a:p>
            <a:endParaRPr lang="en-US"/>
          </a:p>
          <a:p>
            <a:r>
              <a:rPr lang="en-US"/>
              <a:t>Three services models:</a:t>
            </a:r>
          </a:p>
          <a:p>
            <a:pPr lvl="1" indent="0"/>
            <a:r>
              <a:rPr lang="en-US" sz="2400"/>
              <a:t>Best Effort</a:t>
            </a:r>
          </a:p>
          <a:p>
            <a:pPr lvl="1" indent="0"/>
            <a:r>
              <a:rPr lang="en-US" sz="2400"/>
              <a:t>Integrated Services</a:t>
            </a:r>
          </a:p>
          <a:p>
            <a:pPr lvl="1" indent="0"/>
            <a:r>
              <a:rPr lang="en-US" sz="2400"/>
              <a:t>Differentiated Services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36867">
                                            <p:txEl>
                                              <p:pRg st="5" end="5"/>
                                            </p:txEl>
                                          </p:spTgt>
                                        </p:tgtEl>
                                        <p:attrNameLst>
                                          <p:attrName>style.color</p:attrName>
                                        </p:attrNameLst>
                                      </p:cBhvr>
                                      <p:to>
                                        <a:schemeClr val="folHlink"/>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QoS Model #1: Best Effort</a:t>
            </a:r>
          </a:p>
        </p:txBody>
      </p:sp>
      <p:sp>
        <p:nvSpPr>
          <p:cNvPr id="28675" name="Rectangle 3"/>
          <p:cNvSpPr>
            <a:spLocks noGrp="1" noChangeArrowheads="1"/>
          </p:cNvSpPr>
          <p:nvPr>
            <p:ph idx="1"/>
          </p:nvPr>
        </p:nvSpPr>
        <p:spPr>
          <a:xfrm>
            <a:off x="2179639" y="1700213"/>
            <a:ext cx="7940675" cy="4292600"/>
          </a:xfrm>
        </p:spPr>
        <p:txBody>
          <a:bodyPr/>
          <a:lstStyle/>
          <a:p>
            <a:pPr>
              <a:lnSpc>
                <a:spcPct val="100000"/>
              </a:lnSpc>
              <a:spcBef>
                <a:spcPct val="0"/>
              </a:spcBef>
              <a:buSzTx/>
            </a:pPr>
            <a:r>
              <a:rPr lang="en-US"/>
              <a:t>First come, first served basis</a:t>
            </a:r>
          </a:p>
          <a:p>
            <a:pPr>
              <a:lnSpc>
                <a:spcPct val="100000"/>
              </a:lnSpc>
              <a:spcBef>
                <a:spcPct val="0"/>
              </a:spcBef>
              <a:buSzTx/>
            </a:pPr>
            <a:endParaRPr lang="en-US"/>
          </a:p>
          <a:p>
            <a:pPr>
              <a:lnSpc>
                <a:spcPct val="100000"/>
              </a:lnSpc>
              <a:spcBef>
                <a:spcPct val="0"/>
              </a:spcBef>
              <a:buSzTx/>
            </a:pPr>
            <a:endParaRPr lang="en-US" sz="1500"/>
          </a:p>
          <a:p>
            <a:pPr>
              <a:lnSpc>
                <a:spcPct val="100000"/>
              </a:lnSpc>
              <a:spcBef>
                <a:spcPct val="0"/>
              </a:spcBef>
              <a:buSzTx/>
            </a:pPr>
            <a:r>
              <a:rPr lang="en-US"/>
              <a:t>Network’s behavior:</a:t>
            </a:r>
          </a:p>
          <a:p>
            <a:pPr lvl="1" indent="0">
              <a:lnSpc>
                <a:spcPct val="100000"/>
              </a:lnSpc>
              <a:spcBef>
                <a:spcPct val="0"/>
              </a:spcBef>
            </a:pPr>
            <a:r>
              <a:rPr lang="en-US" sz="2400">
                <a:solidFill>
                  <a:schemeClr val="tx2"/>
                </a:solidFill>
              </a:rPr>
              <a:t>Treats all traffic the same and on a first come, first served basis.</a:t>
            </a:r>
          </a:p>
          <a:p>
            <a:pPr lvl="1" indent="0">
              <a:lnSpc>
                <a:spcPct val="100000"/>
              </a:lnSpc>
              <a:spcBef>
                <a:spcPct val="0"/>
              </a:spcBef>
            </a:pPr>
            <a:r>
              <a:rPr lang="en-US" sz="2400"/>
              <a:t>  </a:t>
            </a:r>
          </a:p>
          <a:p>
            <a:pPr>
              <a:buSzTx/>
            </a:pPr>
            <a:r>
              <a:rPr lang="en-US"/>
              <a:t>Drawbacks</a:t>
            </a:r>
          </a:p>
          <a:p>
            <a:pPr lvl="1" indent="0">
              <a:buClr>
                <a:schemeClr val="tx2"/>
              </a:buClr>
            </a:pPr>
            <a:r>
              <a:rPr lang="en-US" sz="2400"/>
              <a:t>Delivers data if it can, with </a:t>
            </a:r>
            <a:r>
              <a:rPr lang="en-US" sz="2400">
                <a:solidFill>
                  <a:schemeClr val="folHlink"/>
                </a:solidFill>
              </a:rPr>
              <a:t>no assurances</a:t>
            </a:r>
            <a:r>
              <a:rPr lang="en-US" sz="2400"/>
              <a:t> of reliability, delay bounds, or throughput.   So basically no QoS ;)</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t>QoS Model #2: Integrated Services</a:t>
            </a:r>
          </a:p>
        </p:txBody>
      </p:sp>
      <p:sp>
        <p:nvSpPr>
          <p:cNvPr id="29699" name="Rectangle 3"/>
          <p:cNvSpPr>
            <a:spLocks noGrp="1" noChangeArrowheads="1"/>
          </p:cNvSpPr>
          <p:nvPr>
            <p:ph idx="1"/>
          </p:nvPr>
        </p:nvSpPr>
        <p:spPr>
          <a:xfrm>
            <a:off x="2035176" y="1628775"/>
            <a:ext cx="8093075" cy="4679950"/>
          </a:xfrm>
        </p:spPr>
        <p:txBody>
          <a:bodyPr/>
          <a:lstStyle/>
          <a:p>
            <a:pPr>
              <a:lnSpc>
                <a:spcPct val="100000"/>
              </a:lnSpc>
              <a:spcBef>
                <a:spcPct val="0"/>
              </a:spcBef>
              <a:buSzTx/>
            </a:pPr>
            <a:r>
              <a:rPr lang="en-US"/>
              <a:t>Dynamic allocation of resources</a:t>
            </a:r>
          </a:p>
          <a:p>
            <a:pPr>
              <a:lnSpc>
                <a:spcPct val="100000"/>
              </a:lnSpc>
              <a:spcBef>
                <a:spcPct val="0"/>
              </a:spcBef>
              <a:buSzTx/>
            </a:pPr>
            <a:endParaRPr lang="en-US"/>
          </a:p>
          <a:p>
            <a:pPr>
              <a:lnSpc>
                <a:spcPct val="100000"/>
              </a:lnSpc>
              <a:spcBef>
                <a:spcPct val="0"/>
              </a:spcBef>
              <a:buSzTx/>
            </a:pPr>
            <a:endParaRPr lang="en-US" sz="1500"/>
          </a:p>
          <a:p>
            <a:pPr>
              <a:lnSpc>
                <a:spcPct val="100000"/>
              </a:lnSpc>
              <a:spcBef>
                <a:spcPct val="0"/>
              </a:spcBef>
              <a:buSzTx/>
            </a:pPr>
            <a:r>
              <a:rPr lang="en-US"/>
              <a:t>Network’s behavior:</a:t>
            </a:r>
          </a:p>
          <a:p>
            <a:pPr lvl="1" indent="0">
              <a:lnSpc>
                <a:spcPct val="100000"/>
              </a:lnSpc>
              <a:spcBef>
                <a:spcPct val="0"/>
              </a:spcBef>
            </a:pPr>
            <a:r>
              <a:rPr lang="en-US" sz="2400">
                <a:solidFill>
                  <a:schemeClr val="tx2"/>
                </a:solidFill>
              </a:rPr>
              <a:t>Applications requests a specific level of service before starting to send data.</a:t>
            </a:r>
          </a:p>
          <a:p>
            <a:pPr lvl="1" indent="0">
              <a:lnSpc>
                <a:spcPct val="100000"/>
              </a:lnSpc>
              <a:spcBef>
                <a:spcPct val="0"/>
              </a:spcBef>
            </a:pPr>
            <a:r>
              <a:rPr lang="en-US" sz="2400"/>
              <a:t>  </a:t>
            </a:r>
          </a:p>
          <a:p>
            <a:pPr>
              <a:buSzTx/>
            </a:pPr>
            <a:r>
              <a:rPr lang="en-US"/>
              <a:t>Drawbacks</a:t>
            </a:r>
          </a:p>
          <a:p>
            <a:pPr lvl="1" indent="0">
              <a:buClr>
                <a:schemeClr val="tx2"/>
              </a:buClr>
            </a:pPr>
            <a:r>
              <a:rPr lang="en-US" sz="2400"/>
              <a:t>Requires </a:t>
            </a:r>
            <a:r>
              <a:rPr lang="en-US" sz="2400">
                <a:solidFill>
                  <a:schemeClr val="folHlink"/>
                </a:solidFill>
              </a:rPr>
              <a:t>explicit signaling</a:t>
            </a:r>
            <a:r>
              <a:rPr lang="en-US" sz="2400"/>
              <a:t> through protocol (RSVP)</a:t>
            </a:r>
          </a:p>
          <a:p>
            <a:pPr lvl="1" indent="0">
              <a:buClr>
                <a:schemeClr val="tx2"/>
              </a:buClr>
            </a:pPr>
            <a:r>
              <a:rPr lang="en-US" sz="2400">
                <a:solidFill>
                  <a:schemeClr val="folHlink"/>
                </a:solidFill>
              </a:rPr>
              <a:t>Overhead</a:t>
            </a:r>
            <a:r>
              <a:rPr lang="en-US" sz="2400"/>
              <a:t> in network services, scalability issues.</a:t>
            </a:r>
            <a:r>
              <a:rPr lang="en-US"/>
              <a:t> </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t>QoS Model #3: Differentiated Services</a:t>
            </a:r>
          </a:p>
        </p:txBody>
      </p:sp>
      <p:sp>
        <p:nvSpPr>
          <p:cNvPr id="30723" name="Rectangle 3"/>
          <p:cNvSpPr>
            <a:spLocks noGrp="1" noChangeArrowheads="1"/>
          </p:cNvSpPr>
          <p:nvPr>
            <p:ph idx="1"/>
          </p:nvPr>
        </p:nvSpPr>
        <p:spPr>
          <a:xfrm>
            <a:off x="2179639" y="1700213"/>
            <a:ext cx="7940675" cy="4508500"/>
          </a:xfrm>
        </p:spPr>
        <p:txBody>
          <a:bodyPr/>
          <a:lstStyle/>
          <a:p>
            <a:pPr>
              <a:lnSpc>
                <a:spcPct val="100000"/>
              </a:lnSpc>
            </a:pPr>
            <a:r>
              <a:rPr lang="en-US"/>
              <a:t>Flows are aggregated in the network</a:t>
            </a:r>
          </a:p>
          <a:p>
            <a:pPr>
              <a:lnSpc>
                <a:spcPct val="100000"/>
              </a:lnSpc>
              <a:spcBef>
                <a:spcPct val="0"/>
              </a:spcBef>
              <a:buSzTx/>
            </a:pPr>
            <a:endParaRPr lang="en-US"/>
          </a:p>
          <a:p>
            <a:pPr>
              <a:lnSpc>
                <a:spcPct val="100000"/>
              </a:lnSpc>
              <a:spcBef>
                <a:spcPct val="0"/>
              </a:spcBef>
              <a:buSzTx/>
            </a:pPr>
            <a:endParaRPr lang="en-US" sz="1500"/>
          </a:p>
          <a:p>
            <a:pPr>
              <a:lnSpc>
                <a:spcPct val="100000"/>
              </a:lnSpc>
              <a:spcBef>
                <a:spcPct val="0"/>
              </a:spcBef>
              <a:buSzTx/>
            </a:pPr>
            <a:r>
              <a:rPr lang="en-US"/>
              <a:t>Network’s behavior:</a:t>
            </a:r>
          </a:p>
          <a:p>
            <a:pPr lvl="1" indent="0">
              <a:lnSpc>
                <a:spcPct val="100000"/>
              </a:lnSpc>
              <a:spcBef>
                <a:spcPct val="0"/>
              </a:spcBef>
            </a:pPr>
            <a:r>
              <a:rPr lang="en-US" sz="2400">
                <a:solidFill>
                  <a:schemeClr val="tx2"/>
                </a:solidFill>
              </a:rPr>
              <a:t>Small numbers of aggregated flow follow the behavior implemented on each hop (‘Per Hop Behavior’).</a:t>
            </a:r>
          </a:p>
          <a:p>
            <a:pPr lvl="1" indent="0">
              <a:lnSpc>
                <a:spcPct val="100000"/>
              </a:lnSpc>
              <a:spcBef>
                <a:spcPct val="0"/>
              </a:spcBef>
            </a:pPr>
            <a:r>
              <a:rPr lang="en-US" sz="2400"/>
              <a:t>  </a:t>
            </a:r>
          </a:p>
          <a:p>
            <a:pPr>
              <a:buSzTx/>
            </a:pPr>
            <a:r>
              <a:rPr lang="en-US"/>
              <a:t>Drawbacks</a:t>
            </a:r>
          </a:p>
          <a:p>
            <a:pPr lvl="1" indent="0">
              <a:buClr>
                <a:schemeClr val="tx2"/>
              </a:buClr>
            </a:pPr>
            <a:r>
              <a:rPr lang="en-US" sz="2400"/>
              <a:t>Needs </a:t>
            </a:r>
            <a:r>
              <a:rPr lang="en-US" sz="2400">
                <a:solidFill>
                  <a:schemeClr val="folHlink"/>
                </a:solidFill>
              </a:rPr>
              <a:t>standardized</a:t>
            </a:r>
            <a:r>
              <a:rPr lang="en-US" sz="2400"/>
              <a:t> policies to ensure end-to-end services</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t>DiffServ Architecture</a:t>
            </a:r>
          </a:p>
        </p:txBody>
      </p:sp>
      <p:sp>
        <p:nvSpPr>
          <p:cNvPr id="32771" name="Rectangle 3"/>
          <p:cNvSpPr>
            <a:spLocks noGrp="1" noChangeArrowheads="1"/>
          </p:cNvSpPr>
          <p:nvPr>
            <p:ph idx="1"/>
          </p:nvPr>
        </p:nvSpPr>
        <p:spPr>
          <a:xfrm>
            <a:off x="2179639" y="1484314"/>
            <a:ext cx="7940675" cy="4897437"/>
          </a:xfrm>
        </p:spPr>
        <p:txBody>
          <a:bodyPr/>
          <a:lstStyle/>
          <a:p>
            <a:r>
              <a:rPr lang="en-US"/>
              <a:t>Network Boundaries: Traffic Conditioner Block</a:t>
            </a:r>
          </a:p>
          <a:p>
            <a:pPr lvl="1" indent="0"/>
            <a:r>
              <a:rPr lang="en-US" sz="2400"/>
              <a:t>Incoming traffic is </a:t>
            </a:r>
            <a:r>
              <a:rPr lang="en-US" sz="2400">
                <a:solidFill>
                  <a:srgbClr val="FF3399"/>
                </a:solidFill>
              </a:rPr>
              <a:t>classified</a:t>
            </a:r>
            <a:r>
              <a:rPr lang="en-US" sz="2400"/>
              <a:t> and can be conditioned (metered, </a:t>
            </a:r>
            <a:r>
              <a:rPr lang="en-US" sz="2400">
                <a:solidFill>
                  <a:schemeClr val="tx2"/>
                </a:solidFill>
              </a:rPr>
              <a:t>delayed</a:t>
            </a:r>
            <a:r>
              <a:rPr lang="en-US" sz="2400"/>
              <a:t>, </a:t>
            </a:r>
            <a:r>
              <a:rPr lang="en-US" sz="2400">
                <a:solidFill>
                  <a:schemeClr val="accent2"/>
                </a:solidFill>
              </a:rPr>
              <a:t>dropped</a:t>
            </a:r>
            <a:r>
              <a:rPr lang="en-US" sz="2400"/>
              <a:t>)</a:t>
            </a:r>
            <a:endParaRPr lang="en-US" sz="2400">
              <a:solidFill>
                <a:schemeClr val="accent2"/>
              </a:solidFill>
            </a:endParaRPr>
          </a:p>
          <a:p>
            <a:pPr lvl="1" indent="0"/>
            <a:r>
              <a:rPr lang="en-US" sz="2400"/>
              <a:t>Is </a:t>
            </a:r>
            <a:r>
              <a:rPr lang="en-US" sz="2400">
                <a:solidFill>
                  <a:srgbClr val="5A2785"/>
                </a:solidFill>
              </a:rPr>
              <a:t>assigned</a:t>
            </a:r>
            <a:r>
              <a:rPr lang="en-US" sz="2400"/>
              <a:t> to an aggregate flow matching a behavior.  This is done by </a:t>
            </a:r>
            <a:r>
              <a:rPr lang="en-US" sz="2400">
                <a:solidFill>
                  <a:srgbClr val="5A2785"/>
                </a:solidFill>
              </a:rPr>
              <a:t>marking</a:t>
            </a:r>
            <a:r>
              <a:rPr lang="en-US" sz="2400"/>
              <a:t> it with a DiffServ Code Point (DSCP).</a:t>
            </a:r>
          </a:p>
          <a:p>
            <a:pPr lvl="1" indent="0"/>
            <a:endParaRPr lang="en-US" sz="2400"/>
          </a:p>
          <a:p>
            <a:r>
              <a:rPr lang="en-US"/>
              <a:t>Network Core: Per Hop Behavior</a:t>
            </a:r>
          </a:p>
          <a:p>
            <a:pPr lvl="1" indent="0"/>
            <a:r>
              <a:rPr lang="en-US" sz="2400"/>
              <a:t>Traffic is </a:t>
            </a:r>
            <a:r>
              <a:rPr lang="en-US" sz="2400">
                <a:solidFill>
                  <a:schemeClr val="folHlink"/>
                </a:solidFill>
              </a:rPr>
              <a:t>forwarded/</a:t>
            </a:r>
            <a:r>
              <a:rPr lang="en-US" sz="2400">
                <a:solidFill>
                  <a:srgbClr val="669900"/>
                </a:solidFill>
              </a:rPr>
              <a:t>dropped</a:t>
            </a:r>
            <a:r>
              <a:rPr lang="en-US" sz="2400"/>
              <a:t> according to the Per Hop Behavior corresponding to its DiffServ Code Point.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t>DiffServ Architecture</a:t>
            </a:r>
          </a:p>
        </p:txBody>
      </p:sp>
      <p:pic>
        <p:nvPicPr>
          <p:cNvPr id="34819" name="Picture 3" descr="slid51_DiffServ Region"/>
          <p:cNvPicPr>
            <a:picLocks noChangeArrowheads="1"/>
          </p:cNvPicPr>
          <p:nvPr/>
        </p:nvPicPr>
        <p:blipFill>
          <a:blip r:embed="rId2"/>
          <a:srcRect/>
          <a:stretch>
            <a:fillRect/>
          </a:stretch>
        </p:blipFill>
        <p:spPr bwMode="auto">
          <a:xfrm>
            <a:off x="2640013" y="1406526"/>
            <a:ext cx="6837362" cy="4327525"/>
          </a:xfrm>
          <a:prstGeom prst="rect">
            <a:avLst/>
          </a:prstGeom>
          <a:noFill/>
          <a:ln w="9525">
            <a:noFill/>
            <a:miter lim="800000"/>
            <a:headEnd/>
            <a:tailEnd/>
          </a:ln>
        </p:spPr>
      </p:pic>
      <p:grpSp>
        <p:nvGrpSpPr>
          <p:cNvPr id="2" name="Group 4"/>
          <p:cNvGrpSpPr>
            <a:grpSpLocks/>
          </p:cNvGrpSpPr>
          <p:nvPr/>
        </p:nvGrpSpPr>
        <p:grpSpPr bwMode="auto">
          <a:xfrm>
            <a:off x="2335213" y="5148264"/>
            <a:ext cx="3021012" cy="1368425"/>
            <a:chOff x="427" y="3248"/>
            <a:chExt cx="1903" cy="862"/>
          </a:xfrm>
        </p:grpSpPr>
        <p:sp>
          <p:nvSpPr>
            <p:cNvPr id="34824" name="AutoShape 5"/>
            <p:cNvSpPr>
              <a:spLocks noChangeArrowheads="1"/>
            </p:cNvSpPr>
            <p:nvPr/>
          </p:nvSpPr>
          <p:spPr bwMode="auto">
            <a:xfrm>
              <a:off x="442" y="3264"/>
              <a:ext cx="1872" cy="816"/>
            </a:xfrm>
            <a:prstGeom prst="roundRect">
              <a:avLst>
                <a:gd name="adj" fmla="val 16667"/>
              </a:avLst>
            </a:prstGeom>
            <a:solidFill>
              <a:schemeClr val="tx2"/>
            </a:solidFill>
            <a:ln w="9525">
              <a:solidFill>
                <a:schemeClr val="tx1"/>
              </a:solidFill>
              <a:round/>
              <a:headEnd/>
              <a:tailEnd/>
            </a:ln>
          </p:spPr>
          <p:txBody>
            <a:bodyPr wrap="none" lIns="73025" tIns="36512" rIns="73025" bIns="36512" anchor="ctr">
              <a:prstTxWarp prst="textNoShape">
                <a:avLst/>
              </a:prstTxWarp>
            </a:bodyPr>
            <a:lstStyle/>
            <a:p>
              <a:endParaRPr lang="en-US"/>
            </a:p>
          </p:txBody>
        </p:sp>
        <p:sp>
          <p:nvSpPr>
            <p:cNvPr id="34825" name="AutoShape 6"/>
            <p:cNvSpPr>
              <a:spLocks noChangeAspect="1" noChangeArrowheads="1"/>
            </p:cNvSpPr>
            <p:nvPr/>
          </p:nvSpPr>
          <p:spPr bwMode="auto">
            <a:xfrm>
              <a:off x="427" y="3248"/>
              <a:ext cx="1903" cy="862"/>
            </a:xfrm>
            <a:prstGeom prst="roundRect">
              <a:avLst>
                <a:gd name="adj" fmla="val 16667"/>
              </a:avLst>
            </a:prstGeom>
            <a:solidFill>
              <a:schemeClr val="tx2"/>
            </a:solidFill>
            <a:ln w="12700">
              <a:solidFill>
                <a:schemeClr val="tx1"/>
              </a:solidFill>
              <a:round/>
              <a:headEnd/>
              <a:tailEnd/>
            </a:ln>
          </p:spPr>
          <p:txBody>
            <a:bodyPr lIns="73025" tIns="36512" rIns="73025" bIns="36512">
              <a:prstTxWarp prst="textNoShape">
                <a:avLst/>
              </a:prstTxWarp>
              <a:spAutoFit/>
            </a:bodyPr>
            <a:lstStyle/>
            <a:p>
              <a:pPr>
                <a:lnSpc>
                  <a:spcPct val="100000"/>
                </a:lnSpc>
                <a:spcBef>
                  <a:spcPct val="50000"/>
                </a:spcBef>
              </a:pPr>
              <a:r>
                <a:rPr lang="en-US" sz="2000" b="1"/>
                <a:t>TCB in Cisco IOS</a:t>
              </a:r>
            </a:p>
            <a:p>
              <a:pPr>
                <a:lnSpc>
                  <a:spcPct val="70000"/>
                </a:lnSpc>
                <a:spcBef>
                  <a:spcPct val="50000"/>
                </a:spcBef>
              </a:pPr>
              <a:r>
                <a:rPr lang="en-US" sz="1400" b="1"/>
                <a:t>Class-Based Policing</a:t>
              </a:r>
              <a:br>
                <a:rPr lang="en-US" sz="1400" b="1"/>
              </a:br>
              <a:r>
                <a:rPr lang="en-US" sz="1400" b="1"/>
                <a:t>and Shaping</a:t>
              </a:r>
            </a:p>
            <a:p>
              <a:pPr>
                <a:lnSpc>
                  <a:spcPct val="80000"/>
                </a:lnSpc>
                <a:spcBef>
                  <a:spcPct val="50000"/>
                </a:spcBef>
              </a:pPr>
              <a:r>
                <a:rPr lang="en-US" sz="1400" b="1"/>
                <a:t>MQC-Based Classification</a:t>
              </a:r>
              <a:br>
                <a:rPr lang="en-US" sz="1400" b="1"/>
              </a:br>
              <a:r>
                <a:rPr lang="en-US" sz="1400" b="1"/>
                <a:t>and Marking</a:t>
              </a:r>
            </a:p>
          </p:txBody>
        </p:sp>
      </p:grpSp>
      <p:grpSp>
        <p:nvGrpSpPr>
          <p:cNvPr id="3" name="Group 7"/>
          <p:cNvGrpSpPr>
            <a:grpSpLocks/>
          </p:cNvGrpSpPr>
          <p:nvPr/>
        </p:nvGrpSpPr>
        <p:grpSpPr bwMode="auto">
          <a:xfrm>
            <a:off x="7059613" y="5181600"/>
            <a:ext cx="2017712" cy="1066800"/>
            <a:chOff x="3593" y="3264"/>
            <a:chExt cx="1271" cy="672"/>
          </a:xfrm>
        </p:grpSpPr>
        <p:sp>
          <p:nvSpPr>
            <p:cNvPr id="34822" name="AutoShape 8"/>
            <p:cNvSpPr>
              <a:spLocks noChangeArrowheads="1"/>
            </p:cNvSpPr>
            <p:nvPr/>
          </p:nvSpPr>
          <p:spPr bwMode="auto">
            <a:xfrm>
              <a:off x="3593" y="3264"/>
              <a:ext cx="1255" cy="672"/>
            </a:xfrm>
            <a:prstGeom prst="roundRect">
              <a:avLst>
                <a:gd name="adj" fmla="val 16667"/>
              </a:avLst>
            </a:prstGeom>
            <a:solidFill>
              <a:schemeClr val="tx2"/>
            </a:solidFill>
            <a:ln w="9525">
              <a:solidFill>
                <a:schemeClr val="tx1"/>
              </a:solidFill>
              <a:round/>
              <a:headEnd/>
              <a:tailEnd/>
            </a:ln>
          </p:spPr>
          <p:txBody>
            <a:bodyPr wrap="none" lIns="73025" tIns="36512" rIns="73025" bIns="36512" anchor="ctr">
              <a:prstTxWarp prst="textNoShape">
                <a:avLst/>
              </a:prstTxWarp>
            </a:bodyPr>
            <a:lstStyle/>
            <a:p>
              <a:endParaRPr lang="en-US"/>
            </a:p>
          </p:txBody>
        </p:sp>
        <p:sp>
          <p:nvSpPr>
            <p:cNvPr id="34823" name="AutoShape 9"/>
            <p:cNvSpPr>
              <a:spLocks noChangeAspect="1" noChangeArrowheads="1"/>
            </p:cNvSpPr>
            <p:nvPr/>
          </p:nvSpPr>
          <p:spPr bwMode="auto">
            <a:xfrm>
              <a:off x="3600" y="3264"/>
              <a:ext cx="1264" cy="661"/>
            </a:xfrm>
            <a:prstGeom prst="roundRect">
              <a:avLst>
                <a:gd name="adj" fmla="val 16667"/>
              </a:avLst>
            </a:prstGeom>
            <a:noFill/>
            <a:ln w="12700">
              <a:noFill/>
              <a:round/>
              <a:headEnd/>
              <a:tailEnd/>
            </a:ln>
          </p:spPr>
          <p:txBody>
            <a:bodyPr lIns="73025" tIns="36512" rIns="73025" bIns="36512">
              <a:prstTxWarp prst="textNoShape">
                <a:avLst/>
              </a:prstTxWarp>
              <a:spAutoFit/>
            </a:bodyPr>
            <a:lstStyle/>
            <a:p>
              <a:pPr>
                <a:lnSpc>
                  <a:spcPct val="100000"/>
                </a:lnSpc>
                <a:spcBef>
                  <a:spcPct val="50000"/>
                </a:spcBef>
              </a:pPr>
              <a:r>
                <a:rPr lang="en-US" sz="2000" b="1"/>
                <a:t>PHB in </a:t>
              </a:r>
              <a:br>
                <a:rPr lang="en-US" sz="2000" b="1"/>
              </a:br>
              <a:r>
                <a:rPr lang="en-US" sz="2000" b="1"/>
                <a:t>Cisco IOS</a:t>
              </a:r>
            </a:p>
            <a:p>
              <a:pPr>
                <a:lnSpc>
                  <a:spcPct val="70000"/>
                </a:lnSpc>
                <a:spcBef>
                  <a:spcPct val="50000"/>
                </a:spcBef>
              </a:pPr>
              <a:r>
                <a:rPr lang="en-US" sz="1400" b="1"/>
                <a:t>LLQ &amp; WRED</a:t>
              </a:r>
            </a:p>
          </p:txBody>
        </p:sp>
      </p:gr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t>Per Hop Behavior</a:t>
            </a:r>
          </a:p>
        </p:txBody>
      </p:sp>
      <p:sp>
        <p:nvSpPr>
          <p:cNvPr id="35843" name="Rectangle 3"/>
          <p:cNvSpPr>
            <a:spLocks noGrp="1" noChangeArrowheads="1"/>
          </p:cNvSpPr>
          <p:nvPr>
            <p:ph idx="1"/>
          </p:nvPr>
        </p:nvSpPr>
        <p:spPr/>
        <p:txBody>
          <a:bodyPr/>
          <a:lstStyle/>
          <a:p>
            <a:pPr>
              <a:lnSpc>
                <a:spcPct val="85000"/>
              </a:lnSpc>
            </a:pPr>
            <a:r>
              <a:rPr lang="en-US"/>
              <a:t>Defines the “</a:t>
            </a:r>
            <a:r>
              <a:rPr lang="en-US">
                <a:solidFill>
                  <a:schemeClr val="tx2"/>
                </a:solidFill>
              </a:rPr>
              <a:t>Externally observable forwarding behavior</a:t>
            </a:r>
            <a:r>
              <a:rPr lang="en-US"/>
              <a:t>” of a DiffServ node.</a:t>
            </a:r>
          </a:p>
          <a:p>
            <a:pPr>
              <a:lnSpc>
                <a:spcPct val="85000"/>
              </a:lnSpc>
            </a:pPr>
            <a:endParaRPr lang="en-US"/>
          </a:p>
          <a:p>
            <a:pPr>
              <a:lnSpc>
                <a:spcPct val="85000"/>
              </a:lnSpc>
            </a:pPr>
            <a:r>
              <a:rPr lang="en-US"/>
              <a:t>The DiffServ model associates the standard behavior of a participating node to the DSCP of the packets.</a:t>
            </a:r>
          </a:p>
          <a:p>
            <a:pPr>
              <a:lnSpc>
                <a:spcPct val="85000"/>
              </a:lnSpc>
            </a:pPr>
            <a:endParaRPr lang="en-US"/>
          </a:p>
          <a:p>
            <a:pPr>
              <a:lnSpc>
                <a:spcPct val="85000"/>
              </a:lnSpc>
            </a:pPr>
            <a:r>
              <a:rPr lang="en-US"/>
              <a:t>Some convention are used to ensure consistent usage of DSCP values across networks.</a:t>
            </a:r>
          </a:p>
          <a:p>
            <a:pPr>
              <a:lnSpc>
                <a:spcPct val="85000"/>
              </a:lnSpc>
            </a:pP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t>IP Precedence Field</a:t>
            </a:r>
          </a:p>
        </p:txBody>
      </p:sp>
      <p:sp>
        <p:nvSpPr>
          <p:cNvPr id="37891" name="Rectangle 3"/>
          <p:cNvSpPr>
            <a:spLocks noGrp="1" noChangeArrowheads="1"/>
          </p:cNvSpPr>
          <p:nvPr>
            <p:ph idx="1"/>
          </p:nvPr>
        </p:nvSpPr>
        <p:spPr>
          <a:xfrm>
            <a:off x="1919288" y="1628775"/>
            <a:ext cx="3529012" cy="4464050"/>
          </a:xfrm>
        </p:spPr>
        <p:txBody>
          <a:bodyPr>
            <a:normAutofit lnSpcReduction="10000"/>
          </a:bodyPr>
          <a:lstStyle/>
          <a:p>
            <a:pPr>
              <a:lnSpc>
                <a:spcPct val="90000"/>
              </a:lnSpc>
            </a:pPr>
            <a:r>
              <a:rPr lang="en-US"/>
              <a:t>“An independent </a:t>
            </a:r>
            <a:br>
              <a:rPr lang="en-US"/>
            </a:br>
            <a:r>
              <a:rPr lang="en-US"/>
              <a:t>measure of the </a:t>
            </a:r>
            <a:br>
              <a:rPr lang="en-US"/>
            </a:br>
            <a:r>
              <a:rPr lang="en-US"/>
              <a:t>importance of this </a:t>
            </a:r>
            <a:br>
              <a:rPr lang="en-US"/>
            </a:br>
            <a:r>
              <a:rPr lang="en-US"/>
              <a:t>datagram.”</a:t>
            </a:r>
          </a:p>
          <a:p>
            <a:pPr>
              <a:lnSpc>
                <a:spcPct val="90000"/>
              </a:lnSpc>
            </a:pPr>
            <a:endParaRPr lang="en-US"/>
          </a:p>
          <a:p>
            <a:pPr>
              <a:lnSpc>
                <a:spcPct val="90000"/>
              </a:lnSpc>
            </a:pPr>
            <a:r>
              <a:rPr lang="en-US"/>
              <a:t>8 values, meaning is now merely historical.</a:t>
            </a:r>
          </a:p>
          <a:p>
            <a:pPr>
              <a:lnSpc>
                <a:spcPct val="90000"/>
              </a:lnSpc>
            </a:pPr>
            <a:endParaRPr lang="en-US"/>
          </a:p>
          <a:p>
            <a:pPr>
              <a:lnSpc>
                <a:spcPct val="90000"/>
              </a:lnSpc>
            </a:pPr>
            <a:r>
              <a:rPr lang="en-US"/>
              <a:t>Defined in RFC 791 (Internet Protocol)</a:t>
            </a:r>
          </a:p>
        </p:txBody>
      </p:sp>
      <p:pic>
        <p:nvPicPr>
          <p:cNvPr id="37892" name="Picture 4" descr="ipprecedenced"/>
          <p:cNvPicPr>
            <a:picLocks noChangeAspect="1" noChangeArrowheads="1"/>
          </p:cNvPicPr>
          <p:nvPr/>
        </p:nvPicPr>
        <p:blipFill>
          <a:blip r:embed="rId3"/>
          <a:srcRect/>
          <a:stretch>
            <a:fillRect/>
          </a:stretch>
        </p:blipFill>
        <p:spPr bwMode="auto">
          <a:xfrm>
            <a:off x="5591176" y="1844675"/>
            <a:ext cx="4767263" cy="38227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DiffServ Code Points (DSCP) values</a:t>
            </a:r>
          </a:p>
        </p:txBody>
      </p:sp>
      <p:sp>
        <p:nvSpPr>
          <p:cNvPr id="39939" name="Rectangle 3"/>
          <p:cNvSpPr>
            <a:spLocks noGrp="1" noChangeArrowheads="1"/>
          </p:cNvSpPr>
          <p:nvPr>
            <p:ph idx="1"/>
          </p:nvPr>
        </p:nvSpPr>
        <p:spPr>
          <a:xfrm>
            <a:off x="1992314" y="1412876"/>
            <a:ext cx="7940675" cy="4968875"/>
          </a:xfrm>
        </p:spPr>
        <p:txBody>
          <a:bodyPr/>
          <a:lstStyle/>
          <a:p>
            <a:pPr>
              <a:lnSpc>
                <a:spcPct val="75000"/>
              </a:lnSpc>
            </a:pPr>
            <a:endParaRPr lang="en-US" sz="1500"/>
          </a:p>
          <a:p>
            <a:pPr>
              <a:lnSpc>
                <a:spcPct val="75000"/>
              </a:lnSpc>
            </a:pPr>
            <a:r>
              <a:rPr lang="en-US"/>
              <a:t>RFC 2474 redefines</a:t>
            </a:r>
            <a:br>
              <a:rPr lang="en-US"/>
            </a:br>
            <a:r>
              <a:rPr lang="en-US"/>
              <a:t>the TOS byte into </a:t>
            </a:r>
            <a:br>
              <a:rPr lang="en-US"/>
            </a:br>
            <a:r>
              <a:rPr lang="en-US">
                <a:solidFill>
                  <a:schemeClr val="folHlink"/>
                </a:solidFill>
              </a:rPr>
              <a:t>DSCP values</a:t>
            </a:r>
          </a:p>
          <a:p>
            <a:pPr>
              <a:lnSpc>
                <a:spcPct val="75000"/>
              </a:lnSpc>
            </a:pPr>
            <a:endParaRPr lang="en-US">
              <a:solidFill>
                <a:schemeClr val="folHlink"/>
              </a:solidFill>
            </a:endParaRPr>
          </a:p>
          <a:p>
            <a:pPr>
              <a:lnSpc>
                <a:spcPct val="75000"/>
              </a:lnSpc>
            </a:pPr>
            <a:r>
              <a:rPr lang="en-US"/>
              <a:t>6 bits = 64 values</a:t>
            </a:r>
          </a:p>
          <a:p>
            <a:pPr>
              <a:lnSpc>
                <a:spcPct val="75000"/>
              </a:lnSpc>
            </a:pPr>
            <a:endParaRPr lang="en-US"/>
          </a:p>
          <a:p>
            <a:pPr>
              <a:lnSpc>
                <a:spcPct val="75000"/>
              </a:lnSpc>
            </a:pPr>
            <a:endParaRPr lang="en-US"/>
          </a:p>
          <a:p>
            <a:pPr>
              <a:lnSpc>
                <a:spcPct val="75000"/>
              </a:lnSpc>
            </a:pPr>
            <a:endParaRPr lang="en-US" sz="1500"/>
          </a:p>
          <a:p>
            <a:pPr>
              <a:lnSpc>
                <a:spcPct val="75000"/>
              </a:lnSpc>
            </a:pPr>
            <a:r>
              <a:rPr lang="en-US"/>
              <a:t>DS-compliant nodes map a codepoint to a particular forwarding treatment or PHB.</a:t>
            </a:r>
          </a:p>
          <a:p>
            <a:pPr>
              <a:lnSpc>
                <a:spcPct val="75000"/>
              </a:lnSpc>
            </a:pPr>
            <a:endParaRPr lang="en-US"/>
          </a:p>
        </p:txBody>
      </p:sp>
      <p:pic>
        <p:nvPicPr>
          <p:cNvPr id="39940" name="Picture 4" descr="dscpfield"/>
          <p:cNvPicPr>
            <a:picLocks noChangeAspect="1" noChangeArrowheads="1"/>
          </p:cNvPicPr>
          <p:nvPr/>
        </p:nvPicPr>
        <p:blipFill>
          <a:blip r:embed="rId2"/>
          <a:srcRect/>
          <a:stretch>
            <a:fillRect/>
          </a:stretch>
        </p:blipFill>
        <p:spPr bwMode="auto">
          <a:xfrm>
            <a:off x="5880100" y="1557338"/>
            <a:ext cx="4495800" cy="265906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t>Per Hop Behavior</a:t>
            </a:r>
          </a:p>
        </p:txBody>
      </p:sp>
      <p:sp>
        <p:nvSpPr>
          <p:cNvPr id="40963" name="Rectangle 3"/>
          <p:cNvSpPr>
            <a:spLocks noGrp="1" noChangeArrowheads="1"/>
          </p:cNvSpPr>
          <p:nvPr>
            <p:ph idx="1"/>
          </p:nvPr>
        </p:nvSpPr>
        <p:spPr/>
        <p:txBody>
          <a:bodyPr/>
          <a:lstStyle/>
          <a:p>
            <a:pPr marL="457200" indent="-457200"/>
            <a:r>
              <a:rPr lang="en-US"/>
              <a:t>Can be split in 4 types:</a:t>
            </a:r>
          </a:p>
          <a:p>
            <a:pPr marL="457200" indent="-457200"/>
            <a:endParaRPr lang="en-US"/>
          </a:p>
          <a:p>
            <a:pPr marL="457200" indent="-457200">
              <a:buFont typeface="Wingdings" pitchFamily="1" charset="2"/>
              <a:buAutoNum type="arabicPeriod"/>
            </a:pPr>
            <a:r>
              <a:rPr lang="en-US"/>
              <a:t>Default PHB: </a:t>
            </a:r>
            <a:r>
              <a:rPr lang="en-US">
                <a:solidFill>
                  <a:schemeClr val="tx2"/>
                </a:solidFill>
              </a:rPr>
              <a:t>0</a:t>
            </a:r>
          </a:p>
          <a:p>
            <a:pPr marL="457200" indent="-457200">
              <a:buFont typeface="Wingdings" pitchFamily="1" charset="2"/>
              <a:buAutoNum type="arabicPeriod"/>
            </a:pPr>
            <a:r>
              <a:rPr lang="en-US"/>
              <a:t>Class Selector PHB: </a:t>
            </a:r>
            <a:r>
              <a:rPr lang="en-US">
                <a:solidFill>
                  <a:schemeClr val="tx2"/>
                </a:solidFill>
              </a:rPr>
              <a:t>IP Precedence</a:t>
            </a:r>
          </a:p>
          <a:p>
            <a:pPr marL="457200" indent="-457200">
              <a:buFont typeface="Wingdings" pitchFamily="1" charset="2"/>
              <a:buAutoNum type="arabicPeriod"/>
            </a:pPr>
            <a:r>
              <a:rPr lang="en-US"/>
              <a:t>Assured Forwarding PHB: </a:t>
            </a:r>
            <a:r>
              <a:rPr lang="en-US">
                <a:solidFill>
                  <a:schemeClr val="tx2"/>
                </a:solidFill>
              </a:rPr>
              <a:t>AF</a:t>
            </a:r>
          </a:p>
          <a:p>
            <a:pPr marL="457200" indent="-457200">
              <a:buFont typeface="Wingdings" pitchFamily="1" charset="2"/>
              <a:buAutoNum type="arabicPeriod"/>
            </a:pPr>
            <a:r>
              <a:rPr lang="en-US"/>
              <a:t>Expedite Forwarding PHB: </a:t>
            </a:r>
            <a:r>
              <a:rPr lang="en-US">
                <a:solidFill>
                  <a:schemeClr val="tx2"/>
                </a:solidFill>
              </a:rPr>
              <a:t>EF</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t>Per Hop Behavior</a:t>
            </a:r>
          </a:p>
        </p:txBody>
      </p:sp>
      <p:sp>
        <p:nvSpPr>
          <p:cNvPr id="41987" name="Rectangle 3"/>
          <p:cNvSpPr>
            <a:spLocks noGrp="1" noChangeArrowheads="1"/>
          </p:cNvSpPr>
          <p:nvPr>
            <p:ph idx="1"/>
          </p:nvPr>
        </p:nvSpPr>
        <p:spPr/>
        <p:txBody>
          <a:bodyPr/>
          <a:lstStyle/>
          <a:p>
            <a:pPr marL="457200" indent="-457200">
              <a:buFont typeface="Wingdings" pitchFamily="1" charset="2"/>
              <a:buAutoNum type="arabicPeriod"/>
            </a:pPr>
            <a:r>
              <a:rPr lang="en-US"/>
              <a:t>Default PHB:</a:t>
            </a:r>
          </a:p>
          <a:p>
            <a:pPr marL="955675" lvl="1" indent="-381000"/>
            <a:r>
              <a:rPr lang="en-US"/>
              <a:t>DSCP Value </a:t>
            </a:r>
            <a:r>
              <a:rPr lang="en-US">
                <a:solidFill>
                  <a:schemeClr val="tx2"/>
                </a:solidFill>
              </a:rPr>
              <a:t>000000</a:t>
            </a:r>
            <a:r>
              <a:rPr lang="en-US"/>
              <a:t>, maps to IP Precedence </a:t>
            </a:r>
            <a:r>
              <a:rPr lang="en-US">
                <a:solidFill>
                  <a:schemeClr val="tx2"/>
                </a:solidFill>
              </a:rPr>
              <a:t>0</a:t>
            </a:r>
          </a:p>
          <a:p>
            <a:pPr marL="955675" lvl="1" indent="-381000"/>
            <a:endParaRPr lang="en-US">
              <a:solidFill>
                <a:schemeClr val="tx2"/>
              </a:solidFill>
            </a:endParaRPr>
          </a:p>
          <a:p>
            <a:pPr marL="955675" lvl="1" indent="-381000"/>
            <a:endParaRPr lang="en-US">
              <a:solidFill>
                <a:schemeClr val="tx2"/>
              </a:solidFill>
            </a:endParaRPr>
          </a:p>
          <a:p>
            <a:pPr marL="457200" indent="-457200">
              <a:buFont typeface="Wingdings" pitchFamily="1" charset="2"/>
              <a:buAutoNum type="arabicPeriod"/>
            </a:pPr>
            <a:r>
              <a:rPr lang="en-US"/>
              <a:t>Class Selector:</a:t>
            </a:r>
          </a:p>
          <a:p>
            <a:pPr marL="955675" lvl="1" indent="-381000"/>
            <a:r>
              <a:rPr lang="en-US"/>
              <a:t>DSCP Value </a:t>
            </a:r>
            <a:r>
              <a:rPr lang="en-US">
                <a:solidFill>
                  <a:schemeClr val="tx2"/>
                </a:solidFill>
              </a:rPr>
              <a:t>xxx000</a:t>
            </a:r>
            <a:r>
              <a:rPr lang="en-US"/>
              <a:t>, maps to IP Precedence </a:t>
            </a:r>
            <a:r>
              <a:rPr lang="en-US">
                <a:solidFill>
                  <a:schemeClr val="tx2"/>
                </a:solidFill>
              </a:rPr>
              <a:t>dec(xxx)</a:t>
            </a:r>
          </a:p>
          <a:p>
            <a:pPr marL="955675" lvl="1" indent="-381000"/>
            <a:r>
              <a:rPr lang="en-US"/>
              <a:t>Values of </a:t>
            </a:r>
            <a:r>
              <a:rPr lang="en-US">
                <a:solidFill>
                  <a:schemeClr val="tx2"/>
                </a:solidFill>
              </a:rPr>
              <a:t>110</a:t>
            </a:r>
            <a:r>
              <a:rPr lang="en-US"/>
              <a:t>000 and </a:t>
            </a:r>
            <a:r>
              <a:rPr lang="en-US">
                <a:solidFill>
                  <a:schemeClr val="tx2"/>
                </a:solidFill>
              </a:rPr>
              <a:t>111</a:t>
            </a:r>
            <a:r>
              <a:rPr lang="en-US"/>
              <a:t>000 should always have preferential treatment to preserve common values of routing traffic (precedence 6 and 7)</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t>Per Hop Behavior</a:t>
            </a:r>
          </a:p>
        </p:txBody>
      </p:sp>
      <p:sp>
        <p:nvSpPr>
          <p:cNvPr id="44035" name="Rectangle 3"/>
          <p:cNvSpPr>
            <a:spLocks noGrp="1" noChangeArrowheads="1"/>
          </p:cNvSpPr>
          <p:nvPr>
            <p:ph idx="1"/>
          </p:nvPr>
        </p:nvSpPr>
        <p:spPr>
          <a:xfrm>
            <a:off x="2179639" y="1412876"/>
            <a:ext cx="7940675" cy="5040313"/>
          </a:xfrm>
        </p:spPr>
        <p:txBody>
          <a:bodyPr/>
          <a:lstStyle/>
          <a:p>
            <a:r>
              <a:rPr lang="en-US"/>
              <a:t>Assured Forwarding PHB:</a:t>
            </a:r>
          </a:p>
          <a:p>
            <a:pPr lvl="1" indent="0"/>
            <a:r>
              <a:rPr lang="en-US"/>
              <a:t>Guaranteed Bandwidth + Extra if available</a:t>
            </a:r>
          </a:p>
          <a:p>
            <a:pPr lvl="1" indent="0"/>
            <a:r>
              <a:rPr lang="en-US"/>
              <a:t>4 classes (af1, af2, af3, af4)</a:t>
            </a:r>
          </a:p>
          <a:p>
            <a:pPr lvl="1" indent="0"/>
            <a:r>
              <a:rPr lang="en-US"/>
              <a:t>3 drop probability values per class</a:t>
            </a:r>
          </a:p>
          <a:p>
            <a:pPr lvl="1" indent="0"/>
            <a:r>
              <a:rPr lang="en-US"/>
              <a:t>DSCP Value </a:t>
            </a:r>
            <a:r>
              <a:rPr lang="en-US">
                <a:solidFill>
                  <a:schemeClr val="tx2"/>
                </a:solidFill>
              </a:rPr>
              <a:t>aaadd0</a:t>
            </a:r>
            <a:r>
              <a:rPr lang="en-US"/>
              <a:t>, maps to 4 classes (</a:t>
            </a:r>
            <a:r>
              <a:rPr lang="en-US">
                <a:solidFill>
                  <a:schemeClr val="tx2"/>
                </a:solidFill>
              </a:rPr>
              <a:t>aaa</a:t>
            </a:r>
            <a:r>
              <a:rPr lang="en-US"/>
              <a:t>) and 3 drop probability (</a:t>
            </a:r>
            <a:r>
              <a:rPr lang="en-US">
                <a:solidFill>
                  <a:schemeClr val="tx2"/>
                </a:solidFill>
              </a:rPr>
              <a:t>dd</a:t>
            </a:r>
            <a:r>
              <a:rPr lang="en-US"/>
              <a:t>)</a:t>
            </a:r>
          </a:p>
          <a:p>
            <a:pPr lvl="1" indent="0"/>
            <a:endParaRPr lang="en-US"/>
          </a:p>
          <a:p>
            <a:r>
              <a:rPr lang="en-US"/>
              <a:t>Expedite Forwarding PHB:</a:t>
            </a:r>
          </a:p>
          <a:p>
            <a:pPr lvl="1" indent="0"/>
            <a:r>
              <a:rPr lang="en-US"/>
              <a:t>Minimum departure rate (minimum delay)</a:t>
            </a:r>
          </a:p>
          <a:p>
            <a:pPr lvl="1" indent="0"/>
            <a:r>
              <a:rPr lang="en-US"/>
              <a:t>Guaranteed Bandwidth + Drop if excess (Policed)</a:t>
            </a:r>
          </a:p>
          <a:p>
            <a:pPr lvl="1" indent="0"/>
            <a:r>
              <a:rPr lang="en-US"/>
              <a:t>DSCP Value </a:t>
            </a:r>
            <a:r>
              <a:rPr lang="en-US">
                <a:solidFill>
                  <a:schemeClr val="tx2"/>
                </a:solidFill>
              </a:rPr>
              <a:t>101110</a:t>
            </a:r>
          </a:p>
          <a:p>
            <a:pPr lvl="1" indent="0"/>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t>Review Questions</a:t>
            </a:r>
          </a:p>
        </p:txBody>
      </p:sp>
      <p:sp>
        <p:nvSpPr>
          <p:cNvPr id="56323" name="Rectangle 3"/>
          <p:cNvSpPr>
            <a:spLocks noGrp="1" noChangeArrowheads="1"/>
          </p:cNvSpPr>
          <p:nvPr>
            <p:ph idx="1"/>
          </p:nvPr>
        </p:nvSpPr>
        <p:spPr>
          <a:xfrm>
            <a:off x="2179639" y="1781175"/>
            <a:ext cx="7940675" cy="3663950"/>
          </a:xfrm>
        </p:spPr>
        <p:txBody>
          <a:bodyPr>
            <a:normAutofit lnSpcReduction="10000"/>
          </a:bodyPr>
          <a:lstStyle/>
          <a:p>
            <a:pPr>
              <a:lnSpc>
                <a:spcPct val="85000"/>
              </a:lnSpc>
            </a:pPr>
            <a:r>
              <a:rPr lang="en-US"/>
              <a:t>Name the three QoS Models.</a:t>
            </a:r>
          </a:p>
          <a:p>
            <a:pPr>
              <a:lnSpc>
                <a:spcPct val="85000"/>
              </a:lnSpc>
            </a:pPr>
            <a:r>
              <a:rPr lang="en-US"/>
              <a:t>Which one of them involves the use of RSVP ? Why ?</a:t>
            </a:r>
          </a:p>
          <a:p>
            <a:pPr>
              <a:lnSpc>
                <a:spcPct val="85000"/>
              </a:lnSpc>
            </a:pPr>
            <a:r>
              <a:rPr lang="en-US"/>
              <a:t>What does DSCP stand for ?</a:t>
            </a:r>
          </a:p>
          <a:p>
            <a:pPr>
              <a:lnSpc>
                <a:spcPct val="85000"/>
              </a:lnSpc>
            </a:pPr>
            <a:r>
              <a:rPr lang="en-US"/>
              <a:t>To which type of PHB do those belong:</a:t>
            </a:r>
          </a:p>
          <a:p>
            <a:pPr lvl="1" indent="0">
              <a:lnSpc>
                <a:spcPct val="85000"/>
              </a:lnSpc>
            </a:pPr>
            <a:r>
              <a:rPr lang="en-US"/>
              <a:t>101000</a:t>
            </a:r>
          </a:p>
          <a:p>
            <a:pPr lvl="1" indent="0">
              <a:lnSpc>
                <a:spcPct val="85000"/>
              </a:lnSpc>
            </a:pPr>
            <a:r>
              <a:rPr lang="en-US"/>
              <a:t>101110</a:t>
            </a:r>
          </a:p>
          <a:p>
            <a:pPr lvl="1" indent="0">
              <a:lnSpc>
                <a:spcPct val="85000"/>
              </a:lnSpc>
            </a:pPr>
            <a:r>
              <a:rPr lang="en-US"/>
              <a:t>010110</a:t>
            </a:r>
          </a:p>
          <a:p>
            <a:pPr>
              <a:lnSpc>
                <a:spcPct val="85000"/>
              </a:lnSpc>
            </a:pPr>
            <a:r>
              <a:rPr lang="en-US"/>
              <a:t>Which PHB class would you use for voice traffic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32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632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63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t>References</a:t>
            </a:r>
          </a:p>
        </p:txBody>
      </p:sp>
      <p:sp>
        <p:nvSpPr>
          <p:cNvPr id="48131" name="Rectangle 3"/>
          <p:cNvSpPr>
            <a:spLocks noGrp="1" noChangeArrowheads="1"/>
          </p:cNvSpPr>
          <p:nvPr>
            <p:ph idx="1"/>
          </p:nvPr>
        </p:nvSpPr>
        <p:spPr>
          <a:xfrm>
            <a:off x="1979614" y="1412876"/>
            <a:ext cx="8224837" cy="4968875"/>
          </a:xfrm>
        </p:spPr>
        <p:txBody>
          <a:bodyPr/>
          <a:lstStyle/>
          <a:p>
            <a:r>
              <a:rPr lang="en-US" sz="2200"/>
              <a:t>Cisco IOS – The Differentiated Services Model</a:t>
            </a:r>
          </a:p>
          <a:p>
            <a:pPr lvl="1" indent="0"/>
            <a:r>
              <a:rPr lang="en-US" u="sng">
                <a:solidFill>
                  <a:schemeClr val="folHlink"/>
                </a:solidFill>
              </a:rPr>
              <a:t>http://www.cisco.com/warp/public/cc/pd/iosw/prodlit/difsf_ds.htm</a:t>
            </a:r>
          </a:p>
          <a:p>
            <a:r>
              <a:rPr lang="en-US" sz="2200"/>
              <a:t>DiffServ - The Scalable End-to-End QoS Model</a:t>
            </a:r>
          </a:p>
          <a:p>
            <a:pPr lvl="1" indent="0"/>
            <a:r>
              <a:rPr lang="en-US" u="sng">
                <a:solidFill>
                  <a:schemeClr val="folHlink"/>
                </a:solidFill>
              </a:rPr>
              <a:t>http://www.cisco.com/en/US/partner/tech/tk543/tk766/technologies_white_paper09186a00800a3e2f.shtml</a:t>
            </a:r>
          </a:p>
          <a:p>
            <a:r>
              <a:rPr lang="en-US" sz="2200"/>
              <a:t>RFC 791 – Internet Protocol</a:t>
            </a:r>
          </a:p>
          <a:p>
            <a:r>
              <a:rPr lang="en-US" sz="2200"/>
              <a:t>RFC 2474 - Definition of the Differentiated Services Field (DS Field) in the IPv4 and IPv6 Headers </a:t>
            </a:r>
          </a:p>
          <a:p>
            <a:r>
              <a:rPr lang="en-US" sz="2200"/>
              <a:t>RFC 2475 - An Architecture for Differentiated Services</a:t>
            </a:r>
          </a:p>
          <a:p>
            <a:r>
              <a:rPr lang="en-US" sz="2200"/>
              <a:t>RFC 2597 - Assured Forwarding PHB Group </a:t>
            </a:r>
          </a:p>
          <a:p>
            <a:r>
              <a:rPr lang="en-US" sz="2200"/>
              <a:t>RFC 2346 - An Expedited Forwarding PHB </a:t>
            </a:r>
          </a:p>
          <a:p>
            <a:endParaRPr lang="en-US" sz="220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ChangeArrowheads="1"/>
          </p:cNvSpPr>
          <p:nvPr/>
        </p:nvSpPr>
        <p:spPr bwMode="auto">
          <a:xfrm>
            <a:off x="1524000" y="1"/>
            <a:ext cx="3575050" cy="3141663"/>
          </a:xfrm>
          <a:prstGeom prst="rect">
            <a:avLst/>
          </a:prstGeom>
          <a:solidFill>
            <a:srgbClr val="015F85"/>
          </a:solidFill>
          <a:ln w="25400">
            <a:noFill/>
            <a:miter lim="800000"/>
            <a:headEnd/>
            <a:tailEnd/>
          </a:ln>
        </p:spPr>
        <p:txBody>
          <a:bodyPr wrap="none" anchor="ctr">
            <a:prstTxWarp prst="textNoShape">
              <a:avLst/>
            </a:prstTxWarp>
          </a:bodyPr>
          <a:lstStyle/>
          <a:p>
            <a:endParaRPr lang="en-US"/>
          </a:p>
        </p:txBody>
      </p:sp>
      <p:sp>
        <p:nvSpPr>
          <p:cNvPr id="50180" name="Rectangle 4"/>
          <p:cNvSpPr>
            <a:spLocks noGrp="1" noChangeArrowheads="1"/>
          </p:cNvSpPr>
          <p:nvPr>
            <p:ph type="title"/>
          </p:nvPr>
        </p:nvSpPr>
        <p:spPr>
          <a:xfrm>
            <a:off x="2373314" y="1006475"/>
            <a:ext cx="6746875" cy="838200"/>
          </a:xfrm>
        </p:spPr>
        <p:txBody>
          <a:bodyPr/>
          <a:lstStyle/>
          <a:p>
            <a:pPr eaLnBrk="1" hangingPunct="1"/>
            <a:r>
              <a:rPr lang="en-US">
                <a:solidFill>
                  <a:schemeClr val="bg1"/>
                </a:solidFill>
              </a:rPr>
              <a:t>MQC</a:t>
            </a:r>
          </a:p>
        </p:txBody>
      </p:sp>
      <p:pic>
        <p:nvPicPr>
          <p:cNvPr id="5" name="Picture 11" descr="Bob-the-bouncer"/>
          <p:cNvPicPr>
            <a:picLocks noChangeAspect="1" noChangeArrowheads="1"/>
          </p:cNvPicPr>
          <p:nvPr/>
        </p:nvPicPr>
        <p:blipFill>
          <a:blip r:embed="rId2"/>
          <a:srcRect/>
          <a:stretch>
            <a:fillRect/>
          </a:stretch>
        </p:blipFill>
        <p:spPr bwMode="auto">
          <a:xfrm>
            <a:off x="7032104" y="1033319"/>
            <a:ext cx="1566862" cy="216058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ou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What is MQC</a:t>
            </a:r>
          </a:p>
        </p:txBody>
      </p:sp>
      <p:sp>
        <p:nvSpPr>
          <p:cNvPr id="51203" name="Rectangle 3"/>
          <p:cNvSpPr>
            <a:spLocks noGrp="1" noChangeArrowheads="1"/>
          </p:cNvSpPr>
          <p:nvPr>
            <p:ph idx="1"/>
          </p:nvPr>
        </p:nvSpPr>
        <p:spPr>
          <a:xfrm>
            <a:off x="1847850" y="1484313"/>
            <a:ext cx="3384550" cy="4824412"/>
          </a:xfrm>
        </p:spPr>
        <p:txBody>
          <a:bodyPr>
            <a:normAutofit lnSpcReduction="10000"/>
          </a:bodyPr>
          <a:lstStyle/>
          <a:p>
            <a:r>
              <a:rPr lang="en-US"/>
              <a:t>MQC stands for  Modular QoS CLI</a:t>
            </a:r>
          </a:p>
          <a:p>
            <a:r>
              <a:rPr lang="en-US"/>
              <a:t>Defined in </a:t>
            </a:r>
            <a:r>
              <a:rPr lang="en-US">
                <a:ea typeface="Arial" pitchFamily="1" charset="0"/>
                <a:cs typeface="Arial" pitchFamily="1" charset="0"/>
              </a:rPr>
              <a:t>EDCS 137373</a:t>
            </a:r>
            <a:endParaRPr lang="en-US"/>
          </a:p>
          <a:p>
            <a:r>
              <a:rPr lang="en-US"/>
              <a:t>Implements the DiffServ model </a:t>
            </a:r>
          </a:p>
          <a:p>
            <a:endParaRPr lang="en-US"/>
          </a:p>
          <a:p>
            <a:r>
              <a:rPr lang="en-US"/>
              <a:t>Basically: this is how you should configure Quality of Service on Cisco Routers.</a:t>
            </a:r>
          </a:p>
          <a:p>
            <a:endParaRPr lang="en-US"/>
          </a:p>
          <a:p>
            <a:endParaRPr lang="en-US"/>
          </a:p>
        </p:txBody>
      </p:sp>
      <p:sp>
        <p:nvSpPr>
          <p:cNvPr id="51204" name="Text Box 4"/>
          <p:cNvSpPr txBox="1">
            <a:spLocks noChangeArrowheads="1"/>
          </p:cNvSpPr>
          <p:nvPr/>
        </p:nvSpPr>
        <p:spPr bwMode="auto">
          <a:xfrm>
            <a:off x="5376863" y="1190626"/>
            <a:ext cx="4895850" cy="5407025"/>
          </a:xfrm>
          <a:prstGeom prst="rect">
            <a:avLst/>
          </a:prstGeom>
          <a:solidFill>
            <a:schemeClr val="tx2"/>
          </a:solidFill>
          <a:ln w="28575">
            <a:solidFill>
              <a:schemeClr val="tx1"/>
            </a:solidFill>
            <a:miter lim="800000"/>
            <a:headEnd/>
            <a:tailEnd/>
          </a:ln>
        </p:spPr>
        <p:txBody>
          <a:bodyPr lIns="82124" tIns="41061" rIns="82124" bIns="41061">
            <a:prstTxWarp prst="textNoShape">
              <a:avLst/>
            </a:prstTxWarp>
            <a:spAutoFit/>
          </a:bodyPr>
          <a:lstStyle/>
          <a:p>
            <a:pPr algn="l" defTabSz="814388"/>
            <a:r>
              <a:rPr lang="en-US" sz="1600" b="1">
                <a:solidFill>
                  <a:schemeClr val="bg1"/>
                </a:solidFill>
                <a:latin typeface="Courier New" pitchFamily="1" charset="0"/>
              </a:rPr>
              <a:t>class-map match-all one</a:t>
            </a:r>
          </a:p>
          <a:p>
            <a:pPr algn="l" defTabSz="814388"/>
            <a:r>
              <a:rPr lang="en-US" sz="1600" b="1">
                <a:solidFill>
                  <a:schemeClr val="bg1"/>
                </a:solidFill>
                <a:latin typeface="Courier New" pitchFamily="1" charset="0"/>
              </a:rPr>
              <a:t> match ip precedence 5</a:t>
            </a:r>
          </a:p>
          <a:p>
            <a:pPr algn="l" defTabSz="814388"/>
            <a:r>
              <a:rPr lang="en-US" sz="1600" b="1">
                <a:solidFill>
                  <a:schemeClr val="bg1"/>
                </a:solidFill>
                <a:latin typeface="Courier New" pitchFamily="1" charset="0"/>
              </a:rPr>
              <a:t> match  dscp default</a:t>
            </a:r>
          </a:p>
          <a:p>
            <a:pPr algn="l" defTabSz="814388"/>
            <a:r>
              <a:rPr lang="en-US" sz="1600" b="1">
                <a:solidFill>
                  <a:schemeClr val="bg1"/>
                </a:solidFill>
                <a:latin typeface="Courier New" pitchFamily="1" charset="0"/>
              </a:rPr>
              <a:t>class-map match-all two</a:t>
            </a:r>
          </a:p>
          <a:p>
            <a:pPr algn="l" defTabSz="814388"/>
            <a:r>
              <a:rPr lang="en-US" sz="1600" b="1">
                <a:solidFill>
                  <a:schemeClr val="bg1"/>
                </a:solidFill>
                <a:latin typeface="Courier New" pitchFamily="1" charset="0"/>
              </a:rPr>
              <a:t> match any</a:t>
            </a:r>
          </a:p>
          <a:p>
            <a:pPr algn="l" defTabSz="814388"/>
            <a:r>
              <a:rPr lang="en-US" sz="1600" b="1">
                <a:solidFill>
                  <a:schemeClr val="bg1"/>
                </a:solidFill>
                <a:latin typeface="Courier New" pitchFamily="1" charset="0"/>
              </a:rPr>
              <a:t> match  dscp 1</a:t>
            </a:r>
          </a:p>
          <a:p>
            <a:pPr algn="l" defTabSz="814388"/>
            <a:r>
              <a:rPr lang="en-US" sz="1600" b="1">
                <a:solidFill>
                  <a:schemeClr val="bg1"/>
                </a:solidFill>
                <a:latin typeface="Courier New" pitchFamily="1" charset="0"/>
              </a:rPr>
              <a:t>class-map match-all three</a:t>
            </a:r>
          </a:p>
          <a:p>
            <a:pPr algn="l" defTabSz="814388"/>
            <a:r>
              <a:rPr lang="en-US" sz="1600" b="1">
                <a:solidFill>
                  <a:schemeClr val="bg1"/>
                </a:solidFill>
                <a:latin typeface="Courier New" pitchFamily="1" charset="0"/>
              </a:rPr>
              <a:t> match protocol gnutella</a:t>
            </a:r>
          </a:p>
          <a:p>
            <a:pPr algn="l" defTabSz="814388"/>
            <a:r>
              <a:rPr lang="en-US" sz="1600" b="1">
                <a:solidFill>
                  <a:schemeClr val="bg1"/>
                </a:solidFill>
                <a:latin typeface="Courier New" pitchFamily="1" charset="0"/>
              </a:rPr>
              <a:t>!</a:t>
            </a:r>
          </a:p>
          <a:p>
            <a:pPr algn="l" defTabSz="814388"/>
            <a:r>
              <a:rPr lang="en-US" sz="1600" b="1">
                <a:solidFill>
                  <a:schemeClr val="folHlink"/>
                </a:solidFill>
                <a:latin typeface="Courier New" pitchFamily="1" charset="0"/>
              </a:rPr>
              <a:t>policy-map test</a:t>
            </a:r>
          </a:p>
          <a:p>
            <a:pPr algn="l" defTabSz="814388"/>
            <a:r>
              <a:rPr lang="en-US" sz="1600" b="1">
                <a:solidFill>
                  <a:schemeClr val="folHlink"/>
                </a:solidFill>
                <a:latin typeface="Courier New" pitchFamily="1" charset="0"/>
              </a:rPr>
              <a:t> class one</a:t>
            </a:r>
          </a:p>
          <a:p>
            <a:pPr algn="l" defTabSz="814388"/>
            <a:r>
              <a:rPr lang="en-US" sz="1600" b="1">
                <a:solidFill>
                  <a:schemeClr val="folHlink"/>
                </a:solidFill>
                <a:latin typeface="Courier New" pitchFamily="1" charset="0"/>
              </a:rPr>
              <a:t>  priority 100</a:t>
            </a:r>
          </a:p>
          <a:p>
            <a:pPr algn="l" defTabSz="814388"/>
            <a:r>
              <a:rPr lang="en-US" sz="1600" b="1">
                <a:solidFill>
                  <a:schemeClr val="folHlink"/>
                </a:solidFill>
                <a:latin typeface="Courier New" pitchFamily="1" charset="0"/>
              </a:rPr>
              <a:t> class two</a:t>
            </a:r>
          </a:p>
          <a:p>
            <a:pPr algn="l" defTabSz="814388"/>
            <a:r>
              <a:rPr lang="en-US" sz="1600" b="1">
                <a:solidFill>
                  <a:schemeClr val="folHlink"/>
                </a:solidFill>
                <a:latin typeface="Courier New" pitchFamily="1" charset="0"/>
              </a:rPr>
              <a:t>  bandwidth 300</a:t>
            </a:r>
          </a:p>
          <a:p>
            <a:pPr algn="l" defTabSz="814388"/>
            <a:r>
              <a:rPr lang="en-US" sz="1600" b="1">
                <a:solidFill>
                  <a:schemeClr val="folHlink"/>
                </a:solidFill>
                <a:latin typeface="Courier New" pitchFamily="1" charset="0"/>
              </a:rPr>
              <a:t> class three</a:t>
            </a:r>
          </a:p>
          <a:p>
            <a:pPr algn="l" defTabSz="814388"/>
            <a:r>
              <a:rPr lang="en-US" sz="1600" b="1">
                <a:solidFill>
                  <a:schemeClr val="folHlink"/>
                </a:solidFill>
                <a:latin typeface="Courier New" pitchFamily="1" charset="0"/>
              </a:rPr>
              <a:t>   drop</a:t>
            </a:r>
          </a:p>
          <a:p>
            <a:pPr algn="l" defTabSz="814388"/>
            <a:r>
              <a:rPr lang="en-US" sz="1600" b="1">
                <a:solidFill>
                  <a:schemeClr val="folHlink"/>
                </a:solidFill>
                <a:latin typeface="Courier New" pitchFamily="1" charset="0"/>
              </a:rPr>
              <a:t> class class-default</a:t>
            </a:r>
          </a:p>
          <a:p>
            <a:pPr algn="l" defTabSz="814388"/>
            <a:r>
              <a:rPr lang="en-US" sz="1600" b="1">
                <a:solidFill>
                  <a:schemeClr val="folHlink"/>
                </a:solidFill>
                <a:latin typeface="Courier New" pitchFamily="1" charset="0"/>
              </a:rPr>
              <a:t>   police 75000 5000</a:t>
            </a:r>
          </a:p>
          <a:p>
            <a:pPr algn="l" defTabSz="814388"/>
            <a:r>
              <a:rPr lang="en-US" sz="1600" b="1">
                <a:solidFill>
                  <a:schemeClr val="folHlink"/>
                </a:solidFill>
                <a:latin typeface="Courier New" pitchFamily="1" charset="0"/>
              </a:rPr>
              <a:t>   fair-queue</a:t>
            </a:r>
          </a:p>
          <a:p>
            <a:pPr algn="l" defTabSz="814388"/>
            <a:r>
              <a:rPr lang="en-US" sz="1600" b="1">
                <a:solidFill>
                  <a:schemeClr val="bg1"/>
                </a:solidFill>
                <a:latin typeface="Courier New" pitchFamily="1" charset="0"/>
              </a:rPr>
              <a:t>!</a:t>
            </a:r>
          </a:p>
          <a:p>
            <a:pPr algn="l" defTabSz="814388"/>
            <a:r>
              <a:rPr lang="en-US" sz="1600" b="1">
                <a:latin typeface="Courier New" pitchFamily="1" charset="0"/>
              </a:rPr>
              <a:t>interface Ethernet0/0</a:t>
            </a:r>
          </a:p>
          <a:p>
            <a:pPr algn="l" defTabSz="814388"/>
            <a:r>
              <a:rPr lang="en-US" sz="1600" b="1">
                <a:latin typeface="Courier New" pitchFamily="1" charset="0"/>
              </a:rPr>
              <a:t> ip address 10.48.77.104 255.255.255.0</a:t>
            </a:r>
          </a:p>
          <a:p>
            <a:pPr algn="l" defTabSz="814388"/>
            <a:r>
              <a:rPr lang="en-US" sz="1600" b="1">
                <a:solidFill>
                  <a:schemeClr val="bg1"/>
                </a:solidFill>
                <a:latin typeface="Courier New" pitchFamily="1" charset="0"/>
              </a:rPr>
              <a:t> </a:t>
            </a:r>
            <a:r>
              <a:rPr lang="en-US" sz="1600" b="1">
                <a:solidFill>
                  <a:schemeClr val="accent2"/>
                </a:solidFill>
                <a:latin typeface="Courier New" pitchFamily="1" charset="0"/>
              </a:rPr>
              <a:t>service-policy output test</a:t>
            </a:r>
          </a:p>
          <a:p>
            <a:pPr algn="l" defTabSz="814388"/>
            <a:r>
              <a:rPr lang="en-US" sz="1600" b="1">
                <a:solidFill>
                  <a:schemeClr val="bg1"/>
                </a:solidFill>
                <a:latin typeface="Courier New" pitchFamily="1" charset="0"/>
              </a:rPr>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135188" y="260350"/>
            <a:ext cx="8145462" cy="838200"/>
          </a:xfrm>
        </p:spPr>
        <p:txBody>
          <a:bodyPr/>
          <a:lstStyle/>
          <a:p>
            <a:pPr eaLnBrk="1" hangingPunct="1"/>
            <a:r>
              <a:rPr lang="en-US"/>
              <a:t>Why was MQC developed ?</a:t>
            </a:r>
          </a:p>
        </p:txBody>
      </p:sp>
      <p:sp>
        <p:nvSpPr>
          <p:cNvPr id="52227" name="Rectangle 3"/>
          <p:cNvSpPr>
            <a:spLocks noGrp="1" noChangeArrowheads="1"/>
          </p:cNvSpPr>
          <p:nvPr>
            <p:ph idx="1"/>
          </p:nvPr>
        </p:nvSpPr>
        <p:spPr>
          <a:xfrm>
            <a:off x="2063750" y="1700213"/>
            <a:ext cx="8224838" cy="4608512"/>
          </a:xfrm>
        </p:spPr>
        <p:txBody>
          <a:bodyPr>
            <a:normAutofit lnSpcReduction="10000"/>
          </a:bodyPr>
          <a:lstStyle/>
          <a:p>
            <a:r>
              <a:rPr lang="en-US">
                <a:ea typeface="Arial" pitchFamily="1" charset="0"/>
                <a:cs typeface="Arial" pitchFamily="1" charset="0"/>
              </a:rPr>
              <a:t>Provide a </a:t>
            </a:r>
            <a:r>
              <a:rPr lang="en-US">
                <a:solidFill>
                  <a:schemeClr val="folHlink"/>
                </a:solidFill>
                <a:ea typeface="Arial" pitchFamily="1" charset="0"/>
                <a:cs typeface="Arial" pitchFamily="1" charset="0"/>
              </a:rPr>
              <a:t>platform-independent</a:t>
            </a:r>
            <a:r>
              <a:rPr lang="en-US">
                <a:ea typeface="Arial" pitchFamily="1" charset="0"/>
                <a:cs typeface="Arial" pitchFamily="1" charset="0"/>
              </a:rPr>
              <a:t> CLI for configuring QoS on Cisco platforms.  </a:t>
            </a:r>
          </a:p>
          <a:p>
            <a:endParaRPr lang="en-US">
              <a:ea typeface="Arial" pitchFamily="1" charset="0"/>
              <a:cs typeface="Arial" pitchFamily="1" charset="0"/>
            </a:endParaRPr>
          </a:p>
          <a:p>
            <a:r>
              <a:rPr lang="en-US">
                <a:ea typeface="Arial" pitchFamily="1" charset="0"/>
                <a:cs typeface="Arial" pitchFamily="1" charset="0"/>
              </a:rPr>
              <a:t>Use </a:t>
            </a:r>
            <a:r>
              <a:rPr lang="en-US">
                <a:solidFill>
                  <a:schemeClr val="folHlink"/>
                </a:solidFill>
                <a:ea typeface="Arial" pitchFamily="1" charset="0"/>
                <a:cs typeface="Arial" pitchFamily="1" charset="0"/>
              </a:rPr>
              <a:t>standard</a:t>
            </a:r>
            <a:r>
              <a:rPr lang="en-US">
                <a:ea typeface="Arial" pitchFamily="1" charset="0"/>
                <a:cs typeface="Arial" pitchFamily="1" charset="0"/>
              </a:rPr>
              <a:t> commands to define a QoS function or a general behavior</a:t>
            </a:r>
            <a:r>
              <a:rPr lang="en-US" sz="1900">
                <a:ea typeface="Arial" pitchFamily="1" charset="0"/>
                <a:cs typeface="Arial" pitchFamily="1" charset="0"/>
              </a:rPr>
              <a:t>.</a:t>
            </a:r>
          </a:p>
          <a:p>
            <a:pPr lvl="1" indent="0"/>
            <a:r>
              <a:rPr lang="en-US">
                <a:ea typeface="Arial" pitchFamily="1" charset="0"/>
                <a:cs typeface="Arial" pitchFamily="1" charset="0"/>
              </a:rPr>
              <a:t>Defines the syntax and semantics</a:t>
            </a:r>
          </a:p>
          <a:p>
            <a:r>
              <a:rPr lang="en-US">
                <a:ea typeface="Arial" pitchFamily="1" charset="0"/>
                <a:cs typeface="Arial" pitchFamily="1" charset="0"/>
              </a:rPr>
              <a:t>Move burden of </a:t>
            </a:r>
            <a:r>
              <a:rPr lang="en-US">
                <a:solidFill>
                  <a:schemeClr val="folHlink"/>
                </a:solidFill>
                <a:ea typeface="Arial" pitchFamily="1" charset="0"/>
                <a:cs typeface="Arial" pitchFamily="1" charset="0"/>
              </a:rPr>
              <a:t>complexity away</a:t>
            </a:r>
            <a:r>
              <a:rPr lang="en-US">
                <a:ea typeface="Arial" pitchFamily="1" charset="0"/>
                <a:cs typeface="Arial" pitchFamily="1" charset="0"/>
              </a:rPr>
              <a:t> from customers, who see functional innovation.</a:t>
            </a:r>
          </a:p>
          <a:p>
            <a:pPr lvl="1" indent="0"/>
            <a:r>
              <a:rPr lang="en-US">
                <a:ea typeface="Arial" pitchFamily="1" charset="0"/>
                <a:cs typeface="Arial" pitchFamily="1" charset="0"/>
              </a:rPr>
              <a:t>Hides differences in algorithms or hardware implementation	</a:t>
            </a:r>
          </a:p>
          <a:p>
            <a:pPr lvl="1" indent="0"/>
            <a:r>
              <a:rPr lang="en-US"/>
              <a:t>No platform specific commands</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919289" y="188913"/>
            <a:ext cx="7623175" cy="838200"/>
          </a:xfrm>
        </p:spPr>
        <p:txBody>
          <a:bodyPr/>
          <a:lstStyle/>
          <a:p>
            <a:pPr eaLnBrk="1" hangingPunct="1"/>
            <a:r>
              <a:rPr lang="en-US"/>
              <a:t>How MQC Works: 3 Steps</a:t>
            </a:r>
          </a:p>
        </p:txBody>
      </p:sp>
      <p:sp>
        <p:nvSpPr>
          <p:cNvPr id="54275" name="Rectangle 3"/>
          <p:cNvSpPr>
            <a:spLocks noGrp="1" noChangeArrowheads="1"/>
          </p:cNvSpPr>
          <p:nvPr>
            <p:ph idx="1"/>
          </p:nvPr>
        </p:nvSpPr>
        <p:spPr>
          <a:xfrm>
            <a:off x="1919289" y="1585914"/>
            <a:ext cx="8535987" cy="3571875"/>
          </a:xfrm>
        </p:spPr>
        <p:txBody>
          <a:bodyPr>
            <a:normAutofit fontScale="85000" lnSpcReduction="20000"/>
          </a:bodyPr>
          <a:lstStyle/>
          <a:p>
            <a:pPr marL="571500" indent="-571500">
              <a:lnSpc>
                <a:spcPct val="85000"/>
              </a:lnSpc>
              <a:buClr>
                <a:schemeClr val="folHlink"/>
              </a:buClr>
              <a:buFont typeface="Arial" pitchFamily="1" charset="0"/>
              <a:buAutoNum type="arabicPeriod"/>
            </a:pPr>
            <a:r>
              <a:rPr lang="en-US" b="1">
                <a:solidFill>
                  <a:schemeClr val="folHlink"/>
                </a:solidFill>
              </a:rPr>
              <a:t>Class-map</a:t>
            </a:r>
            <a:r>
              <a:rPr lang="en-US">
                <a:solidFill>
                  <a:schemeClr val="folHlink"/>
                </a:solidFill>
              </a:rPr>
              <a:t> </a:t>
            </a:r>
            <a:r>
              <a:rPr lang="en-US"/>
              <a:t>– To define traffic classes (global config).</a:t>
            </a:r>
          </a:p>
          <a:p>
            <a:pPr marL="571500" indent="-571500">
              <a:lnSpc>
                <a:spcPct val="85000"/>
              </a:lnSpc>
              <a:buClr>
                <a:schemeClr val="folHlink"/>
              </a:buClr>
              <a:buFont typeface="Arial" pitchFamily="1" charset="0"/>
              <a:buAutoNum type="arabicPeriod"/>
            </a:pPr>
            <a:endParaRPr lang="en-US" sz="1600"/>
          </a:p>
          <a:p>
            <a:pPr marL="571500" indent="-571500">
              <a:lnSpc>
                <a:spcPct val="85000"/>
              </a:lnSpc>
              <a:buClr>
                <a:schemeClr val="folHlink"/>
              </a:buClr>
              <a:buFont typeface="Arial" pitchFamily="1" charset="0"/>
              <a:buAutoNum type="arabicPeriod" startAt="2"/>
            </a:pPr>
            <a:r>
              <a:rPr lang="en-US" b="1">
                <a:solidFill>
                  <a:schemeClr val="folHlink"/>
                </a:solidFill>
              </a:rPr>
              <a:t>Policy-map</a:t>
            </a:r>
            <a:r>
              <a:rPr lang="en-US"/>
              <a:t> – To associate policies/actions with each class of traffic (global config).</a:t>
            </a:r>
          </a:p>
          <a:p>
            <a:pPr marL="571500" indent="-571500">
              <a:lnSpc>
                <a:spcPct val="85000"/>
              </a:lnSpc>
              <a:buClr>
                <a:schemeClr val="folHlink"/>
              </a:buClr>
              <a:buFont typeface="Arial" pitchFamily="1" charset="0"/>
              <a:buAutoNum type="arabicPeriod" startAt="2"/>
            </a:pPr>
            <a:endParaRPr lang="en-US" sz="1600"/>
          </a:p>
          <a:p>
            <a:pPr marL="571500" indent="-571500">
              <a:lnSpc>
                <a:spcPct val="85000"/>
              </a:lnSpc>
              <a:buClr>
                <a:schemeClr val="folHlink"/>
              </a:buClr>
              <a:buFont typeface="Arial" pitchFamily="1" charset="0"/>
              <a:buAutoNum type="arabicPeriod" startAt="2"/>
            </a:pPr>
            <a:r>
              <a:rPr lang="en-US" b="1">
                <a:solidFill>
                  <a:schemeClr val="folHlink"/>
                </a:solidFill>
              </a:rPr>
              <a:t>Service-policy</a:t>
            </a:r>
            <a:r>
              <a:rPr lang="en-US"/>
              <a:t> – To attach policies to interfaces (logical or physical), in input or output direction (inteface config).</a:t>
            </a:r>
          </a:p>
          <a:p>
            <a:pPr marL="571500" indent="-571500">
              <a:lnSpc>
                <a:spcPct val="85000"/>
              </a:lnSpc>
              <a:buFont typeface="Arial" pitchFamily="1" charset="0"/>
              <a:buAutoNum type="arabicPeriod" startAt="2"/>
            </a:pPr>
            <a:endParaRPr lang="en-US"/>
          </a:p>
          <a:p>
            <a:pPr marL="571500" indent="-571500">
              <a:lnSpc>
                <a:spcPct val="85000"/>
              </a:lnSpc>
              <a:buFont typeface="Arial" pitchFamily="1" charset="0"/>
              <a:buAutoNum type="arabicPeriod" startAt="2"/>
            </a:pPr>
            <a:endParaRPr lang="en-US"/>
          </a:p>
          <a:p>
            <a:pPr marL="571500" indent="-571500">
              <a:lnSpc>
                <a:spcPct val="85000"/>
              </a:lnSpc>
              <a:spcBef>
                <a:spcPct val="70000"/>
              </a:spcBef>
              <a:buNone/>
            </a:pPr>
            <a:r>
              <a:rPr lang="en-US" sz="1800" i="1">
                <a:ea typeface="Times New Roman" pitchFamily="1" charset="0"/>
                <a:cs typeface="Times New Roman" pitchFamily="1" charset="0"/>
              </a:rPr>
              <a:t>Note</a:t>
            </a:r>
            <a:r>
              <a:rPr lang="en-US" sz="1800">
                <a:ea typeface="Times New Roman" pitchFamily="1" charset="0"/>
                <a:cs typeface="Times New Roman" pitchFamily="1" charset="0"/>
              </a:rPr>
              <a:t>:</a:t>
            </a:r>
            <a:r>
              <a:rPr lang="en-US" sz="1800">
                <a:solidFill>
                  <a:srgbClr val="FF0000"/>
                </a:solidFill>
                <a:ea typeface="Times New Roman" pitchFamily="1" charset="0"/>
                <a:cs typeface="Times New Roman" pitchFamily="1" charset="0"/>
              </a:rPr>
              <a:t> </a:t>
            </a:r>
            <a:r>
              <a:rPr lang="en-US" sz="1800">
                <a:solidFill>
                  <a:schemeClr val="accent2"/>
                </a:solidFill>
                <a:ea typeface="Times New Roman" pitchFamily="1" charset="0"/>
                <a:cs typeface="Times New Roman" pitchFamily="1" charset="0"/>
              </a:rPr>
              <a:t>MQC does not equate to CBWFQ</a:t>
            </a:r>
            <a:r>
              <a:rPr lang="en-US" sz="1800">
                <a:ea typeface="Times New Roman" pitchFamily="1" charset="0"/>
                <a:cs typeface="Times New Roman" pitchFamily="1" charset="0"/>
              </a:rPr>
              <a:t>.</a:t>
            </a:r>
            <a:r>
              <a:rPr lang="en-US" sz="1800">
                <a:solidFill>
                  <a:srgbClr val="FF0000"/>
                </a:solidFill>
                <a:ea typeface="Times New Roman" pitchFamily="1" charset="0"/>
                <a:cs typeface="Times New Roman" pitchFamily="1" charset="0"/>
              </a:rPr>
              <a:t>  </a:t>
            </a:r>
            <a:r>
              <a:rPr lang="en-US" sz="1800">
                <a:ea typeface="Times New Roman" pitchFamily="1" charset="0"/>
                <a:cs typeface="Times New Roman" pitchFamily="1" charset="0"/>
              </a:rPr>
              <a:t>CBWFQ is a queuing mechanism that can be configured via MQC. </a:t>
            </a:r>
          </a:p>
          <a:p>
            <a:pPr marL="571500" indent="-571500">
              <a:lnSpc>
                <a:spcPct val="85000"/>
              </a:lnSpc>
              <a:spcBef>
                <a:spcPct val="70000"/>
              </a:spcBef>
              <a:buNone/>
            </a:pPr>
            <a:r>
              <a:rPr lang="en-US" sz="1800">
                <a:solidFill>
                  <a:schemeClr val="accent2"/>
                </a:solidFill>
                <a:ea typeface="Times New Roman" pitchFamily="1" charset="0"/>
                <a:cs typeface="Times New Roman" pitchFamily="1" charset="0"/>
                <a:hlinkClick r:id="rId3"/>
              </a:rPr>
              <a:t>http://www.cisco.com/univercd/cc/td/doc/product/software/ios122/122cgcr/fqos_c/fqcprt8/qcfmdcli.htm</a:t>
            </a:r>
            <a:endParaRPr lang="en-US" sz="1800">
              <a:solidFill>
                <a:schemeClr val="accent2"/>
              </a:solidFill>
              <a:ea typeface="Times New Roman" pitchFamily="1" charset="0"/>
              <a:cs typeface="Times New Roman" pitchFamily="1" charset="0"/>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t>MQC: Step 1 – Class-map</a:t>
            </a:r>
          </a:p>
        </p:txBody>
      </p:sp>
      <p:sp>
        <p:nvSpPr>
          <p:cNvPr id="56323" name="Rectangle 3"/>
          <p:cNvSpPr>
            <a:spLocks noGrp="1" noChangeArrowheads="1"/>
          </p:cNvSpPr>
          <p:nvPr>
            <p:ph idx="1"/>
          </p:nvPr>
        </p:nvSpPr>
        <p:spPr>
          <a:xfrm>
            <a:off x="2179639" y="1412876"/>
            <a:ext cx="7940675" cy="4816475"/>
          </a:xfrm>
        </p:spPr>
        <p:txBody>
          <a:bodyPr>
            <a:normAutofit lnSpcReduction="10000"/>
          </a:bodyPr>
          <a:lstStyle/>
          <a:p>
            <a:r>
              <a:rPr lang="en-US"/>
              <a:t>Creates a </a:t>
            </a:r>
            <a:r>
              <a:rPr lang="en-US">
                <a:solidFill>
                  <a:schemeClr val="folHlink"/>
                </a:solidFill>
              </a:rPr>
              <a:t>named</a:t>
            </a:r>
            <a:r>
              <a:rPr lang="en-US"/>
              <a:t> traffic class</a:t>
            </a:r>
          </a:p>
          <a:p>
            <a:r>
              <a:rPr lang="en-US"/>
              <a:t>Specifies the </a:t>
            </a:r>
            <a:r>
              <a:rPr lang="en-US">
                <a:solidFill>
                  <a:schemeClr val="folHlink"/>
                </a:solidFill>
              </a:rPr>
              <a:t>packet-matching criteria</a:t>
            </a:r>
            <a:r>
              <a:rPr lang="en-US"/>
              <a:t> need to be part of the class. </a:t>
            </a:r>
          </a:p>
          <a:p>
            <a:endParaRPr lang="en-US"/>
          </a:p>
          <a:p>
            <a:endParaRPr lang="en-US"/>
          </a:p>
          <a:p>
            <a:endParaRPr lang="en-US"/>
          </a:p>
          <a:p>
            <a:r>
              <a:rPr lang="en-US"/>
              <a:t>If more than one criteria, class-map can be ‘match-all’ or ‘match- any’.  </a:t>
            </a:r>
            <a:r>
              <a:rPr lang="en-US" u="sng">
                <a:solidFill>
                  <a:schemeClr val="accent2"/>
                </a:solidFill>
              </a:rPr>
              <a:t>Default is match all</a:t>
            </a:r>
            <a:r>
              <a:rPr lang="en-US"/>
              <a:t>.</a:t>
            </a:r>
          </a:p>
          <a:p>
            <a:r>
              <a:rPr lang="en-US"/>
              <a:t>A class named ‘</a:t>
            </a:r>
            <a:r>
              <a:rPr lang="en-US">
                <a:solidFill>
                  <a:schemeClr val="folHlink"/>
                </a:solidFill>
              </a:rPr>
              <a:t>class-default</a:t>
            </a:r>
            <a:r>
              <a:rPr lang="en-US"/>
              <a:t>’ is always present, It matches packets that didn’t match a user-defined class.</a:t>
            </a:r>
          </a:p>
          <a:p>
            <a:pPr>
              <a:buFont typeface="Wingdings" pitchFamily="1" charset="2"/>
              <a:buNone/>
            </a:pPr>
            <a:endParaRPr lang="en-US"/>
          </a:p>
        </p:txBody>
      </p:sp>
      <p:sp>
        <p:nvSpPr>
          <p:cNvPr id="56324" name="Text Box 4"/>
          <p:cNvSpPr txBox="1">
            <a:spLocks noChangeArrowheads="1"/>
          </p:cNvSpPr>
          <p:nvPr/>
        </p:nvSpPr>
        <p:spPr bwMode="auto">
          <a:xfrm>
            <a:off x="2782889" y="2998789"/>
            <a:ext cx="6624637" cy="935037"/>
          </a:xfrm>
          <a:prstGeom prst="rect">
            <a:avLst/>
          </a:prstGeom>
          <a:solidFill>
            <a:schemeClr val="tx2"/>
          </a:solidFill>
          <a:ln w="28575">
            <a:solidFill>
              <a:schemeClr val="tx1"/>
            </a:solidFill>
            <a:miter lim="800000"/>
            <a:headEnd/>
            <a:tailEnd/>
          </a:ln>
        </p:spPr>
        <p:txBody>
          <a:bodyPr lIns="82124" tIns="41061" rIns="82124" bIns="41061">
            <a:prstTxWarp prst="textNoShape">
              <a:avLst/>
            </a:prstTxWarp>
            <a:spAutoFit/>
          </a:bodyPr>
          <a:lstStyle/>
          <a:p>
            <a:pPr algn="l" defTabSz="814388"/>
            <a:r>
              <a:rPr lang="en-US" sz="2000" b="1">
                <a:solidFill>
                  <a:schemeClr val="bg1"/>
                </a:solidFill>
                <a:latin typeface="Courier New" pitchFamily="1" charset="0"/>
              </a:rPr>
              <a:t>class-map </a:t>
            </a:r>
            <a:r>
              <a:rPr lang="en-US" sz="2000">
                <a:solidFill>
                  <a:schemeClr val="bg1"/>
                </a:solidFill>
                <a:latin typeface="Courier New" pitchFamily="1" charset="0"/>
              </a:rPr>
              <a:t>&lt;match-(all|any)&gt; &lt;class name&gt;</a:t>
            </a:r>
          </a:p>
          <a:p>
            <a:pPr algn="l" defTabSz="814388"/>
            <a:r>
              <a:rPr lang="en-US" sz="2000" b="1">
                <a:solidFill>
                  <a:schemeClr val="bg1"/>
                </a:solidFill>
                <a:latin typeface="Courier New" pitchFamily="1" charset="0"/>
              </a:rPr>
              <a:t>  match </a:t>
            </a:r>
            <a:r>
              <a:rPr lang="en-US" sz="2000">
                <a:solidFill>
                  <a:schemeClr val="bg1"/>
                </a:solidFill>
                <a:latin typeface="Courier New" pitchFamily="1" charset="0"/>
              </a:rPr>
              <a:t>&lt;criteria&gt;</a:t>
            </a:r>
          </a:p>
          <a:p>
            <a:pPr algn="l" defTabSz="814388"/>
            <a:r>
              <a:rPr lang="en-US" sz="2000" b="1">
                <a:solidFill>
                  <a:schemeClr val="bg1"/>
                </a:solidFill>
                <a:latin typeface="Courier New" pitchFamily="1" charset="0"/>
              </a:rPr>
              <a:t>  match not </a:t>
            </a:r>
            <a:r>
              <a:rPr lang="en-US" sz="2000">
                <a:solidFill>
                  <a:schemeClr val="bg1"/>
                </a:solidFill>
                <a:latin typeface="Courier New" pitchFamily="1" charset="0"/>
              </a:rPr>
              <a:t>&lt;criteria&gt;</a:t>
            </a:r>
            <a:r>
              <a:rPr lang="en-US" sz="2000" b="1">
                <a:solidFill>
                  <a:schemeClr val="bg1"/>
                </a:solidFill>
                <a:latin typeface="Courier New" pitchFamily="1" charset="0"/>
              </a:rPr>
              <a:t>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t>MQC: Step 2 – Policy-map</a:t>
            </a:r>
          </a:p>
        </p:txBody>
      </p:sp>
      <p:sp>
        <p:nvSpPr>
          <p:cNvPr id="57347" name="Rectangle 3"/>
          <p:cNvSpPr>
            <a:spLocks noGrp="1" noChangeArrowheads="1"/>
          </p:cNvSpPr>
          <p:nvPr>
            <p:ph idx="1"/>
          </p:nvPr>
        </p:nvSpPr>
        <p:spPr>
          <a:xfrm>
            <a:off x="2179639" y="1484313"/>
            <a:ext cx="7940675" cy="5040312"/>
          </a:xfrm>
        </p:spPr>
        <p:txBody>
          <a:bodyPr>
            <a:normAutofit lnSpcReduction="10000"/>
          </a:bodyPr>
          <a:lstStyle/>
          <a:p>
            <a:r>
              <a:rPr lang="en-US">
                <a:solidFill>
                  <a:schemeClr val="folHlink"/>
                </a:solidFill>
              </a:rPr>
              <a:t>Named</a:t>
            </a:r>
            <a:r>
              <a:rPr lang="en-US"/>
              <a:t> object representing a set of policies that are to be applied to a set of traffic classes:</a:t>
            </a:r>
          </a:p>
          <a:p>
            <a:pPr lvl="1" indent="0"/>
            <a:r>
              <a:rPr lang="en-US"/>
              <a:t>Ex: Minimum bandwidth guaranteed, maximum rate,…</a:t>
            </a:r>
          </a:p>
          <a:p>
            <a:pPr lvl="1" indent="0"/>
            <a:endParaRPr lang="en-US"/>
          </a:p>
          <a:p>
            <a:pPr lvl="1" indent="0"/>
            <a:endParaRPr lang="en-US"/>
          </a:p>
          <a:p>
            <a:pPr lvl="1" indent="0"/>
            <a:endParaRPr lang="en-US"/>
          </a:p>
          <a:p>
            <a:pPr lvl="1" indent="0"/>
            <a:endParaRPr lang="en-US"/>
          </a:p>
          <a:p>
            <a:pPr lvl="1" indent="0"/>
            <a:endParaRPr lang="en-US"/>
          </a:p>
          <a:p>
            <a:pPr lvl="1" indent="0"/>
            <a:endParaRPr lang="en-US"/>
          </a:p>
          <a:p>
            <a:pPr lvl="1" indent="0"/>
            <a:endParaRPr lang="en-US"/>
          </a:p>
          <a:p>
            <a:pPr lvl="1" indent="0"/>
            <a:endParaRPr lang="en-US"/>
          </a:p>
          <a:p>
            <a:r>
              <a:rPr lang="en-US"/>
              <a:t>Classes need to be defined first (except class-default)</a:t>
            </a:r>
          </a:p>
        </p:txBody>
      </p:sp>
      <p:sp>
        <p:nvSpPr>
          <p:cNvPr id="57348" name="Text Box 4"/>
          <p:cNvSpPr txBox="1">
            <a:spLocks noChangeArrowheads="1"/>
          </p:cNvSpPr>
          <p:nvPr/>
        </p:nvSpPr>
        <p:spPr bwMode="auto">
          <a:xfrm>
            <a:off x="2711450" y="2921001"/>
            <a:ext cx="6624638" cy="2740025"/>
          </a:xfrm>
          <a:prstGeom prst="rect">
            <a:avLst/>
          </a:prstGeom>
          <a:solidFill>
            <a:schemeClr val="tx2"/>
          </a:solidFill>
          <a:ln w="28575">
            <a:solidFill>
              <a:schemeClr val="tx1"/>
            </a:solidFill>
            <a:miter lim="800000"/>
            <a:headEnd/>
            <a:tailEnd/>
          </a:ln>
        </p:spPr>
        <p:txBody>
          <a:bodyPr lIns="82124" tIns="41061" rIns="82124" bIns="41061">
            <a:prstTxWarp prst="textNoShape">
              <a:avLst/>
            </a:prstTxWarp>
            <a:spAutoFit/>
          </a:bodyPr>
          <a:lstStyle/>
          <a:p>
            <a:pPr lvl="1" algn="l" defTabSz="814388"/>
            <a:r>
              <a:rPr lang="en-US" b="1">
                <a:solidFill>
                  <a:schemeClr val="bg1"/>
                </a:solidFill>
                <a:latin typeface="Courier New" pitchFamily="1" charset="0"/>
              </a:rPr>
              <a:t>policy-map</a:t>
            </a:r>
            <a:r>
              <a:rPr lang="en-US">
                <a:solidFill>
                  <a:schemeClr val="bg1"/>
                </a:solidFill>
                <a:latin typeface="Courier New" pitchFamily="1" charset="0"/>
              </a:rPr>
              <a:t> &lt;map-name&gt;</a:t>
            </a:r>
            <a:br>
              <a:rPr lang="en-US">
                <a:solidFill>
                  <a:schemeClr val="bg1"/>
                </a:solidFill>
                <a:latin typeface="Courier New" pitchFamily="1" charset="0"/>
              </a:rPr>
            </a:br>
            <a:r>
              <a:rPr lang="en-US">
                <a:solidFill>
                  <a:schemeClr val="bg1"/>
                </a:solidFill>
                <a:latin typeface="Courier New" pitchFamily="1" charset="0"/>
              </a:rPr>
              <a:t> </a:t>
            </a:r>
            <a:r>
              <a:rPr lang="en-US" b="1">
                <a:solidFill>
                  <a:schemeClr val="bg1"/>
                </a:solidFill>
                <a:latin typeface="Courier New" pitchFamily="1" charset="0"/>
              </a:rPr>
              <a:t>class</a:t>
            </a:r>
            <a:r>
              <a:rPr lang="en-US">
                <a:solidFill>
                  <a:schemeClr val="bg1"/>
                </a:solidFill>
                <a:latin typeface="Courier New" pitchFamily="1" charset="0"/>
              </a:rPr>
              <a:t> &lt;class-map-name-1&gt;</a:t>
            </a:r>
            <a:br>
              <a:rPr lang="en-US">
                <a:solidFill>
                  <a:schemeClr val="bg1"/>
                </a:solidFill>
                <a:latin typeface="Courier New" pitchFamily="1" charset="0"/>
              </a:rPr>
            </a:br>
            <a:r>
              <a:rPr lang="en-US">
                <a:solidFill>
                  <a:schemeClr val="bg1"/>
                </a:solidFill>
                <a:latin typeface="Courier New" pitchFamily="1" charset="0"/>
              </a:rPr>
              <a:t>  &lt;policy-1&gt;</a:t>
            </a:r>
            <a:br>
              <a:rPr lang="en-US">
                <a:solidFill>
                  <a:schemeClr val="bg1"/>
                </a:solidFill>
                <a:latin typeface="Courier New" pitchFamily="1" charset="0"/>
              </a:rPr>
            </a:br>
            <a:r>
              <a:rPr lang="en-US">
                <a:solidFill>
                  <a:schemeClr val="bg1"/>
                </a:solidFill>
                <a:latin typeface="Courier New" pitchFamily="1" charset="0"/>
              </a:rPr>
              <a:t>  &lt;policy-n&gt;</a:t>
            </a:r>
          </a:p>
          <a:p>
            <a:pPr lvl="1" algn="l" defTabSz="814388"/>
            <a:r>
              <a:rPr lang="en-US">
                <a:solidFill>
                  <a:schemeClr val="bg1"/>
                </a:solidFill>
                <a:latin typeface="Courier New" pitchFamily="1" charset="0"/>
              </a:rPr>
              <a:t>  </a:t>
            </a:r>
            <a:r>
              <a:rPr lang="en-US" b="1">
                <a:solidFill>
                  <a:schemeClr val="bg1"/>
                </a:solidFill>
                <a:latin typeface="Courier New" pitchFamily="1" charset="0"/>
              </a:rPr>
              <a:t>class</a:t>
            </a:r>
            <a:r>
              <a:rPr lang="en-US">
                <a:solidFill>
                  <a:schemeClr val="bg1"/>
                </a:solidFill>
                <a:latin typeface="Courier New" pitchFamily="1" charset="0"/>
              </a:rPr>
              <a:t> &lt;class-map-name-n&gt;</a:t>
            </a:r>
            <a:br>
              <a:rPr lang="en-US">
                <a:solidFill>
                  <a:schemeClr val="bg1"/>
                </a:solidFill>
                <a:latin typeface="Courier New" pitchFamily="1" charset="0"/>
              </a:rPr>
            </a:br>
            <a:r>
              <a:rPr lang="en-US">
                <a:solidFill>
                  <a:schemeClr val="bg1"/>
                </a:solidFill>
                <a:latin typeface="Courier New" pitchFamily="1" charset="0"/>
              </a:rPr>
              <a:t>  &lt;policy-n&gt;</a:t>
            </a:r>
          </a:p>
          <a:p>
            <a:pPr lvl="1" algn="l" defTabSz="814388"/>
            <a:r>
              <a:rPr lang="en-US" b="1">
                <a:solidFill>
                  <a:schemeClr val="bg1"/>
                </a:solidFill>
                <a:latin typeface="Courier New" pitchFamily="1" charset="0"/>
              </a:rPr>
              <a:t>  class class-default</a:t>
            </a:r>
          </a:p>
          <a:p>
            <a:pPr lvl="1" algn="l" defTabSz="814388"/>
            <a:r>
              <a:rPr lang="en-US">
                <a:solidFill>
                  <a:schemeClr val="bg1"/>
                </a:solidFill>
                <a:latin typeface="Courier New" pitchFamily="1" charset="0"/>
              </a:rPr>
              <a:t>  &lt;policy-default&gt;</a:t>
            </a:r>
            <a:endParaRPr lang="en-US" sz="2000" b="1">
              <a:solidFill>
                <a:schemeClr val="bg1"/>
              </a:solidFill>
              <a:latin typeface="Courier New" pitchFamily="1"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t>MQC: Step 3 – Service-policy</a:t>
            </a:r>
          </a:p>
        </p:txBody>
      </p:sp>
      <p:sp>
        <p:nvSpPr>
          <p:cNvPr id="59395" name="Rectangle 3"/>
          <p:cNvSpPr>
            <a:spLocks noGrp="1" noChangeArrowheads="1"/>
          </p:cNvSpPr>
          <p:nvPr>
            <p:ph idx="1"/>
          </p:nvPr>
        </p:nvSpPr>
        <p:spPr>
          <a:xfrm>
            <a:off x="2179639" y="1781176"/>
            <a:ext cx="7940675" cy="4600575"/>
          </a:xfrm>
        </p:spPr>
        <p:txBody>
          <a:bodyPr/>
          <a:lstStyle/>
          <a:p>
            <a:r>
              <a:rPr lang="en-US"/>
              <a:t>Attach the previously created policy-map to an interface</a:t>
            </a:r>
          </a:p>
          <a:p>
            <a:r>
              <a:rPr lang="en-US"/>
              <a:t>Apply it to either </a:t>
            </a:r>
            <a:r>
              <a:rPr lang="en-US">
                <a:solidFill>
                  <a:schemeClr val="folHlink"/>
                </a:solidFill>
              </a:rPr>
              <a:t>input</a:t>
            </a:r>
            <a:r>
              <a:rPr lang="en-US"/>
              <a:t> or </a:t>
            </a:r>
            <a:r>
              <a:rPr lang="en-US">
                <a:solidFill>
                  <a:schemeClr val="folHlink"/>
                </a:solidFill>
              </a:rPr>
              <a:t>output </a:t>
            </a:r>
            <a:r>
              <a:rPr lang="en-US"/>
              <a:t>traffic</a:t>
            </a:r>
          </a:p>
          <a:p>
            <a:endParaRPr lang="en-US"/>
          </a:p>
          <a:p>
            <a:endParaRPr lang="en-US"/>
          </a:p>
          <a:p>
            <a:r>
              <a:rPr lang="en-US"/>
              <a:t>Interface can be </a:t>
            </a:r>
            <a:r>
              <a:rPr lang="en-US">
                <a:solidFill>
                  <a:schemeClr val="folHlink"/>
                </a:solidFill>
              </a:rPr>
              <a:t>physical</a:t>
            </a:r>
            <a:r>
              <a:rPr lang="en-US"/>
              <a:t> :</a:t>
            </a:r>
          </a:p>
          <a:p>
            <a:pPr lvl="1" indent="0"/>
            <a:r>
              <a:rPr lang="en-US"/>
              <a:t>Main interface</a:t>
            </a:r>
          </a:p>
          <a:p>
            <a:r>
              <a:rPr lang="en-US"/>
              <a:t>Or </a:t>
            </a:r>
            <a:r>
              <a:rPr lang="en-US">
                <a:solidFill>
                  <a:schemeClr val="folHlink"/>
                </a:solidFill>
              </a:rPr>
              <a:t>logical</a:t>
            </a:r>
            <a:r>
              <a:rPr lang="en-US"/>
              <a:t> :</a:t>
            </a:r>
          </a:p>
          <a:p>
            <a:pPr lvl="1" indent="0"/>
            <a:r>
              <a:rPr lang="en-US"/>
              <a:t>Subinterface, PVC, DLCI, Tunnel, Virtual-Template, Dialer, Multilink.</a:t>
            </a:r>
          </a:p>
          <a:p>
            <a:pPr>
              <a:buFont typeface="Wingdings" pitchFamily="1" charset="2"/>
              <a:buNone/>
            </a:pPr>
            <a:endParaRPr lang="en-US"/>
          </a:p>
        </p:txBody>
      </p:sp>
      <p:sp>
        <p:nvSpPr>
          <p:cNvPr id="59396" name="Text Box 4"/>
          <p:cNvSpPr txBox="1">
            <a:spLocks noChangeArrowheads="1"/>
          </p:cNvSpPr>
          <p:nvPr/>
        </p:nvSpPr>
        <p:spPr bwMode="auto">
          <a:xfrm>
            <a:off x="1847851" y="3097213"/>
            <a:ext cx="8569325" cy="452256"/>
          </a:xfrm>
          <a:prstGeom prst="rect">
            <a:avLst/>
          </a:prstGeom>
          <a:solidFill>
            <a:schemeClr val="tx2"/>
          </a:solidFill>
          <a:ln w="28575">
            <a:solidFill>
              <a:schemeClr val="tx1"/>
            </a:solidFill>
            <a:miter lim="800000"/>
            <a:headEnd/>
            <a:tailEnd/>
          </a:ln>
        </p:spPr>
        <p:txBody>
          <a:bodyPr lIns="82124" tIns="41061" rIns="82124" bIns="41061">
            <a:prstTxWarp prst="textNoShape">
              <a:avLst/>
            </a:prstTxWarp>
            <a:spAutoFit/>
          </a:bodyPr>
          <a:lstStyle/>
          <a:p>
            <a:pPr algn="l" defTabSz="814388">
              <a:lnSpc>
                <a:spcPct val="100000"/>
              </a:lnSpc>
            </a:pPr>
            <a:r>
              <a:rPr lang="en-US" b="1">
                <a:solidFill>
                  <a:schemeClr val="bg1"/>
                </a:solidFill>
                <a:latin typeface="Courier New" pitchFamily="1" charset="0"/>
              </a:rPr>
              <a:t>service-policy </a:t>
            </a:r>
            <a:r>
              <a:rPr lang="en-US">
                <a:solidFill>
                  <a:schemeClr val="bg1"/>
                </a:solidFill>
                <a:latin typeface="Courier New" pitchFamily="1" charset="0"/>
              </a:rPr>
              <a:t>&lt;output|input&gt; &lt;policy-name&gt;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t>MQC: Step 3 – Multiple policies</a:t>
            </a:r>
          </a:p>
        </p:txBody>
      </p:sp>
      <p:sp>
        <p:nvSpPr>
          <p:cNvPr id="60419" name="Rectangle 3"/>
          <p:cNvSpPr>
            <a:spLocks noGrp="1" noChangeArrowheads="1"/>
          </p:cNvSpPr>
          <p:nvPr>
            <p:ph idx="1"/>
          </p:nvPr>
        </p:nvSpPr>
        <p:spPr>
          <a:xfrm>
            <a:off x="2179639" y="1781176"/>
            <a:ext cx="7940675" cy="4456113"/>
          </a:xfrm>
        </p:spPr>
        <p:txBody>
          <a:bodyPr/>
          <a:lstStyle/>
          <a:p>
            <a:r>
              <a:rPr lang="en-US"/>
              <a:t>Input : Only on same level </a:t>
            </a:r>
            <a:r>
              <a:rPr lang="en-US">
                <a:solidFill>
                  <a:schemeClr val="folHlink"/>
                </a:solidFill>
              </a:rPr>
              <a:t>peers, </a:t>
            </a:r>
            <a:r>
              <a:rPr lang="en-US"/>
              <a:t>ex:</a:t>
            </a:r>
          </a:p>
          <a:p>
            <a:pPr lvl="1" indent="0"/>
            <a:r>
              <a:rPr lang="en-US"/>
              <a:t>Valid:	3 different policies on 3 subinterfaces</a:t>
            </a:r>
          </a:p>
          <a:p>
            <a:pPr lvl="1" indent="0"/>
            <a:r>
              <a:rPr lang="en-US"/>
              <a:t>Invalid:	1 policy on main, 1 on a subinterface </a:t>
            </a:r>
          </a:p>
          <a:p>
            <a:r>
              <a:rPr lang="en-US"/>
              <a:t>Output: Only </a:t>
            </a:r>
            <a:r>
              <a:rPr lang="en-US">
                <a:solidFill>
                  <a:schemeClr val="folHlink"/>
                </a:solidFill>
              </a:rPr>
              <a:t>2</a:t>
            </a:r>
            <a:r>
              <a:rPr lang="en-US"/>
              <a:t> levels, ex:</a:t>
            </a:r>
          </a:p>
          <a:p>
            <a:pPr lvl="1" indent="0"/>
            <a:r>
              <a:rPr lang="en-US"/>
              <a:t>Valid:	1 policy on main, 1 on a subinterface</a:t>
            </a:r>
          </a:p>
          <a:p>
            <a:pPr lvl="1" indent="0"/>
            <a:r>
              <a:rPr lang="en-US"/>
              <a:t>		1 policy on main, 1 on PVC</a:t>
            </a:r>
          </a:p>
          <a:p>
            <a:pPr lvl="1" indent="0"/>
            <a:r>
              <a:rPr lang="en-US"/>
              <a:t>Invalid:	1 policy on main, 1 subinterface, 1 on PVC</a:t>
            </a:r>
          </a:p>
          <a:p>
            <a:pPr lvl="1" indent="0"/>
            <a:endParaRPr lang="en-US"/>
          </a:p>
          <a:p>
            <a:r>
              <a:rPr lang="en-US"/>
              <a:t>Recent IOS should complain if invalid configuration attempted.</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t>MQC: Hierarchical Policies</a:t>
            </a:r>
          </a:p>
        </p:txBody>
      </p:sp>
      <p:sp>
        <p:nvSpPr>
          <p:cNvPr id="62467" name="Rectangle 3"/>
          <p:cNvSpPr>
            <a:spLocks noGrp="1" noChangeArrowheads="1"/>
          </p:cNvSpPr>
          <p:nvPr>
            <p:ph idx="1"/>
          </p:nvPr>
        </p:nvSpPr>
        <p:spPr>
          <a:xfrm>
            <a:off x="2208214" y="1341439"/>
            <a:ext cx="7940675" cy="5616575"/>
          </a:xfrm>
        </p:spPr>
        <p:txBody>
          <a:bodyPr/>
          <a:lstStyle/>
          <a:p>
            <a:r>
              <a:rPr lang="en-US"/>
              <a:t>One policy-map can be used inside another one.  The </a:t>
            </a:r>
            <a:r>
              <a:rPr lang="en-US">
                <a:solidFill>
                  <a:schemeClr val="folHlink"/>
                </a:solidFill>
              </a:rPr>
              <a:t>parent</a:t>
            </a:r>
            <a:r>
              <a:rPr lang="en-US"/>
              <a:t> is the one applied to the interface.</a:t>
            </a:r>
          </a:p>
          <a:p>
            <a:endParaRPr lang="en-US"/>
          </a:p>
          <a:p>
            <a:endParaRPr lang="en-US"/>
          </a:p>
          <a:p>
            <a:endParaRPr lang="en-US"/>
          </a:p>
          <a:p>
            <a:endParaRPr lang="en-US"/>
          </a:p>
          <a:p>
            <a:pPr>
              <a:buFont typeface="Wingdings" pitchFamily="1" charset="2"/>
              <a:buNone/>
            </a:pPr>
            <a:endParaRPr lang="en-US"/>
          </a:p>
          <a:p>
            <a:r>
              <a:rPr lang="en-US"/>
              <a:t>Availability and number of levels depends on heavily on platform.</a:t>
            </a:r>
          </a:p>
          <a:p>
            <a:r>
              <a:rPr lang="en-US"/>
              <a:t>Often used with two levels: Shaper in parent, Queues in child, so the shaper can trigger the backpressure.</a:t>
            </a:r>
          </a:p>
        </p:txBody>
      </p:sp>
      <p:sp>
        <p:nvSpPr>
          <p:cNvPr id="62468" name="Text Box 4"/>
          <p:cNvSpPr txBox="1">
            <a:spLocks noChangeArrowheads="1"/>
          </p:cNvSpPr>
          <p:nvPr/>
        </p:nvSpPr>
        <p:spPr bwMode="auto">
          <a:xfrm>
            <a:off x="3432176" y="2312989"/>
            <a:ext cx="5400675" cy="2339975"/>
          </a:xfrm>
          <a:prstGeom prst="rect">
            <a:avLst/>
          </a:prstGeom>
          <a:solidFill>
            <a:schemeClr val="tx2"/>
          </a:solidFill>
          <a:ln w="28575">
            <a:solidFill>
              <a:schemeClr val="tx1"/>
            </a:solidFill>
            <a:miter lim="800000"/>
            <a:headEnd/>
            <a:tailEnd/>
          </a:ln>
        </p:spPr>
        <p:txBody>
          <a:bodyPr lIns="82124" tIns="41061" rIns="82124" bIns="41061">
            <a:prstTxWarp prst="textNoShape">
              <a:avLst/>
            </a:prstTxWarp>
            <a:spAutoFit/>
          </a:bodyPr>
          <a:lstStyle/>
          <a:p>
            <a:pPr marL="800100" lvl="1" indent="-342900" algn="l" defTabSz="814388"/>
            <a:r>
              <a:rPr lang="en-US" sz="1800">
                <a:solidFill>
                  <a:schemeClr val="bg1"/>
                </a:solidFill>
                <a:latin typeface="Courier New" pitchFamily="1" charset="0"/>
              </a:rPr>
              <a:t>policy-map</a:t>
            </a:r>
            <a:r>
              <a:rPr lang="en-US" sz="1800" b="1">
                <a:solidFill>
                  <a:schemeClr val="bg1"/>
                </a:solidFill>
                <a:latin typeface="Courier New" pitchFamily="1" charset="0"/>
              </a:rPr>
              <a:t> child </a:t>
            </a:r>
          </a:p>
          <a:p>
            <a:pPr marL="1257300" lvl="2" indent="-342900" algn="l" defTabSz="814388"/>
            <a:r>
              <a:rPr lang="en-US" sz="1800" b="1">
                <a:solidFill>
                  <a:schemeClr val="bg1"/>
                </a:solidFill>
                <a:latin typeface="Courier New" pitchFamily="1" charset="0"/>
              </a:rPr>
              <a:t>  </a:t>
            </a:r>
            <a:r>
              <a:rPr lang="en-US" sz="1800">
                <a:solidFill>
                  <a:schemeClr val="bg1"/>
                </a:solidFill>
                <a:latin typeface="Courier New" pitchFamily="1" charset="0"/>
              </a:rPr>
              <a:t>class http </a:t>
            </a:r>
          </a:p>
          <a:p>
            <a:pPr marL="1257300" lvl="2" indent="-342900" algn="l" defTabSz="814388"/>
            <a:r>
              <a:rPr lang="en-US" sz="1800">
                <a:solidFill>
                  <a:schemeClr val="bg1"/>
                </a:solidFill>
                <a:latin typeface="Courier New" pitchFamily="1" charset="0"/>
              </a:rPr>
              <a:t>    bandwidth &lt;BW&gt; </a:t>
            </a:r>
          </a:p>
          <a:p>
            <a:pPr marL="1257300" lvl="2" indent="-342900" algn="l" defTabSz="814388"/>
            <a:r>
              <a:rPr lang="en-US" sz="1800">
                <a:solidFill>
                  <a:schemeClr val="bg1"/>
                </a:solidFill>
                <a:latin typeface="Courier New" pitchFamily="1" charset="0"/>
              </a:rPr>
              <a:t>  class ftp </a:t>
            </a:r>
          </a:p>
          <a:p>
            <a:pPr marL="1257300" lvl="2" indent="-342900" algn="l" defTabSz="814388"/>
            <a:endParaRPr lang="en-US" sz="1800">
              <a:solidFill>
                <a:schemeClr val="bg1"/>
              </a:solidFill>
              <a:latin typeface="Courier New" pitchFamily="1" charset="0"/>
            </a:endParaRPr>
          </a:p>
          <a:p>
            <a:pPr marL="1257300" lvl="2" indent="-342900" algn="l" defTabSz="814388"/>
            <a:r>
              <a:rPr lang="en-US" sz="1800">
                <a:solidFill>
                  <a:schemeClr val="bg1"/>
                </a:solidFill>
                <a:latin typeface="Courier New" pitchFamily="1" charset="0"/>
              </a:rPr>
              <a:t>policy-map</a:t>
            </a:r>
            <a:r>
              <a:rPr lang="en-US" sz="1800" b="1">
                <a:solidFill>
                  <a:schemeClr val="bg1"/>
                </a:solidFill>
                <a:latin typeface="Courier New" pitchFamily="1" charset="0"/>
              </a:rPr>
              <a:t> parent </a:t>
            </a:r>
          </a:p>
          <a:p>
            <a:pPr marL="1257300" lvl="2" indent="-342900" algn="l" defTabSz="814388"/>
            <a:r>
              <a:rPr lang="en-US" sz="1800">
                <a:solidFill>
                  <a:schemeClr val="bg1"/>
                </a:solidFill>
                <a:latin typeface="Courier New" pitchFamily="1" charset="0"/>
              </a:rPr>
              <a:t>  class class-default </a:t>
            </a:r>
          </a:p>
          <a:p>
            <a:pPr marL="1257300" lvl="2" indent="-342900" algn="l" defTabSz="814388"/>
            <a:r>
              <a:rPr lang="en-US" sz="1800">
                <a:solidFill>
                  <a:schemeClr val="bg1"/>
                </a:solidFill>
                <a:latin typeface="Courier New" pitchFamily="1" charset="0"/>
              </a:rPr>
              <a:t>    shape average &lt;CIR&gt; </a:t>
            </a:r>
          </a:p>
          <a:p>
            <a:pPr marL="1257300" lvl="2" indent="-342900" algn="l" defTabSz="814388"/>
            <a:r>
              <a:rPr lang="en-US" sz="1800" b="1">
                <a:solidFill>
                  <a:schemeClr val="bg1"/>
                </a:solidFill>
                <a:latin typeface="Courier New" pitchFamily="1" charset="0"/>
              </a:rPr>
              <a:t>    service-policy child </a:t>
            </a:r>
            <a:endParaRPr lang="en-US" sz="1800">
              <a:solidFill>
                <a:schemeClr val="bg1"/>
              </a:solidFill>
              <a:latin typeface="Courier New" pitchFamily="1"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t>Review Questions</a:t>
            </a:r>
          </a:p>
        </p:txBody>
      </p:sp>
      <p:sp>
        <p:nvSpPr>
          <p:cNvPr id="74755" name="Rectangle 3"/>
          <p:cNvSpPr>
            <a:spLocks noGrp="1" noChangeArrowheads="1"/>
          </p:cNvSpPr>
          <p:nvPr>
            <p:ph idx="1"/>
          </p:nvPr>
        </p:nvSpPr>
        <p:spPr/>
        <p:txBody>
          <a:bodyPr/>
          <a:lstStyle/>
          <a:p>
            <a:r>
              <a:rPr lang="en-US"/>
              <a:t>What are the three steps when creating a QoS configuration with MQC ?</a:t>
            </a:r>
          </a:p>
          <a:p>
            <a:r>
              <a:rPr lang="en-US"/>
              <a:t>Can I have a service policy on my Fa0/0.1 and another one on my Fa0/0.2 ?</a:t>
            </a:r>
          </a:p>
          <a:p>
            <a:r>
              <a:rPr lang="en-US"/>
              <a:t>I created parent and child hierarchical policies, which one should I apply to my interface ?</a:t>
            </a:r>
          </a:p>
          <a:p>
            <a:r>
              <a:rPr lang="en-US"/>
              <a:t>MQC allows you to hide complexity from the end-user, can you see any disadvantage in this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7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7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ChangeArrowheads="1"/>
          </p:cNvSpPr>
          <p:nvPr/>
        </p:nvSpPr>
        <p:spPr bwMode="auto">
          <a:xfrm>
            <a:off x="1524000" y="1"/>
            <a:ext cx="3575050" cy="3141663"/>
          </a:xfrm>
          <a:prstGeom prst="rect">
            <a:avLst/>
          </a:prstGeom>
          <a:solidFill>
            <a:srgbClr val="015F85"/>
          </a:solidFill>
          <a:ln w="25400">
            <a:noFill/>
            <a:miter lim="800000"/>
            <a:headEnd/>
            <a:tailEnd/>
          </a:ln>
        </p:spPr>
        <p:txBody>
          <a:bodyPr wrap="none" anchor="ctr">
            <a:prstTxWarp prst="textNoShape">
              <a:avLst/>
            </a:prstTxWarp>
          </a:bodyPr>
          <a:lstStyle/>
          <a:p>
            <a:endParaRPr lang="en-US"/>
          </a:p>
        </p:txBody>
      </p:sp>
      <p:sp>
        <p:nvSpPr>
          <p:cNvPr id="66564" name="Rectangle 4"/>
          <p:cNvSpPr>
            <a:spLocks noGrp="1" noChangeArrowheads="1"/>
          </p:cNvSpPr>
          <p:nvPr>
            <p:ph type="title"/>
          </p:nvPr>
        </p:nvSpPr>
        <p:spPr>
          <a:xfrm>
            <a:off x="2085976" y="935038"/>
            <a:ext cx="6746875" cy="838200"/>
          </a:xfrm>
        </p:spPr>
        <p:txBody>
          <a:bodyPr/>
          <a:lstStyle/>
          <a:p>
            <a:pPr eaLnBrk="1" hangingPunct="1"/>
            <a:r>
              <a:rPr lang="en-US">
                <a:solidFill>
                  <a:schemeClr val="bg1"/>
                </a:solidFill>
              </a:rPr>
              <a:t>Lab 1: MQC</a:t>
            </a:r>
          </a:p>
        </p:txBody>
      </p:sp>
      <p:sp>
        <p:nvSpPr>
          <p:cNvPr id="66565" name="Text Box 5"/>
          <p:cNvSpPr txBox="1">
            <a:spLocks noChangeArrowheads="1"/>
          </p:cNvSpPr>
          <p:nvPr/>
        </p:nvSpPr>
        <p:spPr bwMode="auto">
          <a:xfrm>
            <a:off x="2279651" y="3933825"/>
            <a:ext cx="7993063" cy="2077316"/>
          </a:xfrm>
          <a:prstGeom prst="rect">
            <a:avLst/>
          </a:prstGeom>
          <a:noFill/>
          <a:ln w="9525">
            <a:noFill/>
            <a:miter lim="800000"/>
            <a:headEnd/>
            <a:tailEnd/>
          </a:ln>
        </p:spPr>
        <p:txBody>
          <a:bodyPr lIns="82124" tIns="41061" rIns="82124" bIns="41061">
            <a:prstTxWarp prst="textNoShape">
              <a:avLst/>
            </a:prstTxWarp>
            <a:spAutoFit/>
          </a:bodyPr>
          <a:lstStyle/>
          <a:p>
            <a:pPr algn="l" defTabSz="814388">
              <a:buClr>
                <a:schemeClr val="tx2"/>
              </a:buClr>
              <a:buFont typeface="Wingdings" pitchFamily="1" charset="2"/>
              <a:buChar char="§"/>
            </a:pPr>
            <a:r>
              <a:rPr lang="en-US"/>
              <a:t> Configure a class-map to match telnet traffic</a:t>
            </a:r>
          </a:p>
          <a:p>
            <a:pPr algn="l" defTabSz="814388">
              <a:buClr>
                <a:schemeClr val="tx2"/>
              </a:buClr>
              <a:buFont typeface="Wingdings" pitchFamily="1" charset="2"/>
              <a:buChar char="§"/>
            </a:pPr>
            <a:endParaRPr lang="en-US"/>
          </a:p>
          <a:p>
            <a:pPr algn="l" defTabSz="814388">
              <a:buClr>
                <a:schemeClr val="tx2"/>
              </a:buClr>
              <a:buFont typeface="Wingdings" pitchFamily="1" charset="2"/>
              <a:buChar char="§"/>
            </a:pPr>
            <a:r>
              <a:rPr lang="en-US"/>
              <a:t> Configure a policy-map marking telnet traffic with precedence 5</a:t>
            </a:r>
          </a:p>
          <a:p>
            <a:pPr algn="l" defTabSz="814388">
              <a:buClr>
                <a:schemeClr val="tx2"/>
              </a:buClr>
              <a:buFont typeface="Wingdings" pitchFamily="1" charset="2"/>
              <a:buChar char="§"/>
            </a:pPr>
            <a:endParaRPr lang="en-US"/>
          </a:p>
          <a:p>
            <a:pPr algn="l" defTabSz="814388">
              <a:buClr>
                <a:schemeClr val="tx2"/>
              </a:buClr>
              <a:buFont typeface="Wingdings" pitchFamily="1" charset="2"/>
              <a:buChar char="§"/>
            </a:pPr>
            <a:r>
              <a:rPr lang="en-US"/>
              <a:t> Apply the policy-map on the ethernet interface</a:t>
            </a:r>
          </a:p>
        </p:txBody>
      </p:sp>
      <p:pic>
        <p:nvPicPr>
          <p:cNvPr id="6" name="Picture 11" descr="Bob-the-bouncer"/>
          <p:cNvPicPr>
            <a:picLocks noChangeAspect="1" noChangeArrowheads="1"/>
          </p:cNvPicPr>
          <p:nvPr/>
        </p:nvPicPr>
        <p:blipFill>
          <a:blip r:embed="rId3"/>
          <a:srcRect/>
          <a:stretch>
            <a:fillRect/>
          </a:stretch>
        </p:blipFill>
        <p:spPr bwMode="auto">
          <a:xfrm>
            <a:off x="6960096" y="620689"/>
            <a:ext cx="1566862" cy="216058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out)">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ChangeArrowheads="1"/>
          </p:cNvSpPr>
          <p:nvPr/>
        </p:nvSpPr>
        <p:spPr bwMode="auto">
          <a:xfrm>
            <a:off x="1524000" y="1"/>
            <a:ext cx="3505200" cy="3141663"/>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prstTxWarp prst="textNoShape">
              <a:avLst/>
            </a:prstTxWarp>
          </a:bodyPr>
          <a:lstStyle/>
          <a:p>
            <a:endParaRPr lang="en-US"/>
          </a:p>
        </p:txBody>
      </p:sp>
      <p:sp>
        <p:nvSpPr>
          <p:cNvPr id="68612" name="Rectangle 4"/>
          <p:cNvSpPr>
            <a:spLocks noGrp="1" noChangeArrowheads="1"/>
          </p:cNvSpPr>
          <p:nvPr>
            <p:ph type="title"/>
          </p:nvPr>
        </p:nvSpPr>
        <p:spPr>
          <a:xfrm>
            <a:off x="1858964" y="981075"/>
            <a:ext cx="6397625" cy="838200"/>
          </a:xfrm>
        </p:spPr>
        <p:txBody>
          <a:bodyPr/>
          <a:lstStyle/>
          <a:p>
            <a:pPr eaLnBrk="1" hangingPunct="1"/>
            <a:r>
              <a:rPr lang="en-US">
                <a:solidFill>
                  <a:schemeClr val="bg1"/>
                </a:solidFill>
              </a:rPr>
              <a:t>Classification</a:t>
            </a:r>
          </a:p>
        </p:txBody>
      </p:sp>
      <p:pic>
        <p:nvPicPr>
          <p:cNvPr id="6" name="Picture 11" descr="Bob-the-bouncer"/>
          <p:cNvPicPr>
            <a:picLocks noChangeAspect="1" noChangeArrowheads="1"/>
          </p:cNvPicPr>
          <p:nvPr/>
        </p:nvPicPr>
        <p:blipFill>
          <a:blip r:embed="rId2"/>
          <a:srcRect/>
          <a:stretch>
            <a:fillRect/>
          </a:stretch>
        </p:blipFill>
        <p:spPr bwMode="auto">
          <a:xfrm>
            <a:off x="7007448" y="738982"/>
            <a:ext cx="1566862" cy="216058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out)">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solidFill>
                  <a:srgbClr val="FF3399"/>
                </a:solidFill>
              </a:rPr>
              <a:t>Classification</a:t>
            </a:r>
          </a:p>
        </p:txBody>
      </p:sp>
      <p:sp>
        <p:nvSpPr>
          <p:cNvPr id="69635" name="Rectangle 3"/>
          <p:cNvSpPr>
            <a:spLocks noGrp="1" noChangeArrowheads="1"/>
          </p:cNvSpPr>
          <p:nvPr>
            <p:ph idx="1"/>
          </p:nvPr>
        </p:nvSpPr>
        <p:spPr>
          <a:xfrm>
            <a:off x="2179639" y="1557339"/>
            <a:ext cx="7940675" cy="4535487"/>
          </a:xfrm>
        </p:spPr>
        <p:txBody>
          <a:bodyPr/>
          <a:lstStyle/>
          <a:p>
            <a:r>
              <a:rPr lang="en-US"/>
              <a:t>QoS component that makes the distinctions between packet streams.</a:t>
            </a:r>
          </a:p>
          <a:p>
            <a:r>
              <a:rPr lang="en-US"/>
              <a:t>Fundamental in QoS: without classification, all packets would be treated the same way.</a:t>
            </a:r>
          </a:p>
          <a:p>
            <a:endParaRPr lang="en-US"/>
          </a:p>
          <a:p>
            <a:r>
              <a:rPr lang="en-US"/>
              <a:t>Linked to the </a:t>
            </a:r>
            <a:r>
              <a:rPr lang="en-US">
                <a:solidFill>
                  <a:srgbClr val="FF3399"/>
                </a:solidFill>
              </a:rPr>
              <a:t>match</a:t>
            </a:r>
            <a:r>
              <a:rPr lang="en-US"/>
              <a:t> CLI keyword, within a </a:t>
            </a:r>
            <a:r>
              <a:rPr lang="en-US">
                <a:solidFill>
                  <a:srgbClr val="FF3399"/>
                </a:solidFill>
              </a:rPr>
              <a:t>class-map</a:t>
            </a:r>
          </a:p>
          <a:p>
            <a:r>
              <a:rPr lang="en-US"/>
              <a:t>Exact possibilities depend on HW/SW revisions, but IOS can generally match on Layer 2, Layer 3, Layer 4, and even sometimes on payload information.</a:t>
            </a:r>
          </a:p>
          <a:p>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solidFill>
                  <a:srgbClr val="FF3399"/>
                </a:solidFill>
              </a:rPr>
              <a:t>Classification options</a:t>
            </a:r>
          </a:p>
        </p:txBody>
      </p:sp>
      <p:sp>
        <p:nvSpPr>
          <p:cNvPr id="70659" name="Rectangle 3"/>
          <p:cNvSpPr>
            <a:spLocks noGrp="1" noChangeArrowheads="1"/>
          </p:cNvSpPr>
          <p:nvPr>
            <p:ph idx="1"/>
          </p:nvPr>
        </p:nvSpPr>
        <p:spPr>
          <a:xfrm>
            <a:off x="2179639" y="1412875"/>
            <a:ext cx="7940675" cy="4679950"/>
          </a:xfrm>
        </p:spPr>
        <p:txBody>
          <a:bodyPr/>
          <a:lstStyle/>
          <a:p>
            <a:pPr marL="457200" indent="-457200">
              <a:buNone/>
            </a:pPr>
            <a:r>
              <a:rPr lang="en-US"/>
              <a:t>Here are the most common packet characteristics that we can match to asssign traffic to classes:</a:t>
            </a:r>
          </a:p>
          <a:p>
            <a:pPr marL="457200" indent="-457200">
              <a:buNone/>
            </a:pPr>
            <a:endParaRPr lang="en-US" sz="1600"/>
          </a:p>
          <a:p>
            <a:pPr marL="457200" indent="-457200">
              <a:buFont typeface="Wingdings" pitchFamily="1" charset="2"/>
              <a:buAutoNum type="arabicPeriod"/>
            </a:pPr>
            <a:r>
              <a:rPr lang="en-US"/>
              <a:t>IP Precedence / DSCP</a:t>
            </a:r>
          </a:p>
          <a:p>
            <a:pPr marL="955675" lvl="1" indent="-381000"/>
            <a:r>
              <a:rPr lang="en-US"/>
              <a:t>Often the only one used in Core, since traffic is usually marked  with either DSCP or Prec at the Edge.</a:t>
            </a:r>
          </a:p>
          <a:p>
            <a:pPr marL="457200" indent="-457200">
              <a:buFont typeface="Wingdings" pitchFamily="1" charset="2"/>
              <a:buAutoNum type="arabicPeriod"/>
            </a:pPr>
            <a:r>
              <a:rPr lang="en-US"/>
              <a:t>MPLS Exp</a:t>
            </a:r>
          </a:p>
          <a:p>
            <a:pPr marL="955675" lvl="1" indent="-381000"/>
            <a:r>
              <a:rPr lang="en-US"/>
              <a:t>Equivalent to IP Prec but in MPLS networks.</a:t>
            </a:r>
          </a:p>
          <a:p>
            <a:pPr marL="457200" indent="-457200">
              <a:buFont typeface="Wingdings" pitchFamily="1" charset="2"/>
              <a:buAutoNum type="arabicPeriod"/>
            </a:pPr>
            <a:r>
              <a:rPr lang="en-US"/>
              <a:t>Access-lists</a:t>
            </a:r>
          </a:p>
          <a:p>
            <a:pPr marL="955675" lvl="1" indent="-381000"/>
            <a:r>
              <a:rPr lang="en-US"/>
              <a:t>Very flexible up to Layer 4 information</a:t>
            </a:r>
          </a:p>
          <a:p>
            <a:pPr marL="457200" indent="-457200">
              <a:buNone/>
            </a:pP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solidFill>
                  <a:srgbClr val="FF3399"/>
                </a:solidFill>
              </a:rPr>
              <a:t>Classification options (2)</a:t>
            </a:r>
          </a:p>
        </p:txBody>
      </p:sp>
      <p:sp>
        <p:nvSpPr>
          <p:cNvPr id="71683" name="Rectangle 3"/>
          <p:cNvSpPr>
            <a:spLocks noGrp="1" noChangeArrowheads="1"/>
          </p:cNvSpPr>
          <p:nvPr>
            <p:ph idx="1"/>
          </p:nvPr>
        </p:nvSpPr>
        <p:spPr/>
        <p:txBody>
          <a:bodyPr/>
          <a:lstStyle/>
          <a:p>
            <a:pPr marL="457200" indent="-457200">
              <a:buNone/>
            </a:pPr>
            <a:r>
              <a:rPr lang="en-US">
                <a:solidFill>
                  <a:schemeClr val="tx2"/>
                </a:solidFill>
              </a:rPr>
              <a:t>4.  </a:t>
            </a:r>
            <a:r>
              <a:rPr lang="en-US"/>
              <a:t> CoS (ISL/802.1q)</a:t>
            </a:r>
          </a:p>
          <a:p>
            <a:pPr marL="955675" lvl="1" indent="-381000"/>
            <a:r>
              <a:rPr lang="en-US"/>
              <a:t>Class of Service, usually in switches and router/switches, matches on L2 information.</a:t>
            </a:r>
          </a:p>
          <a:p>
            <a:pPr marL="457200" indent="-457200">
              <a:buNone/>
            </a:pPr>
            <a:r>
              <a:rPr lang="en-US">
                <a:solidFill>
                  <a:schemeClr val="tx2"/>
                </a:solidFill>
              </a:rPr>
              <a:t>5.</a:t>
            </a:r>
            <a:r>
              <a:rPr lang="en-US"/>
              <a:t>   DE bit, CLP bit</a:t>
            </a:r>
          </a:p>
          <a:p>
            <a:pPr marL="955675" lvl="1" indent="-381000"/>
            <a:r>
              <a:rPr lang="en-US"/>
              <a:t>Also layer 2 but for WAN.  Discard Eligibility for Frame-Relay, Cell Loss Priority for ATM</a:t>
            </a:r>
          </a:p>
          <a:p>
            <a:pPr marL="457200" indent="-457200">
              <a:buNone/>
            </a:pPr>
            <a:r>
              <a:rPr lang="en-US">
                <a:solidFill>
                  <a:schemeClr val="tx2"/>
                </a:solidFill>
              </a:rPr>
              <a:t>6.</a:t>
            </a:r>
            <a:r>
              <a:rPr lang="en-US"/>
              <a:t>   Qos-group</a:t>
            </a:r>
          </a:p>
          <a:p>
            <a:pPr marL="955675" lvl="1" indent="-381000"/>
            <a:r>
              <a:rPr lang="en-US"/>
              <a:t>Special field internal to a router, set by the router itself without affecting the packet.</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a:solidFill>
                  <a:srgbClr val="FF3399"/>
                </a:solidFill>
              </a:rPr>
              <a:t>Classification options: NBAR</a:t>
            </a:r>
          </a:p>
        </p:txBody>
      </p:sp>
      <p:sp>
        <p:nvSpPr>
          <p:cNvPr id="73731" name="Rectangle 3"/>
          <p:cNvSpPr>
            <a:spLocks noGrp="1" noChangeArrowheads="1"/>
          </p:cNvSpPr>
          <p:nvPr>
            <p:ph idx="1"/>
          </p:nvPr>
        </p:nvSpPr>
        <p:spPr>
          <a:xfrm>
            <a:off x="2179639" y="1484314"/>
            <a:ext cx="7940675" cy="4968875"/>
          </a:xfrm>
        </p:spPr>
        <p:txBody>
          <a:bodyPr>
            <a:normAutofit lnSpcReduction="10000"/>
          </a:bodyPr>
          <a:lstStyle/>
          <a:p>
            <a:pPr marL="457200" indent="-457200">
              <a:lnSpc>
                <a:spcPct val="85000"/>
              </a:lnSpc>
              <a:buFont typeface="Wingdings" pitchFamily="1" charset="2"/>
              <a:buAutoNum type="arabicPeriod" startAt="7"/>
            </a:pPr>
            <a:r>
              <a:rPr lang="en-US"/>
              <a:t>NBAR</a:t>
            </a:r>
          </a:p>
          <a:p>
            <a:pPr marL="457200" indent="-457200">
              <a:lnSpc>
                <a:spcPct val="85000"/>
              </a:lnSpc>
              <a:buNone/>
            </a:pPr>
            <a:r>
              <a:rPr lang="en-US"/>
              <a:t>	- Network Based Address Recognition.</a:t>
            </a:r>
          </a:p>
          <a:p>
            <a:pPr marL="457200" indent="-457200">
              <a:lnSpc>
                <a:spcPct val="85000"/>
              </a:lnSpc>
              <a:buNone/>
            </a:pPr>
            <a:r>
              <a:rPr lang="en-US"/>
              <a:t>	- Feature that allows matching on Layer 4+ packet information.</a:t>
            </a:r>
          </a:p>
          <a:p>
            <a:pPr marL="457200" indent="-457200">
              <a:lnSpc>
                <a:spcPct val="85000"/>
              </a:lnSpc>
              <a:buNone/>
            </a:pPr>
            <a:r>
              <a:rPr lang="en-US"/>
              <a:t>	- Uses the </a:t>
            </a:r>
            <a:r>
              <a:rPr lang="en-US">
                <a:solidFill>
                  <a:srgbClr val="FF3399"/>
                </a:solidFill>
              </a:rPr>
              <a:t>match protocol</a:t>
            </a:r>
            <a:r>
              <a:rPr lang="en-US"/>
              <a:t> statement in the </a:t>
            </a:r>
            <a:r>
              <a:rPr lang="en-US">
                <a:solidFill>
                  <a:srgbClr val="FF3399"/>
                </a:solidFill>
              </a:rPr>
              <a:t>class-map</a:t>
            </a:r>
            <a:r>
              <a:rPr lang="en-US"/>
              <a:t> (not all match protocol use NBAR, but most do).</a:t>
            </a:r>
          </a:p>
          <a:p>
            <a:pPr marL="457200" indent="-457200">
              <a:lnSpc>
                <a:spcPct val="85000"/>
              </a:lnSpc>
              <a:buNone/>
            </a:pPr>
            <a:r>
              <a:rPr lang="en-US"/>
              <a:t>	- Use </a:t>
            </a:r>
            <a:r>
              <a:rPr lang="en-US">
                <a:solidFill>
                  <a:srgbClr val="FF3399"/>
                </a:solidFill>
              </a:rPr>
              <a:t>show ip nbar port-map</a:t>
            </a:r>
            <a:r>
              <a:rPr lang="en-US"/>
              <a:t> to show all supported protocols in your IOS release.</a:t>
            </a:r>
          </a:p>
          <a:p>
            <a:pPr marL="457200" indent="-457200">
              <a:lnSpc>
                <a:spcPct val="85000"/>
              </a:lnSpc>
            </a:pPr>
            <a:endParaRPr lang="en-US"/>
          </a:p>
          <a:p>
            <a:pPr marL="457200" indent="-457200">
              <a:lnSpc>
                <a:spcPct val="85000"/>
              </a:lnSpc>
              <a:buNone/>
            </a:pPr>
            <a:r>
              <a:rPr lang="en-US" sz="2000">
                <a:solidFill>
                  <a:schemeClr val="accent2"/>
                </a:solidFill>
              </a:rPr>
              <a:t>Note</a:t>
            </a:r>
            <a:r>
              <a:rPr lang="en-US" sz="2000"/>
              <a:t>: not to confuse with NBAR protocol discovery, provided by the same feature but used to analyse traffic received on an interface, nothing to do with classification from a QoS point of view.</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1774825" y="6259514"/>
            <a:ext cx="8713788" cy="258403"/>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100000"/>
              </a:lnSpc>
            </a:pPr>
            <a:r>
              <a:rPr lang="en-US" sz="1200" b="1">
                <a:hlinkClick r:id="rId3"/>
              </a:rPr>
              <a:t>http://www.cisco.com/univercd/cc/td/doc/product/software/ios122/122cgcr/fqos_c/fqcprt1/qcfclass.htm#xtocid2010224</a:t>
            </a:r>
            <a:r>
              <a:rPr lang="en-US" sz="1200" b="1"/>
              <a:t> </a:t>
            </a:r>
          </a:p>
        </p:txBody>
      </p:sp>
      <p:grpSp>
        <p:nvGrpSpPr>
          <p:cNvPr id="2" name="Group 3"/>
          <p:cNvGrpSpPr>
            <a:grpSpLocks/>
          </p:cNvGrpSpPr>
          <p:nvPr/>
        </p:nvGrpSpPr>
        <p:grpSpPr bwMode="auto">
          <a:xfrm>
            <a:off x="1524000" y="1439864"/>
            <a:ext cx="9144000" cy="1265237"/>
            <a:chOff x="0" y="1182"/>
            <a:chExt cx="5760" cy="797"/>
          </a:xfrm>
        </p:grpSpPr>
        <p:grpSp>
          <p:nvGrpSpPr>
            <p:cNvPr id="3" name="Group 4"/>
            <p:cNvGrpSpPr>
              <a:grpSpLocks/>
            </p:cNvGrpSpPr>
            <p:nvPr/>
          </p:nvGrpSpPr>
          <p:grpSpPr bwMode="auto">
            <a:xfrm>
              <a:off x="0" y="1472"/>
              <a:ext cx="5760" cy="504"/>
              <a:chOff x="0" y="1472"/>
              <a:chExt cx="5760" cy="504"/>
            </a:xfrm>
          </p:grpSpPr>
          <p:sp>
            <p:nvSpPr>
              <p:cNvPr id="86021" name="Rectangle 5"/>
              <p:cNvSpPr>
                <a:spLocks noChangeArrowheads="1"/>
              </p:cNvSpPr>
              <p:nvPr/>
            </p:nvSpPr>
            <p:spPr bwMode="auto">
              <a:xfrm>
                <a:off x="0" y="1472"/>
                <a:ext cx="5760" cy="504"/>
              </a:xfrm>
              <a:prstGeom prst="rect">
                <a:avLst/>
              </a:prstGeom>
              <a:gradFill rotWithShape="0">
                <a:gsLst>
                  <a:gs pos="0">
                    <a:schemeClr val="accent2">
                      <a:gamma/>
                      <a:shade val="46275"/>
                      <a:invGamma/>
                    </a:schemeClr>
                  </a:gs>
                  <a:gs pos="50000">
                    <a:schemeClr val="accent2"/>
                  </a:gs>
                  <a:gs pos="100000">
                    <a:schemeClr val="accent2">
                      <a:gamma/>
                      <a:shade val="46275"/>
                      <a:invGamma/>
                    </a:schemeClr>
                  </a:gs>
                </a:gsLst>
                <a:lin ang="5400000" scaled="1"/>
              </a:gradFill>
              <a:ln w="9525">
                <a:noFill/>
                <a:miter lim="800000"/>
                <a:headEnd/>
                <a:tailEnd/>
              </a:ln>
              <a:effectLst/>
            </p:spPr>
            <p:txBody>
              <a:bodyPr wrap="none" lIns="73025" tIns="36512" rIns="73025" bIns="36512" anchor="ctr"/>
              <a:lstStyle/>
              <a:p>
                <a:pPr>
                  <a:defRPr/>
                </a:pPr>
                <a:endParaRPr lang="en-US">
                  <a:latin typeface="Arial" charset="0"/>
                </a:endParaRPr>
              </a:p>
            </p:txBody>
          </p:sp>
          <p:sp>
            <p:nvSpPr>
              <p:cNvPr id="75910" name="Text Box 6"/>
              <p:cNvSpPr txBox="1">
                <a:spLocks noChangeArrowheads="1"/>
              </p:cNvSpPr>
              <p:nvPr/>
            </p:nvSpPr>
            <p:spPr bwMode="auto">
              <a:xfrm>
                <a:off x="183" y="1518"/>
                <a:ext cx="348" cy="386"/>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100000"/>
                  </a:lnSpc>
                  <a:spcBef>
                    <a:spcPct val="50000"/>
                  </a:spcBef>
                </a:pPr>
                <a:r>
                  <a:rPr lang="en-US" sz="1400" b="1">
                    <a:solidFill>
                      <a:schemeClr val="hlink"/>
                    </a:solidFill>
                  </a:rPr>
                  <a:t>ToS</a:t>
                </a:r>
              </a:p>
              <a:p>
                <a:pPr eaLnBrk="1" hangingPunct="1">
                  <a:lnSpc>
                    <a:spcPct val="100000"/>
                  </a:lnSpc>
                  <a:spcBef>
                    <a:spcPct val="50000"/>
                  </a:spcBef>
                </a:pPr>
                <a:r>
                  <a:rPr lang="en-US" sz="1400" b="1">
                    <a:solidFill>
                      <a:schemeClr val="hlink"/>
                    </a:solidFill>
                  </a:rPr>
                  <a:t>Byte</a:t>
                </a:r>
              </a:p>
            </p:txBody>
          </p:sp>
          <p:sp>
            <p:nvSpPr>
              <p:cNvPr id="75911" name="Text Box 7"/>
              <p:cNvSpPr txBox="1">
                <a:spLocks noChangeArrowheads="1"/>
              </p:cNvSpPr>
              <p:nvPr/>
            </p:nvSpPr>
            <p:spPr bwMode="auto">
              <a:xfrm>
                <a:off x="965" y="1530"/>
                <a:ext cx="540" cy="386"/>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100000"/>
                  </a:lnSpc>
                  <a:spcBef>
                    <a:spcPct val="50000"/>
                  </a:spcBef>
                </a:pPr>
                <a:r>
                  <a:rPr lang="en-US" sz="1400" b="1">
                    <a:solidFill>
                      <a:schemeClr val="hlink"/>
                    </a:solidFill>
                  </a:rPr>
                  <a:t>Source</a:t>
                </a:r>
              </a:p>
              <a:p>
                <a:pPr eaLnBrk="1" hangingPunct="1">
                  <a:lnSpc>
                    <a:spcPct val="100000"/>
                  </a:lnSpc>
                  <a:spcBef>
                    <a:spcPct val="50000"/>
                  </a:spcBef>
                </a:pPr>
                <a:r>
                  <a:rPr lang="en-US" sz="1400" b="1">
                    <a:solidFill>
                      <a:schemeClr val="hlink"/>
                    </a:solidFill>
                  </a:rPr>
                  <a:t>IP Addr</a:t>
                </a:r>
              </a:p>
            </p:txBody>
          </p:sp>
          <p:sp>
            <p:nvSpPr>
              <p:cNvPr id="75912" name="Text Box 8"/>
              <p:cNvSpPr txBox="1">
                <a:spLocks noChangeArrowheads="1"/>
              </p:cNvSpPr>
              <p:nvPr/>
            </p:nvSpPr>
            <p:spPr bwMode="auto">
              <a:xfrm>
                <a:off x="1481" y="1526"/>
                <a:ext cx="540" cy="386"/>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100000"/>
                  </a:lnSpc>
                  <a:spcBef>
                    <a:spcPct val="50000"/>
                  </a:spcBef>
                </a:pPr>
                <a:r>
                  <a:rPr lang="en-US" sz="1400" b="1">
                    <a:solidFill>
                      <a:schemeClr val="hlink"/>
                    </a:solidFill>
                  </a:rPr>
                  <a:t>Dest</a:t>
                </a:r>
              </a:p>
              <a:p>
                <a:pPr eaLnBrk="1" hangingPunct="1">
                  <a:lnSpc>
                    <a:spcPct val="100000"/>
                  </a:lnSpc>
                  <a:spcBef>
                    <a:spcPct val="50000"/>
                  </a:spcBef>
                </a:pPr>
                <a:r>
                  <a:rPr lang="en-US" sz="1400" b="1">
                    <a:solidFill>
                      <a:schemeClr val="hlink"/>
                    </a:solidFill>
                  </a:rPr>
                  <a:t>IP Addr</a:t>
                </a:r>
              </a:p>
            </p:txBody>
          </p:sp>
        </p:grpSp>
        <p:grpSp>
          <p:nvGrpSpPr>
            <p:cNvPr id="4" name="Group 9"/>
            <p:cNvGrpSpPr>
              <a:grpSpLocks/>
            </p:cNvGrpSpPr>
            <p:nvPr/>
          </p:nvGrpSpPr>
          <p:grpSpPr bwMode="auto">
            <a:xfrm>
              <a:off x="115" y="1440"/>
              <a:ext cx="434" cy="535"/>
              <a:chOff x="490" y="1487"/>
              <a:chExt cx="434" cy="535"/>
            </a:xfrm>
          </p:grpSpPr>
          <p:sp>
            <p:nvSpPr>
              <p:cNvPr id="75907" name="Line 10"/>
              <p:cNvSpPr>
                <a:spLocks noChangeShapeType="1"/>
              </p:cNvSpPr>
              <p:nvPr/>
            </p:nvSpPr>
            <p:spPr bwMode="auto">
              <a:xfrm>
                <a:off x="490" y="1487"/>
                <a:ext cx="0" cy="521"/>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908" name="Line 11"/>
              <p:cNvSpPr>
                <a:spLocks noChangeShapeType="1"/>
              </p:cNvSpPr>
              <p:nvPr/>
            </p:nvSpPr>
            <p:spPr bwMode="auto">
              <a:xfrm>
                <a:off x="924" y="1501"/>
                <a:ext cx="0" cy="521"/>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grpSp>
        <p:sp>
          <p:nvSpPr>
            <p:cNvPr id="75899" name="Text Box 12"/>
            <p:cNvSpPr txBox="1">
              <a:spLocks noChangeArrowheads="1"/>
            </p:cNvSpPr>
            <p:nvPr/>
          </p:nvSpPr>
          <p:spPr bwMode="auto">
            <a:xfrm>
              <a:off x="254" y="1182"/>
              <a:ext cx="803" cy="238"/>
            </a:xfrm>
            <a:prstGeom prst="rect">
              <a:avLst/>
            </a:prstGeom>
            <a:noFill/>
            <a:ln w="9525">
              <a:noFill/>
              <a:miter lim="800000"/>
              <a:headEnd/>
              <a:tailEnd/>
            </a:ln>
          </p:spPr>
          <p:txBody>
            <a:bodyPr wrap="none" lIns="73025" tIns="36512" rIns="73025" bIns="36512">
              <a:prstTxWarp prst="textNoShape">
                <a:avLst/>
              </a:prstTxWarp>
              <a:spAutoFit/>
            </a:bodyPr>
            <a:lstStyle/>
            <a:p>
              <a:pPr eaLnBrk="1" hangingPunct="1">
                <a:lnSpc>
                  <a:spcPct val="100000"/>
                </a:lnSpc>
              </a:pPr>
              <a:r>
                <a:rPr lang="en-US" sz="2000" b="1">
                  <a:solidFill>
                    <a:schemeClr val="accent2"/>
                  </a:solidFill>
                </a:rPr>
                <a:t>IP Packet</a:t>
              </a:r>
            </a:p>
          </p:txBody>
        </p:sp>
        <p:sp>
          <p:nvSpPr>
            <p:cNvPr id="75900" name="Line 13"/>
            <p:cNvSpPr>
              <a:spLocks noChangeShapeType="1"/>
            </p:cNvSpPr>
            <p:nvPr/>
          </p:nvSpPr>
          <p:spPr bwMode="auto">
            <a:xfrm>
              <a:off x="653" y="1458"/>
              <a:ext cx="0" cy="521"/>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901" name="Line 14"/>
            <p:cNvSpPr>
              <a:spLocks noChangeShapeType="1"/>
            </p:cNvSpPr>
            <p:nvPr/>
          </p:nvSpPr>
          <p:spPr bwMode="auto">
            <a:xfrm>
              <a:off x="750" y="1454"/>
              <a:ext cx="0" cy="521"/>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902" name="Line 15"/>
            <p:cNvSpPr>
              <a:spLocks noChangeShapeType="1"/>
            </p:cNvSpPr>
            <p:nvPr/>
          </p:nvSpPr>
          <p:spPr bwMode="auto">
            <a:xfrm>
              <a:off x="855" y="1441"/>
              <a:ext cx="0" cy="521"/>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903" name="Line 16"/>
            <p:cNvSpPr>
              <a:spLocks noChangeShapeType="1"/>
            </p:cNvSpPr>
            <p:nvPr/>
          </p:nvSpPr>
          <p:spPr bwMode="auto">
            <a:xfrm>
              <a:off x="974" y="1458"/>
              <a:ext cx="0" cy="521"/>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904" name="Line 17"/>
            <p:cNvSpPr>
              <a:spLocks noChangeShapeType="1"/>
            </p:cNvSpPr>
            <p:nvPr/>
          </p:nvSpPr>
          <p:spPr bwMode="auto">
            <a:xfrm>
              <a:off x="1465" y="1444"/>
              <a:ext cx="0" cy="521"/>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905" name="Line 18"/>
            <p:cNvSpPr>
              <a:spLocks noChangeShapeType="1"/>
            </p:cNvSpPr>
            <p:nvPr/>
          </p:nvSpPr>
          <p:spPr bwMode="auto">
            <a:xfrm>
              <a:off x="1988" y="1447"/>
              <a:ext cx="0" cy="521"/>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906" name="Line 19"/>
            <p:cNvSpPr>
              <a:spLocks noChangeShapeType="1"/>
            </p:cNvSpPr>
            <p:nvPr/>
          </p:nvSpPr>
          <p:spPr bwMode="auto">
            <a:xfrm>
              <a:off x="2093" y="1443"/>
              <a:ext cx="0" cy="521"/>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grpSp>
      <p:grpSp>
        <p:nvGrpSpPr>
          <p:cNvPr id="5" name="Group 20"/>
          <p:cNvGrpSpPr>
            <a:grpSpLocks/>
          </p:cNvGrpSpPr>
          <p:nvPr/>
        </p:nvGrpSpPr>
        <p:grpSpPr bwMode="auto">
          <a:xfrm>
            <a:off x="4945064" y="1438275"/>
            <a:ext cx="5722937" cy="1246188"/>
            <a:chOff x="2025" y="1160"/>
            <a:chExt cx="3605" cy="785"/>
          </a:xfrm>
        </p:grpSpPr>
        <p:sp>
          <p:nvSpPr>
            <p:cNvPr id="75886" name="Text Box 21"/>
            <p:cNvSpPr txBox="1">
              <a:spLocks noChangeArrowheads="1"/>
            </p:cNvSpPr>
            <p:nvPr/>
          </p:nvSpPr>
          <p:spPr bwMode="auto">
            <a:xfrm>
              <a:off x="2140" y="1160"/>
              <a:ext cx="1356" cy="238"/>
            </a:xfrm>
            <a:prstGeom prst="rect">
              <a:avLst/>
            </a:prstGeom>
            <a:noFill/>
            <a:ln w="9525">
              <a:noFill/>
              <a:miter lim="800000"/>
              <a:headEnd/>
              <a:tailEnd/>
            </a:ln>
          </p:spPr>
          <p:txBody>
            <a:bodyPr wrap="none" lIns="73025" tIns="36512" rIns="73025" bIns="36512">
              <a:prstTxWarp prst="textNoShape">
                <a:avLst/>
              </a:prstTxWarp>
              <a:spAutoFit/>
            </a:bodyPr>
            <a:lstStyle/>
            <a:p>
              <a:pPr eaLnBrk="1" hangingPunct="1">
                <a:lnSpc>
                  <a:spcPct val="100000"/>
                </a:lnSpc>
              </a:pPr>
              <a:r>
                <a:rPr lang="en-US" sz="2000" b="1">
                  <a:solidFill>
                    <a:srgbClr val="00FF00"/>
                  </a:solidFill>
                </a:rPr>
                <a:t>TCP/UDP Packet</a:t>
              </a:r>
            </a:p>
          </p:txBody>
        </p:sp>
        <p:sp>
          <p:nvSpPr>
            <p:cNvPr id="75887" name="Rectangle 22"/>
            <p:cNvSpPr>
              <a:spLocks noChangeArrowheads="1"/>
            </p:cNvSpPr>
            <p:nvPr/>
          </p:nvSpPr>
          <p:spPr bwMode="auto">
            <a:xfrm>
              <a:off x="2130" y="1490"/>
              <a:ext cx="3500" cy="439"/>
            </a:xfrm>
            <a:prstGeom prst="rect">
              <a:avLst/>
            </a:prstGeom>
            <a:gradFill rotWithShape="0">
              <a:gsLst>
                <a:gs pos="0">
                  <a:srgbClr val="007600"/>
                </a:gs>
                <a:gs pos="50000">
                  <a:srgbClr val="00FF00"/>
                </a:gs>
                <a:gs pos="100000">
                  <a:srgbClr val="007600"/>
                </a:gs>
              </a:gsLst>
              <a:lin ang="5400000" scaled="1"/>
            </a:gradFill>
            <a:ln w="9525">
              <a:noFill/>
              <a:miter lim="800000"/>
              <a:headEnd/>
              <a:tailEnd/>
            </a:ln>
          </p:spPr>
          <p:txBody>
            <a:bodyPr wrap="none" lIns="73025" tIns="36512" rIns="73025" bIns="36512" anchor="ctr">
              <a:prstTxWarp prst="textNoShape">
                <a:avLst/>
              </a:prstTxWarp>
            </a:bodyPr>
            <a:lstStyle/>
            <a:p>
              <a:endParaRPr lang="en-US"/>
            </a:p>
          </p:txBody>
        </p:sp>
        <p:sp>
          <p:nvSpPr>
            <p:cNvPr id="75888" name="Line 23"/>
            <p:cNvSpPr>
              <a:spLocks noChangeShapeType="1"/>
            </p:cNvSpPr>
            <p:nvPr/>
          </p:nvSpPr>
          <p:spPr bwMode="auto">
            <a:xfrm>
              <a:off x="2505" y="1489"/>
              <a:ext cx="0" cy="438"/>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889" name="Line 24"/>
            <p:cNvSpPr>
              <a:spLocks noChangeShapeType="1"/>
            </p:cNvSpPr>
            <p:nvPr/>
          </p:nvSpPr>
          <p:spPr bwMode="auto">
            <a:xfrm>
              <a:off x="2847" y="1485"/>
              <a:ext cx="0" cy="456"/>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890" name="Line 25"/>
            <p:cNvSpPr>
              <a:spLocks noChangeShapeType="1"/>
            </p:cNvSpPr>
            <p:nvPr/>
          </p:nvSpPr>
          <p:spPr bwMode="auto">
            <a:xfrm>
              <a:off x="2934" y="1471"/>
              <a:ext cx="0" cy="456"/>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891" name="Line 26"/>
            <p:cNvSpPr>
              <a:spLocks noChangeShapeType="1"/>
            </p:cNvSpPr>
            <p:nvPr/>
          </p:nvSpPr>
          <p:spPr bwMode="auto">
            <a:xfrm>
              <a:off x="3035" y="1481"/>
              <a:ext cx="0" cy="456"/>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892" name="Line 27"/>
            <p:cNvSpPr>
              <a:spLocks noChangeShapeType="1"/>
            </p:cNvSpPr>
            <p:nvPr/>
          </p:nvSpPr>
          <p:spPr bwMode="auto">
            <a:xfrm>
              <a:off x="3126" y="1471"/>
              <a:ext cx="0" cy="456"/>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893" name="Line 28"/>
            <p:cNvSpPr>
              <a:spLocks noChangeShapeType="1"/>
            </p:cNvSpPr>
            <p:nvPr/>
          </p:nvSpPr>
          <p:spPr bwMode="auto">
            <a:xfrm>
              <a:off x="3217" y="1489"/>
              <a:ext cx="0" cy="456"/>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894" name="Line 29"/>
            <p:cNvSpPr>
              <a:spLocks noChangeShapeType="1"/>
            </p:cNvSpPr>
            <p:nvPr/>
          </p:nvSpPr>
          <p:spPr bwMode="auto">
            <a:xfrm>
              <a:off x="3299" y="1481"/>
              <a:ext cx="0" cy="456"/>
            </a:xfrm>
            <a:prstGeom prst="line">
              <a:avLst/>
            </a:prstGeom>
            <a:noFill/>
            <a:ln w="25400">
              <a:solidFill>
                <a:schemeClr val="bg1"/>
              </a:solidFill>
              <a:round/>
              <a:headEnd/>
              <a:tailEnd/>
            </a:ln>
          </p:spPr>
          <p:txBody>
            <a:bodyPr lIns="73025" tIns="36512" rIns="73025" bIns="36512" anchor="ctr">
              <a:prstTxWarp prst="textNoShape">
                <a:avLst/>
              </a:prstTxWarp>
            </a:bodyPr>
            <a:lstStyle/>
            <a:p>
              <a:endParaRPr lang="en-US"/>
            </a:p>
          </p:txBody>
        </p:sp>
        <p:sp>
          <p:nvSpPr>
            <p:cNvPr id="75895" name="Text Box 30"/>
            <p:cNvSpPr txBox="1">
              <a:spLocks noChangeArrowheads="1"/>
            </p:cNvSpPr>
            <p:nvPr/>
          </p:nvSpPr>
          <p:spPr bwMode="auto">
            <a:xfrm>
              <a:off x="2025" y="1512"/>
              <a:ext cx="540" cy="386"/>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100000"/>
                </a:lnSpc>
                <a:spcBef>
                  <a:spcPct val="50000"/>
                </a:spcBef>
              </a:pPr>
              <a:r>
                <a:rPr lang="en-US" sz="1400" b="1"/>
                <a:t>Src</a:t>
              </a:r>
            </a:p>
            <a:p>
              <a:pPr eaLnBrk="1" hangingPunct="1">
                <a:lnSpc>
                  <a:spcPct val="100000"/>
                </a:lnSpc>
                <a:spcBef>
                  <a:spcPct val="50000"/>
                </a:spcBef>
              </a:pPr>
              <a:r>
                <a:rPr lang="en-US" sz="1400" b="1"/>
                <a:t>Port</a:t>
              </a:r>
            </a:p>
          </p:txBody>
        </p:sp>
        <p:sp>
          <p:nvSpPr>
            <p:cNvPr id="75896" name="Text Box 31"/>
            <p:cNvSpPr txBox="1">
              <a:spLocks noChangeArrowheads="1"/>
            </p:cNvSpPr>
            <p:nvPr/>
          </p:nvSpPr>
          <p:spPr bwMode="auto">
            <a:xfrm>
              <a:off x="2404" y="1517"/>
              <a:ext cx="540" cy="386"/>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100000"/>
                </a:lnSpc>
                <a:spcBef>
                  <a:spcPct val="50000"/>
                </a:spcBef>
              </a:pPr>
              <a:r>
                <a:rPr lang="en-US" sz="1400" b="1"/>
                <a:t>Dst</a:t>
              </a:r>
            </a:p>
            <a:p>
              <a:pPr eaLnBrk="1" hangingPunct="1">
                <a:lnSpc>
                  <a:spcPct val="100000"/>
                </a:lnSpc>
                <a:spcBef>
                  <a:spcPct val="50000"/>
                </a:spcBef>
              </a:pPr>
              <a:r>
                <a:rPr lang="en-US" sz="1400" b="1"/>
                <a:t>Port</a:t>
              </a:r>
            </a:p>
          </p:txBody>
        </p:sp>
      </p:grpSp>
      <p:grpSp>
        <p:nvGrpSpPr>
          <p:cNvPr id="6" name="Group 32"/>
          <p:cNvGrpSpPr>
            <a:grpSpLocks/>
          </p:cNvGrpSpPr>
          <p:nvPr/>
        </p:nvGrpSpPr>
        <p:grpSpPr bwMode="auto">
          <a:xfrm>
            <a:off x="7199314" y="1412875"/>
            <a:ext cx="3468687" cy="1155700"/>
            <a:chOff x="3575" y="1169"/>
            <a:chExt cx="2185" cy="728"/>
          </a:xfrm>
        </p:grpSpPr>
        <p:sp>
          <p:nvSpPr>
            <p:cNvPr id="75882" name="Rectangle 33"/>
            <p:cNvSpPr>
              <a:spLocks noChangeArrowheads="1"/>
            </p:cNvSpPr>
            <p:nvPr/>
          </p:nvSpPr>
          <p:spPr bwMode="auto">
            <a:xfrm>
              <a:off x="3721" y="1171"/>
              <a:ext cx="2012" cy="292"/>
            </a:xfrm>
            <a:prstGeom prst="rect">
              <a:avLst/>
            </a:prstGeom>
            <a:solidFill>
              <a:schemeClr val="bg1"/>
            </a:solidFill>
            <a:ln w="9525">
              <a:noFill/>
              <a:miter lim="800000"/>
              <a:headEnd/>
              <a:tailEnd/>
            </a:ln>
          </p:spPr>
          <p:txBody>
            <a:bodyPr wrap="none" lIns="73025" tIns="36512" rIns="73025" bIns="36512" anchor="ctr">
              <a:prstTxWarp prst="textNoShape">
                <a:avLst/>
              </a:prstTxWarp>
            </a:bodyPr>
            <a:lstStyle/>
            <a:p>
              <a:endParaRPr lang="en-US"/>
            </a:p>
          </p:txBody>
        </p:sp>
        <p:grpSp>
          <p:nvGrpSpPr>
            <p:cNvPr id="7" name="Group 34"/>
            <p:cNvGrpSpPr>
              <a:grpSpLocks/>
            </p:cNvGrpSpPr>
            <p:nvPr/>
          </p:nvGrpSpPr>
          <p:grpSpPr bwMode="auto">
            <a:xfrm>
              <a:off x="3575" y="1169"/>
              <a:ext cx="2185" cy="728"/>
              <a:chOff x="2643" y="2367"/>
              <a:chExt cx="2185" cy="728"/>
            </a:xfrm>
          </p:grpSpPr>
          <p:sp>
            <p:nvSpPr>
              <p:cNvPr id="75884" name="Rectangle 35"/>
              <p:cNvSpPr>
                <a:spLocks noChangeArrowheads="1"/>
              </p:cNvSpPr>
              <p:nvPr/>
            </p:nvSpPr>
            <p:spPr bwMode="auto">
              <a:xfrm>
                <a:off x="2643" y="2748"/>
                <a:ext cx="2185" cy="347"/>
              </a:xfrm>
              <a:prstGeom prst="rect">
                <a:avLst/>
              </a:prstGeom>
              <a:solidFill>
                <a:schemeClr val="accent1"/>
              </a:solidFill>
              <a:ln w="9525">
                <a:noFill/>
                <a:miter lim="800000"/>
                <a:headEnd/>
                <a:tailEnd/>
              </a:ln>
            </p:spPr>
            <p:txBody>
              <a:bodyPr wrap="none" lIns="73025" tIns="36512" rIns="73025" bIns="36512" anchor="ctr">
                <a:prstTxWarp prst="textNoShape">
                  <a:avLst/>
                </a:prstTxWarp>
              </a:bodyPr>
              <a:lstStyle/>
              <a:p>
                <a:endParaRPr lang="en-US"/>
              </a:p>
            </p:txBody>
          </p:sp>
          <p:sp>
            <p:nvSpPr>
              <p:cNvPr id="75885" name="Text Box 36"/>
              <p:cNvSpPr txBox="1">
                <a:spLocks noChangeArrowheads="1"/>
              </p:cNvSpPr>
              <p:nvPr/>
            </p:nvSpPr>
            <p:spPr bwMode="auto">
              <a:xfrm>
                <a:off x="2877" y="2367"/>
                <a:ext cx="1009" cy="240"/>
              </a:xfrm>
              <a:prstGeom prst="rect">
                <a:avLst/>
              </a:prstGeom>
              <a:noFill/>
              <a:ln w="9525">
                <a:noFill/>
                <a:miter lim="800000"/>
                <a:headEnd/>
                <a:tailEnd/>
              </a:ln>
            </p:spPr>
            <p:txBody>
              <a:bodyPr wrap="none" lIns="73025" tIns="36512" rIns="73025" bIns="36512">
                <a:prstTxWarp prst="textNoShape">
                  <a:avLst/>
                </a:prstTxWarp>
                <a:spAutoFit/>
              </a:bodyPr>
              <a:lstStyle/>
              <a:p>
                <a:pPr eaLnBrk="1" hangingPunct="1">
                  <a:lnSpc>
                    <a:spcPct val="100000"/>
                  </a:lnSpc>
                </a:pPr>
                <a:r>
                  <a:rPr lang="en-US" sz="2000" b="1">
                    <a:solidFill>
                      <a:schemeClr val="accent1"/>
                    </a:solidFill>
                  </a:rPr>
                  <a:t>Data Packet</a:t>
                </a:r>
              </a:p>
            </p:txBody>
          </p:sp>
        </p:grpSp>
      </p:grpSp>
      <p:sp>
        <p:nvSpPr>
          <p:cNvPr id="75782" name="Rectangle 37"/>
          <p:cNvSpPr>
            <a:spLocks noChangeArrowheads="1"/>
          </p:cNvSpPr>
          <p:nvPr/>
        </p:nvSpPr>
        <p:spPr bwMode="auto">
          <a:xfrm>
            <a:off x="7300914" y="2101851"/>
            <a:ext cx="2193925" cy="360363"/>
          </a:xfrm>
          <a:prstGeom prst="rect">
            <a:avLst/>
          </a:prstGeom>
          <a:solidFill>
            <a:schemeClr val="accent1">
              <a:alpha val="50195"/>
            </a:schemeClr>
          </a:solidFill>
          <a:ln w="9525">
            <a:noFill/>
            <a:miter lim="800000"/>
            <a:headEnd/>
            <a:tailEnd/>
          </a:ln>
        </p:spPr>
        <p:txBody>
          <a:bodyPr wrap="none" lIns="73025" tIns="36512" rIns="73025" bIns="36512" anchor="ctr">
            <a:prstTxWarp prst="textNoShape">
              <a:avLst/>
            </a:prstTxWarp>
          </a:bodyPr>
          <a:lstStyle/>
          <a:p>
            <a:pPr eaLnBrk="1" hangingPunct="1">
              <a:lnSpc>
                <a:spcPct val="100000"/>
              </a:lnSpc>
            </a:pPr>
            <a:r>
              <a:rPr lang="en-US" sz="1400" b="1">
                <a:solidFill>
                  <a:schemeClr val="bg1"/>
                </a:solidFill>
              </a:rPr>
              <a:t>Sub-Port/Deep Inspection</a:t>
            </a:r>
          </a:p>
        </p:txBody>
      </p:sp>
      <p:sp>
        <p:nvSpPr>
          <p:cNvPr id="75783" name="Rectangle 38"/>
          <p:cNvSpPr>
            <a:spLocks noChangeArrowheads="1"/>
          </p:cNvSpPr>
          <p:nvPr/>
        </p:nvSpPr>
        <p:spPr bwMode="auto">
          <a:xfrm>
            <a:off x="2740026" y="4906964"/>
            <a:ext cx="6905625" cy="9525"/>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784" name="Rectangle 39"/>
          <p:cNvSpPr>
            <a:spLocks noChangeArrowheads="1"/>
          </p:cNvSpPr>
          <p:nvPr/>
        </p:nvSpPr>
        <p:spPr bwMode="auto">
          <a:xfrm>
            <a:off x="6883401" y="2925763"/>
            <a:ext cx="9525" cy="2971800"/>
          </a:xfrm>
          <a:prstGeom prst="rect">
            <a:avLst/>
          </a:prstGeom>
          <a:solidFill>
            <a:srgbClr val="C0C0C0"/>
          </a:solidFill>
          <a:ln w="9525">
            <a:noFill/>
            <a:miter lim="800000"/>
            <a:headEnd/>
            <a:tailEnd/>
          </a:ln>
        </p:spPr>
        <p:txBody>
          <a:bodyPr>
            <a:prstTxWarp prst="textNoShape">
              <a:avLst/>
            </a:prstTxWarp>
          </a:bodyPr>
          <a:lstStyle/>
          <a:p>
            <a:endParaRPr lang="en-US"/>
          </a:p>
        </p:txBody>
      </p:sp>
      <p:grpSp>
        <p:nvGrpSpPr>
          <p:cNvPr id="8" name="Group 40"/>
          <p:cNvGrpSpPr>
            <a:grpSpLocks/>
          </p:cNvGrpSpPr>
          <p:nvPr/>
        </p:nvGrpSpPr>
        <p:grpSpPr bwMode="auto">
          <a:xfrm>
            <a:off x="2740025" y="2925764"/>
            <a:ext cx="6915150" cy="2987675"/>
            <a:chOff x="766" y="2008"/>
            <a:chExt cx="4356" cy="1882"/>
          </a:xfrm>
        </p:grpSpPr>
        <p:sp>
          <p:nvSpPr>
            <p:cNvPr id="75787" name="Rectangle 41"/>
            <p:cNvSpPr>
              <a:spLocks noChangeArrowheads="1"/>
            </p:cNvSpPr>
            <p:nvPr/>
          </p:nvSpPr>
          <p:spPr bwMode="auto">
            <a:xfrm>
              <a:off x="766" y="2008"/>
              <a:ext cx="4356" cy="1878"/>
            </a:xfrm>
            <a:prstGeom prst="rect">
              <a:avLst/>
            </a:prstGeom>
            <a:noFill/>
            <a:ln w="9525">
              <a:solidFill>
                <a:schemeClr val="tx1"/>
              </a:solidFill>
              <a:miter lim="800000"/>
              <a:headEnd/>
              <a:tailEnd/>
            </a:ln>
          </p:spPr>
          <p:txBody>
            <a:bodyPr>
              <a:prstTxWarp prst="textNoShape">
                <a:avLst/>
              </a:prstTxWarp>
            </a:bodyPr>
            <a:lstStyle/>
            <a:p>
              <a:endParaRPr lang="en-US"/>
            </a:p>
          </p:txBody>
        </p:sp>
        <p:sp>
          <p:nvSpPr>
            <p:cNvPr id="75788" name="Line 42"/>
            <p:cNvSpPr>
              <a:spLocks noChangeShapeType="1"/>
            </p:cNvSpPr>
            <p:nvPr/>
          </p:nvSpPr>
          <p:spPr bwMode="auto">
            <a:xfrm>
              <a:off x="766" y="2008"/>
              <a:ext cx="4356"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789" name="Rectangle 43"/>
            <p:cNvSpPr>
              <a:spLocks noChangeArrowheads="1"/>
            </p:cNvSpPr>
            <p:nvPr/>
          </p:nvSpPr>
          <p:spPr bwMode="auto">
            <a:xfrm>
              <a:off x="766" y="2008"/>
              <a:ext cx="4356"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790" name="Line 44"/>
            <p:cNvSpPr>
              <a:spLocks noChangeShapeType="1"/>
            </p:cNvSpPr>
            <p:nvPr/>
          </p:nvSpPr>
          <p:spPr bwMode="auto">
            <a:xfrm>
              <a:off x="766" y="2008"/>
              <a:ext cx="1" cy="1878"/>
            </a:xfrm>
            <a:prstGeom prst="line">
              <a:avLst/>
            </a:prstGeom>
            <a:noFill/>
            <a:ln w="0">
              <a:solidFill>
                <a:srgbClr val="C0C0C0"/>
              </a:solidFill>
              <a:round/>
              <a:headEnd/>
              <a:tailEnd/>
            </a:ln>
          </p:spPr>
          <p:txBody>
            <a:bodyPr>
              <a:prstTxWarp prst="textNoShape">
                <a:avLst/>
              </a:prstTxWarp>
            </a:bodyPr>
            <a:lstStyle/>
            <a:p>
              <a:endParaRPr lang="en-US"/>
            </a:p>
          </p:txBody>
        </p:sp>
        <p:sp>
          <p:nvSpPr>
            <p:cNvPr id="75791" name="Rectangle 45"/>
            <p:cNvSpPr>
              <a:spLocks noChangeArrowheads="1"/>
            </p:cNvSpPr>
            <p:nvPr/>
          </p:nvSpPr>
          <p:spPr bwMode="auto">
            <a:xfrm>
              <a:off x="766" y="2008"/>
              <a:ext cx="6" cy="1878"/>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792" name="Rectangle 46"/>
            <p:cNvSpPr>
              <a:spLocks noChangeArrowheads="1"/>
            </p:cNvSpPr>
            <p:nvPr/>
          </p:nvSpPr>
          <p:spPr bwMode="auto">
            <a:xfrm>
              <a:off x="817" y="2020"/>
              <a:ext cx="22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egp</a:t>
              </a:r>
              <a:endParaRPr lang="en-US" sz="1400" b="1"/>
            </a:p>
          </p:txBody>
        </p:sp>
        <p:sp>
          <p:nvSpPr>
            <p:cNvPr id="75793" name="Rectangle 47"/>
            <p:cNvSpPr>
              <a:spLocks noChangeArrowheads="1"/>
            </p:cNvSpPr>
            <p:nvPr/>
          </p:nvSpPr>
          <p:spPr bwMode="auto">
            <a:xfrm>
              <a:off x="1686" y="2020"/>
              <a:ext cx="58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chemeClr val="folHlink"/>
                  </a:solidFill>
                </a:rPr>
                <a:t>exchange</a:t>
              </a:r>
              <a:endParaRPr lang="en-US" sz="1400" b="1">
                <a:solidFill>
                  <a:schemeClr val="folHlink"/>
                </a:solidFill>
              </a:endParaRPr>
            </a:p>
          </p:txBody>
        </p:sp>
        <p:sp>
          <p:nvSpPr>
            <p:cNvPr id="75794" name="Rectangle 48"/>
            <p:cNvSpPr>
              <a:spLocks noChangeArrowheads="1"/>
            </p:cNvSpPr>
            <p:nvPr/>
          </p:nvSpPr>
          <p:spPr bwMode="auto">
            <a:xfrm>
              <a:off x="2557" y="2020"/>
              <a:ext cx="540"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kerberos</a:t>
              </a:r>
              <a:endParaRPr lang="en-US" sz="1400" b="1"/>
            </a:p>
          </p:txBody>
        </p:sp>
        <p:sp>
          <p:nvSpPr>
            <p:cNvPr id="75795" name="Rectangle 49"/>
            <p:cNvSpPr>
              <a:spLocks noChangeArrowheads="1"/>
            </p:cNvSpPr>
            <p:nvPr/>
          </p:nvSpPr>
          <p:spPr bwMode="auto">
            <a:xfrm>
              <a:off x="3424" y="2020"/>
              <a:ext cx="732"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secure-nntp</a:t>
              </a:r>
              <a:endParaRPr lang="en-US" sz="1400" b="1"/>
            </a:p>
          </p:txBody>
        </p:sp>
        <p:sp>
          <p:nvSpPr>
            <p:cNvPr id="75796" name="Rectangle 50"/>
            <p:cNvSpPr>
              <a:spLocks noChangeArrowheads="1"/>
            </p:cNvSpPr>
            <p:nvPr/>
          </p:nvSpPr>
          <p:spPr bwMode="auto">
            <a:xfrm>
              <a:off x="4297" y="2020"/>
              <a:ext cx="306"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smtp</a:t>
              </a:r>
              <a:endParaRPr lang="en-US" sz="1400" b="1"/>
            </a:p>
          </p:txBody>
        </p:sp>
        <p:sp>
          <p:nvSpPr>
            <p:cNvPr id="75797" name="Rectangle 51"/>
            <p:cNvSpPr>
              <a:spLocks noChangeArrowheads="1"/>
            </p:cNvSpPr>
            <p:nvPr/>
          </p:nvSpPr>
          <p:spPr bwMode="auto">
            <a:xfrm>
              <a:off x="819" y="2176"/>
              <a:ext cx="19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gre</a:t>
              </a:r>
              <a:endParaRPr lang="en-US" sz="1400" b="1"/>
            </a:p>
          </p:txBody>
        </p:sp>
        <p:sp>
          <p:nvSpPr>
            <p:cNvPr id="75798" name="Rectangle 52"/>
            <p:cNvSpPr>
              <a:spLocks noChangeArrowheads="1"/>
            </p:cNvSpPr>
            <p:nvPr/>
          </p:nvSpPr>
          <p:spPr bwMode="auto">
            <a:xfrm>
              <a:off x="1686" y="2176"/>
              <a:ext cx="356"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finger</a:t>
              </a:r>
              <a:endParaRPr lang="en-US" sz="1400" b="1"/>
            </a:p>
          </p:txBody>
        </p:sp>
        <p:sp>
          <p:nvSpPr>
            <p:cNvPr id="75799" name="Rectangle 53"/>
            <p:cNvSpPr>
              <a:spLocks noChangeArrowheads="1"/>
            </p:cNvSpPr>
            <p:nvPr/>
          </p:nvSpPr>
          <p:spPr bwMode="auto">
            <a:xfrm>
              <a:off x="2557" y="2176"/>
              <a:ext cx="228"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l2tp</a:t>
              </a:r>
              <a:endParaRPr lang="en-US" sz="1400" b="1"/>
            </a:p>
          </p:txBody>
        </p:sp>
        <p:sp>
          <p:nvSpPr>
            <p:cNvPr id="75800" name="Rectangle 54"/>
            <p:cNvSpPr>
              <a:spLocks noChangeArrowheads="1"/>
            </p:cNvSpPr>
            <p:nvPr/>
          </p:nvSpPr>
          <p:spPr bwMode="auto">
            <a:xfrm>
              <a:off x="3427" y="2176"/>
              <a:ext cx="341"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chemeClr val="folHlink"/>
                  </a:solidFill>
                </a:rPr>
                <a:t>notes</a:t>
              </a:r>
              <a:endParaRPr lang="en-US" sz="1400" b="1">
                <a:solidFill>
                  <a:schemeClr val="folHlink"/>
                </a:solidFill>
              </a:endParaRPr>
            </a:p>
          </p:txBody>
        </p:sp>
        <p:sp>
          <p:nvSpPr>
            <p:cNvPr id="75801" name="Rectangle 55"/>
            <p:cNvSpPr>
              <a:spLocks noChangeArrowheads="1"/>
            </p:cNvSpPr>
            <p:nvPr/>
          </p:nvSpPr>
          <p:spPr bwMode="auto">
            <a:xfrm>
              <a:off x="4297" y="2176"/>
              <a:ext cx="341"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snmp</a:t>
              </a:r>
              <a:endParaRPr lang="en-US" sz="1400" b="1"/>
            </a:p>
          </p:txBody>
        </p:sp>
        <p:sp>
          <p:nvSpPr>
            <p:cNvPr id="75802" name="Rectangle 56"/>
            <p:cNvSpPr>
              <a:spLocks noChangeArrowheads="1"/>
            </p:cNvSpPr>
            <p:nvPr/>
          </p:nvSpPr>
          <p:spPr bwMode="auto">
            <a:xfrm>
              <a:off x="817" y="2332"/>
              <a:ext cx="29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icmp</a:t>
              </a:r>
              <a:endParaRPr lang="en-US" sz="1400" b="1"/>
            </a:p>
          </p:txBody>
        </p:sp>
        <p:sp>
          <p:nvSpPr>
            <p:cNvPr id="75803" name="Rectangle 57"/>
            <p:cNvSpPr>
              <a:spLocks noChangeArrowheads="1"/>
            </p:cNvSpPr>
            <p:nvPr/>
          </p:nvSpPr>
          <p:spPr bwMode="auto">
            <a:xfrm>
              <a:off x="1689" y="2332"/>
              <a:ext cx="164"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ftp</a:t>
              </a:r>
              <a:endParaRPr lang="en-US" sz="1400" b="1"/>
            </a:p>
          </p:txBody>
        </p:sp>
        <p:sp>
          <p:nvSpPr>
            <p:cNvPr id="75804" name="Rectangle 58"/>
            <p:cNvSpPr>
              <a:spLocks noChangeArrowheads="1"/>
            </p:cNvSpPr>
            <p:nvPr/>
          </p:nvSpPr>
          <p:spPr bwMode="auto">
            <a:xfrm>
              <a:off x="2557" y="2332"/>
              <a:ext cx="263"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ldap</a:t>
              </a:r>
              <a:endParaRPr lang="en-US" sz="1400" b="1"/>
            </a:p>
          </p:txBody>
        </p:sp>
        <p:sp>
          <p:nvSpPr>
            <p:cNvPr id="75805" name="Rectangle 59"/>
            <p:cNvSpPr>
              <a:spLocks noChangeArrowheads="1"/>
            </p:cNvSpPr>
            <p:nvPr/>
          </p:nvSpPr>
          <p:spPr bwMode="auto">
            <a:xfrm>
              <a:off x="3425" y="2332"/>
              <a:ext cx="604"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novadigm</a:t>
              </a:r>
              <a:endParaRPr lang="en-US" sz="1400" b="1"/>
            </a:p>
          </p:txBody>
        </p:sp>
        <p:sp>
          <p:nvSpPr>
            <p:cNvPr id="75806" name="Rectangle 60"/>
            <p:cNvSpPr>
              <a:spLocks noChangeArrowheads="1"/>
            </p:cNvSpPr>
            <p:nvPr/>
          </p:nvSpPr>
          <p:spPr bwMode="auto">
            <a:xfrm>
              <a:off x="4299" y="2332"/>
              <a:ext cx="362"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socks</a:t>
              </a:r>
              <a:endParaRPr lang="en-US" sz="1400" b="1"/>
            </a:p>
          </p:txBody>
        </p:sp>
        <p:sp>
          <p:nvSpPr>
            <p:cNvPr id="75807" name="Rectangle 61"/>
            <p:cNvSpPr>
              <a:spLocks noChangeArrowheads="1"/>
            </p:cNvSpPr>
            <p:nvPr/>
          </p:nvSpPr>
          <p:spPr bwMode="auto">
            <a:xfrm>
              <a:off x="817" y="2488"/>
              <a:ext cx="342"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ipinip</a:t>
              </a:r>
              <a:endParaRPr lang="en-US" sz="1400" b="1"/>
            </a:p>
          </p:txBody>
        </p:sp>
        <p:sp>
          <p:nvSpPr>
            <p:cNvPr id="75808" name="Rectangle 62"/>
            <p:cNvSpPr>
              <a:spLocks noChangeArrowheads="1"/>
            </p:cNvSpPr>
            <p:nvPr/>
          </p:nvSpPr>
          <p:spPr bwMode="auto">
            <a:xfrm>
              <a:off x="1686" y="2488"/>
              <a:ext cx="61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secure-ftp</a:t>
              </a:r>
              <a:endParaRPr lang="en-US" sz="1400" b="1"/>
            </a:p>
          </p:txBody>
        </p:sp>
        <p:sp>
          <p:nvSpPr>
            <p:cNvPr id="75809" name="Rectangle 63"/>
            <p:cNvSpPr>
              <a:spLocks noChangeArrowheads="1"/>
            </p:cNvSpPr>
            <p:nvPr/>
          </p:nvSpPr>
          <p:spPr bwMode="auto">
            <a:xfrm>
              <a:off x="2555" y="2488"/>
              <a:ext cx="718"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secure-ldap</a:t>
              </a:r>
              <a:endParaRPr lang="en-US" sz="1400" b="1"/>
            </a:p>
          </p:txBody>
        </p:sp>
        <p:sp>
          <p:nvSpPr>
            <p:cNvPr id="75810" name="Rectangle 64"/>
            <p:cNvSpPr>
              <a:spLocks noChangeArrowheads="1"/>
            </p:cNvSpPr>
            <p:nvPr/>
          </p:nvSpPr>
          <p:spPr bwMode="auto">
            <a:xfrm>
              <a:off x="3429" y="2488"/>
              <a:ext cx="19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ntp</a:t>
              </a:r>
              <a:endParaRPr lang="en-US" sz="1400" b="1"/>
            </a:p>
          </p:txBody>
        </p:sp>
        <p:sp>
          <p:nvSpPr>
            <p:cNvPr id="75811" name="Rectangle 65"/>
            <p:cNvSpPr>
              <a:spLocks noChangeArrowheads="1"/>
            </p:cNvSpPr>
            <p:nvPr/>
          </p:nvSpPr>
          <p:spPr bwMode="auto">
            <a:xfrm>
              <a:off x="4297" y="2488"/>
              <a:ext cx="37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sqlnet</a:t>
              </a:r>
              <a:endParaRPr lang="en-US" sz="1400" b="1"/>
            </a:p>
          </p:txBody>
        </p:sp>
        <p:sp>
          <p:nvSpPr>
            <p:cNvPr id="75812" name="Rectangle 66"/>
            <p:cNvSpPr>
              <a:spLocks noChangeArrowheads="1"/>
            </p:cNvSpPr>
            <p:nvPr/>
          </p:nvSpPr>
          <p:spPr bwMode="auto">
            <a:xfrm>
              <a:off x="818" y="2644"/>
              <a:ext cx="32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ipsec</a:t>
              </a:r>
              <a:endParaRPr lang="en-US" sz="1400" b="1"/>
            </a:p>
          </p:txBody>
        </p:sp>
        <p:sp>
          <p:nvSpPr>
            <p:cNvPr id="75813" name="Rectangle 67"/>
            <p:cNvSpPr>
              <a:spLocks noChangeArrowheads="1"/>
            </p:cNvSpPr>
            <p:nvPr/>
          </p:nvSpPr>
          <p:spPr bwMode="auto">
            <a:xfrm>
              <a:off x="1686" y="2644"/>
              <a:ext cx="433"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gopher</a:t>
              </a:r>
              <a:endParaRPr lang="en-US" sz="1400" b="1"/>
            </a:p>
          </p:txBody>
        </p:sp>
        <p:sp>
          <p:nvSpPr>
            <p:cNvPr id="75814" name="Rectangle 68"/>
            <p:cNvSpPr>
              <a:spLocks noChangeArrowheads="1"/>
            </p:cNvSpPr>
            <p:nvPr/>
          </p:nvSpPr>
          <p:spPr bwMode="auto">
            <a:xfrm>
              <a:off x="2558" y="2644"/>
              <a:ext cx="51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netshow</a:t>
              </a:r>
              <a:endParaRPr lang="en-US" sz="1400" b="1"/>
            </a:p>
          </p:txBody>
        </p:sp>
        <p:sp>
          <p:nvSpPr>
            <p:cNvPr id="75815" name="Rectangle 69"/>
            <p:cNvSpPr>
              <a:spLocks noChangeArrowheads="1"/>
            </p:cNvSpPr>
            <p:nvPr/>
          </p:nvSpPr>
          <p:spPr bwMode="auto">
            <a:xfrm>
              <a:off x="3423" y="2644"/>
              <a:ext cx="73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pcanywhere</a:t>
              </a:r>
              <a:endParaRPr lang="en-US" sz="1400" b="1"/>
            </a:p>
          </p:txBody>
        </p:sp>
        <p:sp>
          <p:nvSpPr>
            <p:cNvPr id="75816" name="Rectangle 70"/>
            <p:cNvSpPr>
              <a:spLocks noChangeArrowheads="1"/>
            </p:cNvSpPr>
            <p:nvPr/>
          </p:nvSpPr>
          <p:spPr bwMode="auto">
            <a:xfrm>
              <a:off x="4298" y="2644"/>
              <a:ext cx="220"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ssh</a:t>
              </a:r>
              <a:endParaRPr lang="en-US" sz="1400" b="1"/>
            </a:p>
          </p:txBody>
        </p:sp>
        <p:sp>
          <p:nvSpPr>
            <p:cNvPr id="75817" name="Rectangle 71"/>
            <p:cNvSpPr>
              <a:spLocks noChangeArrowheads="1"/>
            </p:cNvSpPr>
            <p:nvPr/>
          </p:nvSpPr>
          <p:spPr bwMode="auto">
            <a:xfrm>
              <a:off x="816" y="2800"/>
              <a:ext cx="313"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eigrp</a:t>
              </a:r>
              <a:endParaRPr lang="en-US" sz="1400" b="1"/>
            </a:p>
          </p:txBody>
        </p:sp>
        <p:sp>
          <p:nvSpPr>
            <p:cNvPr id="75818" name="Rectangle 72"/>
            <p:cNvSpPr>
              <a:spLocks noChangeArrowheads="1"/>
            </p:cNvSpPr>
            <p:nvPr/>
          </p:nvSpPr>
          <p:spPr bwMode="auto">
            <a:xfrm>
              <a:off x="1689" y="2800"/>
              <a:ext cx="242"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chemeClr val="folHlink"/>
                  </a:solidFill>
                </a:rPr>
                <a:t>http</a:t>
              </a:r>
              <a:endParaRPr lang="en-US" sz="1400" b="1">
                <a:solidFill>
                  <a:schemeClr val="folHlink"/>
                </a:solidFill>
              </a:endParaRPr>
            </a:p>
          </p:txBody>
        </p:sp>
        <p:sp>
          <p:nvSpPr>
            <p:cNvPr id="75819" name="Rectangle 73"/>
            <p:cNvSpPr>
              <a:spLocks noChangeArrowheads="1"/>
            </p:cNvSpPr>
            <p:nvPr/>
          </p:nvSpPr>
          <p:spPr bwMode="auto">
            <a:xfrm>
              <a:off x="2559" y="2800"/>
              <a:ext cx="27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pptp</a:t>
              </a:r>
              <a:endParaRPr lang="en-US" sz="1400" b="1"/>
            </a:p>
          </p:txBody>
        </p:sp>
        <p:sp>
          <p:nvSpPr>
            <p:cNvPr id="75820" name="Rectangle 74"/>
            <p:cNvSpPr>
              <a:spLocks noChangeArrowheads="1"/>
            </p:cNvSpPr>
            <p:nvPr/>
          </p:nvSpPr>
          <p:spPr bwMode="auto">
            <a:xfrm>
              <a:off x="3427" y="2800"/>
              <a:ext cx="305"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pop3</a:t>
              </a:r>
              <a:endParaRPr lang="en-US" sz="1400" b="1"/>
            </a:p>
          </p:txBody>
        </p:sp>
        <p:sp>
          <p:nvSpPr>
            <p:cNvPr id="75821" name="Rectangle 75"/>
            <p:cNvSpPr>
              <a:spLocks noChangeArrowheads="1"/>
            </p:cNvSpPr>
            <p:nvPr/>
          </p:nvSpPr>
          <p:spPr bwMode="auto">
            <a:xfrm>
              <a:off x="4294" y="2800"/>
              <a:ext cx="71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streamwork</a:t>
              </a:r>
              <a:endParaRPr lang="en-US" sz="1400" b="1"/>
            </a:p>
          </p:txBody>
        </p:sp>
        <p:sp>
          <p:nvSpPr>
            <p:cNvPr id="75822" name="Rectangle 76"/>
            <p:cNvSpPr>
              <a:spLocks noChangeArrowheads="1"/>
            </p:cNvSpPr>
            <p:nvPr/>
          </p:nvSpPr>
          <p:spPr bwMode="auto">
            <a:xfrm>
              <a:off x="820" y="2956"/>
              <a:ext cx="234"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bgp</a:t>
              </a:r>
              <a:endParaRPr lang="en-US" sz="1400" b="1"/>
            </a:p>
          </p:txBody>
        </p:sp>
        <p:sp>
          <p:nvSpPr>
            <p:cNvPr id="75823" name="Rectangle 77"/>
            <p:cNvSpPr>
              <a:spLocks noChangeArrowheads="1"/>
            </p:cNvSpPr>
            <p:nvPr/>
          </p:nvSpPr>
          <p:spPr bwMode="auto">
            <a:xfrm>
              <a:off x="1683" y="2956"/>
              <a:ext cx="69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secure-http</a:t>
              </a:r>
              <a:endParaRPr lang="en-US" sz="1400" b="1"/>
            </a:p>
          </p:txBody>
        </p:sp>
        <p:sp>
          <p:nvSpPr>
            <p:cNvPr id="75824" name="Rectangle 78"/>
            <p:cNvSpPr>
              <a:spLocks noChangeArrowheads="1"/>
            </p:cNvSpPr>
            <p:nvPr/>
          </p:nvSpPr>
          <p:spPr bwMode="auto">
            <a:xfrm>
              <a:off x="2554" y="2956"/>
              <a:ext cx="56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sqlserver</a:t>
              </a:r>
              <a:endParaRPr lang="en-US" sz="1400" b="1"/>
            </a:p>
          </p:txBody>
        </p:sp>
        <p:sp>
          <p:nvSpPr>
            <p:cNvPr id="75825" name="Rectangle 79"/>
            <p:cNvSpPr>
              <a:spLocks noChangeArrowheads="1"/>
            </p:cNvSpPr>
            <p:nvPr/>
          </p:nvSpPr>
          <p:spPr bwMode="auto">
            <a:xfrm>
              <a:off x="3425" y="2956"/>
              <a:ext cx="760"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secure-pop3</a:t>
              </a:r>
              <a:endParaRPr lang="en-US" sz="1400" b="1"/>
            </a:p>
          </p:txBody>
        </p:sp>
        <p:sp>
          <p:nvSpPr>
            <p:cNvPr id="75826" name="Rectangle 80"/>
            <p:cNvSpPr>
              <a:spLocks noChangeArrowheads="1"/>
            </p:cNvSpPr>
            <p:nvPr/>
          </p:nvSpPr>
          <p:spPr bwMode="auto">
            <a:xfrm>
              <a:off x="4295" y="2956"/>
              <a:ext cx="405"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syslog</a:t>
              </a:r>
              <a:endParaRPr lang="en-US" sz="1400" b="1"/>
            </a:p>
          </p:txBody>
        </p:sp>
        <p:sp>
          <p:nvSpPr>
            <p:cNvPr id="75827" name="Rectangle 81"/>
            <p:cNvSpPr>
              <a:spLocks noChangeArrowheads="1"/>
            </p:cNvSpPr>
            <p:nvPr/>
          </p:nvSpPr>
          <p:spPr bwMode="auto">
            <a:xfrm>
              <a:off x="816" y="3112"/>
              <a:ext cx="54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cuseeme</a:t>
              </a:r>
              <a:endParaRPr lang="en-US" sz="1400" b="1"/>
            </a:p>
          </p:txBody>
        </p:sp>
        <p:sp>
          <p:nvSpPr>
            <p:cNvPr id="75828" name="Rectangle 82"/>
            <p:cNvSpPr>
              <a:spLocks noChangeArrowheads="1"/>
            </p:cNvSpPr>
            <p:nvPr/>
          </p:nvSpPr>
          <p:spPr bwMode="auto">
            <a:xfrm>
              <a:off x="1687" y="3112"/>
              <a:ext cx="29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imap</a:t>
              </a:r>
              <a:endParaRPr lang="en-US" sz="1400" b="1"/>
            </a:p>
          </p:txBody>
        </p:sp>
        <p:sp>
          <p:nvSpPr>
            <p:cNvPr id="75829" name="Rectangle 83"/>
            <p:cNvSpPr>
              <a:spLocks noChangeArrowheads="1"/>
            </p:cNvSpPr>
            <p:nvPr/>
          </p:nvSpPr>
          <p:spPr bwMode="auto">
            <a:xfrm>
              <a:off x="2557" y="3112"/>
              <a:ext cx="455"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netbios</a:t>
              </a:r>
              <a:endParaRPr lang="en-US" sz="1400" b="1"/>
            </a:p>
          </p:txBody>
        </p:sp>
        <p:sp>
          <p:nvSpPr>
            <p:cNvPr id="75830" name="Rectangle 84"/>
            <p:cNvSpPr>
              <a:spLocks noChangeArrowheads="1"/>
            </p:cNvSpPr>
            <p:nvPr/>
          </p:nvSpPr>
          <p:spPr bwMode="auto">
            <a:xfrm>
              <a:off x="3428" y="3112"/>
              <a:ext cx="406"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printer</a:t>
              </a:r>
              <a:endParaRPr lang="en-US" sz="1400" b="1"/>
            </a:p>
          </p:txBody>
        </p:sp>
        <p:sp>
          <p:nvSpPr>
            <p:cNvPr id="75831" name="Rectangle 85"/>
            <p:cNvSpPr>
              <a:spLocks noChangeArrowheads="1"/>
            </p:cNvSpPr>
            <p:nvPr/>
          </p:nvSpPr>
          <p:spPr bwMode="auto">
            <a:xfrm>
              <a:off x="4297" y="3112"/>
              <a:ext cx="342"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telnet</a:t>
              </a:r>
              <a:endParaRPr lang="en-US" sz="1400" b="1"/>
            </a:p>
          </p:txBody>
        </p:sp>
        <p:sp>
          <p:nvSpPr>
            <p:cNvPr id="75832" name="Rectangle 86"/>
            <p:cNvSpPr>
              <a:spLocks noChangeArrowheads="1"/>
            </p:cNvSpPr>
            <p:nvPr/>
          </p:nvSpPr>
          <p:spPr bwMode="auto">
            <a:xfrm>
              <a:off x="817" y="3268"/>
              <a:ext cx="305"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dhcp</a:t>
              </a:r>
              <a:endParaRPr lang="en-US" sz="1400" b="1"/>
            </a:p>
          </p:txBody>
        </p:sp>
        <p:sp>
          <p:nvSpPr>
            <p:cNvPr id="75833" name="Rectangle 87"/>
            <p:cNvSpPr>
              <a:spLocks noChangeArrowheads="1"/>
            </p:cNvSpPr>
            <p:nvPr/>
          </p:nvSpPr>
          <p:spPr bwMode="auto">
            <a:xfrm>
              <a:off x="1689" y="3268"/>
              <a:ext cx="15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irc</a:t>
              </a:r>
              <a:endParaRPr lang="en-US" sz="1400" b="1"/>
            </a:p>
          </p:txBody>
        </p:sp>
        <p:sp>
          <p:nvSpPr>
            <p:cNvPr id="75834" name="Rectangle 88"/>
            <p:cNvSpPr>
              <a:spLocks noChangeArrowheads="1"/>
            </p:cNvSpPr>
            <p:nvPr/>
          </p:nvSpPr>
          <p:spPr bwMode="auto">
            <a:xfrm>
              <a:off x="2560" y="3268"/>
              <a:ext cx="192"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nfs</a:t>
              </a:r>
              <a:endParaRPr lang="en-US" sz="1400" b="1"/>
            </a:p>
          </p:txBody>
        </p:sp>
        <p:sp>
          <p:nvSpPr>
            <p:cNvPr id="75835" name="Rectangle 89"/>
            <p:cNvSpPr>
              <a:spLocks noChangeArrowheads="1"/>
            </p:cNvSpPr>
            <p:nvPr/>
          </p:nvSpPr>
          <p:spPr bwMode="auto">
            <a:xfrm>
              <a:off x="3424" y="3268"/>
              <a:ext cx="569"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realaudio</a:t>
              </a:r>
              <a:endParaRPr lang="en-US" sz="1400" b="1"/>
            </a:p>
          </p:txBody>
        </p:sp>
        <p:sp>
          <p:nvSpPr>
            <p:cNvPr id="75836" name="Rectangle 90"/>
            <p:cNvSpPr>
              <a:spLocks noChangeArrowheads="1"/>
            </p:cNvSpPr>
            <p:nvPr/>
          </p:nvSpPr>
          <p:spPr bwMode="auto">
            <a:xfrm>
              <a:off x="4294" y="3268"/>
              <a:ext cx="79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secure-telent</a:t>
              </a:r>
              <a:endParaRPr lang="en-US" sz="1400" b="1"/>
            </a:p>
          </p:txBody>
        </p:sp>
        <p:sp>
          <p:nvSpPr>
            <p:cNvPr id="75837" name="Rectangle 91"/>
            <p:cNvSpPr>
              <a:spLocks noChangeArrowheads="1"/>
            </p:cNvSpPr>
            <p:nvPr/>
          </p:nvSpPr>
          <p:spPr bwMode="auto">
            <a:xfrm>
              <a:off x="817" y="3424"/>
              <a:ext cx="22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dns</a:t>
              </a:r>
              <a:endParaRPr lang="en-US" sz="1400" b="1"/>
            </a:p>
          </p:txBody>
        </p:sp>
        <p:sp>
          <p:nvSpPr>
            <p:cNvPr id="75838" name="Rectangle 92"/>
            <p:cNvSpPr>
              <a:spLocks noChangeArrowheads="1"/>
            </p:cNvSpPr>
            <p:nvPr/>
          </p:nvSpPr>
          <p:spPr bwMode="auto">
            <a:xfrm>
              <a:off x="1684" y="3424"/>
              <a:ext cx="612"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secure-irc</a:t>
              </a:r>
              <a:endParaRPr lang="en-US" sz="1400" b="1"/>
            </a:p>
          </p:txBody>
        </p:sp>
        <p:sp>
          <p:nvSpPr>
            <p:cNvPr id="75839" name="Rectangle 93"/>
            <p:cNvSpPr>
              <a:spLocks noChangeArrowheads="1"/>
            </p:cNvSpPr>
            <p:nvPr/>
          </p:nvSpPr>
          <p:spPr bwMode="auto">
            <a:xfrm>
              <a:off x="2559" y="3424"/>
              <a:ext cx="27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nntp</a:t>
              </a:r>
              <a:endParaRPr lang="en-US" sz="1400" b="1"/>
            </a:p>
          </p:txBody>
        </p:sp>
        <p:sp>
          <p:nvSpPr>
            <p:cNvPr id="75840" name="Rectangle 94"/>
            <p:cNvSpPr>
              <a:spLocks noChangeArrowheads="1"/>
            </p:cNvSpPr>
            <p:nvPr/>
          </p:nvSpPr>
          <p:spPr bwMode="auto">
            <a:xfrm>
              <a:off x="3426" y="3424"/>
              <a:ext cx="313" cy="288"/>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rcmd</a:t>
              </a:r>
            </a:p>
            <a:p>
              <a:pPr eaLnBrk="1" hangingPunct="1">
                <a:lnSpc>
                  <a:spcPct val="100000"/>
                </a:lnSpc>
              </a:pPr>
              <a:endParaRPr lang="en-US" sz="1400" b="1"/>
            </a:p>
          </p:txBody>
        </p:sp>
        <p:sp>
          <p:nvSpPr>
            <p:cNvPr id="75841" name="Rectangle 95"/>
            <p:cNvSpPr>
              <a:spLocks noChangeArrowheads="1"/>
            </p:cNvSpPr>
            <p:nvPr/>
          </p:nvSpPr>
          <p:spPr bwMode="auto">
            <a:xfrm>
              <a:off x="4298" y="3424"/>
              <a:ext cx="207"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tftp</a:t>
              </a:r>
              <a:endParaRPr lang="en-US" sz="1400" b="1"/>
            </a:p>
          </p:txBody>
        </p:sp>
        <p:sp>
          <p:nvSpPr>
            <p:cNvPr id="75842" name="Rectangle 96"/>
            <p:cNvSpPr>
              <a:spLocks noChangeArrowheads="1"/>
            </p:cNvSpPr>
            <p:nvPr/>
          </p:nvSpPr>
          <p:spPr bwMode="auto">
            <a:xfrm>
              <a:off x="4292" y="3580"/>
              <a:ext cx="441"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vdolive</a:t>
              </a:r>
              <a:endParaRPr lang="en-US" sz="1400" b="1"/>
            </a:p>
          </p:txBody>
        </p:sp>
        <p:sp>
          <p:nvSpPr>
            <p:cNvPr id="75843" name="Rectangle 97"/>
            <p:cNvSpPr>
              <a:spLocks noChangeArrowheads="1"/>
            </p:cNvSpPr>
            <p:nvPr/>
          </p:nvSpPr>
          <p:spPr bwMode="auto">
            <a:xfrm>
              <a:off x="4297" y="3736"/>
              <a:ext cx="612" cy="154"/>
            </a:xfrm>
            <a:prstGeom prst="rect">
              <a:avLst/>
            </a:prstGeom>
            <a:noFill/>
            <a:ln w="9525">
              <a:noFill/>
              <a:miter lim="800000"/>
              <a:headEnd/>
              <a:tailEnd/>
            </a:ln>
          </p:spPr>
          <p:txBody>
            <a:bodyPr wrap="none" lIns="0" tIns="0" rIns="0" bIns="0">
              <a:prstTxWarp prst="textNoShape">
                <a:avLst/>
              </a:prstTxWarp>
              <a:spAutoFit/>
            </a:bodyPr>
            <a:lstStyle/>
            <a:p>
              <a:pPr eaLnBrk="1" hangingPunct="1">
                <a:lnSpc>
                  <a:spcPct val="100000"/>
                </a:lnSpc>
              </a:pPr>
              <a:r>
                <a:rPr lang="en-US" sz="1600" b="1">
                  <a:solidFill>
                    <a:srgbClr val="333300"/>
                  </a:solidFill>
                </a:rPr>
                <a:t>xwindows</a:t>
              </a:r>
              <a:endParaRPr lang="en-US" sz="1400" b="1"/>
            </a:p>
          </p:txBody>
        </p:sp>
        <p:sp>
          <p:nvSpPr>
            <p:cNvPr id="75844" name="Line 98"/>
            <p:cNvSpPr>
              <a:spLocks noChangeShapeType="1"/>
            </p:cNvSpPr>
            <p:nvPr/>
          </p:nvSpPr>
          <p:spPr bwMode="auto">
            <a:xfrm>
              <a:off x="766" y="2008"/>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45" name="Rectangle 99"/>
            <p:cNvSpPr>
              <a:spLocks noChangeArrowheads="1"/>
            </p:cNvSpPr>
            <p:nvPr/>
          </p:nvSpPr>
          <p:spPr bwMode="auto">
            <a:xfrm>
              <a:off x="766" y="2008"/>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46" name="Line 100"/>
            <p:cNvSpPr>
              <a:spLocks noChangeShapeType="1"/>
            </p:cNvSpPr>
            <p:nvPr/>
          </p:nvSpPr>
          <p:spPr bwMode="auto">
            <a:xfrm>
              <a:off x="766" y="2164"/>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47" name="Rectangle 101"/>
            <p:cNvSpPr>
              <a:spLocks noChangeArrowheads="1"/>
            </p:cNvSpPr>
            <p:nvPr/>
          </p:nvSpPr>
          <p:spPr bwMode="auto">
            <a:xfrm>
              <a:off x="766" y="2164"/>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48" name="Line 102"/>
            <p:cNvSpPr>
              <a:spLocks noChangeShapeType="1"/>
            </p:cNvSpPr>
            <p:nvPr/>
          </p:nvSpPr>
          <p:spPr bwMode="auto">
            <a:xfrm>
              <a:off x="766" y="2320"/>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49" name="Rectangle 103"/>
            <p:cNvSpPr>
              <a:spLocks noChangeArrowheads="1"/>
            </p:cNvSpPr>
            <p:nvPr/>
          </p:nvSpPr>
          <p:spPr bwMode="auto">
            <a:xfrm>
              <a:off x="766" y="2320"/>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50" name="Line 104"/>
            <p:cNvSpPr>
              <a:spLocks noChangeShapeType="1"/>
            </p:cNvSpPr>
            <p:nvPr/>
          </p:nvSpPr>
          <p:spPr bwMode="auto">
            <a:xfrm>
              <a:off x="766" y="2476"/>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51" name="Rectangle 105"/>
            <p:cNvSpPr>
              <a:spLocks noChangeArrowheads="1"/>
            </p:cNvSpPr>
            <p:nvPr/>
          </p:nvSpPr>
          <p:spPr bwMode="auto">
            <a:xfrm>
              <a:off x="766" y="2476"/>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52" name="Line 106"/>
            <p:cNvSpPr>
              <a:spLocks noChangeShapeType="1"/>
            </p:cNvSpPr>
            <p:nvPr/>
          </p:nvSpPr>
          <p:spPr bwMode="auto">
            <a:xfrm>
              <a:off x="766" y="2632"/>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53" name="Rectangle 107"/>
            <p:cNvSpPr>
              <a:spLocks noChangeArrowheads="1"/>
            </p:cNvSpPr>
            <p:nvPr/>
          </p:nvSpPr>
          <p:spPr bwMode="auto">
            <a:xfrm>
              <a:off x="766" y="2632"/>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54" name="Line 108"/>
            <p:cNvSpPr>
              <a:spLocks noChangeShapeType="1"/>
            </p:cNvSpPr>
            <p:nvPr/>
          </p:nvSpPr>
          <p:spPr bwMode="auto">
            <a:xfrm>
              <a:off x="766" y="2788"/>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55" name="Rectangle 109"/>
            <p:cNvSpPr>
              <a:spLocks noChangeArrowheads="1"/>
            </p:cNvSpPr>
            <p:nvPr/>
          </p:nvSpPr>
          <p:spPr bwMode="auto">
            <a:xfrm>
              <a:off x="766" y="2788"/>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56" name="Line 110"/>
            <p:cNvSpPr>
              <a:spLocks noChangeShapeType="1"/>
            </p:cNvSpPr>
            <p:nvPr/>
          </p:nvSpPr>
          <p:spPr bwMode="auto">
            <a:xfrm>
              <a:off x="766" y="2944"/>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57" name="Rectangle 111"/>
            <p:cNvSpPr>
              <a:spLocks noChangeArrowheads="1"/>
            </p:cNvSpPr>
            <p:nvPr/>
          </p:nvSpPr>
          <p:spPr bwMode="auto">
            <a:xfrm>
              <a:off x="766" y="2944"/>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58" name="Line 112"/>
            <p:cNvSpPr>
              <a:spLocks noChangeShapeType="1"/>
            </p:cNvSpPr>
            <p:nvPr/>
          </p:nvSpPr>
          <p:spPr bwMode="auto">
            <a:xfrm>
              <a:off x="766" y="3100"/>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59" name="Rectangle 113"/>
            <p:cNvSpPr>
              <a:spLocks noChangeArrowheads="1"/>
            </p:cNvSpPr>
            <p:nvPr/>
          </p:nvSpPr>
          <p:spPr bwMode="auto">
            <a:xfrm>
              <a:off x="766" y="3100"/>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60" name="Line 114"/>
            <p:cNvSpPr>
              <a:spLocks noChangeShapeType="1"/>
            </p:cNvSpPr>
            <p:nvPr/>
          </p:nvSpPr>
          <p:spPr bwMode="auto">
            <a:xfrm>
              <a:off x="766" y="3256"/>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61" name="Line 115"/>
            <p:cNvSpPr>
              <a:spLocks noChangeShapeType="1"/>
            </p:cNvSpPr>
            <p:nvPr/>
          </p:nvSpPr>
          <p:spPr bwMode="auto">
            <a:xfrm>
              <a:off x="766" y="3412"/>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62" name="Rectangle 116"/>
            <p:cNvSpPr>
              <a:spLocks noChangeArrowheads="1"/>
            </p:cNvSpPr>
            <p:nvPr/>
          </p:nvSpPr>
          <p:spPr bwMode="auto">
            <a:xfrm>
              <a:off x="766" y="3412"/>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63" name="Line 117"/>
            <p:cNvSpPr>
              <a:spLocks noChangeShapeType="1"/>
            </p:cNvSpPr>
            <p:nvPr/>
          </p:nvSpPr>
          <p:spPr bwMode="auto">
            <a:xfrm>
              <a:off x="766" y="3568"/>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64" name="Rectangle 118"/>
            <p:cNvSpPr>
              <a:spLocks noChangeArrowheads="1"/>
            </p:cNvSpPr>
            <p:nvPr/>
          </p:nvSpPr>
          <p:spPr bwMode="auto">
            <a:xfrm>
              <a:off x="766" y="3568"/>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65" name="Line 119"/>
            <p:cNvSpPr>
              <a:spLocks noChangeShapeType="1"/>
            </p:cNvSpPr>
            <p:nvPr/>
          </p:nvSpPr>
          <p:spPr bwMode="auto">
            <a:xfrm>
              <a:off x="766" y="3724"/>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66" name="Rectangle 120"/>
            <p:cNvSpPr>
              <a:spLocks noChangeArrowheads="1"/>
            </p:cNvSpPr>
            <p:nvPr/>
          </p:nvSpPr>
          <p:spPr bwMode="auto">
            <a:xfrm>
              <a:off x="766" y="3724"/>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67" name="Line 121"/>
            <p:cNvSpPr>
              <a:spLocks noChangeShapeType="1"/>
            </p:cNvSpPr>
            <p:nvPr/>
          </p:nvSpPr>
          <p:spPr bwMode="auto">
            <a:xfrm>
              <a:off x="766" y="3880"/>
              <a:ext cx="4350" cy="1"/>
            </a:xfrm>
            <a:prstGeom prst="line">
              <a:avLst/>
            </a:prstGeom>
            <a:noFill/>
            <a:ln w="0">
              <a:solidFill>
                <a:srgbClr val="C0C0C0"/>
              </a:solidFill>
              <a:round/>
              <a:headEnd/>
              <a:tailEnd/>
            </a:ln>
          </p:spPr>
          <p:txBody>
            <a:bodyPr>
              <a:prstTxWarp prst="textNoShape">
                <a:avLst/>
              </a:prstTxWarp>
            </a:bodyPr>
            <a:lstStyle/>
            <a:p>
              <a:endParaRPr lang="en-US"/>
            </a:p>
          </p:txBody>
        </p:sp>
        <p:sp>
          <p:nvSpPr>
            <p:cNvPr id="75868" name="Rectangle 122"/>
            <p:cNvSpPr>
              <a:spLocks noChangeArrowheads="1"/>
            </p:cNvSpPr>
            <p:nvPr/>
          </p:nvSpPr>
          <p:spPr bwMode="auto">
            <a:xfrm>
              <a:off x="766" y="3880"/>
              <a:ext cx="4350" cy="6"/>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69" name="Line 123"/>
            <p:cNvSpPr>
              <a:spLocks noChangeShapeType="1"/>
            </p:cNvSpPr>
            <p:nvPr/>
          </p:nvSpPr>
          <p:spPr bwMode="auto">
            <a:xfrm>
              <a:off x="766" y="2008"/>
              <a:ext cx="1" cy="1872"/>
            </a:xfrm>
            <a:prstGeom prst="line">
              <a:avLst/>
            </a:prstGeom>
            <a:noFill/>
            <a:ln w="0">
              <a:solidFill>
                <a:srgbClr val="C0C0C0"/>
              </a:solidFill>
              <a:round/>
              <a:headEnd/>
              <a:tailEnd/>
            </a:ln>
          </p:spPr>
          <p:txBody>
            <a:bodyPr>
              <a:prstTxWarp prst="textNoShape">
                <a:avLst/>
              </a:prstTxWarp>
            </a:bodyPr>
            <a:lstStyle/>
            <a:p>
              <a:endParaRPr lang="en-US"/>
            </a:p>
          </p:txBody>
        </p:sp>
        <p:sp>
          <p:nvSpPr>
            <p:cNvPr id="75870" name="Rectangle 124"/>
            <p:cNvSpPr>
              <a:spLocks noChangeArrowheads="1"/>
            </p:cNvSpPr>
            <p:nvPr/>
          </p:nvSpPr>
          <p:spPr bwMode="auto">
            <a:xfrm>
              <a:off x="766" y="2008"/>
              <a:ext cx="6" cy="1872"/>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71" name="Line 125"/>
            <p:cNvSpPr>
              <a:spLocks noChangeShapeType="1"/>
            </p:cNvSpPr>
            <p:nvPr/>
          </p:nvSpPr>
          <p:spPr bwMode="auto">
            <a:xfrm>
              <a:off x="1636" y="2008"/>
              <a:ext cx="1" cy="1872"/>
            </a:xfrm>
            <a:prstGeom prst="line">
              <a:avLst/>
            </a:prstGeom>
            <a:noFill/>
            <a:ln w="0">
              <a:solidFill>
                <a:srgbClr val="C0C0C0"/>
              </a:solidFill>
              <a:round/>
              <a:headEnd/>
              <a:tailEnd/>
            </a:ln>
          </p:spPr>
          <p:txBody>
            <a:bodyPr>
              <a:prstTxWarp prst="textNoShape">
                <a:avLst/>
              </a:prstTxWarp>
            </a:bodyPr>
            <a:lstStyle/>
            <a:p>
              <a:endParaRPr lang="en-US"/>
            </a:p>
          </p:txBody>
        </p:sp>
        <p:sp>
          <p:nvSpPr>
            <p:cNvPr id="75872" name="Rectangle 126"/>
            <p:cNvSpPr>
              <a:spLocks noChangeArrowheads="1"/>
            </p:cNvSpPr>
            <p:nvPr/>
          </p:nvSpPr>
          <p:spPr bwMode="auto">
            <a:xfrm>
              <a:off x="1636" y="2008"/>
              <a:ext cx="6" cy="1872"/>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73" name="Line 127"/>
            <p:cNvSpPr>
              <a:spLocks noChangeShapeType="1"/>
            </p:cNvSpPr>
            <p:nvPr/>
          </p:nvSpPr>
          <p:spPr bwMode="auto">
            <a:xfrm>
              <a:off x="2506" y="2008"/>
              <a:ext cx="1" cy="1872"/>
            </a:xfrm>
            <a:prstGeom prst="line">
              <a:avLst/>
            </a:prstGeom>
            <a:noFill/>
            <a:ln w="0">
              <a:solidFill>
                <a:srgbClr val="C0C0C0"/>
              </a:solidFill>
              <a:round/>
              <a:headEnd/>
              <a:tailEnd/>
            </a:ln>
          </p:spPr>
          <p:txBody>
            <a:bodyPr>
              <a:prstTxWarp prst="textNoShape">
                <a:avLst/>
              </a:prstTxWarp>
            </a:bodyPr>
            <a:lstStyle/>
            <a:p>
              <a:endParaRPr lang="en-US"/>
            </a:p>
          </p:txBody>
        </p:sp>
        <p:sp>
          <p:nvSpPr>
            <p:cNvPr id="75874" name="Rectangle 128"/>
            <p:cNvSpPr>
              <a:spLocks noChangeArrowheads="1"/>
            </p:cNvSpPr>
            <p:nvPr/>
          </p:nvSpPr>
          <p:spPr bwMode="auto">
            <a:xfrm>
              <a:off x="2506" y="2008"/>
              <a:ext cx="6" cy="1872"/>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75" name="Line 129"/>
            <p:cNvSpPr>
              <a:spLocks noChangeShapeType="1"/>
            </p:cNvSpPr>
            <p:nvPr/>
          </p:nvSpPr>
          <p:spPr bwMode="auto">
            <a:xfrm>
              <a:off x="3376" y="2008"/>
              <a:ext cx="1" cy="1872"/>
            </a:xfrm>
            <a:prstGeom prst="line">
              <a:avLst/>
            </a:prstGeom>
            <a:noFill/>
            <a:ln w="0">
              <a:solidFill>
                <a:srgbClr val="C0C0C0"/>
              </a:solidFill>
              <a:round/>
              <a:headEnd/>
              <a:tailEnd/>
            </a:ln>
          </p:spPr>
          <p:txBody>
            <a:bodyPr>
              <a:prstTxWarp prst="textNoShape">
                <a:avLst/>
              </a:prstTxWarp>
            </a:bodyPr>
            <a:lstStyle/>
            <a:p>
              <a:endParaRPr lang="en-US"/>
            </a:p>
          </p:txBody>
        </p:sp>
        <p:sp>
          <p:nvSpPr>
            <p:cNvPr id="75876" name="Line 130"/>
            <p:cNvSpPr>
              <a:spLocks noChangeShapeType="1"/>
            </p:cNvSpPr>
            <p:nvPr/>
          </p:nvSpPr>
          <p:spPr bwMode="auto">
            <a:xfrm>
              <a:off x="4246" y="2008"/>
              <a:ext cx="1" cy="1872"/>
            </a:xfrm>
            <a:prstGeom prst="line">
              <a:avLst/>
            </a:prstGeom>
            <a:noFill/>
            <a:ln w="0">
              <a:solidFill>
                <a:srgbClr val="C0C0C0"/>
              </a:solidFill>
              <a:round/>
              <a:headEnd/>
              <a:tailEnd/>
            </a:ln>
          </p:spPr>
          <p:txBody>
            <a:bodyPr>
              <a:prstTxWarp prst="textNoShape">
                <a:avLst/>
              </a:prstTxWarp>
            </a:bodyPr>
            <a:lstStyle/>
            <a:p>
              <a:endParaRPr lang="en-US"/>
            </a:p>
          </p:txBody>
        </p:sp>
        <p:sp>
          <p:nvSpPr>
            <p:cNvPr id="75877" name="Rectangle 131"/>
            <p:cNvSpPr>
              <a:spLocks noChangeArrowheads="1"/>
            </p:cNvSpPr>
            <p:nvPr/>
          </p:nvSpPr>
          <p:spPr bwMode="auto">
            <a:xfrm>
              <a:off x="4246" y="2008"/>
              <a:ext cx="6" cy="1872"/>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78" name="Line 132"/>
            <p:cNvSpPr>
              <a:spLocks noChangeShapeType="1"/>
            </p:cNvSpPr>
            <p:nvPr/>
          </p:nvSpPr>
          <p:spPr bwMode="auto">
            <a:xfrm>
              <a:off x="5116" y="2008"/>
              <a:ext cx="1" cy="1872"/>
            </a:xfrm>
            <a:prstGeom prst="line">
              <a:avLst/>
            </a:prstGeom>
            <a:noFill/>
            <a:ln w="0">
              <a:solidFill>
                <a:srgbClr val="C0C0C0"/>
              </a:solidFill>
              <a:round/>
              <a:headEnd/>
              <a:tailEnd/>
            </a:ln>
          </p:spPr>
          <p:txBody>
            <a:bodyPr>
              <a:prstTxWarp prst="textNoShape">
                <a:avLst/>
              </a:prstTxWarp>
            </a:bodyPr>
            <a:lstStyle/>
            <a:p>
              <a:endParaRPr lang="en-US"/>
            </a:p>
          </p:txBody>
        </p:sp>
        <p:sp>
          <p:nvSpPr>
            <p:cNvPr id="75879" name="Rectangle 133"/>
            <p:cNvSpPr>
              <a:spLocks noChangeArrowheads="1"/>
            </p:cNvSpPr>
            <p:nvPr/>
          </p:nvSpPr>
          <p:spPr bwMode="auto">
            <a:xfrm>
              <a:off x="5116" y="2008"/>
              <a:ext cx="6" cy="1872"/>
            </a:xfrm>
            <a:prstGeom prst="rect">
              <a:avLst/>
            </a:prstGeom>
            <a:solidFill>
              <a:srgbClr val="C0C0C0"/>
            </a:solidFill>
            <a:ln w="9525">
              <a:noFill/>
              <a:miter lim="800000"/>
              <a:headEnd/>
              <a:tailEnd/>
            </a:ln>
          </p:spPr>
          <p:txBody>
            <a:bodyPr>
              <a:prstTxWarp prst="textNoShape">
                <a:avLst/>
              </a:prstTxWarp>
            </a:bodyPr>
            <a:lstStyle/>
            <a:p>
              <a:endParaRPr lang="en-US"/>
            </a:p>
          </p:txBody>
        </p:sp>
        <p:sp>
          <p:nvSpPr>
            <p:cNvPr id="75880" name="Rectangle 134"/>
            <p:cNvSpPr>
              <a:spLocks noChangeArrowheads="1"/>
            </p:cNvSpPr>
            <p:nvPr/>
          </p:nvSpPr>
          <p:spPr bwMode="auto">
            <a:xfrm>
              <a:off x="3408" y="3600"/>
              <a:ext cx="528" cy="154"/>
            </a:xfrm>
            <a:prstGeom prst="rect">
              <a:avLst/>
            </a:prstGeom>
            <a:noFill/>
            <a:ln w="9525">
              <a:noFill/>
              <a:miter lim="800000"/>
              <a:headEnd/>
              <a:tailEnd/>
            </a:ln>
          </p:spPr>
          <p:txBody>
            <a:bodyPr lIns="0" tIns="0" rIns="0" bIns="0">
              <a:prstTxWarp prst="textNoShape">
                <a:avLst/>
              </a:prstTxWarp>
              <a:spAutoFit/>
            </a:bodyPr>
            <a:lstStyle/>
            <a:p>
              <a:pPr eaLnBrk="1" hangingPunct="1">
                <a:lnSpc>
                  <a:spcPct val="100000"/>
                </a:lnSpc>
              </a:pPr>
              <a:r>
                <a:rPr lang="en-US" sz="1600" b="1">
                  <a:solidFill>
                    <a:schemeClr val="folHlink"/>
                  </a:solidFill>
                </a:rPr>
                <a:t>napster</a:t>
              </a:r>
              <a:endParaRPr lang="en-US" sz="1400" b="1">
                <a:solidFill>
                  <a:schemeClr val="folHlink"/>
                </a:solidFill>
              </a:endParaRPr>
            </a:p>
          </p:txBody>
        </p:sp>
        <p:sp>
          <p:nvSpPr>
            <p:cNvPr id="75881" name="Rectangle 135"/>
            <p:cNvSpPr>
              <a:spLocks noChangeArrowheads="1"/>
            </p:cNvSpPr>
            <p:nvPr/>
          </p:nvSpPr>
          <p:spPr bwMode="auto">
            <a:xfrm>
              <a:off x="2496" y="3600"/>
              <a:ext cx="432" cy="154"/>
            </a:xfrm>
            <a:prstGeom prst="rect">
              <a:avLst/>
            </a:prstGeom>
            <a:noFill/>
            <a:ln w="9525">
              <a:noFill/>
              <a:miter lim="800000"/>
              <a:headEnd/>
              <a:tailEnd/>
            </a:ln>
          </p:spPr>
          <p:txBody>
            <a:bodyPr lIns="0" tIns="0" rIns="0" bIns="0">
              <a:prstTxWarp prst="textNoShape">
                <a:avLst/>
              </a:prstTxWarp>
              <a:spAutoFit/>
            </a:bodyPr>
            <a:lstStyle/>
            <a:p>
              <a:pPr eaLnBrk="1" hangingPunct="1">
                <a:lnSpc>
                  <a:spcPct val="100000"/>
                </a:lnSpc>
              </a:pPr>
              <a:r>
                <a:rPr lang="en-US" sz="1600" b="1">
                  <a:solidFill>
                    <a:schemeClr val="folHlink"/>
                  </a:solidFill>
                </a:rPr>
                <a:t>citrix</a:t>
              </a:r>
              <a:endParaRPr lang="en-US" sz="1400" b="1">
                <a:solidFill>
                  <a:schemeClr val="folHlink"/>
                </a:solidFill>
              </a:endParaRPr>
            </a:p>
          </p:txBody>
        </p:sp>
      </p:grpSp>
      <p:sp>
        <p:nvSpPr>
          <p:cNvPr id="75786" name="Rectangle 136"/>
          <p:cNvSpPr>
            <a:spLocks noGrp="1" noChangeArrowheads="1"/>
          </p:cNvSpPr>
          <p:nvPr>
            <p:ph type="title"/>
          </p:nvPr>
        </p:nvSpPr>
        <p:spPr>
          <a:noFill/>
        </p:spPr>
        <p:txBody>
          <a:bodyPr/>
          <a:lstStyle/>
          <a:p>
            <a:pPr eaLnBrk="1" hangingPunct="1"/>
            <a:r>
              <a:rPr lang="en-US">
                <a:solidFill>
                  <a:srgbClr val="FF3399"/>
                </a:solidFill>
              </a:rPr>
              <a:t>NBAR: Supported Protocols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AutoShape 2"/>
          <p:cNvSpPr>
            <a:spLocks/>
          </p:cNvSpPr>
          <p:nvPr/>
        </p:nvSpPr>
        <p:spPr bwMode="auto">
          <a:xfrm>
            <a:off x="4548188" y="1458914"/>
            <a:ext cx="3389312" cy="619125"/>
          </a:xfrm>
          <a:prstGeom prst="borderCallout2">
            <a:avLst>
              <a:gd name="adj1" fmla="val 18463"/>
              <a:gd name="adj2" fmla="val -2250"/>
              <a:gd name="adj3" fmla="val 18463"/>
              <a:gd name="adj4" fmla="val -7403"/>
              <a:gd name="adj5" fmla="val 223333"/>
              <a:gd name="adj6" fmla="val -12551"/>
            </a:avLst>
          </a:prstGeom>
          <a:solidFill>
            <a:srgbClr val="FFCCCC">
              <a:alpha val="25098"/>
            </a:srgbClr>
          </a:solidFill>
          <a:ln w="9525">
            <a:solidFill>
              <a:schemeClr val="tx1"/>
            </a:solidFill>
            <a:miter lim="800000"/>
            <a:headEnd/>
            <a:tailEnd type="triangle" w="med" len="med"/>
          </a:ln>
        </p:spPr>
        <p:txBody>
          <a:bodyPr lIns="73025" tIns="36512" rIns="73025" bIns="36512">
            <a:prstTxWarp prst="textNoShape">
              <a:avLst/>
            </a:prstTxWarp>
          </a:bodyPr>
          <a:lstStyle/>
          <a:p>
            <a:pPr eaLnBrk="1" hangingPunct="1">
              <a:lnSpc>
                <a:spcPct val="100000"/>
              </a:lnSpc>
            </a:pPr>
            <a:endParaRPr lang="en-US" sz="1200" i="1"/>
          </a:p>
        </p:txBody>
      </p:sp>
      <p:sp>
        <p:nvSpPr>
          <p:cNvPr id="77827" name="AutoShape 3"/>
          <p:cNvSpPr>
            <a:spLocks/>
          </p:cNvSpPr>
          <p:nvPr/>
        </p:nvSpPr>
        <p:spPr bwMode="auto">
          <a:xfrm>
            <a:off x="4549776" y="1458914"/>
            <a:ext cx="3389313" cy="619125"/>
          </a:xfrm>
          <a:prstGeom prst="borderCallout2">
            <a:avLst>
              <a:gd name="adj1" fmla="val 18463"/>
              <a:gd name="adj2" fmla="val 102250"/>
              <a:gd name="adj3" fmla="val 18463"/>
              <a:gd name="adj4" fmla="val 104588"/>
              <a:gd name="adj5" fmla="val 219231"/>
              <a:gd name="adj6" fmla="val 106931"/>
            </a:avLst>
          </a:prstGeom>
          <a:solidFill>
            <a:schemeClr val="hlink">
              <a:alpha val="25098"/>
            </a:schemeClr>
          </a:solidFill>
          <a:ln w="9525">
            <a:solidFill>
              <a:schemeClr val="tx1"/>
            </a:solidFill>
            <a:miter lim="800000"/>
            <a:headEnd/>
            <a:tailEnd type="triangle" w="med" len="med"/>
          </a:ln>
        </p:spPr>
        <p:txBody>
          <a:bodyPr lIns="73025" tIns="36512" rIns="73025" bIns="36512">
            <a:prstTxWarp prst="textNoShape">
              <a:avLst/>
            </a:prstTxWarp>
          </a:bodyPr>
          <a:lstStyle/>
          <a:p>
            <a:pPr eaLnBrk="1" hangingPunct="1">
              <a:lnSpc>
                <a:spcPct val="100000"/>
              </a:lnSpc>
            </a:pPr>
            <a:r>
              <a:rPr lang="en-US" sz="1200" b="1" i="1"/>
              <a:t>Extended Inspection:  NBAR looks for an HTTP-specific signature in ports beyond </a:t>
            </a:r>
            <a:br>
              <a:rPr lang="en-US" sz="1200" b="1" i="1"/>
            </a:br>
            <a:r>
              <a:rPr lang="en-US" sz="1200" b="1" i="1"/>
              <a:t>well-known TCP port 80</a:t>
            </a:r>
          </a:p>
        </p:txBody>
      </p:sp>
      <p:sp>
        <p:nvSpPr>
          <p:cNvPr id="77828" name="Rectangle 4"/>
          <p:cNvSpPr>
            <a:spLocks noGrp="1" noChangeArrowheads="1"/>
          </p:cNvSpPr>
          <p:nvPr>
            <p:ph type="title"/>
          </p:nvPr>
        </p:nvSpPr>
        <p:spPr/>
        <p:txBody>
          <a:bodyPr/>
          <a:lstStyle/>
          <a:p>
            <a:pPr eaLnBrk="1" hangingPunct="1"/>
            <a:r>
              <a:rPr lang="en-US">
                <a:solidFill>
                  <a:srgbClr val="FF3399"/>
                </a:solidFill>
              </a:rPr>
              <a:t>NBAR Example: HTTP Classification</a:t>
            </a:r>
          </a:p>
        </p:txBody>
      </p:sp>
      <p:sp>
        <p:nvSpPr>
          <p:cNvPr id="90117" name="Rectangle 5"/>
          <p:cNvSpPr>
            <a:spLocks noGrp="1" noChangeArrowheads="1"/>
          </p:cNvSpPr>
          <p:nvPr>
            <p:ph idx="1"/>
          </p:nvPr>
        </p:nvSpPr>
        <p:spPr>
          <a:xfrm>
            <a:off x="1919288" y="4508500"/>
            <a:ext cx="8221662" cy="1149350"/>
          </a:xfrm>
          <a:solidFill>
            <a:srgbClr val="FF3399"/>
          </a:solidFill>
          <a:effectLst>
            <a:outerShdw dist="107763" dir="2700000" algn="ctr" rotWithShape="0">
              <a:schemeClr val="bg2">
                <a:alpha val="50000"/>
              </a:schemeClr>
            </a:outerShdw>
          </a:effectLst>
        </p:spPr>
        <p:txBody>
          <a:bodyPr/>
          <a:lstStyle/>
          <a:p>
            <a:pPr marL="228600" indent="-228600" defTabSz="915988">
              <a:lnSpc>
                <a:spcPct val="85000"/>
              </a:lnSpc>
              <a:buFont typeface="Wingdings" pitchFamily="2" charset="2"/>
              <a:buChar char="§"/>
              <a:tabLst>
                <a:tab pos="1371600" algn="l"/>
              </a:tabLst>
              <a:defRPr/>
            </a:pPr>
            <a:r>
              <a:rPr lang="en-US" sz="1300" b="1">
                <a:solidFill>
                  <a:schemeClr val="bg1"/>
                </a:solidFill>
                <a:latin typeface="Courier New" pitchFamily="49" charset="0"/>
              </a:rPr>
              <a:t>router(config-cmap)#match protocol http ?</a:t>
            </a:r>
          </a:p>
          <a:p>
            <a:pPr marL="685800" lvl="1" indent="-228600" defTabSz="915988">
              <a:lnSpc>
                <a:spcPct val="85000"/>
              </a:lnSpc>
              <a:tabLst>
                <a:tab pos="1371600" algn="l"/>
              </a:tabLst>
              <a:defRPr/>
            </a:pPr>
            <a:r>
              <a:rPr lang="en-US" sz="1300" b="1">
                <a:solidFill>
                  <a:schemeClr val="bg1"/>
                </a:solidFill>
                <a:latin typeface="Courier New" pitchFamily="49" charset="0"/>
              </a:rPr>
              <a:t>  host  		</a:t>
            </a:r>
            <a:r>
              <a:rPr lang="en-US" sz="1300" b="1" i="1">
                <a:solidFill>
                  <a:schemeClr val="bg1"/>
                </a:solidFill>
                <a:latin typeface="Courier New" pitchFamily="49" charset="0"/>
              </a:rPr>
              <a:t>host-name-string</a:t>
            </a:r>
            <a:r>
              <a:rPr lang="en-US" sz="1300" b="1">
                <a:solidFill>
                  <a:schemeClr val="bg1"/>
                </a:solidFill>
                <a:latin typeface="Courier New" pitchFamily="49" charset="0"/>
              </a:rPr>
              <a:t> 	-- Match Host Name</a:t>
            </a:r>
          </a:p>
          <a:p>
            <a:pPr marL="685800" lvl="1" indent="-228600" defTabSz="915988">
              <a:lnSpc>
                <a:spcPct val="85000"/>
              </a:lnSpc>
              <a:tabLst>
                <a:tab pos="1371600" algn="l"/>
              </a:tabLst>
              <a:defRPr/>
            </a:pPr>
            <a:r>
              <a:rPr lang="en-US" sz="1300" b="1">
                <a:solidFill>
                  <a:schemeClr val="bg1"/>
                </a:solidFill>
                <a:latin typeface="Courier New" pitchFamily="49" charset="0"/>
              </a:rPr>
              <a:t>  url  		</a:t>
            </a:r>
            <a:r>
              <a:rPr lang="en-US" sz="1300" b="1" i="1">
                <a:solidFill>
                  <a:schemeClr val="bg1"/>
                </a:solidFill>
                <a:latin typeface="Courier New" pitchFamily="49" charset="0"/>
              </a:rPr>
              <a:t>url-string 		</a:t>
            </a:r>
            <a:r>
              <a:rPr lang="en-US" sz="1300" b="1">
                <a:solidFill>
                  <a:schemeClr val="bg1"/>
                </a:solidFill>
                <a:latin typeface="Courier New" pitchFamily="49" charset="0"/>
              </a:rPr>
              <a:t>-- Match URL String</a:t>
            </a:r>
          </a:p>
          <a:p>
            <a:pPr marL="685800" lvl="1" indent="-228600" defTabSz="915988">
              <a:lnSpc>
                <a:spcPct val="85000"/>
              </a:lnSpc>
              <a:tabLst>
                <a:tab pos="1371600" algn="l"/>
              </a:tabLst>
              <a:defRPr/>
            </a:pPr>
            <a:r>
              <a:rPr lang="en-US" sz="1300" b="1">
                <a:solidFill>
                  <a:schemeClr val="bg1"/>
                </a:solidFill>
                <a:latin typeface="Courier New" pitchFamily="49" charset="0"/>
              </a:rPr>
              <a:t>  mime  		</a:t>
            </a:r>
            <a:r>
              <a:rPr lang="en-US" sz="1300" b="1" i="1">
                <a:solidFill>
                  <a:schemeClr val="bg1"/>
                </a:solidFill>
                <a:latin typeface="Courier New" pitchFamily="49" charset="0"/>
              </a:rPr>
              <a:t>MIME-type</a:t>
            </a:r>
            <a:r>
              <a:rPr lang="en-US" sz="1300" b="1">
                <a:solidFill>
                  <a:schemeClr val="bg1"/>
                </a:solidFill>
                <a:latin typeface="Courier New" pitchFamily="49" charset="0"/>
              </a:rPr>
              <a:t> 		-- Match MIME Type</a:t>
            </a:r>
          </a:p>
        </p:txBody>
      </p:sp>
      <p:sp>
        <p:nvSpPr>
          <p:cNvPr id="77830" name="Text Box 6"/>
          <p:cNvSpPr txBox="1">
            <a:spLocks noChangeArrowheads="1"/>
          </p:cNvSpPr>
          <p:nvPr/>
        </p:nvSpPr>
        <p:spPr bwMode="auto">
          <a:xfrm>
            <a:off x="1917700" y="4089401"/>
            <a:ext cx="1549400" cy="289181"/>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100000"/>
              </a:lnSpc>
              <a:spcBef>
                <a:spcPct val="50000"/>
              </a:spcBef>
            </a:pPr>
            <a:r>
              <a:rPr lang="en-US" sz="1400" b="1"/>
              <a:t>HTTP Clients</a:t>
            </a:r>
          </a:p>
        </p:txBody>
      </p:sp>
      <p:sp>
        <p:nvSpPr>
          <p:cNvPr id="77831" name="Text Box 7"/>
          <p:cNvSpPr txBox="1">
            <a:spLocks noChangeArrowheads="1"/>
          </p:cNvSpPr>
          <p:nvPr/>
        </p:nvSpPr>
        <p:spPr bwMode="auto">
          <a:xfrm>
            <a:off x="3517900" y="3314701"/>
            <a:ext cx="1066800" cy="289181"/>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100000"/>
              </a:lnSpc>
              <a:spcBef>
                <a:spcPct val="50000"/>
              </a:spcBef>
            </a:pPr>
            <a:r>
              <a:rPr lang="en-US" sz="1400" b="1"/>
              <a:t>Router X</a:t>
            </a:r>
          </a:p>
        </p:txBody>
      </p:sp>
      <p:sp>
        <p:nvSpPr>
          <p:cNvPr id="77832" name="Text Box 8"/>
          <p:cNvSpPr txBox="1">
            <a:spLocks noChangeArrowheads="1"/>
          </p:cNvSpPr>
          <p:nvPr/>
        </p:nvSpPr>
        <p:spPr bwMode="auto">
          <a:xfrm>
            <a:off x="7632700" y="3314701"/>
            <a:ext cx="990600" cy="289181"/>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100000"/>
              </a:lnSpc>
              <a:spcBef>
                <a:spcPct val="50000"/>
              </a:spcBef>
            </a:pPr>
            <a:r>
              <a:rPr lang="en-US" sz="1400" b="1"/>
              <a:t>Router Y</a:t>
            </a:r>
          </a:p>
        </p:txBody>
      </p:sp>
      <p:sp>
        <p:nvSpPr>
          <p:cNvPr id="77833" name="Text Box 9"/>
          <p:cNvSpPr txBox="1">
            <a:spLocks noChangeArrowheads="1"/>
          </p:cNvSpPr>
          <p:nvPr/>
        </p:nvSpPr>
        <p:spPr bwMode="auto">
          <a:xfrm>
            <a:off x="8877300" y="3556001"/>
            <a:ext cx="1409700" cy="289181"/>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100000"/>
              </a:lnSpc>
              <a:spcBef>
                <a:spcPct val="50000"/>
              </a:spcBef>
            </a:pPr>
            <a:r>
              <a:rPr lang="en-US" sz="1400" b="1"/>
              <a:t>HTTP Server</a:t>
            </a:r>
          </a:p>
        </p:txBody>
      </p:sp>
      <p:sp>
        <p:nvSpPr>
          <p:cNvPr id="77834" name="Text Box 10"/>
          <p:cNvSpPr txBox="1">
            <a:spLocks noChangeArrowheads="1"/>
          </p:cNvSpPr>
          <p:nvPr/>
        </p:nvSpPr>
        <p:spPr bwMode="auto">
          <a:xfrm>
            <a:off x="5016500" y="3340100"/>
            <a:ext cx="2514600" cy="256864"/>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85000"/>
              </a:lnSpc>
            </a:pPr>
            <a:r>
              <a:rPr lang="en-US" sz="1400" b="1"/>
              <a:t>Responses to HTTP GET </a:t>
            </a:r>
          </a:p>
        </p:txBody>
      </p:sp>
      <p:sp>
        <p:nvSpPr>
          <p:cNvPr id="77835" name="Line 11"/>
          <p:cNvSpPr>
            <a:spLocks noChangeShapeType="1"/>
          </p:cNvSpPr>
          <p:nvPr/>
        </p:nvSpPr>
        <p:spPr bwMode="auto">
          <a:xfrm>
            <a:off x="4292600" y="2984500"/>
            <a:ext cx="3403600" cy="0"/>
          </a:xfrm>
          <a:prstGeom prst="line">
            <a:avLst/>
          </a:prstGeom>
          <a:noFill/>
          <a:ln w="28575">
            <a:solidFill>
              <a:srgbClr val="000000"/>
            </a:solidFill>
            <a:round/>
            <a:headEnd/>
            <a:tailEnd type="triangle" w="med" len="med"/>
          </a:ln>
        </p:spPr>
        <p:txBody>
          <a:bodyPr lIns="73025" tIns="36512" rIns="73025" bIns="36512">
            <a:prstTxWarp prst="textNoShape">
              <a:avLst/>
            </a:prstTxWarp>
          </a:bodyPr>
          <a:lstStyle/>
          <a:p>
            <a:endParaRPr lang="en-US"/>
          </a:p>
        </p:txBody>
      </p:sp>
      <p:sp>
        <p:nvSpPr>
          <p:cNvPr id="77836" name="Line 12"/>
          <p:cNvSpPr>
            <a:spLocks noChangeShapeType="1"/>
          </p:cNvSpPr>
          <p:nvPr/>
        </p:nvSpPr>
        <p:spPr bwMode="auto">
          <a:xfrm>
            <a:off x="4483100" y="3289300"/>
            <a:ext cx="3530600" cy="0"/>
          </a:xfrm>
          <a:prstGeom prst="line">
            <a:avLst/>
          </a:prstGeom>
          <a:noFill/>
          <a:ln w="28575">
            <a:solidFill>
              <a:srgbClr val="000000"/>
            </a:solidFill>
            <a:round/>
            <a:headEnd type="triangle" w="med" len="med"/>
            <a:tailEnd/>
          </a:ln>
        </p:spPr>
        <p:txBody>
          <a:bodyPr lIns="73025" tIns="36512" rIns="73025" bIns="36512">
            <a:prstTxWarp prst="textNoShape">
              <a:avLst/>
            </a:prstTxWarp>
          </a:bodyPr>
          <a:lstStyle/>
          <a:p>
            <a:endParaRPr lang="en-US"/>
          </a:p>
        </p:txBody>
      </p:sp>
      <p:sp>
        <p:nvSpPr>
          <p:cNvPr id="77837" name="Line 13"/>
          <p:cNvSpPr>
            <a:spLocks noChangeShapeType="1"/>
          </p:cNvSpPr>
          <p:nvPr/>
        </p:nvSpPr>
        <p:spPr bwMode="auto">
          <a:xfrm>
            <a:off x="8229600" y="3127375"/>
            <a:ext cx="1257300" cy="0"/>
          </a:xfrm>
          <a:prstGeom prst="line">
            <a:avLst/>
          </a:prstGeom>
          <a:noFill/>
          <a:ln w="28575">
            <a:solidFill>
              <a:srgbClr val="000000"/>
            </a:solidFill>
            <a:round/>
            <a:headEnd/>
            <a:tailEnd/>
          </a:ln>
        </p:spPr>
        <p:txBody>
          <a:bodyPr lIns="73025" tIns="36512" rIns="73025" bIns="36512">
            <a:prstTxWarp prst="textNoShape">
              <a:avLst/>
            </a:prstTxWarp>
          </a:bodyPr>
          <a:lstStyle/>
          <a:p>
            <a:endParaRPr lang="en-US"/>
          </a:p>
        </p:txBody>
      </p:sp>
      <p:sp>
        <p:nvSpPr>
          <p:cNvPr id="77838" name="Line 14"/>
          <p:cNvSpPr>
            <a:spLocks noChangeShapeType="1"/>
          </p:cNvSpPr>
          <p:nvPr/>
        </p:nvSpPr>
        <p:spPr bwMode="auto">
          <a:xfrm>
            <a:off x="2679700" y="2603500"/>
            <a:ext cx="1130300" cy="660400"/>
          </a:xfrm>
          <a:prstGeom prst="line">
            <a:avLst/>
          </a:prstGeom>
          <a:noFill/>
          <a:ln w="28575">
            <a:solidFill>
              <a:srgbClr val="000000"/>
            </a:solidFill>
            <a:round/>
            <a:headEnd/>
            <a:tailEnd/>
          </a:ln>
        </p:spPr>
        <p:txBody>
          <a:bodyPr lIns="73025" tIns="36512" rIns="73025" bIns="36512">
            <a:prstTxWarp prst="textNoShape">
              <a:avLst/>
            </a:prstTxWarp>
          </a:bodyPr>
          <a:lstStyle/>
          <a:p>
            <a:endParaRPr lang="en-US"/>
          </a:p>
        </p:txBody>
      </p:sp>
      <p:sp>
        <p:nvSpPr>
          <p:cNvPr id="77839" name="Line 15"/>
          <p:cNvSpPr>
            <a:spLocks noChangeShapeType="1"/>
          </p:cNvSpPr>
          <p:nvPr/>
        </p:nvSpPr>
        <p:spPr bwMode="auto">
          <a:xfrm flipV="1">
            <a:off x="2705100" y="3098800"/>
            <a:ext cx="1155700" cy="596900"/>
          </a:xfrm>
          <a:prstGeom prst="line">
            <a:avLst/>
          </a:prstGeom>
          <a:noFill/>
          <a:ln w="28575">
            <a:solidFill>
              <a:srgbClr val="000000"/>
            </a:solidFill>
            <a:round/>
            <a:headEnd/>
            <a:tailEnd/>
          </a:ln>
        </p:spPr>
        <p:txBody>
          <a:bodyPr lIns="73025" tIns="36512" rIns="73025" bIns="36512">
            <a:prstTxWarp prst="textNoShape">
              <a:avLst/>
            </a:prstTxWarp>
          </a:bodyPr>
          <a:lstStyle/>
          <a:p>
            <a:endParaRPr lang="en-US"/>
          </a:p>
        </p:txBody>
      </p:sp>
      <p:sp>
        <p:nvSpPr>
          <p:cNvPr id="77840" name="Text Box 16"/>
          <p:cNvSpPr txBox="1">
            <a:spLocks noChangeArrowheads="1"/>
          </p:cNvSpPr>
          <p:nvPr/>
        </p:nvSpPr>
        <p:spPr bwMode="auto">
          <a:xfrm>
            <a:off x="5003800" y="2730500"/>
            <a:ext cx="2514600" cy="256864"/>
          </a:xfrm>
          <a:prstGeom prst="rect">
            <a:avLst/>
          </a:prstGeom>
          <a:noFill/>
          <a:ln w="9525">
            <a:noFill/>
            <a:miter lim="800000"/>
            <a:headEnd/>
            <a:tailEnd/>
          </a:ln>
        </p:spPr>
        <p:txBody>
          <a:bodyPr lIns="73025" tIns="36512" rIns="73025" bIns="36512">
            <a:prstTxWarp prst="textNoShape">
              <a:avLst/>
            </a:prstTxWarp>
            <a:spAutoFit/>
          </a:bodyPr>
          <a:lstStyle/>
          <a:p>
            <a:pPr eaLnBrk="1" hangingPunct="1">
              <a:lnSpc>
                <a:spcPct val="85000"/>
              </a:lnSpc>
            </a:pPr>
            <a:r>
              <a:rPr lang="en-US" sz="1400" b="1"/>
              <a:t>HTTP GET Request</a:t>
            </a:r>
          </a:p>
        </p:txBody>
      </p:sp>
      <p:pic>
        <p:nvPicPr>
          <p:cNvPr id="77841" name="Picture 17"/>
          <p:cNvPicPr>
            <a:picLocks noChangeArrowheads="1"/>
          </p:cNvPicPr>
          <p:nvPr/>
        </p:nvPicPr>
        <p:blipFill>
          <a:blip r:embed="rId3"/>
          <a:srcRect/>
          <a:stretch>
            <a:fillRect/>
          </a:stretch>
        </p:blipFill>
        <p:spPr bwMode="auto">
          <a:xfrm>
            <a:off x="2389189" y="3517900"/>
            <a:ext cx="604837" cy="546100"/>
          </a:xfrm>
          <a:prstGeom prst="rect">
            <a:avLst/>
          </a:prstGeom>
          <a:noFill/>
          <a:ln w="9525">
            <a:noFill/>
            <a:miter lim="800000"/>
            <a:headEnd/>
            <a:tailEnd/>
          </a:ln>
        </p:spPr>
      </p:pic>
      <p:pic>
        <p:nvPicPr>
          <p:cNvPr id="77842" name="Picture 18"/>
          <p:cNvPicPr>
            <a:picLocks noChangeArrowheads="1"/>
          </p:cNvPicPr>
          <p:nvPr/>
        </p:nvPicPr>
        <p:blipFill>
          <a:blip r:embed="rId3"/>
          <a:srcRect/>
          <a:stretch>
            <a:fillRect/>
          </a:stretch>
        </p:blipFill>
        <p:spPr bwMode="auto">
          <a:xfrm>
            <a:off x="2389189" y="2438400"/>
            <a:ext cx="604837" cy="546100"/>
          </a:xfrm>
          <a:prstGeom prst="rect">
            <a:avLst/>
          </a:prstGeom>
          <a:noFill/>
          <a:ln w="9525">
            <a:noFill/>
            <a:miter lim="800000"/>
            <a:headEnd/>
            <a:tailEnd/>
          </a:ln>
        </p:spPr>
      </p:pic>
      <p:pic>
        <p:nvPicPr>
          <p:cNvPr id="77843" name="Picture 19"/>
          <p:cNvPicPr>
            <a:picLocks noChangeArrowheads="1"/>
          </p:cNvPicPr>
          <p:nvPr/>
        </p:nvPicPr>
        <p:blipFill>
          <a:blip r:embed="rId4"/>
          <a:srcRect/>
          <a:stretch>
            <a:fillRect/>
          </a:stretch>
        </p:blipFill>
        <p:spPr bwMode="auto">
          <a:xfrm>
            <a:off x="3683001" y="2870200"/>
            <a:ext cx="803275" cy="515938"/>
          </a:xfrm>
          <a:prstGeom prst="rect">
            <a:avLst/>
          </a:prstGeom>
          <a:noFill/>
          <a:ln w="12700">
            <a:noFill/>
            <a:miter lim="800000"/>
            <a:headEnd/>
            <a:tailEnd/>
          </a:ln>
        </p:spPr>
      </p:pic>
      <p:pic>
        <p:nvPicPr>
          <p:cNvPr id="77844" name="Picture 20"/>
          <p:cNvPicPr>
            <a:picLocks noChangeArrowheads="1"/>
          </p:cNvPicPr>
          <p:nvPr/>
        </p:nvPicPr>
        <p:blipFill>
          <a:blip r:embed="rId4"/>
          <a:srcRect/>
          <a:stretch>
            <a:fillRect/>
          </a:stretch>
        </p:blipFill>
        <p:spPr bwMode="auto">
          <a:xfrm>
            <a:off x="7708901" y="2870200"/>
            <a:ext cx="803275" cy="515938"/>
          </a:xfrm>
          <a:prstGeom prst="rect">
            <a:avLst/>
          </a:prstGeom>
          <a:noFill/>
          <a:ln w="12700">
            <a:noFill/>
            <a:miter lim="800000"/>
            <a:headEnd/>
            <a:tailEnd/>
          </a:ln>
        </p:spPr>
      </p:pic>
      <p:pic>
        <p:nvPicPr>
          <p:cNvPr id="77845" name="Picture 21"/>
          <p:cNvPicPr>
            <a:picLocks noChangeArrowheads="1"/>
          </p:cNvPicPr>
          <p:nvPr/>
        </p:nvPicPr>
        <p:blipFill>
          <a:blip r:embed="rId5"/>
          <a:srcRect/>
          <a:stretch>
            <a:fillRect/>
          </a:stretch>
        </p:blipFill>
        <p:spPr bwMode="auto">
          <a:xfrm>
            <a:off x="9336088" y="2738438"/>
            <a:ext cx="487362" cy="785812"/>
          </a:xfrm>
          <a:prstGeom prst="rect">
            <a:avLst/>
          </a:prstGeom>
          <a:noFill/>
          <a:ln w="9525">
            <a:noFill/>
            <a:miter lim="800000"/>
            <a:headEnd/>
            <a:tailEnd/>
          </a:ln>
        </p:spPr>
      </p:pic>
      <p:sp>
        <p:nvSpPr>
          <p:cNvPr id="77846" name="Text Box 22"/>
          <p:cNvSpPr txBox="1">
            <a:spLocks noChangeArrowheads="1"/>
          </p:cNvSpPr>
          <p:nvPr/>
        </p:nvSpPr>
        <p:spPr bwMode="auto">
          <a:xfrm>
            <a:off x="2224088" y="5876925"/>
            <a:ext cx="7810500" cy="720068"/>
          </a:xfrm>
          <a:prstGeom prst="rect">
            <a:avLst/>
          </a:prstGeom>
          <a:noFill/>
          <a:ln w="9525">
            <a:noFill/>
            <a:miter lim="800000"/>
            <a:headEnd/>
            <a:tailEnd/>
          </a:ln>
        </p:spPr>
        <p:txBody>
          <a:bodyPr lIns="73025" tIns="36512" rIns="73025" bIns="36512">
            <a:prstTxWarp prst="textNoShape">
              <a:avLst/>
            </a:prstTxWarp>
            <a:spAutoFit/>
          </a:bodyPr>
          <a:lstStyle/>
          <a:p>
            <a:pPr algn="l" eaLnBrk="1" hangingPunct="1">
              <a:lnSpc>
                <a:spcPct val="100000"/>
              </a:lnSpc>
            </a:pPr>
            <a:r>
              <a:rPr lang="en-US" sz="1400" b="1">
                <a:latin typeface="Courier New" pitchFamily="1" charset="0"/>
              </a:rPr>
              <a:t>Match protocol http</a:t>
            </a:r>
            <a:r>
              <a:rPr lang="en-US" sz="1400" b="1"/>
              <a:t>:  </a:t>
            </a:r>
            <a:br>
              <a:rPr lang="en-US" sz="1400" b="1"/>
            </a:br>
            <a:r>
              <a:rPr lang="en-US" sz="1400" b="1">
                <a:hlinkClick r:id="rId6"/>
              </a:rPr>
              <a:t>www.cisco.com/en/US/products/sw/iosswrel/ps5187/products_command_reference_chapter09186a008017cf0e.html#1112789</a:t>
            </a:r>
            <a:endParaRPr lang="en-US" sz="1400" b="1"/>
          </a:p>
        </p:txBody>
      </p:sp>
      <p:sp>
        <p:nvSpPr>
          <p:cNvPr id="77847" name="AutoShape 23"/>
          <p:cNvSpPr>
            <a:spLocks/>
          </p:cNvSpPr>
          <p:nvPr/>
        </p:nvSpPr>
        <p:spPr bwMode="auto">
          <a:xfrm>
            <a:off x="4667250" y="2160588"/>
            <a:ext cx="2279650" cy="398462"/>
          </a:xfrm>
          <a:prstGeom prst="borderCallout2">
            <a:avLst>
              <a:gd name="adj1" fmla="val 28685"/>
              <a:gd name="adj2" fmla="val -3343"/>
              <a:gd name="adj3" fmla="val 28685"/>
              <a:gd name="adj4" fmla="val -5153"/>
              <a:gd name="adj5" fmla="val 195218"/>
              <a:gd name="adj6" fmla="val -6338"/>
            </a:avLst>
          </a:prstGeom>
          <a:solidFill>
            <a:srgbClr val="CCFFFF">
              <a:alpha val="25098"/>
            </a:srgbClr>
          </a:solidFill>
          <a:ln w="9525">
            <a:solidFill>
              <a:schemeClr val="tx1"/>
            </a:solidFill>
            <a:miter lim="800000"/>
            <a:headEnd/>
            <a:tailEnd type="triangle" w="med" len="med"/>
          </a:ln>
        </p:spPr>
        <p:txBody>
          <a:bodyPr lIns="73025" tIns="36512" rIns="73025" bIns="36512">
            <a:prstTxWarp prst="textNoShape">
              <a:avLst/>
            </a:prstTxWarp>
          </a:bodyPr>
          <a:lstStyle/>
          <a:p>
            <a:pPr eaLnBrk="1" hangingPunct="1">
              <a:lnSpc>
                <a:spcPct val="100000"/>
              </a:lnSpc>
            </a:pPr>
            <a:r>
              <a:rPr lang="en-US" sz="1200" b="1" i="1"/>
              <a:t>HTTP GET request contains Host/URL string</a:t>
            </a:r>
          </a:p>
        </p:txBody>
      </p:sp>
      <p:sp>
        <p:nvSpPr>
          <p:cNvPr id="77848" name="AutoShape 24"/>
          <p:cNvSpPr>
            <a:spLocks/>
          </p:cNvSpPr>
          <p:nvPr/>
        </p:nvSpPr>
        <p:spPr bwMode="auto">
          <a:xfrm>
            <a:off x="4414838" y="3797301"/>
            <a:ext cx="3033712" cy="398463"/>
          </a:xfrm>
          <a:prstGeom prst="borderCallout2">
            <a:avLst>
              <a:gd name="adj1" fmla="val 28685"/>
              <a:gd name="adj2" fmla="val 102514"/>
              <a:gd name="adj3" fmla="val 28685"/>
              <a:gd name="adj4" fmla="val 104551"/>
              <a:gd name="adj5" fmla="val -117931"/>
              <a:gd name="adj6" fmla="val 106593"/>
            </a:avLst>
          </a:prstGeom>
          <a:solidFill>
            <a:srgbClr val="CCFFFF">
              <a:alpha val="25098"/>
            </a:srgbClr>
          </a:solidFill>
          <a:ln w="9525">
            <a:solidFill>
              <a:schemeClr val="tx1"/>
            </a:solidFill>
            <a:miter lim="800000"/>
            <a:headEnd/>
            <a:tailEnd type="triangle" w="med" len="med"/>
          </a:ln>
        </p:spPr>
        <p:txBody>
          <a:bodyPr lIns="73025" tIns="36512" rIns="73025" bIns="36512">
            <a:prstTxWarp prst="textNoShape">
              <a:avLst/>
            </a:prstTxWarp>
          </a:bodyPr>
          <a:lstStyle/>
          <a:p>
            <a:pPr eaLnBrk="1" hangingPunct="1">
              <a:lnSpc>
                <a:spcPct val="100000"/>
              </a:lnSpc>
            </a:pPr>
            <a:r>
              <a:rPr lang="en-US" sz="1200" b="1" i="1"/>
              <a:t> HTTP responses may be further classified by MIME-type</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p:cNvSpPr>
          <p:nvPr/>
        </p:nvSpPr>
        <p:spPr bwMode="auto">
          <a:xfrm>
            <a:off x="1992314" y="1916114"/>
            <a:ext cx="8135937" cy="1728787"/>
          </a:xfrm>
          <a:prstGeom prst="rect">
            <a:avLst/>
          </a:prstGeom>
          <a:noFill/>
          <a:ln w="9525">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79875" name="Rectangle 3"/>
          <p:cNvSpPr>
            <a:spLocks noGrp="1" noChangeArrowheads="1"/>
          </p:cNvSpPr>
          <p:nvPr>
            <p:ph type="title"/>
          </p:nvPr>
        </p:nvSpPr>
        <p:spPr/>
        <p:txBody>
          <a:bodyPr/>
          <a:lstStyle/>
          <a:p>
            <a:pPr eaLnBrk="1" hangingPunct="1"/>
            <a:r>
              <a:rPr lang="en-US">
                <a:solidFill>
                  <a:srgbClr val="FF3399"/>
                </a:solidFill>
              </a:rPr>
              <a:t>Common Classification</a:t>
            </a:r>
          </a:p>
        </p:txBody>
      </p:sp>
      <p:sp>
        <p:nvSpPr>
          <p:cNvPr id="79876" name="Rectangle 4"/>
          <p:cNvSpPr>
            <a:spLocks noGrp="1" noChangeArrowheads="1"/>
          </p:cNvSpPr>
          <p:nvPr>
            <p:ph idx="1"/>
          </p:nvPr>
        </p:nvSpPr>
        <p:spPr>
          <a:xfrm>
            <a:off x="2063750" y="1341438"/>
            <a:ext cx="8224838" cy="5040312"/>
          </a:xfrm>
        </p:spPr>
        <p:txBody>
          <a:bodyPr>
            <a:normAutofit fontScale="92500" lnSpcReduction="20000"/>
          </a:bodyPr>
          <a:lstStyle/>
          <a:p>
            <a:pPr>
              <a:lnSpc>
                <a:spcPct val="80000"/>
              </a:lnSpc>
              <a:spcBef>
                <a:spcPct val="40000"/>
              </a:spcBef>
            </a:pPr>
            <a:r>
              <a:rPr lang="en-US"/>
              <a:t>Since</a:t>
            </a:r>
            <a:r>
              <a:rPr lang="en-US">
                <a:solidFill>
                  <a:schemeClr val="folHlink"/>
                </a:solidFill>
              </a:rPr>
              <a:t> </a:t>
            </a:r>
            <a:r>
              <a:rPr lang="en-US">
                <a:solidFill>
                  <a:srgbClr val="FF3399"/>
                </a:solidFill>
              </a:rPr>
              <a:t>12.1</a:t>
            </a:r>
            <a:r>
              <a:rPr lang="en-US">
                <a:solidFill>
                  <a:srgbClr val="FF3399"/>
                </a:solidFill>
                <a:sym typeface="Wingdings" pitchFamily="1" charset="2"/>
              </a:rPr>
              <a:t>(2)T,</a:t>
            </a:r>
            <a:r>
              <a:rPr lang="en-US">
                <a:sym typeface="Wingdings" pitchFamily="1" charset="2"/>
              </a:rPr>
              <a:t> classification of packets is done at the same place for all features (twice: input and output).</a:t>
            </a:r>
            <a:endParaRPr lang="en-US"/>
          </a:p>
          <a:p>
            <a:pPr>
              <a:lnSpc>
                <a:spcPct val="80000"/>
              </a:lnSpc>
              <a:spcBef>
                <a:spcPct val="40000"/>
              </a:spcBef>
            </a:pPr>
            <a:endParaRPr lang="en-US"/>
          </a:p>
          <a:p>
            <a:pPr>
              <a:lnSpc>
                <a:spcPct val="80000"/>
              </a:lnSpc>
              <a:spcBef>
                <a:spcPct val="40000"/>
              </a:spcBef>
            </a:pPr>
            <a:r>
              <a:rPr lang="en-US"/>
              <a:t>Advantages:</a:t>
            </a:r>
          </a:p>
          <a:p>
            <a:pPr lvl="1" indent="0">
              <a:lnSpc>
                <a:spcPct val="80000"/>
              </a:lnSpc>
              <a:spcBef>
                <a:spcPct val="40000"/>
              </a:spcBef>
            </a:pPr>
            <a:r>
              <a:rPr lang="en-US">
                <a:solidFill>
                  <a:srgbClr val="FF3399"/>
                </a:solidFill>
              </a:rPr>
              <a:t>Classification</a:t>
            </a:r>
            <a:r>
              <a:rPr lang="en-US"/>
              <a:t> policy-map counters incremented all the time, even without congestion</a:t>
            </a:r>
          </a:p>
          <a:p>
            <a:pPr lvl="1" indent="0">
              <a:lnSpc>
                <a:spcPct val="85000"/>
              </a:lnSpc>
              <a:spcBef>
                <a:spcPct val="40000"/>
              </a:spcBef>
            </a:pPr>
            <a:endParaRPr lang="en-US"/>
          </a:p>
          <a:p>
            <a:pPr lvl="1" indent="0">
              <a:lnSpc>
                <a:spcPct val="85000"/>
              </a:lnSpc>
              <a:spcBef>
                <a:spcPct val="40000"/>
              </a:spcBef>
            </a:pPr>
            <a:endParaRPr lang="en-US"/>
          </a:p>
          <a:p>
            <a:pPr lvl="1" indent="0">
              <a:lnSpc>
                <a:spcPct val="85000"/>
              </a:lnSpc>
              <a:spcBef>
                <a:spcPct val="40000"/>
              </a:spcBef>
            </a:pPr>
            <a:endParaRPr lang="en-US"/>
          </a:p>
          <a:p>
            <a:pPr lvl="1" indent="0">
              <a:lnSpc>
                <a:spcPct val="85000"/>
              </a:lnSpc>
              <a:spcBef>
                <a:spcPct val="40000"/>
              </a:spcBef>
            </a:pPr>
            <a:endParaRPr lang="en-US"/>
          </a:p>
          <a:p>
            <a:pPr lvl="1" indent="0">
              <a:lnSpc>
                <a:spcPct val="85000"/>
              </a:lnSpc>
              <a:spcBef>
                <a:spcPct val="40000"/>
              </a:spcBef>
            </a:pPr>
            <a:endParaRPr lang="en-US"/>
          </a:p>
          <a:p>
            <a:pPr lvl="1" indent="0">
              <a:lnSpc>
                <a:spcPct val="85000"/>
              </a:lnSpc>
              <a:spcBef>
                <a:spcPct val="40000"/>
              </a:spcBef>
            </a:pPr>
            <a:r>
              <a:rPr lang="en-US"/>
              <a:t>Reduces CPU impact of ACLs by checking once per class, not once per feature. </a:t>
            </a:r>
          </a:p>
          <a:p>
            <a:pPr lvl="1" indent="0">
              <a:lnSpc>
                <a:spcPct val="85000"/>
              </a:lnSpc>
              <a:spcBef>
                <a:spcPct val="40000"/>
              </a:spcBef>
            </a:pPr>
            <a:r>
              <a:rPr lang="en-US"/>
              <a:t>Allows for faster lookup of packet headers since the values are cached. </a:t>
            </a:r>
          </a:p>
        </p:txBody>
      </p:sp>
      <p:sp>
        <p:nvSpPr>
          <p:cNvPr id="79877" name="Text Box 5"/>
          <p:cNvSpPr txBox="1">
            <a:spLocks noChangeArrowheads="1"/>
          </p:cNvSpPr>
          <p:nvPr/>
        </p:nvSpPr>
        <p:spPr bwMode="auto">
          <a:xfrm>
            <a:off x="2405064" y="3738563"/>
            <a:ext cx="7578725" cy="1346200"/>
          </a:xfrm>
          <a:prstGeom prst="rect">
            <a:avLst/>
          </a:prstGeom>
          <a:solidFill>
            <a:schemeClr val="hlink"/>
          </a:solidFill>
          <a:ln w="25400">
            <a:solidFill>
              <a:schemeClr val="tx1"/>
            </a:solidFill>
            <a:miter lim="800000"/>
            <a:headEnd/>
            <a:tailEnd/>
          </a:ln>
        </p:spPr>
        <p:txBody>
          <a:bodyPr lIns="82124" tIns="41061" rIns="82124" bIns="41061">
            <a:prstTxWarp prst="textNoShape">
              <a:avLst/>
            </a:prstTxWarp>
            <a:spAutoFit/>
          </a:bodyPr>
          <a:lstStyle/>
          <a:p>
            <a:pPr algn="l" defTabSz="814388"/>
            <a:r>
              <a:rPr lang="en-US" sz="1800">
                <a:latin typeface="Courier New" pitchFamily="1" charset="0"/>
              </a:rPr>
              <a:t> </a:t>
            </a:r>
            <a:r>
              <a:rPr lang="en-US" sz="1800" b="1">
                <a:latin typeface="Courier New" pitchFamily="1" charset="0"/>
              </a:rPr>
              <a:t>Class-map: one (match-all)</a:t>
            </a:r>
          </a:p>
          <a:p>
            <a:pPr algn="l" defTabSz="814388"/>
            <a:r>
              <a:rPr lang="en-US" sz="1800" b="1">
                <a:latin typeface="Courier New" pitchFamily="1" charset="0"/>
              </a:rPr>
              <a:t>    </a:t>
            </a:r>
            <a:r>
              <a:rPr lang="en-US" sz="1800" b="1">
                <a:solidFill>
                  <a:srgbClr val="FF3399"/>
                </a:solidFill>
                <a:latin typeface="Courier New" pitchFamily="1" charset="0"/>
              </a:rPr>
              <a:t>5715</a:t>
            </a:r>
            <a:r>
              <a:rPr lang="en-US" sz="1800" b="1">
                <a:latin typeface="Courier New" pitchFamily="1" charset="0"/>
              </a:rPr>
              <a:t> packets, </a:t>
            </a:r>
            <a:r>
              <a:rPr lang="en-US" sz="1800" b="1">
                <a:solidFill>
                  <a:srgbClr val="FF3399"/>
                </a:solidFill>
                <a:latin typeface="Courier New" pitchFamily="1" charset="0"/>
              </a:rPr>
              <a:t>107435</a:t>
            </a:r>
            <a:r>
              <a:rPr lang="en-US" sz="1800" b="1">
                <a:latin typeface="Courier New" pitchFamily="1" charset="0"/>
              </a:rPr>
              <a:t> bytes</a:t>
            </a:r>
          </a:p>
          <a:p>
            <a:pPr algn="l" defTabSz="814388"/>
            <a:r>
              <a:rPr lang="en-US" sz="1800" b="1">
                <a:latin typeface="Courier New" pitchFamily="1" charset="0"/>
              </a:rPr>
              <a:t>    5 minute offered rate </a:t>
            </a:r>
            <a:r>
              <a:rPr lang="en-US" sz="1800" b="1">
                <a:solidFill>
                  <a:srgbClr val="FF3399"/>
                </a:solidFill>
                <a:latin typeface="Courier New" pitchFamily="1" charset="0"/>
              </a:rPr>
              <a:t>140</a:t>
            </a:r>
            <a:r>
              <a:rPr lang="en-US" sz="1800" b="1">
                <a:latin typeface="Courier New" pitchFamily="1" charset="0"/>
              </a:rPr>
              <a:t> bps, drop rate </a:t>
            </a:r>
            <a:r>
              <a:rPr lang="en-US" sz="1800" b="1">
                <a:solidFill>
                  <a:srgbClr val="FF3399"/>
                </a:solidFill>
                <a:latin typeface="Courier New" pitchFamily="1" charset="0"/>
              </a:rPr>
              <a:t>0</a:t>
            </a:r>
            <a:r>
              <a:rPr lang="en-US" sz="1800" b="1">
                <a:latin typeface="Courier New" pitchFamily="1" charset="0"/>
              </a:rPr>
              <a:t> bps</a:t>
            </a:r>
          </a:p>
          <a:p>
            <a:pPr algn="l" defTabSz="814388"/>
            <a:r>
              <a:rPr lang="en-US" sz="1800" b="1">
                <a:latin typeface="Courier New" pitchFamily="1" charset="0"/>
              </a:rPr>
              <a:t>    Match: ip precedence 5</a:t>
            </a:r>
          </a:p>
          <a:p>
            <a:pPr algn="l" defTabSz="814388"/>
            <a:r>
              <a:rPr lang="en-US" sz="1800" b="1">
                <a:latin typeface="Courier New" pitchFamily="1" charset="0"/>
              </a:rPr>
              <a:t>    Match:  dscp default (0)</a:t>
            </a:r>
          </a:p>
        </p:txBody>
      </p:sp>
      <p:sp>
        <p:nvSpPr>
          <p:cNvPr id="79878" name="Line 6"/>
          <p:cNvSpPr>
            <a:spLocks noChangeShapeType="1"/>
          </p:cNvSpPr>
          <p:nvPr/>
        </p:nvSpPr>
        <p:spPr bwMode="auto">
          <a:xfrm flipH="1">
            <a:off x="3359151" y="3429001"/>
            <a:ext cx="504825" cy="504825"/>
          </a:xfrm>
          <a:prstGeom prst="line">
            <a:avLst/>
          </a:prstGeom>
          <a:noFill/>
          <a:ln w="28575">
            <a:solidFill>
              <a:srgbClr val="FF3399"/>
            </a:solidFill>
            <a:round/>
            <a:headEnd/>
            <a:tailEnd type="stealth" w="lg" len="lg"/>
          </a:ln>
        </p:spPr>
        <p:txBody>
          <a:bodyPr lIns="82124" tIns="41061" rIns="82124" bIns="41061" anchor="ctr">
            <a:prstTxWarp prst="textNoShape">
              <a:avLst/>
            </a:prstTxWarp>
            <a:spAutoFit/>
          </a:bodyPr>
          <a:lstStyle/>
          <a:p>
            <a:endParaRPr lang="en-US"/>
          </a:p>
        </p:txBody>
      </p:sp>
      <p:sp>
        <p:nvSpPr>
          <p:cNvPr id="79879" name="Line 7"/>
          <p:cNvSpPr>
            <a:spLocks noChangeShapeType="1"/>
          </p:cNvSpPr>
          <p:nvPr/>
        </p:nvSpPr>
        <p:spPr bwMode="auto">
          <a:xfrm>
            <a:off x="3863976" y="3429000"/>
            <a:ext cx="2303463" cy="863600"/>
          </a:xfrm>
          <a:prstGeom prst="line">
            <a:avLst/>
          </a:prstGeom>
          <a:noFill/>
          <a:ln w="28575">
            <a:solidFill>
              <a:srgbClr val="FF3399"/>
            </a:solidFill>
            <a:round/>
            <a:headEnd/>
            <a:tailEnd type="stealth" w="lg" len="lg"/>
          </a:ln>
        </p:spPr>
        <p:txBody>
          <a:bodyPr lIns="82124" tIns="41061" rIns="82124" bIns="41061" anchor="ctr">
            <a:prstTxWarp prst="textNoShape">
              <a:avLst/>
            </a:prstTxWarp>
            <a:spAutoFit/>
          </a:bodyPr>
          <a:lstStyle/>
          <a:p>
            <a:endParaRPr lang="en-US"/>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ChangeArrowheads="1"/>
          </p:cNvSpPr>
          <p:nvPr/>
        </p:nvSpPr>
        <p:spPr bwMode="auto">
          <a:xfrm>
            <a:off x="5880101" y="5013325"/>
            <a:ext cx="1223963" cy="647700"/>
          </a:xfrm>
          <a:prstGeom prst="rect">
            <a:avLst/>
          </a:prstGeom>
          <a:solidFill>
            <a:schemeClr val="folHlink"/>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1923" name="Text Box 3"/>
          <p:cNvSpPr txBox="1">
            <a:spLocks noChangeArrowheads="1"/>
          </p:cNvSpPr>
          <p:nvPr/>
        </p:nvSpPr>
        <p:spPr bwMode="auto">
          <a:xfrm>
            <a:off x="6024563" y="5157788"/>
            <a:ext cx="685800" cy="347662"/>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t>IP</a:t>
            </a:r>
          </a:p>
        </p:txBody>
      </p:sp>
      <p:sp>
        <p:nvSpPr>
          <p:cNvPr id="81924" name="Rectangle 4"/>
          <p:cNvSpPr>
            <a:spLocks noChangeArrowheads="1"/>
          </p:cNvSpPr>
          <p:nvPr/>
        </p:nvSpPr>
        <p:spPr bwMode="auto">
          <a:xfrm>
            <a:off x="5880101" y="4149725"/>
            <a:ext cx="1223963" cy="647700"/>
          </a:xfrm>
          <a:prstGeom prst="rect">
            <a:avLst/>
          </a:prstGeom>
          <a:solidFill>
            <a:schemeClr val="folHlink"/>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1925" name="Rectangle 5"/>
          <p:cNvSpPr>
            <a:spLocks noGrp="1" noChangeArrowheads="1"/>
          </p:cNvSpPr>
          <p:nvPr>
            <p:ph type="title"/>
          </p:nvPr>
        </p:nvSpPr>
        <p:spPr/>
        <p:txBody>
          <a:bodyPr/>
          <a:lstStyle/>
          <a:p>
            <a:pPr eaLnBrk="1" hangingPunct="1"/>
            <a:r>
              <a:rPr lang="en-US">
                <a:solidFill>
                  <a:srgbClr val="FF3399"/>
                </a:solidFill>
              </a:rPr>
              <a:t>Classification with Tunnels</a:t>
            </a:r>
          </a:p>
        </p:txBody>
      </p:sp>
      <p:sp>
        <p:nvSpPr>
          <p:cNvPr id="81926" name="Rectangle 6"/>
          <p:cNvSpPr>
            <a:spLocks noGrp="1" noChangeArrowheads="1"/>
          </p:cNvSpPr>
          <p:nvPr>
            <p:ph idx="1"/>
          </p:nvPr>
        </p:nvSpPr>
        <p:spPr>
          <a:xfrm>
            <a:off x="1847850" y="1916113"/>
            <a:ext cx="8375650" cy="2189162"/>
          </a:xfrm>
          <a:noFill/>
        </p:spPr>
        <p:txBody>
          <a:bodyPr/>
          <a:lstStyle/>
          <a:p>
            <a:pPr marL="571500" indent="-571500"/>
            <a:r>
              <a:rPr lang="en-US"/>
              <a:t>Since 11.3T, </a:t>
            </a:r>
            <a:r>
              <a:rPr lang="en-US">
                <a:solidFill>
                  <a:srgbClr val="FF3399"/>
                </a:solidFill>
              </a:rPr>
              <a:t>TOS Byte</a:t>
            </a:r>
            <a:r>
              <a:rPr lang="en-US"/>
              <a:t> is copied to the tunnel or GRE IP header that encapsulates the inner packet. Previously, those bits were set to </a:t>
            </a:r>
            <a:r>
              <a:rPr lang="en-US">
                <a:solidFill>
                  <a:srgbClr val="FF3399"/>
                </a:solidFill>
              </a:rPr>
              <a:t>zero</a:t>
            </a:r>
            <a:r>
              <a:rPr lang="en-US"/>
              <a:t>.</a:t>
            </a:r>
          </a:p>
        </p:txBody>
      </p:sp>
      <p:sp>
        <p:nvSpPr>
          <p:cNvPr id="81927" name="Rectangle 7"/>
          <p:cNvSpPr>
            <a:spLocks noChangeArrowheads="1"/>
          </p:cNvSpPr>
          <p:nvPr/>
        </p:nvSpPr>
        <p:spPr bwMode="auto">
          <a:xfrm>
            <a:off x="2495550" y="4149725"/>
            <a:ext cx="3384550" cy="647700"/>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1928" name="Rectangle 8"/>
          <p:cNvSpPr>
            <a:spLocks noChangeArrowheads="1"/>
          </p:cNvSpPr>
          <p:nvPr/>
        </p:nvSpPr>
        <p:spPr bwMode="auto">
          <a:xfrm>
            <a:off x="2495550" y="5013325"/>
            <a:ext cx="3384550" cy="647700"/>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93193" name="Rectangle 9"/>
          <p:cNvSpPr>
            <a:spLocks noChangeArrowheads="1"/>
          </p:cNvSpPr>
          <p:nvPr/>
        </p:nvSpPr>
        <p:spPr bwMode="auto">
          <a:xfrm>
            <a:off x="7104064" y="5013325"/>
            <a:ext cx="1296987" cy="647700"/>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1930" name="Rectangle 10"/>
          <p:cNvSpPr>
            <a:spLocks noChangeArrowheads="1"/>
          </p:cNvSpPr>
          <p:nvPr/>
        </p:nvSpPr>
        <p:spPr bwMode="auto">
          <a:xfrm>
            <a:off x="6456364" y="4149725"/>
            <a:ext cx="287337" cy="647700"/>
          </a:xfrm>
          <a:prstGeom prst="rect">
            <a:avLst/>
          </a:prstGeom>
          <a:solidFill>
            <a:schemeClr val="accent1"/>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1931" name="Rectangle 11"/>
          <p:cNvSpPr>
            <a:spLocks noChangeArrowheads="1"/>
          </p:cNvSpPr>
          <p:nvPr/>
        </p:nvSpPr>
        <p:spPr bwMode="auto">
          <a:xfrm>
            <a:off x="6456364" y="5013325"/>
            <a:ext cx="287337" cy="647700"/>
          </a:xfrm>
          <a:prstGeom prst="rect">
            <a:avLst/>
          </a:prstGeom>
          <a:solidFill>
            <a:schemeClr val="accent1"/>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1932" name="Line 12"/>
          <p:cNvSpPr>
            <a:spLocks noChangeShapeType="1"/>
          </p:cNvSpPr>
          <p:nvPr/>
        </p:nvSpPr>
        <p:spPr bwMode="auto">
          <a:xfrm>
            <a:off x="5880100" y="4149725"/>
            <a:ext cx="0" cy="647700"/>
          </a:xfrm>
          <a:prstGeom prst="line">
            <a:avLst/>
          </a:prstGeom>
          <a:noFill/>
          <a:ln w="9525">
            <a:solidFill>
              <a:schemeClr val="tx1"/>
            </a:solidFill>
            <a:round/>
            <a:headEnd/>
            <a:tailEnd/>
          </a:ln>
        </p:spPr>
        <p:txBody>
          <a:bodyPr lIns="73025" tIns="36512" rIns="73025" bIns="36512">
            <a:prstTxWarp prst="textNoShape">
              <a:avLst/>
            </a:prstTxWarp>
          </a:bodyPr>
          <a:lstStyle/>
          <a:p>
            <a:endParaRPr lang="en-US"/>
          </a:p>
        </p:txBody>
      </p:sp>
      <p:sp>
        <p:nvSpPr>
          <p:cNvPr id="81933" name="Line 13"/>
          <p:cNvSpPr>
            <a:spLocks noChangeShapeType="1"/>
          </p:cNvSpPr>
          <p:nvPr/>
        </p:nvSpPr>
        <p:spPr bwMode="auto">
          <a:xfrm>
            <a:off x="5880100" y="5013325"/>
            <a:ext cx="0" cy="647700"/>
          </a:xfrm>
          <a:prstGeom prst="line">
            <a:avLst/>
          </a:prstGeom>
          <a:noFill/>
          <a:ln w="9525">
            <a:solidFill>
              <a:schemeClr val="tx1"/>
            </a:solidFill>
            <a:round/>
            <a:headEnd/>
            <a:tailEnd/>
          </a:ln>
        </p:spPr>
        <p:txBody>
          <a:bodyPr lIns="73025" tIns="36512" rIns="73025" bIns="36512">
            <a:prstTxWarp prst="textNoShape">
              <a:avLst/>
            </a:prstTxWarp>
          </a:bodyPr>
          <a:lstStyle/>
          <a:p>
            <a:endParaRPr lang="en-US"/>
          </a:p>
        </p:txBody>
      </p:sp>
      <p:sp>
        <p:nvSpPr>
          <p:cNvPr id="81934" name="Text Box 14"/>
          <p:cNvSpPr txBox="1">
            <a:spLocks noChangeArrowheads="1"/>
          </p:cNvSpPr>
          <p:nvPr/>
        </p:nvSpPr>
        <p:spPr bwMode="auto">
          <a:xfrm>
            <a:off x="6024563" y="4292601"/>
            <a:ext cx="685800" cy="347663"/>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t>IP</a:t>
            </a:r>
          </a:p>
        </p:txBody>
      </p:sp>
      <p:sp>
        <p:nvSpPr>
          <p:cNvPr id="81935" name="Text Box 15"/>
          <p:cNvSpPr txBox="1">
            <a:spLocks noChangeArrowheads="1"/>
          </p:cNvSpPr>
          <p:nvPr/>
        </p:nvSpPr>
        <p:spPr bwMode="auto">
          <a:xfrm>
            <a:off x="2640014" y="4292601"/>
            <a:ext cx="3024187" cy="347663"/>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t>Data/TCP/…</a:t>
            </a:r>
          </a:p>
        </p:txBody>
      </p:sp>
      <p:sp>
        <p:nvSpPr>
          <p:cNvPr id="81936" name="Text Box 16"/>
          <p:cNvSpPr txBox="1">
            <a:spLocks noChangeArrowheads="1"/>
          </p:cNvSpPr>
          <p:nvPr/>
        </p:nvSpPr>
        <p:spPr bwMode="auto">
          <a:xfrm>
            <a:off x="2640014" y="5157788"/>
            <a:ext cx="3024187" cy="347662"/>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t>Data/TCP/…</a:t>
            </a:r>
          </a:p>
        </p:txBody>
      </p:sp>
      <p:sp>
        <p:nvSpPr>
          <p:cNvPr id="93201" name="Rectangle 17"/>
          <p:cNvSpPr>
            <a:spLocks noChangeArrowheads="1"/>
          </p:cNvSpPr>
          <p:nvPr/>
        </p:nvSpPr>
        <p:spPr bwMode="auto">
          <a:xfrm>
            <a:off x="7824789" y="5013325"/>
            <a:ext cx="287337" cy="647700"/>
          </a:xfrm>
          <a:prstGeom prst="rect">
            <a:avLst/>
          </a:prstGeom>
          <a:solidFill>
            <a:schemeClr val="accent1"/>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93202" name="Text Box 18"/>
          <p:cNvSpPr txBox="1">
            <a:spLocks noChangeArrowheads="1"/>
          </p:cNvSpPr>
          <p:nvPr/>
        </p:nvSpPr>
        <p:spPr bwMode="auto">
          <a:xfrm>
            <a:off x="7104063" y="5157788"/>
            <a:ext cx="685800" cy="347662"/>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t>GRE</a:t>
            </a:r>
          </a:p>
        </p:txBody>
      </p:sp>
      <p:sp>
        <p:nvSpPr>
          <p:cNvPr id="93203" name="Line 19"/>
          <p:cNvSpPr>
            <a:spLocks noChangeShapeType="1"/>
          </p:cNvSpPr>
          <p:nvPr/>
        </p:nvSpPr>
        <p:spPr bwMode="auto">
          <a:xfrm flipV="1">
            <a:off x="6600825" y="3644901"/>
            <a:ext cx="0" cy="360363"/>
          </a:xfrm>
          <a:prstGeom prst="line">
            <a:avLst/>
          </a:prstGeom>
          <a:noFill/>
          <a:ln w="28575">
            <a:solidFill>
              <a:schemeClr val="tx1"/>
            </a:solidFill>
            <a:round/>
            <a:headEnd/>
            <a:tailEnd/>
          </a:ln>
        </p:spPr>
        <p:txBody>
          <a:bodyPr lIns="73025" tIns="36512" rIns="73025" bIns="36512">
            <a:prstTxWarp prst="textNoShape">
              <a:avLst/>
            </a:prstTxWarp>
          </a:bodyPr>
          <a:lstStyle/>
          <a:p>
            <a:endParaRPr lang="en-US"/>
          </a:p>
        </p:txBody>
      </p:sp>
      <p:sp>
        <p:nvSpPr>
          <p:cNvPr id="93204" name="Line 20"/>
          <p:cNvSpPr>
            <a:spLocks noChangeShapeType="1"/>
          </p:cNvSpPr>
          <p:nvPr/>
        </p:nvSpPr>
        <p:spPr bwMode="auto">
          <a:xfrm>
            <a:off x="6600826" y="3644900"/>
            <a:ext cx="1368425" cy="0"/>
          </a:xfrm>
          <a:prstGeom prst="line">
            <a:avLst/>
          </a:prstGeom>
          <a:noFill/>
          <a:ln w="28575">
            <a:solidFill>
              <a:schemeClr val="tx1"/>
            </a:solidFill>
            <a:round/>
            <a:headEnd/>
            <a:tailEnd/>
          </a:ln>
        </p:spPr>
        <p:txBody>
          <a:bodyPr lIns="73025" tIns="36512" rIns="73025" bIns="36512">
            <a:prstTxWarp prst="textNoShape">
              <a:avLst/>
            </a:prstTxWarp>
          </a:bodyPr>
          <a:lstStyle/>
          <a:p>
            <a:endParaRPr lang="en-US"/>
          </a:p>
        </p:txBody>
      </p:sp>
      <p:sp>
        <p:nvSpPr>
          <p:cNvPr id="93205" name="Line 21"/>
          <p:cNvSpPr>
            <a:spLocks noChangeShapeType="1"/>
          </p:cNvSpPr>
          <p:nvPr/>
        </p:nvSpPr>
        <p:spPr bwMode="auto">
          <a:xfrm>
            <a:off x="7967663" y="3644900"/>
            <a:ext cx="0" cy="1296988"/>
          </a:xfrm>
          <a:prstGeom prst="line">
            <a:avLst/>
          </a:prstGeom>
          <a:noFill/>
          <a:ln w="28575">
            <a:solidFill>
              <a:schemeClr val="tx1"/>
            </a:solidFill>
            <a:round/>
            <a:headEnd/>
            <a:tailEnd type="triangle" w="lg" len="lg"/>
          </a:ln>
        </p:spPr>
        <p:txBody>
          <a:bodyPr lIns="73025" tIns="36512" rIns="73025" bIns="36512">
            <a:prstTxWarp prst="textNoShape">
              <a:avLst/>
            </a:prstTxWarp>
          </a:bodyPr>
          <a:lstStyle/>
          <a:p>
            <a:endParaRPr lang="en-US"/>
          </a:p>
        </p:txBody>
      </p:sp>
      <p:sp>
        <p:nvSpPr>
          <p:cNvPr id="81942" name="Text Box 22"/>
          <p:cNvSpPr txBox="1">
            <a:spLocks noChangeArrowheads="1"/>
          </p:cNvSpPr>
          <p:nvPr/>
        </p:nvSpPr>
        <p:spPr bwMode="auto">
          <a:xfrm>
            <a:off x="6240464" y="4254501"/>
            <a:ext cx="720725" cy="542925"/>
          </a:xfrm>
          <a:prstGeom prst="rect">
            <a:avLst/>
          </a:prstGeom>
          <a:noFill/>
          <a:ln w="9525">
            <a:noFill/>
            <a:miter lim="800000"/>
            <a:headEnd/>
            <a:tailEnd/>
          </a:ln>
        </p:spPr>
        <p:txBody>
          <a:bodyPr lIns="82124" tIns="41061" rIns="82124" bIns="41061">
            <a:prstTxWarp prst="textNoShape">
              <a:avLst/>
            </a:prstTxWarp>
            <a:spAutoFit/>
          </a:bodyPr>
          <a:lstStyle/>
          <a:p>
            <a:pPr defTabSz="814388">
              <a:lnSpc>
                <a:spcPct val="50000"/>
              </a:lnSpc>
              <a:spcBef>
                <a:spcPct val="50000"/>
              </a:spcBef>
            </a:pPr>
            <a:r>
              <a:rPr lang="en-US" sz="1200" b="1">
                <a:solidFill>
                  <a:schemeClr val="bg1"/>
                </a:solidFill>
              </a:rPr>
              <a:t>T</a:t>
            </a:r>
          </a:p>
          <a:p>
            <a:pPr defTabSz="814388">
              <a:lnSpc>
                <a:spcPct val="50000"/>
              </a:lnSpc>
              <a:spcBef>
                <a:spcPct val="50000"/>
              </a:spcBef>
            </a:pPr>
            <a:r>
              <a:rPr lang="en-US" sz="1200" b="1">
                <a:solidFill>
                  <a:schemeClr val="bg1"/>
                </a:solidFill>
              </a:rPr>
              <a:t>O</a:t>
            </a:r>
          </a:p>
          <a:p>
            <a:pPr defTabSz="814388">
              <a:lnSpc>
                <a:spcPct val="50000"/>
              </a:lnSpc>
              <a:spcBef>
                <a:spcPct val="50000"/>
              </a:spcBef>
            </a:pPr>
            <a:r>
              <a:rPr lang="en-US" sz="1200" b="1">
                <a:solidFill>
                  <a:schemeClr val="bg1"/>
                </a:solidFill>
              </a:rPr>
              <a:t>S</a:t>
            </a:r>
          </a:p>
        </p:txBody>
      </p:sp>
      <p:sp>
        <p:nvSpPr>
          <p:cNvPr id="81943" name="Text Box 23"/>
          <p:cNvSpPr txBox="1">
            <a:spLocks noChangeArrowheads="1"/>
          </p:cNvSpPr>
          <p:nvPr/>
        </p:nvSpPr>
        <p:spPr bwMode="auto">
          <a:xfrm>
            <a:off x="6240464" y="5118101"/>
            <a:ext cx="720725" cy="542925"/>
          </a:xfrm>
          <a:prstGeom prst="rect">
            <a:avLst/>
          </a:prstGeom>
          <a:noFill/>
          <a:ln w="9525">
            <a:noFill/>
            <a:miter lim="800000"/>
            <a:headEnd/>
            <a:tailEnd/>
          </a:ln>
        </p:spPr>
        <p:txBody>
          <a:bodyPr lIns="82124" tIns="41061" rIns="82124" bIns="41061">
            <a:prstTxWarp prst="textNoShape">
              <a:avLst/>
            </a:prstTxWarp>
            <a:spAutoFit/>
          </a:bodyPr>
          <a:lstStyle/>
          <a:p>
            <a:pPr defTabSz="814388">
              <a:lnSpc>
                <a:spcPct val="50000"/>
              </a:lnSpc>
              <a:spcBef>
                <a:spcPct val="50000"/>
              </a:spcBef>
            </a:pPr>
            <a:r>
              <a:rPr lang="en-US" sz="1200" b="1">
                <a:solidFill>
                  <a:schemeClr val="bg1"/>
                </a:solidFill>
              </a:rPr>
              <a:t>T</a:t>
            </a:r>
          </a:p>
          <a:p>
            <a:pPr defTabSz="814388">
              <a:lnSpc>
                <a:spcPct val="50000"/>
              </a:lnSpc>
              <a:spcBef>
                <a:spcPct val="50000"/>
              </a:spcBef>
            </a:pPr>
            <a:r>
              <a:rPr lang="en-US" sz="1200" b="1">
                <a:solidFill>
                  <a:schemeClr val="bg1"/>
                </a:solidFill>
              </a:rPr>
              <a:t>O</a:t>
            </a:r>
          </a:p>
          <a:p>
            <a:pPr defTabSz="814388">
              <a:lnSpc>
                <a:spcPct val="50000"/>
              </a:lnSpc>
              <a:spcBef>
                <a:spcPct val="50000"/>
              </a:spcBef>
            </a:pPr>
            <a:r>
              <a:rPr lang="en-US" sz="1200" b="1">
                <a:solidFill>
                  <a:schemeClr val="bg1"/>
                </a:solidFill>
              </a:rPr>
              <a:t>S</a:t>
            </a:r>
          </a:p>
        </p:txBody>
      </p:sp>
      <p:sp>
        <p:nvSpPr>
          <p:cNvPr id="81944" name="Text Box 24"/>
          <p:cNvSpPr txBox="1">
            <a:spLocks noChangeArrowheads="1"/>
          </p:cNvSpPr>
          <p:nvPr/>
        </p:nvSpPr>
        <p:spPr bwMode="auto">
          <a:xfrm>
            <a:off x="7607301" y="5118101"/>
            <a:ext cx="720725" cy="542925"/>
          </a:xfrm>
          <a:prstGeom prst="rect">
            <a:avLst/>
          </a:prstGeom>
          <a:noFill/>
          <a:ln w="9525">
            <a:noFill/>
            <a:miter lim="800000"/>
            <a:headEnd/>
            <a:tailEnd/>
          </a:ln>
        </p:spPr>
        <p:txBody>
          <a:bodyPr lIns="82124" tIns="41061" rIns="82124" bIns="41061">
            <a:prstTxWarp prst="textNoShape">
              <a:avLst/>
            </a:prstTxWarp>
            <a:spAutoFit/>
          </a:bodyPr>
          <a:lstStyle/>
          <a:p>
            <a:pPr defTabSz="814388">
              <a:lnSpc>
                <a:spcPct val="50000"/>
              </a:lnSpc>
              <a:spcBef>
                <a:spcPct val="50000"/>
              </a:spcBef>
            </a:pPr>
            <a:r>
              <a:rPr lang="en-US" sz="1200" b="1">
                <a:solidFill>
                  <a:schemeClr val="bg1"/>
                </a:solidFill>
              </a:rPr>
              <a:t>T</a:t>
            </a:r>
          </a:p>
          <a:p>
            <a:pPr defTabSz="814388">
              <a:lnSpc>
                <a:spcPct val="50000"/>
              </a:lnSpc>
              <a:spcBef>
                <a:spcPct val="50000"/>
              </a:spcBef>
            </a:pPr>
            <a:r>
              <a:rPr lang="en-US" sz="1200" b="1">
                <a:solidFill>
                  <a:schemeClr val="bg1"/>
                </a:solidFill>
              </a:rPr>
              <a:t>O</a:t>
            </a:r>
          </a:p>
          <a:p>
            <a:pPr defTabSz="814388">
              <a:lnSpc>
                <a:spcPct val="50000"/>
              </a:lnSpc>
              <a:spcBef>
                <a:spcPct val="50000"/>
              </a:spcBef>
            </a:pPr>
            <a:r>
              <a:rPr lang="en-US" sz="1200" b="1">
                <a:solidFill>
                  <a:schemeClr val="bg1"/>
                </a:solidFill>
              </a:rPr>
              <a: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3193"/>
                                        </p:tgtEl>
                                        <p:attrNameLst>
                                          <p:attrName>style.visibility</p:attrName>
                                        </p:attrNameLst>
                                      </p:cBhvr>
                                      <p:to>
                                        <p:strVal val="visible"/>
                                      </p:to>
                                    </p:set>
                                    <p:anim calcmode="lin" valueType="num">
                                      <p:cBhvr additive="base">
                                        <p:cTn id="7" dur="500" fill="hold"/>
                                        <p:tgtEl>
                                          <p:spTgt spid="93193"/>
                                        </p:tgtEl>
                                        <p:attrNameLst>
                                          <p:attrName>ppt_x</p:attrName>
                                        </p:attrNameLst>
                                      </p:cBhvr>
                                      <p:tavLst>
                                        <p:tav tm="0">
                                          <p:val>
                                            <p:strVal val="1+#ppt_w/2"/>
                                          </p:val>
                                        </p:tav>
                                        <p:tav tm="100000">
                                          <p:val>
                                            <p:strVal val="#ppt_x"/>
                                          </p:val>
                                        </p:tav>
                                      </p:tavLst>
                                    </p:anim>
                                    <p:anim calcmode="lin" valueType="num">
                                      <p:cBhvr additive="base">
                                        <p:cTn id="8" dur="500" fill="hold"/>
                                        <p:tgtEl>
                                          <p:spTgt spid="931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3202"/>
                                        </p:tgtEl>
                                        <p:attrNameLst>
                                          <p:attrName>style.visibility</p:attrName>
                                        </p:attrNameLst>
                                      </p:cBhvr>
                                      <p:to>
                                        <p:strVal val="visible"/>
                                      </p:to>
                                    </p:set>
                                    <p:anim calcmode="lin" valueType="num">
                                      <p:cBhvr additive="base">
                                        <p:cTn id="11" dur="500" fill="hold"/>
                                        <p:tgtEl>
                                          <p:spTgt spid="93202"/>
                                        </p:tgtEl>
                                        <p:attrNameLst>
                                          <p:attrName>ppt_x</p:attrName>
                                        </p:attrNameLst>
                                      </p:cBhvr>
                                      <p:tavLst>
                                        <p:tav tm="0">
                                          <p:val>
                                            <p:strVal val="1+#ppt_w/2"/>
                                          </p:val>
                                        </p:tav>
                                        <p:tav tm="100000">
                                          <p:val>
                                            <p:strVal val="#ppt_x"/>
                                          </p:val>
                                        </p:tav>
                                      </p:tavLst>
                                    </p:anim>
                                    <p:anim calcmode="lin" valueType="num">
                                      <p:cBhvr additive="base">
                                        <p:cTn id="12" dur="500" fill="hold"/>
                                        <p:tgtEl>
                                          <p:spTgt spid="9320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93201"/>
                                        </p:tgtEl>
                                        <p:attrNameLst>
                                          <p:attrName>style.visibility</p:attrName>
                                        </p:attrNameLst>
                                      </p:cBhvr>
                                      <p:to>
                                        <p:strVal val="visible"/>
                                      </p:to>
                                    </p:set>
                                    <p:anim calcmode="lin" valueType="num">
                                      <p:cBhvr additive="base">
                                        <p:cTn id="15" dur="500" fill="hold"/>
                                        <p:tgtEl>
                                          <p:spTgt spid="93201"/>
                                        </p:tgtEl>
                                        <p:attrNameLst>
                                          <p:attrName>ppt_x</p:attrName>
                                        </p:attrNameLst>
                                      </p:cBhvr>
                                      <p:tavLst>
                                        <p:tav tm="0">
                                          <p:val>
                                            <p:strVal val="1+#ppt_w/2"/>
                                          </p:val>
                                        </p:tav>
                                        <p:tav tm="100000">
                                          <p:val>
                                            <p:strVal val="#ppt_x"/>
                                          </p:val>
                                        </p:tav>
                                      </p:tavLst>
                                    </p:anim>
                                    <p:anim calcmode="lin" valueType="num">
                                      <p:cBhvr additive="base">
                                        <p:cTn id="16" dur="500" fill="hold"/>
                                        <p:tgtEl>
                                          <p:spTgt spid="93201"/>
                                        </p:tgtEl>
                                        <p:attrNameLst>
                                          <p:attrName>ppt_y</p:attrName>
                                        </p:attrNameLst>
                                      </p:cBhvr>
                                      <p:tavLst>
                                        <p:tav tm="0">
                                          <p:val>
                                            <p:strVal val="#ppt_y"/>
                                          </p:val>
                                        </p:tav>
                                        <p:tav tm="100000">
                                          <p:val>
                                            <p:strVal val="#ppt_y"/>
                                          </p:val>
                                        </p:tav>
                                      </p:tavLst>
                                    </p:anim>
                                  </p:childTnLst>
                                </p:cTn>
                              </p:par>
                              <p:par>
                                <p:cTn id="17" presetID="3" presetClass="entr" presetSubtype="10" fill="hold" grpId="0" nodeType="withEffect">
                                  <p:stCondLst>
                                    <p:cond delay="0"/>
                                  </p:stCondLst>
                                  <p:childTnLst>
                                    <p:set>
                                      <p:cBhvr>
                                        <p:cTn id="18" dur="1" fill="hold">
                                          <p:stCondLst>
                                            <p:cond delay="0"/>
                                          </p:stCondLst>
                                        </p:cTn>
                                        <p:tgtEl>
                                          <p:spTgt spid="93204"/>
                                        </p:tgtEl>
                                        <p:attrNameLst>
                                          <p:attrName>style.visibility</p:attrName>
                                        </p:attrNameLst>
                                      </p:cBhvr>
                                      <p:to>
                                        <p:strVal val="visible"/>
                                      </p:to>
                                    </p:set>
                                    <p:animEffect transition="in" filter="blinds(horizontal)">
                                      <p:cBhvr>
                                        <p:cTn id="19" dur="500"/>
                                        <p:tgtEl>
                                          <p:spTgt spid="93204"/>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93203"/>
                                        </p:tgtEl>
                                        <p:attrNameLst>
                                          <p:attrName>style.visibility</p:attrName>
                                        </p:attrNameLst>
                                      </p:cBhvr>
                                      <p:to>
                                        <p:strVal val="visible"/>
                                      </p:to>
                                    </p:set>
                                    <p:animEffect transition="in" filter="blinds(horizontal)">
                                      <p:cBhvr>
                                        <p:cTn id="22" dur="500"/>
                                        <p:tgtEl>
                                          <p:spTgt spid="9320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3205"/>
                                        </p:tgtEl>
                                        <p:attrNameLst>
                                          <p:attrName>style.visibility</p:attrName>
                                        </p:attrNameLst>
                                      </p:cBhvr>
                                      <p:to>
                                        <p:strVal val="visible"/>
                                      </p:to>
                                    </p:set>
                                    <p:animEffect transition="in" filter="blinds(horizontal)">
                                      <p:cBhvr>
                                        <p:cTn id="25" dur="500"/>
                                        <p:tgtEl>
                                          <p:spTgt spid="93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3" grpId="0" animBg="1"/>
      <p:bldP spid="93201" grpId="0" animBg="1"/>
      <p:bldP spid="93202" grpId="0"/>
      <p:bldP spid="93203" grpId="0" animBg="1"/>
      <p:bldP spid="93204" grpId="0" animBg="1"/>
      <p:bldP spid="9320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en-US">
                <a:solidFill>
                  <a:srgbClr val="FF3399"/>
                </a:solidFill>
              </a:rPr>
              <a:t>Classification with Tunnels</a:t>
            </a:r>
          </a:p>
        </p:txBody>
      </p:sp>
      <p:sp>
        <p:nvSpPr>
          <p:cNvPr id="82947" name="Rectangle 3"/>
          <p:cNvSpPr>
            <a:spLocks noGrp="1" noChangeArrowheads="1"/>
          </p:cNvSpPr>
          <p:nvPr>
            <p:ph idx="1"/>
          </p:nvPr>
        </p:nvSpPr>
        <p:spPr>
          <a:xfrm>
            <a:off x="1919289" y="1557339"/>
            <a:ext cx="8224837" cy="3311525"/>
          </a:xfrm>
        </p:spPr>
        <p:txBody>
          <a:bodyPr/>
          <a:lstStyle/>
          <a:p>
            <a:r>
              <a:rPr lang="en-US"/>
              <a:t>From 12.1(5)T (12.2(2)T on 2600 and 3600 series) introduced a new command:</a:t>
            </a:r>
          </a:p>
          <a:p>
            <a:pPr>
              <a:buFont typeface="Wingdings" pitchFamily="1" charset="2"/>
              <a:buNone/>
            </a:pPr>
            <a:r>
              <a:rPr lang="en-US">
                <a:solidFill>
                  <a:schemeClr val="folHlink"/>
                </a:solidFill>
              </a:rPr>
              <a:t>			</a:t>
            </a:r>
            <a:r>
              <a:rPr lang="en-US">
                <a:solidFill>
                  <a:srgbClr val="FF3399"/>
                </a:solidFill>
              </a:rPr>
              <a:t>qos pre-classify</a:t>
            </a:r>
          </a:p>
          <a:p>
            <a:pPr>
              <a:buFont typeface="Wingdings" pitchFamily="1" charset="2"/>
              <a:buNone/>
            </a:pPr>
            <a:endParaRPr lang="en-US">
              <a:solidFill>
                <a:schemeClr val="folHlink"/>
              </a:solidFill>
            </a:endParaRPr>
          </a:p>
          <a:p>
            <a:r>
              <a:rPr lang="en-US"/>
              <a:t>Classification can now be done based on original port numbers and based on source and destination IP addresses, even when applied on Physical:</a:t>
            </a:r>
          </a:p>
        </p:txBody>
      </p:sp>
      <p:sp>
        <p:nvSpPr>
          <p:cNvPr id="82948" name="Rectangle 4"/>
          <p:cNvSpPr>
            <a:spLocks noChangeArrowheads="1"/>
          </p:cNvSpPr>
          <p:nvPr/>
        </p:nvSpPr>
        <p:spPr bwMode="auto">
          <a:xfrm>
            <a:off x="5951538" y="5084763"/>
            <a:ext cx="1223962" cy="647700"/>
          </a:xfrm>
          <a:prstGeom prst="rect">
            <a:avLst/>
          </a:prstGeom>
          <a:solidFill>
            <a:schemeClr val="folHlink"/>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2949" name="Text Box 5"/>
          <p:cNvSpPr txBox="1">
            <a:spLocks noChangeArrowheads="1"/>
          </p:cNvSpPr>
          <p:nvPr/>
        </p:nvSpPr>
        <p:spPr bwMode="auto">
          <a:xfrm>
            <a:off x="5880100" y="5229225"/>
            <a:ext cx="1943100" cy="317500"/>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600" b="1"/>
              <a:t> Original IP</a:t>
            </a:r>
          </a:p>
        </p:txBody>
      </p:sp>
      <p:sp>
        <p:nvSpPr>
          <p:cNvPr id="82950" name="Rectangle 6"/>
          <p:cNvSpPr>
            <a:spLocks noChangeArrowheads="1"/>
          </p:cNvSpPr>
          <p:nvPr/>
        </p:nvSpPr>
        <p:spPr bwMode="auto">
          <a:xfrm>
            <a:off x="2566988" y="5084763"/>
            <a:ext cx="3384550" cy="647700"/>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2951" name="Rectangle 7"/>
          <p:cNvSpPr>
            <a:spLocks noChangeArrowheads="1"/>
          </p:cNvSpPr>
          <p:nvPr/>
        </p:nvSpPr>
        <p:spPr bwMode="auto">
          <a:xfrm>
            <a:off x="7175501" y="5084763"/>
            <a:ext cx="1008063" cy="647700"/>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2952" name="Line 8"/>
          <p:cNvSpPr>
            <a:spLocks noChangeShapeType="1"/>
          </p:cNvSpPr>
          <p:nvPr/>
        </p:nvSpPr>
        <p:spPr bwMode="auto">
          <a:xfrm>
            <a:off x="5951538" y="5084763"/>
            <a:ext cx="0" cy="647700"/>
          </a:xfrm>
          <a:prstGeom prst="line">
            <a:avLst/>
          </a:prstGeom>
          <a:noFill/>
          <a:ln w="9525">
            <a:solidFill>
              <a:schemeClr val="tx1"/>
            </a:solidFill>
            <a:round/>
            <a:headEnd/>
            <a:tailEnd/>
          </a:ln>
        </p:spPr>
        <p:txBody>
          <a:bodyPr lIns="73025" tIns="36512" rIns="73025" bIns="36512">
            <a:prstTxWarp prst="textNoShape">
              <a:avLst/>
            </a:prstTxWarp>
          </a:bodyPr>
          <a:lstStyle/>
          <a:p>
            <a:endParaRPr lang="en-US"/>
          </a:p>
        </p:txBody>
      </p:sp>
      <p:sp>
        <p:nvSpPr>
          <p:cNvPr id="82953" name="Text Box 9"/>
          <p:cNvSpPr txBox="1">
            <a:spLocks noChangeArrowheads="1"/>
          </p:cNvSpPr>
          <p:nvPr/>
        </p:nvSpPr>
        <p:spPr bwMode="auto">
          <a:xfrm>
            <a:off x="2711450" y="5229226"/>
            <a:ext cx="3024188" cy="347663"/>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solidFill>
                  <a:schemeClr val="tx2"/>
                </a:solidFill>
              </a:rPr>
              <a:t>Data/TCP/…</a:t>
            </a:r>
          </a:p>
        </p:txBody>
      </p:sp>
      <p:sp>
        <p:nvSpPr>
          <p:cNvPr id="82954" name="Text Box 10"/>
          <p:cNvSpPr txBox="1">
            <a:spLocks noChangeArrowheads="1"/>
          </p:cNvSpPr>
          <p:nvPr/>
        </p:nvSpPr>
        <p:spPr bwMode="auto">
          <a:xfrm>
            <a:off x="7246939" y="5084763"/>
            <a:ext cx="936625" cy="622300"/>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solidFill>
                  <a:schemeClr val="tx2"/>
                </a:solidFill>
              </a:rPr>
              <a:t>GRE header</a:t>
            </a:r>
          </a:p>
        </p:txBody>
      </p:sp>
      <p:sp>
        <p:nvSpPr>
          <p:cNvPr id="82955" name="Rectangle 11"/>
          <p:cNvSpPr>
            <a:spLocks noChangeArrowheads="1"/>
          </p:cNvSpPr>
          <p:nvPr/>
        </p:nvSpPr>
        <p:spPr bwMode="auto">
          <a:xfrm>
            <a:off x="8183563" y="5084763"/>
            <a:ext cx="1223962" cy="647700"/>
          </a:xfrm>
          <a:prstGeom prst="rect">
            <a:avLst/>
          </a:prstGeom>
          <a:solidFill>
            <a:schemeClr val="folHlink"/>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2956" name="Text Box 12"/>
          <p:cNvSpPr txBox="1">
            <a:spLocks noChangeArrowheads="1"/>
          </p:cNvSpPr>
          <p:nvPr/>
        </p:nvSpPr>
        <p:spPr bwMode="auto">
          <a:xfrm>
            <a:off x="8112125" y="5229225"/>
            <a:ext cx="1943100" cy="317500"/>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600" b="1"/>
              <a:t> Carrier IP</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ChangeArrowheads="1"/>
          </p:cNvSpPr>
          <p:nvPr/>
        </p:nvSpPr>
        <p:spPr bwMode="auto">
          <a:xfrm>
            <a:off x="2351089" y="1628776"/>
            <a:ext cx="5616575" cy="792163"/>
          </a:xfrm>
          <a:prstGeom prst="rect">
            <a:avLst/>
          </a:prstGeom>
          <a:solidFill>
            <a:srgbClr val="FF3399"/>
          </a:solidFill>
          <a:ln w="9525">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84995" name="Rectangle 3"/>
          <p:cNvSpPr>
            <a:spLocks noGrp="1" noChangeArrowheads="1"/>
          </p:cNvSpPr>
          <p:nvPr>
            <p:ph type="title"/>
          </p:nvPr>
        </p:nvSpPr>
        <p:spPr>
          <a:xfrm>
            <a:off x="2208213" y="333375"/>
            <a:ext cx="8145462" cy="838200"/>
          </a:xfrm>
        </p:spPr>
        <p:txBody>
          <a:bodyPr/>
          <a:lstStyle/>
          <a:p>
            <a:pPr eaLnBrk="1" hangingPunct="1"/>
            <a:r>
              <a:rPr lang="en-US">
                <a:solidFill>
                  <a:srgbClr val="FF3399"/>
                </a:solidFill>
              </a:rPr>
              <a:t>Classification with Tunnels</a:t>
            </a:r>
            <a:endParaRPr lang="en-US" b="0">
              <a:solidFill>
                <a:srgbClr val="FF3399"/>
              </a:solidFill>
            </a:endParaRPr>
          </a:p>
        </p:txBody>
      </p:sp>
      <p:sp>
        <p:nvSpPr>
          <p:cNvPr id="84996" name="Rectangle 4"/>
          <p:cNvSpPr>
            <a:spLocks noGrp="1" noChangeArrowheads="1"/>
          </p:cNvSpPr>
          <p:nvPr>
            <p:ph idx="1"/>
          </p:nvPr>
        </p:nvSpPr>
        <p:spPr>
          <a:xfrm>
            <a:off x="2063751" y="1268414"/>
            <a:ext cx="7940675" cy="5113337"/>
          </a:xfrm>
        </p:spPr>
        <p:txBody>
          <a:bodyPr>
            <a:normAutofit fontScale="92500"/>
          </a:bodyPr>
          <a:lstStyle/>
          <a:p>
            <a:pPr marL="571500" indent="-571500">
              <a:lnSpc>
                <a:spcPct val="85000"/>
              </a:lnSpc>
            </a:pPr>
            <a:endParaRPr lang="en-US">
              <a:latin typeface="Courier New" pitchFamily="1" charset="0"/>
            </a:endParaRPr>
          </a:p>
          <a:p>
            <a:pPr marL="571500" indent="-571500">
              <a:lnSpc>
                <a:spcPct val="85000"/>
              </a:lnSpc>
              <a:buNone/>
            </a:pPr>
            <a:r>
              <a:rPr lang="en-US" sz="1800">
                <a:latin typeface="Courier New" pitchFamily="1" charset="0"/>
              </a:rPr>
              <a:t>	Router(config)#interface </a:t>
            </a:r>
            <a:r>
              <a:rPr lang="en-US" sz="1800" b="1">
                <a:latin typeface="Courier New" pitchFamily="1" charset="0"/>
              </a:rPr>
              <a:t>tunnel0</a:t>
            </a:r>
          </a:p>
          <a:p>
            <a:pPr marL="571500" indent="-571500">
              <a:lnSpc>
                <a:spcPct val="85000"/>
              </a:lnSpc>
              <a:buNone/>
            </a:pPr>
            <a:r>
              <a:rPr lang="en-US" sz="1800">
                <a:latin typeface="Courier New" pitchFamily="1" charset="0"/>
              </a:rPr>
              <a:t>	Router(config-if)#</a:t>
            </a:r>
            <a:r>
              <a:rPr lang="en-US" sz="1800" b="1">
                <a:latin typeface="Courier New" pitchFamily="1" charset="0"/>
              </a:rPr>
              <a:t>qos pre-classify</a:t>
            </a:r>
          </a:p>
          <a:p>
            <a:pPr marL="571500" indent="-571500">
              <a:lnSpc>
                <a:spcPct val="85000"/>
              </a:lnSpc>
            </a:pPr>
            <a:endParaRPr lang="en-US" b="1">
              <a:solidFill>
                <a:schemeClr val="bg1"/>
              </a:solidFill>
              <a:latin typeface="Courier New" pitchFamily="1" charset="0"/>
            </a:endParaRPr>
          </a:p>
          <a:p>
            <a:pPr marL="571500" indent="-571500">
              <a:lnSpc>
                <a:spcPct val="85000"/>
              </a:lnSpc>
              <a:buNone/>
            </a:pPr>
            <a:endParaRPr lang="en-US" sz="1400"/>
          </a:p>
          <a:p>
            <a:pPr marL="571500" indent="-571500">
              <a:lnSpc>
                <a:spcPct val="85000"/>
              </a:lnSpc>
              <a:buNone/>
            </a:pPr>
            <a:r>
              <a:rPr lang="en-US"/>
              <a:t>Supported on Tunnel, Virtual-template, Crypto-map for :</a:t>
            </a:r>
            <a:endParaRPr lang="en-US">
              <a:latin typeface="Courier New" pitchFamily="1" charset="0"/>
            </a:endParaRPr>
          </a:p>
          <a:p>
            <a:pPr marL="609600" lvl="1" indent="-495300">
              <a:lnSpc>
                <a:spcPct val="85000"/>
              </a:lnSpc>
            </a:pPr>
            <a:r>
              <a:rPr lang="en-US"/>
              <a:t>		Generic Routing Encapsulation (GRE)</a:t>
            </a:r>
          </a:p>
          <a:p>
            <a:pPr marL="609600" lvl="1" indent="-495300">
              <a:lnSpc>
                <a:spcPct val="85000"/>
              </a:lnSpc>
            </a:pPr>
            <a:r>
              <a:rPr lang="en-US"/>
              <a:t>		IP in IP (IPIP) tunnels</a:t>
            </a:r>
          </a:p>
          <a:p>
            <a:pPr marL="609600" lvl="1" indent="-495300">
              <a:lnSpc>
                <a:spcPct val="85000"/>
              </a:lnSpc>
            </a:pPr>
            <a:r>
              <a:rPr lang="en-US"/>
              <a:t>		Layer 2 Tunneling Protocol (L2TP)</a:t>
            </a:r>
          </a:p>
          <a:p>
            <a:pPr marL="609600" lvl="1" indent="-495300">
              <a:lnSpc>
                <a:spcPct val="85000"/>
              </a:lnSpc>
            </a:pPr>
            <a:r>
              <a:rPr lang="en-US"/>
              <a:t>		Layer 2 Forwarding (L2F)</a:t>
            </a:r>
          </a:p>
          <a:p>
            <a:pPr marL="609600" lvl="1" indent="-495300">
              <a:lnSpc>
                <a:spcPct val="85000"/>
              </a:lnSpc>
            </a:pPr>
            <a:r>
              <a:rPr lang="en-US"/>
              <a:t>		Point to Point Tunneling Protocol (PPTP) </a:t>
            </a:r>
          </a:p>
          <a:p>
            <a:pPr marL="609600" lvl="1" indent="-495300">
              <a:lnSpc>
                <a:spcPct val="85000"/>
              </a:lnSpc>
            </a:pPr>
            <a:r>
              <a:rPr lang="en-US"/>
              <a:t>		IPSec. </a:t>
            </a:r>
          </a:p>
          <a:p>
            <a:pPr marL="571500" indent="-571500">
              <a:lnSpc>
                <a:spcPct val="85000"/>
              </a:lnSpc>
              <a:buNone/>
            </a:pPr>
            <a:r>
              <a:rPr lang="en-US" sz="1300">
                <a:hlinkClick r:id="rId2"/>
              </a:rPr>
              <a:t>http://www.cisco.com/warp/customer/105/qostunnel.html</a:t>
            </a:r>
            <a:endParaRPr lang="en-US" sz="1300"/>
          </a:p>
          <a:p>
            <a:pPr marL="571500" indent="-571500">
              <a:lnSpc>
                <a:spcPct val="85000"/>
              </a:lnSpc>
              <a:buNone/>
            </a:pPr>
            <a:r>
              <a:rPr lang="en-US" sz="1300">
                <a:hlinkClick r:id="rId3"/>
              </a:rPr>
              <a:t>http://www.cisco.com/univercd/cc/td/doc/product/software/ios122/122newft/122t/122t2/ftqosvpn.htm</a:t>
            </a:r>
            <a:endParaRPr lang="en-US" sz="130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en-US">
                <a:solidFill>
                  <a:srgbClr val="FF3399"/>
                </a:solidFill>
              </a:rPr>
              <a:t>Classification with Tunnels</a:t>
            </a:r>
          </a:p>
        </p:txBody>
      </p:sp>
      <p:sp>
        <p:nvSpPr>
          <p:cNvPr id="86019" name="Rectangle 3"/>
          <p:cNvSpPr>
            <a:spLocks noGrp="1" noChangeArrowheads="1"/>
          </p:cNvSpPr>
          <p:nvPr>
            <p:ph idx="1"/>
          </p:nvPr>
        </p:nvSpPr>
        <p:spPr>
          <a:xfrm>
            <a:off x="1992314" y="1628776"/>
            <a:ext cx="8224837" cy="1152525"/>
          </a:xfrm>
        </p:spPr>
        <p:txBody>
          <a:bodyPr/>
          <a:lstStyle/>
          <a:p>
            <a:pPr>
              <a:lnSpc>
                <a:spcPct val="75000"/>
              </a:lnSpc>
            </a:pPr>
            <a:r>
              <a:rPr lang="en-US" sz="2000"/>
              <a:t>Policy on Tunnel – No pre-classify:</a:t>
            </a:r>
          </a:p>
          <a:p>
            <a:pPr>
              <a:lnSpc>
                <a:spcPct val="75000"/>
              </a:lnSpc>
            </a:pPr>
            <a:r>
              <a:rPr lang="en-US" sz="2000"/>
              <a:t>Policy on Physical – pre-classify:</a:t>
            </a:r>
          </a:p>
          <a:p>
            <a:pPr>
              <a:lnSpc>
                <a:spcPct val="75000"/>
              </a:lnSpc>
              <a:buFont typeface="Wingdings" pitchFamily="1" charset="2"/>
              <a:buNone/>
            </a:pPr>
            <a:r>
              <a:rPr lang="en-US" sz="2000"/>
              <a:t>		 Match on the </a:t>
            </a:r>
            <a:r>
              <a:rPr lang="en-US" sz="2000">
                <a:solidFill>
                  <a:srgbClr val="FF3399"/>
                </a:solidFill>
              </a:rPr>
              <a:t>Pre-Tunnel</a:t>
            </a:r>
            <a:r>
              <a:rPr lang="en-US" sz="2000"/>
              <a:t> Header:</a:t>
            </a:r>
          </a:p>
          <a:p>
            <a:pPr>
              <a:lnSpc>
                <a:spcPct val="75000"/>
              </a:lnSpc>
            </a:pPr>
            <a:endParaRPr lang="en-US" sz="2000"/>
          </a:p>
        </p:txBody>
      </p:sp>
      <p:grpSp>
        <p:nvGrpSpPr>
          <p:cNvPr id="2" name="Group 4"/>
          <p:cNvGrpSpPr>
            <a:grpSpLocks/>
          </p:cNvGrpSpPr>
          <p:nvPr/>
        </p:nvGrpSpPr>
        <p:grpSpPr bwMode="auto">
          <a:xfrm>
            <a:off x="2566989" y="3213100"/>
            <a:ext cx="6840537" cy="647700"/>
            <a:chOff x="657" y="2024"/>
            <a:chExt cx="4309" cy="408"/>
          </a:xfrm>
        </p:grpSpPr>
        <p:sp>
          <p:nvSpPr>
            <p:cNvPr id="86034" name="Rectangle 5"/>
            <p:cNvSpPr>
              <a:spLocks noChangeArrowheads="1"/>
            </p:cNvSpPr>
            <p:nvPr/>
          </p:nvSpPr>
          <p:spPr bwMode="auto">
            <a:xfrm>
              <a:off x="2789" y="2024"/>
              <a:ext cx="771" cy="408"/>
            </a:xfrm>
            <a:prstGeom prst="rect">
              <a:avLst/>
            </a:prstGeom>
            <a:solidFill>
              <a:srgbClr val="FF3399"/>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6035" name="Text Box 6"/>
            <p:cNvSpPr txBox="1">
              <a:spLocks noChangeArrowheads="1"/>
            </p:cNvSpPr>
            <p:nvPr/>
          </p:nvSpPr>
          <p:spPr bwMode="auto">
            <a:xfrm>
              <a:off x="2744" y="2115"/>
              <a:ext cx="1224" cy="200"/>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600" b="1">
                  <a:solidFill>
                    <a:schemeClr val="bg1"/>
                  </a:solidFill>
                </a:rPr>
                <a:t> Original IP</a:t>
              </a:r>
            </a:p>
          </p:txBody>
        </p:sp>
        <p:sp>
          <p:nvSpPr>
            <p:cNvPr id="86036" name="Rectangle 7"/>
            <p:cNvSpPr>
              <a:spLocks noChangeArrowheads="1"/>
            </p:cNvSpPr>
            <p:nvPr/>
          </p:nvSpPr>
          <p:spPr bwMode="auto">
            <a:xfrm>
              <a:off x="657" y="2024"/>
              <a:ext cx="2132" cy="408"/>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6037" name="Rectangle 8"/>
            <p:cNvSpPr>
              <a:spLocks noChangeArrowheads="1"/>
            </p:cNvSpPr>
            <p:nvPr/>
          </p:nvSpPr>
          <p:spPr bwMode="auto">
            <a:xfrm>
              <a:off x="3560" y="2024"/>
              <a:ext cx="635" cy="408"/>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6038" name="Line 9"/>
            <p:cNvSpPr>
              <a:spLocks noChangeShapeType="1"/>
            </p:cNvSpPr>
            <p:nvPr/>
          </p:nvSpPr>
          <p:spPr bwMode="auto">
            <a:xfrm>
              <a:off x="2789" y="2024"/>
              <a:ext cx="0" cy="408"/>
            </a:xfrm>
            <a:prstGeom prst="line">
              <a:avLst/>
            </a:prstGeom>
            <a:noFill/>
            <a:ln w="9525">
              <a:solidFill>
                <a:schemeClr val="tx1"/>
              </a:solidFill>
              <a:round/>
              <a:headEnd/>
              <a:tailEnd/>
            </a:ln>
          </p:spPr>
          <p:txBody>
            <a:bodyPr lIns="73025" tIns="36512" rIns="73025" bIns="36512">
              <a:prstTxWarp prst="textNoShape">
                <a:avLst/>
              </a:prstTxWarp>
            </a:bodyPr>
            <a:lstStyle/>
            <a:p>
              <a:endParaRPr lang="en-US"/>
            </a:p>
          </p:txBody>
        </p:sp>
        <p:sp>
          <p:nvSpPr>
            <p:cNvPr id="86039" name="Text Box 10"/>
            <p:cNvSpPr txBox="1">
              <a:spLocks noChangeArrowheads="1"/>
            </p:cNvSpPr>
            <p:nvPr/>
          </p:nvSpPr>
          <p:spPr bwMode="auto">
            <a:xfrm>
              <a:off x="748" y="2115"/>
              <a:ext cx="1905" cy="219"/>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t>Data/TCP/…</a:t>
              </a:r>
            </a:p>
          </p:txBody>
        </p:sp>
        <p:sp>
          <p:nvSpPr>
            <p:cNvPr id="86040" name="Text Box 11"/>
            <p:cNvSpPr txBox="1">
              <a:spLocks noChangeArrowheads="1"/>
            </p:cNvSpPr>
            <p:nvPr/>
          </p:nvSpPr>
          <p:spPr bwMode="auto">
            <a:xfrm>
              <a:off x="3605" y="2024"/>
              <a:ext cx="590" cy="392"/>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t>GRE header</a:t>
              </a:r>
            </a:p>
          </p:txBody>
        </p:sp>
        <p:sp>
          <p:nvSpPr>
            <p:cNvPr id="86041" name="Rectangle 12"/>
            <p:cNvSpPr>
              <a:spLocks noChangeArrowheads="1"/>
            </p:cNvSpPr>
            <p:nvPr/>
          </p:nvSpPr>
          <p:spPr bwMode="auto">
            <a:xfrm>
              <a:off x="4195" y="2024"/>
              <a:ext cx="771" cy="408"/>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grpSp>
      <p:sp>
        <p:nvSpPr>
          <p:cNvPr id="86021" name="Rectangle 13"/>
          <p:cNvSpPr>
            <a:spLocks noChangeArrowheads="1"/>
          </p:cNvSpPr>
          <p:nvPr/>
        </p:nvSpPr>
        <p:spPr bwMode="auto">
          <a:xfrm>
            <a:off x="2063751" y="4005264"/>
            <a:ext cx="6640513" cy="1152525"/>
          </a:xfrm>
          <a:prstGeom prst="rect">
            <a:avLst/>
          </a:prstGeom>
          <a:noFill/>
          <a:ln w="9525">
            <a:noFill/>
            <a:miter lim="800000"/>
            <a:headEnd/>
            <a:tailEnd/>
          </a:ln>
        </p:spPr>
        <p:txBody>
          <a:bodyPr lIns="82124" tIns="41061" rIns="82124" bIns="41061" anchor="ctr">
            <a:prstTxWarp prst="textNoShape">
              <a:avLst/>
            </a:prstTxWarp>
          </a:bodyPr>
          <a:lstStyle/>
          <a:p>
            <a:pPr marL="236538" indent="-236538" algn="l" defTabSz="814388">
              <a:lnSpc>
                <a:spcPct val="75000"/>
              </a:lnSpc>
              <a:spcBef>
                <a:spcPct val="50000"/>
              </a:spcBef>
              <a:buClr>
                <a:schemeClr val="tx2"/>
              </a:buClr>
              <a:buSzPct val="100000"/>
              <a:buFont typeface="Wingdings" pitchFamily="1" charset="2"/>
              <a:buChar char="§"/>
            </a:pPr>
            <a:r>
              <a:rPr lang="en-US" sz="2000"/>
              <a:t>Policy on Physical – No pre-classify:</a:t>
            </a:r>
          </a:p>
          <a:p>
            <a:pPr marL="236538" indent="-236538" algn="l" defTabSz="814388">
              <a:lnSpc>
                <a:spcPct val="75000"/>
              </a:lnSpc>
              <a:spcBef>
                <a:spcPct val="50000"/>
              </a:spcBef>
              <a:buClr>
                <a:schemeClr val="tx2"/>
              </a:buClr>
              <a:buSzPct val="100000"/>
            </a:pPr>
            <a:r>
              <a:rPr lang="en-US" sz="2000"/>
              <a:t>		Match on the </a:t>
            </a:r>
            <a:r>
              <a:rPr lang="en-US" sz="2000">
                <a:solidFill>
                  <a:srgbClr val="FF3399"/>
                </a:solidFill>
              </a:rPr>
              <a:t>Post-Tunnel</a:t>
            </a:r>
            <a:r>
              <a:rPr lang="en-US" sz="2000"/>
              <a:t> Header:</a:t>
            </a:r>
            <a:endParaRPr lang="en-US" sz="1900"/>
          </a:p>
        </p:txBody>
      </p:sp>
      <p:sp>
        <p:nvSpPr>
          <p:cNvPr id="86022" name="Rectangle 14"/>
          <p:cNvSpPr>
            <a:spLocks noChangeArrowheads="1"/>
          </p:cNvSpPr>
          <p:nvPr/>
        </p:nvSpPr>
        <p:spPr bwMode="auto">
          <a:xfrm>
            <a:off x="5951538" y="5373688"/>
            <a:ext cx="1223962" cy="647700"/>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6023" name="Rectangle 15"/>
          <p:cNvSpPr>
            <a:spLocks noChangeArrowheads="1"/>
          </p:cNvSpPr>
          <p:nvPr/>
        </p:nvSpPr>
        <p:spPr bwMode="auto">
          <a:xfrm>
            <a:off x="2566988" y="5373688"/>
            <a:ext cx="3384550" cy="647700"/>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6024" name="Rectangle 16"/>
          <p:cNvSpPr>
            <a:spLocks noChangeArrowheads="1"/>
          </p:cNvSpPr>
          <p:nvPr/>
        </p:nvSpPr>
        <p:spPr bwMode="auto">
          <a:xfrm>
            <a:off x="7175501" y="5373688"/>
            <a:ext cx="1008063" cy="647700"/>
          </a:xfrm>
          <a:prstGeom prst="rect">
            <a:avLst/>
          </a:prstGeom>
          <a:no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6025" name="Line 17"/>
          <p:cNvSpPr>
            <a:spLocks noChangeShapeType="1"/>
          </p:cNvSpPr>
          <p:nvPr/>
        </p:nvSpPr>
        <p:spPr bwMode="auto">
          <a:xfrm>
            <a:off x="5951538" y="5373688"/>
            <a:ext cx="0" cy="647700"/>
          </a:xfrm>
          <a:prstGeom prst="line">
            <a:avLst/>
          </a:prstGeom>
          <a:noFill/>
          <a:ln w="9525">
            <a:solidFill>
              <a:schemeClr val="tx1"/>
            </a:solidFill>
            <a:round/>
            <a:headEnd/>
            <a:tailEnd/>
          </a:ln>
        </p:spPr>
        <p:txBody>
          <a:bodyPr lIns="73025" tIns="36512" rIns="73025" bIns="36512">
            <a:prstTxWarp prst="textNoShape">
              <a:avLst/>
            </a:prstTxWarp>
          </a:bodyPr>
          <a:lstStyle/>
          <a:p>
            <a:endParaRPr lang="en-US"/>
          </a:p>
        </p:txBody>
      </p:sp>
      <p:sp>
        <p:nvSpPr>
          <p:cNvPr id="86026" name="Text Box 18"/>
          <p:cNvSpPr txBox="1">
            <a:spLocks noChangeArrowheads="1"/>
          </p:cNvSpPr>
          <p:nvPr/>
        </p:nvSpPr>
        <p:spPr bwMode="auto">
          <a:xfrm>
            <a:off x="2711450" y="5518151"/>
            <a:ext cx="3024188" cy="347663"/>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t>Data/TCP/…</a:t>
            </a:r>
          </a:p>
        </p:txBody>
      </p:sp>
      <p:sp>
        <p:nvSpPr>
          <p:cNvPr id="86027" name="Text Box 19"/>
          <p:cNvSpPr txBox="1">
            <a:spLocks noChangeArrowheads="1"/>
          </p:cNvSpPr>
          <p:nvPr/>
        </p:nvSpPr>
        <p:spPr bwMode="auto">
          <a:xfrm>
            <a:off x="7246939" y="5373688"/>
            <a:ext cx="936625" cy="622300"/>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t>GRE header</a:t>
            </a:r>
          </a:p>
        </p:txBody>
      </p:sp>
      <p:sp>
        <p:nvSpPr>
          <p:cNvPr id="86028" name="Rectangle 20"/>
          <p:cNvSpPr>
            <a:spLocks noChangeArrowheads="1"/>
          </p:cNvSpPr>
          <p:nvPr/>
        </p:nvSpPr>
        <p:spPr bwMode="auto">
          <a:xfrm>
            <a:off x="8183563" y="5373688"/>
            <a:ext cx="1223962" cy="647700"/>
          </a:xfrm>
          <a:prstGeom prst="rect">
            <a:avLst/>
          </a:prstGeom>
          <a:solidFill>
            <a:srgbClr val="FF3399"/>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86029" name="Text Box 21"/>
          <p:cNvSpPr txBox="1">
            <a:spLocks noChangeArrowheads="1"/>
          </p:cNvSpPr>
          <p:nvPr/>
        </p:nvSpPr>
        <p:spPr bwMode="auto">
          <a:xfrm>
            <a:off x="8183563" y="5518150"/>
            <a:ext cx="1943100" cy="317500"/>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600" b="1">
                <a:solidFill>
                  <a:schemeClr val="bg1"/>
                </a:solidFill>
              </a:rPr>
              <a:t>Carrier  IP</a:t>
            </a:r>
          </a:p>
        </p:txBody>
      </p:sp>
      <p:sp>
        <p:nvSpPr>
          <p:cNvPr id="86030" name="Text Box 22"/>
          <p:cNvSpPr txBox="1">
            <a:spLocks noChangeArrowheads="1"/>
          </p:cNvSpPr>
          <p:nvPr/>
        </p:nvSpPr>
        <p:spPr bwMode="auto">
          <a:xfrm>
            <a:off x="8183564" y="3381375"/>
            <a:ext cx="1072409" cy="319958"/>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US" sz="1600" b="1"/>
              <a:t>Carrier IP</a:t>
            </a:r>
          </a:p>
        </p:txBody>
      </p:sp>
      <p:sp>
        <p:nvSpPr>
          <p:cNvPr id="86031" name="Line 23"/>
          <p:cNvSpPr>
            <a:spLocks noChangeShapeType="1"/>
          </p:cNvSpPr>
          <p:nvPr/>
        </p:nvSpPr>
        <p:spPr bwMode="auto">
          <a:xfrm>
            <a:off x="5664200" y="2708276"/>
            <a:ext cx="647700" cy="504825"/>
          </a:xfrm>
          <a:prstGeom prst="line">
            <a:avLst/>
          </a:prstGeom>
          <a:noFill/>
          <a:ln w="2857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86032" name="Line 24"/>
          <p:cNvSpPr>
            <a:spLocks noChangeShapeType="1"/>
          </p:cNvSpPr>
          <p:nvPr/>
        </p:nvSpPr>
        <p:spPr bwMode="auto">
          <a:xfrm>
            <a:off x="5880100" y="4941889"/>
            <a:ext cx="2808288" cy="358775"/>
          </a:xfrm>
          <a:prstGeom prst="line">
            <a:avLst/>
          </a:prstGeom>
          <a:noFill/>
          <a:ln w="2857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86033" name="Text Box 25"/>
          <p:cNvSpPr txBox="1">
            <a:spLocks noChangeArrowheads="1"/>
          </p:cNvSpPr>
          <p:nvPr/>
        </p:nvSpPr>
        <p:spPr bwMode="auto">
          <a:xfrm>
            <a:off x="5951539" y="5516563"/>
            <a:ext cx="1165225" cy="317500"/>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US" sz="1600" b="1"/>
              <a:t>Original IP</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2351089" y="2276475"/>
            <a:ext cx="7489825" cy="3384550"/>
          </a:xfrm>
          <a:prstGeom prst="rect">
            <a:avLst/>
          </a:prstGeom>
          <a:solidFill>
            <a:schemeClr val="tx2"/>
          </a:solidFill>
          <a:ln w="9525">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87043" name="Rectangle 3"/>
          <p:cNvSpPr>
            <a:spLocks noGrp="1" noChangeArrowheads="1"/>
          </p:cNvSpPr>
          <p:nvPr>
            <p:ph type="title"/>
          </p:nvPr>
        </p:nvSpPr>
        <p:spPr>
          <a:xfrm>
            <a:off x="2290764" y="0"/>
            <a:ext cx="7623175" cy="1143000"/>
          </a:xfrm>
        </p:spPr>
        <p:txBody>
          <a:bodyPr>
            <a:normAutofit fontScale="90000"/>
          </a:bodyPr>
          <a:lstStyle/>
          <a:p>
            <a:pPr eaLnBrk="1" hangingPunct="1"/>
            <a:r>
              <a:rPr lang="en-US">
                <a:solidFill>
                  <a:srgbClr val="FF3399"/>
                </a:solidFill>
              </a:rPr>
              <a:t>Classification: Order of Operation</a:t>
            </a:r>
          </a:p>
        </p:txBody>
      </p:sp>
      <p:sp>
        <p:nvSpPr>
          <p:cNvPr id="87044" name="Rectangle 4"/>
          <p:cNvSpPr>
            <a:spLocks noGrp="1" noChangeArrowheads="1"/>
          </p:cNvSpPr>
          <p:nvPr>
            <p:ph idx="1"/>
          </p:nvPr>
        </p:nvSpPr>
        <p:spPr>
          <a:xfrm>
            <a:off x="2551114" y="2636838"/>
            <a:ext cx="8224837" cy="3168650"/>
          </a:xfrm>
        </p:spPr>
        <p:txBody>
          <a:bodyPr/>
          <a:lstStyle/>
          <a:p>
            <a:pPr marL="457200" indent="-457200">
              <a:buClr>
                <a:schemeClr val="bg1"/>
              </a:buClr>
              <a:buFont typeface="Wingdings" pitchFamily="1" charset="2"/>
              <a:buAutoNum type="arabicPeriod"/>
            </a:pPr>
            <a:r>
              <a:rPr lang="en-US">
                <a:solidFill>
                  <a:schemeClr val="bg1"/>
                </a:solidFill>
              </a:rPr>
              <a:t>Input Common Classification</a:t>
            </a:r>
          </a:p>
          <a:p>
            <a:pPr marL="457200" indent="-457200">
              <a:buClr>
                <a:schemeClr val="bg1"/>
              </a:buClr>
              <a:buFont typeface="Wingdings" pitchFamily="1" charset="2"/>
              <a:buAutoNum type="arabicPeriod"/>
            </a:pPr>
            <a:r>
              <a:rPr lang="en-US"/>
              <a:t>Input Access Lists </a:t>
            </a:r>
          </a:p>
          <a:p>
            <a:pPr marL="457200" indent="-457200">
              <a:buClr>
                <a:schemeClr val="bg1"/>
              </a:buClr>
              <a:buFont typeface="Wingdings" pitchFamily="1" charset="2"/>
              <a:buAutoNum type="arabicPeriod"/>
            </a:pPr>
            <a:r>
              <a:rPr lang="en-US"/>
              <a:t>Input Marking (Class-Based Marking or CAR) </a:t>
            </a:r>
          </a:p>
          <a:p>
            <a:pPr marL="457200" indent="-457200">
              <a:buClr>
                <a:schemeClr val="bg1"/>
              </a:buClr>
              <a:buFont typeface="Wingdings" pitchFamily="1" charset="2"/>
              <a:buAutoNum type="arabicPeriod"/>
            </a:pPr>
            <a:r>
              <a:rPr lang="en-US"/>
              <a:t>Input Policing (Class-Based Policing or CAR) </a:t>
            </a:r>
          </a:p>
          <a:p>
            <a:pPr marL="457200" indent="-457200">
              <a:buClr>
                <a:schemeClr val="bg1"/>
              </a:buClr>
              <a:buFont typeface="Wingdings" pitchFamily="1" charset="2"/>
              <a:buAutoNum type="arabicPeriod"/>
            </a:pPr>
            <a:r>
              <a:rPr lang="en-US"/>
              <a:t>CEF or Fast Switching</a:t>
            </a:r>
            <a:r>
              <a:rPr lang="en-US" sz="1700"/>
              <a:t> </a:t>
            </a:r>
          </a:p>
        </p:txBody>
      </p:sp>
      <p:sp>
        <p:nvSpPr>
          <p:cNvPr id="87045" name="Text Box 5"/>
          <p:cNvSpPr txBox="1">
            <a:spLocks noChangeArrowheads="1"/>
          </p:cNvSpPr>
          <p:nvPr/>
        </p:nvSpPr>
        <p:spPr bwMode="auto">
          <a:xfrm>
            <a:off x="2566989" y="1341439"/>
            <a:ext cx="2166937" cy="579437"/>
          </a:xfrm>
          <a:prstGeom prst="rect">
            <a:avLst/>
          </a:prstGeom>
          <a:noFill/>
          <a:ln w="12700">
            <a:noFill/>
            <a:miter lim="800000"/>
            <a:headEnd/>
            <a:tailEnd/>
          </a:ln>
        </p:spPr>
        <p:txBody>
          <a:bodyPr wrap="none">
            <a:prstTxWarp prst="textNoShape">
              <a:avLst/>
            </a:prstTxWarp>
            <a:spAutoFit/>
          </a:bodyPr>
          <a:lstStyle/>
          <a:p>
            <a:pPr>
              <a:lnSpc>
                <a:spcPct val="100000"/>
              </a:lnSpc>
            </a:pPr>
            <a:r>
              <a:rPr lang="en-US" sz="3200" b="1" u="sng">
                <a:solidFill>
                  <a:schemeClr val="folHlink"/>
                </a:solidFill>
              </a:rPr>
              <a:t>Input Path</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ChangeArrowheads="1"/>
          </p:cNvSpPr>
          <p:nvPr/>
        </p:nvSpPr>
        <p:spPr bwMode="auto">
          <a:xfrm>
            <a:off x="2711451" y="2205039"/>
            <a:ext cx="7129463" cy="3887787"/>
          </a:xfrm>
          <a:prstGeom prst="rect">
            <a:avLst/>
          </a:prstGeom>
          <a:solidFill>
            <a:schemeClr val="accent1"/>
          </a:solidFill>
          <a:ln w="9525">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89091" name="Rectangle 3"/>
          <p:cNvSpPr>
            <a:spLocks noGrp="1" noChangeArrowheads="1"/>
          </p:cNvSpPr>
          <p:nvPr>
            <p:ph type="title"/>
          </p:nvPr>
        </p:nvSpPr>
        <p:spPr>
          <a:xfrm>
            <a:off x="2505076" y="0"/>
            <a:ext cx="7623175" cy="1143000"/>
          </a:xfrm>
        </p:spPr>
        <p:txBody>
          <a:bodyPr>
            <a:normAutofit fontScale="90000"/>
          </a:bodyPr>
          <a:lstStyle/>
          <a:p>
            <a:pPr eaLnBrk="1" hangingPunct="1"/>
            <a:r>
              <a:rPr lang="en-US">
                <a:solidFill>
                  <a:srgbClr val="FF3399"/>
                </a:solidFill>
              </a:rPr>
              <a:t>Classification: Order of Operation</a:t>
            </a:r>
          </a:p>
        </p:txBody>
      </p:sp>
      <p:sp>
        <p:nvSpPr>
          <p:cNvPr id="89092" name="Rectangle 4"/>
          <p:cNvSpPr>
            <a:spLocks noGrp="1" noChangeArrowheads="1"/>
          </p:cNvSpPr>
          <p:nvPr>
            <p:ph idx="1"/>
          </p:nvPr>
        </p:nvSpPr>
        <p:spPr>
          <a:xfrm>
            <a:off x="3216275" y="2565401"/>
            <a:ext cx="8224838" cy="3571875"/>
          </a:xfrm>
        </p:spPr>
        <p:txBody>
          <a:bodyPr/>
          <a:lstStyle/>
          <a:p>
            <a:pPr marL="457200" indent="-457200">
              <a:lnSpc>
                <a:spcPct val="80000"/>
              </a:lnSpc>
              <a:buClr>
                <a:schemeClr val="bg1"/>
              </a:buClr>
              <a:buFont typeface="Wingdings" pitchFamily="1" charset="2"/>
              <a:buAutoNum type="arabicPeriod"/>
            </a:pPr>
            <a:r>
              <a:rPr lang="en-US"/>
              <a:t>CEF or Fast Switching </a:t>
            </a:r>
          </a:p>
          <a:p>
            <a:pPr marL="457200" indent="-457200">
              <a:lnSpc>
                <a:spcPct val="80000"/>
              </a:lnSpc>
              <a:buClr>
                <a:schemeClr val="bg1"/>
              </a:buClr>
              <a:buFont typeface="Wingdings" pitchFamily="1" charset="2"/>
              <a:buAutoNum type="arabicPeriod"/>
            </a:pPr>
            <a:r>
              <a:rPr lang="en-US">
                <a:solidFill>
                  <a:schemeClr val="bg1"/>
                </a:solidFill>
              </a:rPr>
              <a:t>Output Common Classification </a:t>
            </a:r>
          </a:p>
          <a:p>
            <a:pPr marL="457200" indent="-457200">
              <a:lnSpc>
                <a:spcPct val="80000"/>
              </a:lnSpc>
              <a:buClr>
                <a:schemeClr val="bg1"/>
              </a:buClr>
              <a:buFont typeface="Wingdings" pitchFamily="1" charset="2"/>
              <a:buAutoNum type="arabicPeriod"/>
            </a:pPr>
            <a:r>
              <a:rPr lang="en-US"/>
              <a:t>Output Access Lists </a:t>
            </a:r>
          </a:p>
          <a:p>
            <a:pPr marL="457200" indent="-457200">
              <a:lnSpc>
                <a:spcPct val="80000"/>
              </a:lnSpc>
              <a:buClr>
                <a:schemeClr val="bg1"/>
              </a:buClr>
              <a:buFont typeface="Wingdings" pitchFamily="1" charset="2"/>
              <a:buAutoNum type="arabicPeriod"/>
            </a:pPr>
            <a:r>
              <a:rPr lang="en-US"/>
              <a:t>Output Marking </a:t>
            </a:r>
          </a:p>
          <a:p>
            <a:pPr marL="457200" indent="-457200">
              <a:lnSpc>
                <a:spcPct val="80000"/>
              </a:lnSpc>
              <a:buClr>
                <a:schemeClr val="bg1"/>
              </a:buClr>
              <a:buFont typeface="Wingdings" pitchFamily="1" charset="2"/>
              <a:buAutoNum type="arabicPeriod"/>
            </a:pPr>
            <a:r>
              <a:rPr lang="en-US"/>
              <a:t>Output Policing (via Class-Based Policer) </a:t>
            </a:r>
          </a:p>
          <a:p>
            <a:pPr marL="457200" indent="-457200">
              <a:lnSpc>
                <a:spcPct val="80000"/>
              </a:lnSpc>
              <a:buClr>
                <a:schemeClr val="bg1"/>
              </a:buClr>
              <a:buFont typeface="Wingdings" pitchFamily="1" charset="2"/>
              <a:buAutoNum type="arabicPeriod"/>
            </a:pPr>
            <a:r>
              <a:rPr lang="en-US"/>
              <a:t>Traffic Shaping </a:t>
            </a:r>
          </a:p>
          <a:p>
            <a:pPr marL="457200" indent="-457200">
              <a:lnSpc>
                <a:spcPct val="80000"/>
              </a:lnSpc>
              <a:buClr>
                <a:schemeClr val="bg1"/>
              </a:buClr>
              <a:buFont typeface="Wingdings" pitchFamily="1" charset="2"/>
              <a:buAutoNum type="arabicPeriod"/>
            </a:pPr>
            <a:r>
              <a:rPr lang="en-US"/>
              <a:t>Queuing (CBWFQ and LLQ) and WRED</a:t>
            </a:r>
          </a:p>
        </p:txBody>
      </p:sp>
      <p:sp>
        <p:nvSpPr>
          <p:cNvPr id="89093" name="Text Box 5"/>
          <p:cNvSpPr txBox="1">
            <a:spLocks noChangeArrowheads="1"/>
          </p:cNvSpPr>
          <p:nvPr/>
        </p:nvSpPr>
        <p:spPr bwMode="auto">
          <a:xfrm>
            <a:off x="2654301" y="1268414"/>
            <a:ext cx="2505075" cy="579437"/>
          </a:xfrm>
          <a:prstGeom prst="rect">
            <a:avLst/>
          </a:prstGeom>
          <a:noFill/>
          <a:ln w="12700">
            <a:noFill/>
            <a:miter lim="800000"/>
            <a:headEnd/>
            <a:tailEnd/>
          </a:ln>
        </p:spPr>
        <p:txBody>
          <a:bodyPr wrap="none">
            <a:prstTxWarp prst="textNoShape">
              <a:avLst/>
            </a:prstTxWarp>
            <a:spAutoFit/>
          </a:bodyPr>
          <a:lstStyle/>
          <a:p>
            <a:pPr>
              <a:lnSpc>
                <a:spcPct val="100000"/>
              </a:lnSpc>
            </a:pPr>
            <a:r>
              <a:rPr lang="en-US" sz="3200" b="1" u="sng">
                <a:solidFill>
                  <a:schemeClr val="folHlink"/>
                </a:solidFill>
              </a:rPr>
              <a:t>Output Path</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solidFill>
                  <a:srgbClr val="FF3399"/>
                </a:solidFill>
              </a:rPr>
              <a:t>Classification: Order of Operation</a:t>
            </a:r>
          </a:p>
        </p:txBody>
      </p:sp>
      <p:sp>
        <p:nvSpPr>
          <p:cNvPr id="91139" name="Rectangle 3"/>
          <p:cNvSpPr>
            <a:spLocks noGrp="1" noChangeArrowheads="1"/>
          </p:cNvSpPr>
          <p:nvPr>
            <p:ph idx="1"/>
          </p:nvPr>
        </p:nvSpPr>
        <p:spPr>
          <a:xfrm>
            <a:off x="1847850" y="4508500"/>
            <a:ext cx="8224838" cy="1873250"/>
          </a:xfrm>
        </p:spPr>
        <p:txBody>
          <a:bodyPr/>
          <a:lstStyle/>
          <a:p>
            <a:pPr marL="571500" indent="-571500">
              <a:lnSpc>
                <a:spcPct val="75000"/>
              </a:lnSpc>
              <a:buFont typeface="Arial" pitchFamily="1" charset="0"/>
              <a:buAutoNum type="arabicPeriod"/>
            </a:pPr>
            <a:r>
              <a:rPr lang="en-US" sz="2000"/>
              <a:t>Input Classification (class-map)</a:t>
            </a:r>
          </a:p>
          <a:p>
            <a:pPr marL="571500" indent="-571500">
              <a:lnSpc>
                <a:spcPct val="75000"/>
              </a:lnSpc>
              <a:buFont typeface="Arial" pitchFamily="1" charset="0"/>
              <a:buAutoNum type="arabicPeriod"/>
            </a:pPr>
            <a:r>
              <a:rPr lang="en-US" sz="2000"/>
              <a:t>Input QoS Actions (policy-map)</a:t>
            </a:r>
          </a:p>
          <a:p>
            <a:pPr marL="571500" indent="-571500">
              <a:lnSpc>
                <a:spcPct val="75000"/>
              </a:lnSpc>
              <a:buFont typeface="Arial" pitchFamily="1" charset="0"/>
              <a:buAutoNum type="arabicPeriod"/>
            </a:pPr>
            <a:r>
              <a:rPr lang="en-US" sz="2000"/>
              <a:t>Output Classification (class-map)</a:t>
            </a:r>
          </a:p>
          <a:p>
            <a:pPr marL="571500" indent="-571500">
              <a:lnSpc>
                <a:spcPct val="75000"/>
              </a:lnSpc>
              <a:buFont typeface="Arial" pitchFamily="1" charset="0"/>
              <a:buAutoNum type="arabicPeriod"/>
            </a:pPr>
            <a:r>
              <a:rPr lang="en-US" sz="2000"/>
              <a:t>Output QoS Actions (policy-map)</a:t>
            </a:r>
          </a:p>
        </p:txBody>
      </p:sp>
      <p:sp>
        <p:nvSpPr>
          <p:cNvPr id="91140" name="Rectangle 4"/>
          <p:cNvSpPr>
            <a:spLocks noChangeArrowheads="1"/>
          </p:cNvSpPr>
          <p:nvPr/>
        </p:nvSpPr>
        <p:spPr bwMode="auto">
          <a:xfrm>
            <a:off x="3432176" y="1700213"/>
            <a:ext cx="4752975" cy="2305050"/>
          </a:xfrm>
          <a:prstGeom prst="rect">
            <a:avLst/>
          </a:prstGeom>
          <a:noFill/>
          <a:ln w="38100">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91141" name="Rectangle 5"/>
          <p:cNvSpPr>
            <a:spLocks noChangeArrowheads="1"/>
          </p:cNvSpPr>
          <p:nvPr/>
        </p:nvSpPr>
        <p:spPr bwMode="auto">
          <a:xfrm>
            <a:off x="3432175" y="2781301"/>
            <a:ext cx="431800" cy="1223963"/>
          </a:xfrm>
          <a:prstGeom prst="rect">
            <a:avLst/>
          </a:prstGeom>
          <a:solidFill>
            <a:srgbClr val="FF3399"/>
          </a:solidFill>
          <a:ln w="9525">
            <a:solidFill>
              <a:schemeClr val="tx1"/>
            </a:solidFill>
            <a:miter lim="800000"/>
            <a:headEnd/>
            <a:tailEnd/>
          </a:ln>
        </p:spPr>
        <p:txBody>
          <a:bodyPr wrap="none" lIns="73025" tIns="36512" rIns="73025" bIns="36512" anchor="ctr">
            <a:prstTxWarp prst="textNoShape">
              <a:avLst/>
            </a:prstTxWarp>
          </a:bodyPr>
          <a:lstStyle/>
          <a:p>
            <a:pPr>
              <a:lnSpc>
                <a:spcPct val="100000"/>
              </a:lnSpc>
            </a:pPr>
            <a:r>
              <a:rPr lang="en-US" sz="1800" b="1"/>
              <a:t>1</a:t>
            </a:r>
          </a:p>
        </p:txBody>
      </p:sp>
      <p:sp>
        <p:nvSpPr>
          <p:cNvPr id="91142" name="Rectangle 6"/>
          <p:cNvSpPr>
            <a:spLocks noChangeArrowheads="1"/>
          </p:cNvSpPr>
          <p:nvPr/>
        </p:nvSpPr>
        <p:spPr bwMode="auto">
          <a:xfrm>
            <a:off x="3863976" y="2781301"/>
            <a:ext cx="792163" cy="1223963"/>
          </a:xfrm>
          <a:prstGeom prst="rect">
            <a:avLst/>
          </a:prstGeom>
          <a:solidFill>
            <a:schemeClr val="hlink"/>
          </a:solidFill>
          <a:ln w="9525">
            <a:solidFill>
              <a:schemeClr val="tx1"/>
            </a:solidFill>
            <a:miter lim="800000"/>
            <a:headEnd/>
            <a:tailEnd/>
          </a:ln>
        </p:spPr>
        <p:txBody>
          <a:bodyPr wrap="none" lIns="73025" tIns="36512" rIns="73025" bIns="36512" anchor="ctr">
            <a:prstTxWarp prst="textNoShape">
              <a:avLst/>
            </a:prstTxWarp>
          </a:bodyPr>
          <a:lstStyle/>
          <a:p>
            <a:pPr>
              <a:lnSpc>
                <a:spcPct val="100000"/>
              </a:lnSpc>
            </a:pPr>
            <a:r>
              <a:rPr lang="en-US" sz="1800" b="1"/>
              <a:t>2</a:t>
            </a:r>
          </a:p>
        </p:txBody>
      </p:sp>
      <p:sp>
        <p:nvSpPr>
          <p:cNvPr id="91143" name="Rectangle 7"/>
          <p:cNvSpPr>
            <a:spLocks noChangeArrowheads="1"/>
          </p:cNvSpPr>
          <p:nvPr/>
        </p:nvSpPr>
        <p:spPr bwMode="auto">
          <a:xfrm>
            <a:off x="7391401" y="1700214"/>
            <a:ext cx="792163" cy="1152525"/>
          </a:xfrm>
          <a:prstGeom prst="rect">
            <a:avLst/>
          </a:prstGeom>
          <a:solidFill>
            <a:schemeClr val="hlink"/>
          </a:solidFill>
          <a:ln w="9525">
            <a:solidFill>
              <a:schemeClr val="tx1"/>
            </a:solidFill>
            <a:miter lim="800000"/>
            <a:headEnd/>
            <a:tailEnd/>
          </a:ln>
        </p:spPr>
        <p:txBody>
          <a:bodyPr wrap="none" lIns="73025" tIns="36512" rIns="73025" bIns="36512" anchor="ctr">
            <a:prstTxWarp prst="textNoShape">
              <a:avLst/>
            </a:prstTxWarp>
          </a:bodyPr>
          <a:lstStyle/>
          <a:p>
            <a:pPr>
              <a:lnSpc>
                <a:spcPct val="100000"/>
              </a:lnSpc>
            </a:pPr>
            <a:r>
              <a:rPr lang="en-US" sz="1800" b="1"/>
              <a:t>4</a:t>
            </a:r>
          </a:p>
        </p:txBody>
      </p:sp>
      <p:sp>
        <p:nvSpPr>
          <p:cNvPr id="91144" name="Rectangle 8"/>
          <p:cNvSpPr>
            <a:spLocks noChangeArrowheads="1"/>
          </p:cNvSpPr>
          <p:nvPr/>
        </p:nvSpPr>
        <p:spPr bwMode="auto">
          <a:xfrm>
            <a:off x="6959600" y="1700214"/>
            <a:ext cx="431800" cy="1152525"/>
          </a:xfrm>
          <a:prstGeom prst="rect">
            <a:avLst/>
          </a:prstGeom>
          <a:solidFill>
            <a:srgbClr val="FF3399"/>
          </a:solidFill>
          <a:ln w="9525">
            <a:solidFill>
              <a:schemeClr val="tx1"/>
            </a:solidFill>
            <a:miter lim="800000"/>
            <a:headEnd/>
            <a:tailEnd/>
          </a:ln>
        </p:spPr>
        <p:txBody>
          <a:bodyPr wrap="none" lIns="73025" tIns="36512" rIns="73025" bIns="36512" anchor="ctr">
            <a:prstTxWarp prst="textNoShape">
              <a:avLst/>
            </a:prstTxWarp>
          </a:bodyPr>
          <a:lstStyle/>
          <a:p>
            <a:pPr>
              <a:lnSpc>
                <a:spcPct val="100000"/>
              </a:lnSpc>
            </a:pPr>
            <a:r>
              <a:rPr lang="en-US" sz="1800" b="1"/>
              <a:t>3</a:t>
            </a:r>
          </a:p>
        </p:txBody>
      </p:sp>
      <p:sp>
        <p:nvSpPr>
          <p:cNvPr id="91145" name="Oval 9"/>
          <p:cNvSpPr>
            <a:spLocks noChangeArrowheads="1"/>
          </p:cNvSpPr>
          <p:nvPr/>
        </p:nvSpPr>
        <p:spPr bwMode="auto">
          <a:xfrm>
            <a:off x="5303838" y="2565401"/>
            <a:ext cx="863600" cy="792163"/>
          </a:xfrm>
          <a:prstGeom prst="ellipse">
            <a:avLst/>
          </a:prstGeom>
          <a:noFill/>
          <a:ln w="9525">
            <a:noFill/>
            <a:round/>
            <a:headEnd/>
            <a:tailEnd/>
          </a:ln>
        </p:spPr>
        <p:txBody>
          <a:bodyPr wrap="none" lIns="73025" tIns="36512" rIns="73025" bIns="36512" anchor="ctr">
            <a:prstTxWarp prst="textNoShape">
              <a:avLst/>
            </a:prstTxWarp>
          </a:bodyPr>
          <a:lstStyle/>
          <a:p>
            <a:endParaRPr lang="en-US"/>
          </a:p>
        </p:txBody>
      </p:sp>
      <p:sp>
        <p:nvSpPr>
          <p:cNvPr id="91146" name="Line 10"/>
          <p:cNvSpPr>
            <a:spLocks noChangeShapeType="1"/>
          </p:cNvSpPr>
          <p:nvPr/>
        </p:nvSpPr>
        <p:spPr bwMode="auto">
          <a:xfrm>
            <a:off x="2279650" y="3357563"/>
            <a:ext cx="1079500" cy="0"/>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91147" name="Oval 11"/>
          <p:cNvSpPr>
            <a:spLocks noChangeArrowheads="1"/>
          </p:cNvSpPr>
          <p:nvPr/>
        </p:nvSpPr>
        <p:spPr bwMode="auto">
          <a:xfrm>
            <a:off x="5303839" y="2276475"/>
            <a:ext cx="1081087" cy="1079500"/>
          </a:xfrm>
          <a:prstGeom prst="ellipse">
            <a:avLst/>
          </a:prstGeom>
          <a:solidFill>
            <a:schemeClr val="folHlink"/>
          </a:solidFill>
          <a:ln w="9525">
            <a:solidFill>
              <a:schemeClr val="tx1"/>
            </a:solidFill>
            <a:round/>
            <a:headEnd/>
            <a:tailEnd/>
          </a:ln>
        </p:spPr>
        <p:txBody>
          <a:bodyPr wrap="none" lIns="73025" tIns="36512" rIns="73025" bIns="36512" anchor="ctr">
            <a:prstTxWarp prst="textNoShape">
              <a:avLst/>
            </a:prstTxWarp>
          </a:bodyPr>
          <a:lstStyle/>
          <a:p>
            <a:pPr>
              <a:lnSpc>
                <a:spcPct val="100000"/>
              </a:lnSpc>
            </a:pPr>
            <a:r>
              <a:rPr lang="en-US" sz="1800" b="1"/>
              <a:t>Routing</a:t>
            </a:r>
          </a:p>
        </p:txBody>
      </p:sp>
      <p:sp>
        <p:nvSpPr>
          <p:cNvPr id="91148" name="Line 12"/>
          <p:cNvSpPr>
            <a:spLocks noChangeShapeType="1"/>
          </p:cNvSpPr>
          <p:nvPr/>
        </p:nvSpPr>
        <p:spPr bwMode="auto">
          <a:xfrm flipV="1">
            <a:off x="4656138" y="3068639"/>
            <a:ext cx="647700" cy="288925"/>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91149" name="Line 13"/>
          <p:cNvSpPr>
            <a:spLocks noChangeShapeType="1"/>
          </p:cNvSpPr>
          <p:nvPr/>
        </p:nvSpPr>
        <p:spPr bwMode="auto">
          <a:xfrm flipV="1">
            <a:off x="6383339" y="2133600"/>
            <a:ext cx="504825" cy="431800"/>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91150" name="Line 14"/>
          <p:cNvSpPr>
            <a:spLocks noChangeShapeType="1"/>
          </p:cNvSpPr>
          <p:nvPr/>
        </p:nvSpPr>
        <p:spPr bwMode="auto">
          <a:xfrm>
            <a:off x="8256588" y="2276475"/>
            <a:ext cx="1079500" cy="0"/>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91151" name="Text Box 15"/>
          <p:cNvSpPr txBox="1">
            <a:spLocks noChangeArrowheads="1"/>
          </p:cNvSpPr>
          <p:nvPr/>
        </p:nvSpPr>
        <p:spPr bwMode="auto">
          <a:xfrm>
            <a:off x="2063750" y="2924176"/>
            <a:ext cx="1225550" cy="347663"/>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US" sz="1800" b="1"/>
              <a:t>Ingress IF</a:t>
            </a:r>
          </a:p>
        </p:txBody>
      </p:sp>
      <p:sp>
        <p:nvSpPr>
          <p:cNvPr id="91152" name="Text Box 16"/>
          <p:cNvSpPr txBox="1">
            <a:spLocks noChangeArrowheads="1"/>
          </p:cNvSpPr>
          <p:nvPr/>
        </p:nvSpPr>
        <p:spPr bwMode="auto">
          <a:xfrm>
            <a:off x="8256588" y="2349501"/>
            <a:ext cx="1174750" cy="347663"/>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US" sz="1800" b="1"/>
              <a:t>Egress IF</a:t>
            </a:r>
          </a:p>
        </p:txBody>
      </p:sp>
      <p:sp>
        <p:nvSpPr>
          <p:cNvPr id="91153" name="Text Box 17"/>
          <p:cNvSpPr txBox="1">
            <a:spLocks noChangeArrowheads="1"/>
          </p:cNvSpPr>
          <p:nvPr/>
        </p:nvSpPr>
        <p:spPr bwMode="auto">
          <a:xfrm>
            <a:off x="1703389" y="3567114"/>
            <a:ext cx="3240087" cy="295275"/>
          </a:xfrm>
          <a:prstGeom prst="rect">
            <a:avLst/>
          </a:prstGeom>
          <a:solidFill>
            <a:schemeClr val="accent1"/>
          </a:solidFill>
          <a:ln w="9525">
            <a:solidFill>
              <a:schemeClr val="tx1"/>
            </a:solidFill>
            <a:miter lim="800000"/>
            <a:headEnd/>
            <a:tailEnd/>
          </a:ln>
        </p:spPr>
        <p:txBody>
          <a:bodyPr wrap="none" lIns="73025" tIns="36512" rIns="73025" bIns="36512">
            <a:prstTxWarp prst="textNoShape">
              <a:avLst/>
            </a:prstTxWarp>
            <a:spAutoFit/>
          </a:bodyPr>
          <a:lstStyle/>
          <a:p>
            <a:pPr algn="l">
              <a:lnSpc>
                <a:spcPct val="100000"/>
              </a:lnSpc>
            </a:pPr>
            <a:r>
              <a:rPr lang="en-US" sz="1400" b="1">
                <a:solidFill>
                  <a:schemeClr val="bg1"/>
                </a:solidFill>
                <a:latin typeface="Courier New" pitchFamily="1" charset="0"/>
              </a:rPr>
              <a:t>service-policy input INPOLICY</a:t>
            </a:r>
          </a:p>
        </p:txBody>
      </p:sp>
      <p:sp>
        <p:nvSpPr>
          <p:cNvPr id="91154" name="Text Box 18"/>
          <p:cNvSpPr txBox="1">
            <a:spLocks noChangeArrowheads="1"/>
          </p:cNvSpPr>
          <p:nvPr/>
        </p:nvSpPr>
        <p:spPr bwMode="auto">
          <a:xfrm>
            <a:off x="7104063" y="1789114"/>
            <a:ext cx="3452812" cy="295275"/>
          </a:xfrm>
          <a:prstGeom prst="rect">
            <a:avLst/>
          </a:prstGeom>
          <a:solidFill>
            <a:schemeClr val="accent1"/>
          </a:solidFill>
          <a:ln w="9525">
            <a:solidFill>
              <a:schemeClr val="tx1"/>
            </a:solidFill>
            <a:miter lim="800000"/>
            <a:headEnd/>
            <a:tailEnd/>
          </a:ln>
        </p:spPr>
        <p:txBody>
          <a:bodyPr wrap="none" lIns="73025" tIns="36512" rIns="73025" bIns="36512">
            <a:prstTxWarp prst="textNoShape">
              <a:avLst/>
            </a:prstTxWarp>
            <a:spAutoFit/>
          </a:bodyPr>
          <a:lstStyle/>
          <a:p>
            <a:pPr algn="l">
              <a:lnSpc>
                <a:spcPct val="100000"/>
              </a:lnSpc>
            </a:pPr>
            <a:r>
              <a:rPr lang="en-US" sz="1400" b="1">
                <a:solidFill>
                  <a:schemeClr val="bg1"/>
                </a:solidFill>
                <a:latin typeface="Courier New" pitchFamily="1" charset="0"/>
              </a:rPr>
              <a:t>service-policy output OUTPOLICY</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a:solidFill>
                  <a:srgbClr val="FF3399"/>
                </a:solidFill>
              </a:rPr>
              <a:t>Classification: Associated counters</a:t>
            </a:r>
          </a:p>
        </p:txBody>
      </p:sp>
      <p:sp>
        <p:nvSpPr>
          <p:cNvPr id="93187" name="Rectangle 3"/>
          <p:cNvSpPr>
            <a:spLocks noGrp="1" noChangeArrowheads="1"/>
          </p:cNvSpPr>
          <p:nvPr>
            <p:ph idx="1"/>
          </p:nvPr>
        </p:nvSpPr>
        <p:spPr>
          <a:xfrm>
            <a:off x="2179639" y="1628776"/>
            <a:ext cx="7940675" cy="3571875"/>
          </a:xfrm>
        </p:spPr>
        <p:txBody>
          <a:bodyPr/>
          <a:lstStyle/>
          <a:p>
            <a:r>
              <a:rPr lang="en-US"/>
              <a:t>Always incremented with common classification</a:t>
            </a:r>
          </a:p>
          <a:p>
            <a:r>
              <a:rPr lang="en-US"/>
              <a:t>Indicates the number of packets that matched the class requirements, not the packets that were queued.</a:t>
            </a:r>
          </a:p>
        </p:txBody>
      </p:sp>
      <p:sp>
        <p:nvSpPr>
          <p:cNvPr id="93188" name="Rectangle 4"/>
          <p:cNvSpPr>
            <a:spLocks noChangeArrowheads="1"/>
          </p:cNvSpPr>
          <p:nvPr/>
        </p:nvSpPr>
        <p:spPr bwMode="auto">
          <a:xfrm>
            <a:off x="2063750" y="3346450"/>
            <a:ext cx="8135938" cy="2819400"/>
          </a:xfrm>
          <a:prstGeom prst="rect">
            <a:avLst/>
          </a:prstGeom>
          <a:noFill/>
          <a:ln w="12700">
            <a:solidFill>
              <a:schemeClr val="tx1"/>
            </a:solidFill>
            <a:miter lim="800000"/>
            <a:headEnd/>
            <a:tailEnd/>
          </a:ln>
        </p:spPr>
        <p:txBody>
          <a:bodyPr lIns="82124" tIns="41061" rIns="82124" bIns="41061">
            <a:prstTxWarp prst="textNoShape">
              <a:avLst/>
            </a:prstTxWarp>
            <a:spAutoFit/>
          </a:bodyPr>
          <a:lstStyle/>
          <a:p>
            <a:pPr algn="l" defTabSz="814388"/>
            <a:r>
              <a:rPr lang="en-US" sz="1800">
                <a:latin typeface="Courier New" pitchFamily="1" charset="0"/>
              </a:rPr>
              <a:t> </a:t>
            </a:r>
            <a:r>
              <a:rPr lang="en-US" sz="1800" b="1">
                <a:latin typeface="Courier New" pitchFamily="1" charset="0"/>
              </a:rPr>
              <a:t>Class-map: </a:t>
            </a:r>
            <a:r>
              <a:rPr lang="en-US" sz="1800" b="1">
                <a:solidFill>
                  <a:srgbClr val="FF3399"/>
                </a:solidFill>
                <a:latin typeface="Courier New" pitchFamily="1" charset="0"/>
              </a:rPr>
              <a:t>one</a:t>
            </a:r>
            <a:r>
              <a:rPr lang="en-US" sz="1800" b="1">
                <a:latin typeface="Courier New" pitchFamily="1" charset="0"/>
              </a:rPr>
              <a:t> (</a:t>
            </a:r>
            <a:r>
              <a:rPr lang="en-US" sz="1800" b="1">
                <a:solidFill>
                  <a:srgbClr val="FF3399"/>
                </a:solidFill>
                <a:latin typeface="Courier New" pitchFamily="1" charset="0"/>
              </a:rPr>
              <a:t>match-all</a:t>
            </a:r>
            <a:r>
              <a:rPr lang="en-US" sz="1800" b="1">
                <a:latin typeface="Courier New" pitchFamily="1" charset="0"/>
              </a:rPr>
              <a:t>)</a:t>
            </a:r>
          </a:p>
          <a:p>
            <a:pPr algn="l" defTabSz="814388"/>
            <a:r>
              <a:rPr lang="en-US" sz="1800" b="1">
                <a:latin typeface="Courier New" pitchFamily="1" charset="0"/>
              </a:rPr>
              <a:t>    </a:t>
            </a:r>
            <a:r>
              <a:rPr lang="en-US" sz="1800" b="1">
                <a:solidFill>
                  <a:srgbClr val="FF3399"/>
                </a:solidFill>
                <a:latin typeface="Courier New" pitchFamily="1" charset="0"/>
              </a:rPr>
              <a:t>5715</a:t>
            </a:r>
            <a:r>
              <a:rPr lang="en-US" sz="1800" b="1">
                <a:latin typeface="Courier New" pitchFamily="1" charset="0"/>
              </a:rPr>
              <a:t> packets, </a:t>
            </a:r>
            <a:r>
              <a:rPr lang="en-US" sz="1800" b="1">
                <a:solidFill>
                  <a:srgbClr val="FF3399"/>
                </a:solidFill>
                <a:latin typeface="Courier New" pitchFamily="1" charset="0"/>
              </a:rPr>
              <a:t>107435</a:t>
            </a:r>
            <a:r>
              <a:rPr lang="en-US" sz="1800" b="1">
                <a:latin typeface="Courier New" pitchFamily="1" charset="0"/>
              </a:rPr>
              <a:t> bytes</a:t>
            </a:r>
          </a:p>
          <a:p>
            <a:pPr algn="l" defTabSz="814388"/>
            <a:r>
              <a:rPr lang="en-US" sz="1800" b="1">
                <a:latin typeface="Courier New" pitchFamily="1" charset="0"/>
              </a:rPr>
              <a:t>    5 minute offered rate </a:t>
            </a:r>
            <a:r>
              <a:rPr lang="en-US" sz="1800" b="1">
                <a:solidFill>
                  <a:srgbClr val="FF3399"/>
                </a:solidFill>
                <a:latin typeface="Courier New" pitchFamily="1" charset="0"/>
              </a:rPr>
              <a:t>140</a:t>
            </a:r>
            <a:r>
              <a:rPr lang="en-US" sz="1800" b="1">
                <a:latin typeface="Courier New" pitchFamily="1" charset="0"/>
              </a:rPr>
              <a:t> bps, drop rate </a:t>
            </a:r>
            <a:r>
              <a:rPr lang="en-US" sz="1800" b="1">
                <a:solidFill>
                  <a:srgbClr val="FF3399"/>
                </a:solidFill>
                <a:latin typeface="Courier New" pitchFamily="1" charset="0"/>
              </a:rPr>
              <a:t>0</a:t>
            </a:r>
            <a:r>
              <a:rPr lang="en-US" sz="1800" b="1">
                <a:latin typeface="Courier New" pitchFamily="1" charset="0"/>
              </a:rPr>
              <a:t> bps</a:t>
            </a:r>
          </a:p>
          <a:p>
            <a:pPr algn="l" defTabSz="814388"/>
            <a:r>
              <a:rPr lang="en-US" sz="1800" b="1">
                <a:solidFill>
                  <a:srgbClr val="FF3399"/>
                </a:solidFill>
                <a:latin typeface="Courier New" pitchFamily="1" charset="0"/>
              </a:rPr>
              <a:t>    Match: ip precedence 5</a:t>
            </a:r>
          </a:p>
          <a:p>
            <a:pPr algn="l" defTabSz="814388"/>
            <a:endParaRPr lang="en-US" sz="1800" b="1">
              <a:solidFill>
                <a:srgbClr val="FF3399"/>
              </a:solidFill>
              <a:latin typeface="Courier New" pitchFamily="1" charset="0"/>
            </a:endParaRPr>
          </a:p>
          <a:p>
            <a:pPr algn="l" defTabSz="814388"/>
            <a:r>
              <a:rPr lang="en-US" sz="1800">
                <a:latin typeface="Courier New" pitchFamily="1" charset="0"/>
              </a:rPr>
              <a:t> </a:t>
            </a:r>
            <a:r>
              <a:rPr lang="en-US" sz="1800" b="1">
                <a:latin typeface="Courier New" pitchFamily="1" charset="0"/>
              </a:rPr>
              <a:t>Class-map: </a:t>
            </a:r>
            <a:r>
              <a:rPr lang="en-US" sz="1800" b="1">
                <a:solidFill>
                  <a:srgbClr val="FF3399"/>
                </a:solidFill>
                <a:latin typeface="Courier New" pitchFamily="1" charset="0"/>
              </a:rPr>
              <a:t>two</a:t>
            </a:r>
            <a:r>
              <a:rPr lang="en-US" sz="1800" b="1">
                <a:latin typeface="Courier New" pitchFamily="1" charset="0"/>
              </a:rPr>
              <a:t> (</a:t>
            </a:r>
            <a:r>
              <a:rPr lang="en-US" sz="1800" b="1">
                <a:solidFill>
                  <a:srgbClr val="FF3399"/>
                </a:solidFill>
                <a:latin typeface="Courier New" pitchFamily="1" charset="0"/>
              </a:rPr>
              <a:t>match-any</a:t>
            </a:r>
            <a:r>
              <a:rPr lang="en-US" sz="1800" b="1">
                <a:latin typeface="Courier New" pitchFamily="1" charset="0"/>
              </a:rPr>
              <a:t>)</a:t>
            </a:r>
          </a:p>
          <a:p>
            <a:pPr algn="l" defTabSz="814388"/>
            <a:r>
              <a:rPr lang="en-US" sz="1800" b="1">
                <a:latin typeface="Courier New" pitchFamily="1" charset="0"/>
              </a:rPr>
              <a:t>    </a:t>
            </a:r>
            <a:r>
              <a:rPr lang="en-US" sz="1800" b="1">
                <a:solidFill>
                  <a:srgbClr val="FF3399"/>
                </a:solidFill>
                <a:latin typeface="Courier New" pitchFamily="1" charset="0"/>
              </a:rPr>
              <a:t>43693</a:t>
            </a:r>
            <a:r>
              <a:rPr lang="en-US" sz="1800" b="1">
                <a:latin typeface="Courier New" pitchFamily="1" charset="0"/>
              </a:rPr>
              <a:t> packets, </a:t>
            </a:r>
            <a:r>
              <a:rPr lang="en-US" sz="1800" b="1">
                <a:solidFill>
                  <a:srgbClr val="FF3399"/>
                </a:solidFill>
                <a:latin typeface="Courier New" pitchFamily="1" charset="0"/>
              </a:rPr>
              <a:t>2103334</a:t>
            </a:r>
            <a:r>
              <a:rPr lang="en-US" sz="1800" b="1">
                <a:latin typeface="Courier New" pitchFamily="1" charset="0"/>
              </a:rPr>
              <a:t> bytes</a:t>
            </a:r>
          </a:p>
          <a:p>
            <a:pPr algn="l" defTabSz="814388"/>
            <a:r>
              <a:rPr lang="en-US" sz="1800" b="1">
                <a:latin typeface="Courier New" pitchFamily="1" charset="0"/>
              </a:rPr>
              <a:t>    5 minute offered rate </a:t>
            </a:r>
            <a:r>
              <a:rPr lang="en-US" sz="1800" b="1">
                <a:solidFill>
                  <a:srgbClr val="FF3399"/>
                </a:solidFill>
                <a:latin typeface="Courier New" pitchFamily="1" charset="0"/>
              </a:rPr>
              <a:t>1856</a:t>
            </a:r>
            <a:r>
              <a:rPr lang="en-US" sz="1800" b="1">
                <a:latin typeface="Courier New" pitchFamily="1" charset="0"/>
              </a:rPr>
              <a:t> bps, drop rate </a:t>
            </a:r>
            <a:r>
              <a:rPr lang="en-US" sz="1800" b="1">
                <a:solidFill>
                  <a:srgbClr val="FF3399"/>
                </a:solidFill>
                <a:latin typeface="Courier New" pitchFamily="1" charset="0"/>
              </a:rPr>
              <a:t>20</a:t>
            </a:r>
            <a:r>
              <a:rPr lang="en-US" sz="1800" b="1">
                <a:latin typeface="Courier New" pitchFamily="1" charset="0"/>
              </a:rPr>
              <a:t> bps</a:t>
            </a:r>
          </a:p>
          <a:p>
            <a:pPr algn="l" defTabSz="814388"/>
            <a:r>
              <a:rPr lang="en-US" sz="1800" b="1">
                <a:solidFill>
                  <a:srgbClr val="FF3399"/>
                </a:solidFill>
                <a:latin typeface="Courier New" pitchFamily="1" charset="0"/>
              </a:rPr>
              <a:t>    Match: ip precedence 2</a:t>
            </a:r>
          </a:p>
          <a:p>
            <a:pPr algn="l" defTabSz="814388"/>
            <a:r>
              <a:rPr lang="en-US" sz="1800" b="1">
                <a:solidFill>
                  <a:srgbClr val="FF3399"/>
                </a:solidFill>
                <a:latin typeface="Courier New" pitchFamily="1" charset="0"/>
              </a:rPr>
              <a:t>    Match:  dscp default (0)</a:t>
            </a:r>
          </a:p>
          <a:p>
            <a:pPr algn="l" defTabSz="814388"/>
            <a:endParaRPr lang="en-US" sz="1800" b="1">
              <a:latin typeface="Courier New" pitchFamily="1"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a:solidFill>
                  <a:srgbClr val="FF3399"/>
                </a:solidFill>
              </a:rPr>
              <a:t>Classification: Review Questions</a:t>
            </a:r>
          </a:p>
        </p:txBody>
      </p:sp>
      <p:sp>
        <p:nvSpPr>
          <p:cNvPr id="106499" name="Rectangle 3"/>
          <p:cNvSpPr>
            <a:spLocks noGrp="1" noChangeArrowheads="1"/>
          </p:cNvSpPr>
          <p:nvPr>
            <p:ph idx="1"/>
          </p:nvPr>
        </p:nvSpPr>
        <p:spPr>
          <a:xfrm>
            <a:off x="2179639" y="1781175"/>
            <a:ext cx="7940675" cy="4311650"/>
          </a:xfrm>
        </p:spPr>
        <p:txBody>
          <a:bodyPr>
            <a:normAutofit fontScale="92500"/>
          </a:bodyPr>
          <a:lstStyle/>
          <a:p>
            <a:pPr>
              <a:lnSpc>
                <a:spcPct val="85000"/>
              </a:lnSpc>
            </a:pPr>
            <a:r>
              <a:rPr lang="en-US"/>
              <a:t>What are two advantages of common classification ?</a:t>
            </a:r>
          </a:p>
          <a:p>
            <a:pPr>
              <a:lnSpc>
                <a:spcPct val="85000"/>
              </a:lnSpc>
            </a:pPr>
            <a:r>
              <a:rPr lang="en-US"/>
              <a:t>Which configuration keyword is directly associated with classification ?</a:t>
            </a:r>
          </a:p>
          <a:p>
            <a:pPr>
              <a:lnSpc>
                <a:spcPct val="85000"/>
              </a:lnSpc>
            </a:pPr>
            <a:r>
              <a:rPr lang="en-US"/>
              <a:t>I have a service-policy applied on a Tunnel interface, what should I configure to match on the original IP Header ?</a:t>
            </a:r>
          </a:p>
          <a:p>
            <a:pPr>
              <a:lnSpc>
                <a:spcPct val="85000"/>
              </a:lnSpc>
            </a:pPr>
            <a:r>
              <a:rPr lang="en-US"/>
              <a:t>Which feature is needed to match on a filename in a ftp get request ?</a:t>
            </a:r>
          </a:p>
          <a:p>
            <a:pPr>
              <a:lnSpc>
                <a:spcPct val="85000"/>
              </a:lnSpc>
            </a:pPr>
            <a:r>
              <a:rPr lang="en-US"/>
              <a:t>My classification counters are not increasing in the ‘show policy-map interface’ output, what could be the cause of this ?  Try to find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4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4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64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64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3"/>
          <p:cNvSpPr>
            <a:spLocks noChangeArrowheads="1"/>
          </p:cNvSpPr>
          <p:nvPr/>
        </p:nvSpPr>
        <p:spPr bwMode="auto">
          <a:xfrm>
            <a:off x="1524000" y="1"/>
            <a:ext cx="3505200" cy="3141663"/>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prstTxWarp prst="textNoShape">
              <a:avLst/>
            </a:prstTxWarp>
          </a:bodyPr>
          <a:lstStyle/>
          <a:p>
            <a:endParaRPr lang="en-US"/>
          </a:p>
        </p:txBody>
      </p:sp>
      <p:sp>
        <p:nvSpPr>
          <p:cNvPr id="97284" name="Rectangle 4"/>
          <p:cNvSpPr>
            <a:spLocks noGrp="1" noChangeArrowheads="1"/>
          </p:cNvSpPr>
          <p:nvPr>
            <p:ph type="title"/>
          </p:nvPr>
        </p:nvSpPr>
        <p:spPr>
          <a:xfrm>
            <a:off x="2208214" y="981075"/>
            <a:ext cx="6397625" cy="838200"/>
          </a:xfrm>
        </p:spPr>
        <p:txBody>
          <a:bodyPr/>
          <a:lstStyle/>
          <a:p>
            <a:pPr eaLnBrk="1" hangingPunct="1"/>
            <a:r>
              <a:rPr lang="en-US">
                <a:solidFill>
                  <a:schemeClr val="bg1"/>
                </a:solidFill>
              </a:rPr>
              <a:t>Marking</a:t>
            </a:r>
          </a:p>
        </p:txBody>
      </p:sp>
      <p:pic>
        <p:nvPicPr>
          <p:cNvPr id="6" name="Picture 11" descr="Bob-the-bouncer"/>
          <p:cNvPicPr>
            <a:picLocks noChangeAspect="1" noChangeArrowheads="1"/>
          </p:cNvPicPr>
          <p:nvPr/>
        </p:nvPicPr>
        <p:blipFill>
          <a:blip r:embed="rId3"/>
          <a:srcRect/>
          <a:stretch>
            <a:fillRect/>
          </a:stretch>
        </p:blipFill>
        <p:spPr bwMode="auto">
          <a:xfrm>
            <a:off x="7038976" y="1124745"/>
            <a:ext cx="1566862" cy="216058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out)">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en-US">
                <a:solidFill>
                  <a:srgbClr val="7D36B8"/>
                </a:solidFill>
              </a:rPr>
              <a:t>Marking: What and Why</a:t>
            </a:r>
          </a:p>
        </p:txBody>
      </p:sp>
      <p:sp>
        <p:nvSpPr>
          <p:cNvPr id="99331" name="Rectangle 3"/>
          <p:cNvSpPr>
            <a:spLocks noGrp="1" noChangeArrowheads="1"/>
          </p:cNvSpPr>
          <p:nvPr>
            <p:ph idx="1"/>
          </p:nvPr>
        </p:nvSpPr>
        <p:spPr>
          <a:xfrm>
            <a:off x="2179639" y="1700214"/>
            <a:ext cx="7940675" cy="4465637"/>
          </a:xfrm>
        </p:spPr>
        <p:txBody>
          <a:bodyPr>
            <a:normAutofit lnSpcReduction="10000"/>
          </a:bodyPr>
          <a:lstStyle/>
          <a:p>
            <a:r>
              <a:rPr lang="en-US"/>
              <a:t>Marking adds, removes, or modifies a characteristic of a packet.</a:t>
            </a:r>
          </a:p>
          <a:p>
            <a:endParaRPr lang="en-US"/>
          </a:p>
          <a:p>
            <a:endParaRPr lang="en-US"/>
          </a:p>
          <a:p>
            <a:endParaRPr lang="en-US"/>
          </a:p>
          <a:p>
            <a:r>
              <a:rPr lang="en-US"/>
              <a:t>It is used to identify packets, either:</a:t>
            </a:r>
          </a:p>
          <a:p>
            <a:pPr>
              <a:buFont typeface="Wingdings" pitchFamily="1" charset="2"/>
              <a:buNone/>
            </a:pPr>
            <a:r>
              <a:rPr lang="en-US"/>
              <a:t>		</a:t>
            </a:r>
            <a:r>
              <a:rPr lang="en-US">
                <a:solidFill>
                  <a:srgbClr val="7D36B8"/>
                </a:solidFill>
              </a:rPr>
              <a:t>Locally</a:t>
            </a:r>
            <a:r>
              <a:rPr lang="en-US"/>
              <a:t>: Only internal to the router (i.e. qos-group)</a:t>
            </a:r>
          </a:p>
          <a:p>
            <a:pPr>
              <a:buFont typeface="Wingdings" pitchFamily="1" charset="2"/>
              <a:buNone/>
            </a:pPr>
            <a:r>
              <a:rPr lang="en-US">
                <a:solidFill>
                  <a:schemeClr val="folHlink"/>
                </a:solidFill>
              </a:rPr>
              <a:t>		</a:t>
            </a:r>
            <a:r>
              <a:rPr lang="en-US">
                <a:solidFill>
                  <a:srgbClr val="7D36B8"/>
                </a:solidFill>
              </a:rPr>
              <a:t>Network-wide</a:t>
            </a:r>
            <a:r>
              <a:rPr lang="en-US"/>
              <a:t>: Packet itself is modified (i.e. DSCP)</a:t>
            </a:r>
          </a:p>
        </p:txBody>
      </p:sp>
      <p:sp>
        <p:nvSpPr>
          <p:cNvPr id="99332" name="Rectangle 4"/>
          <p:cNvSpPr>
            <a:spLocks noChangeArrowheads="1"/>
          </p:cNvSpPr>
          <p:nvPr/>
        </p:nvSpPr>
        <p:spPr bwMode="auto">
          <a:xfrm>
            <a:off x="6013042" y="2933208"/>
            <a:ext cx="165917" cy="415323"/>
          </a:xfrm>
          <a:prstGeom prst="rect">
            <a:avLst/>
          </a:prstGeom>
          <a:solidFill>
            <a:srgbClr val="FFFFFF"/>
          </a:solidFill>
          <a:ln w="9525">
            <a:solidFill>
              <a:schemeClr val="tx1"/>
            </a:solidFill>
            <a:miter lim="800000"/>
            <a:headEnd/>
            <a:tailEnd/>
          </a:ln>
        </p:spPr>
        <p:txBody>
          <a:bodyPr wrap="none" lIns="82124" tIns="41061" rIns="82124" bIns="41061" anchor="ctr">
            <a:prstTxWarp prst="textNoShape">
              <a:avLst/>
            </a:prstTxWarp>
            <a:spAutoFit/>
          </a:bodyPr>
          <a:lstStyle/>
          <a:p>
            <a:endParaRPr lang="en-US"/>
          </a:p>
        </p:txBody>
      </p:sp>
      <p:sp>
        <p:nvSpPr>
          <p:cNvPr id="99333" name="Rectangle 8"/>
          <p:cNvSpPr>
            <a:spLocks noChangeArrowheads="1"/>
          </p:cNvSpPr>
          <p:nvPr/>
        </p:nvSpPr>
        <p:spPr bwMode="auto">
          <a:xfrm>
            <a:off x="7319963" y="2933208"/>
            <a:ext cx="1871662" cy="415323"/>
          </a:xfrm>
          <a:prstGeom prst="rect">
            <a:avLst/>
          </a:prstGeom>
          <a:solidFill>
            <a:srgbClr val="800080"/>
          </a:solidFill>
          <a:ln w="9525">
            <a:solidFill>
              <a:schemeClr val="tx1"/>
            </a:solidFill>
            <a:miter lim="800000"/>
            <a:headEnd/>
            <a:tailEnd/>
          </a:ln>
        </p:spPr>
        <p:txBody>
          <a:bodyPr lIns="82124" tIns="41061" rIns="82124" bIns="41061" anchor="ctr">
            <a:prstTxWarp prst="textNoShape">
              <a:avLst/>
            </a:prstTxWarp>
            <a:spAutoFit/>
          </a:bodyPr>
          <a:lstStyle/>
          <a:p>
            <a:endParaRPr lang="en-US"/>
          </a:p>
        </p:txBody>
      </p:sp>
      <p:sp>
        <p:nvSpPr>
          <p:cNvPr id="99334" name="Rectangle 9"/>
          <p:cNvSpPr>
            <a:spLocks noChangeArrowheads="1"/>
          </p:cNvSpPr>
          <p:nvPr/>
        </p:nvSpPr>
        <p:spPr bwMode="auto">
          <a:xfrm>
            <a:off x="7680325" y="2933208"/>
            <a:ext cx="287338" cy="415323"/>
          </a:xfrm>
          <a:prstGeom prst="rect">
            <a:avLst/>
          </a:prstGeom>
          <a:solidFill>
            <a:srgbClr val="FFFFFF"/>
          </a:solidFill>
          <a:ln w="9525">
            <a:solidFill>
              <a:schemeClr val="tx1"/>
            </a:solidFill>
            <a:miter lim="800000"/>
            <a:headEnd/>
            <a:tailEnd/>
          </a:ln>
        </p:spPr>
        <p:txBody>
          <a:bodyPr lIns="82124" tIns="41061" rIns="82124" bIns="41061" anchor="ctr">
            <a:prstTxWarp prst="textNoShape">
              <a:avLst/>
            </a:prstTxWarp>
            <a:spAutoFit/>
          </a:bodyPr>
          <a:lstStyle/>
          <a:p>
            <a:endParaRPr lang="en-US"/>
          </a:p>
        </p:txBody>
      </p:sp>
      <p:grpSp>
        <p:nvGrpSpPr>
          <p:cNvPr id="2" name="Group 12"/>
          <p:cNvGrpSpPr>
            <a:grpSpLocks/>
          </p:cNvGrpSpPr>
          <p:nvPr/>
        </p:nvGrpSpPr>
        <p:grpSpPr bwMode="auto">
          <a:xfrm>
            <a:off x="7608888" y="2781300"/>
            <a:ext cx="442912" cy="698500"/>
            <a:chOff x="3833" y="1832"/>
            <a:chExt cx="279" cy="440"/>
          </a:xfrm>
        </p:grpSpPr>
        <p:sp>
          <p:nvSpPr>
            <p:cNvPr id="99339" name="Text Box 10"/>
            <p:cNvSpPr txBox="1">
              <a:spLocks noChangeArrowheads="1"/>
            </p:cNvSpPr>
            <p:nvPr/>
          </p:nvSpPr>
          <p:spPr bwMode="auto">
            <a:xfrm>
              <a:off x="3833" y="1832"/>
              <a:ext cx="189" cy="440"/>
            </a:xfrm>
            <a:prstGeom prst="rect">
              <a:avLst/>
            </a:prstGeom>
            <a:noFill/>
            <a:ln w="9525">
              <a:noFill/>
              <a:miter lim="800000"/>
              <a:headEnd/>
              <a:tailEnd/>
            </a:ln>
          </p:spPr>
          <p:txBody>
            <a:bodyPr lIns="82124" tIns="41061" rIns="82124" bIns="41061">
              <a:prstTxWarp prst="textNoShape">
                <a:avLst/>
              </a:prstTxWarp>
              <a:spAutoFit/>
            </a:bodyPr>
            <a:lstStyle/>
            <a:p>
              <a:pPr defTabSz="814388">
                <a:lnSpc>
                  <a:spcPct val="40000"/>
                </a:lnSpc>
                <a:spcBef>
                  <a:spcPct val="50000"/>
                </a:spcBef>
              </a:pPr>
              <a:endParaRPr lang="en-US" sz="1000" b="1"/>
            </a:p>
            <a:p>
              <a:pPr defTabSz="814388">
                <a:lnSpc>
                  <a:spcPct val="40000"/>
                </a:lnSpc>
                <a:spcBef>
                  <a:spcPct val="50000"/>
                </a:spcBef>
              </a:pPr>
              <a:r>
                <a:rPr lang="en-US" sz="1000" b="1"/>
                <a:t>P</a:t>
              </a:r>
            </a:p>
            <a:p>
              <a:pPr defTabSz="814388">
                <a:lnSpc>
                  <a:spcPct val="40000"/>
                </a:lnSpc>
                <a:spcBef>
                  <a:spcPct val="50000"/>
                </a:spcBef>
              </a:pPr>
              <a:r>
                <a:rPr lang="en-US" sz="1000" b="1"/>
                <a:t>R </a:t>
              </a:r>
            </a:p>
            <a:p>
              <a:pPr defTabSz="814388">
                <a:lnSpc>
                  <a:spcPct val="40000"/>
                </a:lnSpc>
                <a:spcBef>
                  <a:spcPct val="50000"/>
                </a:spcBef>
              </a:pPr>
              <a:r>
                <a:rPr lang="en-US" sz="1000" b="1"/>
                <a:t>E</a:t>
              </a:r>
            </a:p>
            <a:p>
              <a:pPr defTabSz="814388">
                <a:lnSpc>
                  <a:spcPct val="40000"/>
                </a:lnSpc>
                <a:spcBef>
                  <a:spcPct val="50000"/>
                </a:spcBef>
              </a:pPr>
              <a:r>
                <a:rPr lang="en-US" sz="1000" b="1"/>
                <a:t>C</a:t>
              </a:r>
            </a:p>
          </p:txBody>
        </p:sp>
        <p:sp>
          <p:nvSpPr>
            <p:cNvPr id="99340" name="Text Box 11"/>
            <p:cNvSpPr txBox="1">
              <a:spLocks noChangeArrowheads="1"/>
            </p:cNvSpPr>
            <p:nvPr/>
          </p:nvSpPr>
          <p:spPr bwMode="auto">
            <a:xfrm>
              <a:off x="3923" y="1963"/>
              <a:ext cx="189" cy="106"/>
            </a:xfrm>
            <a:prstGeom prst="rect">
              <a:avLst/>
            </a:prstGeom>
            <a:noFill/>
            <a:ln w="9525">
              <a:noFill/>
              <a:miter lim="800000"/>
              <a:headEnd/>
              <a:tailEnd/>
            </a:ln>
          </p:spPr>
          <p:txBody>
            <a:bodyPr lIns="82124" tIns="41061" rIns="82124" bIns="41061">
              <a:prstTxWarp prst="textNoShape">
                <a:avLst/>
              </a:prstTxWarp>
              <a:spAutoFit/>
            </a:bodyPr>
            <a:lstStyle/>
            <a:p>
              <a:pPr defTabSz="814388">
                <a:lnSpc>
                  <a:spcPct val="40000"/>
                </a:lnSpc>
                <a:spcBef>
                  <a:spcPct val="50000"/>
                </a:spcBef>
              </a:pPr>
              <a:r>
                <a:rPr lang="en-US" sz="1400" b="1"/>
                <a:t>5</a:t>
              </a:r>
            </a:p>
          </p:txBody>
        </p:sp>
      </p:grpSp>
      <p:sp>
        <p:nvSpPr>
          <p:cNvPr id="99336" name="Text Box 14"/>
          <p:cNvSpPr txBox="1">
            <a:spLocks noChangeArrowheads="1"/>
          </p:cNvSpPr>
          <p:nvPr/>
        </p:nvSpPr>
        <p:spPr bwMode="auto">
          <a:xfrm>
            <a:off x="8256588" y="3141664"/>
            <a:ext cx="963612" cy="274637"/>
          </a:xfrm>
          <a:prstGeom prst="rect">
            <a:avLst/>
          </a:prstGeom>
          <a:noFill/>
          <a:ln w="9525">
            <a:noFill/>
            <a:miter lim="800000"/>
            <a:headEnd/>
            <a:tailEnd/>
          </a:ln>
        </p:spPr>
        <p:txBody>
          <a:bodyPr wrap="none" lIns="82124" tIns="41061" rIns="82124" bIns="41061">
            <a:prstTxWarp prst="textNoShape">
              <a:avLst/>
            </a:prstTxWarp>
            <a:spAutoFit/>
          </a:bodyPr>
          <a:lstStyle/>
          <a:p>
            <a:pPr defTabSz="814388"/>
            <a:r>
              <a:rPr lang="en-US" sz="1400">
                <a:solidFill>
                  <a:schemeClr val="bg1"/>
                </a:solidFill>
              </a:rPr>
              <a:t>IP Header</a:t>
            </a:r>
          </a:p>
        </p:txBody>
      </p:sp>
      <p:sp>
        <p:nvSpPr>
          <p:cNvPr id="110607" name="Rectangle 15"/>
          <p:cNvSpPr>
            <a:spLocks noChangeArrowheads="1"/>
          </p:cNvSpPr>
          <p:nvPr/>
        </p:nvSpPr>
        <p:spPr bwMode="auto">
          <a:xfrm>
            <a:off x="7741036" y="2933208"/>
            <a:ext cx="165917" cy="415323"/>
          </a:xfrm>
          <a:prstGeom prst="rect">
            <a:avLst/>
          </a:prstGeom>
          <a:solidFill>
            <a:schemeClr val="bg1"/>
          </a:solidFill>
          <a:ln w="9525">
            <a:solidFill>
              <a:schemeClr val="tx1"/>
            </a:solidFill>
            <a:miter lim="800000"/>
            <a:headEnd/>
            <a:tailEnd/>
          </a:ln>
        </p:spPr>
        <p:txBody>
          <a:bodyPr wrap="none" lIns="82124" tIns="41061" rIns="82124" bIns="41061" anchor="ctr">
            <a:prstTxWarp prst="textNoShape">
              <a:avLst/>
            </a:prstTxWarp>
            <a:spAutoFit/>
          </a:bodyPr>
          <a:lstStyle/>
          <a:p>
            <a:endParaRPr lang="en-US"/>
          </a:p>
        </p:txBody>
      </p:sp>
      <p:sp>
        <p:nvSpPr>
          <p:cNvPr id="99338" name="Text Box 16"/>
          <p:cNvSpPr txBox="1">
            <a:spLocks noChangeArrowheads="1"/>
          </p:cNvSpPr>
          <p:nvPr/>
        </p:nvSpPr>
        <p:spPr bwMode="auto">
          <a:xfrm>
            <a:off x="3575050" y="3141663"/>
            <a:ext cx="774700" cy="330200"/>
          </a:xfrm>
          <a:prstGeom prst="rect">
            <a:avLst/>
          </a:prstGeom>
          <a:noFill/>
          <a:ln w="9525">
            <a:noFill/>
            <a:miter lim="800000"/>
            <a:headEnd/>
            <a:tailEnd/>
          </a:ln>
        </p:spPr>
        <p:txBody>
          <a:bodyPr wrap="none" lIns="82124" tIns="41061" rIns="82124" bIns="41061">
            <a:prstTxWarp prst="textNoShape">
              <a:avLst/>
            </a:prstTxWarp>
            <a:spAutoFit/>
          </a:bodyPr>
          <a:lstStyle/>
          <a:p>
            <a:pPr defTabSz="814388"/>
            <a:r>
              <a:rPr lang="en-US" sz="1800"/>
              <a:t>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2000"/>
                                        <p:tgtEl>
                                          <p:spTgt spid="110607"/>
                                        </p:tgtEl>
                                      </p:cBhvr>
                                    </p:animEffect>
                                    <p:set>
                                      <p:cBhvr>
                                        <p:cTn id="7" dur="1" fill="hold">
                                          <p:stCondLst>
                                            <p:cond delay="1999"/>
                                          </p:stCondLst>
                                        </p:cTn>
                                        <p:tgtEl>
                                          <p:spTgt spid="1106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a:solidFill>
                  <a:srgbClr val="7D36B8"/>
                </a:solidFill>
              </a:rPr>
              <a:t>Marking: How it works</a:t>
            </a:r>
          </a:p>
        </p:txBody>
      </p:sp>
      <p:sp>
        <p:nvSpPr>
          <p:cNvPr id="100355" name="Rectangle 3"/>
          <p:cNvSpPr>
            <a:spLocks noGrp="1" noChangeArrowheads="1"/>
          </p:cNvSpPr>
          <p:nvPr>
            <p:ph idx="1"/>
          </p:nvPr>
        </p:nvSpPr>
        <p:spPr/>
        <p:txBody>
          <a:bodyPr/>
          <a:lstStyle/>
          <a:p>
            <a:pPr marL="457200" indent="-457200">
              <a:buFont typeface="Wingdings" pitchFamily="1" charset="2"/>
              <a:buAutoNum type="arabicPeriod"/>
            </a:pPr>
            <a:r>
              <a:rPr lang="en-US"/>
              <a:t>Using </a:t>
            </a:r>
            <a:r>
              <a:rPr lang="en-US">
                <a:solidFill>
                  <a:srgbClr val="7D36B8"/>
                </a:solidFill>
              </a:rPr>
              <a:t>Class-Based Marking</a:t>
            </a:r>
          </a:p>
          <a:p>
            <a:pPr marL="1295400" lvl="2" indent="-381000"/>
            <a:r>
              <a:rPr lang="en-US"/>
              <a:t>Requires CEF to work.</a:t>
            </a:r>
          </a:p>
          <a:p>
            <a:pPr marL="1295400" lvl="2" indent="-381000"/>
            <a:r>
              <a:rPr lang="en-US"/>
              <a:t>Packets are (re)marked using the </a:t>
            </a:r>
            <a:r>
              <a:rPr lang="en-US">
                <a:solidFill>
                  <a:srgbClr val="5A2785"/>
                </a:solidFill>
              </a:rPr>
              <a:t>set</a:t>
            </a:r>
            <a:r>
              <a:rPr lang="en-US"/>
              <a:t> keyword.</a:t>
            </a:r>
          </a:p>
          <a:p>
            <a:pPr marL="1295400" lvl="2" indent="-381000"/>
            <a:endParaRPr lang="en-US"/>
          </a:p>
          <a:p>
            <a:pPr marL="457200" indent="-457200">
              <a:buFont typeface="Wingdings" pitchFamily="1" charset="2"/>
              <a:buAutoNum type="arabicPeriod"/>
            </a:pPr>
            <a:r>
              <a:rPr lang="en-US"/>
              <a:t>Using a </a:t>
            </a:r>
            <a:r>
              <a:rPr lang="en-US">
                <a:solidFill>
                  <a:srgbClr val="7D36B8"/>
                </a:solidFill>
              </a:rPr>
              <a:t>Policing mechanism</a:t>
            </a:r>
          </a:p>
          <a:p>
            <a:pPr marL="1295400" lvl="2" indent="-381000"/>
            <a:r>
              <a:rPr lang="en-US"/>
              <a:t>Not the main purpose of the policer, but it is often used to (re)mark packet differently whether they </a:t>
            </a:r>
            <a:r>
              <a:rPr lang="en-US" i="1">
                <a:solidFill>
                  <a:schemeClr val="tx2"/>
                </a:solidFill>
              </a:rPr>
              <a:t>conform</a:t>
            </a:r>
            <a:r>
              <a:rPr lang="en-US"/>
              <a:t> or </a:t>
            </a:r>
            <a:r>
              <a:rPr lang="en-US" i="1">
                <a:solidFill>
                  <a:schemeClr val="tx2"/>
                </a:solidFill>
              </a:rPr>
              <a:t>exceed</a:t>
            </a:r>
            <a:r>
              <a:rPr lang="en-US"/>
              <a:t> the policer settings.</a:t>
            </a:r>
          </a:p>
          <a:p>
            <a:pPr marL="1295400" lvl="2" indent="-381000"/>
            <a:r>
              <a:rPr lang="en-US"/>
              <a:t>Class-Based Policing </a:t>
            </a:r>
            <a:r>
              <a:rPr lang="en-US" i="1">
                <a:solidFill>
                  <a:schemeClr val="bg2"/>
                </a:solidFill>
              </a:rPr>
              <a:t>or Committed Access Rate (CAR)</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en-US">
                <a:solidFill>
                  <a:srgbClr val="7D36B8"/>
                </a:solidFill>
              </a:rPr>
              <a:t>Marking: What can be marked</a:t>
            </a:r>
          </a:p>
        </p:txBody>
      </p:sp>
      <p:sp>
        <p:nvSpPr>
          <p:cNvPr id="101379" name="Rectangle 3"/>
          <p:cNvSpPr>
            <a:spLocks noGrp="1" noChangeArrowheads="1"/>
          </p:cNvSpPr>
          <p:nvPr>
            <p:ph idx="1"/>
          </p:nvPr>
        </p:nvSpPr>
        <p:spPr>
          <a:xfrm>
            <a:off x="2208214" y="1484313"/>
            <a:ext cx="7940675" cy="4824412"/>
          </a:xfrm>
        </p:spPr>
        <p:txBody>
          <a:bodyPr/>
          <a:lstStyle/>
          <a:p>
            <a:r>
              <a:rPr lang="en-US" sz="2800"/>
              <a:t>Depending on the chosen marking method:</a:t>
            </a:r>
          </a:p>
          <a:p>
            <a:pPr lvl="2">
              <a:buFontTx/>
              <a:buNone/>
            </a:pPr>
            <a:r>
              <a:rPr lang="en-US" sz="2400"/>
              <a:t>IP Precedence</a:t>
            </a:r>
          </a:p>
          <a:p>
            <a:pPr lvl="2">
              <a:buClr>
                <a:schemeClr val="tx2"/>
              </a:buClr>
              <a:buFont typeface="Wingdings" pitchFamily="1" charset="2"/>
              <a:buNone/>
            </a:pPr>
            <a:r>
              <a:rPr lang="en-US" sz="2400"/>
              <a:t>DiffServ Code Point (DSCP)</a:t>
            </a:r>
          </a:p>
          <a:p>
            <a:pPr lvl="2">
              <a:buClr>
                <a:schemeClr val="tx2"/>
              </a:buClr>
              <a:buFont typeface="Wingdings" pitchFamily="1" charset="2"/>
              <a:buNone/>
            </a:pPr>
            <a:r>
              <a:rPr lang="en-US" sz="2400"/>
              <a:t>MPLS Experimental bits</a:t>
            </a:r>
          </a:p>
          <a:p>
            <a:pPr lvl="2">
              <a:buClr>
                <a:schemeClr val="tx2"/>
              </a:buClr>
              <a:buFont typeface="Wingdings" pitchFamily="1" charset="2"/>
              <a:buNone/>
            </a:pPr>
            <a:r>
              <a:rPr lang="en-US" sz="2400">
                <a:solidFill>
                  <a:schemeClr val="folHlink"/>
                </a:solidFill>
              </a:rPr>
              <a:t>QoS groups</a:t>
            </a:r>
          </a:p>
          <a:p>
            <a:pPr lvl="2">
              <a:buClr>
                <a:schemeClr val="tx2"/>
              </a:buClr>
              <a:buFont typeface="Wingdings" pitchFamily="1" charset="2"/>
              <a:buNone/>
            </a:pPr>
            <a:r>
              <a:rPr lang="en-US" sz="2400"/>
              <a:t>ATM CLP bit</a:t>
            </a:r>
          </a:p>
          <a:p>
            <a:pPr lvl="2">
              <a:buClr>
                <a:schemeClr val="tx2"/>
              </a:buClr>
              <a:buFont typeface="Wingdings" pitchFamily="1" charset="2"/>
              <a:buNone/>
            </a:pPr>
            <a:r>
              <a:rPr lang="en-US" sz="2400"/>
              <a:t>Frame-relay DE bit</a:t>
            </a:r>
          </a:p>
          <a:p>
            <a:pPr lvl="2">
              <a:buClr>
                <a:schemeClr val="tx2"/>
              </a:buClr>
              <a:buFont typeface="Wingdings" pitchFamily="1" charset="2"/>
              <a:buNone/>
            </a:pPr>
            <a:r>
              <a:rPr lang="en-US" sz="2400"/>
              <a:t>IEEE 802.1Q or ISL CoS/priority bits (*)</a:t>
            </a:r>
          </a:p>
          <a:p>
            <a:pPr lvl="2">
              <a:buClr>
                <a:schemeClr val="tx2"/>
              </a:buClr>
              <a:buFont typeface="Wingdings" pitchFamily="1" charset="2"/>
              <a:buNone/>
            </a:pPr>
            <a:r>
              <a:rPr lang="en-US" sz="2400">
                <a:solidFill>
                  <a:schemeClr val="folHlink"/>
                </a:solidFill>
              </a:rPr>
              <a:t>Discard-class</a:t>
            </a:r>
          </a:p>
          <a:p>
            <a:pPr>
              <a:buFont typeface="Wingdings" pitchFamily="1" charset="2"/>
              <a:buNone/>
            </a:pPr>
            <a:r>
              <a:rPr lang="en-US" sz="1800"/>
              <a:t>(*) Only for output policies on trunks</a:t>
            </a:r>
          </a:p>
          <a:p>
            <a:pPr>
              <a:buFont typeface="Wingdings" pitchFamily="1" charset="2"/>
              <a:buNone/>
            </a:pP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en-US">
                <a:solidFill>
                  <a:srgbClr val="7D36B8"/>
                </a:solidFill>
              </a:rPr>
              <a:t>Marking: CAR (pre-MQC)</a:t>
            </a:r>
          </a:p>
        </p:txBody>
      </p:sp>
      <p:sp>
        <p:nvSpPr>
          <p:cNvPr id="102403" name="Rectangle 3"/>
          <p:cNvSpPr>
            <a:spLocks noGrp="1" noChangeArrowheads="1"/>
          </p:cNvSpPr>
          <p:nvPr>
            <p:ph idx="1"/>
          </p:nvPr>
        </p:nvSpPr>
        <p:spPr>
          <a:xfrm>
            <a:off x="2135189" y="1484314"/>
            <a:ext cx="7940675" cy="3571875"/>
          </a:xfrm>
        </p:spPr>
        <p:txBody>
          <a:bodyPr/>
          <a:lstStyle/>
          <a:p>
            <a:pPr>
              <a:lnSpc>
                <a:spcPct val="90000"/>
              </a:lnSpc>
              <a:buSzTx/>
            </a:pPr>
            <a:r>
              <a:rPr lang="en-US"/>
              <a:t>Still often used because easy to configure, but MQC is   cleaner and better.</a:t>
            </a:r>
          </a:p>
          <a:p>
            <a:endParaRPr lang="en-US"/>
          </a:p>
        </p:txBody>
      </p:sp>
      <p:sp>
        <p:nvSpPr>
          <p:cNvPr id="113668" name="Rectangle 4"/>
          <p:cNvSpPr>
            <a:spLocks noChangeArrowheads="1"/>
          </p:cNvSpPr>
          <p:nvPr/>
        </p:nvSpPr>
        <p:spPr bwMode="auto">
          <a:xfrm>
            <a:off x="1774825" y="2349500"/>
            <a:ext cx="8680450" cy="4032250"/>
          </a:xfrm>
          <a:prstGeom prst="rect">
            <a:avLst/>
          </a:prstGeom>
          <a:solidFill>
            <a:srgbClr val="5A2785"/>
          </a:solidFill>
          <a:ln w="9525">
            <a:noFill/>
            <a:miter lim="800000"/>
            <a:headEnd/>
            <a:tailEnd/>
          </a:ln>
          <a:effectLst>
            <a:outerShdw dist="107763" dir="2700000" algn="ctr" rotWithShape="0">
              <a:schemeClr val="bg2">
                <a:alpha val="50000"/>
              </a:schemeClr>
            </a:outerShdw>
          </a:effectLst>
        </p:spPr>
        <p:txBody>
          <a:bodyPr lIns="82124" tIns="41061" rIns="82124" bIns="41061" anchor="ctr" anchorCtr="1"/>
          <a:lstStyle/>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vileplume(config-if)#rate-limit input dscp 45 800 800 800 conform-action ?</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continue               scan other rate limits</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drop                   drop packet</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set-dscp-continue      set dscp, scan other rate limits</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set-dscp-transmit      set dscp and send it</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set-mpls-exp-continue  set exp during imposition, scan other rate limits</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set-mpls-exp-transmit  set exp during imposition and send it</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set-prec-continue      rewrite packet precedence, scan other rate limits</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set-prec-transmit      rewrite packet precedence and send it</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set-qos-continue       set qos-group, scan other rate limits</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set-qos-transmit       set qos-group and send it</a:t>
            </a:r>
          </a:p>
          <a:p>
            <a:pPr marL="236538" indent="-236538" algn="l" defTabSz="814388">
              <a:lnSpc>
                <a:spcPct val="75000"/>
              </a:lnSpc>
              <a:spcBef>
                <a:spcPct val="50000"/>
              </a:spcBef>
              <a:buClr>
                <a:schemeClr val="tx2"/>
              </a:buClr>
              <a:buSzPct val="100000"/>
              <a:defRPr/>
            </a:pPr>
            <a:r>
              <a:rPr lang="en-US" sz="1500" b="1">
                <a:solidFill>
                  <a:schemeClr val="bg1"/>
                </a:solidFill>
                <a:latin typeface="Courier New" pitchFamily="49" charset="0"/>
              </a:rPr>
              <a:t>  transmit               transmit packet</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en-GB">
                <a:solidFill>
                  <a:srgbClr val="7D36B8"/>
                </a:solidFill>
              </a:rPr>
              <a:t>Marking: Class-Based Policing</a:t>
            </a:r>
            <a:endParaRPr lang="en-US">
              <a:solidFill>
                <a:srgbClr val="7D36B8"/>
              </a:solidFill>
            </a:endParaRPr>
          </a:p>
        </p:txBody>
      </p:sp>
      <p:sp>
        <p:nvSpPr>
          <p:cNvPr id="114691" name="Rectangle 3"/>
          <p:cNvSpPr>
            <a:spLocks noGrp="1" noChangeArrowheads="1"/>
          </p:cNvSpPr>
          <p:nvPr>
            <p:ph idx="1"/>
          </p:nvPr>
        </p:nvSpPr>
        <p:spPr>
          <a:xfrm>
            <a:off x="1992314" y="2636838"/>
            <a:ext cx="8137525" cy="3816350"/>
          </a:xfrm>
          <a:solidFill>
            <a:srgbClr val="5A2785"/>
          </a:solidFill>
          <a:effectLst>
            <a:outerShdw dist="107763" dir="2700000" algn="ctr" rotWithShape="0">
              <a:schemeClr val="bg2">
                <a:alpha val="50000"/>
              </a:schemeClr>
            </a:outerShdw>
          </a:effectLst>
        </p:spPr>
        <p:txBody>
          <a:bodyPr>
            <a:normAutofit lnSpcReduction="10000"/>
          </a:bodyPr>
          <a:lstStyle/>
          <a:p>
            <a:pPr>
              <a:lnSpc>
                <a:spcPct val="75000"/>
              </a:lnSpc>
              <a:buFont typeface="Wingdings" pitchFamily="2" charset="2"/>
              <a:buNone/>
              <a:defRPr/>
            </a:pPr>
            <a:r>
              <a:rPr lang="en-US" sz="1400" b="1">
                <a:solidFill>
                  <a:schemeClr val="bg1"/>
                </a:solidFill>
                <a:latin typeface="Courier New" pitchFamily="49" charset="0"/>
              </a:rPr>
              <a:t>R2(config-pmap-c)#police 30000 conform-action ?</a:t>
            </a:r>
          </a:p>
          <a:p>
            <a:pPr>
              <a:lnSpc>
                <a:spcPct val="75000"/>
              </a:lnSpc>
              <a:buFont typeface="Wingdings" pitchFamily="2" charset="2"/>
              <a:buNone/>
              <a:defRPr/>
            </a:pPr>
            <a:r>
              <a:rPr lang="en-US" sz="1400" b="1">
                <a:solidFill>
                  <a:schemeClr val="bg1"/>
                </a:solidFill>
                <a:latin typeface="Courier New" pitchFamily="49" charset="0"/>
              </a:rPr>
              <a:t>  drop                              drop packet</a:t>
            </a:r>
          </a:p>
          <a:p>
            <a:pPr>
              <a:lnSpc>
                <a:spcPct val="75000"/>
              </a:lnSpc>
              <a:buFont typeface="Wingdings" pitchFamily="2" charset="2"/>
              <a:buNone/>
              <a:defRPr/>
            </a:pPr>
            <a:r>
              <a:rPr lang="en-US" sz="1400" b="1">
                <a:solidFill>
                  <a:schemeClr val="bg1"/>
                </a:solidFill>
                <a:latin typeface="Courier New" pitchFamily="49" charset="0"/>
              </a:rPr>
              <a:t>  exceed-action                     action when rate is within conform 					 and conform + exceed burst</a:t>
            </a:r>
          </a:p>
          <a:p>
            <a:pPr>
              <a:lnSpc>
                <a:spcPct val="75000"/>
              </a:lnSpc>
              <a:buFont typeface="Wingdings" pitchFamily="2" charset="2"/>
              <a:buNone/>
              <a:defRPr/>
            </a:pPr>
            <a:r>
              <a:rPr lang="en-US" sz="1400" b="1">
                <a:solidFill>
                  <a:schemeClr val="bg1"/>
                </a:solidFill>
                <a:latin typeface="Courier New" pitchFamily="49" charset="0"/>
              </a:rPr>
              <a:t>  set-clp-transmit                  set atm clp and send it</a:t>
            </a:r>
          </a:p>
          <a:p>
            <a:pPr>
              <a:lnSpc>
                <a:spcPct val="75000"/>
              </a:lnSpc>
              <a:buFont typeface="Wingdings" pitchFamily="2" charset="2"/>
              <a:buNone/>
              <a:defRPr/>
            </a:pPr>
            <a:r>
              <a:rPr lang="en-US" sz="1400" b="1">
                <a:solidFill>
                  <a:schemeClr val="bg1"/>
                </a:solidFill>
                <a:latin typeface="Courier New" pitchFamily="49" charset="0"/>
              </a:rPr>
              <a:t>  set-discard-class-transmit        set discard-class and send it</a:t>
            </a:r>
          </a:p>
          <a:p>
            <a:pPr>
              <a:lnSpc>
                <a:spcPct val="75000"/>
              </a:lnSpc>
              <a:buFont typeface="Wingdings" pitchFamily="2" charset="2"/>
              <a:buNone/>
              <a:defRPr/>
            </a:pPr>
            <a:r>
              <a:rPr lang="en-US" sz="1400" b="1">
                <a:solidFill>
                  <a:schemeClr val="bg1"/>
                </a:solidFill>
                <a:latin typeface="Courier New" pitchFamily="49" charset="0"/>
              </a:rPr>
              <a:t>  set-dscp-transmit                 set dscp and send it</a:t>
            </a:r>
          </a:p>
          <a:p>
            <a:pPr>
              <a:lnSpc>
                <a:spcPct val="75000"/>
              </a:lnSpc>
              <a:buFont typeface="Wingdings" pitchFamily="2" charset="2"/>
              <a:buNone/>
              <a:defRPr/>
            </a:pPr>
            <a:r>
              <a:rPr lang="en-US" sz="1400" b="1">
                <a:solidFill>
                  <a:schemeClr val="bg1"/>
                </a:solidFill>
                <a:latin typeface="Courier New" pitchFamily="49" charset="0"/>
              </a:rPr>
              <a:t>  set-frde-transmit                 set FR DE and send it</a:t>
            </a:r>
          </a:p>
          <a:p>
            <a:pPr>
              <a:lnSpc>
                <a:spcPct val="75000"/>
              </a:lnSpc>
              <a:buFont typeface="Wingdings" pitchFamily="2" charset="2"/>
              <a:buNone/>
              <a:defRPr/>
            </a:pPr>
            <a:r>
              <a:rPr lang="en-US" sz="1400" b="1">
                <a:solidFill>
                  <a:schemeClr val="bg1"/>
                </a:solidFill>
                <a:latin typeface="Courier New" pitchFamily="49" charset="0"/>
              </a:rPr>
              <a:t>  set-mpls-exp-imposition-transmit  set exp at tag imposition and send</a:t>
            </a:r>
          </a:p>
          <a:p>
            <a:pPr>
              <a:lnSpc>
                <a:spcPct val="75000"/>
              </a:lnSpc>
              <a:buFont typeface="Wingdings" pitchFamily="2" charset="2"/>
              <a:buNone/>
              <a:defRPr/>
            </a:pPr>
            <a:r>
              <a:rPr lang="en-US" sz="1400" b="1">
                <a:solidFill>
                  <a:schemeClr val="bg1"/>
                </a:solidFill>
                <a:latin typeface="Courier New" pitchFamily="49" charset="0"/>
              </a:rPr>
              <a:t>  set-mpls-exp-topmost-transmit     set exp on topmost label and send </a:t>
            </a:r>
          </a:p>
          <a:p>
            <a:pPr>
              <a:lnSpc>
                <a:spcPct val="75000"/>
              </a:lnSpc>
              <a:buFont typeface="Wingdings" pitchFamily="2" charset="2"/>
              <a:buNone/>
              <a:defRPr/>
            </a:pPr>
            <a:r>
              <a:rPr lang="en-US" sz="1400" b="1">
                <a:solidFill>
                  <a:schemeClr val="bg1"/>
                </a:solidFill>
                <a:latin typeface="Courier New" pitchFamily="49" charset="0"/>
              </a:rPr>
              <a:t>  set-prec-transmit                 rewrite packet precedence and send </a:t>
            </a:r>
          </a:p>
          <a:p>
            <a:pPr>
              <a:lnSpc>
                <a:spcPct val="75000"/>
              </a:lnSpc>
              <a:buFont typeface="Wingdings" pitchFamily="2" charset="2"/>
              <a:buNone/>
              <a:defRPr/>
            </a:pPr>
            <a:r>
              <a:rPr lang="en-US" sz="1400" b="1">
                <a:solidFill>
                  <a:schemeClr val="bg1"/>
                </a:solidFill>
                <a:latin typeface="Courier New" pitchFamily="49" charset="0"/>
              </a:rPr>
              <a:t>  set-qos-transmit                  set qos-group and send it</a:t>
            </a:r>
          </a:p>
          <a:p>
            <a:pPr>
              <a:lnSpc>
                <a:spcPct val="75000"/>
              </a:lnSpc>
              <a:buFont typeface="Wingdings" pitchFamily="2" charset="2"/>
              <a:buNone/>
              <a:defRPr/>
            </a:pPr>
            <a:r>
              <a:rPr lang="en-US" sz="1400" b="1">
                <a:solidFill>
                  <a:schemeClr val="bg1"/>
                </a:solidFill>
                <a:latin typeface="Courier New" pitchFamily="49" charset="0"/>
              </a:rPr>
              <a:t>  transmit                          transmit packet</a:t>
            </a:r>
          </a:p>
          <a:p>
            <a:pPr>
              <a:lnSpc>
                <a:spcPct val="75000"/>
              </a:lnSpc>
              <a:buFont typeface="Wingdings" pitchFamily="2" charset="2"/>
              <a:buNone/>
              <a:defRPr/>
            </a:pPr>
            <a:r>
              <a:rPr lang="en-US" sz="1400" b="1">
                <a:solidFill>
                  <a:schemeClr val="bg1"/>
                </a:solidFill>
                <a:latin typeface="Courier New" pitchFamily="49" charset="0"/>
              </a:rPr>
              <a:t>  &lt;cr&gt;</a:t>
            </a:r>
          </a:p>
        </p:txBody>
      </p:sp>
      <p:sp>
        <p:nvSpPr>
          <p:cNvPr id="103428" name="Text Box 4"/>
          <p:cNvSpPr txBox="1">
            <a:spLocks noChangeArrowheads="1"/>
          </p:cNvSpPr>
          <p:nvPr/>
        </p:nvSpPr>
        <p:spPr bwMode="auto">
          <a:xfrm>
            <a:off x="2208213" y="1125539"/>
            <a:ext cx="7848600" cy="1412519"/>
          </a:xfrm>
          <a:prstGeom prst="rect">
            <a:avLst/>
          </a:prstGeom>
          <a:noFill/>
          <a:ln w="9525">
            <a:noFill/>
            <a:miter lim="800000"/>
            <a:headEnd/>
            <a:tailEnd/>
          </a:ln>
        </p:spPr>
        <p:txBody>
          <a:bodyPr lIns="82124" tIns="41061" rIns="82124" bIns="41061">
            <a:prstTxWarp prst="textNoShape">
              <a:avLst/>
            </a:prstTxWarp>
            <a:spAutoFit/>
          </a:bodyPr>
          <a:lstStyle/>
          <a:p>
            <a:pPr algn="l" defTabSz="814388">
              <a:lnSpc>
                <a:spcPct val="120000"/>
              </a:lnSpc>
              <a:buClr>
                <a:schemeClr val="tx2"/>
              </a:buClr>
              <a:buFont typeface="Wingdings" pitchFamily="1" charset="2"/>
              <a:buChar char="§"/>
            </a:pPr>
            <a:r>
              <a:rPr lang="en-US"/>
              <a:t>  Similar to CAR</a:t>
            </a:r>
          </a:p>
          <a:p>
            <a:pPr algn="l" defTabSz="814388">
              <a:lnSpc>
                <a:spcPct val="120000"/>
              </a:lnSpc>
              <a:buClr>
                <a:schemeClr val="tx2"/>
              </a:buClr>
              <a:buFont typeface="Wingdings" pitchFamily="1" charset="2"/>
              <a:buChar char="§"/>
            </a:pPr>
            <a:r>
              <a:rPr lang="en-US"/>
              <a:t>  More Features (more fields can be marked)</a:t>
            </a:r>
          </a:p>
          <a:p>
            <a:pPr algn="l" defTabSz="814388">
              <a:lnSpc>
                <a:spcPct val="120000"/>
              </a:lnSpc>
              <a:buClr>
                <a:schemeClr val="tx2"/>
              </a:buClr>
              <a:buFont typeface="Wingdings" pitchFamily="1" charset="2"/>
              <a:buChar char="§"/>
            </a:pPr>
            <a:r>
              <a:rPr lang="en-US"/>
              <a:t>  Requires full MQC Configuration</a:t>
            </a: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ChangeArrowheads="1"/>
          </p:cNvSpPr>
          <p:nvPr/>
        </p:nvSpPr>
        <p:spPr bwMode="auto">
          <a:xfrm>
            <a:off x="1703389" y="2133600"/>
            <a:ext cx="8785225" cy="3384550"/>
          </a:xfrm>
          <a:prstGeom prst="rect">
            <a:avLst/>
          </a:prstGeom>
          <a:solidFill>
            <a:srgbClr val="5A2785"/>
          </a:solidFill>
          <a:ln w="9525">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104451" name="Rectangle 3"/>
          <p:cNvSpPr>
            <a:spLocks noGrp="1" noChangeArrowheads="1"/>
          </p:cNvSpPr>
          <p:nvPr>
            <p:ph type="title"/>
          </p:nvPr>
        </p:nvSpPr>
        <p:spPr/>
        <p:txBody>
          <a:bodyPr/>
          <a:lstStyle/>
          <a:p>
            <a:pPr eaLnBrk="1" hangingPunct="1"/>
            <a:r>
              <a:rPr lang="en-US">
                <a:solidFill>
                  <a:srgbClr val="7D36B8"/>
                </a:solidFill>
              </a:rPr>
              <a:t>Marking: Class-based Marking</a:t>
            </a:r>
          </a:p>
        </p:txBody>
      </p:sp>
      <p:sp>
        <p:nvSpPr>
          <p:cNvPr id="104452" name="Rectangle 4"/>
          <p:cNvSpPr>
            <a:spLocks noGrp="1" noChangeArrowheads="1"/>
          </p:cNvSpPr>
          <p:nvPr>
            <p:ph idx="1"/>
          </p:nvPr>
        </p:nvSpPr>
        <p:spPr>
          <a:xfrm>
            <a:off x="1847850" y="1836738"/>
            <a:ext cx="9144000" cy="4184650"/>
          </a:xfrm>
        </p:spPr>
        <p:txBody>
          <a:bodyPr/>
          <a:lstStyle/>
          <a:p>
            <a:pPr>
              <a:lnSpc>
                <a:spcPct val="85000"/>
              </a:lnSpc>
              <a:spcBef>
                <a:spcPct val="20000"/>
              </a:spcBef>
            </a:pPr>
            <a:endParaRPr lang="en-US">
              <a:latin typeface="Courier New" pitchFamily="1" charset="0"/>
            </a:endParaRPr>
          </a:p>
          <a:p>
            <a:pPr>
              <a:lnSpc>
                <a:spcPct val="85000"/>
              </a:lnSpc>
              <a:buFont typeface="Wingdings" pitchFamily="1" charset="2"/>
              <a:buNone/>
            </a:pPr>
            <a:r>
              <a:rPr lang="en-US" sz="1600" b="1">
                <a:solidFill>
                  <a:schemeClr val="bg1"/>
                </a:solidFill>
                <a:latin typeface="Courier New" pitchFamily="1" charset="0"/>
              </a:rPr>
              <a:t>R2(config-pmap-c)#set ?</a:t>
            </a:r>
          </a:p>
          <a:p>
            <a:pPr>
              <a:lnSpc>
                <a:spcPct val="85000"/>
              </a:lnSpc>
              <a:buFont typeface="Wingdings" pitchFamily="1" charset="2"/>
              <a:buNone/>
            </a:pPr>
            <a:r>
              <a:rPr lang="en-US" sz="1600" b="1">
                <a:solidFill>
                  <a:schemeClr val="bg1"/>
                </a:solidFill>
                <a:latin typeface="Courier New" pitchFamily="1" charset="0"/>
              </a:rPr>
              <a:t>  atm-clp        	Set ATM CLP bit to 1 </a:t>
            </a:r>
            <a:r>
              <a:rPr lang="en-US" sz="1600" b="1">
                <a:solidFill>
                  <a:schemeClr val="bg1"/>
                </a:solidFill>
                <a:sym typeface="Wingdings" pitchFamily="1" charset="2"/>
              </a:rPr>
              <a:t> since 12.2(4)T</a:t>
            </a:r>
            <a:endParaRPr lang="en-US" sz="1600" b="1">
              <a:solidFill>
                <a:schemeClr val="bg1"/>
              </a:solidFill>
              <a:latin typeface="Courier New" pitchFamily="1" charset="0"/>
            </a:endParaRPr>
          </a:p>
          <a:p>
            <a:pPr>
              <a:lnSpc>
                <a:spcPct val="85000"/>
              </a:lnSpc>
              <a:buFont typeface="Wingdings" pitchFamily="1" charset="2"/>
              <a:buNone/>
            </a:pPr>
            <a:r>
              <a:rPr lang="en-US" sz="1600" b="1">
                <a:solidFill>
                  <a:schemeClr val="bg1"/>
                </a:solidFill>
                <a:latin typeface="Courier New" pitchFamily="1" charset="0"/>
              </a:rPr>
              <a:t>  cos            	Set IEEE 802.1Q/ISL class of service/user priority</a:t>
            </a:r>
          </a:p>
          <a:p>
            <a:pPr>
              <a:lnSpc>
                <a:spcPct val="85000"/>
              </a:lnSpc>
              <a:buFont typeface="Wingdings" pitchFamily="1" charset="2"/>
              <a:buNone/>
            </a:pPr>
            <a:r>
              <a:rPr lang="en-US" sz="1600" b="1">
                <a:solidFill>
                  <a:schemeClr val="bg1"/>
                </a:solidFill>
                <a:latin typeface="Courier New" pitchFamily="1" charset="0"/>
              </a:rPr>
              <a:t>  discard-class  	Discard behavior identifier </a:t>
            </a:r>
            <a:r>
              <a:rPr lang="en-US" sz="1600" b="1">
                <a:solidFill>
                  <a:schemeClr val="bg1"/>
                </a:solidFill>
                <a:sym typeface="Wingdings" pitchFamily="1" charset="2"/>
              </a:rPr>
              <a:t> since 12.2(13)T</a:t>
            </a:r>
            <a:endParaRPr lang="en-US" sz="1600" b="1">
              <a:solidFill>
                <a:schemeClr val="bg1"/>
              </a:solidFill>
            </a:endParaRPr>
          </a:p>
          <a:p>
            <a:pPr>
              <a:lnSpc>
                <a:spcPct val="85000"/>
              </a:lnSpc>
              <a:buFont typeface="Wingdings" pitchFamily="1" charset="2"/>
              <a:buNone/>
            </a:pPr>
            <a:r>
              <a:rPr lang="en-US" sz="1600" b="1">
                <a:solidFill>
                  <a:schemeClr val="bg1"/>
                </a:solidFill>
                <a:latin typeface="Courier New" pitchFamily="1" charset="0"/>
              </a:rPr>
              <a:t>  dscp           	Set DSCP in IP(v4) and IPv6 packets</a:t>
            </a:r>
          </a:p>
          <a:p>
            <a:pPr>
              <a:lnSpc>
                <a:spcPct val="85000"/>
              </a:lnSpc>
              <a:buFont typeface="Wingdings" pitchFamily="1" charset="2"/>
              <a:buNone/>
            </a:pPr>
            <a:r>
              <a:rPr lang="en-US" sz="1600" b="1">
                <a:solidFill>
                  <a:schemeClr val="bg1"/>
                </a:solidFill>
                <a:latin typeface="Courier New" pitchFamily="1" charset="0"/>
              </a:rPr>
              <a:t>  fr-de          	Set FR DE bit to 1 </a:t>
            </a:r>
            <a:r>
              <a:rPr lang="en-US" sz="1600" b="1">
                <a:solidFill>
                  <a:schemeClr val="bg1"/>
                </a:solidFill>
                <a:sym typeface="Wingdings" pitchFamily="1" charset="2"/>
              </a:rPr>
              <a:t> </a:t>
            </a:r>
            <a:r>
              <a:rPr lang="en-US" sz="1600" b="1">
                <a:solidFill>
                  <a:schemeClr val="bg1"/>
                </a:solidFill>
              </a:rPr>
              <a:t>since 12.2(2)T</a:t>
            </a:r>
          </a:p>
          <a:p>
            <a:pPr>
              <a:lnSpc>
                <a:spcPct val="85000"/>
              </a:lnSpc>
              <a:buFont typeface="Wingdings" pitchFamily="1" charset="2"/>
              <a:buNone/>
            </a:pPr>
            <a:r>
              <a:rPr lang="en-US" sz="1600" b="1">
                <a:solidFill>
                  <a:schemeClr val="bg1"/>
                </a:solidFill>
                <a:latin typeface="Courier New" pitchFamily="1" charset="0"/>
              </a:rPr>
              <a:t>  ip             	Set IP specific values</a:t>
            </a:r>
          </a:p>
          <a:p>
            <a:pPr>
              <a:lnSpc>
                <a:spcPct val="85000"/>
              </a:lnSpc>
              <a:buFont typeface="Wingdings" pitchFamily="1" charset="2"/>
              <a:buNone/>
            </a:pPr>
            <a:r>
              <a:rPr lang="en-US" sz="1600" b="1">
                <a:solidFill>
                  <a:schemeClr val="bg1"/>
                </a:solidFill>
                <a:latin typeface="Courier New" pitchFamily="1" charset="0"/>
              </a:rPr>
              <a:t>  mpls           	Set MPLS specific values</a:t>
            </a:r>
          </a:p>
          <a:p>
            <a:pPr>
              <a:lnSpc>
                <a:spcPct val="85000"/>
              </a:lnSpc>
              <a:buFont typeface="Wingdings" pitchFamily="1" charset="2"/>
              <a:buNone/>
            </a:pPr>
            <a:r>
              <a:rPr lang="en-US" sz="1600" b="1">
                <a:solidFill>
                  <a:schemeClr val="bg1"/>
                </a:solidFill>
                <a:latin typeface="Courier New" pitchFamily="1" charset="0"/>
              </a:rPr>
              <a:t>  precedence     	Set precedence in IP(v4) and IPv6 packets</a:t>
            </a:r>
          </a:p>
          <a:p>
            <a:pPr>
              <a:lnSpc>
                <a:spcPct val="85000"/>
              </a:lnSpc>
              <a:buFont typeface="Wingdings" pitchFamily="1" charset="2"/>
              <a:buNone/>
            </a:pPr>
            <a:r>
              <a:rPr lang="en-US" sz="1600" b="1">
                <a:solidFill>
                  <a:schemeClr val="bg1"/>
                </a:solidFill>
                <a:latin typeface="Courier New" pitchFamily="1" charset="0"/>
              </a:rPr>
              <a:t>  qos-group      	Set QoS Group</a:t>
            </a:r>
          </a:p>
        </p:txBody>
      </p:sp>
      <p:sp>
        <p:nvSpPr>
          <p:cNvPr id="104453" name="Text Box 5"/>
          <p:cNvSpPr txBox="1">
            <a:spLocks noChangeArrowheads="1"/>
          </p:cNvSpPr>
          <p:nvPr/>
        </p:nvSpPr>
        <p:spPr bwMode="auto">
          <a:xfrm>
            <a:off x="1887264" y="1412876"/>
            <a:ext cx="6710913" cy="415323"/>
          </a:xfrm>
          <a:prstGeom prst="rect">
            <a:avLst/>
          </a:prstGeom>
          <a:noFill/>
          <a:ln w="9525">
            <a:noFill/>
            <a:miter lim="800000"/>
            <a:headEnd/>
            <a:tailEnd/>
          </a:ln>
        </p:spPr>
        <p:txBody>
          <a:bodyPr wrap="none" lIns="82124" tIns="41061" rIns="82124" bIns="41061">
            <a:prstTxWarp prst="textNoShape">
              <a:avLst/>
            </a:prstTxWarp>
            <a:spAutoFit/>
          </a:bodyPr>
          <a:lstStyle/>
          <a:p>
            <a:pPr defTabSz="814388">
              <a:buClr>
                <a:schemeClr val="tx2"/>
              </a:buClr>
              <a:buFont typeface="Wingdings" pitchFamily="1" charset="2"/>
              <a:buChar char="§"/>
            </a:pPr>
            <a:r>
              <a:rPr lang="en-US"/>
              <a:t> Unconditional marking using the </a:t>
            </a:r>
            <a:r>
              <a:rPr lang="en-US">
                <a:solidFill>
                  <a:srgbClr val="5A2785"/>
                </a:solidFill>
              </a:rPr>
              <a:t>set</a:t>
            </a:r>
            <a:r>
              <a:rPr lang="en-US"/>
              <a:t> command</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en-US">
                <a:solidFill>
                  <a:srgbClr val="7D36B8"/>
                </a:solidFill>
              </a:rPr>
              <a:t>Packet Marking Notes</a:t>
            </a:r>
          </a:p>
        </p:txBody>
      </p:sp>
      <p:sp>
        <p:nvSpPr>
          <p:cNvPr id="106499" name="Rectangle 3"/>
          <p:cNvSpPr>
            <a:spLocks noGrp="1" noChangeArrowheads="1"/>
          </p:cNvSpPr>
          <p:nvPr>
            <p:ph idx="1"/>
          </p:nvPr>
        </p:nvSpPr>
        <p:spPr>
          <a:xfrm>
            <a:off x="1847850" y="1773238"/>
            <a:ext cx="8534400" cy="4464050"/>
          </a:xfrm>
        </p:spPr>
        <p:txBody>
          <a:bodyPr/>
          <a:lstStyle/>
          <a:p>
            <a:pPr>
              <a:lnSpc>
                <a:spcPct val="85000"/>
              </a:lnSpc>
            </a:pPr>
            <a:r>
              <a:rPr lang="en-US">
                <a:ea typeface="Arial" pitchFamily="1" charset="0"/>
                <a:cs typeface="Arial" pitchFamily="1" charset="0"/>
              </a:rPr>
              <a:t> Packets are </a:t>
            </a:r>
            <a:r>
              <a:rPr lang="en-US">
                <a:solidFill>
                  <a:srgbClr val="7D36B8"/>
                </a:solidFill>
                <a:ea typeface="Arial" pitchFamily="1" charset="0"/>
                <a:cs typeface="Arial" pitchFamily="1" charset="0"/>
              </a:rPr>
              <a:t>marked before</a:t>
            </a:r>
            <a:r>
              <a:rPr lang="en-US">
                <a:ea typeface="Arial" pitchFamily="1" charset="0"/>
                <a:cs typeface="Arial" pitchFamily="1" charset="0"/>
              </a:rPr>
              <a:t> queuing.</a:t>
            </a:r>
          </a:p>
          <a:p>
            <a:pPr lvl="1" indent="0">
              <a:lnSpc>
                <a:spcPct val="85000"/>
              </a:lnSpc>
            </a:pPr>
            <a:r>
              <a:rPr lang="en-US">
                <a:ea typeface="Arial" pitchFamily="1" charset="0"/>
                <a:cs typeface="Arial" pitchFamily="1" charset="0"/>
              </a:rPr>
              <a:t>Pete is changing the membership card after Bob decided which queue they go in, but before actually reaching the queue.</a:t>
            </a:r>
          </a:p>
          <a:p>
            <a:pPr lvl="1" indent="0">
              <a:lnSpc>
                <a:spcPct val="85000"/>
              </a:lnSpc>
            </a:pPr>
            <a:r>
              <a:rPr lang="en-US">
                <a:ea typeface="Arial" pitchFamily="1" charset="0"/>
                <a:cs typeface="Arial" pitchFamily="1" charset="0"/>
              </a:rPr>
              <a:t>Again, Bob’s decision relies only on what Anna decided.</a:t>
            </a:r>
          </a:p>
          <a:p>
            <a:pPr lvl="1" indent="0">
              <a:lnSpc>
                <a:spcPct val="85000"/>
              </a:lnSpc>
            </a:pPr>
            <a:endParaRPr lang="en-US">
              <a:ea typeface="Arial" pitchFamily="1" charset="0"/>
              <a:cs typeface="Arial" pitchFamily="1" charset="0"/>
            </a:endParaRPr>
          </a:p>
          <a:p>
            <a:pPr>
              <a:lnSpc>
                <a:spcPct val="85000"/>
              </a:lnSpc>
            </a:pPr>
            <a:r>
              <a:rPr lang="en-US">
                <a:solidFill>
                  <a:srgbClr val="FE0000"/>
                </a:solidFill>
                <a:ea typeface="Times New Roman" pitchFamily="1" charset="0"/>
                <a:cs typeface="Times New Roman" pitchFamily="1" charset="0"/>
              </a:rPr>
              <a:t> </a:t>
            </a:r>
            <a:r>
              <a:rPr lang="en-US">
                <a:solidFill>
                  <a:srgbClr val="7D36B8"/>
                </a:solidFill>
                <a:ea typeface="Times New Roman" pitchFamily="1" charset="0"/>
                <a:cs typeface="Times New Roman" pitchFamily="1" charset="0"/>
              </a:rPr>
              <a:t>CEF</a:t>
            </a:r>
            <a:r>
              <a:rPr lang="en-US">
                <a:ea typeface="Times New Roman" pitchFamily="1" charset="0"/>
                <a:cs typeface="Times New Roman" pitchFamily="1" charset="0"/>
              </a:rPr>
              <a:t> switching is required with </a:t>
            </a:r>
            <a:r>
              <a:rPr lang="en-US" b="1">
                <a:solidFill>
                  <a:srgbClr val="7D36B8"/>
                </a:solidFill>
                <a:latin typeface="Courier New" pitchFamily="1" charset="0"/>
                <a:ea typeface="Times New Roman" pitchFamily="1" charset="0"/>
                <a:cs typeface="Times New Roman" pitchFamily="1" charset="0"/>
              </a:rPr>
              <a:t>set</a:t>
            </a:r>
            <a:r>
              <a:rPr lang="en-US">
                <a:ea typeface="Times New Roman" pitchFamily="1" charset="0"/>
                <a:cs typeface="Times New Roman" pitchFamily="1" charset="0"/>
              </a:rPr>
              <a:t> command in MQC. </a:t>
            </a:r>
          </a:p>
          <a:p>
            <a:pPr>
              <a:lnSpc>
                <a:spcPct val="85000"/>
              </a:lnSpc>
            </a:pPr>
            <a:endParaRPr lang="en-US">
              <a:ea typeface="Times New Roman" pitchFamily="1" charset="0"/>
              <a:cs typeface="Times New Roman" pitchFamily="1" charset="0"/>
            </a:endParaRPr>
          </a:p>
          <a:p>
            <a:pPr>
              <a:lnSpc>
                <a:spcPct val="85000"/>
              </a:lnSpc>
            </a:pPr>
            <a:r>
              <a:rPr lang="en-US">
                <a:solidFill>
                  <a:srgbClr val="FE0000"/>
                </a:solidFill>
                <a:ea typeface="Times New Roman" pitchFamily="1" charset="0"/>
                <a:cs typeface="Times New Roman" pitchFamily="1" charset="0"/>
              </a:rPr>
              <a:t> </a:t>
            </a:r>
            <a:r>
              <a:rPr lang="en-US">
                <a:solidFill>
                  <a:srgbClr val="5A2785"/>
                </a:solidFill>
                <a:ea typeface="Times New Roman" pitchFamily="1" charset="0"/>
                <a:cs typeface="Times New Roman" pitchFamily="1" charset="0"/>
              </a:rPr>
              <a:t>Locally generated</a:t>
            </a:r>
            <a:r>
              <a:rPr lang="en-US">
                <a:ea typeface="Times New Roman" pitchFamily="1" charset="0"/>
                <a:cs typeface="Times New Roman" pitchFamily="1" charset="0"/>
              </a:rPr>
              <a:t> is special .  </a:t>
            </a:r>
            <a:endParaRPr lang="en-US">
              <a:ea typeface="Times New Roman" pitchFamily="1" charset="0"/>
              <a:cs typeface="Times New Roman" pitchFamily="1" charset="0"/>
              <a:sym typeface="Wingdings" pitchFamily="1" charset="2"/>
            </a:endParaRPr>
          </a:p>
          <a:p>
            <a:pPr lvl="1" indent="0">
              <a:lnSpc>
                <a:spcPct val="85000"/>
              </a:lnSpc>
            </a:pPr>
            <a:r>
              <a:rPr lang="en-US">
                <a:ea typeface="Times New Roman" pitchFamily="1" charset="0"/>
                <a:cs typeface="Times New Roman" pitchFamily="1" charset="0"/>
                <a:sym typeface="Wingdings" pitchFamily="1" charset="2"/>
              </a:rPr>
              <a:t> </a:t>
            </a:r>
            <a:r>
              <a:rPr lang="en-US">
                <a:solidFill>
                  <a:srgbClr val="5A2785"/>
                </a:solidFill>
                <a:ea typeface="Times New Roman" pitchFamily="1" charset="0"/>
                <a:cs typeface="Times New Roman" pitchFamily="1" charset="0"/>
                <a:sym typeface="Wingdings" pitchFamily="1" charset="2"/>
              </a:rPr>
              <a:t>Depends on platform</a:t>
            </a:r>
          </a:p>
          <a:p>
            <a:pPr lvl="1" indent="0">
              <a:lnSpc>
                <a:spcPct val="85000"/>
              </a:lnSpc>
            </a:pPr>
            <a:r>
              <a:rPr lang="en-US">
                <a:ea typeface="Times New Roman" pitchFamily="1" charset="0"/>
                <a:cs typeface="Times New Roman" pitchFamily="1" charset="0"/>
                <a:sym typeface="Wingdings" pitchFamily="1" charset="2"/>
              </a:rPr>
              <a:t> EDCS-355797 (QOS Treatment of locally sourced traffic)</a:t>
            </a: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en-US">
                <a:solidFill>
                  <a:srgbClr val="7D36B8"/>
                </a:solidFill>
              </a:rPr>
              <a:t>Marking: Review questions</a:t>
            </a:r>
          </a:p>
        </p:txBody>
      </p:sp>
      <p:sp>
        <p:nvSpPr>
          <p:cNvPr id="119811" name="Rectangle 3"/>
          <p:cNvSpPr>
            <a:spLocks noGrp="1" noChangeArrowheads="1"/>
          </p:cNvSpPr>
          <p:nvPr>
            <p:ph idx="1"/>
          </p:nvPr>
        </p:nvSpPr>
        <p:spPr>
          <a:xfrm>
            <a:off x="2179639" y="1557339"/>
            <a:ext cx="7940675" cy="4535487"/>
          </a:xfrm>
        </p:spPr>
        <p:txBody>
          <a:bodyPr>
            <a:normAutofit fontScale="92500"/>
          </a:bodyPr>
          <a:lstStyle/>
          <a:p>
            <a:r>
              <a:rPr lang="en-US"/>
              <a:t>What are the two mechanisms to mark traffic in MQC ?</a:t>
            </a:r>
          </a:p>
          <a:p>
            <a:r>
              <a:rPr lang="en-US"/>
              <a:t>What are the associated keywords ?</a:t>
            </a:r>
          </a:p>
          <a:p>
            <a:r>
              <a:rPr lang="en-US"/>
              <a:t>I marked my important traffic with qos-group 1 and my peer router is matching on qos-group 1 to give it special treatment.  Will this work ? Why ? </a:t>
            </a:r>
          </a:p>
          <a:p>
            <a:r>
              <a:rPr lang="en-US"/>
              <a:t>How can I fix this ?</a:t>
            </a:r>
          </a:p>
          <a:p>
            <a:r>
              <a:rPr lang="en-US"/>
              <a:t>In my output policy, I mark my voice traffic with Prec 5, and send Prec 5 to a high priority queue.  Will my voice traffic be in the high priority queue ?  Why ?</a:t>
            </a:r>
          </a:p>
          <a:p>
            <a:r>
              <a:rPr lang="en-US"/>
              <a:t>How can I fix this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8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98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98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98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98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ChangeArrowheads="1"/>
          </p:cNvSpPr>
          <p:nvPr/>
        </p:nvSpPr>
        <p:spPr bwMode="auto">
          <a:xfrm>
            <a:off x="1524001" y="1"/>
            <a:ext cx="4284663" cy="3141663"/>
          </a:xfrm>
          <a:prstGeom prst="rect">
            <a:avLst/>
          </a:prstGeom>
          <a:solidFill>
            <a:schemeClr val="folHlink"/>
          </a:solidFill>
          <a:ln w="25400">
            <a:noFill/>
            <a:miter lim="800000"/>
            <a:headEnd/>
            <a:tailEnd/>
          </a:ln>
        </p:spPr>
        <p:txBody>
          <a:bodyPr wrap="none" anchor="ctr">
            <a:prstTxWarp prst="textNoShape">
              <a:avLst/>
            </a:prstTxWarp>
          </a:bodyPr>
          <a:lstStyle/>
          <a:p>
            <a:endParaRPr lang="en-US"/>
          </a:p>
        </p:txBody>
      </p:sp>
      <p:sp>
        <p:nvSpPr>
          <p:cNvPr id="3075" name="Rectangle 5"/>
          <p:cNvSpPr>
            <a:spLocks noGrp="1" noChangeArrowheads="1"/>
          </p:cNvSpPr>
          <p:nvPr>
            <p:ph type="title"/>
          </p:nvPr>
        </p:nvSpPr>
        <p:spPr>
          <a:xfrm>
            <a:off x="1919289" y="908051"/>
            <a:ext cx="2898775" cy="1152525"/>
          </a:xfrm>
        </p:spPr>
        <p:txBody>
          <a:bodyPr>
            <a:normAutofit fontScale="90000"/>
          </a:bodyPr>
          <a:lstStyle/>
          <a:p>
            <a:pPr algn="ctr" eaLnBrk="1" hangingPunct="1"/>
            <a:r>
              <a:rPr lang="en-US">
                <a:solidFill>
                  <a:schemeClr val="bg1"/>
                </a:solidFill>
              </a:rPr>
              <a:t>Queuing and</a:t>
            </a:r>
            <a:br>
              <a:rPr lang="en-US">
                <a:solidFill>
                  <a:schemeClr val="bg1"/>
                </a:solidFill>
              </a:rPr>
            </a:br>
            <a:r>
              <a:rPr lang="en-US">
                <a:solidFill>
                  <a:schemeClr val="bg1"/>
                </a:solidFill>
              </a:rPr>
              <a:t>Scheduling</a:t>
            </a:r>
          </a:p>
        </p:txBody>
      </p:sp>
      <p:pic>
        <p:nvPicPr>
          <p:cNvPr id="150539" name="Picture 11" descr="Bob-the-bouncer"/>
          <p:cNvPicPr>
            <a:picLocks noChangeAspect="1" noChangeArrowheads="1"/>
          </p:cNvPicPr>
          <p:nvPr/>
        </p:nvPicPr>
        <p:blipFill>
          <a:blip r:embed="rId3"/>
          <a:srcRect/>
          <a:stretch>
            <a:fillRect/>
          </a:stretch>
        </p:blipFill>
        <p:spPr bwMode="auto">
          <a:xfrm>
            <a:off x="7608168" y="981077"/>
            <a:ext cx="1566862" cy="2160587"/>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150539"/>
                                        </p:tgtEl>
                                        <p:attrNameLst>
                                          <p:attrName>style.visibility</p:attrName>
                                        </p:attrNameLst>
                                      </p:cBhvr>
                                      <p:to>
                                        <p:strVal val="visible"/>
                                      </p:to>
                                    </p:set>
                                    <p:animEffect transition="in" filter="circle(out)">
                                      <p:cBhvr>
                                        <p:cTn id="7" dur="1000"/>
                                        <p:tgtEl>
                                          <p:spTgt spid="150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ChangeArrowheads="1"/>
          </p:cNvSpPr>
          <p:nvPr/>
        </p:nvSpPr>
        <p:spPr bwMode="auto">
          <a:xfrm>
            <a:off x="2819400" y="1524000"/>
            <a:ext cx="6705600" cy="1371600"/>
          </a:xfrm>
          <a:prstGeom prst="rect">
            <a:avLst/>
          </a:prstGeom>
          <a:solidFill>
            <a:schemeClr val="folHlink"/>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4099" name="Rectangle 3"/>
          <p:cNvSpPr>
            <a:spLocks noChangeArrowheads="1"/>
          </p:cNvSpPr>
          <p:nvPr/>
        </p:nvSpPr>
        <p:spPr bwMode="auto">
          <a:xfrm>
            <a:off x="1905000" y="228600"/>
            <a:ext cx="8610600" cy="838200"/>
          </a:xfrm>
          <a:prstGeom prst="rect">
            <a:avLst/>
          </a:prstGeom>
          <a:noFill/>
          <a:ln w="9525">
            <a:noFill/>
            <a:miter lim="800000"/>
            <a:headEnd/>
            <a:tailEnd/>
          </a:ln>
        </p:spPr>
        <p:txBody>
          <a:bodyPr lIns="82124" tIns="41061" rIns="82124" bIns="41061" anchor="b">
            <a:prstTxWarp prst="textNoShape">
              <a:avLst/>
            </a:prstTxWarp>
          </a:bodyPr>
          <a:lstStyle/>
          <a:p>
            <a:pPr algn="l" defTabSz="814388"/>
            <a:r>
              <a:rPr lang="en-US" sz="3600" b="1">
                <a:solidFill>
                  <a:schemeClr val="folHlink"/>
                </a:solidFill>
              </a:rPr>
              <a:t>Congestion Management</a:t>
            </a:r>
          </a:p>
        </p:txBody>
      </p:sp>
      <p:sp>
        <p:nvSpPr>
          <p:cNvPr id="4100" name="Rectangle 4"/>
          <p:cNvSpPr>
            <a:spLocks noChangeArrowheads="1"/>
          </p:cNvSpPr>
          <p:nvPr/>
        </p:nvSpPr>
        <p:spPr bwMode="auto">
          <a:xfrm>
            <a:off x="1981200" y="1524000"/>
            <a:ext cx="8224838" cy="1219200"/>
          </a:xfrm>
          <a:prstGeom prst="rect">
            <a:avLst/>
          </a:prstGeom>
          <a:noFill/>
          <a:ln w="9525">
            <a:noFill/>
            <a:miter lim="800000"/>
            <a:headEnd/>
            <a:tailEnd/>
          </a:ln>
        </p:spPr>
        <p:txBody>
          <a:bodyPr lIns="82124" tIns="41061" rIns="82124" bIns="41061" anchor="ctr" anchorCtr="1">
            <a:prstTxWarp prst="textNoShape">
              <a:avLst/>
            </a:prstTxWarp>
          </a:bodyPr>
          <a:lstStyle/>
          <a:p>
            <a:pPr marL="288925" indent="-288925" algn="l" defTabSz="814388">
              <a:lnSpc>
                <a:spcPct val="95000"/>
              </a:lnSpc>
              <a:spcBef>
                <a:spcPct val="50000"/>
              </a:spcBef>
              <a:buClr>
                <a:srgbClr val="35C5FF"/>
              </a:buClr>
            </a:pPr>
            <a:r>
              <a:rPr lang="en-US" sz="2000" b="1">
                <a:solidFill>
                  <a:schemeClr val="bg1"/>
                </a:solidFill>
              </a:rPr>
              <a:t>Queuing + Scheduling = Congestion Management</a:t>
            </a:r>
          </a:p>
          <a:p>
            <a:pPr marL="565150" lvl="1" algn="l" defTabSz="814388">
              <a:lnSpc>
                <a:spcPct val="95000"/>
              </a:lnSpc>
              <a:spcBef>
                <a:spcPct val="50000"/>
              </a:spcBef>
              <a:buClr>
                <a:schemeClr val="bg1"/>
              </a:buClr>
              <a:buFont typeface="Wingdings" pitchFamily="1" charset="2"/>
              <a:buChar char="§"/>
            </a:pPr>
            <a:r>
              <a:rPr lang="en-US" sz="2000" b="1"/>
              <a:t> Buffering packets in queues</a:t>
            </a:r>
          </a:p>
          <a:p>
            <a:pPr marL="565150" lvl="1" algn="l" defTabSz="814388">
              <a:lnSpc>
                <a:spcPct val="95000"/>
              </a:lnSpc>
              <a:spcBef>
                <a:spcPct val="50000"/>
              </a:spcBef>
              <a:buClr>
                <a:schemeClr val="bg1"/>
              </a:buClr>
              <a:buFont typeface="Wingdings" pitchFamily="1" charset="2"/>
              <a:buChar char="§"/>
            </a:pPr>
            <a:r>
              <a:rPr lang="en-US" sz="2000" b="1"/>
              <a:t> Scheduling packets out of the queues</a:t>
            </a:r>
          </a:p>
        </p:txBody>
      </p:sp>
      <p:grpSp>
        <p:nvGrpSpPr>
          <p:cNvPr id="4101" name="Group 5"/>
          <p:cNvGrpSpPr>
            <a:grpSpLocks/>
          </p:cNvGrpSpPr>
          <p:nvPr/>
        </p:nvGrpSpPr>
        <p:grpSpPr bwMode="auto">
          <a:xfrm>
            <a:off x="2895600" y="3581400"/>
            <a:ext cx="6002338" cy="3016250"/>
            <a:chOff x="733" y="1906"/>
            <a:chExt cx="4708" cy="2365"/>
          </a:xfrm>
        </p:grpSpPr>
        <p:sp>
          <p:nvSpPr>
            <p:cNvPr id="4102" name="Rectangle 6"/>
            <p:cNvSpPr>
              <a:spLocks noChangeArrowheads="1"/>
            </p:cNvSpPr>
            <p:nvPr/>
          </p:nvSpPr>
          <p:spPr bwMode="auto">
            <a:xfrm>
              <a:off x="1056" y="1909"/>
              <a:ext cx="917" cy="43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03" name="Rectangle 7"/>
            <p:cNvSpPr>
              <a:spLocks noChangeArrowheads="1"/>
            </p:cNvSpPr>
            <p:nvPr/>
          </p:nvSpPr>
          <p:spPr bwMode="auto">
            <a:xfrm>
              <a:off x="1713" y="2920"/>
              <a:ext cx="260" cy="731"/>
            </a:xfrm>
            <a:prstGeom prst="rect">
              <a:avLst/>
            </a:prstGeom>
            <a:solidFill>
              <a:schemeClr va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04" name="Rectangle 8"/>
            <p:cNvSpPr>
              <a:spLocks noChangeArrowheads="1"/>
            </p:cNvSpPr>
            <p:nvPr/>
          </p:nvSpPr>
          <p:spPr bwMode="auto">
            <a:xfrm>
              <a:off x="910" y="2628"/>
              <a:ext cx="1067" cy="167"/>
            </a:xfrm>
            <a:prstGeom prst="rect">
              <a:avLst/>
            </a:prstGeom>
            <a:solidFill>
              <a:schemeClr val="accent2"/>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05" name="Rectangle 9"/>
            <p:cNvSpPr>
              <a:spLocks noChangeArrowheads="1"/>
            </p:cNvSpPr>
            <p:nvPr/>
          </p:nvSpPr>
          <p:spPr bwMode="auto">
            <a:xfrm>
              <a:off x="1552" y="2445"/>
              <a:ext cx="421" cy="87"/>
            </a:xfrm>
            <a:prstGeom prst="rect">
              <a:avLst/>
            </a:prstGeom>
            <a:solidFill>
              <a:schemeClr val="fo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nvGrpSpPr>
            <p:cNvPr id="4106" name="Group 10"/>
            <p:cNvGrpSpPr>
              <a:grpSpLocks/>
            </p:cNvGrpSpPr>
            <p:nvPr/>
          </p:nvGrpSpPr>
          <p:grpSpPr bwMode="auto">
            <a:xfrm>
              <a:off x="3472" y="2525"/>
              <a:ext cx="1794" cy="171"/>
              <a:chOff x="279" y="2036"/>
              <a:chExt cx="2004" cy="220"/>
            </a:xfrm>
          </p:grpSpPr>
          <p:grpSp>
            <p:nvGrpSpPr>
              <p:cNvPr id="4166" name="Group 11"/>
              <p:cNvGrpSpPr>
                <a:grpSpLocks/>
              </p:cNvGrpSpPr>
              <p:nvPr/>
            </p:nvGrpSpPr>
            <p:grpSpPr bwMode="auto">
              <a:xfrm>
                <a:off x="279" y="2036"/>
                <a:ext cx="921" cy="217"/>
                <a:chOff x="279" y="2036"/>
                <a:chExt cx="921" cy="217"/>
              </a:xfrm>
            </p:grpSpPr>
            <p:sp>
              <p:nvSpPr>
                <p:cNvPr id="4176" name="Line 12"/>
                <p:cNvSpPr>
                  <a:spLocks noChangeShapeType="1"/>
                </p:cNvSpPr>
                <p:nvPr/>
              </p:nvSpPr>
              <p:spPr bwMode="auto">
                <a:xfrm>
                  <a:off x="280" y="2036"/>
                  <a:ext cx="920"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77" name="Line 13"/>
                <p:cNvSpPr>
                  <a:spLocks noChangeShapeType="1"/>
                </p:cNvSpPr>
                <p:nvPr/>
              </p:nvSpPr>
              <p:spPr bwMode="auto">
                <a:xfrm>
                  <a:off x="280" y="2252"/>
                  <a:ext cx="827"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78" name="Line 14"/>
                <p:cNvSpPr>
                  <a:spLocks noChangeShapeType="1"/>
                </p:cNvSpPr>
                <p:nvPr/>
              </p:nvSpPr>
              <p:spPr bwMode="auto">
                <a:xfrm>
                  <a:off x="279" y="2037"/>
                  <a:ext cx="0" cy="21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79" name="Line 15"/>
                <p:cNvSpPr>
                  <a:spLocks noChangeShapeType="1"/>
                </p:cNvSpPr>
                <p:nvPr/>
              </p:nvSpPr>
              <p:spPr bwMode="auto">
                <a:xfrm flipV="1">
                  <a:off x="1104" y="2037"/>
                  <a:ext cx="96" cy="21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grpSp>
          <p:grpSp>
            <p:nvGrpSpPr>
              <p:cNvPr id="4167" name="Group 16"/>
              <p:cNvGrpSpPr>
                <a:grpSpLocks/>
              </p:cNvGrpSpPr>
              <p:nvPr/>
            </p:nvGrpSpPr>
            <p:grpSpPr bwMode="auto">
              <a:xfrm flipH="1" flipV="1">
                <a:off x="1362" y="2039"/>
                <a:ext cx="921" cy="217"/>
                <a:chOff x="279" y="2036"/>
                <a:chExt cx="921" cy="217"/>
              </a:xfrm>
            </p:grpSpPr>
            <p:sp>
              <p:nvSpPr>
                <p:cNvPr id="4172" name="Line 17"/>
                <p:cNvSpPr>
                  <a:spLocks noChangeShapeType="1"/>
                </p:cNvSpPr>
                <p:nvPr/>
              </p:nvSpPr>
              <p:spPr bwMode="auto">
                <a:xfrm>
                  <a:off x="280" y="2036"/>
                  <a:ext cx="920"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73" name="Line 18"/>
                <p:cNvSpPr>
                  <a:spLocks noChangeShapeType="1"/>
                </p:cNvSpPr>
                <p:nvPr/>
              </p:nvSpPr>
              <p:spPr bwMode="auto">
                <a:xfrm>
                  <a:off x="280" y="2252"/>
                  <a:ext cx="827" cy="0"/>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74" name="Line 19"/>
                <p:cNvSpPr>
                  <a:spLocks noChangeShapeType="1"/>
                </p:cNvSpPr>
                <p:nvPr/>
              </p:nvSpPr>
              <p:spPr bwMode="auto">
                <a:xfrm>
                  <a:off x="279" y="2037"/>
                  <a:ext cx="0" cy="21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75" name="Line 20"/>
                <p:cNvSpPr>
                  <a:spLocks noChangeShapeType="1"/>
                </p:cNvSpPr>
                <p:nvPr/>
              </p:nvSpPr>
              <p:spPr bwMode="auto">
                <a:xfrm flipV="1">
                  <a:off x="1104" y="2037"/>
                  <a:ext cx="96" cy="21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grpSp>
          <p:grpSp>
            <p:nvGrpSpPr>
              <p:cNvPr id="4168" name="Group 21"/>
              <p:cNvGrpSpPr>
                <a:grpSpLocks/>
              </p:cNvGrpSpPr>
              <p:nvPr/>
            </p:nvGrpSpPr>
            <p:grpSpPr bwMode="auto">
              <a:xfrm>
                <a:off x="1173" y="2117"/>
                <a:ext cx="221" cy="47"/>
                <a:chOff x="1111" y="2457"/>
                <a:chExt cx="221" cy="47"/>
              </a:xfrm>
            </p:grpSpPr>
            <p:sp>
              <p:nvSpPr>
                <p:cNvPr id="4169" name="AutoShape 22"/>
                <p:cNvSpPr>
                  <a:spLocks noChangeArrowheads="1"/>
                </p:cNvSpPr>
                <p:nvPr/>
              </p:nvSpPr>
              <p:spPr bwMode="auto">
                <a:xfrm flipH="1">
                  <a:off x="1111" y="2457"/>
                  <a:ext cx="47" cy="47"/>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70" name="AutoShape 23"/>
                <p:cNvSpPr>
                  <a:spLocks noChangeArrowheads="1"/>
                </p:cNvSpPr>
                <p:nvPr/>
              </p:nvSpPr>
              <p:spPr bwMode="auto">
                <a:xfrm flipH="1">
                  <a:off x="1198" y="2457"/>
                  <a:ext cx="47" cy="47"/>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71" name="AutoShape 24"/>
                <p:cNvSpPr>
                  <a:spLocks noChangeArrowheads="1"/>
                </p:cNvSpPr>
                <p:nvPr/>
              </p:nvSpPr>
              <p:spPr bwMode="auto">
                <a:xfrm flipH="1">
                  <a:off x="1285" y="2457"/>
                  <a:ext cx="47" cy="47"/>
                </a:xfrm>
                <a:prstGeom prst="octagon">
                  <a:avLst>
                    <a:gd name="adj" fmla="val 29287"/>
                  </a:avLst>
                </a:prstGeom>
                <a:solidFill>
                  <a:schemeClr val="bg2"/>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grpSp>
        </p:grpSp>
        <p:sp>
          <p:nvSpPr>
            <p:cNvPr id="4107" name="Rectangle 25"/>
            <p:cNvSpPr>
              <a:spLocks noChangeArrowheads="1"/>
            </p:cNvSpPr>
            <p:nvPr/>
          </p:nvSpPr>
          <p:spPr bwMode="auto">
            <a:xfrm>
              <a:off x="5098" y="2528"/>
              <a:ext cx="169" cy="16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08" name="Rectangle 26"/>
            <p:cNvSpPr>
              <a:spLocks noChangeArrowheads="1"/>
            </p:cNvSpPr>
            <p:nvPr/>
          </p:nvSpPr>
          <p:spPr bwMode="auto">
            <a:xfrm>
              <a:off x="5023" y="2528"/>
              <a:ext cx="75" cy="16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09" name="Rectangle 27"/>
            <p:cNvSpPr>
              <a:spLocks noChangeArrowheads="1"/>
            </p:cNvSpPr>
            <p:nvPr/>
          </p:nvSpPr>
          <p:spPr bwMode="auto">
            <a:xfrm>
              <a:off x="4529" y="2528"/>
              <a:ext cx="169" cy="168"/>
            </a:xfrm>
            <a:prstGeom prst="rect">
              <a:avLst/>
            </a:prstGeom>
            <a:solidFill>
              <a:schemeClr va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10" name="Rectangle 28"/>
            <p:cNvSpPr>
              <a:spLocks noChangeArrowheads="1"/>
            </p:cNvSpPr>
            <p:nvPr/>
          </p:nvSpPr>
          <p:spPr bwMode="auto">
            <a:xfrm>
              <a:off x="4695" y="2528"/>
              <a:ext cx="169" cy="168"/>
            </a:xfrm>
            <a:prstGeom prst="rect">
              <a:avLst/>
            </a:prstGeom>
            <a:solidFill>
              <a:schemeClr va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11" name="Rectangle 29"/>
            <p:cNvSpPr>
              <a:spLocks noChangeArrowheads="1"/>
            </p:cNvSpPr>
            <p:nvPr/>
          </p:nvSpPr>
          <p:spPr bwMode="auto">
            <a:xfrm>
              <a:off x="4822" y="2528"/>
              <a:ext cx="42" cy="168"/>
            </a:xfrm>
            <a:prstGeom prst="rect">
              <a:avLst/>
            </a:prstGeom>
            <a:solidFill>
              <a:schemeClr val="fo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12" name="Rectangle 30"/>
            <p:cNvSpPr>
              <a:spLocks noChangeArrowheads="1"/>
            </p:cNvSpPr>
            <p:nvPr/>
          </p:nvSpPr>
          <p:spPr bwMode="auto">
            <a:xfrm>
              <a:off x="4865" y="2528"/>
              <a:ext cx="42" cy="16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13" name="Rectangle 31"/>
            <p:cNvSpPr>
              <a:spLocks noChangeArrowheads="1"/>
            </p:cNvSpPr>
            <p:nvPr/>
          </p:nvSpPr>
          <p:spPr bwMode="auto">
            <a:xfrm>
              <a:off x="4907" y="2528"/>
              <a:ext cx="118" cy="16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14" name="Rectangle 32"/>
            <p:cNvSpPr>
              <a:spLocks noChangeArrowheads="1"/>
            </p:cNvSpPr>
            <p:nvPr/>
          </p:nvSpPr>
          <p:spPr bwMode="auto">
            <a:xfrm>
              <a:off x="3994" y="2526"/>
              <a:ext cx="169" cy="16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15" name="Rectangle 33"/>
            <p:cNvSpPr>
              <a:spLocks noChangeArrowheads="1"/>
            </p:cNvSpPr>
            <p:nvPr/>
          </p:nvSpPr>
          <p:spPr bwMode="auto">
            <a:xfrm>
              <a:off x="3951" y="2526"/>
              <a:ext cx="42" cy="168"/>
            </a:xfrm>
            <a:prstGeom prst="rect">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16" name="Rectangle 34"/>
            <p:cNvSpPr>
              <a:spLocks noChangeArrowheads="1"/>
            </p:cNvSpPr>
            <p:nvPr/>
          </p:nvSpPr>
          <p:spPr bwMode="auto">
            <a:xfrm>
              <a:off x="3892" y="2526"/>
              <a:ext cx="59" cy="168"/>
            </a:xfrm>
            <a:prstGeom prst="rect">
              <a:avLst/>
            </a:prstGeom>
            <a:solidFill>
              <a:schemeClr val="fo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17" name="Rectangle 35"/>
            <p:cNvSpPr>
              <a:spLocks noChangeArrowheads="1"/>
            </p:cNvSpPr>
            <p:nvPr/>
          </p:nvSpPr>
          <p:spPr bwMode="auto">
            <a:xfrm>
              <a:off x="3691" y="2526"/>
              <a:ext cx="201" cy="168"/>
            </a:xfrm>
            <a:prstGeom prst="rect">
              <a:avLst/>
            </a:prstGeom>
            <a:solidFill>
              <a:schemeClr val="accent2"/>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18" name="Rectangle 36"/>
            <p:cNvSpPr>
              <a:spLocks noChangeArrowheads="1"/>
            </p:cNvSpPr>
            <p:nvPr/>
          </p:nvSpPr>
          <p:spPr bwMode="auto">
            <a:xfrm>
              <a:off x="3608" y="2526"/>
              <a:ext cx="83" cy="168"/>
            </a:xfrm>
            <a:prstGeom prst="rect">
              <a:avLst/>
            </a:prstGeom>
            <a:solidFill>
              <a:schemeClr va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19" name="Rectangle 37"/>
            <p:cNvSpPr>
              <a:spLocks noChangeArrowheads="1"/>
            </p:cNvSpPr>
            <p:nvPr/>
          </p:nvSpPr>
          <p:spPr bwMode="auto">
            <a:xfrm>
              <a:off x="3522" y="2526"/>
              <a:ext cx="42" cy="168"/>
            </a:xfrm>
            <a:prstGeom prst="rect">
              <a:avLst/>
            </a:prstGeom>
            <a:solidFill>
              <a:schemeClr val="accent2"/>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20" name="Rectangle 38"/>
            <p:cNvSpPr>
              <a:spLocks noChangeArrowheads="1"/>
            </p:cNvSpPr>
            <p:nvPr/>
          </p:nvSpPr>
          <p:spPr bwMode="auto">
            <a:xfrm>
              <a:off x="3565" y="2526"/>
              <a:ext cx="42" cy="168"/>
            </a:xfrm>
            <a:prstGeom prst="rect">
              <a:avLst/>
            </a:prstGeom>
            <a:solidFill>
              <a:schemeClr va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21" name="Rectangle 39"/>
            <p:cNvSpPr>
              <a:spLocks noChangeArrowheads="1"/>
            </p:cNvSpPr>
            <p:nvPr/>
          </p:nvSpPr>
          <p:spPr bwMode="auto">
            <a:xfrm>
              <a:off x="3473" y="2526"/>
              <a:ext cx="48" cy="168"/>
            </a:xfrm>
            <a:prstGeom prst="rect">
              <a:avLst/>
            </a:prstGeom>
            <a:solidFill>
              <a:schemeClr va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22" name="Freeform 40"/>
            <p:cNvSpPr>
              <a:spLocks/>
            </p:cNvSpPr>
            <p:nvPr/>
          </p:nvSpPr>
          <p:spPr bwMode="auto">
            <a:xfrm>
              <a:off x="4163" y="2526"/>
              <a:ext cx="135" cy="168"/>
            </a:xfrm>
            <a:custGeom>
              <a:avLst/>
              <a:gdLst>
                <a:gd name="T0" fmla="*/ 0 w 150"/>
                <a:gd name="T1" fmla="*/ 213 h 216"/>
                <a:gd name="T2" fmla="*/ 54 w 150"/>
                <a:gd name="T3" fmla="*/ 216 h 216"/>
                <a:gd name="T4" fmla="*/ 150 w 150"/>
                <a:gd name="T5" fmla="*/ 0 h 216"/>
                <a:gd name="T6" fmla="*/ 0 w 150"/>
                <a:gd name="T7" fmla="*/ 0 h 216"/>
                <a:gd name="T8" fmla="*/ 0 w 150"/>
                <a:gd name="T9" fmla="*/ 213 h 216"/>
                <a:gd name="T10" fmla="*/ 0 60000 65536"/>
                <a:gd name="T11" fmla="*/ 0 60000 65536"/>
                <a:gd name="T12" fmla="*/ 0 60000 65536"/>
                <a:gd name="T13" fmla="*/ 0 60000 65536"/>
                <a:gd name="T14" fmla="*/ 0 60000 65536"/>
                <a:gd name="T15" fmla="*/ 0 w 150"/>
                <a:gd name="T16" fmla="*/ 0 h 216"/>
                <a:gd name="T17" fmla="*/ 150 w 150"/>
                <a:gd name="T18" fmla="*/ 216 h 216"/>
              </a:gdLst>
              <a:ahLst/>
              <a:cxnLst>
                <a:cxn ang="T10">
                  <a:pos x="T0" y="T1"/>
                </a:cxn>
                <a:cxn ang="T11">
                  <a:pos x="T2" y="T3"/>
                </a:cxn>
                <a:cxn ang="T12">
                  <a:pos x="T4" y="T5"/>
                </a:cxn>
                <a:cxn ang="T13">
                  <a:pos x="T6" y="T7"/>
                </a:cxn>
                <a:cxn ang="T14">
                  <a:pos x="T8" y="T9"/>
                </a:cxn>
              </a:cxnLst>
              <a:rect l="T15" t="T16" r="T17" b="T18"/>
              <a:pathLst>
                <a:path w="150" h="216">
                  <a:moveTo>
                    <a:pt x="0" y="213"/>
                  </a:moveTo>
                  <a:lnTo>
                    <a:pt x="54" y="216"/>
                  </a:lnTo>
                  <a:lnTo>
                    <a:pt x="150" y="0"/>
                  </a:lnTo>
                  <a:lnTo>
                    <a:pt x="0" y="0"/>
                  </a:lnTo>
                  <a:lnTo>
                    <a:pt x="0" y="213"/>
                  </a:lnTo>
                  <a:close/>
                </a:path>
              </a:pathLst>
            </a:custGeom>
            <a:solidFill>
              <a:schemeClr val="accent2"/>
            </a:solid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23" name="Freeform 41"/>
            <p:cNvSpPr>
              <a:spLocks/>
            </p:cNvSpPr>
            <p:nvPr/>
          </p:nvSpPr>
          <p:spPr bwMode="auto">
            <a:xfrm>
              <a:off x="4443" y="2528"/>
              <a:ext cx="86" cy="168"/>
            </a:xfrm>
            <a:custGeom>
              <a:avLst/>
              <a:gdLst>
                <a:gd name="T0" fmla="*/ 0 w 96"/>
                <a:gd name="T1" fmla="*/ 216 h 216"/>
                <a:gd name="T2" fmla="*/ 96 w 96"/>
                <a:gd name="T3" fmla="*/ 216 h 216"/>
                <a:gd name="T4" fmla="*/ 96 w 96"/>
                <a:gd name="T5" fmla="*/ 0 h 216"/>
                <a:gd name="T6" fmla="*/ 0 w 96"/>
                <a:gd name="T7" fmla="*/ 216 h 216"/>
                <a:gd name="T8" fmla="*/ 0 60000 65536"/>
                <a:gd name="T9" fmla="*/ 0 60000 65536"/>
                <a:gd name="T10" fmla="*/ 0 60000 65536"/>
                <a:gd name="T11" fmla="*/ 0 60000 65536"/>
                <a:gd name="T12" fmla="*/ 0 w 96"/>
                <a:gd name="T13" fmla="*/ 0 h 216"/>
                <a:gd name="T14" fmla="*/ 96 w 96"/>
                <a:gd name="T15" fmla="*/ 216 h 216"/>
              </a:gdLst>
              <a:ahLst/>
              <a:cxnLst>
                <a:cxn ang="T8">
                  <a:pos x="T0" y="T1"/>
                </a:cxn>
                <a:cxn ang="T9">
                  <a:pos x="T2" y="T3"/>
                </a:cxn>
                <a:cxn ang="T10">
                  <a:pos x="T4" y="T5"/>
                </a:cxn>
                <a:cxn ang="T11">
                  <a:pos x="T6" y="T7"/>
                </a:cxn>
              </a:cxnLst>
              <a:rect l="T12" t="T13" r="T14" b="T15"/>
              <a:pathLst>
                <a:path w="96" h="216">
                  <a:moveTo>
                    <a:pt x="0" y="216"/>
                  </a:moveTo>
                  <a:lnTo>
                    <a:pt x="96" y="216"/>
                  </a:lnTo>
                  <a:lnTo>
                    <a:pt x="96" y="0"/>
                  </a:lnTo>
                  <a:lnTo>
                    <a:pt x="0" y="216"/>
                  </a:lnTo>
                  <a:close/>
                </a:path>
              </a:pathLst>
            </a:custGeom>
            <a:solidFill>
              <a:schemeClr val="accent2"/>
            </a:solid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151594" name="Text Box 42"/>
            <p:cNvSpPr txBox="1">
              <a:spLocks noChangeArrowheads="1"/>
            </p:cNvSpPr>
            <p:nvPr/>
          </p:nvSpPr>
          <p:spPr bwMode="auto">
            <a:xfrm>
              <a:off x="3713" y="2266"/>
              <a:ext cx="1728" cy="288"/>
            </a:xfrm>
            <a:prstGeom prst="rect">
              <a:avLst/>
            </a:prstGeom>
            <a:noFill/>
            <a:ln w="12700">
              <a:noFill/>
              <a:miter lim="800000"/>
              <a:headEnd type="none" w="sm" len="sm"/>
              <a:tailEnd type="none" w="sm" len="sm"/>
            </a:ln>
            <a:effectLst>
              <a:outerShdw dist="17961" dir="2700000" algn="ctr" rotWithShape="0">
                <a:schemeClr val="bg2"/>
              </a:outerShdw>
            </a:effectLst>
          </p:spPr>
          <p:txBody>
            <a:bodyPr wrap="none">
              <a:spAutoFit/>
            </a:bodyPr>
            <a:lstStyle/>
            <a:p>
              <a:pPr algn="l" eaLnBrk="1" hangingPunct="1">
                <a:lnSpc>
                  <a:spcPct val="100000"/>
                </a:lnSpc>
                <a:defRPr/>
              </a:pPr>
              <a:r>
                <a:rPr lang="en-US" sz="1800" b="1">
                  <a:solidFill>
                    <a:schemeClr val="accent2"/>
                  </a:solidFill>
                  <a:latin typeface="Arial" charset="0"/>
                </a:rPr>
                <a:t>Outbound Packets</a:t>
              </a:r>
            </a:p>
          </p:txBody>
        </p:sp>
        <p:sp>
          <p:nvSpPr>
            <p:cNvPr id="4125" name="AutoShape 43"/>
            <p:cNvSpPr>
              <a:spLocks noChangeArrowheads="1"/>
            </p:cNvSpPr>
            <p:nvPr/>
          </p:nvSpPr>
          <p:spPr bwMode="auto">
            <a:xfrm>
              <a:off x="5102" y="2256"/>
              <a:ext cx="243" cy="239"/>
            </a:xfrm>
            <a:prstGeom prst="rightArrow">
              <a:avLst>
                <a:gd name="adj1" fmla="val 50000"/>
                <a:gd name="adj2" fmla="val 25418"/>
              </a:avLst>
            </a:prstGeom>
            <a:solidFill>
              <a:schemeClr val="hlink"/>
            </a:solidFill>
            <a:ln w="12700">
              <a:solidFill>
                <a:schemeClr val="tx1"/>
              </a:solidFill>
              <a:miter lim="800000"/>
              <a:headEnd type="none" w="sm" len="sm"/>
              <a:tailEnd type="none" w="sm" len="sm"/>
            </a:ln>
          </p:spPr>
          <p:txBody>
            <a:bodyPr wrap="none" anchor="ctr">
              <a:prstTxWarp prst="textNoShape">
                <a:avLst/>
              </a:prstTxWarp>
            </a:bodyPr>
            <a:lstStyle/>
            <a:p>
              <a:pPr>
                <a:lnSpc>
                  <a:spcPct val="100000"/>
                </a:lnSpc>
              </a:pPr>
              <a:endParaRPr lang="en-GB" sz="2000" b="1" i="1">
                <a:solidFill>
                  <a:srgbClr val="000099"/>
                </a:solidFill>
              </a:endParaRPr>
            </a:p>
          </p:txBody>
        </p:sp>
        <p:sp>
          <p:nvSpPr>
            <p:cNvPr id="4126" name="AutoShape 44"/>
            <p:cNvSpPr>
              <a:spLocks noChangeArrowheads="1"/>
            </p:cNvSpPr>
            <p:nvPr/>
          </p:nvSpPr>
          <p:spPr bwMode="auto">
            <a:xfrm rot="1610830">
              <a:off x="2258" y="2101"/>
              <a:ext cx="550" cy="239"/>
            </a:xfrm>
            <a:prstGeom prst="rightArrow">
              <a:avLst>
                <a:gd name="adj1" fmla="val 50000"/>
                <a:gd name="adj2" fmla="val 57531"/>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27" name="AutoShape 45"/>
            <p:cNvSpPr>
              <a:spLocks noChangeArrowheads="1"/>
            </p:cNvSpPr>
            <p:nvPr/>
          </p:nvSpPr>
          <p:spPr bwMode="auto">
            <a:xfrm rot="406280">
              <a:off x="2276" y="2361"/>
              <a:ext cx="550" cy="239"/>
            </a:xfrm>
            <a:prstGeom prst="rightArrow">
              <a:avLst>
                <a:gd name="adj1" fmla="val 50000"/>
                <a:gd name="adj2" fmla="val 57531"/>
              </a:avLst>
            </a:prstGeom>
            <a:solidFill>
              <a:schemeClr val="fo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28" name="AutoShape 46"/>
            <p:cNvSpPr>
              <a:spLocks noChangeArrowheads="1"/>
            </p:cNvSpPr>
            <p:nvPr/>
          </p:nvSpPr>
          <p:spPr bwMode="auto">
            <a:xfrm rot="-313790">
              <a:off x="2278" y="2642"/>
              <a:ext cx="551" cy="238"/>
            </a:xfrm>
            <a:prstGeom prst="rightArrow">
              <a:avLst>
                <a:gd name="adj1" fmla="val 50000"/>
                <a:gd name="adj2" fmla="val 57878"/>
              </a:avLst>
            </a:prstGeom>
            <a:solidFill>
              <a:schemeClr val="accent2"/>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29" name="AutoShape 47"/>
            <p:cNvSpPr>
              <a:spLocks noChangeArrowheads="1"/>
            </p:cNvSpPr>
            <p:nvPr/>
          </p:nvSpPr>
          <p:spPr bwMode="auto">
            <a:xfrm rot="-1912449">
              <a:off x="2259" y="2916"/>
              <a:ext cx="550" cy="239"/>
            </a:xfrm>
            <a:prstGeom prst="rightArrow">
              <a:avLst>
                <a:gd name="adj1" fmla="val 50000"/>
                <a:gd name="adj2" fmla="val 57531"/>
              </a:avLst>
            </a:prstGeom>
            <a:solidFill>
              <a:schemeClr val="hlink"/>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30" name="AutoShape 48"/>
            <p:cNvSpPr>
              <a:spLocks noChangeArrowheads="1"/>
            </p:cNvSpPr>
            <p:nvPr/>
          </p:nvSpPr>
          <p:spPr bwMode="auto">
            <a:xfrm>
              <a:off x="3002" y="2487"/>
              <a:ext cx="431" cy="239"/>
            </a:xfrm>
            <a:prstGeom prst="rightArrow">
              <a:avLst>
                <a:gd name="adj1" fmla="val 50000"/>
                <a:gd name="adj2" fmla="val 45084"/>
              </a:avLst>
            </a:prstGeom>
            <a:solidFill>
              <a:schemeClr val="accent1"/>
            </a:solid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31" name="Rectangle 49"/>
            <p:cNvSpPr>
              <a:spLocks noChangeArrowheads="1"/>
            </p:cNvSpPr>
            <p:nvPr/>
          </p:nvSpPr>
          <p:spPr bwMode="auto">
            <a:xfrm>
              <a:off x="3001" y="2546"/>
              <a:ext cx="113" cy="119"/>
            </a:xfrm>
            <a:prstGeom prst="rect">
              <a:avLst/>
            </a:prstGeom>
            <a:solidFill>
              <a:schemeClr val="hlink"/>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32" name="Rectangle 50"/>
            <p:cNvSpPr>
              <a:spLocks noChangeArrowheads="1"/>
            </p:cNvSpPr>
            <p:nvPr/>
          </p:nvSpPr>
          <p:spPr bwMode="auto">
            <a:xfrm>
              <a:off x="3111" y="2546"/>
              <a:ext cx="110" cy="119"/>
            </a:xfrm>
            <a:prstGeom prst="rect">
              <a:avLst/>
            </a:prstGeom>
            <a:solidFill>
              <a:schemeClr val="accent2"/>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33" name="Rectangle 51"/>
            <p:cNvSpPr>
              <a:spLocks noChangeArrowheads="1"/>
            </p:cNvSpPr>
            <p:nvPr/>
          </p:nvSpPr>
          <p:spPr bwMode="auto">
            <a:xfrm>
              <a:off x="3221" y="2546"/>
              <a:ext cx="105" cy="119"/>
            </a:xfrm>
            <a:prstGeom prst="rect">
              <a:avLst/>
            </a:prstGeom>
            <a:solidFill>
              <a:schemeClr val="folHlink"/>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134" name="Oval 52"/>
            <p:cNvSpPr>
              <a:spLocks noChangeArrowheads="1"/>
            </p:cNvSpPr>
            <p:nvPr/>
          </p:nvSpPr>
          <p:spPr bwMode="auto">
            <a:xfrm>
              <a:off x="2903" y="2288"/>
              <a:ext cx="189" cy="655"/>
            </a:xfrm>
            <a:prstGeom prst="ellipse">
              <a:avLst/>
            </a:prstGeom>
            <a:solidFill>
              <a:schemeClr val="accent1"/>
            </a:solidFill>
            <a:ln w="9525">
              <a:round/>
              <a:headEnd/>
              <a:tailEnd/>
            </a:ln>
            <a:scene3d>
              <a:camera prst="legacyObliqueRight"/>
              <a:lightRig rig="legacyFlat3" dir="t"/>
            </a:scene3d>
            <a:sp3d extrusionH="430200" prstMaterial="legacyWireframe">
              <a:bevelT w="13500" h="13500" prst="angle"/>
              <a:bevelB w="13500" h="13500" prst="angle"/>
              <a:extrusionClr>
                <a:schemeClr val="tx2"/>
              </a:extrusionClr>
            </a:sp3d>
          </p:spPr>
          <p:txBody>
            <a:bodyPr wrap="none" anchor="ctr">
              <a:prstTxWarp prst="textNoShape">
                <a:avLst/>
              </a:prstTxWarp>
              <a:flatTx/>
            </a:bodyPr>
            <a:lstStyle/>
            <a:p>
              <a:endParaRPr lang="en-US"/>
            </a:p>
          </p:txBody>
        </p:sp>
        <p:sp>
          <p:nvSpPr>
            <p:cNvPr id="151605" name="Text Box 53"/>
            <p:cNvSpPr txBox="1">
              <a:spLocks noChangeArrowheads="1"/>
            </p:cNvSpPr>
            <p:nvPr/>
          </p:nvSpPr>
          <p:spPr bwMode="auto">
            <a:xfrm>
              <a:off x="2750" y="2064"/>
              <a:ext cx="1011" cy="288"/>
            </a:xfrm>
            <a:prstGeom prst="rect">
              <a:avLst/>
            </a:prstGeom>
            <a:noFill/>
            <a:ln w="12700">
              <a:noFill/>
              <a:miter lim="800000"/>
              <a:headEnd type="none" w="sm" len="sm"/>
              <a:tailEnd type="none" w="sm" len="sm"/>
            </a:ln>
            <a:effectLst>
              <a:outerShdw dist="17961" dir="2700000" algn="ctr" rotWithShape="0">
                <a:schemeClr val="bg2"/>
              </a:outerShdw>
            </a:effectLst>
          </p:spPr>
          <p:txBody>
            <a:bodyPr wrap="none">
              <a:spAutoFit/>
            </a:bodyPr>
            <a:lstStyle/>
            <a:p>
              <a:pPr algn="l" eaLnBrk="1" hangingPunct="1">
                <a:lnSpc>
                  <a:spcPct val="100000"/>
                </a:lnSpc>
                <a:defRPr/>
              </a:pPr>
              <a:r>
                <a:rPr lang="en-US" sz="1800" b="1">
                  <a:solidFill>
                    <a:schemeClr val="accent2"/>
                  </a:solidFill>
                  <a:latin typeface="Arial" charset="0"/>
                </a:rPr>
                <a:t>Scheduler</a:t>
              </a:r>
            </a:p>
          </p:txBody>
        </p:sp>
        <p:sp>
          <p:nvSpPr>
            <p:cNvPr id="4136" name="WordArt 54"/>
            <p:cNvSpPr>
              <a:spLocks noChangeArrowheads="1" noChangeShapeType="1" noTextEdit="1"/>
            </p:cNvSpPr>
            <p:nvPr/>
          </p:nvSpPr>
          <p:spPr bwMode="auto">
            <a:xfrm rot="-5400000">
              <a:off x="1427" y="3059"/>
              <a:ext cx="113" cy="1404"/>
            </a:xfrm>
            <a:prstGeom prst="rect">
              <a:avLst/>
            </a:prstGeom>
          </p:spPr>
          <p:txBody>
            <a:bodyPr wrap="none" fromWordArt="1">
              <a:prstTxWarp prst="textPlain">
                <a:avLst>
                  <a:gd name="adj" fmla="val 50000"/>
                </a:avLst>
              </a:prstTxWarp>
            </a:bodyPr>
            <a:lstStyle/>
            <a:p>
              <a:r>
                <a:rPr lang="en-US" sz="3600" kern="10">
                  <a:ln w="9525">
                    <a:noFill/>
                    <a:round/>
                    <a:headEnd type="none" w="sm" len="sm"/>
                    <a:tailEnd type="none" w="sm" len="sm"/>
                  </a:ln>
                  <a:solidFill>
                    <a:schemeClr val="hlink"/>
                  </a:solidFill>
                  <a:effectLst>
                    <a:outerShdw blurRad="63500" dist="29783" dir="1514402" algn="ctr" rotWithShape="0">
                      <a:schemeClr val="bg2">
                        <a:alpha val="74998"/>
                      </a:schemeClr>
                    </a:outerShdw>
                  </a:effectLst>
                  <a:latin typeface="Times New Roman"/>
                  <a:ea typeface="Times New Roman"/>
                  <a:cs typeface="Times New Roman"/>
                </a:rPr>
                <a:t>{</a:t>
              </a:r>
            </a:p>
          </p:txBody>
        </p:sp>
        <p:sp>
          <p:nvSpPr>
            <p:cNvPr id="151607" name="Text Box 55"/>
            <p:cNvSpPr txBox="1">
              <a:spLocks noChangeArrowheads="1"/>
            </p:cNvSpPr>
            <p:nvPr/>
          </p:nvSpPr>
          <p:spPr bwMode="auto">
            <a:xfrm>
              <a:off x="733" y="3768"/>
              <a:ext cx="1509" cy="503"/>
            </a:xfrm>
            <a:prstGeom prst="rect">
              <a:avLst/>
            </a:prstGeom>
            <a:noFill/>
            <a:ln w="12700">
              <a:noFill/>
              <a:miter lim="800000"/>
              <a:headEnd type="none" w="sm" len="sm"/>
              <a:tailEnd type="none" w="sm" len="sm"/>
            </a:ln>
            <a:effectLst>
              <a:outerShdw dist="17961" dir="2700000" algn="ctr" rotWithShape="0">
                <a:schemeClr val="bg2"/>
              </a:outerShdw>
            </a:effectLst>
          </p:spPr>
          <p:txBody>
            <a:bodyPr wrap="none">
              <a:spAutoFit/>
            </a:bodyPr>
            <a:lstStyle/>
            <a:p>
              <a:pPr eaLnBrk="1" hangingPunct="1">
                <a:lnSpc>
                  <a:spcPct val="100000"/>
                </a:lnSpc>
                <a:defRPr/>
              </a:pPr>
              <a:r>
                <a:rPr lang="en-US" sz="1800" b="1">
                  <a:solidFill>
                    <a:schemeClr val="accent2"/>
                  </a:solidFill>
                  <a:latin typeface="Arial" charset="0"/>
                </a:rPr>
                <a:t>Packets in</a:t>
              </a:r>
            </a:p>
            <a:p>
              <a:pPr eaLnBrk="1" hangingPunct="1">
                <a:lnSpc>
                  <a:spcPct val="100000"/>
                </a:lnSpc>
                <a:defRPr/>
              </a:pPr>
              <a:r>
                <a:rPr lang="en-US" sz="1800" b="1">
                  <a:solidFill>
                    <a:schemeClr val="accent2"/>
                  </a:solidFill>
                  <a:latin typeface="Arial" charset="0"/>
                </a:rPr>
                <a:t>Various Queues</a:t>
              </a:r>
            </a:p>
          </p:txBody>
        </p:sp>
        <p:sp>
          <p:nvSpPr>
            <p:cNvPr id="4138" name="Line 56"/>
            <p:cNvSpPr>
              <a:spLocks noChangeShapeType="1"/>
            </p:cNvSpPr>
            <p:nvPr/>
          </p:nvSpPr>
          <p:spPr bwMode="auto">
            <a:xfrm>
              <a:off x="1763" y="1907"/>
              <a:ext cx="0" cy="444"/>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39" name="Line 57"/>
            <p:cNvSpPr>
              <a:spLocks noChangeShapeType="1"/>
            </p:cNvSpPr>
            <p:nvPr/>
          </p:nvSpPr>
          <p:spPr bwMode="auto">
            <a:xfrm>
              <a:off x="1849" y="1907"/>
              <a:ext cx="0" cy="444"/>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40" name="Line 58"/>
            <p:cNvSpPr>
              <a:spLocks noChangeShapeType="1"/>
            </p:cNvSpPr>
            <p:nvPr/>
          </p:nvSpPr>
          <p:spPr bwMode="auto">
            <a:xfrm>
              <a:off x="1876" y="1907"/>
              <a:ext cx="0" cy="444"/>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41" name="Line 59"/>
            <p:cNvSpPr>
              <a:spLocks noChangeShapeType="1"/>
            </p:cNvSpPr>
            <p:nvPr/>
          </p:nvSpPr>
          <p:spPr bwMode="auto">
            <a:xfrm>
              <a:off x="1616" y="1906"/>
              <a:ext cx="0" cy="443"/>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42" name="Line 60"/>
            <p:cNvSpPr>
              <a:spLocks noChangeShapeType="1"/>
            </p:cNvSpPr>
            <p:nvPr/>
          </p:nvSpPr>
          <p:spPr bwMode="auto">
            <a:xfrm>
              <a:off x="1723" y="1908"/>
              <a:ext cx="0" cy="444"/>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43" name="Line 61"/>
            <p:cNvSpPr>
              <a:spLocks noChangeShapeType="1"/>
            </p:cNvSpPr>
            <p:nvPr/>
          </p:nvSpPr>
          <p:spPr bwMode="auto">
            <a:xfrm>
              <a:off x="1246" y="1908"/>
              <a:ext cx="0" cy="444"/>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44" name="Line 62"/>
            <p:cNvSpPr>
              <a:spLocks noChangeShapeType="1"/>
            </p:cNvSpPr>
            <p:nvPr/>
          </p:nvSpPr>
          <p:spPr bwMode="auto">
            <a:xfrm>
              <a:off x="1452" y="1908"/>
              <a:ext cx="0" cy="444"/>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45" name="Line 63"/>
            <p:cNvSpPr>
              <a:spLocks noChangeShapeType="1"/>
            </p:cNvSpPr>
            <p:nvPr/>
          </p:nvSpPr>
          <p:spPr bwMode="auto">
            <a:xfrm>
              <a:off x="1509" y="1908"/>
              <a:ext cx="0" cy="444"/>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46" name="Line 64"/>
            <p:cNvSpPr>
              <a:spLocks noChangeShapeType="1"/>
            </p:cNvSpPr>
            <p:nvPr/>
          </p:nvSpPr>
          <p:spPr bwMode="auto">
            <a:xfrm>
              <a:off x="1146" y="1908"/>
              <a:ext cx="0" cy="444"/>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47" name="Line 65"/>
            <p:cNvSpPr>
              <a:spLocks noChangeShapeType="1"/>
            </p:cNvSpPr>
            <p:nvPr/>
          </p:nvSpPr>
          <p:spPr bwMode="auto">
            <a:xfrm>
              <a:off x="1232" y="1908"/>
              <a:ext cx="0" cy="444"/>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48" name="Line 66"/>
            <p:cNvSpPr>
              <a:spLocks noChangeShapeType="1"/>
            </p:cNvSpPr>
            <p:nvPr/>
          </p:nvSpPr>
          <p:spPr bwMode="auto">
            <a:xfrm>
              <a:off x="1913" y="2446"/>
              <a:ext cx="0" cy="8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49" name="Line 67"/>
            <p:cNvSpPr>
              <a:spLocks noChangeShapeType="1"/>
            </p:cNvSpPr>
            <p:nvPr/>
          </p:nvSpPr>
          <p:spPr bwMode="auto">
            <a:xfrm>
              <a:off x="1623" y="2446"/>
              <a:ext cx="0" cy="8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50" name="Line 68"/>
            <p:cNvSpPr>
              <a:spLocks noChangeShapeType="1"/>
            </p:cNvSpPr>
            <p:nvPr/>
          </p:nvSpPr>
          <p:spPr bwMode="auto">
            <a:xfrm>
              <a:off x="1661" y="2444"/>
              <a:ext cx="0" cy="8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51" name="Line 69"/>
            <p:cNvSpPr>
              <a:spLocks noChangeShapeType="1"/>
            </p:cNvSpPr>
            <p:nvPr/>
          </p:nvSpPr>
          <p:spPr bwMode="auto">
            <a:xfrm>
              <a:off x="1841" y="2444"/>
              <a:ext cx="0" cy="8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52" name="Line 70"/>
            <p:cNvSpPr>
              <a:spLocks noChangeShapeType="1"/>
            </p:cNvSpPr>
            <p:nvPr/>
          </p:nvSpPr>
          <p:spPr bwMode="auto">
            <a:xfrm>
              <a:off x="1846" y="2629"/>
              <a:ext cx="0" cy="16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53" name="Line 71"/>
            <p:cNvSpPr>
              <a:spLocks noChangeShapeType="1"/>
            </p:cNvSpPr>
            <p:nvPr/>
          </p:nvSpPr>
          <p:spPr bwMode="auto">
            <a:xfrm>
              <a:off x="1486" y="2629"/>
              <a:ext cx="0" cy="16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54" name="Line 72"/>
            <p:cNvSpPr>
              <a:spLocks noChangeShapeType="1"/>
            </p:cNvSpPr>
            <p:nvPr/>
          </p:nvSpPr>
          <p:spPr bwMode="auto">
            <a:xfrm>
              <a:off x="1588" y="2631"/>
              <a:ext cx="0" cy="16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55" name="Line 73"/>
            <p:cNvSpPr>
              <a:spLocks noChangeShapeType="1"/>
            </p:cNvSpPr>
            <p:nvPr/>
          </p:nvSpPr>
          <p:spPr bwMode="auto">
            <a:xfrm>
              <a:off x="1701" y="2631"/>
              <a:ext cx="0" cy="16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56" name="Line 74"/>
            <p:cNvSpPr>
              <a:spLocks noChangeShapeType="1"/>
            </p:cNvSpPr>
            <p:nvPr/>
          </p:nvSpPr>
          <p:spPr bwMode="auto">
            <a:xfrm>
              <a:off x="1752" y="2631"/>
              <a:ext cx="0" cy="16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57" name="Line 75"/>
            <p:cNvSpPr>
              <a:spLocks noChangeShapeType="1"/>
            </p:cNvSpPr>
            <p:nvPr/>
          </p:nvSpPr>
          <p:spPr bwMode="auto">
            <a:xfrm>
              <a:off x="925" y="2629"/>
              <a:ext cx="0" cy="16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58" name="Line 76"/>
            <p:cNvSpPr>
              <a:spLocks noChangeShapeType="1"/>
            </p:cNvSpPr>
            <p:nvPr/>
          </p:nvSpPr>
          <p:spPr bwMode="auto">
            <a:xfrm>
              <a:off x="1089" y="2631"/>
              <a:ext cx="0" cy="16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59" name="Line 77"/>
            <p:cNvSpPr>
              <a:spLocks noChangeShapeType="1"/>
            </p:cNvSpPr>
            <p:nvPr/>
          </p:nvSpPr>
          <p:spPr bwMode="auto">
            <a:xfrm>
              <a:off x="1178" y="2629"/>
              <a:ext cx="0" cy="16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60" name="Line 78"/>
            <p:cNvSpPr>
              <a:spLocks noChangeShapeType="1"/>
            </p:cNvSpPr>
            <p:nvPr/>
          </p:nvSpPr>
          <p:spPr bwMode="auto">
            <a:xfrm>
              <a:off x="1194" y="2629"/>
              <a:ext cx="0" cy="16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61" name="Line 79"/>
            <p:cNvSpPr>
              <a:spLocks noChangeShapeType="1"/>
            </p:cNvSpPr>
            <p:nvPr/>
          </p:nvSpPr>
          <p:spPr bwMode="auto">
            <a:xfrm>
              <a:off x="1210" y="2629"/>
              <a:ext cx="0" cy="166"/>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62" name="Line 80"/>
            <p:cNvSpPr>
              <a:spLocks noChangeShapeType="1"/>
            </p:cNvSpPr>
            <p:nvPr/>
          </p:nvSpPr>
          <p:spPr bwMode="auto">
            <a:xfrm>
              <a:off x="1912" y="2921"/>
              <a:ext cx="0" cy="73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63" name="Line 81"/>
            <p:cNvSpPr>
              <a:spLocks noChangeShapeType="1"/>
            </p:cNvSpPr>
            <p:nvPr/>
          </p:nvSpPr>
          <p:spPr bwMode="auto">
            <a:xfrm>
              <a:off x="1785" y="2921"/>
              <a:ext cx="0" cy="73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64" name="Line 82"/>
            <p:cNvSpPr>
              <a:spLocks noChangeShapeType="1"/>
            </p:cNvSpPr>
            <p:nvPr/>
          </p:nvSpPr>
          <p:spPr bwMode="auto">
            <a:xfrm>
              <a:off x="1801" y="2923"/>
              <a:ext cx="0" cy="73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165" name="Line 83"/>
            <p:cNvSpPr>
              <a:spLocks noChangeShapeType="1"/>
            </p:cNvSpPr>
            <p:nvPr/>
          </p:nvSpPr>
          <p:spPr bwMode="auto">
            <a:xfrm>
              <a:off x="1851" y="2921"/>
              <a:ext cx="0" cy="732"/>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gr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solidFill>
                  <a:schemeClr val="folHlink"/>
                </a:solidFill>
              </a:rPr>
              <a:t>Definitions</a:t>
            </a:r>
          </a:p>
        </p:txBody>
      </p:sp>
      <p:sp>
        <p:nvSpPr>
          <p:cNvPr id="5123" name="Rectangle 3"/>
          <p:cNvSpPr>
            <a:spLocks noGrp="1" noChangeArrowheads="1"/>
          </p:cNvSpPr>
          <p:nvPr>
            <p:ph idx="1"/>
          </p:nvPr>
        </p:nvSpPr>
        <p:spPr>
          <a:xfrm>
            <a:off x="2208214" y="1341439"/>
            <a:ext cx="7940675" cy="5183187"/>
          </a:xfrm>
        </p:spPr>
        <p:txBody>
          <a:bodyPr>
            <a:normAutofit lnSpcReduction="10000"/>
          </a:bodyPr>
          <a:lstStyle/>
          <a:p>
            <a:r>
              <a:rPr lang="en-US"/>
              <a:t>The </a:t>
            </a:r>
            <a:r>
              <a:rPr lang="en-US">
                <a:solidFill>
                  <a:schemeClr val="folHlink"/>
                </a:solidFill>
              </a:rPr>
              <a:t>tx-ring</a:t>
            </a:r>
            <a:r>
              <a:rPr lang="en-US"/>
              <a:t>, or TxQ, is buffer between the scheduler and the wire.  It is always </a:t>
            </a:r>
            <a:r>
              <a:rPr lang="en-US">
                <a:solidFill>
                  <a:schemeClr val="folHlink"/>
                </a:solidFill>
              </a:rPr>
              <a:t>FIFO</a:t>
            </a:r>
            <a:r>
              <a:rPr lang="en-US"/>
              <a:t>.</a:t>
            </a:r>
          </a:p>
          <a:p>
            <a:r>
              <a:rPr lang="en-US"/>
              <a:t>We will consider there is congestion when we receive </a:t>
            </a:r>
            <a:r>
              <a:rPr lang="en-US">
                <a:solidFill>
                  <a:schemeClr val="folHlink"/>
                </a:solidFill>
              </a:rPr>
              <a:t>backpressure</a:t>
            </a:r>
            <a:r>
              <a:rPr lang="en-US"/>
              <a:t> signals.</a:t>
            </a:r>
          </a:p>
          <a:p>
            <a:endParaRPr lang="en-US"/>
          </a:p>
          <a:p>
            <a:endParaRPr lang="en-US"/>
          </a:p>
          <a:p>
            <a:endParaRPr lang="en-US"/>
          </a:p>
          <a:p>
            <a:endParaRPr lang="en-US"/>
          </a:p>
          <a:p>
            <a:r>
              <a:rPr lang="en-US"/>
              <a:t>Those signals can come from a full </a:t>
            </a:r>
            <a:r>
              <a:rPr lang="en-US">
                <a:solidFill>
                  <a:schemeClr val="folHlink"/>
                </a:solidFill>
              </a:rPr>
              <a:t>tx-ring</a:t>
            </a:r>
            <a:r>
              <a:rPr lang="en-US"/>
              <a:t> (night club entrance full), or from a </a:t>
            </a:r>
            <a:r>
              <a:rPr lang="en-US">
                <a:solidFill>
                  <a:schemeClr val="tx2"/>
                </a:solidFill>
              </a:rPr>
              <a:t>shaper</a:t>
            </a:r>
            <a:r>
              <a:rPr lang="en-US"/>
              <a:t> (Nick tells Bob to start queuing, regardless of the status of the entrance)</a:t>
            </a:r>
          </a:p>
        </p:txBody>
      </p:sp>
      <p:sp>
        <p:nvSpPr>
          <p:cNvPr id="153605" name="Rectangle 5"/>
          <p:cNvSpPr>
            <a:spLocks noChangeArrowheads="1"/>
          </p:cNvSpPr>
          <p:nvPr/>
        </p:nvSpPr>
        <p:spPr bwMode="auto">
          <a:xfrm>
            <a:off x="2063750" y="3068638"/>
            <a:ext cx="8077200" cy="1981200"/>
          </a:xfrm>
          <a:prstGeom prst="rect">
            <a:avLst/>
          </a:prstGeom>
          <a:solidFill>
            <a:schemeClr val="bg2"/>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5125" name="Oval 10"/>
          <p:cNvSpPr>
            <a:spLocks noChangeArrowheads="1"/>
          </p:cNvSpPr>
          <p:nvPr/>
        </p:nvSpPr>
        <p:spPr bwMode="auto">
          <a:xfrm>
            <a:off x="4883150" y="3602038"/>
            <a:ext cx="1219200" cy="685800"/>
          </a:xfrm>
          <a:prstGeom prst="ellipse">
            <a:avLst/>
          </a:prstGeom>
          <a:solidFill>
            <a:schemeClr val="folHlink"/>
          </a:solidFill>
          <a:ln w="9525">
            <a:solidFill>
              <a:schemeClr val="tx1"/>
            </a:solidFill>
            <a:round/>
            <a:headEnd/>
            <a:tailEnd/>
          </a:ln>
        </p:spPr>
        <p:txBody>
          <a:bodyPr wrap="none" lIns="73025" tIns="36512" rIns="73025" bIns="36512" anchor="ctr">
            <a:prstTxWarp prst="textNoShape">
              <a:avLst/>
            </a:prstTxWarp>
          </a:bodyPr>
          <a:lstStyle/>
          <a:p>
            <a:endParaRPr lang="en-US"/>
          </a:p>
        </p:txBody>
      </p:sp>
      <p:sp>
        <p:nvSpPr>
          <p:cNvPr id="5126" name="Text Box 6"/>
          <p:cNvSpPr txBox="1">
            <a:spLocks noChangeArrowheads="1"/>
          </p:cNvSpPr>
          <p:nvPr/>
        </p:nvSpPr>
        <p:spPr bwMode="auto">
          <a:xfrm>
            <a:off x="4883150" y="3754438"/>
            <a:ext cx="1295400" cy="347662"/>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GB" sz="1800" b="1"/>
              <a:t>scheduler</a:t>
            </a:r>
            <a:endParaRPr lang="en-US" sz="1800" b="1"/>
          </a:p>
        </p:txBody>
      </p:sp>
      <p:sp>
        <p:nvSpPr>
          <p:cNvPr id="5127" name="Rectangle 7"/>
          <p:cNvSpPr>
            <a:spLocks noChangeArrowheads="1"/>
          </p:cNvSpPr>
          <p:nvPr/>
        </p:nvSpPr>
        <p:spPr bwMode="auto">
          <a:xfrm>
            <a:off x="3511550" y="3449638"/>
            <a:ext cx="1676400" cy="762000"/>
          </a:xfrm>
          <a:prstGeom prst="rect">
            <a:avLst/>
          </a:prstGeom>
          <a:noFill/>
          <a:ln w="9525">
            <a:noFill/>
            <a:miter lim="800000"/>
            <a:headEnd/>
            <a:tailEnd/>
          </a:ln>
        </p:spPr>
        <p:txBody>
          <a:bodyPr wrap="none" lIns="73025" tIns="36512" rIns="73025" bIns="36512" anchor="ctr">
            <a:prstTxWarp prst="textNoShape">
              <a:avLst/>
            </a:prstTxWarp>
          </a:bodyPr>
          <a:lstStyle/>
          <a:p>
            <a:endParaRPr lang="en-US"/>
          </a:p>
        </p:txBody>
      </p:sp>
      <p:sp>
        <p:nvSpPr>
          <p:cNvPr id="5128" name="Rectangle 8"/>
          <p:cNvSpPr>
            <a:spLocks noChangeArrowheads="1"/>
          </p:cNvSpPr>
          <p:nvPr/>
        </p:nvSpPr>
        <p:spPr bwMode="auto">
          <a:xfrm>
            <a:off x="2444750" y="3373438"/>
            <a:ext cx="1752600" cy="304800"/>
          </a:xfrm>
          <a:prstGeom prst="rect">
            <a:avLst/>
          </a:prstGeom>
          <a:solidFill>
            <a:schemeClr val="folHlink"/>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5129" name="Rectangle 9"/>
          <p:cNvSpPr>
            <a:spLocks noChangeArrowheads="1"/>
          </p:cNvSpPr>
          <p:nvPr/>
        </p:nvSpPr>
        <p:spPr bwMode="auto">
          <a:xfrm>
            <a:off x="6457950" y="3733801"/>
            <a:ext cx="1081088" cy="360363"/>
          </a:xfrm>
          <a:prstGeom prst="rect">
            <a:avLst/>
          </a:prstGeom>
          <a:solidFill>
            <a:schemeClr val="accent2"/>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5130" name="Rectangle 11"/>
          <p:cNvSpPr>
            <a:spLocks noChangeArrowheads="1"/>
          </p:cNvSpPr>
          <p:nvPr/>
        </p:nvSpPr>
        <p:spPr bwMode="auto">
          <a:xfrm>
            <a:off x="2444750" y="4364038"/>
            <a:ext cx="1752600" cy="304800"/>
          </a:xfrm>
          <a:prstGeom prst="rect">
            <a:avLst/>
          </a:prstGeom>
          <a:solidFill>
            <a:schemeClr val="folHlink"/>
          </a:solid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5131" name="Line 12"/>
          <p:cNvSpPr>
            <a:spLocks noChangeShapeType="1"/>
          </p:cNvSpPr>
          <p:nvPr/>
        </p:nvSpPr>
        <p:spPr bwMode="auto">
          <a:xfrm>
            <a:off x="7550150" y="3906838"/>
            <a:ext cx="457200" cy="0"/>
          </a:xfrm>
          <a:prstGeom prst="line">
            <a:avLst/>
          </a:prstGeom>
          <a:noFill/>
          <a:ln w="9525">
            <a:solidFill>
              <a:schemeClr val="tx1"/>
            </a:solidFill>
            <a:round/>
            <a:headEnd/>
            <a:tailEnd type="triangle" w="med" len="med"/>
          </a:ln>
        </p:spPr>
        <p:txBody>
          <a:bodyPr wrap="none" lIns="73025" tIns="36512" rIns="73025" bIns="36512" anchor="ctr">
            <a:prstTxWarp prst="textNoShape">
              <a:avLst/>
            </a:prstTxWarp>
          </a:bodyPr>
          <a:lstStyle/>
          <a:p>
            <a:endParaRPr lang="en-US"/>
          </a:p>
        </p:txBody>
      </p:sp>
      <p:sp>
        <p:nvSpPr>
          <p:cNvPr id="5132" name="Line 13"/>
          <p:cNvSpPr>
            <a:spLocks noChangeShapeType="1"/>
          </p:cNvSpPr>
          <p:nvPr/>
        </p:nvSpPr>
        <p:spPr bwMode="auto">
          <a:xfrm>
            <a:off x="4273550" y="3525838"/>
            <a:ext cx="533400" cy="304800"/>
          </a:xfrm>
          <a:prstGeom prst="line">
            <a:avLst/>
          </a:prstGeom>
          <a:noFill/>
          <a:ln w="9525">
            <a:solidFill>
              <a:schemeClr val="tx1"/>
            </a:solidFill>
            <a:round/>
            <a:headEnd/>
            <a:tailEnd type="triangle" w="med" len="med"/>
          </a:ln>
        </p:spPr>
        <p:txBody>
          <a:bodyPr wrap="none" lIns="73025" tIns="36512" rIns="73025" bIns="36512" anchor="ctr">
            <a:prstTxWarp prst="textNoShape">
              <a:avLst/>
            </a:prstTxWarp>
          </a:bodyPr>
          <a:lstStyle/>
          <a:p>
            <a:endParaRPr lang="en-US"/>
          </a:p>
        </p:txBody>
      </p:sp>
      <p:sp>
        <p:nvSpPr>
          <p:cNvPr id="5133" name="Line 14"/>
          <p:cNvSpPr>
            <a:spLocks noChangeShapeType="1"/>
          </p:cNvSpPr>
          <p:nvPr/>
        </p:nvSpPr>
        <p:spPr bwMode="auto">
          <a:xfrm flipV="1">
            <a:off x="4273550" y="4211638"/>
            <a:ext cx="533400" cy="304800"/>
          </a:xfrm>
          <a:prstGeom prst="line">
            <a:avLst/>
          </a:prstGeom>
          <a:noFill/>
          <a:ln w="9525">
            <a:solidFill>
              <a:schemeClr val="tx1"/>
            </a:solidFill>
            <a:round/>
            <a:headEnd/>
            <a:tailEnd type="triangle" w="med" len="med"/>
          </a:ln>
        </p:spPr>
        <p:txBody>
          <a:bodyPr wrap="none" lIns="73025" tIns="36512" rIns="73025" bIns="36512" anchor="ctr">
            <a:prstTxWarp prst="textNoShape">
              <a:avLst/>
            </a:prstTxWarp>
          </a:bodyPr>
          <a:lstStyle/>
          <a:p>
            <a:endParaRPr lang="en-US"/>
          </a:p>
        </p:txBody>
      </p:sp>
      <p:sp>
        <p:nvSpPr>
          <p:cNvPr id="5134" name="Line 15"/>
          <p:cNvSpPr>
            <a:spLocks noChangeShapeType="1"/>
          </p:cNvSpPr>
          <p:nvPr/>
        </p:nvSpPr>
        <p:spPr bwMode="auto">
          <a:xfrm>
            <a:off x="6178550" y="3906838"/>
            <a:ext cx="228600" cy="0"/>
          </a:xfrm>
          <a:prstGeom prst="line">
            <a:avLst/>
          </a:prstGeom>
          <a:noFill/>
          <a:ln w="9525">
            <a:solidFill>
              <a:schemeClr val="tx1"/>
            </a:solidFill>
            <a:round/>
            <a:headEnd/>
            <a:tailEnd type="triangle" w="med" len="med"/>
          </a:ln>
        </p:spPr>
        <p:txBody>
          <a:bodyPr wrap="none" lIns="73025" tIns="36512" rIns="73025" bIns="36512" anchor="ctr">
            <a:prstTxWarp prst="textNoShape">
              <a:avLst/>
            </a:prstTxWarp>
          </a:bodyPr>
          <a:lstStyle/>
          <a:p>
            <a:endParaRPr lang="en-US"/>
          </a:p>
        </p:txBody>
      </p:sp>
      <p:sp>
        <p:nvSpPr>
          <p:cNvPr id="5135" name="Freeform 16"/>
          <p:cNvSpPr>
            <a:spLocks/>
          </p:cNvSpPr>
          <p:nvPr/>
        </p:nvSpPr>
        <p:spPr bwMode="auto">
          <a:xfrm>
            <a:off x="8235950" y="3449638"/>
            <a:ext cx="1524000" cy="1041400"/>
          </a:xfrm>
          <a:custGeom>
            <a:avLst/>
            <a:gdLst>
              <a:gd name="T0" fmla="*/ 0 w 960"/>
              <a:gd name="T1" fmla="*/ 336 h 656"/>
              <a:gd name="T2" fmla="*/ 240 w 960"/>
              <a:gd name="T3" fmla="*/ 48 h 656"/>
              <a:gd name="T4" fmla="*/ 672 w 960"/>
              <a:gd name="T5" fmla="*/ 624 h 656"/>
              <a:gd name="T6" fmla="*/ 960 w 960"/>
              <a:gd name="T7" fmla="*/ 240 h 656"/>
              <a:gd name="T8" fmla="*/ 0 60000 65536"/>
              <a:gd name="T9" fmla="*/ 0 60000 65536"/>
              <a:gd name="T10" fmla="*/ 0 60000 65536"/>
              <a:gd name="T11" fmla="*/ 0 60000 65536"/>
              <a:gd name="T12" fmla="*/ 0 w 960"/>
              <a:gd name="T13" fmla="*/ 0 h 656"/>
              <a:gd name="T14" fmla="*/ 960 w 960"/>
              <a:gd name="T15" fmla="*/ 656 h 656"/>
            </a:gdLst>
            <a:ahLst/>
            <a:cxnLst>
              <a:cxn ang="T8">
                <a:pos x="T0" y="T1"/>
              </a:cxn>
              <a:cxn ang="T9">
                <a:pos x="T2" y="T3"/>
              </a:cxn>
              <a:cxn ang="T10">
                <a:pos x="T4" y="T5"/>
              </a:cxn>
              <a:cxn ang="T11">
                <a:pos x="T6" y="T7"/>
              </a:cxn>
            </a:cxnLst>
            <a:rect l="T12" t="T13" r="T14" b="T15"/>
            <a:pathLst>
              <a:path w="960" h="656">
                <a:moveTo>
                  <a:pt x="0" y="336"/>
                </a:moveTo>
                <a:cubicBezTo>
                  <a:pt x="64" y="168"/>
                  <a:pt x="128" y="0"/>
                  <a:pt x="240" y="48"/>
                </a:cubicBezTo>
                <a:cubicBezTo>
                  <a:pt x="352" y="96"/>
                  <a:pt x="552" y="592"/>
                  <a:pt x="672" y="624"/>
                </a:cubicBezTo>
                <a:cubicBezTo>
                  <a:pt x="792" y="656"/>
                  <a:pt x="912" y="304"/>
                  <a:pt x="960" y="240"/>
                </a:cubicBezTo>
              </a:path>
            </a:pathLst>
          </a:custGeom>
          <a:noFill/>
          <a:ln w="9525">
            <a:solidFill>
              <a:schemeClr val="tx1"/>
            </a:solidFill>
            <a:round/>
            <a:headEnd/>
            <a:tailEnd/>
          </a:ln>
        </p:spPr>
        <p:txBody>
          <a:bodyPr wrap="none" lIns="73025" tIns="36512" rIns="73025" bIns="36512" anchor="ctr">
            <a:prstTxWarp prst="textNoShape">
              <a:avLst/>
            </a:prstTxWarp>
          </a:bodyPr>
          <a:lstStyle/>
          <a:p>
            <a:endParaRPr lang="en-US"/>
          </a:p>
        </p:txBody>
      </p:sp>
      <p:sp>
        <p:nvSpPr>
          <p:cNvPr id="5136" name="Text Box 17"/>
          <p:cNvSpPr txBox="1">
            <a:spLocks noChangeArrowheads="1"/>
          </p:cNvSpPr>
          <p:nvPr/>
        </p:nvSpPr>
        <p:spPr bwMode="auto">
          <a:xfrm>
            <a:off x="2578100" y="3373438"/>
            <a:ext cx="1543050" cy="347662"/>
          </a:xfrm>
          <a:prstGeom prst="rect">
            <a:avLst/>
          </a:prstGeom>
          <a:noFill/>
          <a:ln w="9525">
            <a:noFill/>
            <a:miter lim="800000"/>
            <a:headEnd/>
            <a:tailEnd/>
          </a:ln>
        </p:spPr>
        <p:txBody>
          <a:bodyPr wrap="none" lIns="73025" tIns="36512" rIns="73025" bIns="36512">
            <a:prstTxWarp prst="textNoShape">
              <a:avLst/>
            </a:prstTxWarp>
            <a:spAutoFit/>
          </a:bodyPr>
          <a:lstStyle/>
          <a:p>
            <a:pPr>
              <a:lnSpc>
                <a:spcPct val="100000"/>
              </a:lnSpc>
            </a:pPr>
            <a:r>
              <a:rPr lang="en-GB" sz="1800" b="1"/>
              <a:t>Software Q 1</a:t>
            </a:r>
            <a:endParaRPr lang="en-US" sz="1800" b="1"/>
          </a:p>
        </p:txBody>
      </p:sp>
      <p:sp>
        <p:nvSpPr>
          <p:cNvPr id="5137" name="Text Box 18"/>
          <p:cNvSpPr txBox="1">
            <a:spLocks noChangeArrowheads="1"/>
          </p:cNvSpPr>
          <p:nvPr/>
        </p:nvSpPr>
        <p:spPr bwMode="auto">
          <a:xfrm>
            <a:off x="2571750" y="4364038"/>
            <a:ext cx="1555750" cy="347662"/>
          </a:xfrm>
          <a:prstGeom prst="rect">
            <a:avLst/>
          </a:prstGeom>
          <a:noFill/>
          <a:ln w="9525">
            <a:noFill/>
            <a:miter lim="800000"/>
            <a:headEnd/>
            <a:tailEnd/>
          </a:ln>
        </p:spPr>
        <p:txBody>
          <a:bodyPr wrap="none" lIns="73025" tIns="36512" rIns="73025" bIns="36512">
            <a:prstTxWarp prst="textNoShape">
              <a:avLst/>
            </a:prstTxWarp>
            <a:spAutoFit/>
          </a:bodyPr>
          <a:lstStyle/>
          <a:p>
            <a:pPr>
              <a:lnSpc>
                <a:spcPct val="100000"/>
              </a:lnSpc>
            </a:pPr>
            <a:r>
              <a:rPr lang="en-GB" sz="1800" b="1"/>
              <a:t>Software Q n</a:t>
            </a:r>
            <a:endParaRPr lang="en-US" sz="1800" b="1"/>
          </a:p>
        </p:txBody>
      </p:sp>
      <p:sp>
        <p:nvSpPr>
          <p:cNvPr id="5138" name="Text Box 19"/>
          <p:cNvSpPr txBox="1">
            <a:spLocks noChangeArrowheads="1"/>
          </p:cNvSpPr>
          <p:nvPr/>
        </p:nvSpPr>
        <p:spPr bwMode="auto">
          <a:xfrm>
            <a:off x="6530975" y="3733801"/>
            <a:ext cx="920750" cy="347663"/>
          </a:xfrm>
          <a:prstGeom prst="rect">
            <a:avLst/>
          </a:prstGeom>
          <a:noFill/>
          <a:ln w="9525">
            <a:noFill/>
            <a:miter lim="800000"/>
            <a:headEnd/>
            <a:tailEnd/>
          </a:ln>
        </p:spPr>
        <p:txBody>
          <a:bodyPr wrap="none" lIns="73025" tIns="36512" rIns="73025" bIns="36512">
            <a:prstTxWarp prst="textNoShape">
              <a:avLst/>
            </a:prstTxWarp>
            <a:spAutoFit/>
          </a:bodyPr>
          <a:lstStyle/>
          <a:p>
            <a:pPr>
              <a:lnSpc>
                <a:spcPct val="100000"/>
              </a:lnSpc>
            </a:pPr>
            <a:r>
              <a:rPr lang="en-GB" sz="1800" b="1">
                <a:solidFill>
                  <a:schemeClr val="bg1"/>
                </a:solidFill>
              </a:rPr>
              <a:t>Tx-ring</a:t>
            </a:r>
            <a:endParaRPr lang="en-US" sz="1800" b="1">
              <a:solidFill>
                <a:schemeClr val="bg1"/>
              </a:solidFill>
            </a:endParaRPr>
          </a:p>
        </p:txBody>
      </p:sp>
      <p:sp>
        <p:nvSpPr>
          <p:cNvPr id="5139" name="Text Box 20"/>
          <p:cNvSpPr txBox="1">
            <a:spLocks noChangeArrowheads="1"/>
          </p:cNvSpPr>
          <p:nvPr/>
        </p:nvSpPr>
        <p:spPr bwMode="auto">
          <a:xfrm>
            <a:off x="8312150" y="4592638"/>
            <a:ext cx="1365250" cy="347662"/>
          </a:xfrm>
          <a:prstGeom prst="rect">
            <a:avLst/>
          </a:prstGeom>
          <a:noFill/>
          <a:ln w="9525">
            <a:noFill/>
            <a:miter lim="800000"/>
            <a:headEnd/>
            <a:tailEnd/>
          </a:ln>
        </p:spPr>
        <p:txBody>
          <a:bodyPr wrap="none" lIns="73025" tIns="36512" rIns="73025" bIns="36512">
            <a:prstTxWarp prst="textNoShape">
              <a:avLst/>
            </a:prstTxWarp>
            <a:spAutoFit/>
          </a:bodyPr>
          <a:lstStyle/>
          <a:p>
            <a:pPr>
              <a:lnSpc>
                <a:spcPct val="100000"/>
              </a:lnSpc>
            </a:pPr>
            <a:r>
              <a:rPr lang="en-GB" sz="1800" b="1"/>
              <a:t>Wire signal</a:t>
            </a:r>
            <a:endParaRPr lang="en-US" sz="1800" b="1"/>
          </a:p>
        </p:txBody>
      </p:sp>
      <p:sp>
        <p:nvSpPr>
          <p:cNvPr id="5140" name="Line 21"/>
          <p:cNvSpPr>
            <a:spLocks noChangeShapeType="1"/>
          </p:cNvSpPr>
          <p:nvPr/>
        </p:nvSpPr>
        <p:spPr bwMode="auto">
          <a:xfrm>
            <a:off x="3282950" y="3830638"/>
            <a:ext cx="0" cy="381000"/>
          </a:xfrm>
          <a:prstGeom prst="line">
            <a:avLst/>
          </a:prstGeom>
          <a:noFill/>
          <a:ln w="9525">
            <a:solidFill>
              <a:schemeClr val="tx1"/>
            </a:solidFill>
            <a:prstDash val="dash"/>
            <a:round/>
            <a:headEnd/>
            <a:tailEnd/>
          </a:ln>
        </p:spPr>
        <p:txBody>
          <a:bodyPr wrap="none" lIns="73025" tIns="36512" rIns="73025" bIns="36512" anchor="ctr">
            <a:prstTxWarp prst="textNoShape">
              <a:avLst/>
            </a:prstTxWarp>
          </a:bodyPr>
          <a:lstStyle/>
          <a:p>
            <a:endParaRPr lang="en-US"/>
          </a:p>
        </p:txBody>
      </p:sp>
      <p:sp>
        <p:nvSpPr>
          <p:cNvPr id="5141" name="Line 22"/>
          <p:cNvSpPr>
            <a:spLocks noChangeShapeType="1"/>
          </p:cNvSpPr>
          <p:nvPr/>
        </p:nvSpPr>
        <p:spPr bwMode="auto">
          <a:xfrm>
            <a:off x="4425950" y="3830638"/>
            <a:ext cx="0" cy="381000"/>
          </a:xfrm>
          <a:prstGeom prst="line">
            <a:avLst/>
          </a:prstGeom>
          <a:noFill/>
          <a:ln w="9525">
            <a:solidFill>
              <a:schemeClr val="tx1"/>
            </a:solidFill>
            <a:prstDash val="dash"/>
            <a:round/>
            <a:headEnd/>
            <a:tailEnd/>
          </a:ln>
        </p:spPr>
        <p:txBody>
          <a:bodyPr wrap="none" lIns="73025" tIns="36512" rIns="73025" bIns="36512" anchor="ctr">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GB">
                <a:solidFill>
                  <a:schemeClr val="folHlink"/>
                </a:solidFill>
              </a:rPr>
              <a:t>TxQ – How to see it ?</a:t>
            </a:r>
            <a:endParaRPr lang="en-US">
              <a:solidFill>
                <a:schemeClr val="folHlink"/>
              </a:solidFill>
            </a:endParaRPr>
          </a:p>
        </p:txBody>
      </p:sp>
      <p:sp>
        <p:nvSpPr>
          <p:cNvPr id="155651" name="Rectangle 3"/>
          <p:cNvSpPr>
            <a:spLocks noGrp="1" noChangeArrowheads="1"/>
          </p:cNvSpPr>
          <p:nvPr>
            <p:ph idx="1"/>
          </p:nvPr>
        </p:nvSpPr>
        <p:spPr>
          <a:xfrm>
            <a:off x="1981200" y="1371600"/>
            <a:ext cx="8307388" cy="3733800"/>
          </a:xfrm>
          <a:solidFill>
            <a:schemeClr val="bg2"/>
          </a:solidFill>
          <a:effectLst>
            <a:outerShdw dist="107763" dir="2700000" algn="ctr" rotWithShape="0">
              <a:schemeClr val="bg2">
                <a:alpha val="50000"/>
              </a:schemeClr>
            </a:outerShdw>
          </a:effectLst>
        </p:spPr>
        <p:txBody>
          <a:bodyPr/>
          <a:lstStyle/>
          <a:p>
            <a:pPr>
              <a:lnSpc>
                <a:spcPct val="75000"/>
              </a:lnSpc>
              <a:buFont typeface="Wingdings" pitchFamily="1" charset="2"/>
              <a:buNone/>
            </a:pPr>
            <a:r>
              <a:rPr lang="en-GB" sz="1700" b="1">
                <a:solidFill>
                  <a:schemeClr val="bg1"/>
                </a:solidFill>
                <a:latin typeface="Courier New" pitchFamily="1" charset="0"/>
              </a:rPr>
              <a:t>show controllers</a:t>
            </a:r>
            <a:r>
              <a:rPr lang="en-GB" sz="1700">
                <a:solidFill>
                  <a:schemeClr val="bg1"/>
                </a:solidFill>
                <a:latin typeface="Courier New" pitchFamily="1" charset="0"/>
              </a:rPr>
              <a:t> [int type] [int slot/subslot]</a:t>
            </a:r>
          </a:p>
          <a:p>
            <a:pPr>
              <a:lnSpc>
                <a:spcPct val="75000"/>
              </a:lnSpc>
              <a:buFont typeface="Wingdings" pitchFamily="1" charset="2"/>
              <a:buNone/>
            </a:pPr>
            <a:endParaRPr lang="en-GB" sz="1700">
              <a:solidFill>
                <a:schemeClr val="bg1"/>
              </a:solidFill>
              <a:latin typeface="Courier New" pitchFamily="1" charset="0"/>
            </a:endParaRPr>
          </a:p>
          <a:p>
            <a:pPr>
              <a:lnSpc>
                <a:spcPct val="75000"/>
              </a:lnSpc>
              <a:buFont typeface="Wingdings" pitchFamily="1" charset="2"/>
              <a:buNone/>
            </a:pPr>
            <a:r>
              <a:rPr lang="en-GB" sz="1700">
                <a:solidFill>
                  <a:schemeClr val="bg1"/>
                </a:solidFill>
                <a:latin typeface="Courier New" pitchFamily="1" charset="0"/>
              </a:rPr>
              <a:t>#sh int s0/1:0 | i str </a:t>
            </a:r>
          </a:p>
          <a:p>
            <a:pPr>
              <a:lnSpc>
                <a:spcPct val="75000"/>
              </a:lnSpc>
              <a:buFont typeface="Wingdings" pitchFamily="1" charset="2"/>
              <a:buNone/>
            </a:pPr>
            <a:r>
              <a:rPr lang="en-GB" sz="1700">
                <a:solidFill>
                  <a:schemeClr val="bg1"/>
                </a:solidFill>
                <a:latin typeface="Courier New" pitchFamily="1" charset="0"/>
              </a:rPr>
              <a:t>  Queueing strategy: </a:t>
            </a:r>
            <a:r>
              <a:rPr lang="en-GB" sz="1700" b="1">
                <a:solidFill>
                  <a:schemeClr val="bg1"/>
                </a:solidFill>
                <a:latin typeface="Courier New" pitchFamily="1" charset="0"/>
              </a:rPr>
              <a:t>fifo</a:t>
            </a:r>
          </a:p>
          <a:p>
            <a:pPr>
              <a:lnSpc>
                <a:spcPct val="75000"/>
              </a:lnSpc>
              <a:buFont typeface="Wingdings" pitchFamily="1" charset="2"/>
              <a:buNone/>
            </a:pPr>
            <a:r>
              <a:rPr lang="en-US" sz="1700">
                <a:solidFill>
                  <a:schemeClr val="bg1"/>
                </a:solidFill>
                <a:latin typeface="Courier New" pitchFamily="1" charset="0"/>
              </a:rPr>
              <a:t>#sh controllers serial 0/1:0 | i tx_limited</a:t>
            </a:r>
          </a:p>
          <a:p>
            <a:pPr>
              <a:lnSpc>
                <a:spcPct val="75000"/>
              </a:lnSpc>
              <a:buFont typeface="Wingdings" pitchFamily="1" charset="2"/>
              <a:buNone/>
            </a:pPr>
            <a:r>
              <a:rPr lang="en-US" sz="1700" b="1">
                <a:solidFill>
                  <a:schemeClr val="bg1"/>
                </a:solidFill>
                <a:latin typeface="Courier New" pitchFamily="1" charset="0"/>
              </a:rPr>
              <a:t>tx_limited = 0(128),</a:t>
            </a:r>
            <a:r>
              <a:rPr lang="en-US" sz="1700">
                <a:solidFill>
                  <a:schemeClr val="bg1"/>
                </a:solidFill>
                <a:latin typeface="Courier New" pitchFamily="1" charset="0"/>
              </a:rPr>
              <a:t> errata19 count1 - 0, count2 – 0</a:t>
            </a:r>
          </a:p>
          <a:p>
            <a:pPr>
              <a:lnSpc>
                <a:spcPct val="75000"/>
              </a:lnSpc>
              <a:buFont typeface="Wingdings" pitchFamily="1" charset="2"/>
              <a:buNone/>
            </a:pPr>
            <a:endParaRPr lang="en-GB" sz="1700" b="1">
              <a:solidFill>
                <a:schemeClr val="bg1"/>
              </a:solidFill>
              <a:latin typeface="Courier New" pitchFamily="1" charset="0"/>
            </a:endParaRPr>
          </a:p>
          <a:p>
            <a:pPr>
              <a:lnSpc>
                <a:spcPct val="75000"/>
              </a:lnSpc>
              <a:buFont typeface="Wingdings" pitchFamily="1" charset="2"/>
              <a:buNone/>
            </a:pPr>
            <a:r>
              <a:rPr lang="en-US" sz="1700">
                <a:solidFill>
                  <a:schemeClr val="bg1"/>
                </a:solidFill>
                <a:latin typeface="Courier New" pitchFamily="1" charset="0"/>
              </a:rPr>
              <a:t>#sh int s0/1:0 | i str</a:t>
            </a:r>
          </a:p>
          <a:p>
            <a:pPr>
              <a:lnSpc>
                <a:spcPct val="75000"/>
              </a:lnSpc>
              <a:buFont typeface="Wingdings" pitchFamily="1" charset="2"/>
              <a:buNone/>
            </a:pPr>
            <a:r>
              <a:rPr lang="en-US" sz="1700" b="1">
                <a:solidFill>
                  <a:schemeClr val="bg1"/>
                </a:solidFill>
                <a:latin typeface="Courier New" pitchFamily="1" charset="0"/>
              </a:rPr>
              <a:t>  Queueing strategy: weighted fair</a:t>
            </a:r>
          </a:p>
          <a:p>
            <a:pPr>
              <a:lnSpc>
                <a:spcPct val="75000"/>
              </a:lnSpc>
              <a:buFont typeface="Wingdings" pitchFamily="1" charset="2"/>
              <a:buNone/>
            </a:pPr>
            <a:r>
              <a:rPr lang="en-US" sz="1700" b="1">
                <a:solidFill>
                  <a:schemeClr val="bg1"/>
                </a:solidFill>
                <a:latin typeface="Courier New" pitchFamily="1" charset="0"/>
              </a:rPr>
              <a:t>#sh control s0/1:0 | i tx_l</a:t>
            </a:r>
          </a:p>
          <a:p>
            <a:pPr>
              <a:lnSpc>
                <a:spcPct val="75000"/>
              </a:lnSpc>
              <a:buFont typeface="Wingdings" pitchFamily="1" charset="2"/>
              <a:buNone/>
            </a:pPr>
            <a:r>
              <a:rPr lang="en-US" sz="1700" b="1">
                <a:solidFill>
                  <a:schemeClr val="bg1"/>
                </a:solidFill>
                <a:latin typeface="Courier New" pitchFamily="1" charset="0"/>
              </a:rPr>
              <a:t>tx_limited = 1(2)</a:t>
            </a:r>
            <a:r>
              <a:rPr lang="en-US" sz="1700">
                <a:solidFill>
                  <a:schemeClr val="bg1"/>
                </a:solidFill>
                <a:latin typeface="Courier New" pitchFamily="1" charset="0"/>
              </a:rPr>
              <a:t>,</a:t>
            </a:r>
            <a:r>
              <a:rPr lang="en-US" sz="1700" b="1">
                <a:solidFill>
                  <a:schemeClr val="bg1"/>
                </a:solidFill>
                <a:latin typeface="Courier New" pitchFamily="1" charset="0"/>
              </a:rPr>
              <a:t> </a:t>
            </a:r>
            <a:r>
              <a:rPr lang="en-US" sz="1700">
                <a:solidFill>
                  <a:schemeClr val="bg1"/>
                </a:solidFill>
                <a:latin typeface="Courier New" pitchFamily="1" charset="0"/>
              </a:rPr>
              <a:t>errata19 count1 - 0, count2 - 0</a:t>
            </a:r>
          </a:p>
        </p:txBody>
      </p:sp>
      <p:sp>
        <p:nvSpPr>
          <p:cNvPr id="6148" name="Text Box 5"/>
          <p:cNvSpPr txBox="1">
            <a:spLocks noChangeArrowheads="1"/>
          </p:cNvSpPr>
          <p:nvPr/>
        </p:nvSpPr>
        <p:spPr bwMode="auto">
          <a:xfrm>
            <a:off x="2063751" y="5661026"/>
            <a:ext cx="3656013" cy="658813"/>
          </a:xfrm>
          <a:prstGeom prst="rect">
            <a:avLst/>
          </a:prstGeom>
          <a:noFill/>
          <a:ln w="9525">
            <a:noFill/>
            <a:miter lim="800000"/>
            <a:headEnd/>
            <a:tailEnd/>
          </a:ln>
        </p:spPr>
        <p:txBody>
          <a:bodyPr wrap="none" lIns="82124" tIns="41061" rIns="82124" bIns="41061">
            <a:prstTxWarp prst="textNoShape">
              <a:avLst/>
            </a:prstTxWarp>
            <a:spAutoFit/>
          </a:bodyPr>
          <a:lstStyle/>
          <a:p>
            <a:pPr algn="r" defTabSz="814388"/>
            <a:r>
              <a:rPr lang="en-US"/>
              <a:t>Was the tx-ring reduced ?</a:t>
            </a:r>
          </a:p>
          <a:p>
            <a:pPr algn="r" defTabSz="814388"/>
            <a:r>
              <a:rPr lang="en-US" sz="1800"/>
              <a:t>(0 = default size)</a:t>
            </a:r>
          </a:p>
        </p:txBody>
      </p:sp>
      <p:sp>
        <p:nvSpPr>
          <p:cNvPr id="6149" name="Text Box 6"/>
          <p:cNvSpPr txBox="1">
            <a:spLocks noChangeArrowheads="1"/>
          </p:cNvSpPr>
          <p:nvPr/>
        </p:nvSpPr>
        <p:spPr bwMode="auto">
          <a:xfrm>
            <a:off x="6150350" y="5373689"/>
            <a:ext cx="3621926" cy="415323"/>
          </a:xfrm>
          <a:prstGeom prst="rect">
            <a:avLst/>
          </a:prstGeom>
          <a:noFill/>
          <a:ln w="9525">
            <a:noFill/>
            <a:miter lim="800000"/>
            <a:headEnd/>
            <a:tailEnd/>
          </a:ln>
        </p:spPr>
        <p:txBody>
          <a:bodyPr wrap="none" lIns="82124" tIns="41061" rIns="82124" bIns="41061">
            <a:prstTxWarp prst="textNoShape">
              <a:avLst/>
            </a:prstTxWarp>
            <a:spAutoFit/>
          </a:bodyPr>
          <a:lstStyle/>
          <a:p>
            <a:pPr defTabSz="814388"/>
            <a:r>
              <a:rPr lang="en-US"/>
              <a:t>Current size of the tx-ring</a:t>
            </a:r>
          </a:p>
        </p:txBody>
      </p:sp>
      <p:sp>
        <p:nvSpPr>
          <p:cNvPr id="6150" name="Line 7"/>
          <p:cNvSpPr>
            <a:spLocks noChangeShapeType="1"/>
          </p:cNvSpPr>
          <p:nvPr/>
        </p:nvSpPr>
        <p:spPr bwMode="auto">
          <a:xfrm flipV="1">
            <a:off x="3575050" y="3284539"/>
            <a:ext cx="217488" cy="2232025"/>
          </a:xfrm>
          <a:prstGeom prst="line">
            <a:avLst/>
          </a:prstGeom>
          <a:noFill/>
          <a:ln w="28575">
            <a:solidFill>
              <a:schemeClr val="tx1"/>
            </a:solidFill>
            <a:round/>
            <a:headEnd/>
            <a:tailEnd type="triangle" w="med" len="med"/>
          </a:ln>
        </p:spPr>
        <p:txBody>
          <a:bodyPr wrap="none" lIns="82124" tIns="41061" rIns="82124" bIns="41061" anchor="ctr">
            <a:prstTxWarp prst="textNoShape">
              <a:avLst/>
            </a:prstTxWarp>
            <a:spAutoFit/>
          </a:bodyPr>
          <a:lstStyle/>
          <a:p>
            <a:endParaRPr lang="en-US"/>
          </a:p>
        </p:txBody>
      </p:sp>
      <p:sp>
        <p:nvSpPr>
          <p:cNvPr id="6151" name="Line 8"/>
          <p:cNvSpPr>
            <a:spLocks noChangeShapeType="1"/>
          </p:cNvSpPr>
          <p:nvPr/>
        </p:nvSpPr>
        <p:spPr bwMode="auto">
          <a:xfrm flipV="1">
            <a:off x="3575050" y="4868863"/>
            <a:ext cx="217488" cy="647700"/>
          </a:xfrm>
          <a:prstGeom prst="line">
            <a:avLst/>
          </a:prstGeom>
          <a:noFill/>
          <a:ln w="28575">
            <a:solidFill>
              <a:schemeClr val="tx1"/>
            </a:solidFill>
            <a:round/>
            <a:headEnd/>
            <a:tailEnd type="triangle" w="med" len="med"/>
          </a:ln>
        </p:spPr>
        <p:txBody>
          <a:bodyPr wrap="none" lIns="82124" tIns="41061" rIns="82124" bIns="41061" anchor="ctr">
            <a:prstTxWarp prst="textNoShape">
              <a:avLst/>
            </a:prstTxWarp>
            <a:spAutoFit/>
          </a:bodyPr>
          <a:lstStyle/>
          <a:p>
            <a:endParaRPr lang="en-US"/>
          </a:p>
        </p:txBody>
      </p:sp>
      <p:sp>
        <p:nvSpPr>
          <p:cNvPr id="6152" name="Line 9"/>
          <p:cNvSpPr>
            <a:spLocks noChangeShapeType="1"/>
          </p:cNvSpPr>
          <p:nvPr/>
        </p:nvSpPr>
        <p:spPr bwMode="auto">
          <a:xfrm flipH="1" flipV="1">
            <a:off x="4224338" y="4797426"/>
            <a:ext cx="2087562" cy="574675"/>
          </a:xfrm>
          <a:prstGeom prst="line">
            <a:avLst/>
          </a:prstGeom>
          <a:noFill/>
          <a:ln w="28575">
            <a:solidFill>
              <a:schemeClr val="tx1"/>
            </a:solidFill>
            <a:round/>
            <a:headEnd/>
            <a:tailEnd type="triangle" w="med" len="med"/>
          </a:ln>
        </p:spPr>
        <p:txBody>
          <a:bodyPr lIns="82124" tIns="41061" rIns="82124" bIns="41061" anchor="ctr">
            <a:prstTxWarp prst="textNoShape">
              <a:avLst/>
            </a:prstTxWarp>
            <a:spAutoFit/>
          </a:bodyPr>
          <a:lstStyle/>
          <a:p>
            <a:endParaRPr lang="en-US"/>
          </a:p>
        </p:txBody>
      </p:sp>
      <p:sp>
        <p:nvSpPr>
          <p:cNvPr id="6153" name="Line 10"/>
          <p:cNvSpPr>
            <a:spLocks noChangeShapeType="1"/>
          </p:cNvSpPr>
          <p:nvPr/>
        </p:nvSpPr>
        <p:spPr bwMode="auto">
          <a:xfrm flipH="1" flipV="1">
            <a:off x="4511676" y="3213100"/>
            <a:ext cx="1800225" cy="2159000"/>
          </a:xfrm>
          <a:prstGeom prst="line">
            <a:avLst/>
          </a:prstGeom>
          <a:noFill/>
          <a:ln w="28575">
            <a:solidFill>
              <a:schemeClr val="tx1"/>
            </a:solidFill>
            <a:round/>
            <a:headEnd/>
            <a:tailEnd type="triangle" w="med" len="med"/>
          </a:ln>
        </p:spPr>
        <p:txBody>
          <a:bodyPr lIns="82124" tIns="41061" rIns="82124" bIns="41061" anchor="ctr">
            <a:prstTxWarp prst="textNoShape">
              <a:avLst/>
            </a:prstTxWarp>
            <a:spAutoFit/>
          </a:bodyPr>
          <a:lstStyle/>
          <a:p>
            <a:endParaRPr lang="en-US"/>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solidFill>
                  <a:schemeClr val="folHlink"/>
                </a:solidFill>
              </a:rPr>
              <a:t>Queuing and Dropping</a:t>
            </a:r>
          </a:p>
        </p:txBody>
      </p:sp>
      <p:sp>
        <p:nvSpPr>
          <p:cNvPr id="7171" name="Rectangle 3"/>
          <p:cNvSpPr>
            <a:spLocks noGrp="1" noChangeArrowheads="1"/>
          </p:cNvSpPr>
          <p:nvPr>
            <p:ph idx="1"/>
          </p:nvPr>
        </p:nvSpPr>
        <p:spPr/>
        <p:txBody>
          <a:bodyPr/>
          <a:lstStyle/>
          <a:p>
            <a:r>
              <a:rPr lang="en-US"/>
              <a:t>Queuing/Scheduling have an associated dropping mechanism.</a:t>
            </a:r>
          </a:p>
          <a:p>
            <a:r>
              <a:rPr lang="en-US"/>
              <a:t>This can be simple </a:t>
            </a:r>
            <a:r>
              <a:rPr lang="en-US">
                <a:solidFill>
                  <a:schemeClr val="folHlink"/>
                </a:solidFill>
              </a:rPr>
              <a:t>tail drops</a:t>
            </a:r>
            <a:r>
              <a:rPr lang="en-US"/>
              <a:t> (drop the next packet if queue is full), or more complex algorithm like </a:t>
            </a:r>
            <a:r>
              <a:rPr lang="en-US">
                <a:solidFill>
                  <a:schemeClr val="folHlink"/>
                </a:solidFill>
              </a:rPr>
              <a:t>fair drops</a:t>
            </a:r>
            <a:r>
              <a:rPr lang="en-US"/>
              <a:t> (drops either the next packet or an already enqueued one)</a:t>
            </a:r>
          </a:p>
          <a:p>
            <a:r>
              <a:rPr lang="en-US"/>
              <a:t>There are also dropping mechanisms that are not linked to a Queuing/Scheduling algorithm, like </a:t>
            </a:r>
            <a:r>
              <a:rPr lang="en-US">
                <a:solidFill>
                  <a:srgbClr val="669900"/>
                </a:solidFill>
              </a:rPr>
              <a:t>WRED</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solidFill>
                  <a:schemeClr val="folHlink"/>
                </a:solidFill>
              </a:rPr>
              <a:t>Queuing and Scheduling algorithm</a:t>
            </a:r>
          </a:p>
        </p:txBody>
      </p:sp>
      <p:sp>
        <p:nvSpPr>
          <p:cNvPr id="8195" name="Rectangle 3"/>
          <p:cNvSpPr>
            <a:spLocks noGrp="1" noChangeArrowheads="1"/>
          </p:cNvSpPr>
          <p:nvPr>
            <p:ph idx="1"/>
          </p:nvPr>
        </p:nvSpPr>
        <p:spPr>
          <a:xfrm>
            <a:off x="2208214" y="2276476"/>
            <a:ext cx="7940675" cy="3571875"/>
          </a:xfrm>
        </p:spPr>
        <p:txBody>
          <a:bodyPr/>
          <a:lstStyle/>
          <a:p>
            <a:r>
              <a:rPr lang="en-US"/>
              <a:t>FIFO Queuing</a:t>
            </a:r>
          </a:p>
          <a:p>
            <a:r>
              <a:rPr lang="en-US"/>
              <a:t>Legacy QoS (Priority Queuing, Custom Queuing)</a:t>
            </a:r>
          </a:p>
          <a:p>
            <a:r>
              <a:rPr lang="en-US"/>
              <a:t>Flow-based Weighted Fair Queuing</a:t>
            </a:r>
          </a:p>
          <a:p>
            <a:r>
              <a:rPr lang="en-US"/>
              <a:t>Class-based Weighted Fair Queuing</a:t>
            </a:r>
          </a:p>
          <a:p>
            <a:r>
              <a:rPr lang="en-US"/>
              <a:t>Low Latency Queuing </a:t>
            </a:r>
          </a:p>
          <a:p>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solidFill>
                  <a:schemeClr val="folHlink"/>
                </a:solidFill>
              </a:rPr>
              <a:t>FIFO queuing</a:t>
            </a:r>
          </a:p>
        </p:txBody>
      </p:sp>
      <p:sp>
        <p:nvSpPr>
          <p:cNvPr id="158723" name="Rectangle 3"/>
          <p:cNvSpPr>
            <a:spLocks noChangeArrowheads="1"/>
          </p:cNvSpPr>
          <p:nvPr/>
        </p:nvSpPr>
        <p:spPr bwMode="auto">
          <a:xfrm>
            <a:off x="3863975" y="4292600"/>
            <a:ext cx="5791200" cy="838200"/>
          </a:xfrm>
          <a:prstGeom prst="rect">
            <a:avLst/>
          </a:prstGeom>
          <a:solidFill>
            <a:schemeClr val="folHlink"/>
          </a:solidFill>
          <a:ln w="9525">
            <a:noFill/>
            <a:miter lim="800000"/>
            <a:headEnd type="none" w="sm" len="sm"/>
            <a:tailEnd type="none" w="sm" len="sm"/>
          </a:ln>
          <a:effectLst>
            <a:outerShdw dist="107763" dir="2700000" algn="ctr" rotWithShape="0">
              <a:schemeClr val="tx1">
                <a:alpha val="50000"/>
              </a:schemeClr>
            </a:outerShdw>
          </a:effectLst>
        </p:spPr>
        <p:txBody>
          <a:bodyPr wrap="none" anchor="ctr"/>
          <a:lstStyle/>
          <a:p>
            <a:pPr>
              <a:defRPr/>
            </a:pPr>
            <a:endParaRPr lang="en-US">
              <a:latin typeface="Arial" charset="0"/>
            </a:endParaRPr>
          </a:p>
        </p:txBody>
      </p:sp>
      <p:sp>
        <p:nvSpPr>
          <p:cNvPr id="9220" name="Rectangle 4"/>
          <p:cNvSpPr>
            <a:spLocks noChangeArrowheads="1"/>
          </p:cNvSpPr>
          <p:nvPr/>
        </p:nvSpPr>
        <p:spPr bwMode="auto">
          <a:xfrm>
            <a:off x="3352801" y="1503363"/>
            <a:ext cx="6272213" cy="4151312"/>
          </a:xfrm>
          <a:prstGeom prst="rect">
            <a:avLst/>
          </a:prstGeom>
          <a:noFill/>
          <a:ln w="9525">
            <a:noFill/>
            <a:miter lim="800000"/>
            <a:headEnd/>
            <a:tailEnd/>
          </a:ln>
        </p:spPr>
        <p:txBody>
          <a:bodyPr lIns="86235" tIns="43848" rIns="86235" bIns="43848" anchor="ctr" anchorCtr="1">
            <a:prstTxWarp prst="textNoShape">
              <a:avLst/>
            </a:prstTxWarp>
          </a:bodyPr>
          <a:lstStyle/>
          <a:p>
            <a:pPr marL="333375" indent="-333375" algn="l" defTabSz="1071563">
              <a:lnSpc>
                <a:spcPct val="95000"/>
              </a:lnSpc>
              <a:spcBef>
                <a:spcPct val="50000"/>
              </a:spcBef>
              <a:buClr>
                <a:schemeClr val="tx2"/>
              </a:buClr>
              <a:buSzPct val="100000"/>
              <a:buFont typeface="Wingdings" pitchFamily="1" charset="2"/>
              <a:buChar char="§"/>
            </a:pPr>
            <a:r>
              <a:rPr lang="en-GB" sz="2000"/>
              <a:t>Scheduling: First In, first out !  </a:t>
            </a:r>
          </a:p>
          <a:p>
            <a:pPr marL="333375" indent="-333375" algn="l" defTabSz="1071563">
              <a:lnSpc>
                <a:spcPct val="95000"/>
              </a:lnSpc>
              <a:spcBef>
                <a:spcPct val="50000"/>
              </a:spcBef>
              <a:buClr>
                <a:schemeClr val="tx2"/>
              </a:buClr>
              <a:buSzPct val="100000"/>
              <a:buFont typeface="Wingdings" pitchFamily="1" charset="2"/>
              <a:buChar char="§"/>
            </a:pPr>
            <a:r>
              <a:rPr lang="en-GB" sz="2000"/>
              <a:t>Drop:  ‘tail-drop’ </a:t>
            </a:r>
          </a:p>
          <a:p>
            <a:pPr marL="333375" indent="-333375" algn="l" defTabSz="1071563">
              <a:lnSpc>
                <a:spcPct val="95000"/>
              </a:lnSpc>
              <a:spcBef>
                <a:spcPct val="50000"/>
              </a:spcBef>
              <a:buClr>
                <a:schemeClr val="tx2"/>
              </a:buClr>
              <a:buSzPct val="100000"/>
              <a:buFont typeface="Wingdings" pitchFamily="1" charset="2"/>
              <a:buChar char="§"/>
            </a:pPr>
            <a:r>
              <a:rPr lang="en-GB" sz="2000"/>
              <a:t>IOS: since ever</a:t>
            </a:r>
          </a:p>
          <a:p>
            <a:pPr marL="333375" indent="-333375" algn="l" defTabSz="1071563">
              <a:lnSpc>
                <a:spcPct val="95000"/>
              </a:lnSpc>
              <a:spcBef>
                <a:spcPct val="50000"/>
              </a:spcBef>
              <a:buClr>
                <a:schemeClr val="tx2"/>
              </a:buClr>
              <a:buSzPct val="100000"/>
              <a:buFont typeface="Wingdings" pitchFamily="1" charset="2"/>
              <a:buChar char="§"/>
            </a:pPr>
            <a:r>
              <a:rPr lang="en-GB" sz="2000"/>
              <a:t>Switching Path: All</a:t>
            </a:r>
          </a:p>
          <a:p>
            <a:pPr marL="333375" indent="-333375" algn="l" defTabSz="1071563">
              <a:lnSpc>
                <a:spcPct val="95000"/>
              </a:lnSpc>
              <a:spcBef>
                <a:spcPct val="50000"/>
              </a:spcBef>
              <a:buClr>
                <a:schemeClr val="tx2"/>
              </a:buClr>
              <a:buSzPct val="100000"/>
              <a:buFont typeface="Wingdings" pitchFamily="1" charset="2"/>
              <a:buChar char="§"/>
            </a:pPr>
            <a:r>
              <a:rPr lang="en-GB" sz="2000"/>
              <a:t>Performance Limitation: no</a:t>
            </a:r>
          </a:p>
          <a:p>
            <a:pPr marL="333375" indent="-333375" algn="l" defTabSz="1071563">
              <a:lnSpc>
                <a:spcPct val="95000"/>
              </a:lnSpc>
              <a:spcBef>
                <a:spcPct val="50000"/>
              </a:spcBef>
              <a:buClr>
                <a:schemeClr val="tx2"/>
              </a:buClr>
              <a:buSzPct val="100000"/>
              <a:buFont typeface="Wingdings" pitchFamily="1" charset="2"/>
              <a:buChar char="§"/>
            </a:pPr>
            <a:r>
              <a:rPr lang="en-GB" sz="2000"/>
              <a:t>Many Drawbacks:</a:t>
            </a:r>
          </a:p>
          <a:p>
            <a:pPr marL="652463" lvl="1" algn="l" defTabSz="1071563">
              <a:lnSpc>
                <a:spcPct val="95000"/>
              </a:lnSpc>
              <a:spcBef>
                <a:spcPct val="35000"/>
              </a:spcBef>
            </a:pPr>
            <a:r>
              <a:rPr lang="en-GB" sz="2000"/>
              <a:t> Unfair, starvation, jitter (packet trains)</a:t>
            </a:r>
          </a:p>
        </p:txBody>
      </p:sp>
      <p:grpSp>
        <p:nvGrpSpPr>
          <p:cNvPr id="9221" name="Group 5"/>
          <p:cNvGrpSpPr>
            <a:grpSpLocks/>
          </p:cNvGrpSpPr>
          <p:nvPr/>
        </p:nvGrpSpPr>
        <p:grpSpPr bwMode="auto">
          <a:xfrm>
            <a:off x="1981201" y="1981200"/>
            <a:ext cx="1463675" cy="3468688"/>
            <a:chOff x="258" y="950"/>
            <a:chExt cx="922" cy="2185"/>
          </a:xfrm>
        </p:grpSpPr>
        <p:sp>
          <p:nvSpPr>
            <p:cNvPr id="9222" name="Line 6"/>
            <p:cNvSpPr>
              <a:spLocks noChangeShapeType="1"/>
            </p:cNvSpPr>
            <p:nvPr/>
          </p:nvSpPr>
          <p:spPr bwMode="auto">
            <a:xfrm flipV="1">
              <a:off x="720" y="1104"/>
              <a:ext cx="0" cy="1008"/>
            </a:xfrm>
            <a:prstGeom prst="line">
              <a:avLst/>
            </a:prstGeom>
            <a:noFill/>
            <a:ln w="25400">
              <a:solidFill>
                <a:schemeClr val="bg2"/>
              </a:solidFill>
              <a:round/>
              <a:headEnd type="stealth" w="med" len="lg"/>
              <a:tailEnd type="none" w="sm" len="sm"/>
            </a:ln>
          </p:spPr>
          <p:txBody>
            <a:bodyPr wrap="none" anchor="ctr">
              <a:prstTxWarp prst="textNoShape">
                <a:avLst/>
              </a:prstTxWarp>
            </a:bodyPr>
            <a:lstStyle/>
            <a:p>
              <a:endParaRPr lang="en-US"/>
            </a:p>
          </p:txBody>
        </p:sp>
        <p:sp>
          <p:nvSpPr>
            <p:cNvPr id="158727" name="Freeform 7"/>
            <p:cNvSpPr>
              <a:spLocks/>
            </p:cNvSpPr>
            <p:nvPr/>
          </p:nvSpPr>
          <p:spPr bwMode="auto">
            <a:xfrm>
              <a:off x="258" y="950"/>
              <a:ext cx="922" cy="292"/>
            </a:xfrm>
            <a:custGeom>
              <a:avLst/>
              <a:gdLst/>
              <a:ahLst/>
              <a:cxnLst>
                <a:cxn ang="0">
                  <a:pos x="187" y="0"/>
                </a:cxn>
                <a:cxn ang="0">
                  <a:pos x="0" y="148"/>
                </a:cxn>
                <a:cxn ang="0">
                  <a:pos x="187" y="295"/>
                </a:cxn>
                <a:cxn ang="0">
                  <a:pos x="1500" y="295"/>
                </a:cxn>
                <a:cxn ang="0">
                  <a:pos x="1688" y="148"/>
                </a:cxn>
                <a:cxn ang="0">
                  <a:pos x="1500" y="0"/>
                </a:cxn>
                <a:cxn ang="0">
                  <a:pos x="187" y="0"/>
                </a:cxn>
              </a:cxnLst>
              <a:rect l="0" t="0" r="r" b="b"/>
              <a:pathLst>
                <a:path w="1689" h="296">
                  <a:moveTo>
                    <a:pt x="187" y="0"/>
                  </a:moveTo>
                  <a:lnTo>
                    <a:pt x="0" y="148"/>
                  </a:lnTo>
                  <a:lnTo>
                    <a:pt x="187" y="295"/>
                  </a:lnTo>
                  <a:lnTo>
                    <a:pt x="1500" y="295"/>
                  </a:lnTo>
                  <a:lnTo>
                    <a:pt x="1688" y="148"/>
                  </a:lnTo>
                  <a:lnTo>
                    <a:pt x="1500" y="0"/>
                  </a:lnTo>
                  <a:lnTo>
                    <a:pt x="187" y="0"/>
                  </a:lnTo>
                </a:path>
              </a:pathLst>
            </a:custGeom>
            <a:solidFill>
              <a:schemeClr val="folHlink"/>
            </a:solidFill>
            <a:ln w="12700" cap="rnd" cmpd="sng">
              <a:solidFill>
                <a:schemeClr val="bg2"/>
              </a:solidFill>
              <a:prstDash val="solid"/>
              <a:round/>
              <a:headEnd/>
              <a:tailEnd/>
            </a:ln>
            <a:effectLst>
              <a:outerShdw dist="35921" dir="2700000" algn="ctr" rotWithShape="0">
                <a:schemeClr val="tx1"/>
              </a:outerShdw>
            </a:effectLst>
          </p:spPr>
          <p:txBody>
            <a:bodyPr/>
            <a:lstStyle/>
            <a:p>
              <a:pPr>
                <a:defRPr/>
              </a:pPr>
              <a:endParaRPr lang="en-US">
                <a:latin typeface="Arial" charset="0"/>
              </a:endParaRPr>
            </a:p>
          </p:txBody>
        </p:sp>
        <p:sp>
          <p:nvSpPr>
            <p:cNvPr id="9224" name="Line 8"/>
            <p:cNvSpPr>
              <a:spLocks noChangeShapeType="1"/>
            </p:cNvSpPr>
            <p:nvPr/>
          </p:nvSpPr>
          <p:spPr bwMode="auto">
            <a:xfrm flipV="1">
              <a:off x="736" y="2310"/>
              <a:ext cx="0" cy="242"/>
            </a:xfrm>
            <a:prstGeom prst="line">
              <a:avLst/>
            </a:prstGeom>
            <a:noFill/>
            <a:ln w="25400">
              <a:solidFill>
                <a:schemeClr val="bg2"/>
              </a:solidFill>
              <a:round/>
              <a:headEnd type="stealth" w="med" len="lg"/>
              <a:tailEnd type="none" w="sm" len="sm"/>
            </a:ln>
          </p:spPr>
          <p:txBody>
            <a:bodyPr wrap="none" anchor="ctr">
              <a:prstTxWarp prst="textNoShape">
                <a:avLst/>
              </a:prstTxWarp>
            </a:bodyPr>
            <a:lstStyle/>
            <a:p>
              <a:endParaRPr lang="en-US"/>
            </a:p>
          </p:txBody>
        </p:sp>
        <p:sp>
          <p:nvSpPr>
            <p:cNvPr id="9225" name="Line 9"/>
            <p:cNvSpPr>
              <a:spLocks noChangeShapeType="1"/>
            </p:cNvSpPr>
            <p:nvPr/>
          </p:nvSpPr>
          <p:spPr bwMode="auto">
            <a:xfrm flipV="1">
              <a:off x="736" y="2795"/>
              <a:ext cx="0" cy="340"/>
            </a:xfrm>
            <a:prstGeom prst="line">
              <a:avLst/>
            </a:prstGeom>
            <a:noFill/>
            <a:ln w="25400">
              <a:solidFill>
                <a:schemeClr val="bg2"/>
              </a:solidFill>
              <a:round/>
              <a:headEnd type="stealth" w="med" len="lg"/>
              <a:tailEnd type="none" w="sm" len="sm"/>
            </a:ln>
          </p:spPr>
          <p:txBody>
            <a:bodyPr wrap="none" anchor="ctr">
              <a:prstTxWarp prst="textNoShape">
                <a:avLst/>
              </a:prstTxWarp>
            </a:bodyPr>
            <a:lstStyle/>
            <a:p>
              <a:endParaRPr lang="en-US"/>
            </a:p>
          </p:txBody>
        </p:sp>
        <p:sp>
          <p:nvSpPr>
            <p:cNvPr id="158730" name="Freeform 10"/>
            <p:cNvSpPr>
              <a:spLocks/>
            </p:cNvSpPr>
            <p:nvPr/>
          </p:nvSpPr>
          <p:spPr bwMode="auto">
            <a:xfrm>
              <a:off x="258" y="2552"/>
              <a:ext cx="922" cy="293"/>
            </a:xfrm>
            <a:custGeom>
              <a:avLst/>
              <a:gdLst/>
              <a:ahLst/>
              <a:cxnLst>
                <a:cxn ang="0">
                  <a:pos x="187" y="0"/>
                </a:cxn>
                <a:cxn ang="0">
                  <a:pos x="0" y="147"/>
                </a:cxn>
                <a:cxn ang="0">
                  <a:pos x="187" y="295"/>
                </a:cxn>
                <a:cxn ang="0">
                  <a:pos x="1500" y="295"/>
                </a:cxn>
                <a:cxn ang="0">
                  <a:pos x="1688" y="147"/>
                </a:cxn>
                <a:cxn ang="0">
                  <a:pos x="1500" y="0"/>
                </a:cxn>
                <a:cxn ang="0">
                  <a:pos x="187" y="0"/>
                </a:cxn>
              </a:cxnLst>
              <a:rect l="0" t="0" r="r" b="b"/>
              <a:pathLst>
                <a:path w="1689" h="296">
                  <a:moveTo>
                    <a:pt x="187" y="0"/>
                  </a:moveTo>
                  <a:lnTo>
                    <a:pt x="0" y="147"/>
                  </a:lnTo>
                  <a:lnTo>
                    <a:pt x="187" y="295"/>
                  </a:lnTo>
                  <a:lnTo>
                    <a:pt x="1500" y="295"/>
                  </a:lnTo>
                  <a:lnTo>
                    <a:pt x="1688" y="147"/>
                  </a:lnTo>
                  <a:lnTo>
                    <a:pt x="1500" y="0"/>
                  </a:lnTo>
                  <a:lnTo>
                    <a:pt x="187" y="0"/>
                  </a:lnTo>
                </a:path>
              </a:pathLst>
            </a:custGeom>
            <a:solidFill>
              <a:schemeClr val="folHlink"/>
            </a:solidFill>
            <a:ln w="12700" cap="rnd" cmpd="sng">
              <a:solidFill>
                <a:schemeClr val="bg2"/>
              </a:solidFill>
              <a:prstDash val="solid"/>
              <a:round/>
              <a:headEnd/>
              <a:tailEnd/>
            </a:ln>
            <a:effectLst>
              <a:outerShdw dist="35921" dir="2700000" algn="ctr" rotWithShape="0">
                <a:schemeClr val="tx1"/>
              </a:outerShdw>
            </a:effectLst>
          </p:spPr>
          <p:txBody>
            <a:bodyPr/>
            <a:lstStyle/>
            <a:p>
              <a:pPr>
                <a:defRPr/>
              </a:pPr>
              <a:endParaRPr lang="en-US">
                <a:latin typeface="Arial" charset="0"/>
              </a:endParaRPr>
            </a:p>
          </p:txBody>
        </p:sp>
        <p:sp>
          <p:nvSpPr>
            <p:cNvPr id="9227" name="Rectangle 11"/>
            <p:cNvSpPr>
              <a:spLocks noChangeArrowheads="1"/>
            </p:cNvSpPr>
            <p:nvPr/>
          </p:nvSpPr>
          <p:spPr bwMode="auto">
            <a:xfrm>
              <a:off x="289" y="978"/>
              <a:ext cx="887" cy="246"/>
            </a:xfrm>
            <a:prstGeom prst="rect">
              <a:avLst/>
            </a:prstGeom>
            <a:noFill/>
            <a:ln w="9525">
              <a:noFill/>
              <a:miter lim="800000"/>
              <a:headEnd/>
              <a:tailEnd/>
            </a:ln>
          </p:spPr>
          <p:txBody>
            <a:bodyPr lIns="97927" tIns="48234" rIns="97927" bIns="48234">
              <a:prstTxWarp prst="textNoShape">
                <a:avLst/>
              </a:prstTxWarp>
              <a:spAutoFit/>
            </a:bodyPr>
            <a:lstStyle/>
            <a:p>
              <a:pPr defTabSz="1108075">
                <a:lnSpc>
                  <a:spcPct val="100000"/>
                </a:lnSpc>
                <a:spcBef>
                  <a:spcPct val="50000"/>
                </a:spcBef>
              </a:pPr>
              <a:r>
                <a:rPr lang="en-GB" sz="1900" b="1"/>
                <a:t>Forwarder</a:t>
              </a:r>
            </a:p>
          </p:txBody>
        </p:sp>
        <p:sp>
          <p:nvSpPr>
            <p:cNvPr id="9228" name="Rectangle 12"/>
            <p:cNvSpPr>
              <a:spLocks noChangeArrowheads="1"/>
            </p:cNvSpPr>
            <p:nvPr/>
          </p:nvSpPr>
          <p:spPr bwMode="auto">
            <a:xfrm>
              <a:off x="275" y="2581"/>
              <a:ext cx="888" cy="246"/>
            </a:xfrm>
            <a:prstGeom prst="rect">
              <a:avLst/>
            </a:prstGeom>
            <a:noFill/>
            <a:ln w="9525">
              <a:noFill/>
              <a:miter lim="800000"/>
              <a:headEnd/>
              <a:tailEnd/>
            </a:ln>
          </p:spPr>
          <p:txBody>
            <a:bodyPr lIns="97927" tIns="48234" rIns="97927" bIns="48234">
              <a:prstTxWarp prst="textNoShape">
                <a:avLst/>
              </a:prstTxWarp>
              <a:spAutoFit/>
            </a:bodyPr>
            <a:lstStyle/>
            <a:p>
              <a:pPr defTabSz="1108075">
                <a:lnSpc>
                  <a:spcPct val="100000"/>
                </a:lnSpc>
                <a:spcBef>
                  <a:spcPct val="50000"/>
                </a:spcBef>
              </a:pPr>
              <a:r>
                <a:rPr lang="en-GB" sz="1900" b="1"/>
                <a:t>Driver</a:t>
              </a:r>
            </a:p>
          </p:txBody>
        </p:sp>
        <p:sp>
          <p:nvSpPr>
            <p:cNvPr id="9229" name="Line 13"/>
            <p:cNvSpPr>
              <a:spLocks noChangeShapeType="1"/>
            </p:cNvSpPr>
            <p:nvPr/>
          </p:nvSpPr>
          <p:spPr bwMode="auto">
            <a:xfrm>
              <a:off x="600" y="3135"/>
              <a:ext cx="273" cy="0"/>
            </a:xfrm>
            <a:prstGeom prst="line">
              <a:avLst/>
            </a:prstGeom>
            <a:noFill/>
            <a:ln w="25400">
              <a:solidFill>
                <a:schemeClr val="bg2"/>
              </a:solidFill>
              <a:round/>
              <a:headEnd type="none" w="sm" len="sm"/>
              <a:tailEnd type="none" w="sm" len="sm"/>
            </a:ln>
          </p:spPr>
          <p:txBody>
            <a:bodyPr wrap="none" anchor="ctr">
              <a:prstTxWarp prst="textNoShape">
                <a:avLst/>
              </a:prstTxWarp>
            </a:bodyPr>
            <a:lstStyle/>
            <a:p>
              <a:endParaRPr lang="en-US"/>
            </a:p>
          </p:txBody>
        </p:sp>
        <p:sp>
          <p:nvSpPr>
            <p:cNvPr id="9230" name="Line 14"/>
            <p:cNvSpPr>
              <a:spLocks noChangeShapeType="1"/>
            </p:cNvSpPr>
            <p:nvPr/>
          </p:nvSpPr>
          <p:spPr bwMode="auto">
            <a:xfrm>
              <a:off x="634" y="2115"/>
              <a:ext cx="205" cy="0"/>
            </a:xfrm>
            <a:prstGeom prst="line">
              <a:avLst/>
            </a:prstGeom>
            <a:noFill/>
            <a:ln w="25400">
              <a:solidFill>
                <a:schemeClr val="bg2"/>
              </a:solidFill>
              <a:round/>
              <a:headEnd type="none" w="sm" len="sm"/>
              <a:tailEnd type="none" w="sm" len="sm"/>
            </a:ln>
          </p:spPr>
          <p:txBody>
            <a:bodyPr wrap="none" anchor="ctr">
              <a:prstTxWarp prst="textNoShape">
                <a:avLst/>
              </a:prstTxWarp>
            </a:bodyPr>
            <a:lstStyle/>
            <a:p>
              <a:endParaRPr lang="en-US"/>
            </a:p>
          </p:txBody>
        </p:sp>
        <p:sp>
          <p:nvSpPr>
            <p:cNvPr id="9231" name="Line 15"/>
            <p:cNvSpPr>
              <a:spLocks noChangeShapeType="1"/>
            </p:cNvSpPr>
            <p:nvPr/>
          </p:nvSpPr>
          <p:spPr bwMode="auto">
            <a:xfrm>
              <a:off x="634" y="2310"/>
              <a:ext cx="205" cy="0"/>
            </a:xfrm>
            <a:prstGeom prst="line">
              <a:avLst/>
            </a:prstGeom>
            <a:noFill/>
            <a:ln w="25400">
              <a:solidFill>
                <a:schemeClr val="bg2"/>
              </a:solidFill>
              <a:round/>
              <a:headEnd type="none" w="sm" len="sm"/>
              <a:tailEnd type="none" w="sm" len="sm"/>
            </a:ln>
          </p:spPr>
          <p:txBody>
            <a:bodyPr wrap="none" anchor="ctr">
              <a:prstTxWarp prst="textNoShape">
                <a:avLst/>
              </a:prstTxWarp>
            </a:bodyPr>
            <a:lstStyle/>
            <a:p>
              <a:endParaRPr lang="en-US"/>
            </a:p>
          </p:txBody>
        </p:sp>
      </p:gr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819" name="Rectangle 27"/>
          <p:cNvSpPr>
            <a:spLocks noChangeArrowheads="1"/>
          </p:cNvSpPr>
          <p:nvPr/>
        </p:nvSpPr>
        <p:spPr bwMode="auto">
          <a:xfrm>
            <a:off x="7319964" y="4868864"/>
            <a:ext cx="3132137" cy="1368425"/>
          </a:xfrm>
          <a:prstGeom prst="rect">
            <a:avLst/>
          </a:prstGeom>
          <a:solidFill>
            <a:schemeClr val="folHlink"/>
          </a:solidFill>
          <a:ln w="9525">
            <a:noFill/>
            <a:miter lim="800000"/>
            <a:headEnd type="none" w="sm" len="sm"/>
            <a:tailEnd type="none" w="sm" len="sm"/>
          </a:ln>
          <a:effectLst>
            <a:outerShdw dist="107763" dir="2700000" algn="ctr" rotWithShape="0">
              <a:schemeClr val="tx1">
                <a:alpha val="50000"/>
              </a:schemeClr>
            </a:outerShdw>
          </a:effectLst>
        </p:spPr>
        <p:txBody>
          <a:bodyPr wrap="none" anchor="ctr"/>
          <a:lstStyle/>
          <a:p>
            <a:pPr>
              <a:defRPr/>
            </a:pPr>
            <a:endParaRPr lang="en-US">
              <a:latin typeface="Arial" charset="0"/>
            </a:endParaRPr>
          </a:p>
        </p:txBody>
      </p:sp>
      <p:sp>
        <p:nvSpPr>
          <p:cNvPr id="161794" name="Line 2"/>
          <p:cNvSpPr>
            <a:spLocks noChangeShapeType="1"/>
          </p:cNvSpPr>
          <p:nvPr/>
        </p:nvSpPr>
        <p:spPr bwMode="auto">
          <a:xfrm flipH="1">
            <a:off x="5213350" y="4710113"/>
            <a:ext cx="1162050" cy="762000"/>
          </a:xfrm>
          <a:prstGeom prst="line">
            <a:avLst/>
          </a:prstGeom>
          <a:noFill/>
          <a:ln w="25400">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0244" name="Rectangle 3"/>
          <p:cNvSpPr>
            <a:spLocks noGrp="1" noChangeArrowheads="1"/>
          </p:cNvSpPr>
          <p:nvPr>
            <p:ph type="title"/>
          </p:nvPr>
        </p:nvSpPr>
        <p:spPr/>
        <p:txBody>
          <a:bodyPr/>
          <a:lstStyle/>
          <a:p>
            <a:pPr eaLnBrk="1" hangingPunct="1"/>
            <a:r>
              <a:rPr lang="en-US">
                <a:solidFill>
                  <a:schemeClr val="folHlink"/>
                </a:solidFill>
              </a:rPr>
              <a:t>Priority queuing (PQ)</a:t>
            </a:r>
          </a:p>
        </p:txBody>
      </p:sp>
      <p:sp>
        <p:nvSpPr>
          <p:cNvPr id="161796" name="Line 4"/>
          <p:cNvSpPr>
            <a:spLocks noChangeShapeType="1"/>
          </p:cNvSpPr>
          <p:nvPr/>
        </p:nvSpPr>
        <p:spPr bwMode="auto">
          <a:xfrm>
            <a:off x="2641600" y="4608513"/>
            <a:ext cx="895350" cy="787400"/>
          </a:xfrm>
          <a:prstGeom prst="line">
            <a:avLst/>
          </a:prstGeom>
          <a:noFill/>
          <a:ln w="25400">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1797" name="Line 5"/>
          <p:cNvSpPr>
            <a:spLocks noChangeShapeType="1"/>
          </p:cNvSpPr>
          <p:nvPr/>
        </p:nvSpPr>
        <p:spPr bwMode="auto">
          <a:xfrm flipH="1">
            <a:off x="4832350" y="4557713"/>
            <a:ext cx="171450" cy="762000"/>
          </a:xfrm>
          <a:prstGeom prst="line">
            <a:avLst/>
          </a:prstGeom>
          <a:noFill/>
          <a:ln w="25400">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1798" name="Freeform 6"/>
          <p:cNvSpPr>
            <a:spLocks/>
          </p:cNvSpPr>
          <p:nvPr/>
        </p:nvSpPr>
        <p:spPr bwMode="auto">
          <a:xfrm>
            <a:off x="2089150" y="3186113"/>
            <a:ext cx="4648200" cy="971550"/>
          </a:xfrm>
          <a:custGeom>
            <a:avLst/>
            <a:gdLst/>
            <a:ahLst/>
            <a:cxnLst>
              <a:cxn ang="0">
                <a:pos x="0" y="577"/>
              </a:cxn>
              <a:cxn ang="0">
                <a:pos x="0" y="1"/>
              </a:cxn>
              <a:cxn ang="0">
                <a:pos x="15" y="0"/>
              </a:cxn>
              <a:cxn ang="0">
                <a:pos x="2016" y="1"/>
              </a:cxn>
              <a:cxn ang="0">
                <a:pos x="2016" y="625"/>
              </a:cxn>
            </a:cxnLst>
            <a:rect l="0" t="0" r="r" b="b"/>
            <a:pathLst>
              <a:path w="2017" h="626">
                <a:moveTo>
                  <a:pt x="0" y="577"/>
                </a:moveTo>
                <a:lnTo>
                  <a:pt x="0" y="1"/>
                </a:lnTo>
                <a:lnTo>
                  <a:pt x="15" y="0"/>
                </a:lnTo>
                <a:lnTo>
                  <a:pt x="2016" y="1"/>
                </a:lnTo>
                <a:lnTo>
                  <a:pt x="2016" y="625"/>
                </a:lnTo>
              </a:path>
            </a:pathLst>
          </a:custGeom>
          <a:noFill/>
          <a:ln w="25400" cap="rnd" cmpd="sng">
            <a:solidFill>
              <a:schemeClr val="bg2"/>
            </a:solidFill>
            <a:prstDash val="solid"/>
            <a:round/>
            <a:headEnd type="triangle" w="med" len="med"/>
            <a:tailEnd type="triangle" w="med" len="med"/>
          </a:ln>
          <a:effectLst>
            <a:outerShdw dist="17961" dir="2700000" algn="ctr" rotWithShape="0">
              <a:schemeClr val="hlink"/>
            </a:outerShdw>
          </a:effectLst>
        </p:spPr>
        <p:txBody>
          <a:bodyPr/>
          <a:lstStyle/>
          <a:p>
            <a:pPr>
              <a:defRPr/>
            </a:pPr>
            <a:endParaRPr lang="en-US">
              <a:latin typeface="Arial" charset="0"/>
            </a:endParaRPr>
          </a:p>
        </p:txBody>
      </p:sp>
      <p:sp>
        <p:nvSpPr>
          <p:cNvPr id="161799" name="Line 7"/>
          <p:cNvSpPr>
            <a:spLocks noChangeShapeType="1"/>
          </p:cNvSpPr>
          <p:nvPr/>
        </p:nvSpPr>
        <p:spPr bwMode="auto">
          <a:xfrm>
            <a:off x="3729038" y="1941513"/>
            <a:ext cx="0" cy="584200"/>
          </a:xfrm>
          <a:prstGeom prst="line">
            <a:avLst/>
          </a:prstGeom>
          <a:noFill/>
          <a:ln w="25400">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1800" name="Line 8"/>
          <p:cNvSpPr>
            <a:spLocks noChangeShapeType="1"/>
          </p:cNvSpPr>
          <p:nvPr/>
        </p:nvSpPr>
        <p:spPr bwMode="auto">
          <a:xfrm>
            <a:off x="3729038" y="3541713"/>
            <a:ext cx="0" cy="584200"/>
          </a:xfrm>
          <a:prstGeom prst="line">
            <a:avLst/>
          </a:prstGeom>
          <a:noFill/>
          <a:ln w="25400">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1801" name="Line 9"/>
          <p:cNvSpPr>
            <a:spLocks noChangeShapeType="1"/>
          </p:cNvSpPr>
          <p:nvPr/>
        </p:nvSpPr>
        <p:spPr bwMode="auto">
          <a:xfrm>
            <a:off x="3729038" y="4532313"/>
            <a:ext cx="341312" cy="787400"/>
          </a:xfrm>
          <a:prstGeom prst="line">
            <a:avLst/>
          </a:prstGeom>
          <a:noFill/>
          <a:ln w="25400">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1802" name="Freeform 10"/>
          <p:cNvSpPr>
            <a:spLocks/>
          </p:cNvSpPr>
          <p:nvPr/>
        </p:nvSpPr>
        <p:spPr bwMode="auto">
          <a:xfrm>
            <a:off x="3003551" y="2557463"/>
            <a:ext cx="1458913" cy="1143000"/>
          </a:xfrm>
          <a:custGeom>
            <a:avLst/>
            <a:gdLst/>
            <a:ahLst/>
            <a:cxnLst>
              <a:cxn ang="0">
                <a:pos x="459" y="0"/>
              </a:cxn>
              <a:cxn ang="0">
                <a:pos x="0" y="359"/>
              </a:cxn>
              <a:cxn ang="0">
                <a:pos x="459" y="719"/>
              </a:cxn>
              <a:cxn ang="0">
                <a:pos x="918" y="359"/>
              </a:cxn>
              <a:cxn ang="0">
                <a:pos x="459" y="0"/>
              </a:cxn>
            </a:cxnLst>
            <a:rect l="0" t="0" r="r" b="b"/>
            <a:pathLst>
              <a:path w="919" h="720">
                <a:moveTo>
                  <a:pt x="459" y="0"/>
                </a:moveTo>
                <a:lnTo>
                  <a:pt x="0" y="359"/>
                </a:lnTo>
                <a:lnTo>
                  <a:pt x="459" y="719"/>
                </a:lnTo>
                <a:lnTo>
                  <a:pt x="918" y="359"/>
                </a:lnTo>
                <a:lnTo>
                  <a:pt x="459" y="0"/>
                </a:lnTo>
              </a:path>
            </a:pathLst>
          </a:custGeom>
          <a:solidFill>
            <a:schemeClr val="folHlink"/>
          </a:solidFill>
          <a:ln w="25400" cap="rnd" cmpd="sng">
            <a:solidFill>
              <a:schemeClr val="tx1"/>
            </a:solidFill>
            <a:prstDash val="solid"/>
            <a:round/>
            <a:headEnd type="none" w="med" len="med"/>
            <a:tailEnd type="none" w="med" len="med"/>
          </a:ln>
          <a:effectLst>
            <a:outerShdw dist="35921" dir="2700000" algn="ctr" rotWithShape="0">
              <a:schemeClr val="tx1"/>
            </a:outerShdw>
          </a:effectLst>
        </p:spPr>
        <p:txBody>
          <a:bodyPr/>
          <a:lstStyle/>
          <a:p>
            <a:pPr>
              <a:defRPr/>
            </a:pPr>
            <a:endParaRPr lang="en-US">
              <a:latin typeface="Arial" charset="0"/>
            </a:endParaRPr>
          </a:p>
        </p:txBody>
      </p:sp>
      <p:sp>
        <p:nvSpPr>
          <p:cNvPr id="161803" name="Rectangle 11"/>
          <p:cNvSpPr>
            <a:spLocks noChangeArrowheads="1"/>
          </p:cNvSpPr>
          <p:nvPr/>
        </p:nvSpPr>
        <p:spPr bwMode="auto">
          <a:xfrm>
            <a:off x="3227050" y="2862263"/>
            <a:ext cx="1054777" cy="588366"/>
          </a:xfrm>
          <a:prstGeom prst="rect">
            <a:avLst/>
          </a:prstGeom>
          <a:noFill/>
          <a:ln w="12700">
            <a:noFill/>
            <a:miter lim="800000"/>
            <a:headEnd/>
            <a:tailEnd/>
          </a:ln>
          <a:effectLst/>
        </p:spPr>
        <p:txBody>
          <a:bodyPr wrap="none" lIns="90488" tIns="44450" rIns="90488" bIns="44450">
            <a:spAutoFit/>
          </a:bodyPr>
          <a:lstStyle/>
          <a:p>
            <a:pPr>
              <a:defRPr/>
            </a:pPr>
            <a:r>
              <a:rPr lang="en-GB" sz="1800" b="1">
                <a:solidFill>
                  <a:schemeClr val="bg1"/>
                </a:solidFill>
                <a:effectLst>
                  <a:outerShdw blurRad="38100" dist="38100" dir="2700000" algn="tl">
                    <a:srgbClr val="C0C0C0"/>
                  </a:outerShdw>
                </a:effectLst>
                <a:latin typeface="Arial" charset="0"/>
              </a:rPr>
              <a:t> </a:t>
            </a:r>
            <a:r>
              <a:rPr lang="en-GB" sz="1800" b="1">
                <a:solidFill>
                  <a:schemeClr val="bg1"/>
                </a:solidFill>
                <a:latin typeface="Arial" charset="0"/>
              </a:rPr>
              <a:t>Priority</a:t>
            </a:r>
            <a:br>
              <a:rPr lang="en-GB" sz="1800" b="1">
                <a:solidFill>
                  <a:schemeClr val="bg1"/>
                </a:solidFill>
                <a:latin typeface="Arial" charset="0"/>
              </a:rPr>
            </a:br>
            <a:r>
              <a:rPr lang="en-GB" sz="1800" b="1">
                <a:solidFill>
                  <a:schemeClr val="bg1"/>
                </a:solidFill>
                <a:latin typeface="Arial" charset="0"/>
              </a:rPr>
              <a:t> (ACL) </a:t>
            </a:r>
          </a:p>
        </p:txBody>
      </p:sp>
      <p:sp>
        <p:nvSpPr>
          <p:cNvPr id="161804" name="Freeform 12"/>
          <p:cNvSpPr>
            <a:spLocks/>
          </p:cNvSpPr>
          <p:nvPr/>
        </p:nvSpPr>
        <p:spPr bwMode="auto">
          <a:xfrm>
            <a:off x="3003551" y="1566863"/>
            <a:ext cx="1458913" cy="646112"/>
          </a:xfrm>
          <a:custGeom>
            <a:avLst/>
            <a:gdLst/>
            <a:ahLst/>
            <a:cxnLst>
              <a:cxn ang="0">
                <a:pos x="70" y="0"/>
              </a:cxn>
              <a:cxn ang="0">
                <a:pos x="0" y="203"/>
              </a:cxn>
              <a:cxn ang="0">
                <a:pos x="70" y="406"/>
              </a:cxn>
              <a:cxn ang="0">
                <a:pos x="847" y="406"/>
              </a:cxn>
              <a:cxn ang="0">
                <a:pos x="918" y="203"/>
              </a:cxn>
              <a:cxn ang="0">
                <a:pos x="847" y="0"/>
              </a:cxn>
              <a:cxn ang="0">
                <a:pos x="70" y="0"/>
              </a:cxn>
            </a:cxnLst>
            <a:rect l="0" t="0" r="r" b="b"/>
            <a:pathLst>
              <a:path w="919" h="407">
                <a:moveTo>
                  <a:pt x="70" y="0"/>
                </a:moveTo>
                <a:lnTo>
                  <a:pt x="0" y="203"/>
                </a:lnTo>
                <a:lnTo>
                  <a:pt x="70" y="406"/>
                </a:lnTo>
                <a:lnTo>
                  <a:pt x="847" y="406"/>
                </a:lnTo>
                <a:lnTo>
                  <a:pt x="918" y="203"/>
                </a:lnTo>
                <a:lnTo>
                  <a:pt x="847" y="0"/>
                </a:lnTo>
                <a:lnTo>
                  <a:pt x="70" y="0"/>
                </a:lnTo>
              </a:path>
            </a:pathLst>
          </a:custGeom>
          <a:solidFill>
            <a:schemeClr val="folHlink"/>
          </a:solidFill>
          <a:ln w="25400" cap="rnd" cmpd="sng">
            <a:solidFill>
              <a:schemeClr val="tx1"/>
            </a:solidFill>
            <a:prstDash val="solid"/>
            <a:round/>
            <a:headEnd type="none" w="med" len="med"/>
            <a:tailEnd type="none" w="med" len="med"/>
          </a:ln>
          <a:effectLst>
            <a:outerShdw dist="35921" dir="2700000" algn="ctr" rotWithShape="0">
              <a:schemeClr val="tx1"/>
            </a:outerShdw>
          </a:effectLst>
        </p:spPr>
        <p:txBody>
          <a:bodyPr/>
          <a:lstStyle/>
          <a:p>
            <a:pPr>
              <a:defRPr/>
            </a:pPr>
            <a:endParaRPr lang="en-US">
              <a:latin typeface="Arial" charset="0"/>
            </a:endParaRPr>
          </a:p>
        </p:txBody>
      </p:sp>
      <p:sp>
        <p:nvSpPr>
          <p:cNvPr id="10254" name="Rectangle 13"/>
          <p:cNvSpPr>
            <a:spLocks noChangeArrowheads="1"/>
          </p:cNvSpPr>
          <p:nvPr/>
        </p:nvSpPr>
        <p:spPr bwMode="auto">
          <a:xfrm>
            <a:off x="3076585" y="1754189"/>
            <a:ext cx="1311257"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Forwarder</a:t>
            </a:r>
          </a:p>
        </p:txBody>
      </p:sp>
      <p:sp>
        <p:nvSpPr>
          <p:cNvPr id="161806" name="Rectangle 14"/>
          <p:cNvSpPr>
            <a:spLocks noChangeArrowheads="1"/>
          </p:cNvSpPr>
          <p:nvPr/>
        </p:nvSpPr>
        <p:spPr bwMode="auto">
          <a:xfrm>
            <a:off x="1631951" y="4157664"/>
            <a:ext cx="1103313" cy="619125"/>
          </a:xfrm>
          <a:prstGeom prst="rect">
            <a:avLst/>
          </a:prstGeom>
          <a:solidFill>
            <a:srgbClr val="C0C0C0"/>
          </a:solidFill>
          <a:ln w="25400">
            <a:solidFill>
              <a:schemeClr val="tx1"/>
            </a:solidFill>
            <a:miter lim="800000"/>
            <a:headEnd/>
            <a:tailEnd/>
          </a:ln>
          <a:effectLst>
            <a:outerShdw dist="35921" dir="2700000" algn="ctr" rotWithShape="0">
              <a:schemeClr val="tx1"/>
            </a:outerShdw>
          </a:effectLst>
        </p:spPr>
        <p:txBody>
          <a:bodyPr wrap="none" anchor="ctr"/>
          <a:lstStyle/>
          <a:p>
            <a:pPr>
              <a:defRPr/>
            </a:pPr>
            <a:endParaRPr lang="en-US">
              <a:latin typeface="Arial" charset="0"/>
            </a:endParaRPr>
          </a:p>
        </p:txBody>
      </p:sp>
      <p:sp>
        <p:nvSpPr>
          <p:cNvPr id="10256" name="Rectangle 15"/>
          <p:cNvSpPr>
            <a:spLocks noChangeArrowheads="1"/>
          </p:cNvSpPr>
          <p:nvPr/>
        </p:nvSpPr>
        <p:spPr bwMode="auto">
          <a:xfrm>
            <a:off x="1626540" y="4157663"/>
            <a:ext cx="1118897" cy="643766"/>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t>Low</a:t>
            </a:r>
            <a:br>
              <a:rPr lang="en-GB" sz="1800" b="1"/>
            </a:br>
            <a:r>
              <a:rPr lang="en-GB" sz="1800" b="1"/>
              <a:t> Priority </a:t>
            </a:r>
          </a:p>
        </p:txBody>
      </p:sp>
      <p:sp>
        <p:nvSpPr>
          <p:cNvPr id="161808" name="Rectangle 16"/>
          <p:cNvSpPr>
            <a:spLocks noChangeArrowheads="1"/>
          </p:cNvSpPr>
          <p:nvPr/>
        </p:nvSpPr>
        <p:spPr bwMode="auto">
          <a:xfrm>
            <a:off x="3181351" y="4144964"/>
            <a:ext cx="1103313" cy="619125"/>
          </a:xfrm>
          <a:prstGeom prst="rect">
            <a:avLst/>
          </a:prstGeom>
          <a:solidFill>
            <a:srgbClr val="00FF00"/>
          </a:solidFill>
          <a:ln w="25400">
            <a:solidFill>
              <a:schemeClr val="tx1"/>
            </a:solidFill>
            <a:miter lim="800000"/>
            <a:headEnd/>
            <a:tailEnd/>
          </a:ln>
          <a:effectLst>
            <a:outerShdw dist="35921" dir="2700000" algn="ctr" rotWithShape="0">
              <a:schemeClr val="tx1"/>
            </a:outerShdw>
          </a:effectLst>
        </p:spPr>
        <p:txBody>
          <a:bodyPr wrap="none" anchor="ctr"/>
          <a:lstStyle/>
          <a:p>
            <a:pPr>
              <a:defRPr/>
            </a:pPr>
            <a:endParaRPr lang="en-US">
              <a:latin typeface="Arial" charset="0"/>
            </a:endParaRPr>
          </a:p>
        </p:txBody>
      </p:sp>
      <p:sp>
        <p:nvSpPr>
          <p:cNvPr id="161809" name="Rectangle 17"/>
          <p:cNvSpPr>
            <a:spLocks noChangeArrowheads="1"/>
          </p:cNvSpPr>
          <p:nvPr/>
        </p:nvSpPr>
        <p:spPr bwMode="auto">
          <a:xfrm>
            <a:off x="3150540" y="4157663"/>
            <a:ext cx="1118897" cy="643766"/>
          </a:xfrm>
          <a:prstGeom prst="rect">
            <a:avLst/>
          </a:prstGeom>
          <a:noFill/>
          <a:ln w="12700">
            <a:noFill/>
            <a:miter lim="800000"/>
            <a:headEnd/>
            <a:tailEnd/>
          </a:ln>
          <a:effectLst/>
        </p:spPr>
        <p:txBody>
          <a:bodyPr wrap="none" lIns="90488" tIns="44450" rIns="90488" bIns="44450">
            <a:spAutoFit/>
          </a:bodyPr>
          <a:lstStyle/>
          <a:p>
            <a:pPr>
              <a:lnSpc>
                <a:spcPct val="100000"/>
              </a:lnSpc>
              <a:defRPr/>
            </a:pPr>
            <a:r>
              <a:rPr lang="en-GB" sz="1800" b="1">
                <a:latin typeface="Arial" charset="0"/>
              </a:rPr>
              <a:t>Normal</a:t>
            </a:r>
            <a:br>
              <a:rPr lang="en-GB" sz="1800" b="1">
                <a:latin typeface="Arial" charset="0"/>
              </a:rPr>
            </a:br>
            <a:r>
              <a:rPr lang="en-GB" sz="1800" b="1">
                <a:latin typeface="Arial" charset="0"/>
              </a:rPr>
              <a:t> Priority</a:t>
            </a:r>
            <a:r>
              <a:rPr lang="en-GB" sz="1800" b="1">
                <a:effectLst>
                  <a:outerShdw blurRad="38100" dist="38100" dir="2700000" algn="tl">
                    <a:srgbClr val="C0C0C0"/>
                  </a:outerShdw>
                </a:effectLst>
                <a:latin typeface="Arial" charset="0"/>
              </a:rPr>
              <a:t> </a:t>
            </a:r>
          </a:p>
        </p:txBody>
      </p:sp>
      <p:sp>
        <p:nvSpPr>
          <p:cNvPr id="161810" name="Rectangle 18"/>
          <p:cNvSpPr>
            <a:spLocks noChangeArrowheads="1"/>
          </p:cNvSpPr>
          <p:nvPr/>
        </p:nvSpPr>
        <p:spPr bwMode="auto">
          <a:xfrm>
            <a:off x="6205538" y="4144964"/>
            <a:ext cx="1104900" cy="619125"/>
          </a:xfrm>
          <a:prstGeom prst="rect">
            <a:avLst/>
          </a:prstGeom>
          <a:solidFill>
            <a:schemeClr val="accent2"/>
          </a:solidFill>
          <a:ln w="25400">
            <a:solidFill>
              <a:schemeClr val="tx1"/>
            </a:solidFill>
            <a:miter lim="800000"/>
            <a:headEnd/>
            <a:tailEnd/>
          </a:ln>
          <a:effectLst>
            <a:outerShdw dist="35921" dir="2700000" algn="ctr" rotWithShape="0">
              <a:schemeClr val="tx1"/>
            </a:outerShdw>
          </a:effectLst>
        </p:spPr>
        <p:txBody>
          <a:bodyPr wrap="none" anchor="ctr"/>
          <a:lstStyle/>
          <a:p>
            <a:pPr>
              <a:defRPr/>
            </a:pPr>
            <a:endParaRPr lang="en-US">
              <a:latin typeface="Arial" charset="0"/>
            </a:endParaRPr>
          </a:p>
        </p:txBody>
      </p:sp>
      <p:sp>
        <p:nvSpPr>
          <p:cNvPr id="161811" name="Rectangle 19"/>
          <p:cNvSpPr>
            <a:spLocks noChangeArrowheads="1"/>
          </p:cNvSpPr>
          <p:nvPr/>
        </p:nvSpPr>
        <p:spPr bwMode="auto">
          <a:xfrm>
            <a:off x="3559176" y="5335589"/>
            <a:ext cx="1624013" cy="579437"/>
          </a:xfrm>
          <a:prstGeom prst="rect">
            <a:avLst/>
          </a:prstGeom>
          <a:solidFill>
            <a:schemeClr val="folHlink"/>
          </a:solidFill>
          <a:ln w="25400">
            <a:solidFill>
              <a:schemeClr val="tx1"/>
            </a:solidFill>
            <a:miter lim="800000"/>
            <a:headEnd/>
            <a:tailEnd/>
          </a:ln>
          <a:effectLst>
            <a:outerShdw dist="35921" dir="2700000" algn="ctr" rotWithShape="0">
              <a:schemeClr val="tx1"/>
            </a:outerShdw>
          </a:effectLst>
        </p:spPr>
        <p:txBody>
          <a:bodyPr wrap="none" anchor="ctr"/>
          <a:lstStyle/>
          <a:p>
            <a:pPr>
              <a:defRPr/>
            </a:pPr>
            <a:endParaRPr lang="en-US">
              <a:latin typeface="Arial" charset="0"/>
            </a:endParaRPr>
          </a:p>
        </p:txBody>
      </p:sp>
      <p:sp>
        <p:nvSpPr>
          <p:cNvPr id="10261" name="Rectangle 20"/>
          <p:cNvSpPr>
            <a:spLocks noChangeArrowheads="1"/>
          </p:cNvSpPr>
          <p:nvPr/>
        </p:nvSpPr>
        <p:spPr bwMode="auto">
          <a:xfrm>
            <a:off x="3536951" y="5300664"/>
            <a:ext cx="1666875" cy="638175"/>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Transmission</a:t>
            </a:r>
            <a:br>
              <a:rPr lang="en-GB" sz="1800" b="1">
                <a:solidFill>
                  <a:schemeClr val="bg1"/>
                </a:solidFill>
              </a:rPr>
            </a:br>
            <a:r>
              <a:rPr lang="en-GB" sz="1800" b="1">
                <a:solidFill>
                  <a:schemeClr val="bg1"/>
                </a:solidFill>
              </a:rPr>
              <a:t>Queue </a:t>
            </a:r>
          </a:p>
        </p:txBody>
      </p:sp>
      <p:sp>
        <p:nvSpPr>
          <p:cNvPr id="161813" name="Rectangle 21"/>
          <p:cNvSpPr>
            <a:spLocks noChangeArrowheads="1"/>
          </p:cNvSpPr>
          <p:nvPr/>
        </p:nvSpPr>
        <p:spPr bwMode="auto">
          <a:xfrm>
            <a:off x="4217988" y="2667000"/>
            <a:ext cx="1651000" cy="357188"/>
          </a:xfrm>
          <a:prstGeom prst="rect">
            <a:avLst/>
          </a:prstGeom>
          <a:noFill/>
          <a:ln w="12700">
            <a:noFill/>
            <a:miter lim="800000"/>
            <a:headEnd/>
            <a:tailEnd/>
          </a:ln>
          <a:effectLst/>
        </p:spPr>
        <p:txBody>
          <a:bodyPr wrap="none" lIns="82550" tIns="41275" rIns="82550" bIns="41275">
            <a:spAutoFit/>
          </a:bodyPr>
          <a:lstStyle/>
          <a:p>
            <a:pPr algn="l" defTabSz="722313">
              <a:lnSpc>
                <a:spcPct val="100000"/>
              </a:lnSpc>
              <a:defRPr/>
            </a:pPr>
            <a:r>
              <a:rPr lang="en-GB" sz="1800" b="1">
                <a:solidFill>
                  <a:schemeClr val="bg2"/>
                </a:solidFill>
                <a:effectLst>
                  <a:outerShdw blurRad="38100" dist="38100" dir="2700000" algn="tl">
                    <a:srgbClr val="C0C0C0"/>
                  </a:outerShdw>
                </a:effectLst>
                <a:latin typeface="Arial" charset="0"/>
              </a:rPr>
              <a:t>Classification</a:t>
            </a:r>
          </a:p>
        </p:txBody>
      </p:sp>
      <p:sp>
        <p:nvSpPr>
          <p:cNvPr id="161814" name="Rectangle 22"/>
          <p:cNvSpPr>
            <a:spLocks noChangeArrowheads="1"/>
          </p:cNvSpPr>
          <p:nvPr/>
        </p:nvSpPr>
        <p:spPr bwMode="auto">
          <a:xfrm>
            <a:off x="4756150" y="4157664"/>
            <a:ext cx="1104900" cy="619125"/>
          </a:xfrm>
          <a:prstGeom prst="rect">
            <a:avLst/>
          </a:prstGeom>
          <a:solidFill>
            <a:srgbClr val="FFCC00"/>
          </a:solidFill>
          <a:ln w="25400">
            <a:solidFill>
              <a:schemeClr val="tx1"/>
            </a:solidFill>
            <a:miter lim="800000"/>
            <a:headEnd/>
            <a:tailEnd/>
          </a:ln>
          <a:effectLst>
            <a:outerShdw dist="35921" dir="2700000" algn="ctr" rotWithShape="0">
              <a:schemeClr val="tx1"/>
            </a:outerShdw>
          </a:effectLst>
        </p:spPr>
        <p:txBody>
          <a:bodyPr wrap="none" anchor="ctr"/>
          <a:lstStyle/>
          <a:p>
            <a:pPr>
              <a:defRPr/>
            </a:pPr>
            <a:endParaRPr lang="en-US">
              <a:latin typeface="Arial" charset="0"/>
            </a:endParaRPr>
          </a:p>
        </p:txBody>
      </p:sp>
      <p:sp>
        <p:nvSpPr>
          <p:cNvPr id="10264" name="Rectangle 23"/>
          <p:cNvSpPr>
            <a:spLocks noChangeArrowheads="1"/>
          </p:cNvSpPr>
          <p:nvPr/>
        </p:nvSpPr>
        <p:spPr bwMode="auto">
          <a:xfrm>
            <a:off x="4750740" y="4157663"/>
            <a:ext cx="1118897" cy="643766"/>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t>Medium</a:t>
            </a:r>
            <a:br>
              <a:rPr lang="en-GB" sz="1800" b="1"/>
            </a:br>
            <a:r>
              <a:rPr lang="en-GB" sz="1800" b="1"/>
              <a:t> Priority </a:t>
            </a:r>
          </a:p>
        </p:txBody>
      </p:sp>
      <p:sp>
        <p:nvSpPr>
          <p:cNvPr id="161816" name="Line 24"/>
          <p:cNvSpPr>
            <a:spLocks noChangeShapeType="1"/>
          </p:cNvSpPr>
          <p:nvPr/>
        </p:nvSpPr>
        <p:spPr bwMode="auto">
          <a:xfrm>
            <a:off x="5213350" y="3167063"/>
            <a:ext cx="0" cy="990600"/>
          </a:xfrm>
          <a:prstGeom prst="line">
            <a:avLst/>
          </a:prstGeom>
          <a:noFill/>
          <a:ln w="25400">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1817" name="Rectangle 25"/>
          <p:cNvSpPr>
            <a:spLocks noChangeArrowheads="1"/>
          </p:cNvSpPr>
          <p:nvPr/>
        </p:nvSpPr>
        <p:spPr bwMode="auto">
          <a:xfrm>
            <a:off x="6198540" y="4157663"/>
            <a:ext cx="1118897" cy="643766"/>
          </a:xfrm>
          <a:prstGeom prst="rect">
            <a:avLst/>
          </a:prstGeom>
          <a:noFill/>
          <a:ln w="12700">
            <a:noFill/>
            <a:miter lim="800000"/>
            <a:headEnd/>
            <a:tailEnd/>
          </a:ln>
          <a:effectLst/>
        </p:spPr>
        <p:txBody>
          <a:bodyPr wrap="none" lIns="90488" tIns="44450" rIns="90488" bIns="44450">
            <a:spAutoFit/>
          </a:bodyPr>
          <a:lstStyle/>
          <a:p>
            <a:pPr>
              <a:lnSpc>
                <a:spcPct val="100000"/>
              </a:lnSpc>
              <a:defRPr/>
            </a:pPr>
            <a:r>
              <a:rPr lang="en-GB" sz="1800" b="1">
                <a:latin typeface="Arial" charset="0"/>
              </a:rPr>
              <a:t>High</a:t>
            </a:r>
            <a:br>
              <a:rPr lang="en-GB" sz="1800" b="1">
                <a:latin typeface="Arial" charset="0"/>
              </a:rPr>
            </a:br>
            <a:r>
              <a:rPr lang="en-GB" sz="1800" b="1">
                <a:latin typeface="Arial" charset="0"/>
              </a:rPr>
              <a:t> Priority</a:t>
            </a:r>
            <a:r>
              <a:rPr lang="en-GB" sz="1800" b="1">
                <a:effectLst>
                  <a:outerShdw blurRad="38100" dist="38100" dir="2700000" algn="tl">
                    <a:srgbClr val="C0C0C0"/>
                  </a:outerShdw>
                </a:effectLst>
                <a:latin typeface="Arial" charset="0"/>
              </a:rPr>
              <a:t> </a:t>
            </a:r>
          </a:p>
        </p:txBody>
      </p:sp>
      <p:sp>
        <p:nvSpPr>
          <p:cNvPr id="10267" name="Text Box 26"/>
          <p:cNvSpPr txBox="1">
            <a:spLocks noChangeArrowheads="1"/>
          </p:cNvSpPr>
          <p:nvPr/>
        </p:nvSpPr>
        <p:spPr bwMode="auto">
          <a:xfrm>
            <a:off x="7319964" y="1125538"/>
            <a:ext cx="3203575" cy="5575300"/>
          </a:xfrm>
          <a:prstGeom prst="rect">
            <a:avLst/>
          </a:prstGeom>
          <a:noFill/>
          <a:ln w="9525">
            <a:noFill/>
            <a:miter lim="800000"/>
            <a:headEnd/>
            <a:tailEnd/>
          </a:ln>
        </p:spPr>
        <p:txBody>
          <a:bodyPr lIns="82124" tIns="41061" rIns="82124" bIns="41061">
            <a:prstTxWarp prst="textNoShape">
              <a:avLst/>
            </a:prstTxWarp>
            <a:spAutoFit/>
          </a:bodyPr>
          <a:lstStyle/>
          <a:p>
            <a:pPr algn="l" defTabSz="814388">
              <a:buClr>
                <a:schemeClr val="tx2"/>
              </a:buClr>
              <a:buFont typeface="Wingdings" pitchFamily="1" charset="2"/>
              <a:buChar char="§"/>
            </a:pPr>
            <a:r>
              <a:rPr lang="en-GB" sz="2000"/>
              <a:t> Scheduling: </a:t>
            </a:r>
          </a:p>
          <a:p>
            <a:pPr lvl="1" algn="l" defTabSz="814388">
              <a:buClr>
                <a:schemeClr val="tx2"/>
              </a:buClr>
            </a:pPr>
            <a:r>
              <a:rPr lang="en-GB" sz="2000"/>
              <a:t>FIFO within PQ. </a:t>
            </a:r>
          </a:p>
          <a:p>
            <a:pPr lvl="1" algn="l" defTabSz="814388">
              <a:buClr>
                <a:schemeClr val="tx2"/>
              </a:buClr>
            </a:pPr>
            <a:r>
              <a:rPr lang="en-GB" sz="2000"/>
              <a:t>Preempt Priority among PQ’s</a:t>
            </a:r>
          </a:p>
          <a:p>
            <a:pPr lvl="1" algn="l" defTabSz="814388">
              <a:buClr>
                <a:schemeClr val="tx2"/>
              </a:buClr>
            </a:pPr>
            <a:endParaRPr lang="en-GB" sz="2000"/>
          </a:p>
          <a:p>
            <a:pPr lvl="1" algn="l" defTabSz="814388">
              <a:buClr>
                <a:schemeClr val="tx2"/>
              </a:buClr>
            </a:pPr>
            <a:endParaRPr lang="en-GB" sz="2000"/>
          </a:p>
          <a:p>
            <a:pPr algn="l" defTabSz="814388">
              <a:buClr>
                <a:schemeClr val="tx2"/>
              </a:buClr>
              <a:buFont typeface="Wingdings" pitchFamily="1" charset="2"/>
              <a:buChar char="§"/>
            </a:pPr>
            <a:r>
              <a:rPr lang="en-GB" sz="2000"/>
              <a:t> Drop: Tail-drop within PQ</a:t>
            </a:r>
          </a:p>
          <a:p>
            <a:pPr algn="l" defTabSz="814388">
              <a:buClr>
                <a:schemeClr val="tx2"/>
              </a:buClr>
              <a:buFont typeface="Wingdings" pitchFamily="1" charset="2"/>
              <a:buChar char="§"/>
            </a:pPr>
            <a:endParaRPr lang="en-GB" sz="2000"/>
          </a:p>
          <a:p>
            <a:pPr algn="l" defTabSz="814388">
              <a:buClr>
                <a:schemeClr val="tx2"/>
              </a:buClr>
              <a:buFont typeface="Wingdings" pitchFamily="1" charset="2"/>
              <a:buChar char="§"/>
            </a:pPr>
            <a:r>
              <a:rPr lang="en-GB" sz="2000"/>
              <a:t> IOS: since 7.0 </a:t>
            </a:r>
          </a:p>
          <a:p>
            <a:pPr algn="l" defTabSz="814388">
              <a:buClr>
                <a:schemeClr val="tx2"/>
              </a:buClr>
              <a:buFont typeface="Wingdings" pitchFamily="1" charset="2"/>
              <a:buChar char="§"/>
            </a:pPr>
            <a:endParaRPr lang="en-GB" sz="2000"/>
          </a:p>
          <a:p>
            <a:pPr algn="l" defTabSz="814388">
              <a:buClr>
                <a:schemeClr val="tx2"/>
              </a:buClr>
              <a:buFont typeface="Wingdings" pitchFamily="1" charset="2"/>
              <a:buChar char="§"/>
            </a:pPr>
            <a:r>
              <a:rPr lang="en-GB" sz="2000"/>
              <a:t> Switching Path: all 11.2</a:t>
            </a:r>
          </a:p>
          <a:p>
            <a:pPr algn="l" defTabSz="814388">
              <a:buClr>
                <a:schemeClr val="tx2"/>
              </a:buClr>
              <a:buFont typeface="Wingdings" pitchFamily="1" charset="2"/>
              <a:buChar char="§"/>
            </a:pPr>
            <a:endParaRPr lang="en-GB" sz="2000"/>
          </a:p>
          <a:p>
            <a:pPr algn="l" defTabSz="814388">
              <a:buClr>
                <a:schemeClr val="tx2"/>
              </a:buClr>
              <a:buFont typeface="Wingdings" pitchFamily="1" charset="2"/>
              <a:buChar char="§"/>
            </a:pPr>
            <a:endParaRPr lang="en-GB" sz="2000"/>
          </a:p>
          <a:p>
            <a:pPr algn="l" defTabSz="814388">
              <a:buClr>
                <a:schemeClr val="tx2"/>
              </a:buClr>
              <a:buFont typeface="Wingdings" pitchFamily="1" charset="2"/>
              <a:buChar char="§"/>
            </a:pPr>
            <a:endParaRPr lang="en-GB" sz="2000"/>
          </a:p>
          <a:p>
            <a:pPr algn="l" defTabSz="814388">
              <a:buClr>
                <a:schemeClr val="tx2"/>
              </a:buClr>
              <a:buFont typeface="Wingdings" pitchFamily="1" charset="2"/>
              <a:buChar char="§"/>
            </a:pPr>
            <a:r>
              <a:rPr lang="en-GB" sz="2000"/>
              <a:t> High-priority traffic delay reduced but high risk of </a:t>
            </a:r>
            <a:r>
              <a:rPr lang="en-GB" sz="2000">
                <a:solidFill>
                  <a:schemeClr val="bg1"/>
                </a:solidFill>
              </a:rPr>
              <a:t>starvation</a:t>
            </a:r>
            <a:r>
              <a:rPr lang="en-GB" sz="2000"/>
              <a:t> for lower priority queues.</a:t>
            </a:r>
          </a:p>
          <a:p>
            <a:pPr algn="l" defTabSz="814388"/>
            <a:endParaRPr lang="en-GB" sz="2000"/>
          </a:p>
          <a:p>
            <a:pPr algn="l" defTabSz="814388"/>
            <a:endParaRPr lang="en-US" sz="2000"/>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97" name="Rectangle 81"/>
          <p:cNvSpPr>
            <a:spLocks noChangeArrowheads="1"/>
          </p:cNvSpPr>
          <p:nvPr/>
        </p:nvSpPr>
        <p:spPr bwMode="auto">
          <a:xfrm>
            <a:off x="6959601" y="4724400"/>
            <a:ext cx="3529013" cy="1441450"/>
          </a:xfrm>
          <a:prstGeom prst="rect">
            <a:avLst/>
          </a:prstGeom>
          <a:solidFill>
            <a:schemeClr val="folHlink"/>
          </a:solidFill>
          <a:ln w="9525">
            <a:noFill/>
            <a:miter lim="800000"/>
            <a:headEnd type="none" w="sm" len="sm"/>
            <a:tailEnd type="none" w="sm" len="sm"/>
          </a:ln>
          <a:effectLst>
            <a:outerShdw dist="107763" dir="2700000" algn="ctr" rotWithShape="0">
              <a:schemeClr val="tx1">
                <a:alpha val="50000"/>
              </a:schemeClr>
            </a:outerShdw>
          </a:effectLst>
        </p:spPr>
        <p:txBody>
          <a:bodyPr wrap="none" anchor="ctr"/>
          <a:lstStyle/>
          <a:p>
            <a:pPr>
              <a:defRPr/>
            </a:pPr>
            <a:endParaRPr lang="en-US">
              <a:latin typeface="Arial" charset="0"/>
            </a:endParaRPr>
          </a:p>
        </p:txBody>
      </p:sp>
      <p:sp>
        <p:nvSpPr>
          <p:cNvPr id="11267" name="Rectangle 2"/>
          <p:cNvSpPr>
            <a:spLocks noGrp="1" noChangeArrowheads="1"/>
          </p:cNvSpPr>
          <p:nvPr>
            <p:ph type="title"/>
          </p:nvPr>
        </p:nvSpPr>
        <p:spPr/>
        <p:txBody>
          <a:bodyPr/>
          <a:lstStyle/>
          <a:p>
            <a:pPr eaLnBrk="1" hangingPunct="1"/>
            <a:r>
              <a:rPr lang="en-US">
                <a:solidFill>
                  <a:schemeClr val="folHlink"/>
                </a:solidFill>
              </a:rPr>
              <a:t>Custom Queuing (CQ)</a:t>
            </a:r>
          </a:p>
        </p:txBody>
      </p:sp>
      <p:sp>
        <p:nvSpPr>
          <p:cNvPr id="162819" name="Line 3"/>
          <p:cNvSpPr>
            <a:spLocks noChangeShapeType="1"/>
          </p:cNvSpPr>
          <p:nvPr/>
        </p:nvSpPr>
        <p:spPr bwMode="auto">
          <a:xfrm>
            <a:off x="2481263" y="3641725"/>
            <a:ext cx="0" cy="229870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1269" name="Rectangle 4"/>
          <p:cNvSpPr>
            <a:spLocks noChangeArrowheads="1"/>
          </p:cNvSpPr>
          <p:nvPr/>
        </p:nvSpPr>
        <p:spPr bwMode="auto">
          <a:xfrm>
            <a:off x="1838326" y="3371851"/>
            <a:ext cx="1273175" cy="290513"/>
          </a:xfrm>
          <a:prstGeom prst="rect">
            <a:avLst/>
          </a:prstGeom>
          <a:solidFill>
            <a:schemeClr val="accent2"/>
          </a:solidFill>
          <a:ln w="25400">
            <a:solidFill>
              <a:schemeClr val="tx1"/>
            </a:solidFill>
            <a:miter lim="800000"/>
            <a:headEnd/>
            <a:tailEnd/>
          </a:ln>
        </p:spPr>
        <p:txBody>
          <a:bodyPr wrap="none" anchor="ctr">
            <a:prstTxWarp prst="textNoShape">
              <a:avLst/>
            </a:prstTxWarp>
          </a:bodyPr>
          <a:lstStyle/>
          <a:p>
            <a:endParaRPr lang="en-US"/>
          </a:p>
        </p:txBody>
      </p:sp>
      <p:sp>
        <p:nvSpPr>
          <p:cNvPr id="11270" name="Rectangle 5"/>
          <p:cNvSpPr>
            <a:spLocks noChangeArrowheads="1"/>
          </p:cNvSpPr>
          <p:nvPr/>
        </p:nvSpPr>
        <p:spPr bwMode="auto">
          <a:xfrm>
            <a:off x="1841944" y="3359151"/>
            <a:ext cx="122148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#0</a:t>
            </a:r>
            <a:endParaRPr lang="en-GB" sz="1800" b="1">
              <a:solidFill>
                <a:schemeClr val="hlink"/>
              </a:solidFill>
            </a:endParaRPr>
          </a:p>
        </p:txBody>
      </p:sp>
      <p:sp>
        <p:nvSpPr>
          <p:cNvPr id="162822" name="Line 6"/>
          <p:cNvSpPr>
            <a:spLocks noChangeShapeType="1"/>
          </p:cNvSpPr>
          <p:nvPr/>
        </p:nvSpPr>
        <p:spPr bwMode="auto">
          <a:xfrm>
            <a:off x="2665413" y="4395789"/>
            <a:ext cx="0" cy="154463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23" name="Line 7"/>
          <p:cNvSpPr>
            <a:spLocks noChangeShapeType="1"/>
          </p:cNvSpPr>
          <p:nvPr/>
        </p:nvSpPr>
        <p:spPr bwMode="auto">
          <a:xfrm>
            <a:off x="2822575" y="4565651"/>
            <a:ext cx="0" cy="137477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24" name="Line 8"/>
          <p:cNvSpPr>
            <a:spLocks noChangeShapeType="1"/>
          </p:cNvSpPr>
          <p:nvPr/>
        </p:nvSpPr>
        <p:spPr bwMode="auto">
          <a:xfrm>
            <a:off x="2992438" y="4724401"/>
            <a:ext cx="0" cy="121602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25" name="Line 9"/>
          <p:cNvSpPr>
            <a:spLocks noChangeShapeType="1"/>
          </p:cNvSpPr>
          <p:nvPr/>
        </p:nvSpPr>
        <p:spPr bwMode="auto">
          <a:xfrm>
            <a:off x="3149600" y="4892675"/>
            <a:ext cx="0" cy="104775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26" name="Line 10"/>
          <p:cNvSpPr>
            <a:spLocks noChangeShapeType="1"/>
          </p:cNvSpPr>
          <p:nvPr/>
        </p:nvSpPr>
        <p:spPr bwMode="auto">
          <a:xfrm>
            <a:off x="3478213" y="5210175"/>
            <a:ext cx="0" cy="73025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27" name="Line 11"/>
          <p:cNvSpPr>
            <a:spLocks noChangeShapeType="1"/>
          </p:cNvSpPr>
          <p:nvPr/>
        </p:nvSpPr>
        <p:spPr bwMode="auto">
          <a:xfrm>
            <a:off x="3308350" y="5051425"/>
            <a:ext cx="0" cy="88900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28" name="Line 12"/>
          <p:cNvSpPr>
            <a:spLocks noChangeShapeType="1"/>
          </p:cNvSpPr>
          <p:nvPr/>
        </p:nvSpPr>
        <p:spPr bwMode="auto">
          <a:xfrm>
            <a:off x="3635375" y="5378451"/>
            <a:ext cx="0" cy="56197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29" name="Line 13"/>
          <p:cNvSpPr>
            <a:spLocks noChangeShapeType="1"/>
          </p:cNvSpPr>
          <p:nvPr/>
        </p:nvSpPr>
        <p:spPr bwMode="auto">
          <a:xfrm>
            <a:off x="3805238" y="5422901"/>
            <a:ext cx="0" cy="51752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30" name="Line 14"/>
          <p:cNvSpPr>
            <a:spLocks noChangeShapeType="1"/>
          </p:cNvSpPr>
          <p:nvPr/>
        </p:nvSpPr>
        <p:spPr bwMode="auto">
          <a:xfrm>
            <a:off x="4606925" y="4395789"/>
            <a:ext cx="0" cy="154463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31" name="Line 15"/>
          <p:cNvSpPr>
            <a:spLocks noChangeShapeType="1"/>
          </p:cNvSpPr>
          <p:nvPr/>
        </p:nvSpPr>
        <p:spPr bwMode="auto">
          <a:xfrm>
            <a:off x="4765675" y="4554539"/>
            <a:ext cx="0" cy="138588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32" name="Line 16"/>
          <p:cNvSpPr>
            <a:spLocks noChangeShapeType="1"/>
          </p:cNvSpPr>
          <p:nvPr/>
        </p:nvSpPr>
        <p:spPr bwMode="auto">
          <a:xfrm>
            <a:off x="4933950" y="4724401"/>
            <a:ext cx="0" cy="121602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33" name="Line 17"/>
          <p:cNvSpPr>
            <a:spLocks noChangeShapeType="1"/>
          </p:cNvSpPr>
          <p:nvPr/>
        </p:nvSpPr>
        <p:spPr bwMode="auto">
          <a:xfrm>
            <a:off x="5249863" y="5051425"/>
            <a:ext cx="0" cy="88900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34" name="Line 18"/>
          <p:cNvSpPr>
            <a:spLocks noChangeShapeType="1"/>
          </p:cNvSpPr>
          <p:nvPr/>
        </p:nvSpPr>
        <p:spPr bwMode="auto">
          <a:xfrm>
            <a:off x="5092700" y="4881563"/>
            <a:ext cx="0" cy="105886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35" name="Line 19"/>
          <p:cNvSpPr>
            <a:spLocks noChangeShapeType="1"/>
          </p:cNvSpPr>
          <p:nvPr/>
        </p:nvSpPr>
        <p:spPr bwMode="auto">
          <a:xfrm>
            <a:off x="5419725" y="5210175"/>
            <a:ext cx="0" cy="73025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36" name="Line 20"/>
          <p:cNvSpPr>
            <a:spLocks noChangeShapeType="1"/>
          </p:cNvSpPr>
          <p:nvPr/>
        </p:nvSpPr>
        <p:spPr bwMode="auto">
          <a:xfrm>
            <a:off x="5578475" y="5367339"/>
            <a:ext cx="0" cy="57308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37" name="Line 21"/>
          <p:cNvSpPr>
            <a:spLocks noChangeShapeType="1"/>
          </p:cNvSpPr>
          <p:nvPr/>
        </p:nvSpPr>
        <p:spPr bwMode="auto">
          <a:xfrm>
            <a:off x="5746750" y="5438775"/>
            <a:ext cx="0" cy="50165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1287" name="Rectangle 22"/>
          <p:cNvSpPr>
            <a:spLocks noChangeArrowheads="1"/>
          </p:cNvSpPr>
          <p:nvPr/>
        </p:nvSpPr>
        <p:spPr bwMode="auto">
          <a:xfrm>
            <a:off x="1847851" y="5949950"/>
            <a:ext cx="4525963" cy="381000"/>
          </a:xfrm>
          <a:prstGeom prst="rect">
            <a:avLst/>
          </a:prstGeom>
          <a:solidFill>
            <a:schemeClr val="folHlink"/>
          </a:solidFill>
          <a:ln w="25400">
            <a:solidFill>
              <a:schemeClr val="tx1"/>
            </a:solidFill>
            <a:miter lim="800000"/>
            <a:headEnd/>
            <a:tailEnd/>
          </a:ln>
        </p:spPr>
        <p:txBody>
          <a:bodyPr wrap="none" anchor="ctr">
            <a:prstTxWarp prst="textNoShape">
              <a:avLst/>
            </a:prstTxWarp>
          </a:bodyPr>
          <a:lstStyle/>
          <a:p>
            <a:endParaRPr lang="en-US"/>
          </a:p>
        </p:txBody>
      </p:sp>
      <p:sp>
        <p:nvSpPr>
          <p:cNvPr id="11288" name="Rectangle 23"/>
          <p:cNvSpPr>
            <a:spLocks noChangeArrowheads="1"/>
          </p:cNvSpPr>
          <p:nvPr/>
        </p:nvSpPr>
        <p:spPr bwMode="auto">
          <a:xfrm>
            <a:off x="2894014" y="5954714"/>
            <a:ext cx="2441575" cy="36353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Transmission Queue</a:t>
            </a:r>
            <a:endParaRPr lang="en-GB" sz="1800" b="1">
              <a:solidFill>
                <a:schemeClr val="hlink"/>
              </a:solidFill>
            </a:endParaRPr>
          </a:p>
        </p:txBody>
      </p:sp>
      <p:sp>
        <p:nvSpPr>
          <p:cNvPr id="11289" name="Rectangle 24"/>
          <p:cNvSpPr>
            <a:spLocks noChangeArrowheads="1"/>
          </p:cNvSpPr>
          <p:nvPr/>
        </p:nvSpPr>
        <p:spPr bwMode="auto">
          <a:xfrm>
            <a:off x="2043114" y="4014788"/>
            <a:ext cx="1273175" cy="292100"/>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290" name="Rectangle 25"/>
          <p:cNvSpPr>
            <a:spLocks noChangeArrowheads="1"/>
          </p:cNvSpPr>
          <p:nvPr/>
        </p:nvSpPr>
        <p:spPr bwMode="auto">
          <a:xfrm>
            <a:off x="2070544" y="4000501"/>
            <a:ext cx="122148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#1</a:t>
            </a:r>
          </a:p>
        </p:txBody>
      </p:sp>
      <p:sp>
        <p:nvSpPr>
          <p:cNvPr id="11291" name="Rectangle 26"/>
          <p:cNvSpPr>
            <a:spLocks noChangeArrowheads="1"/>
          </p:cNvSpPr>
          <p:nvPr/>
        </p:nvSpPr>
        <p:spPr bwMode="auto">
          <a:xfrm>
            <a:off x="2201864" y="4184651"/>
            <a:ext cx="1273175" cy="290513"/>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292" name="Rectangle 27"/>
          <p:cNvSpPr>
            <a:spLocks noChangeArrowheads="1"/>
          </p:cNvSpPr>
          <p:nvPr/>
        </p:nvSpPr>
        <p:spPr bwMode="auto">
          <a:xfrm>
            <a:off x="2229294" y="4168776"/>
            <a:ext cx="122148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#2</a:t>
            </a:r>
          </a:p>
        </p:txBody>
      </p:sp>
      <p:sp>
        <p:nvSpPr>
          <p:cNvPr id="11293" name="Rectangle 28"/>
          <p:cNvSpPr>
            <a:spLocks noChangeArrowheads="1"/>
          </p:cNvSpPr>
          <p:nvPr/>
        </p:nvSpPr>
        <p:spPr bwMode="auto">
          <a:xfrm>
            <a:off x="2370139" y="4343401"/>
            <a:ext cx="1273175" cy="290513"/>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294" name="Rectangle 29"/>
          <p:cNvSpPr>
            <a:spLocks noChangeArrowheads="1"/>
          </p:cNvSpPr>
          <p:nvPr/>
        </p:nvSpPr>
        <p:spPr bwMode="auto">
          <a:xfrm>
            <a:off x="2397569" y="4327526"/>
            <a:ext cx="122148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#3</a:t>
            </a:r>
          </a:p>
        </p:txBody>
      </p:sp>
      <p:sp>
        <p:nvSpPr>
          <p:cNvPr id="11295" name="Rectangle 30"/>
          <p:cNvSpPr>
            <a:spLocks noChangeArrowheads="1"/>
          </p:cNvSpPr>
          <p:nvPr/>
        </p:nvSpPr>
        <p:spPr bwMode="auto">
          <a:xfrm>
            <a:off x="2528889" y="4511675"/>
            <a:ext cx="1273175" cy="292100"/>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296" name="Rectangle 31"/>
          <p:cNvSpPr>
            <a:spLocks noChangeArrowheads="1"/>
          </p:cNvSpPr>
          <p:nvPr/>
        </p:nvSpPr>
        <p:spPr bwMode="auto">
          <a:xfrm>
            <a:off x="2556319" y="4497389"/>
            <a:ext cx="122148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#4</a:t>
            </a:r>
          </a:p>
        </p:txBody>
      </p:sp>
      <p:sp>
        <p:nvSpPr>
          <p:cNvPr id="11297" name="Rectangle 32"/>
          <p:cNvSpPr>
            <a:spLocks noChangeArrowheads="1"/>
          </p:cNvSpPr>
          <p:nvPr/>
        </p:nvSpPr>
        <p:spPr bwMode="auto">
          <a:xfrm>
            <a:off x="2686051" y="4670426"/>
            <a:ext cx="1273175" cy="290513"/>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298" name="Rectangle 33"/>
          <p:cNvSpPr>
            <a:spLocks noChangeArrowheads="1"/>
          </p:cNvSpPr>
          <p:nvPr/>
        </p:nvSpPr>
        <p:spPr bwMode="auto">
          <a:xfrm>
            <a:off x="2713482" y="4654551"/>
            <a:ext cx="122148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#5</a:t>
            </a:r>
          </a:p>
        </p:txBody>
      </p:sp>
      <p:sp>
        <p:nvSpPr>
          <p:cNvPr id="11299" name="Rectangle 34"/>
          <p:cNvSpPr>
            <a:spLocks noChangeArrowheads="1"/>
          </p:cNvSpPr>
          <p:nvPr/>
        </p:nvSpPr>
        <p:spPr bwMode="auto">
          <a:xfrm>
            <a:off x="2855914" y="4829176"/>
            <a:ext cx="1273175" cy="290513"/>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00" name="Rectangle 35"/>
          <p:cNvSpPr>
            <a:spLocks noChangeArrowheads="1"/>
          </p:cNvSpPr>
          <p:nvPr/>
        </p:nvSpPr>
        <p:spPr bwMode="auto">
          <a:xfrm>
            <a:off x="2883344" y="4813301"/>
            <a:ext cx="122148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#6</a:t>
            </a:r>
          </a:p>
        </p:txBody>
      </p:sp>
      <p:sp>
        <p:nvSpPr>
          <p:cNvPr id="11301" name="Rectangle 36"/>
          <p:cNvSpPr>
            <a:spLocks noChangeArrowheads="1"/>
          </p:cNvSpPr>
          <p:nvPr/>
        </p:nvSpPr>
        <p:spPr bwMode="auto">
          <a:xfrm>
            <a:off x="3984626" y="4014788"/>
            <a:ext cx="1273175" cy="292100"/>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02" name="Rectangle 37"/>
          <p:cNvSpPr>
            <a:spLocks noChangeArrowheads="1"/>
          </p:cNvSpPr>
          <p:nvPr/>
        </p:nvSpPr>
        <p:spPr bwMode="auto">
          <a:xfrm>
            <a:off x="4010469" y="4000501"/>
            <a:ext cx="122148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#9</a:t>
            </a:r>
          </a:p>
        </p:txBody>
      </p:sp>
      <p:sp>
        <p:nvSpPr>
          <p:cNvPr id="11303" name="Rectangle 38"/>
          <p:cNvSpPr>
            <a:spLocks noChangeArrowheads="1"/>
          </p:cNvSpPr>
          <p:nvPr/>
        </p:nvSpPr>
        <p:spPr bwMode="auto">
          <a:xfrm>
            <a:off x="4178301" y="4173538"/>
            <a:ext cx="1273175" cy="290512"/>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04" name="Rectangle 39"/>
          <p:cNvSpPr>
            <a:spLocks noChangeArrowheads="1"/>
          </p:cNvSpPr>
          <p:nvPr/>
        </p:nvSpPr>
        <p:spPr bwMode="auto">
          <a:xfrm>
            <a:off x="4140024" y="4157664"/>
            <a:ext cx="134972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#10</a:t>
            </a:r>
          </a:p>
        </p:txBody>
      </p:sp>
      <p:sp>
        <p:nvSpPr>
          <p:cNvPr id="11305" name="Rectangle 40"/>
          <p:cNvSpPr>
            <a:spLocks noChangeArrowheads="1"/>
          </p:cNvSpPr>
          <p:nvPr/>
        </p:nvSpPr>
        <p:spPr bwMode="auto">
          <a:xfrm>
            <a:off x="4348164" y="4343401"/>
            <a:ext cx="1273175" cy="290513"/>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06" name="Rectangle 41"/>
          <p:cNvSpPr>
            <a:spLocks noChangeArrowheads="1"/>
          </p:cNvSpPr>
          <p:nvPr/>
        </p:nvSpPr>
        <p:spPr bwMode="auto">
          <a:xfrm>
            <a:off x="4316414" y="4327525"/>
            <a:ext cx="1336675" cy="363538"/>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#11</a:t>
            </a:r>
          </a:p>
        </p:txBody>
      </p:sp>
      <p:sp>
        <p:nvSpPr>
          <p:cNvPr id="11307" name="Rectangle 42"/>
          <p:cNvSpPr>
            <a:spLocks noChangeArrowheads="1"/>
          </p:cNvSpPr>
          <p:nvPr/>
        </p:nvSpPr>
        <p:spPr bwMode="auto">
          <a:xfrm>
            <a:off x="4505326" y="4500563"/>
            <a:ext cx="1273175" cy="290512"/>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08" name="Rectangle 43"/>
          <p:cNvSpPr>
            <a:spLocks noChangeArrowheads="1"/>
          </p:cNvSpPr>
          <p:nvPr/>
        </p:nvSpPr>
        <p:spPr bwMode="auto">
          <a:xfrm>
            <a:off x="4467049" y="4486276"/>
            <a:ext cx="134972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#12</a:t>
            </a:r>
          </a:p>
        </p:txBody>
      </p:sp>
      <p:sp>
        <p:nvSpPr>
          <p:cNvPr id="11309" name="Rectangle 44"/>
          <p:cNvSpPr>
            <a:spLocks noChangeArrowheads="1"/>
          </p:cNvSpPr>
          <p:nvPr/>
        </p:nvSpPr>
        <p:spPr bwMode="auto">
          <a:xfrm>
            <a:off x="4664076" y="4670426"/>
            <a:ext cx="1273175" cy="290513"/>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10" name="Rectangle 45"/>
          <p:cNvSpPr>
            <a:spLocks noChangeArrowheads="1"/>
          </p:cNvSpPr>
          <p:nvPr/>
        </p:nvSpPr>
        <p:spPr bwMode="auto">
          <a:xfrm>
            <a:off x="4625799" y="4654551"/>
            <a:ext cx="134972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#13</a:t>
            </a:r>
          </a:p>
        </p:txBody>
      </p:sp>
      <p:sp>
        <p:nvSpPr>
          <p:cNvPr id="11311" name="Rectangle 46"/>
          <p:cNvSpPr>
            <a:spLocks noChangeArrowheads="1"/>
          </p:cNvSpPr>
          <p:nvPr/>
        </p:nvSpPr>
        <p:spPr bwMode="auto">
          <a:xfrm>
            <a:off x="4835525" y="4829176"/>
            <a:ext cx="1271588" cy="290513"/>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12" name="Rectangle 47"/>
          <p:cNvSpPr>
            <a:spLocks noChangeArrowheads="1"/>
          </p:cNvSpPr>
          <p:nvPr/>
        </p:nvSpPr>
        <p:spPr bwMode="auto">
          <a:xfrm>
            <a:off x="4795662" y="4813301"/>
            <a:ext cx="134972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#14</a:t>
            </a:r>
          </a:p>
        </p:txBody>
      </p:sp>
      <p:sp>
        <p:nvSpPr>
          <p:cNvPr id="11313" name="Rectangle 48"/>
          <p:cNvSpPr>
            <a:spLocks noChangeArrowheads="1"/>
          </p:cNvSpPr>
          <p:nvPr/>
        </p:nvSpPr>
        <p:spPr bwMode="auto">
          <a:xfrm>
            <a:off x="4991101" y="4986338"/>
            <a:ext cx="1273175" cy="290512"/>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14" name="Rectangle 49"/>
          <p:cNvSpPr>
            <a:spLocks noChangeArrowheads="1"/>
          </p:cNvSpPr>
          <p:nvPr/>
        </p:nvSpPr>
        <p:spPr bwMode="auto">
          <a:xfrm>
            <a:off x="4952824" y="4972051"/>
            <a:ext cx="134972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#15</a:t>
            </a:r>
          </a:p>
        </p:txBody>
      </p:sp>
      <p:sp>
        <p:nvSpPr>
          <p:cNvPr id="11315" name="Rectangle 50"/>
          <p:cNvSpPr>
            <a:spLocks noChangeArrowheads="1"/>
          </p:cNvSpPr>
          <p:nvPr/>
        </p:nvSpPr>
        <p:spPr bwMode="auto">
          <a:xfrm>
            <a:off x="3014664" y="4997450"/>
            <a:ext cx="1273175" cy="292100"/>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16" name="Rectangle 51"/>
          <p:cNvSpPr>
            <a:spLocks noChangeArrowheads="1"/>
          </p:cNvSpPr>
          <p:nvPr/>
        </p:nvSpPr>
        <p:spPr bwMode="auto">
          <a:xfrm>
            <a:off x="3042094" y="4983164"/>
            <a:ext cx="122148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#7</a:t>
            </a:r>
          </a:p>
        </p:txBody>
      </p:sp>
      <p:sp>
        <p:nvSpPr>
          <p:cNvPr id="11317" name="Rectangle 52"/>
          <p:cNvSpPr>
            <a:spLocks noChangeArrowheads="1"/>
          </p:cNvSpPr>
          <p:nvPr/>
        </p:nvSpPr>
        <p:spPr bwMode="auto">
          <a:xfrm>
            <a:off x="5160964" y="5156201"/>
            <a:ext cx="1273175" cy="290513"/>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18" name="Rectangle 53"/>
          <p:cNvSpPr>
            <a:spLocks noChangeArrowheads="1"/>
          </p:cNvSpPr>
          <p:nvPr/>
        </p:nvSpPr>
        <p:spPr bwMode="auto">
          <a:xfrm>
            <a:off x="5122687" y="5140326"/>
            <a:ext cx="134972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#16</a:t>
            </a:r>
            <a:endParaRPr lang="en-GB" sz="1800" b="1">
              <a:solidFill>
                <a:schemeClr val="hlink"/>
              </a:solidFill>
            </a:endParaRPr>
          </a:p>
        </p:txBody>
      </p:sp>
      <p:sp>
        <p:nvSpPr>
          <p:cNvPr id="11319" name="Rectangle 54"/>
          <p:cNvSpPr>
            <a:spLocks noChangeArrowheads="1"/>
          </p:cNvSpPr>
          <p:nvPr/>
        </p:nvSpPr>
        <p:spPr bwMode="auto">
          <a:xfrm>
            <a:off x="3182939" y="5156201"/>
            <a:ext cx="1273175" cy="290513"/>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1320" name="Rectangle 55"/>
          <p:cNvSpPr>
            <a:spLocks noChangeArrowheads="1"/>
          </p:cNvSpPr>
          <p:nvPr/>
        </p:nvSpPr>
        <p:spPr bwMode="auto">
          <a:xfrm>
            <a:off x="3210369" y="5140326"/>
            <a:ext cx="1221489"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Queue #8</a:t>
            </a:r>
          </a:p>
        </p:txBody>
      </p:sp>
      <p:sp>
        <p:nvSpPr>
          <p:cNvPr id="162872" name="Oval 56"/>
          <p:cNvSpPr>
            <a:spLocks noChangeArrowheads="1"/>
          </p:cNvSpPr>
          <p:nvPr/>
        </p:nvSpPr>
        <p:spPr bwMode="auto">
          <a:xfrm>
            <a:off x="2327276" y="5562601"/>
            <a:ext cx="3768725" cy="246063"/>
          </a:xfrm>
          <a:prstGeom prst="ellipse">
            <a:avLst/>
          </a:prstGeom>
          <a:noFill/>
          <a:ln w="25400">
            <a:solidFill>
              <a:schemeClr val="accent2"/>
            </a:solidFill>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sp>
        <p:nvSpPr>
          <p:cNvPr id="162873" name="Line 57"/>
          <p:cNvSpPr>
            <a:spLocks noChangeShapeType="1"/>
          </p:cNvSpPr>
          <p:nvPr/>
        </p:nvSpPr>
        <p:spPr bwMode="auto">
          <a:xfrm>
            <a:off x="4083050" y="5816600"/>
            <a:ext cx="177800" cy="0"/>
          </a:xfrm>
          <a:prstGeom prst="line">
            <a:avLst/>
          </a:prstGeom>
          <a:noFill/>
          <a:ln w="25400">
            <a:solidFill>
              <a:schemeClr val="accent2"/>
            </a:solidFill>
            <a:round/>
            <a:headEnd type="triangle" w="med" len="med"/>
            <a:tailEnd/>
          </a:ln>
          <a:effectLst>
            <a:outerShdw dist="17961" dir="2700000" algn="ctr" rotWithShape="0">
              <a:schemeClr val="tx1"/>
            </a:outerShdw>
          </a:effectLst>
        </p:spPr>
        <p:txBody>
          <a:bodyPr wrap="none" anchor="ctr"/>
          <a:lstStyle/>
          <a:p>
            <a:pPr>
              <a:defRPr/>
            </a:pPr>
            <a:endParaRPr lang="en-US">
              <a:latin typeface="Arial" charset="0"/>
            </a:endParaRPr>
          </a:p>
        </p:txBody>
      </p:sp>
      <p:sp>
        <p:nvSpPr>
          <p:cNvPr id="11323" name="Rectangle 58"/>
          <p:cNvSpPr>
            <a:spLocks noChangeArrowheads="1"/>
          </p:cNvSpPr>
          <p:nvPr/>
        </p:nvSpPr>
        <p:spPr bwMode="auto">
          <a:xfrm>
            <a:off x="1693863" y="3049589"/>
            <a:ext cx="1566862" cy="327025"/>
          </a:xfrm>
          <a:prstGeom prst="rect">
            <a:avLst/>
          </a:prstGeom>
          <a:noFill/>
          <a:ln w="12700">
            <a:noFill/>
            <a:miter lim="800000"/>
            <a:headEnd/>
            <a:tailEnd/>
          </a:ln>
        </p:spPr>
        <p:txBody>
          <a:bodyPr wrap="none" lIns="82550" tIns="41275" rIns="82550" bIns="41275">
            <a:prstTxWarp prst="textNoShape">
              <a:avLst/>
            </a:prstTxWarp>
            <a:spAutoFit/>
          </a:bodyPr>
          <a:lstStyle/>
          <a:p>
            <a:pPr defTabSz="722313">
              <a:lnSpc>
                <a:spcPct val="100000"/>
              </a:lnSpc>
            </a:pPr>
            <a:r>
              <a:rPr lang="en-GB" sz="1600" b="1"/>
              <a:t>Control Traffic</a:t>
            </a:r>
          </a:p>
        </p:txBody>
      </p:sp>
      <p:sp>
        <p:nvSpPr>
          <p:cNvPr id="162875" name="Line 59"/>
          <p:cNvSpPr>
            <a:spLocks noChangeShapeType="1"/>
          </p:cNvSpPr>
          <p:nvPr/>
        </p:nvSpPr>
        <p:spPr bwMode="auto">
          <a:xfrm flipH="1">
            <a:off x="2892425" y="3133725"/>
            <a:ext cx="711200" cy="85090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76" name="Line 60"/>
          <p:cNvSpPr>
            <a:spLocks noChangeShapeType="1"/>
          </p:cNvSpPr>
          <p:nvPr/>
        </p:nvSpPr>
        <p:spPr bwMode="auto">
          <a:xfrm flipH="1">
            <a:off x="3027363" y="3168650"/>
            <a:ext cx="609600" cy="98425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77" name="Line 61"/>
          <p:cNvSpPr>
            <a:spLocks noChangeShapeType="1"/>
          </p:cNvSpPr>
          <p:nvPr/>
        </p:nvSpPr>
        <p:spPr bwMode="auto">
          <a:xfrm flipH="1">
            <a:off x="3295650" y="3235325"/>
            <a:ext cx="420688" cy="1265238"/>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78" name="Line 62"/>
          <p:cNvSpPr>
            <a:spLocks noChangeShapeType="1"/>
          </p:cNvSpPr>
          <p:nvPr/>
        </p:nvSpPr>
        <p:spPr bwMode="auto">
          <a:xfrm flipH="1">
            <a:off x="3441701" y="3259138"/>
            <a:ext cx="307975" cy="136525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79" name="Line 63"/>
          <p:cNvSpPr>
            <a:spLocks noChangeShapeType="1"/>
          </p:cNvSpPr>
          <p:nvPr/>
        </p:nvSpPr>
        <p:spPr bwMode="auto">
          <a:xfrm flipH="1">
            <a:off x="3698876" y="3314701"/>
            <a:ext cx="130175" cy="1655763"/>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80" name="Line 64"/>
          <p:cNvSpPr>
            <a:spLocks noChangeShapeType="1"/>
          </p:cNvSpPr>
          <p:nvPr/>
        </p:nvSpPr>
        <p:spPr bwMode="auto">
          <a:xfrm flipH="1">
            <a:off x="3563939" y="3292476"/>
            <a:ext cx="231775" cy="1509713"/>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81" name="Line 65"/>
          <p:cNvSpPr>
            <a:spLocks noChangeShapeType="1"/>
          </p:cNvSpPr>
          <p:nvPr/>
        </p:nvSpPr>
        <p:spPr bwMode="auto">
          <a:xfrm>
            <a:off x="3875089" y="3360739"/>
            <a:ext cx="3175" cy="176688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82" name="Line 66"/>
          <p:cNvSpPr>
            <a:spLocks noChangeShapeType="1"/>
          </p:cNvSpPr>
          <p:nvPr/>
        </p:nvSpPr>
        <p:spPr bwMode="auto">
          <a:xfrm>
            <a:off x="4191000" y="3201989"/>
            <a:ext cx="331788" cy="77628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83" name="Line 67"/>
          <p:cNvSpPr>
            <a:spLocks noChangeShapeType="1"/>
          </p:cNvSpPr>
          <p:nvPr/>
        </p:nvSpPr>
        <p:spPr bwMode="auto">
          <a:xfrm>
            <a:off x="4213226" y="3179763"/>
            <a:ext cx="608013" cy="112236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84" name="Line 68"/>
          <p:cNvSpPr>
            <a:spLocks noChangeShapeType="1"/>
          </p:cNvSpPr>
          <p:nvPr/>
        </p:nvSpPr>
        <p:spPr bwMode="auto">
          <a:xfrm>
            <a:off x="4224338" y="3168651"/>
            <a:ext cx="914400" cy="147002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85" name="Line 69"/>
          <p:cNvSpPr>
            <a:spLocks noChangeShapeType="1"/>
          </p:cNvSpPr>
          <p:nvPr/>
        </p:nvSpPr>
        <p:spPr bwMode="auto">
          <a:xfrm>
            <a:off x="4235450" y="3168651"/>
            <a:ext cx="1074738" cy="164147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86" name="Line 70"/>
          <p:cNvSpPr>
            <a:spLocks noChangeShapeType="1"/>
          </p:cNvSpPr>
          <p:nvPr/>
        </p:nvSpPr>
        <p:spPr bwMode="auto">
          <a:xfrm>
            <a:off x="4235450" y="3157539"/>
            <a:ext cx="1252538" cy="180498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87" name="Line 71"/>
          <p:cNvSpPr>
            <a:spLocks noChangeShapeType="1"/>
          </p:cNvSpPr>
          <p:nvPr/>
        </p:nvSpPr>
        <p:spPr bwMode="auto">
          <a:xfrm>
            <a:off x="4246564" y="3157539"/>
            <a:ext cx="1450975" cy="197008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88" name="Line 72"/>
          <p:cNvSpPr>
            <a:spLocks noChangeShapeType="1"/>
          </p:cNvSpPr>
          <p:nvPr/>
        </p:nvSpPr>
        <p:spPr bwMode="auto">
          <a:xfrm>
            <a:off x="4202114" y="3190875"/>
            <a:ext cx="473075" cy="93980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89" name="Line 73"/>
          <p:cNvSpPr>
            <a:spLocks noChangeShapeType="1"/>
          </p:cNvSpPr>
          <p:nvPr/>
        </p:nvSpPr>
        <p:spPr bwMode="auto">
          <a:xfrm>
            <a:off x="4213226" y="3179763"/>
            <a:ext cx="773113" cy="128746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90" name="Line 74"/>
          <p:cNvSpPr>
            <a:spLocks noChangeShapeType="1"/>
          </p:cNvSpPr>
          <p:nvPr/>
        </p:nvSpPr>
        <p:spPr bwMode="auto">
          <a:xfrm flipH="1">
            <a:off x="3149600" y="3201988"/>
            <a:ext cx="533400" cy="109696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91" name="Line 75"/>
          <p:cNvSpPr>
            <a:spLocks noChangeShapeType="1"/>
          </p:cNvSpPr>
          <p:nvPr/>
        </p:nvSpPr>
        <p:spPr bwMode="auto">
          <a:xfrm>
            <a:off x="4016375" y="1717675"/>
            <a:ext cx="0" cy="584200"/>
          </a:xfrm>
          <a:prstGeom prst="line">
            <a:avLst/>
          </a:prstGeom>
          <a:noFill/>
          <a:ln w="25400">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62892" name="Freeform 76"/>
          <p:cNvSpPr>
            <a:spLocks/>
          </p:cNvSpPr>
          <p:nvPr/>
        </p:nvSpPr>
        <p:spPr bwMode="auto">
          <a:xfrm>
            <a:off x="3295651" y="2368550"/>
            <a:ext cx="1458913" cy="1143000"/>
          </a:xfrm>
          <a:custGeom>
            <a:avLst/>
            <a:gdLst/>
            <a:ahLst/>
            <a:cxnLst>
              <a:cxn ang="0">
                <a:pos x="459" y="0"/>
              </a:cxn>
              <a:cxn ang="0">
                <a:pos x="0" y="359"/>
              </a:cxn>
              <a:cxn ang="0">
                <a:pos x="459" y="719"/>
              </a:cxn>
              <a:cxn ang="0">
                <a:pos x="918" y="359"/>
              </a:cxn>
              <a:cxn ang="0">
                <a:pos x="459" y="0"/>
              </a:cxn>
            </a:cxnLst>
            <a:rect l="0" t="0" r="r" b="b"/>
            <a:pathLst>
              <a:path w="919" h="720">
                <a:moveTo>
                  <a:pt x="459" y="0"/>
                </a:moveTo>
                <a:lnTo>
                  <a:pt x="0" y="359"/>
                </a:lnTo>
                <a:lnTo>
                  <a:pt x="459" y="719"/>
                </a:lnTo>
                <a:lnTo>
                  <a:pt x="918" y="359"/>
                </a:lnTo>
                <a:lnTo>
                  <a:pt x="459" y="0"/>
                </a:lnTo>
              </a:path>
            </a:pathLst>
          </a:custGeom>
          <a:solidFill>
            <a:schemeClr val="folHlink"/>
          </a:solidFill>
          <a:ln w="25400" cap="rnd" cmpd="sng">
            <a:solidFill>
              <a:schemeClr val="tx1"/>
            </a:solidFill>
            <a:prstDash val="solid"/>
            <a:round/>
            <a:headEnd type="none" w="med" len="med"/>
            <a:tailEnd type="none" w="med" len="med"/>
          </a:ln>
          <a:effectLst>
            <a:outerShdw dist="35921" dir="2700000" algn="ctr" rotWithShape="0">
              <a:schemeClr val="tx1"/>
            </a:outerShdw>
          </a:effectLst>
        </p:spPr>
        <p:txBody>
          <a:bodyPr/>
          <a:lstStyle/>
          <a:p>
            <a:pPr>
              <a:defRPr/>
            </a:pPr>
            <a:endParaRPr lang="en-US">
              <a:latin typeface="Arial" charset="0"/>
            </a:endParaRPr>
          </a:p>
        </p:txBody>
      </p:sp>
      <p:sp>
        <p:nvSpPr>
          <p:cNvPr id="11342" name="Rectangle 77"/>
          <p:cNvSpPr>
            <a:spLocks noChangeArrowheads="1"/>
          </p:cNvSpPr>
          <p:nvPr/>
        </p:nvSpPr>
        <p:spPr bwMode="auto">
          <a:xfrm>
            <a:off x="3442702" y="2673350"/>
            <a:ext cx="1106073" cy="588366"/>
          </a:xfrm>
          <a:prstGeom prst="rect">
            <a:avLst/>
          </a:prstGeom>
          <a:noFill/>
          <a:ln w="12700">
            <a:noFill/>
            <a:miter lim="800000"/>
            <a:headEnd/>
            <a:tailEnd/>
          </a:ln>
        </p:spPr>
        <p:txBody>
          <a:bodyPr wrap="none" lIns="90488" tIns="44450" rIns="90488" bIns="44450">
            <a:prstTxWarp prst="textNoShape">
              <a:avLst/>
            </a:prstTxWarp>
            <a:spAutoFit/>
          </a:bodyPr>
          <a:lstStyle/>
          <a:p>
            <a:r>
              <a:rPr lang="en-GB" sz="1800" b="1">
                <a:solidFill>
                  <a:schemeClr val="hlink"/>
                </a:solidFill>
              </a:rPr>
              <a:t> </a:t>
            </a:r>
            <a:r>
              <a:rPr lang="en-GB" sz="1800" b="1">
                <a:solidFill>
                  <a:schemeClr val="bg1"/>
                </a:solidFill>
              </a:rPr>
              <a:t>Custom</a:t>
            </a:r>
            <a:br>
              <a:rPr lang="en-GB" sz="1800" b="1">
                <a:solidFill>
                  <a:schemeClr val="bg1"/>
                </a:solidFill>
              </a:rPr>
            </a:br>
            <a:r>
              <a:rPr lang="en-GB" sz="1800" b="1">
                <a:solidFill>
                  <a:schemeClr val="bg1"/>
                </a:solidFill>
              </a:rPr>
              <a:t> (ACL)</a:t>
            </a:r>
            <a:r>
              <a:rPr lang="en-GB" sz="1800" b="1">
                <a:solidFill>
                  <a:schemeClr val="hlink"/>
                </a:solidFill>
              </a:rPr>
              <a:t> </a:t>
            </a:r>
          </a:p>
        </p:txBody>
      </p:sp>
      <p:sp>
        <p:nvSpPr>
          <p:cNvPr id="162894" name="Freeform 78"/>
          <p:cNvSpPr>
            <a:spLocks/>
          </p:cNvSpPr>
          <p:nvPr/>
        </p:nvSpPr>
        <p:spPr bwMode="auto">
          <a:xfrm>
            <a:off x="3290888" y="1362076"/>
            <a:ext cx="1458912" cy="646113"/>
          </a:xfrm>
          <a:custGeom>
            <a:avLst/>
            <a:gdLst/>
            <a:ahLst/>
            <a:cxnLst>
              <a:cxn ang="0">
                <a:pos x="70" y="0"/>
              </a:cxn>
              <a:cxn ang="0">
                <a:pos x="0" y="203"/>
              </a:cxn>
              <a:cxn ang="0">
                <a:pos x="70" y="406"/>
              </a:cxn>
              <a:cxn ang="0">
                <a:pos x="847" y="406"/>
              </a:cxn>
              <a:cxn ang="0">
                <a:pos x="918" y="203"/>
              </a:cxn>
              <a:cxn ang="0">
                <a:pos x="847" y="0"/>
              </a:cxn>
              <a:cxn ang="0">
                <a:pos x="70" y="0"/>
              </a:cxn>
            </a:cxnLst>
            <a:rect l="0" t="0" r="r" b="b"/>
            <a:pathLst>
              <a:path w="919" h="407">
                <a:moveTo>
                  <a:pt x="70" y="0"/>
                </a:moveTo>
                <a:lnTo>
                  <a:pt x="0" y="203"/>
                </a:lnTo>
                <a:lnTo>
                  <a:pt x="70" y="406"/>
                </a:lnTo>
                <a:lnTo>
                  <a:pt x="847" y="406"/>
                </a:lnTo>
                <a:lnTo>
                  <a:pt x="918" y="203"/>
                </a:lnTo>
                <a:lnTo>
                  <a:pt x="847" y="0"/>
                </a:lnTo>
                <a:lnTo>
                  <a:pt x="70" y="0"/>
                </a:lnTo>
              </a:path>
            </a:pathLst>
          </a:custGeom>
          <a:solidFill>
            <a:schemeClr val="folHlink"/>
          </a:solidFill>
          <a:ln w="25400" cap="rnd" cmpd="sng">
            <a:solidFill>
              <a:schemeClr val="tx1"/>
            </a:solidFill>
            <a:prstDash val="solid"/>
            <a:round/>
            <a:headEnd type="none" w="med" len="med"/>
            <a:tailEnd type="none" w="med" len="med"/>
          </a:ln>
          <a:effectLst>
            <a:outerShdw dist="35921" dir="2700000" algn="ctr" rotWithShape="0">
              <a:schemeClr val="tx1"/>
            </a:outerShdw>
          </a:effectLst>
        </p:spPr>
        <p:txBody>
          <a:bodyPr/>
          <a:lstStyle/>
          <a:p>
            <a:pPr>
              <a:defRPr/>
            </a:pPr>
            <a:endParaRPr lang="en-US">
              <a:latin typeface="Arial" charset="0"/>
            </a:endParaRPr>
          </a:p>
        </p:txBody>
      </p:sp>
      <p:sp>
        <p:nvSpPr>
          <p:cNvPr id="11344" name="Rectangle 79"/>
          <p:cNvSpPr>
            <a:spLocks noChangeArrowheads="1"/>
          </p:cNvSpPr>
          <p:nvPr/>
        </p:nvSpPr>
        <p:spPr bwMode="auto">
          <a:xfrm>
            <a:off x="3365510" y="1530351"/>
            <a:ext cx="1311257" cy="366767"/>
          </a:xfrm>
          <a:prstGeom prst="rect">
            <a:avLst/>
          </a:prstGeom>
          <a:noFill/>
          <a:ln w="12700">
            <a:noFill/>
            <a:miter lim="800000"/>
            <a:headEnd/>
            <a:tailEnd/>
          </a:ln>
        </p:spPr>
        <p:txBody>
          <a:bodyPr wrap="none" lIns="90488" tIns="44450" rIns="90488" bIns="44450">
            <a:prstTxWarp prst="textNoShape">
              <a:avLst/>
            </a:prstTxWarp>
            <a:spAutoFit/>
          </a:bodyPr>
          <a:lstStyle/>
          <a:p>
            <a:pPr>
              <a:lnSpc>
                <a:spcPct val="100000"/>
              </a:lnSpc>
            </a:pPr>
            <a:r>
              <a:rPr lang="en-GB" sz="1800" b="1">
                <a:solidFill>
                  <a:schemeClr val="bg1"/>
                </a:solidFill>
              </a:rPr>
              <a:t>Forwarder</a:t>
            </a:r>
            <a:endParaRPr lang="en-GB" sz="1800" b="1">
              <a:solidFill>
                <a:schemeClr val="hlink"/>
              </a:solidFill>
            </a:endParaRPr>
          </a:p>
        </p:txBody>
      </p:sp>
      <p:sp>
        <p:nvSpPr>
          <p:cNvPr id="11345" name="Text Box 80"/>
          <p:cNvSpPr txBox="1">
            <a:spLocks noChangeArrowheads="1"/>
          </p:cNvSpPr>
          <p:nvPr/>
        </p:nvSpPr>
        <p:spPr bwMode="auto">
          <a:xfrm>
            <a:off x="6959601" y="1268414"/>
            <a:ext cx="3889375" cy="5026025"/>
          </a:xfrm>
          <a:prstGeom prst="rect">
            <a:avLst/>
          </a:prstGeom>
          <a:noFill/>
          <a:ln w="9525">
            <a:noFill/>
            <a:miter lim="800000"/>
            <a:headEnd/>
            <a:tailEnd/>
          </a:ln>
        </p:spPr>
        <p:txBody>
          <a:bodyPr lIns="82124" tIns="41061" rIns="82124" bIns="41061">
            <a:prstTxWarp prst="textNoShape">
              <a:avLst/>
            </a:prstTxWarp>
            <a:spAutoFit/>
          </a:bodyPr>
          <a:lstStyle/>
          <a:p>
            <a:pPr algn="l" defTabSz="814388">
              <a:buClr>
                <a:schemeClr val="tx2"/>
              </a:buClr>
            </a:pPr>
            <a:endParaRPr lang="en-GB" sz="2000"/>
          </a:p>
          <a:p>
            <a:pPr algn="l" defTabSz="814388">
              <a:buClr>
                <a:schemeClr val="tx2"/>
              </a:buClr>
              <a:buFont typeface="Wingdings" pitchFamily="1" charset="2"/>
              <a:buChar char="§"/>
            </a:pPr>
            <a:r>
              <a:rPr lang="en-GB" sz="2000"/>
              <a:t> Scheduling: </a:t>
            </a:r>
          </a:p>
          <a:p>
            <a:pPr lvl="1" algn="l" defTabSz="814388">
              <a:buClr>
                <a:schemeClr val="tx2"/>
              </a:buClr>
            </a:pPr>
            <a:r>
              <a:rPr lang="en-GB" sz="2000"/>
              <a:t>FIFO within CQ, RR between up to 16 CQ’s</a:t>
            </a:r>
          </a:p>
          <a:p>
            <a:pPr algn="l" defTabSz="814388">
              <a:buClr>
                <a:schemeClr val="tx2"/>
              </a:buClr>
              <a:buFont typeface="Wingdings" pitchFamily="1" charset="2"/>
              <a:buChar char="§"/>
            </a:pPr>
            <a:endParaRPr lang="en-GB" sz="2000"/>
          </a:p>
          <a:p>
            <a:pPr algn="l" defTabSz="814388">
              <a:buClr>
                <a:schemeClr val="tx2"/>
              </a:buClr>
              <a:buFont typeface="Wingdings" pitchFamily="1" charset="2"/>
              <a:buChar char="§"/>
            </a:pPr>
            <a:r>
              <a:rPr lang="en-GB" sz="2000"/>
              <a:t> Drop: Tail-Drop within CQ</a:t>
            </a:r>
          </a:p>
          <a:p>
            <a:pPr algn="l" defTabSz="814388">
              <a:buClr>
                <a:schemeClr val="tx2"/>
              </a:buClr>
              <a:buFont typeface="Wingdings" pitchFamily="1" charset="2"/>
              <a:buChar char="§"/>
            </a:pPr>
            <a:endParaRPr lang="en-GB" sz="2000"/>
          </a:p>
          <a:p>
            <a:pPr algn="l" defTabSz="814388">
              <a:buClr>
                <a:schemeClr val="tx2"/>
              </a:buClr>
              <a:buFont typeface="Wingdings" pitchFamily="1" charset="2"/>
              <a:buChar char="§"/>
            </a:pPr>
            <a:r>
              <a:rPr lang="en-GB" sz="2000"/>
              <a:t> IOS: Since 9.0.   </a:t>
            </a:r>
          </a:p>
          <a:p>
            <a:pPr algn="l" defTabSz="814388">
              <a:buClr>
                <a:schemeClr val="tx2"/>
              </a:buClr>
              <a:buFont typeface="Wingdings" pitchFamily="1" charset="2"/>
              <a:buChar char="§"/>
            </a:pPr>
            <a:endParaRPr lang="en-GB" sz="2000">
              <a:solidFill>
                <a:schemeClr val="folHlink"/>
              </a:solidFill>
            </a:endParaRPr>
          </a:p>
          <a:p>
            <a:pPr algn="l" defTabSz="814388">
              <a:buClr>
                <a:schemeClr val="tx2"/>
              </a:buClr>
              <a:buFont typeface="Wingdings" pitchFamily="1" charset="2"/>
              <a:buChar char="§"/>
            </a:pPr>
            <a:r>
              <a:rPr lang="en-GB" sz="2000"/>
              <a:t> Switching Path: all</a:t>
            </a:r>
          </a:p>
          <a:p>
            <a:pPr algn="l" defTabSz="814388">
              <a:buClr>
                <a:schemeClr val="tx2"/>
              </a:buClr>
              <a:buFont typeface="Wingdings" pitchFamily="1" charset="2"/>
              <a:buChar char="§"/>
            </a:pPr>
            <a:endParaRPr lang="en-GB" sz="2000"/>
          </a:p>
          <a:p>
            <a:pPr algn="l" defTabSz="814388">
              <a:buClr>
                <a:schemeClr val="tx2"/>
              </a:buClr>
              <a:buFont typeface="Wingdings" pitchFamily="1" charset="2"/>
              <a:buChar char="§"/>
            </a:pPr>
            <a:endParaRPr lang="en-GB" sz="2000"/>
          </a:p>
          <a:p>
            <a:pPr algn="l" defTabSz="814388">
              <a:buClr>
                <a:schemeClr val="tx2"/>
              </a:buClr>
              <a:buFont typeface="Wingdings" pitchFamily="1" charset="2"/>
              <a:buChar char="§"/>
            </a:pPr>
            <a:endParaRPr lang="en-GB" sz="2000"/>
          </a:p>
          <a:p>
            <a:pPr algn="l" defTabSz="814388">
              <a:buClr>
                <a:schemeClr val="tx2"/>
              </a:buClr>
              <a:buFont typeface="Wingdings" pitchFamily="1" charset="2"/>
              <a:buChar char="§"/>
            </a:pPr>
            <a:r>
              <a:rPr lang="en-GB" sz="2000"/>
              <a:t> No starvation, but requires manual computation, and unreliable due to limitations of the algorithm.</a:t>
            </a:r>
          </a:p>
          <a:p>
            <a:pPr algn="l" defTabSz="814388">
              <a:buClr>
                <a:schemeClr val="tx2"/>
              </a:buClr>
              <a:buFont typeface="Wingdings" pitchFamily="1" charset="2"/>
              <a:buChar char="§"/>
            </a:pPr>
            <a:endParaRPr lang="en-US" sz="2000"/>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ChangeArrowheads="1"/>
          </p:cNvSpPr>
          <p:nvPr/>
        </p:nvSpPr>
        <p:spPr bwMode="auto">
          <a:xfrm>
            <a:off x="3956050" y="5300663"/>
            <a:ext cx="4876800" cy="457200"/>
          </a:xfrm>
          <a:prstGeom prst="rect">
            <a:avLst/>
          </a:prstGeom>
          <a:solidFill>
            <a:schemeClr val="folHlink"/>
          </a:solidFill>
          <a:ln w="9525">
            <a:noFill/>
            <a:miter lim="800000"/>
            <a:headEnd type="none" w="sm" len="sm"/>
            <a:tailEnd type="none" w="sm" len="sm"/>
          </a:ln>
          <a:effectLst>
            <a:outerShdw dist="107763" dir="2700000" algn="ctr" rotWithShape="0">
              <a:schemeClr val="tx1">
                <a:alpha val="50000"/>
              </a:schemeClr>
            </a:outerShdw>
          </a:effectLst>
        </p:spPr>
        <p:txBody>
          <a:bodyPr wrap="none" anchor="ctr"/>
          <a:lstStyle/>
          <a:p>
            <a:pPr>
              <a:defRPr/>
            </a:pPr>
            <a:endParaRPr lang="en-US">
              <a:latin typeface="Arial" charset="0"/>
            </a:endParaRPr>
          </a:p>
        </p:txBody>
      </p:sp>
      <p:sp>
        <p:nvSpPr>
          <p:cNvPr id="12291" name="Rectangle 3"/>
          <p:cNvSpPr>
            <a:spLocks noChangeArrowheads="1"/>
          </p:cNvSpPr>
          <p:nvPr/>
        </p:nvSpPr>
        <p:spPr bwMode="auto">
          <a:xfrm>
            <a:off x="2205039" y="252413"/>
            <a:ext cx="6778625" cy="1016000"/>
          </a:xfrm>
          <a:prstGeom prst="rect">
            <a:avLst/>
          </a:prstGeom>
          <a:noFill/>
          <a:ln w="9525">
            <a:noFill/>
            <a:miter lim="800000"/>
            <a:headEnd/>
            <a:tailEnd/>
          </a:ln>
        </p:spPr>
        <p:txBody>
          <a:bodyPr lIns="86235" tIns="43848" rIns="86235" bIns="43848" anchor="ctr">
            <a:prstTxWarp prst="textNoShape">
              <a:avLst/>
            </a:prstTxWarp>
          </a:bodyPr>
          <a:lstStyle/>
          <a:p>
            <a:pPr algn="l" defTabSz="1071563" eaLnBrk="1" hangingPunct="1"/>
            <a:r>
              <a:rPr lang="en-GB" sz="3200" b="1">
                <a:solidFill>
                  <a:schemeClr val="folHlink"/>
                </a:solidFill>
              </a:rPr>
              <a:t>Fair-Queuing  </a:t>
            </a:r>
          </a:p>
        </p:txBody>
      </p:sp>
      <p:sp>
        <p:nvSpPr>
          <p:cNvPr id="12292" name="Rectangle 4"/>
          <p:cNvSpPr>
            <a:spLocks noChangeArrowheads="1"/>
          </p:cNvSpPr>
          <p:nvPr/>
        </p:nvSpPr>
        <p:spPr bwMode="auto">
          <a:xfrm>
            <a:off x="4038601" y="1752601"/>
            <a:ext cx="5434013" cy="3844925"/>
          </a:xfrm>
          <a:prstGeom prst="rect">
            <a:avLst/>
          </a:prstGeom>
          <a:noFill/>
          <a:ln w="9525">
            <a:noFill/>
            <a:miter lim="800000"/>
            <a:headEnd/>
            <a:tailEnd/>
          </a:ln>
        </p:spPr>
        <p:txBody>
          <a:bodyPr lIns="86235" tIns="43848" rIns="86235" bIns="43848" anchor="ctr" anchorCtr="1">
            <a:prstTxWarp prst="textNoShape">
              <a:avLst/>
            </a:prstTxWarp>
          </a:bodyPr>
          <a:lstStyle/>
          <a:p>
            <a:pPr marL="333375" indent="-333375" algn="l" defTabSz="1071563">
              <a:lnSpc>
                <a:spcPct val="95000"/>
              </a:lnSpc>
              <a:spcBef>
                <a:spcPct val="50000"/>
              </a:spcBef>
              <a:buClr>
                <a:schemeClr val="tx2"/>
              </a:buClr>
              <a:buSzPct val="100000"/>
              <a:buFont typeface="Wingdings" pitchFamily="1" charset="2"/>
              <a:buChar char="§"/>
            </a:pPr>
            <a:r>
              <a:rPr lang="en-GB" sz="2000">
                <a:solidFill>
                  <a:schemeClr val="folHlink"/>
                </a:solidFill>
              </a:rPr>
              <a:t>Assume</a:t>
            </a:r>
            <a:r>
              <a:rPr lang="en-GB" sz="2000"/>
              <a:t> that each source-destination pair (conversation) can be distinguished and is stored in a logically distinct </a:t>
            </a:r>
            <a:r>
              <a:rPr lang="en-GB" sz="2000">
                <a:solidFill>
                  <a:schemeClr val="folHlink"/>
                </a:solidFill>
              </a:rPr>
              <a:t>per-conversation queue</a:t>
            </a:r>
            <a:r>
              <a:rPr lang="en-GB" sz="2000"/>
              <a:t>.</a:t>
            </a:r>
          </a:p>
          <a:p>
            <a:pPr marL="333375" indent="-333375" algn="l" defTabSz="1071563">
              <a:lnSpc>
                <a:spcPct val="95000"/>
              </a:lnSpc>
              <a:spcBef>
                <a:spcPct val="50000"/>
              </a:spcBef>
              <a:buClr>
                <a:schemeClr val="tx2"/>
              </a:buClr>
              <a:buSzPct val="100000"/>
              <a:buFont typeface="Wingdings" pitchFamily="1" charset="2"/>
              <a:buChar char="§"/>
            </a:pPr>
            <a:r>
              <a:rPr lang="en-GB" sz="2000"/>
              <a:t>Consider a hypothetical service discipline where </a:t>
            </a:r>
            <a:r>
              <a:rPr lang="en-GB" sz="2000">
                <a:solidFill>
                  <a:schemeClr val="folHlink"/>
                </a:solidFill>
              </a:rPr>
              <a:t>one bit from each logical queue</a:t>
            </a:r>
            <a:r>
              <a:rPr lang="en-GB" sz="2000"/>
              <a:t> is served in a </a:t>
            </a:r>
            <a:r>
              <a:rPr lang="en-GB" sz="2000">
                <a:solidFill>
                  <a:schemeClr val="folHlink"/>
                </a:solidFill>
              </a:rPr>
              <a:t>round-robin order</a:t>
            </a:r>
            <a:r>
              <a:rPr lang="en-GB" sz="2000"/>
              <a:t>. </a:t>
            </a:r>
          </a:p>
          <a:p>
            <a:pPr marL="333375" indent="-333375" algn="l" defTabSz="1071563">
              <a:lnSpc>
                <a:spcPct val="95000"/>
              </a:lnSpc>
              <a:spcBef>
                <a:spcPct val="50000"/>
              </a:spcBef>
              <a:buClr>
                <a:schemeClr val="tx2"/>
              </a:buClr>
              <a:buSzPct val="100000"/>
              <a:buFont typeface="Wingdings" pitchFamily="1" charset="2"/>
              <a:buChar char="§"/>
            </a:pPr>
            <a:r>
              <a:rPr lang="en-GB" sz="2000"/>
              <a:t>This mechanism </a:t>
            </a:r>
            <a:r>
              <a:rPr lang="en-GB" sz="2000">
                <a:solidFill>
                  <a:schemeClr val="folHlink"/>
                </a:solidFill>
              </a:rPr>
              <a:t>allocates bandwidth fairly</a:t>
            </a:r>
            <a:r>
              <a:rPr lang="en-GB" sz="2000"/>
              <a:t>, since at every instance in time, each conversation gets exactly its fair share of the trunk bandwidth</a:t>
            </a:r>
            <a:r>
              <a:rPr lang="en-GB" sz="1700"/>
              <a:t> </a:t>
            </a:r>
          </a:p>
          <a:p>
            <a:pPr marL="333375" indent="-333375" algn="l" defTabSz="1071563">
              <a:lnSpc>
                <a:spcPct val="95000"/>
              </a:lnSpc>
              <a:spcBef>
                <a:spcPct val="50000"/>
              </a:spcBef>
              <a:buClr>
                <a:schemeClr val="tx2"/>
              </a:buClr>
              <a:buSzPct val="100000"/>
              <a:buFont typeface="Symbol" pitchFamily="1" charset="2"/>
              <a:buChar char="Þ"/>
            </a:pPr>
            <a:r>
              <a:rPr lang="en-GB" sz="1900"/>
              <a:t>Emulation of a per-Flow TDM</a:t>
            </a:r>
            <a:endParaRPr lang="en-GB" sz="1500"/>
          </a:p>
        </p:txBody>
      </p:sp>
      <p:grpSp>
        <p:nvGrpSpPr>
          <p:cNvPr id="12293" name="Group 5"/>
          <p:cNvGrpSpPr>
            <a:grpSpLocks/>
          </p:cNvGrpSpPr>
          <p:nvPr/>
        </p:nvGrpSpPr>
        <p:grpSpPr bwMode="auto">
          <a:xfrm>
            <a:off x="1897063" y="1676400"/>
            <a:ext cx="1751012" cy="3962400"/>
            <a:chOff x="497" y="865"/>
            <a:chExt cx="1295" cy="2496"/>
          </a:xfrm>
        </p:grpSpPr>
        <p:sp>
          <p:nvSpPr>
            <p:cNvPr id="12294" name="Line 6"/>
            <p:cNvSpPr>
              <a:spLocks noChangeShapeType="1"/>
            </p:cNvSpPr>
            <p:nvPr/>
          </p:nvSpPr>
          <p:spPr bwMode="auto">
            <a:xfrm flipV="1">
              <a:off x="1169" y="1489"/>
              <a:ext cx="0" cy="528"/>
            </a:xfrm>
            <a:prstGeom prst="line">
              <a:avLst/>
            </a:prstGeom>
            <a:noFill/>
            <a:ln w="25400">
              <a:solidFill>
                <a:schemeClr val="tx1"/>
              </a:solidFill>
              <a:round/>
              <a:headEnd type="stealth" w="med" len="lg"/>
              <a:tailEnd type="none" w="sm" len="sm"/>
            </a:ln>
          </p:spPr>
          <p:txBody>
            <a:bodyPr wrap="none" anchor="ctr">
              <a:prstTxWarp prst="textNoShape">
                <a:avLst/>
              </a:prstTxWarp>
            </a:bodyPr>
            <a:lstStyle/>
            <a:p>
              <a:endParaRPr lang="en-US"/>
            </a:p>
          </p:txBody>
        </p:sp>
        <p:sp>
          <p:nvSpPr>
            <p:cNvPr id="12295" name="Line 7"/>
            <p:cNvSpPr>
              <a:spLocks noChangeShapeType="1"/>
            </p:cNvSpPr>
            <p:nvPr/>
          </p:nvSpPr>
          <p:spPr bwMode="auto">
            <a:xfrm flipV="1">
              <a:off x="1169" y="1009"/>
              <a:ext cx="0" cy="384"/>
            </a:xfrm>
            <a:prstGeom prst="line">
              <a:avLst/>
            </a:prstGeom>
            <a:noFill/>
            <a:ln w="25400">
              <a:solidFill>
                <a:schemeClr val="tx1"/>
              </a:solidFill>
              <a:round/>
              <a:headEnd type="stealth" w="med" len="lg"/>
              <a:tailEnd type="none" w="sm" len="sm"/>
            </a:ln>
          </p:spPr>
          <p:txBody>
            <a:bodyPr wrap="none" anchor="ctr">
              <a:prstTxWarp prst="textNoShape">
                <a:avLst/>
              </a:prstTxWarp>
            </a:bodyPr>
            <a:lstStyle/>
            <a:p>
              <a:endParaRPr lang="en-US"/>
            </a:p>
          </p:txBody>
        </p:sp>
        <p:sp>
          <p:nvSpPr>
            <p:cNvPr id="165896" name="Freeform 8"/>
            <p:cNvSpPr>
              <a:spLocks/>
            </p:cNvSpPr>
            <p:nvPr/>
          </p:nvSpPr>
          <p:spPr bwMode="auto">
            <a:xfrm>
              <a:off x="497" y="865"/>
              <a:ext cx="1295" cy="289"/>
            </a:xfrm>
            <a:custGeom>
              <a:avLst/>
              <a:gdLst/>
              <a:ahLst/>
              <a:cxnLst>
                <a:cxn ang="0">
                  <a:pos x="163" y="0"/>
                </a:cxn>
                <a:cxn ang="0">
                  <a:pos x="0" y="146"/>
                </a:cxn>
                <a:cxn ang="0">
                  <a:pos x="163" y="292"/>
                </a:cxn>
                <a:cxn ang="0">
                  <a:pos x="1314" y="292"/>
                </a:cxn>
                <a:cxn ang="0">
                  <a:pos x="1478" y="146"/>
                </a:cxn>
                <a:cxn ang="0">
                  <a:pos x="1314" y="0"/>
                </a:cxn>
                <a:cxn ang="0">
                  <a:pos x="163" y="0"/>
                </a:cxn>
              </a:cxnLst>
              <a:rect l="0" t="0" r="r" b="b"/>
              <a:pathLst>
                <a:path w="1479" h="293">
                  <a:moveTo>
                    <a:pt x="163" y="0"/>
                  </a:moveTo>
                  <a:lnTo>
                    <a:pt x="0" y="146"/>
                  </a:lnTo>
                  <a:lnTo>
                    <a:pt x="163" y="292"/>
                  </a:lnTo>
                  <a:lnTo>
                    <a:pt x="1314" y="292"/>
                  </a:lnTo>
                  <a:lnTo>
                    <a:pt x="1478" y="146"/>
                  </a:lnTo>
                  <a:lnTo>
                    <a:pt x="1314" y="0"/>
                  </a:lnTo>
                  <a:lnTo>
                    <a:pt x="163" y="0"/>
                  </a:lnTo>
                </a:path>
              </a:pathLst>
            </a:custGeom>
            <a:solidFill>
              <a:schemeClr val="folHlink"/>
            </a:solidFill>
            <a:ln w="12700" cap="rnd" cmpd="sng">
              <a:solidFill>
                <a:schemeClr val="bg2"/>
              </a:solidFill>
              <a:prstDash val="solid"/>
              <a:round/>
              <a:headEnd/>
              <a:tailEnd/>
            </a:ln>
            <a:effectLst>
              <a:outerShdw dist="35921" dir="2700000" algn="ctr" rotWithShape="0">
                <a:schemeClr val="tx1"/>
              </a:outerShdw>
            </a:effectLst>
          </p:spPr>
          <p:txBody>
            <a:bodyPr/>
            <a:lstStyle/>
            <a:p>
              <a:pPr>
                <a:defRPr/>
              </a:pPr>
              <a:endParaRPr lang="en-US">
                <a:latin typeface="Arial" charset="0"/>
              </a:endParaRPr>
            </a:p>
          </p:txBody>
        </p:sp>
        <p:sp>
          <p:nvSpPr>
            <p:cNvPr id="12297" name="Line 9"/>
            <p:cNvSpPr>
              <a:spLocks noChangeShapeType="1"/>
            </p:cNvSpPr>
            <p:nvPr/>
          </p:nvSpPr>
          <p:spPr bwMode="auto">
            <a:xfrm flipV="1">
              <a:off x="737" y="1681"/>
              <a:ext cx="0" cy="336"/>
            </a:xfrm>
            <a:prstGeom prst="line">
              <a:avLst/>
            </a:prstGeom>
            <a:noFill/>
            <a:ln w="25400">
              <a:solidFill>
                <a:schemeClr val="tx1"/>
              </a:solidFill>
              <a:round/>
              <a:headEnd type="stealth" w="med" len="lg"/>
              <a:tailEnd type="none" w="sm" len="sm"/>
            </a:ln>
          </p:spPr>
          <p:txBody>
            <a:bodyPr wrap="none" anchor="ctr">
              <a:prstTxWarp prst="textNoShape">
                <a:avLst/>
              </a:prstTxWarp>
            </a:bodyPr>
            <a:lstStyle/>
            <a:p>
              <a:endParaRPr lang="en-US"/>
            </a:p>
          </p:txBody>
        </p:sp>
        <p:sp>
          <p:nvSpPr>
            <p:cNvPr id="12298" name="Line 10"/>
            <p:cNvSpPr>
              <a:spLocks noChangeShapeType="1"/>
            </p:cNvSpPr>
            <p:nvPr/>
          </p:nvSpPr>
          <p:spPr bwMode="auto">
            <a:xfrm flipV="1">
              <a:off x="1600" y="1681"/>
              <a:ext cx="0" cy="336"/>
            </a:xfrm>
            <a:prstGeom prst="line">
              <a:avLst/>
            </a:prstGeom>
            <a:noFill/>
            <a:ln w="25400">
              <a:solidFill>
                <a:schemeClr val="tx1"/>
              </a:solidFill>
              <a:round/>
              <a:headEnd type="stealth" w="med" len="lg"/>
              <a:tailEnd type="none" w="sm" len="sm"/>
            </a:ln>
          </p:spPr>
          <p:txBody>
            <a:bodyPr wrap="none" anchor="ctr">
              <a:prstTxWarp prst="textNoShape">
                <a:avLst/>
              </a:prstTxWarp>
            </a:bodyPr>
            <a:lstStyle/>
            <a:p>
              <a:endParaRPr lang="en-US"/>
            </a:p>
          </p:txBody>
        </p:sp>
        <p:sp>
          <p:nvSpPr>
            <p:cNvPr id="12299" name="Line 11"/>
            <p:cNvSpPr>
              <a:spLocks noChangeShapeType="1"/>
            </p:cNvSpPr>
            <p:nvPr/>
          </p:nvSpPr>
          <p:spPr bwMode="auto">
            <a:xfrm flipV="1">
              <a:off x="1169" y="3025"/>
              <a:ext cx="0" cy="336"/>
            </a:xfrm>
            <a:prstGeom prst="line">
              <a:avLst/>
            </a:prstGeom>
            <a:noFill/>
            <a:ln w="25400">
              <a:solidFill>
                <a:schemeClr val="tx1"/>
              </a:solidFill>
              <a:round/>
              <a:headEnd type="stealth" w="med" len="lg"/>
              <a:tailEnd type="none" w="sm" len="sm"/>
            </a:ln>
          </p:spPr>
          <p:txBody>
            <a:bodyPr wrap="none" anchor="ctr">
              <a:prstTxWarp prst="textNoShape">
                <a:avLst/>
              </a:prstTxWarp>
            </a:bodyPr>
            <a:lstStyle/>
            <a:p>
              <a:endParaRPr lang="en-US"/>
            </a:p>
          </p:txBody>
        </p:sp>
        <p:sp>
          <p:nvSpPr>
            <p:cNvPr id="165900" name="Freeform 12"/>
            <p:cNvSpPr>
              <a:spLocks/>
            </p:cNvSpPr>
            <p:nvPr/>
          </p:nvSpPr>
          <p:spPr bwMode="auto">
            <a:xfrm>
              <a:off x="497" y="2785"/>
              <a:ext cx="1295" cy="289"/>
            </a:xfrm>
            <a:custGeom>
              <a:avLst/>
              <a:gdLst/>
              <a:ahLst/>
              <a:cxnLst>
                <a:cxn ang="0">
                  <a:pos x="163" y="0"/>
                </a:cxn>
                <a:cxn ang="0">
                  <a:pos x="0" y="146"/>
                </a:cxn>
                <a:cxn ang="0">
                  <a:pos x="163" y="292"/>
                </a:cxn>
                <a:cxn ang="0">
                  <a:pos x="1314" y="292"/>
                </a:cxn>
                <a:cxn ang="0">
                  <a:pos x="1478" y="146"/>
                </a:cxn>
                <a:cxn ang="0">
                  <a:pos x="1314" y="0"/>
                </a:cxn>
                <a:cxn ang="0">
                  <a:pos x="163" y="0"/>
                </a:cxn>
              </a:cxnLst>
              <a:rect l="0" t="0" r="r" b="b"/>
              <a:pathLst>
                <a:path w="1479" h="293">
                  <a:moveTo>
                    <a:pt x="163" y="0"/>
                  </a:moveTo>
                  <a:lnTo>
                    <a:pt x="0" y="146"/>
                  </a:lnTo>
                  <a:lnTo>
                    <a:pt x="163" y="292"/>
                  </a:lnTo>
                  <a:lnTo>
                    <a:pt x="1314" y="292"/>
                  </a:lnTo>
                  <a:lnTo>
                    <a:pt x="1478" y="146"/>
                  </a:lnTo>
                  <a:lnTo>
                    <a:pt x="1314" y="0"/>
                  </a:lnTo>
                  <a:lnTo>
                    <a:pt x="163" y="0"/>
                  </a:lnTo>
                </a:path>
              </a:pathLst>
            </a:custGeom>
            <a:solidFill>
              <a:schemeClr val="folHlink"/>
            </a:solidFill>
            <a:ln w="12700" cap="rnd" cmpd="sng">
              <a:solidFill>
                <a:schemeClr val="bg2"/>
              </a:solidFill>
              <a:prstDash val="solid"/>
              <a:round/>
              <a:headEnd/>
              <a:tailEnd/>
            </a:ln>
            <a:effectLst>
              <a:outerShdw dist="35921" dir="2700000" algn="ctr" rotWithShape="0">
                <a:schemeClr val="tx1"/>
              </a:outerShdw>
            </a:effectLst>
          </p:spPr>
          <p:txBody>
            <a:bodyPr/>
            <a:lstStyle/>
            <a:p>
              <a:pPr>
                <a:defRPr/>
              </a:pPr>
              <a:endParaRPr lang="en-US">
                <a:latin typeface="Arial" charset="0"/>
              </a:endParaRPr>
            </a:p>
          </p:txBody>
        </p:sp>
        <p:sp>
          <p:nvSpPr>
            <p:cNvPr id="12301" name="Rectangle 13"/>
            <p:cNvSpPr>
              <a:spLocks noChangeArrowheads="1"/>
            </p:cNvSpPr>
            <p:nvPr/>
          </p:nvSpPr>
          <p:spPr bwMode="auto">
            <a:xfrm>
              <a:off x="527" y="898"/>
              <a:ext cx="1234" cy="217"/>
            </a:xfrm>
            <a:prstGeom prst="rect">
              <a:avLst/>
            </a:prstGeom>
            <a:noFill/>
            <a:ln w="9525">
              <a:noFill/>
              <a:miter lim="800000"/>
              <a:headEnd/>
              <a:tailEnd/>
            </a:ln>
          </p:spPr>
          <p:txBody>
            <a:bodyPr lIns="86235" tIns="42387" rIns="86235" bIns="42387">
              <a:prstTxWarp prst="textNoShape">
                <a:avLst/>
              </a:prstTxWarp>
              <a:spAutoFit/>
            </a:bodyPr>
            <a:lstStyle/>
            <a:p>
              <a:pPr defTabSz="850900">
                <a:lnSpc>
                  <a:spcPct val="100000"/>
                </a:lnSpc>
                <a:spcBef>
                  <a:spcPct val="50000"/>
                </a:spcBef>
              </a:pPr>
              <a:r>
                <a:rPr lang="en-GB" sz="1700" b="1"/>
                <a:t>Forwarder</a:t>
              </a:r>
            </a:p>
          </p:txBody>
        </p:sp>
        <p:sp>
          <p:nvSpPr>
            <p:cNvPr id="165902" name="Freeform 14"/>
            <p:cNvSpPr>
              <a:spLocks/>
            </p:cNvSpPr>
            <p:nvPr/>
          </p:nvSpPr>
          <p:spPr bwMode="auto">
            <a:xfrm>
              <a:off x="497" y="1393"/>
              <a:ext cx="1295" cy="289"/>
            </a:xfrm>
            <a:custGeom>
              <a:avLst/>
              <a:gdLst/>
              <a:ahLst/>
              <a:cxnLst>
                <a:cxn ang="0">
                  <a:pos x="163" y="0"/>
                </a:cxn>
                <a:cxn ang="0">
                  <a:pos x="0" y="145"/>
                </a:cxn>
                <a:cxn ang="0">
                  <a:pos x="163" y="291"/>
                </a:cxn>
                <a:cxn ang="0">
                  <a:pos x="1314" y="291"/>
                </a:cxn>
                <a:cxn ang="0">
                  <a:pos x="1478" y="145"/>
                </a:cxn>
                <a:cxn ang="0">
                  <a:pos x="1314" y="0"/>
                </a:cxn>
                <a:cxn ang="0">
                  <a:pos x="163" y="0"/>
                </a:cxn>
              </a:cxnLst>
              <a:rect l="0" t="0" r="r" b="b"/>
              <a:pathLst>
                <a:path w="1479" h="292">
                  <a:moveTo>
                    <a:pt x="163" y="0"/>
                  </a:moveTo>
                  <a:lnTo>
                    <a:pt x="0" y="145"/>
                  </a:lnTo>
                  <a:lnTo>
                    <a:pt x="163" y="291"/>
                  </a:lnTo>
                  <a:lnTo>
                    <a:pt x="1314" y="291"/>
                  </a:lnTo>
                  <a:lnTo>
                    <a:pt x="1478" y="145"/>
                  </a:lnTo>
                  <a:lnTo>
                    <a:pt x="1314" y="0"/>
                  </a:lnTo>
                  <a:lnTo>
                    <a:pt x="163" y="0"/>
                  </a:lnTo>
                </a:path>
              </a:pathLst>
            </a:custGeom>
            <a:solidFill>
              <a:schemeClr val="folHlink"/>
            </a:solidFill>
            <a:ln w="12700" cap="rnd" cmpd="sng">
              <a:solidFill>
                <a:schemeClr val="bg2"/>
              </a:solidFill>
              <a:prstDash val="solid"/>
              <a:round/>
              <a:headEnd/>
              <a:tailEnd/>
            </a:ln>
            <a:effectLst>
              <a:outerShdw dist="35921" dir="2700000" algn="ctr" rotWithShape="0">
                <a:schemeClr val="tx1"/>
              </a:outerShdw>
            </a:effectLst>
          </p:spPr>
          <p:txBody>
            <a:bodyPr/>
            <a:lstStyle/>
            <a:p>
              <a:pPr>
                <a:defRPr/>
              </a:pPr>
              <a:endParaRPr lang="en-US">
                <a:latin typeface="Arial" charset="0"/>
              </a:endParaRPr>
            </a:p>
          </p:txBody>
        </p:sp>
        <p:sp>
          <p:nvSpPr>
            <p:cNvPr id="12303" name="Rectangle 15"/>
            <p:cNvSpPr>
              <a:spLocks noChangeArrowheads="1"/>
            </p:cNvSpPr>
            <p:nvPr/>
          </p:nvSpPr>
          <p:spPr bwMode="auto">
            <a:xfrm>
              <a:off x="504" y="1410"/>
              <a:ext cx="1280" cy="284"/>
            </a:xfrm>
            <a:prstGeom prst="rect">
              <a:avLst/>
            </a:prstGeom>
            <a:noFill/>
            <a:ln w="9525">
              <a:noFill/>
              <a:miter lim="800000"/>
              <a:headEnd/>
              <a:tailEnd/>
            </a:ln>
          </p:spPr>
          <p:txBody>
            <a:bodyPr lIns="86235" tIns="42387" rIns="86235" bIns="42387">
              <a:prstTxWarp prst="textNoShape">
                <a:avLst/>
              </a:prstTxWarp>
              <a:spAutoFit/>
            </a:bodyPr>
            <a:lstStyle/>
            <a:p>
              <a:pPr defTabSz="850900">
                <a:lnSpc>
                  <a:spcPct val="100000"/>
                </a:lnSpc>
                <a:spcBef>
                  <a:spcPct val="50000"/>
                </a:spcBef>
              </a:pPr>
              <a:r>
                <a:rPr lang="en-GB" sz="1200" b="1"/>
                <a:t>Automatic Data Stream Classification</a:t>
              </a:r>
            </a:p>
          </p:txBody>
        </p:sp>
        <p:sp>
          <p:nvSpPr>
            <p:cNvPr id="12304" name="Rectangle 16"/>
            <p:cNvSpPr>
              <a:spLocks noChangeArrowheads="1"/>
            </p:cNvSpPr>
            <p:nvPr/>
          </p:nvSpPr>
          <p:spPr bwMode="auto">
            <a:xfrm>
              <a:off x="504" y="2818"/>
              <a:ext cx="1232" cy="217"/>
            </a:xfrm>
            <a:prstGeom prst="rect">
              <a:avLst/>
            </a:prstGeom>
            <a:noFill/>
            <a:ln w="9525">
              <a:noFill/>
              <a:miter lim="800000"/>
              <a:headEnd/>
              <a:tailEnd/>
            </a:ln>
          </p:spPr>
          <p:txBody>
            <a:bodyPr lIns="86235" tIns="42387" rIns="86235" bIns="42387">
              <a:prstTxWarp prst="textNoShape">
                <a:avLst/>
              </a:prstTxWarp>
              <a:spAutoFit/>
            </a:bodyPr>
            <a:lstStyle/>
            <a:p>
              <a:pPr defTabSz="850900">
                <a:lnSpc>
                  <a:spcPct val="100000"/>
                </a:lnSpc>
                <a:spcBef>
                  <a:spcPct val="50000"/>
                </a:spcBef>
              </a:pPr>
              <a:r>
                <a:rPr lang="en-GB" sz="1700" b="1"/>
                <a:t>Driver</a:t>
              </a:r>
            </a:p>
          </p:txBody>
        </p:sp>
        <p:sp>
          <p:nvSpPr>
            <p:cNvPr id="12305" name="Line 17"/>
            <p:cNvSpPr>
              <a:spLocks noChangeShapeType="1"/>
            </p:cNvSpPr>
            <p:nvPr/>
          </p:nvSpPr>
          <p:spPr bwMode="auto">
            <a:xfrm>
              <a:off x="977" y="3361"/>
              <a:ext cx="383" cy="0"/>
            </a:xfrm>
            <a:prstGeom prst="line">
              <a:avLst/>
            </a:prstGeom>
            <a:noFill/>
            <a:ln w="25400">
              <a:solidFill>
                <a:schemeClr val="tx1"/>
              </a:solidFill>
              <a:round/>
              <a:headEnd type="none" w="sm" len="sm"/>
              <a:tailEnd type="none" w="sm" len="sm"/>
            </a:ln>
          </p:spPr>
          <p:txBody>
            <a:bodyPr wrap="none" anchor="ctr">
              <a:prstTxWarp prst="textNoShape">
                <a:avLst/>
              </a:prstTxWarp>
            </a:bodyPr>
            <a:lstStyle/>
            <a:p>
              <a:endParaRPr lang="en-US"/>
            </a:p>
          </p:txBody>
        </p:sp>
        <p:sp>
          <p:nvSpPr>
            <p:cNvPr id="12306" name="Line 18"/>
            <p:cNvSpPr>
              <a:spLocks noChangeShapeType="1"/>
            </p:cNvSpPr>
            <p:nvPr/>
          </p:nvSpPr>
          <p:spPr bwMode="auto">
            <a:xfrm flipV="1">
              <a:off x="1169" y="2449"/>
              <a:ext cx="0" cy="336"/>
            </a:xfrm>
            <a:prstGeom prst="line">
              <a:avLst/>
            </a:prstGeom>
            <a:noFill/>
            <a:ln w="25400">
              <a:solidFill>
                <a:schemeClr val="tx1"/>
              </a:solidFill>
              <a:round/>
              <a:headEnd type="stealth" w="med" len="lg"/>
              <a:tailEnd type="none" w="sm" len="sm"/>
            </a:ln>
          </p:spPr>
          <p:txBody>
            <a:bodyPr wrap="none" anchor="ctr">
              <a:prstTxWarp prst="textNoShape">
                <a:avLst/>
              </a:prstTxWarp>
            </a:bodyPr>
            <a:lstStyle/>
            <a:p>
              <a:endParaRPr lang="en-US"/>
            </a:p>
          </p:txBody>
        </p:sp>
        <p:sp>
          <p:nvSpPr>
            <p:cNvPr id="12307" name="Line 19"/>
            <p:cNvSpPr>
              <a:spLocks noChangeShapeType="1"/>
            </p:cNvSpPr>
            <p:nvPr/>
          </p:nvSpPr>
          <p:spPr bwMode="auto">
            <a:xfrm flipV="1">
              <a:off x="737" y="2209"/>
              <a:ext cx="0" cy="288"/>
            </a:xfrm>
            <a:prstGeom prst="line">
              <a:avLst/>
            </a:prstGeom>
            <a:noFill/>
            <a:ln w="25400">
              <a:solidFill>
                <a:schemeClr val="tx1"/>
              </a:solidFill>
              <a:round/>
              <a:headEnd type="none" w="sm" len="sm"/>
              <a:tailEnd type="none" w="sm" len="sm"/>
            </a:ln>
          </p:spPr>
          <p:txBody>
            <a:bodyPr wrap="none" anchor="ctr">
              <a:prstTxWarp prst="textNoShape">
                <a:avLst/>
              </a:prstTxWarp>
            </a:bodyPr>
            <a:lstStyle/>
            <a:p>
              <a:endParaRPr lang="en-US"/>
            </a:p>
          </p:txBody>
        </p:sp>
        <p:sp>
          <p:nvSpPr>
            <p:cNvPr id="12308" name="Line 20"/>
            <p:cNvSpPr>
              <a:spLocks noChangeShapeType="1"/>
            </p:cNvSpPr>
            <p:nvPr/>
          </p:nvSpPr>
          <p:spPr bwMode="auto">
            <a:xfrm flipV="1">
              <a:off x="1600" y="2209"/>
              <a:ext cx="0" cy="288"/>
            </a:xfrm>
            <a:prstGeom prst="line">
              <a:avLst/>
            </a:prstGeom>
            <a:noFill/>
            <a:ln w="25400">
              <a:solidFill>
                <a:schemeClr val="tx1"/>
              </a:solidFill>
              <a:round/>
              <a:headEnd type="none" w="sm" len="sm"/>
              <a:tailEnd type="none" w="sm" len="sm"/>
            </a:ln>
          </p:spPr>
          <p:txBody>
            <a:bodyPr wrap="none" anchor="ctr">
              <a:prstTxWarp prst="textNoShape">
                <a:avLst/>
              </a:prstTxWarp>
            </a:bodyPr>
            <a:lstStyle/>
            <a:p>
              <a:endParaRPr lang="en-US"/>
            </a:p>
          </p:txBody>
        </p:sp>
        <p:sp>
          <p:nvSpPr>
            <p:cNvPr id="165909" name="AutoShape 21"/>
            <p:cNvSpPr>
              <a:spLocks noChangeArrowheads="1"/>
            </p:cNvSpPr>
            <p:nvPr/>
          </p:nvSpPr>
          <p:spPr bwMode="auto">
            <a:xfrm>
              <a:off x="594" y="2357"/>
              <a:ext cx="1146" cy="184"/>
            </a:xfrm>
            <a:prstGeom prst="roundRect">
              <a:avLst>
                <a:gd name="adj" fmla="val 49995"/>
              </a:avLst>
            </a:prstGeom>
            <a:solidFill>
              <a:schemeClr val="folHlink"/>
            </a:solidFill>
            <a:ln w="12700">
              <a:solidFill>
                <a:schemeClr val="tx1"/>
              </a:solidFill>
              <a:round/>
              <a:headEnd/>
              <a:tailEnd/>
            </a:ln>
            <a:effectLst>
              <a:outerShdw dist="35921" dir="2700000" algn="ctr" rotWithShape="0">
                <a:schemeClr val="tx1"/>
              </a:outerShdw>
            </a:effectLst>
          </p:spPr>
          <p:txBody>
            <a:bodyPr wrap="none" anchor="ctr"/>
            <a:lstStyle/>
            <a:p>
              <a:pPr>
                <a:defRPr/>
              </a:pPr>
              <a:endParaRPr lang="en-US">
                <a:latin typeface="Arial" charset="0"/>
              </a:endParaRPr>
            </a:p>
          </p:txBody>
        </p:sp>
        <p:sp>
          <p:nvSpPr>
            <p:cNvPr id="12310" name="Line 22"/>
            <p:cNvSpPr>
              <a:spLocks noChangeShapeType="1"/>
            </p:cNvSpPr>
            <p:nvPr/>
          </p:nvSpPr>
          <p:spPr bwMode="auto">
            <a:xfrm>
              <a:off x="591" y="2017"/>
              <a:ext cx="289" cy="0"/>
            </a:xfrm>
            <a:prstGeom prst="line">
              <a:avLst/>
            </a:prstGeom>
            <a:noFill/>
            <a:ln w="25400">
              <a:solidFill>
                <a:schemeClr val="bg2"/>
              </a:solidFill>
              <a:round/>
              <a:headEnd type="none" w="sm" len="sm"/>
              <a:tailEnd type="none" w="sm" len="sm"/>
            </a:ln>
          </p:spPr>
          <p:txBody>
            <a:bodyPr wrap="none" anchor="ctr">
              <a:prstTxWarp prst="textNoShape">
                <a:avLst/>
              </a:prstTxWarp>
            </a:bodyPr>
            <a:lstStyle/>
            <a:p>
              <a:endParaRPr lang="en-US"/>
            </a:p>
          </p:txBody>
        </p:sp>
        <p:sp>
          <p:nvSpPr>
            <p:cNvPr id="12311" name="Line 23"/>
            <p:cNvSpPr>
              <a:spLocks noChangeShapeType="1"/>
            </p:cNvSpPr>
            <p:nvPr/>
          </p:nvSpPr>
          <p:spPr bwMode="auto">
            <a:xfrm>
              <a:off x="591" y="2201"/>
              <a:ext cx="289" cy="0"/>
            </a:xfrm>
            <a:prstGeom prst="line">
              <a:avLst/>
            </a:prstGeom>
            <a:noFill/>
            <a:ln w="25400">
              <a:solidFill>
                <a:schemeClr val="bg2"/>
              </a:solidFill>
              <a:round/>
              <a:headEnd type="none" w="sm" len="sm"/>
              <a:tailEnd type="none" w="sm" len="sm"/>
            </a:ln>
          </p:spPr>
          <p:txBody>
            <a:bodyPr wrap="none" anchor="ctr">
              <a:prstTxWarp prst="textNoShape">
                <a:avLst/>
              </a:prstTxWarp>
            </a:bodyPr>
            <a:lstStyle/>
            <a:p>
              <a:endParaRPr lang="en-US"/>
            </a:p>
          </p:txBody>
        </p:sp>
        <p:sp>
          <p:nvSpPr>
            <p:cNvPr id="12312" name="Line 24"/>
            <p:cNvSpPr>
              <a:spLocks noChangeShapeType="1"/>
            </p:cNvSpPr>
            <p:nvPr/>
          </p:nvSpPr>
          <p:spPr bwMode="auto">
            <a:xfrm>
              <a:off x="1023" y="2017"/>
              <a:ext cx="288" cy="0"/>
            </a:xfrm>
            <a:prstGeom prst="line">
              <a:avLst/>
            </a:prstGeom>
            <a:noFill/>
            <a:ln w="25400">
              <a:solidFill>
                <a:schemeClr val="bg2"/>
              </a:solidFill>
              <a:round/>
              <a:headEnd type="none" w="sm" len="sm"/>
              <a:tailEnd type="none" w="sm" len="sm"/>
            </a:ln>
          </p:spPr>
          <p:txBody>
            <a:bodyPr wrap="none" anchor="ctr">
              <a:prstTxWarp prst="textNoShape">
                <a:avLst/>
              </a:prstTxWarp>
            </a:bodyPr>
            <a:lstStyle/>
            <a:p>
              <a:endParaRPr lang="en-US"/>
            </a:p>
          </p:txBody>
        </p:sp>
        <p:sp>
          <p:nvSpPr>
            <p:cNvPr id="12313" name="Line 25"/>
            <p:cNvSpPr>
              <a:spLocks noChangeShapeType="1"/>
            </p:cNvSpPr>
            <p:nvPr/>
          </p:nvSpPr>
          <p:spPr bwMode="auto">
            <a:xfrm>
              <a:off x="1023" y="2201"/>
              <a:ext cx="288" cy="0"/>
            </a:xfrm>
            <a:prstGeom prst="line">
              <a:avLst/>
            </a:prstGeom>
            <a:noFill/>
            <a:ln w="25400">
              <a:solidFill>
                <a:schemeClr val="bg2"/>
              </a:solidFill>
              <a:round/>
              <a:headEnd type="none" w="sm" len="sm"/>
              <a:tailEnd type="none" w="sm" len="sm"/>
            </a:ln>
          </p:spPr>
          <p:txBody>
            <a:bodyPr wrap="none" anchor="ctr">
              <a:prstTxWarp prst="textNoShape">
                <a:avLst/>
              </a:prstTxWarp>
            </a:bodyPr>
            <a:lstStyle/>
            <a:p>
              <a:endParaRPr lang="en-US"/>
            </a:p>
          </p:txBody>
        </p:sp>
        <p:sp>
          <p:nvSpPr>
            <p:cNvPr id="12314" name="Line 26"/>
            <p:cNvSpPr>
              <a:spLocks noChangeShapeType="1"/>
            </p:cNvSpPr>
            <p:nvPr/>
          </p:nvSpPr>
          <p:spPr bwMode="auto">
            <a:xfrm>
              <a:off x="1457" y="2017"/>
              <a:ext cx="286" cy="0"/>
            </a:xfrm>
            <a:prstGeom prst="line">
              <a:avLst/>
            </a:prstGeom>
            <a:noFill/>
            <a:ln w="25400">
              <a:solidFill>
                <a:schemeClr val="bg2"/>
              </a:solidFill>
              <a:round/>
              <a:headEnd type="none" w="sm" len="sm"/>
              <a:tailEnd type="none" w="sm" len="sm"/>
            </a:ln>
          </p:spPr>
          <p:txBody>
            <a:bodyPr wrap="none" anchor="ctr">
              <a:prstTxWarp prst="textNoShape">
                <a:avLst/>
              </a:prstTxWarp>
            </a:bodyPr>
            <a:lstStyle/>
            <a:p>
              <a:endParaRPr lang="en-US"/>
            </a:p>
          </p:txBody>
        </p:sp>
        <p:sp>
          <p:nvSpPr>
            <p:cNvPr id="12315" name="Line 27"/>
            <p:cNvSpPr>
              <a:spLocks noChangeShapeType="1"/>
            </p:cNvSpPr>
            <p:nvPr/>
          </p:nvSpPr>
          <p:spPr bwMode="auto">
            <a:xfrm>
              <a:off x="1457" y="2201"/>
              <a:ext cx="286" cy="0"/>
            </a:xfrm>
            <a:prstGeom prst="line">
              <a:avLst/>
            </a:prstGeom>
            <a:noFill/>
            <a:ln w="25400">
              <a:solidFill>
                <a:schemeClr val="bg2"/>
              </a:solidFill>
              <a:round/>
              <a:headEnd type="none" w="sm" len="sm"/>
              <a:tailEnd type="none" w="sm" len="sm"/>
            </a:ln>
          </p:spPr>
          <p:txBody>
            <a:bodyPr wrap="none" anchor="ctr">
              <a:prstTxWarp prst="textNoShape">
                <a:avLst/>
              </a:prstTxWarp>
            </a:bodyPr>
            <a:lstStyle/>
            <a:p>
              <a:endParaRPr lang="en-US"/>
            </a:p>
          </p:txBody>
        </p:sp>
        <p:sp>
          <p:nvSpPr>
            <p:cNvPr id="12316" name="Freeform 28"/>
            <p:cNvSpPr>
              <a:spLocks/>
            </p:cNvSpPr>
            <p:nvPr/>
          </p:nvSpPr>
          <p:spPr bwMode="auto">
            <a:xfrm>
              <a:off x="929" y="2209"/>
              <a:ext cx="240" cy="145"/>
            </a:xfrm>
            <a:custGeom>
              <a:avLst/>
              <a:gdLst>
                <a:gd name="T0" fmla="*/ 274 w 275"/>
                <a:gd name="T1" fmla="*/ 0 h 147"/>
                <a:gd name="T2" fmla="*/ 274 w 275"/>
                <a:gd name="T3" fmla="*/ 146 h 147"/>
                <a:gd name="T4" fmla="*/ 0 w 275"/>
                <a:gd name="T5" fmla="*/ 146 h 147"/>
                <a:gd name="T6" fmla="*/ 0 60000 65536"/>
                <a:gd name="T7" fmla="*/ 0 60000 65536"/>
                <a:gd name="T8" fmla="*/ 0 60000 65536"/>
                <a:gd name="T9" fmla="*/ 0 w 275"/>
                <a:gd name="T10" fmla="*/ 0 h 147"/>
                <a:gd name="T11" fmla="*/ 275 w 275"/>
                <a:gd name="T12" fmla="*/ 147 h 147"/>
              </a:gdLst>
              <a:ahLst/>
              <a:cxnLst>
                <a:cxn ang="T6">
                  <a:pos x="T0" y="T1"/>
                </a:cxn>
                <a:cxn ang="T7">
                  <a:pos x="T2" y="T3"/>
                </a:cxn>
                <a:cxn ang="T8">
                  <a:pos x="T4" y="T5"/>
                </a:cxn>
              </a:cxnLst>
              <a:rect l="T9" t="T10" r="T11" b="T12"/>
              <a:pathLst>
                <a:path w="275" h="147">
                  <a:moveTo>
                    <a:pt x="274" y="0"/>
                  </a:moveTo>
                  <a:lnTo>
                    <a:pt x="274" y="146"/>
                  </a:lnTo>
                  <a:lnTo>
                    <a:pt x="0" y="146"/>
                  </a:lnTo>
                </a:path>
              </a:pathLst>
            </a:custGeom>
            <a:noFill/>
            <a:ln w="50800" cap="rnd">
              <a:solidFill>
                <a:schemeClr val="tx1"/>
              </a:solidFill>
              <a:round/>
              <a:headEnd type="none" w="sm" len="sm"/>
              <a:tailEnd type="stealth" w="med" len="lg"/>
            </a:ln>
          </p:spPr>
          <p:txBody>
            <a:bodyPr>
              <a:prstTxWarp prst="textNoShape">
                <a:avLst/>
              </a:prstTxWarp>
            </a:bodyPr>
            <a:lstStyle/>
            <a:p>
              <a:endParaRPr lang="en-US"/>
            </a:p>
          </p:txBody>
        </p:sp>
      </p:gr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title"/>
          </p:nvPr>
        </p:nvSpPr>
        <p:spPr/>
        <p:txBody>
          <a:bodyPr/>
          <a:lstStyle/>
          <a:p>
            <a:pPr eaLnBrk="1" hangingPunct="1"/>
            <a:r>
              <a:rPr lang="en-GB">
                <a:solidFill>
                  <a:schemeClr val="folHlink"/>
                </a:solidFill>
              </a:rPr>
              <a:t>Fair-Queuing</a:t>
            </a:r>
            <a:endParaRPr lang="en-US">
              <a:solidFill>
                <a:schemeClr val="folHlink"/>
              </a:solidFill>
            </a:endParaRPr>
          </a:p>
        </p:txBody>
      </p:sp>
      <p:sp>
        <p:nvSpPr>
          <p:cNvPr id="13315" name="Rectangle 4"/>
          <p:cNvSpPr>
            <a:spLocks noGrp="1" noChangeArrowheads="1"/>
          </p:cNvSpPr>
          <p:nvPr>
            <p:ph idx="1"/>
          </p:nvPr>
        </p:nvSpPr>
        <p:spPr>
          <a:xfrm>
            <a:off x="2063751" y="1484314"/>
            <a:ext cx="7940675" cy="4681537"/>
          </a:xfrm>
        </p:spPr>
        <p:txBody>
          <a:bodyPr/>
          <a:lstStyle/>
          <a:p>
            <a:pPr>
              <a:lnSpc>
                <a:spcPct val="85000"/>
              </a:lnSpc>
            </a:pPr>
            <a:r>
              <a:rPr lang="en-GB"/>
              <a:t>In practice there is a </a:t>
            </a:r>
            <a:r>
              <a:rPr lang="en-GB">
                <a:solidFill>
                  <a:schemeClr val="folHlink"/>
                </a:solidFill>
              </a:rPr>
              <a:t>per packet</a:t>
            </a:r>
            <a:r>
              <a:rPr lang="en-GB"/>
              <a:t> scheduling (not bit-wise)</a:t>
            </a:r>
          </a:p>
          <a:p>
            <a:pPr>
              <a:lnSpc>
                <a:spcPct val="85000"/>
              </a:lnSpc>
            </a:pPr>
            <a:r>
              <a:rPr lang="en-GB"/>
              <a:t>The objective is to achieve a per packet scheduling as close to the bit-wise fair-queuing as possible</a:t>
            </a:r>
          </a:p>
          <a:p>
            <a:pPr>
              <a:lnSpc>
                <a:spcPct val="85000"/>
              </a:lnSpc>
            </a:pPr>
            <a:r>
              <a:rPr lang="en-GB"/>
              <a:t>Results in each flow getting its fair share of the bandwidth without being starved out (as happens with FIFO)</a:t>
            </a:r>
          </a:p>
          <a:p>
            <a:pPr>
              <a:lnSpc>
                <a:spcPct val="85000"/>
              </a:lnSpc>
            </a:pPr>
            <a:r>
              <a:rPr lang="en-US"/>
              <a:t>There are </a:t>
            </a:r>
            <a:r>
              <a:rPr lang="en-US">
                <a:solidFill>
                  <a:schemeClr val="folHlink"/>
                </a:solidFill>
              </a:rPr>
              <a:t>multiple</a:t>
            </a:r>
            <a:r>
              <a:rPr lang="en-US">
                <a:solidFill>
                  <a:srgbClr val="FF3300"/>
                </a:solidFill>
              </a:rPr>
              <a:t> </a:t>
            </a:r>
            <a:r>
              <a:rPr lang="en-US"/>
              <a:t>implementations of WFQ: Flow-based WFQ (WFQ), Distributed WFQ (DWFQ), Class-based WFQ (CBWFQ), Distributed class-based WFQ (DCBWFQ), PXF-based WFQ,…</a:t>
            </a:r>
            <a:endParaRPr lang="en-US">
              <a:sym typeface="Wingdings" pitchFamily="1" charset="2"/>
            </a:endParaRPr>
          </a:p>
          <a:p>
            <a:pPr>
              <a:lnSpc>
                <a:spcPct val="85000"/>
              </a:lnSpc>
            </a:pPr>
            <a:endParaRPr lang="en-US"/>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GB">
                <a:solidFill>
                  <a:schemeClr val="folHlink"/>
                </a:solidFill>
              </a:rPr>
              <a:t>Example</a:t>
            </a:r>
          </a:p>
        </p:txBody>
      </p:sp>
      <p:sp>
        <p:nvSpPr>
          <p:cNvPr id="14339" name="Line 3"/>
          <p:cNvSpPr>
            <a:spLocks noChangeShapeType="1"/>
          </p:cNvSpPr>
          <p:nvPr/>
        </p:nvSpPr>
        <p:spPr bwMode="auto">
          <a:xfrm flipH="1">
            <a:off x="2359025" y="5748339"/>
            <a:ext cx="6764338" cy="1587"/>
          </a:xfrm>
          <a:prstGeom prst="line">
            <a:avLst/>
          </a:prstGeom>
          <a:noFill/>
          <a:ln w="9525">
            <a:solidFill>
              <a:srgbClr val="000000"/>
            </a:solidFill>
            <a:round/>
            <a:headEnd/>
            <a:tailEnd/>
          </a:ln>
        </p:spPr>
        <p:txBody>
          <a:bodyPr>
            <a:prstTxWarp prst="textNoShape">
              <a:avLst/>
            </a:prstTxWarp>
          </a:bodyPr>
          <a:lstStyle/>
          <a:p>
            <a:endParaRPr lang="en-US"/>
          </a:p>
        </p:txBody>
      </p:sp>
      <p:sp>
        <p:nvSpPr>
          <p:cNvPr id="14340" name="Freeform 4"/>
          <p:cNvSpPr>
            <a:spLocks/>
          </p:cNvSpPr>
          <p:nvPr/>
        </p:nvSpPr>
        <p:spPr bwMode="auto">
          <a:xfrm>
            <a:off x="2273300" y="5683251"/>
            <a:ext cx="114300" cy="125413"/>
          </a:xfrm>
          <a:custGeom>
            <a:avLst/>
            <a:gdLst>
              <a:gd name="T0" fmla="*/ 129 w 129"/>
              <a:gd name="T1" fmla="*/ 113 h 113"/>
              <a:gd name="T2" fmla="*/ 129 w 129"/>
              <a:gd name="T3" fmla="*/ 0 h 113"/>
              <a:gd name="T4" fmla="*/ 0 w 129"/>
              <a:gd name="T5" fmla="*/ 58 h 113"/>
              <a:gd name="T6" fmla="*/ 129 w 129"/>
              <a:gd name="T7" fmla="*/ 113 h 113"/>
              <a:gd name="T8" fmla="*/ 0 60000 65536"/>
              <a:gd name="T9" fmla="*/ 0 60000 65536"/>
              <a:gd name="T10" fmla="*/ 0 60000 65536"/>
              <a:gd name="T11" fmla="*/ 0 60000 65536"/>
              <a:gd name="T12" fmla="*/ 0 w 129"/>
              <a:gd name="T13" fmla="*/ 0 h 113"/>
              <a:gd name="T14" fmla="*/ 129 w 129"/>
              <a:gd name="T15" fmla="*/ 113 h 113"/>
            </a:gdLst>
            <a:ahLst/>
            <a:cxnLst>
              <a:cxn ang="T8">
                <a:pos x="T0" y="T1"/>
              </a:cxn>
              <a:cxn ang="T9">
                <a:pos x="T2" y="T3"/>
              </a:cxn>
              <a:cxn ang="T10">
                <a:pos x="T4" y="T5"/>
              </a:cxn>
              <a:cxn ang="T11">
                <a:pos x="T6" y="T7"/>
              </a:cxn>
            </a:cxnLst>
            <a:rect l="T12" t="T13" r="T14" b="T15"/>
            <a:pathLst>
              <a:path w="129" h="113">
                <a:moveTo>
                  <a:pt x="129" y="113"/>
                </a:moveTo>
                <a:lnTo>
                  <a:pt x="129" y="0"/>
                </a:lnTo>
                <a:lnTo>
                  <a:pt x="0" y="58"/>
                </a:lnTo>
                <a:lnTo>
                  <a:pt x="129" y="113"/>
                </a:lnTo>
                <a:close/>
              </a:path>
            </a:pathLst>
          </a:custGeom>
          <a:solidFill>
            <a:srgbClr val="000000"/>
          </a:solidFill>
          <a:ln w="1588">
            <a:solidFill>
              <a:srgbClr val="000000"/>
            </a:solidFill>
            <a:round/>
            <a:headEnd/>
            <a:tailEnd/>
          </a:ln>
        </p:spPr>
        <p:txBody>
          <a:bodyPr>
            <a:prstTxWarp prst="textNoShape">
              <a:avLst/>
            </a:prstTxWarp>
          </a:bodyPr>
          <a:lstStyle/>
          <a:p>
            <a:endParaRPr lang="en-US"/>
          </a:p>
        </p:txBody>
      </p:sp>
      <p:sp>
        <p:nvSpPr>
          <p:cNvPr id="14341" name="Line 5"/>
          <p:cNvSpPr>
            <a:spLocks noChangeShapeType="1"/>
          </p:cNvSpPr>
          <p:nvPr/>
        </p:nvSpPr>
        <p:spPr bwMode="auto">
          <a:xfrm flipH="1">
            <a:off x="2359025" y="4183064"/>
            <a:ext cx="6764338" cy="1587"/>
          </a:xfrm>
          <a:prstGeom prst="line">
            <a:avLst/>
          </a:prstGeom>
          <a:noFill/>
          <a:ln w="9525">
            <a:solidFill>
              <a:srgbClr val="000000"/>
            </a:solidFill>
            <a:round/>
            <a:headEnd/>
            <a:tailEnd/>
          </a:ln>
        </p:spPr>
        <p:txBody>
          <a:bodyPr>
            <a:prstTxWarp prst="textNoShape">
              <a:avLst/>
            </a:prstTxWarp>
          </a:bodyPr>
          <a:lstStyle/>
          <a:p>
            <a:endParaRPr lang="en-US"/>
          </a:p>
        </p:txBody>
      </p:sp>
      <p:sp>
        <p:nvSpPr>
          <p:cNvPr id="14342" name="Freeform 6"/>
          <p:cNvSpPr>
            <a:spLocks/>
          </p:cNvSpPr>
          <p:nvPr/>
        </p:nvSpPr>
        <p:spPr bwMode="auto">
          <a:xfrm>
            <a:off x="2273300" y="4121150"/>
            <a:ext cx="114300" cy="120650"/>
          </a:xfrm>
          <a:custGeom>
            <a:avLst/>
            <a:gdLst>
              <a:gd name="T0" fmla="*/ 129 w 129"/>
              <a:gd name="T1" fmla="*/ 111 h 111"/>
              <a:gd name="T2" fmla="*/ 129 w 129"/>
              <a:gd name="T3" fmla="*/ 0 h 111"/>
              <a:gd name="T4" fmla="*/ 0 w 129"/>
              <a:gd name="T5" fmla="*/ 55 h 111"/>
              <a:gd name="T6" fmla="*/ 129 w 129"/>
              <a:gd name="T7" fmla="*/ 111 h 111"/>
              <a:gd name="T8" fmla="*/ 0 60000 65536"/>
              <a:gd name="T9" fmla="*/ 0 60000 65536"/>
              <a:gd name="T10" fmla="*/ 0 60000 65536"/>
              <a:gd name="T11" fmla="*/ 0 60000 65536"/>
              <a:gd name="T12" fmla="*/ 0 w 129"/>
              <a:gd name="T13" fmla="*/ 0 h 111"/>
              <a:gd name="T14" fmla="*/ 129 w 129"/>
              <a:gd name="T15" fmla="*/ 111 h 111"/>
            </a:gdLst>
            <a:ahLst/>
            <a:cxnLst>
              <a:cxn ang="T8">
                <a:pos x="T0" y="T1"/>
              </a:cxn>
              <a:cxn ang="T9">
                <a:pos x="T2" y="T3"/>
              </a:cxn>
              <a:cxn ang="T10">
                <a:pos x="T4" y="T5"/>
              </a:cxn>
              <a:cxn ang="T11">
                <a:pos x="T6" y="T7"/>
              </a:cxn>
            </a:cxnLst>
            <a:rect l="T12" t="T13" r="T14" b="T15"/>
            <a:pathLst>
              <a:path w="129" h="111">
                <a:moveTo>
                  <a:pt x="129" y="111"/>
                </a:moveTo>
                <a:lnTo>
                  <a:pt x="129" y="0"/>
                </a:lnTo>
                <a:lnTo>
                  <a:pt x="0" y="55"/>
                </a:lnTo>
                <a:lnTo>
                  <a:pt x="129" y="111"/>
                </a:lnTo>
                <a:close/>
              </a:path>
            </a:pathLst>
          </a:custGeom>
          <a:solidFill>
            <a:srgbClr val="000000"/>
          </a:solidFill>
          <a:ln w="1588">
            <a:solidFill>
              <a:srgbClr val="000000"/>
            </a:solidFill>
            <a:round/>
            <a:headEnd/>
            <a:tailEnd/>
          </a:ln>
        </p:spPr>
        <p:txBody>
          <a:bodyPr>
            <a:prstTxWarp prst="textNoShape">
              <a:avLst/>
            </a:prstTxWarp>
          </a:bodyPr>
          <a:lstStyle/>
          <a:p>
            <a:endParaRPr lang="en-US"/>
          </a:p>
        </p:txBody>
      </p:sp>
      <p:sp>
        <p:nvSpPr>
          <p:cNvPr id="14343" name="Line 7"/>
          <p:cNvSpPr>
            <a:spLocks noChangeShapeType="1"/>
          </p:cNvSpPr>
          <p:nvPr/>
        </p:nvSpPr>
        <p:spPr bwMode="auto">
          <a:xfrm>
            <a:off x="9123364" y="4084638"/>
            <a:ext cx="1587" cy="195262"/>
          </a:xfrm>
          <a:prstGeom prst="line">
            <a:avLst/>
          </a:prstGeom>
          <a:noFill/>
          <a:ln w="12700">
            <a:solidFill>
              <a:srgbClr val="000000"/>
            </a:solidFill>
            <a:round/>
            <a:headEnd/>
            <a:tailEnd/>
          </a:ln>
        </p:spPr>
        <p:txBody>
          <a:bodyPr>
            <a:prstTxWarp prst="textNoShape">
              <a:avLst/>
            </a:prstTxWarp>
          </a:bodyPr>
          <a:lstStyle/>
          <a:p>
            <a:endParaRPr lang="en-US"/>
          </a:p>
        </p:txBody>
      </p:sp>
      <p:sp>
        <p:nvSpPr>
          <p:cNvPr id="14344" name="Line 8"/>
          <p:cNvSpPr>
            <a:spLocks noChangeShapeType="1"/>
          </p:cNvSpPr>
          <p:nvPr/>
        </p:nvSpPr>
        <p:spPr bwMode="auto">
          <a:xfrm>
            <a:off x="8075614" y="4084638"/>
            <a:ext cx="1587" cy="195262"/>
          </a:xfrm>
          <a:prstGeom prst="line">
            <a:avLst/>
          </a:prstGeom>
          <a:noFill/>
          <a:ln w="12700">
            <a:solidFill>
              <a:srgbClr val="000000"/>
            </a:solidFill>
            <a:round/>
            <a:headEnd/>
            <a:tailEnd/>
          </a:ln>
        </p:spPr>
        <p:txBody>
          <a:bodyPr>
            <a:prstTxWarp prst="textNoShape">
              <a:avLst/>
            </a:prstTxWarp>
          </a:bodyPr>
          <a:lstStyle/>
          <a:p>
            <a:endParaRPr lang="en-US"/>
          </a:p>
        </p:txBody>
      </p:sp>
      <p:sp>
        <p:nvSpPr>
          <p:cNvPr id="14345" name="Line 9"/>
          <p:cNvSpPr>
            <a:spLocks noChangeShapeType="1"/>
          </p:cNvSpPr>
          <p:nvPr/>
        </p:nvSpPr>
        <p:spPr bwMode="auto">
          <a:xfrm>
            <a:off x="7753350" y="4084638"/>
            <a:ext cx="1588" cy="195262"/>
          </a:xfrm>
          <a:prstGeom prst="line">
            <a:avLst/>
          </a:prstGeom>
          <a:noFill/>
          <a:ln w="12700">
            <a:solidFill>
              <a:srgbClr val="000000"/>
            </a:solidFill>
            <a:round/>
            <a:headEnd/>
            <a:tailEnd/>
          </a:ln>
        </p:spPr>
        <p:txBody>
          <a:bodyPr>
            <a:prstTxWarp prst="textNoShape">
              <a:avLst/>
            </a:prstTxWarp>
          </a:bodyPr>
          <a:lstStyle/>
          <a:p>
            <a:endParaRPr lang="en-US"/>
          </a:p>
        </p:txBody>
      </p:sp>
      <p:sp>
        <p:nvSpPr>
          <p:cNvPr id="14346" name="Line 10"/>
          <p:cNvSpPr>
            <a:spLocks noChangeShapeType="1"/>
          </p:cNvSpPr>
          <p:nvPr/>
        </p:nvSpPr>
        <p:spPr bwMode="auto">
          <a:xfrm>
            <a:off x="7431089" y="4084638"/>
            <a:ext cx="1587" cy="195262"/>
          </a:xfrm>
          <a:prstGeom prst="line">
            <a:avLst/>
          </a:prstGeom>
          <a:noFill/>
          <a:ln w="12700">
            <a:solidFill>
              <a:srgbClr val="000000"/>
            </a:solidFill>
            <a:round/>
            <a:headEnd/>
            <a:tailEnd/>
          </a:ln>
        </p:spPr>
        <p:txBody>
          <a:bodyPr>
            <a:prstTxWarp prst="textNoShape">
              <a:avLst/>
            </a:prstTxWarp>
          </a:bodyPr>
          <a:lstStyle/>
          <a:p>
            <a:endParaRPr lang="en-US"/>
          </a:p>
        </p:txBody>
      </p:sp>
      <p:sp>
        <p:nvSpPr>
          <p:cNvPr id="14347" name="Line 11"/>
          <p:cNvSpPr>
            <a:spLocks noChangeShapeType="1"/>
          </p:cNvSpPr>
          <p:nvPr/>
        </p:nvSpPr>
        <p:spPr bwMode="auto">
          <a:xfrm>
            <a:off x="6788150" y="4084638"/>
            <a:ext cx="1588" cy="195262"/>
          </a:xfrm>
          <a:prstGeom prst="line">
            <a:avLst/>
          </a:prstGeom>
          <a:noFill/>
          <a:ln w="12700">
            <a:solidFill>
              <a:srgbClr val="000000"/>
            </a:solidFill>
            <a:round/>
            <a:headEnd/>
            <a:tailEnd/>
          </a:ln>
        </p:spPr>
        <p:txBody>
          <a:bodyPr>
            <a:prstTxWarp prst="textNoShape">
              <a:avLst/>
            </a:prstTxWarp>
          </a:bodyPr>
          <a:lstStyle/>
          <a:p>
            <a:endParaRPr lang="en-US"/>
          </a:p>
        </p:txBody>
      </p:sp>
      <p:grpSp>
        <p:nvGrpSpPr>
          <p:cNvPr id="2" name="Group 12"/>
          <p:cNvGrpSpPr>
            <a:grpSpLocks/>
          </p:cNvGrpSpPr>
          <p:nvPr/>
        </p:nvGrpSpPr>
        <p:grpSpPr bwMode="auto">
          <a:xfrm>
            <a:off x="1952626" y="3400426"/>
            <a:ext cx="4837113" cy="296863"/>
            <a:chOff x="240" y="1905"/>
            <a:chExt cx="2709" cy="166"/>
          </a:xfrm>
        </p:grpSpPr>
        <p:sp>
          <p:nvSpPr>
            <p:cNvPr id="14403" name="Rectangle 13"/>
            <p:cNvSpPr>
              <a:spLocks noChangeArrowheads="1"/>
            </p:cNvSpPr>
            <p:nvPr/>
          </p:nvSpPr>
          <p:spPr bwMode="auto">
            <a:xfrm>
              <a:off x="240" y="1905"/>
              <a:ext cx="2709" cy="165"/>
            </a:xfrm>
            <a:prstGeom prst="rect">
              <a:avLst/>
            </a:prstGeom>
            <a:solidFill>
              <a:srgbClr val="FF0000"/>
            </a:solidFill>
            <a:ln w="9525">
              <a:noFill/>
              <a:miter lim="800000"/>
              <a:headEnd/>
              <a:tailEnd/>
            </a:ln>
          </p:spPr>
          <p:txBody>
            <a:bodyPr>
              <a:prstTxWarp prst="textNoShape">
                <a:avLst/>
              </a:prstTxWarp>
            </a:bodyPr>
            <a:lstStyle/>
            <a:p>
              <a:endParaRPr lang="en-US"/>
            </a:p>
          </p:txBody>
        </p:sp>
        <p:sp>
          <p:nvSpPr>
            <p:cNvPr id="14404" name="Line 14"/>
            <p:cNvSpPr>
              <a:spLocks noChangeShapeType="1"/>
            </p:cNvSpPr>
            <p:nvPr/>
          </p:nvSpPr>
          <p:spPr bwMode="auto">
            <a:xfrm>
              <a:off x="510" y="1905"/>
              <a:ext cx="2438" cy="1"/>
            </a:xfrm>
            <a:prstGeom prst="line">
              <a:avLst/>
            </a:prstGeom>
            <a:noFill/>
            <a:ln w="12700">
              <a:solidFill>
                <a:srgbClr val="000000"/>
              </a:solidFill>
              <a:round/>
              <a:headEnd/>
              <a:tailEnd/>
            </a:ln>
          </p:spPr>
          <p:txBody>
            <a:bodyPr>
              <a:prstTxWarp prst="textNoShape">
                <a:avLst/>
              </a:prstTxWarp>
            </a:bodyPr>
            <a:lstStyle/>
            <a:p>
              <a:endParaRPr lang="en-US"/>
            </a:p>
          </p:txBody>
        </p:sp>
        <p:sp>
          <p:nvSpPr>
            <p:cNvPr id="14405" name="Line 15"/>
            <p:cNvSpPr>
              <a:spLocks noChangeShapeType="1"/>
            </p:cNvSpPr>
            <p:nvPr/>
          </p:nvSpPr>
          <p:spPr bwMode="auto">
            <a:xfrm>
              <a:off x="510" y="2070"/>
              <a:ext cx="2438" cy="1"/>
            </a:xfrm>
            <a:prstGeom prst="line">
              <a:avLst/>
            </a:prstGeom>
            <a:noFill/>
            <a:ln w="12700">
              <a:solidFill>
                <a:srgbClr val="000000"/>
              </a:solidFill>
              <a:round/>
              <a:headEnd/>
              <a:tailEnd/>
            </a:ln>
          </p:spPr>
          <p:txBody>
            <a:bodyPr>
              <a:prstTxWarp prst="textNoShape">
                <a:avLst/>
              </a:prstTxWarp>
            </a:bodyPr>
            <a:lstStyle/>
            <a:p>
              <a:endParaRPr lang="en-US"/>
            </a:p>
          </p:txBody>
        </p:sp>
        <p:sp>
          <p:nvSpPr>
            <p:cNvPr id="14406" name="Line 16"/>
            <p:cNvSpPr>
              <a:spLocks noChangeShapeType="1"/>
            </p:cNvSpPr>
            <p:nvPr/>
          </p:nvSpPr>
          <p:spPr bwMode="auto">
            <a:xfrm>
              <a:off x="2948" y="1905"/>
              <a:ext cx="1" cy="165"/>
            </a:xfrm>
            <a:prstGeom prst="line">
              <a:avLst/>
            </a:prstGeom>
            <a:noFill/>
            <a:ln w="12700">
              <a:solidFill>
                <a:srgbClr val="000000"/>
              </a:solidFill>
              <a:round/>
              <a:headEnd/>
              <a:tailEnd/>
            </a:ln>
          </p:spPr>
          <p:txBody>
            <a:bodyPr>
              <a:prstTxWarp prst="textNoShape">
                <a:avLst/>
              </a:prstTxWarp>
            </a:bodyPr>
            <a:lstStyle/>
            <a:p>
              <a:endParaRPr lang="en-US"/>
            </a:p>
          </p:txBody>
        </p:sp>
        <p:sp>
          <p:nvSpPr>
            <p:cNvPr id="14407" name="Rectangle 17"/>
            <p:cNvSpPr>
              <a:spLocks noChangeArrowheads="1"/>
            </p:cNvSpPr>
            <p:nvPr/>
          </p:nvSpPr>
          <p:spPr bwMode="auto">
            <a:xfrm>
              <a:off x="2511" y="1922"/>
              <a:ext cx="383" cy="138"/>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latin typeface="Times New Roman" pitchFamily="1" charset="0"/>
                </a:rPr>
                <a:t>B2[300]</a:t>
              </a:r>
              <a:endParaRPr lang="en-GB" sz="2000" b="1"/>
            </a:p>
          </p:txBody>
        </p:sp>
      </p:grpSp>
      <p:grpSp>
        <p:nvGrpSpPr>
          <p:cNvPr id="3" name="Group 18"/>
          <p:cNvGrpSpPr>
            <a:grpSpLocks/>
          </p:cNvGrpSpPr>
          <p:nvPr/>
        </p:nvGrpSpPr>
        <p:grpSpPr bwMode="auto">
          <a:xfrm>
            <a:off x="7108822" y="3008314"/>
            <a:ext cx="732234" cy="293687"/>
            <a:chOff x="3128" y="1685"/>
            <a:chExt cx="410" cy="165"/>
          </a:xfrm>
        </p:grpSpPr>
        <p:sp>
          <p:nvSpPr>
            <p:cNvPr id="14401" name="Rectangle 19"/>
            <p:cNvSpPr>
              <a:spLocks noChangeArrowheads="1"/>
            </p:cNvSpPr>
            <p:nvPr/>
          </p:nvSpPr>
          <p:spPr bwMode="auto">
            <a:xfrm>
              <a:off x="3128" y="1685"/>
              <a:ext cx="181" cy="165"/>
            </a:xfrm>
            <a:prstGeom prst="rect">
              <a:avLst/>
            </a:prstGeom>
            <a:solidFill>
              <a:srgbClr val="FFFF00"/>
            </a:solidFill>
            <a:ln w="12700">
              <a:solidFill>
                <a:srgbClr val="000000"/>
              </a:solidFill>
              <a:miter lim="800000"/>
              <a:headEnd/>
              <a:tailEnd/>
            </a:ln>
          </p:spPr>
          <p:txBody>
            <a:bodyPr>
              <a:prstTxWarp prst="textNoShape">
                <a:avLst/>
              </a:prstTxWarp>
            </a:bodyPr>
            <a:lstStyle/>
            <a:p>
              <a:endParaRPr lang="en-US"/>
            </a:p>
          </p:txBody>
        </p:sp>
        <p:sp>
          <p:nvSpPr>
            <p:cNvPr id="14402" name="Rectangle 20"/>
            <p:cNvSpPr>
              <a:spLocks noChangeArrowheads="1"/>
            </p:cNvSpPr>
            <p:nvPr/>
          </p:nvSpPr>
          <p:spPr bwMode="auto">
            <a:xfrm>
              <a:off x="3177" y="1692"/>
              <a:ext cx="361" cy="138"/>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latin typeface="Times New Roman" pitchFamily="1" charset="0"/>
                </a:rPr>
                <a:t>A3 [10]</a:t>
              </a:r>
              <a:endParaRPr lang="en-GB" sz="2000" b="1"/>
            </a:p>
          </p:txBody>
        </p:sp>
      </p:grpSp>
      <p:grpSp>
        <p:nvGrpSpPr>
          <p:cNvPr id="4" name="Group 21"/>
          <p:cNvGrpSpPr>
            <a:grpSpLocks/>
          </p:cNvGrpSpPr>
          <p:nvPr/>
        </p:nvGrpSpPr>
        <p:grpSpPr bwMode="auto">
          <a:xfrm>
            <a:off x="7108826" y="2519364"/>
            <a:ext cx="646113" cy="295275"/>
            <a:chOff x="3128" y="1411"/>
            <a:chExt cx="362" cy="166"/>
          </a:xfrm>
        </p:grpSpPr>
        <p:sp>
          <p:nvSpPr>
            <p:cNvPr id="14399" name="Rectangle 22"/>
            <p:cNvSpPr>
              <a:spLocks noChangeArrowheads="1"/>
            </p:cNvSpPr>
            <p:nvPr/>
          </p:nvSpPr>
          <p:spPr bwMode="auto">
            <a:xfrm>
              <a:off x="3128" y="1411"/>
              <a:ext cx="362" cy="166"/>
            </a:xfrm>
            <a:prstGeom prst="rect">
              <a:avLst/>
            </a:prstGeom>
            <a:solidFill>
              <a:srgbClr val="FFFF00"/>
            </a:solidFill>
            <a:ln w="12700">
              <a:solidFill>
                <a:srgbClr val="000000"/>
              </a:solidFill>
              <a:miter lim="800000"/>
              <a:headEnd/>
              <a:tailEnd/>
            </a:ln>
          </p:spPr>
          <p:txBody>
            <a:bodyPr>
              <a:prstTxWarp prst="textNoShape">
                <a:avLst/>
              </a:prstTxWarp>
            </a:bodyPr>
            <a:lstStyle/>
            <a:p>
              <a:endParaRPr lang="en-US"/>
            </a:p>
          </p:txBody>
        </p:sp>
        <p:sp>
          <p:nvSpPr>
            <p:cNvPr id="14400" name="Rectangle 23"/>
            <p:cNvSpPr>
              <a:spLocks noChangeArrowheads="1"/>
            </p:cNvSpPr>
            <p:nvPr/>
          </p:nvSpPr>
          <p:spPr bwMode="auto">
            <a:xfrm>
              <a:off x="3145" y="1419"/>
              <a:ext cx="332" cy="138"/>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latin typeface="Times New Roman" pitchFamily="1" charset="0"/>
                </a:rPr>
                <a:t>A2[20]</a:t>
              </a:r>
              <a:endParaRPr lang="en-GB" sz="2000" b="1"/>
            </a:p>
          </p:txBody>
        </p:sp>
      </p:grpSp>
      <p:grpSp>
        <p:nvGrpSpPr>
          <p:cNvPr id="5" name="Group 24"/>
          <p:cNvGrpSpPr>
            <a:grpSpLocks/>
          </p:cNvGrpSpPr>
          <p:nvPr/>
        </p:nvGrpSpPr>
        <p:grpSpPr bwMode="auto">
          <a:xfrm>
            <a:off x="2112964" y="2028826"/>
            <a:ext cx="5986855" cy="296863"/>
            <a:chOff x="330" y="1137"/>
            <a:chExt cx="3353" cy="166"/>
          </a:xfrm>
        </p:grpSpPr>
        <p:sp>
          <p:nvSpPr>
            <p:cNvPr id="14397" name="Rectangle 25"/>
            <p:cNvSpPr>
              <a:spLocks noChangeArrowheads="1"/>
            </p:cNvSpPr>
            <p:nvPr/>
          </p:nvSpPr>
          <p:spPr bwMode="auto">
            <a:xfrm>
              <a:off x="330" y="1137"/>
              <a:ext cx="3340" cy="166"/>
            </a:xfrm>
            <a:prstGeom prst="rect">
              <a:avLst/>
            </a:prstGeom>
            <a:solidFill>
              <a:srgbClr val="FF0000"/>
            </a:solidFill>
            <a:ln w="12700">
              <a:solidFill>
                <a:srgbClr val="000000"/>
              </a:solidFill>
              <a:miter lim="800000"/>
              <a:headEnd/>
              <a:tailEnd/>
            </a:ln>
          </p:spPr>
          <p:txBody>
            <a:bodyPr>
              <a:prstTxWarp prst="textNoShape">
                <a:avLst/>
              </a:prstTxWarp>
            </a:bodyPr>
            <a:lstStyle/>
            <a:p>
              <a:endParaRPr lang="en-US"/>
            </a:p>
          </p:txBody>
        </p:sp>
        <p:sp>
          <p:nvSpPr>
            <p:cNvPr id="14398" name="Rectangle 26"/>
            <p:cNvSpPr>
              <a:spLocks noChangeArrowheads="1"/>
            </p:cNvSpPr>
            <p:nvPr/>
          </p:nvSpPr>
          <p:spPr bwMode="auto">
            <a:xfrm>
              <a:off x="3300" y="1138"/>
              <a:ext cx="383" cy="138"/>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latin typeface="Times New Roman" pitchFamily="1" charset="0"/>
                </a:rPr>
                <a:t>B1[300]</a:t>
              </a:r>
              <a:endParaRPr lang="en-GB" sz="2000" b="1"/>
            </a:p>
          </p:txBody>
        </p:sp>
      </p:grpSp>
      <p:grpSp>
        <p:nvGrpSpPr>
          <p:cNvPr id="6" name="Group 27"/>
          <p:cNvGrpSpPr>
            <a:grpSpLocks/>
          </p:cNvGrpSpPr>
          <p:nvPr/>
        </p:nvGrpSpPr>
        <p:grpSpPr bwMode="auto">
          <a:xfrm>
            <a:off x="6788150" y="1541464"/>
            <a:ext cx="2336800" cy="295275"/>
            <a:chOff x="2948" y="864"/>
            <a:chExt cx="1309" cy="165"/>
          </a:xfrm>
        </p:grpSpPr>
        <p:sp>
          <p:nvSpPr>
            <p:cNvPr id="14395" name="Rectangle 28"/>
            <p:cNvSpPr>
              <a:spLocks noChangeArrowheads="1"/>
            </p:cNvSpPr>
            <p:nvPr/>
          </p:nvSpPr>
          <p:spPr bwMode="auto">
            <a:xfrm>
              <a:off x="2948" y="864"/>
              <a:ext cx="1309" cy="165"/>
            </a:xfrm>
            <a:prstGeom prst="rect">
              <a:avLst/>
            </a:prstGeom>
            <a:solidFill>
              <a:srgbClr val="FFFF00"/>
            </a:solidFill>
            <a:ln w="12700">
              <a:solidFill>
                <a:srgbClr val="000000"/>
              </a:solidFill>
              <a:miter lim="800000"/>
              <a:headEnd/>
              <a:tailEnd/>
            </a:ln>
          </p:spPr>
          <p:txBody>
            <a:bodyPr>
              <a:prstTxWarp prst="textNoShape">
                <a:avLst/>
              </a:prstTxWarp>
            </a:bodyPr>
            <a:lstStyle/>
            <a:p>
              <a:endParaRPr lang="en-US"/>
            </a:p>
          </p:txBody>
        </p:sp>
        <p:sp>
          <p:nvSpPr>
            <p:cNvPr id="14396" name="Rectangle 29"/>
            <p:cNvSpPr>
              <a:spLocks noChangeArrowheads="1"/>
            </p:cNvSpPr>
            <p:nvPr/>
          </p:nvSpPr>
          <p:spPr bwMode="auto">
            <a:xfrm>
              <a:off x="3817" y="875"/>
              <a:ext cx="390" cy="138"/>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latin typeface="Times New Roman" pitchFamily="1" charset="0"/>
                </a:rPr>
                <a:t>A1[100]</a:t>
              </a:r>
              <a:endParaRPr lang="en-GB" sz="2000" b="1"/>
            </a:p>
          </p:txBody>
        </p:sp>
      </p:grpSp>
      <p:sp>
        <p:nvSpPr>
          <p:cNvPr id="14353" name="Rectangle 30"/>
          <p:cNvSpPr>
            <a:spLocks noChangeArrowheads="1"/>
          </p:cNvSpPr>
          <p:nvPr/>
        </p:nvSpPr>
        <p:spPr bwMode="auto">
          <a:xfrm>
            <a:off x="4541838" y="5027614"/>
            <a:ext cx="2944204" cy="246221"/>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u="sng">
                <a:solidFill>
                  <a:srgbClr val="000000"/>
                </a:solidFill>
                <a:latin typeface="Times New Roman" pitchFamily="1" charset="0"/>
              </a:rPr>
              <a:t>Hence the resulting scheduling is:</a:t>
            </a:r>
            <a:endParaRPr lang="en-GB" sz="2000" b="1"/>
          </a:p>
        </p:txBody>
      </p:sp>
      <p:sp>
        <p:nvSpPr>
          <p:cNvPr id="14354" name="Rectangle 31"/>
          <p:cNvSpPr>
            <a:spLocks noChangeArrowheads="1"/>
          </p:cNvSpPr>
          <p:nvPr/>
        </p:nvSpPr>
        <p:spPr bwMode="auto">
          <a:xfrm>
            <a:off x="3011488" y="4443414"/>
            <a:ext cx="57708" cy="246221"/>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latin typeface="Times New Roman" pitchFamily="1" charset="0"/>
              </a:rPr>
              <a:t>t</a:t>
            </a:r>
            <a:endParaRPr lang="en-GB" sz="2000" b="1"/>
          </a:p>
        </p:txBody>
      </p:sp>
      <p:sp>
        <p:nvSpPr>
          <p:cNvPr id="14355" name="Rectangle 32"/>
          <p:cNvSpPr>
            <a:spLocks noChangeArrowheads="1"/>
          </p:cNvSpPr>
          <p:nvPr/>
        </p:nvSpPr>
        <p:spPr bwMode="auto">
          <a:xfrm>
            <a:off x="6594476" y="4443414"/>
            <a:ext cx="307777" cy="246221"/>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latin typeface="Times New Roman" pitchFamily="1" charset="0"/>
              </a:rPr>
              <a:t>100</a:t>
            </a:r>
            <a:endParaRPr lang="en-GB" sz="2000" b="1"/>
          </a:p>
        </p:txBody>
      </p:sp>
      <p:sp>
        <p:nvSpPr>
          <p:cNvPr id="14356" name="Rectangle 33"/>
          <p:cNvSpPr>
            <a:spLocks noChangeArrowheads="1"/>
          </p:cNvSpPr>
          <p:nvPr/>
        </p:nvSpPr>
        <p:spPr bwMode="auto">
          <a:xfrm>
            <a:off x="7324725" y="4443414"/>
            <a:ext cx="205184" cy="246221"/>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latin typeface="Times New Roman" pitchFamily="1" charset="0"/>
              </a:rPr>
              <a:t>70</a:t>
            </a:r>
            <a:endParaRPr lang="en-GB" sz="2000" b="1"/>
          </a:p>
        </p:txBody>
      </p:sp>
      <p:sp>
        <p:nvSpPr>
          <p:cNvPr id="14357" name="Rectangle 34"/>
          <p:cNvSpPr>
            <a:spLocks noChangeArrowheads="1"/>
          </p:cNvSpPr>
          <p:nvPr/>
        </p:nvSpPr>
        <p:spPr bwMode="auto">
          <a:xfrm>
            <a:off x="7651750" y="4443414"/>
            <a:ext cx="205184" cy="246221"/>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latin typeface="Times New Roman" pitchFamily="1" charset="0"/>
              </a:rPr>
              <a:t>60</a:t>
            </a:r>
            <a:endParaRPr lang="en-GB" sz="2000" b="1"/>
          </a:p>
        </p:txBody>
      </p:sp>
      <p:sp>
        <p:nvSpPr>
          <p:cNvPr id="14358" name="Rectangle 35"/>
          <p:cNvSpPr>
            <a:spLocks noChangeArrowheads="1"/>
          </p:cNvSpPr>
          <p:nvPr/>
        </p:nvSpPr>
        <p:spPr bwMode="auto">
          <a:xfrm>
            <a:off x="7977188" y="4443414"/>
            <a:ext cx="205184" cy="246221"/>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latin typeface="Times New Roman" pitchFamily="1" charset="0"/>
              </a:rPr>
              <a:t>50</a:t>
            </a:r>
            <a:endParaRPr lang="en-GB" sz="2000" b="1"/>
          </a:p>
        </p:txBody>
      </p:sp>
      <p:sp>
        <p:nvSpPr>
          <p:cNvPr id="14359" name="Rectangle 36"/>
          <p:cNvSpPr>
            <a:spLocks noChangeArrowheads="1"/>
          </p:cNvSpPr>
          <p:nvPr/>
        </p:nvSpPr>
        <p:spPr bwMode="auto">
          <a:xfrm>
            <a:off x="9070975" y="4443414"/>
            <a:ext cx="102592" cy="246221"/>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latin typeface="Times New Roman" pitchFamily="1" charset="0"/>
              </a:rPr>
              <a:t>0</a:t>
            </a:r>
            <a:endParaRPr lang="en-GB" sz="2000" b="1"/>
          </a:p>
        </p:txBody>
      </p:sp>
      <p:grpSp>
        <p:nvGrpSpPr>
          <p:cNvPr id="7" name="Group 37"/>
          <p:cNvGrpSpPr>
            <a:grpSpLocks/>
          </p:cNvGrpSpPr>
          <p:nvPr/>
        </p:nvGrpSpPr>
        <p:grpSpPr bwMode="auto">
          <a:xfrm>
            <a:off x="6751638" y="5549905"/>
            <a:ext cx="2373312" cy="702457"/>
            <a:chOff x="2928" y="3109"/>
            <a:chExt cx="1329" cy="394"/>
          </a:xfrm>
        </p:grpSpPr>
        <p:sp>
          <p:nvSpPr>
            <p:cNvPr id="14392" name="Rectangle 38"/>
            <p:cNvSpPr>
              <a:spLocks noChangeArrowheads="1"/>
            </p:cNvSpPr>
            <p:nvPr/>
          </p:nvSpPr>
          <p:spPr bwMode="auto">
            <a:xfrm>
              <a:off x="3552" y="3365"/>
              <a:ext cx="140" cy="138"/>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latin typeface="Times New Roman" pitchFamily="1" charset="0"/>
                </a:rPr>
                <a:t>A1</a:t>
              </a:r>
              <a:endParaRPr lang="en-GB" sz="2000" b="1"/>
            </a:p>
          </p:txBody>
        </p:sp>
        <p:sp>
          <p:nvSpPr>
            <p:cNvPr id="14393" name="Line 39"/>
            <p:cNvSpPr>
              <a:spLocks noChangeShapeType="1"/>
            </p:cNvSpPr>
            <p:nvPr/>
          </p:nvSpPr>
          <p:spPr bwMode="auto">
            <a:xfrm>
              <a:off x="4256" y="3164"/>
              <a:ext cx="1" cy="110"/>
            </a:xfrm>
            <a:prstGeom prst="line">
              <a:avLst/>
            </a:prstGeom>
            <a:noFill/>
            <a:ln w="12700">
              <a:solidFill>
                <a:srgbClr val="000000"/>
              </a:solidFill>
              <a:round/>
              <a:headEnd/>
              <a:tailEnd/>
            </a:ln>
          </p:spPr>
          <p:txBody>
            <a:bodyPr>
              <a:prstTxWarp prst="textNoShape">
                <a:avLst/>
              </a:prstTxWarp>
            </a:bodyPr>
            <a:lstStyle/>
            <a:p>
              <a:endParaRPr lang="en-US"/>
            </a:p>
          </p:txBody>
        </p:sp>
        <p:sp>
          <p:nvSpPr>
            <p:cNvPr id="14394" name="Rectangle 40"/>
            <p:cNvSpPr>
              <a:spLocks noChangeArrowheads="1"/>
            </p:cNvSpPr>
            <p:nvPr/>
          </p:nvSpPr>
          <p:spPr bwMode="auto">
            <a:xfrm>
              <a:off x="2928" y="3109"/>
              <a:ext cx="1329" cy="167"/>
            </a:xfrm>
            <a:prstGeom prst="rect">
              <a:avLst/>
            </a:prstGeom>
            <a:solidFill>
              <a:srgbClr val="FFFF00"/>
            </a:solidFill>
            <a:ln w="12700">
              <a:solidFill>
                <a:srgbClr val="000000"/>
              </a:solidFill>
              <a:miter lim="800000"/>
              <a:headEnd/>
              <a:tailEnd/>
            </a:ln>
          </p:spPr>
          <p:txBody>
            <a:bodyPr>
              <a:prstTxWarp prst="textNoShape">
                <a:avLst/>
              </a:prstTxWarp>
            </a:bodyPr>
            <a:lstStyle/>
            <a:p>
              <a:endParaRPr lang="en-US"/>
            </a:p>
          </p:txBody>
        </p:sp>
      </p:grpSp>
      <p:grpSp>
        <p:nvGrpSpPr>
          <p:cNvPr id="8" name="Group 41"/>
          <p:cNvGrpSpPr>
            <a:grpSpLocks/>
          </p:cNvGrpSpPr>
          <p:nvPr/>
        </p:nvGrpSpPr>
        <p:grpSpPr bwMode="auto">
          <a:xfrm>
            <a:off x="6140450" y="5549905"/>
            <a:ext cx="611188" cy="702457"/>
            <a:chOff x="2585" y="3109"/>
            <a:chExt cx="343" cy="394"/>
          </a:xfrm>
        </p:grpSpPr>
        <p:sp>
          <p:nvSpPr>
            <p:cNvPr id="14390" name="Rectangle 42"/>
            <p:cNvSpPr>
              <a:spLocks noChangeArrowheads="1"/>
            </p:cNvSpPr>
            <p:nvPr/>
          </p:nvSpPr>
          <p:spPr bwMode="auto">
            <a:xfrm>
              <a:off x="2695" y="3365"/>
              <a:ext cx="140" cy="138"/>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latin typeface="Times New Roman" pitchFamily="1" charset="0"/>
                </a:rPr>
                <a:t>A2</a:t>
              </a:r>
              <a:endParaRPr lang="en-GB" sz="2000" b="1"/>
            </a:p>
          </p:txBody>
        </p:sp>
        <p:sp>
          <p:nvSpPr>
            <p:cNvPr id="14391" name="Rectangle 43"/>
            <p:cNvSpPr>
              <a:spLocks noChangeArrowheads="1"/>
            </p:cNvSpPr>
            <p:nvPr/>
          </p:nvSpPr>
          <p:spPr bwMode="auto">
            <a:xfrm>
              <a:off x="2585" y="3109"/>
              <a:ext cx="343" cy="167"/>
            </a:xfrm>
            <a:prstGeom prst="rect">
              <a:avLst/>
            </a:prstGeom>
            <a:solidFill>
              <a:srgbClr val="FFFF00"/>
            </a:solidFill>
            <a:ln w="12700">
              <a:solidFill>
                <a:srgbClr val="000000"/>
              </a:solidFill>
              <a:miter lim="800000"/>
              <a:headEnd/>
              <a:tailEnd/>
            </a:ln>
          </p:spPr>
          <p:txBody>
            <a:bodyPr>
              <a:prstTxWarp prst="textNoShape">
                <a:avLst/>
              </a:prstTxWarp>
            </a:bodyPr>
            <a:lstStyle/>
            <a:p>
              <a:endParaRPr lang="en-US"/>
            </a:p>
          </p:txBody>
        </p:sp>
      </p:grpSp>
      <p:grpSp>
        <p:nvGrpSpPr>
          <p:cNvPr id="9" name="Group 44"/>
          <p:cNvGrpSpPr>
            <a:grpSpLocks/>
          </p:cNvGrpSpPr>
          <p:nvPr/>
        </p:nvGrpSpPr>
        <p:grpSpPr bwMode="auto">
          <a:xfrm>
            <a:off x="5807075" y="5549905"/>
            <a:ext cx="344488" cy="702457"/>
            <a:chOff x="2399" y="3109"/>
            <a:chExt cx="193" cy="394"/>
          </a:xfrm>
        </p:grpSpPr>
        <p:sp>
          <p:nvSpPr>
            <p:cNvPr id="14388" name="Rectangle 45"/>
            <p:cNvSpPr>
              <a:spLocks noChangeArrowheads="1"/>
            </p:cNvSpPr>
            <p:nvPr/>
          </p:nvSpPr>
          <p:spPr bwMode="auto">
            <a:xfrm>
              <a:off x="2407" y="3365"/>
              <a:ext cx="140" cy="138"/>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latin typeface="Times New Roman" pitchFamily="1" charset="0"/>
                </a:rPr>
                <a:t>A3</a:t>
              </a:r>
              <a:endParaRPr lang="en-GB" sz="2000" b="1"/>
            </a:p>
          </p:txBody>
        </p:sp>
        <p:sp>
          <p:nvSpPr>
            <p:cNvPr id="14389" name="Rectangle 46"/>
            <p:cNvSpPr>
              <a:spLocks noChangeArrowheads="1"/>
            </p:cNvSpPr>
            <p:nvPr/>
          </p:nvSpPr>
          <p:spPr bwMode="auto">
            <a:xfrm>
              <a:off x="2399" y="3109"/>
              <a:ext cx="193" cy="167"/>
            </a:xfrm>
            <a:prstGeom prst="rect">
              <a:avLst/>
            </a:prstGeom>
            <a:solidFill>
              <a:srgbClr val="FFFF00"/>
            </a:solidFill>
            <a:ln w="12700">
              <a:solidFill>
                <a:srgbClr val="000000"/>
              </a:solidFill>
              <a:miter lim="800000"/>
              <a:headEnd/>
              <a:tailEnd/>
            </a:ln>
          </p:spPr>
          <p:txBody>
            <a:bodyPr>
              <a:prstTxWarp prst="textNoShape">
                <a:avLst/>
              </a:prstTxWarp>
            </a:bodyPr>
            <a:lstStyle/>
            <a:p>
              <a:endParaRPr lang="en-US"/>
            </a:p>
          </p:txBody>
        </p:sp>
      </p:grpSp>
      <p:grpSp>
        <p:nvGrpSpPr>
          <p:cNvPr id="10" name="Group 47"/>
          <p:cNvGrpSpPr>
            <a:grpSpLocks/>
          </p:cNvGrpSpPr>
          <p:nvPr/>
        </p:nvGrpSpPr>
        <p:grpSpPr bwMode="auto">
          <a:xfrm>
            <a:off x="2932113" y="5549905"/>
            <a:ext cx="1693862" cy="702457"/>
            <a:chOff x="789" y="3109"/>
            <a:chExt cx="948" cy="394"/>
          </a:xfrm>
        </p:grpSpPr>
        <p:sp>
          <p:nvSpPr>
            <p:cNvPr id="14384" name="Rectangle 48"/>
            <p:cNvSpPr>
              <a:spLocks noChangeArrowheads="1"/>
            </p:cNvSpPr>
            <p:nvPr/>
          </p:nvSpPr>
          <p:spPr bwMode="auto">
            <a:xfrm>
              <a:off x="789" y="3109"/>
              <a:ext cx="795" cy="167"/>
            </a:xfrm>
            <a:prstGeom prst="rect">
              <a:avLst/>
            </a:prstGeom>
            <a:solidFill>
              <a:srgbClr val="FF0000"/>
            </a:solidFill>
            <a:ln w="9525">
              <a:noFill/>
              <a:miter lim="800000"/>
              <a:headEnd/>
              <a:tailEnd/>
            </a:ln>
          </p:spPr>
          <p:txBody>
            <a:bodyPr>
              <a:prstTxWarp prst="textNoShape">
                <a:avLst/>
              </a:prstTxWarp>
            </a:bodyPr>
            <a:lstStyle/>
            <a:p>
              <a:endParaRPr lang="en-US"/>
            </a:p>
          </p:txBody>
        </p:sp>
        <p:sp>
          <p:nvSpPr>
            <p:cNvPr id="14385" name="Rectangle 49"/>
            <p:cNvSpPr>
              <a:spLocks noChangeArrowheads="1"/>
            </p:cNvSpPr>
            <p:nvPr/>
          </p:nvSpPr>
          <p:spPr bwMode="auto">
            <a:xfrm>
              <a:off x="964" y="3365"/>
              <a:ext cx="134" cy="138"/>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latin typeface="Times New Roman" pitchFamily="1" charset="0"/>
                </a:rPr>
                <a:t>B2</a:t>
              </a:r>
              <a:endParaRPr lang="en-GB" sz="2000" b="1"/>
            </a:p>
          </p:txBody>
        </p:sp>
        <p:sp>
          <p:nvSpPr>
            <p:cNvPr id="14386" name="Line 50"/>
            <p:cNvSpPr>
              <a:spLocks noChangeShapeType="1"/>
            </p:cNvSpPr>
            <p:nvPr/>
          </p:nvSpPr>
          <p:spPr bwMode="auto">
            <a:xfrm>
              <a:off x="925" y="3109"/>
              <a:ext cx="812" cy="1"/>
            </a:xfrm>
            <a:prstGeom prst="line">
              <a:avLst/>
            </a:prstGeom>
            <a:noFill/>
            <a:ln w="12700">
              <a:solidFill>
                <a:srgbClr val="000000"/>
              </a:solidFill>
              <a:round/>
              <a:headEnd/>
              <a:tailEnd/>
            </a:ln>
          </p:spPr>
          <p:txBody>
            <a:bodyPr>
              <a:prstTxWarp prst="textNoShape">
                <a:avLst/>
              </a:prstTxWarp>
            </a:bodyPr>
            <a:lstStyle/>
            <a:p>
              <a:endParaRPr lang="en-US"/>
            </a:p>
          </p:txBody>
        </p:sp>
        <p:sp>
          <p:nvSpPr>
            <p:cNvPr id="14387" name="Line 51"/>
            <p:cNvSpPr>
              <a:spLocks noChangeShapeType="1"/>
            </p:cNvSpPr>
            <p:nvPr/>
          </p:nvSpPr>
          <p:spPr bwMode="auto">
            <a:xfrm>
              <a:off x="925" y="3274"/>
              <a:ext cx="812" cy="2"/>
            </a:xfrm>
            <a:prstGeom prst="line">
              <a:avLst/>
            </a:prstGeom>
            <a:noFill/>
            <a:ln w="12700">
              <a:solidFill>
                <a:srgbClr val="000000"/>
              </a:solidFill>
              <a:round/>
              <a:headEnd/>
              <a:tailEnd/>
            </a:ln>
          </p:spPr>
          <p:txBody>
            <a:bodyPr>
              <a:prstTxWarp prst="textNoShape">
                <a:avLst/>
              </a:prstTxWarp>
            </a:bodyPr>
            <a:lstStyle/>
            <a:p>
              <a:endParaRPr lang="en-US"/>
            </a:p>
          </p:txBody>
        </p:sp>
      </p:grpSp>
      <p:sp>
        <p:nvSpPr>
          <p:cNvPr id="14364" name="Rectangle 52"/>
          <p:cNvSpPr>
            <a:spLocks noChangeArrowheads="1"/>
          </p:cNvSpPr>
          <p:nvPr/>
        </p:nvSpPr>
        <p:spPr bwMode="auto">
          <a:xfrm>
            <a:off x="2595564" y="6092825"/>
            <a:ext cx="14287" cy="7938"/>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65" name="Rectangle 53"/>
          <p:cNvSpPr>
            <a:spLocks noChangeArrowheads="1"/>
          </p:cNvSpPr>
          <p:nvPr/>
        </p:nvSpPr>
        <p:spPr bwMode="auto">
          <a:xfrm>
            <a:off x="2636839" y="6092825"/>
            <a:ext cx="14287" cy="7938"/>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66" name="Rectangle 54"/>
          <p:cNvSpPr>
            <a:spLocks noChangeArrowheads="1"/>
          </p:cNvSpPr>
          <p:nvPr/>
        </p:nvSpPr>
        <p:spPr bwMode="auto">
          <a:xfrm>
            <a:off x="2678114" y="6092825"/>
            <a:ext cx="14287" cy="7938"/>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67" name="Rectangle 55"/>
          <p:cNvSpPr>
            <a:spLocks noChangeArrowheads="1"/>
          </p:cNvSpPr>
          <p:nvPr/>
        </p:nvSpPr>
        <p:spPr bwMode="auto">
          <a:xfrm>
            <a:off x="2717800" y="6092825"/>
            <a:ext cx="14288" cy="7938"/>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68" name="Rectangle 56"/>
          <p:cNvSpPr>
            <a:spLocks noChangeArrowheads="1"/>
          </p:cNvSpPr>
          <p:nvPr/>
        </p:nvSpPr>
        <p:spPr bwMode="auto">
          <a:xfrm>
            <a:off x="2760664" y="6092825"/>
            <a:ext cx="14287" cy="7938"/>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69" name="Rectangle 57"/>
          <p:cNvSpPr>
            <a:spLocks noChangeArrowheads="1"/>
          </p:cNvSpPr>
          <p:nvPr/>
        </p:nvSpPr>
        <p:spPr bwMode="auto">
          <a:xfrm>
            <a:off x="2801939" y="6092825"/>
            <a:ext cx="14287" cy="7938"/>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70" name="Rectangle 58"/>
          <p:cNvSpPr>
            <a:spLocks noChangeArrowheads="1"/>
          </p:cNvSpPr>
          <p:nvPr/>
        </p:nvSpPr>
        <p:spPr bwMode="auto">
          <a:xfrm>
            <a:off x="2843214" y="6092825"/>
            <a:ext cx="14287" cy="7938"/>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71" name="Rectangle 59"/>
          <p:cNvSpPr>
            <a:spLocks noChangeArrowheads="1"/>
          </p:cNvSpPr>
          <p:nvPr/>
        </p:nvSpPr>
        <p:spPr bwMode="auto">
          <a:xfrm>
            <a:off x="2884489" y="6092825"/>
            <a:ext cx="14287" cy="7938"/>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72" name="Rectangle 60"/>
          <p:cNvSpPr>
            <a:spLocks noChangeArrowheads="1"/>
          </p:cNvSpPr>
          <p:nvPr/>
        </p:nvSpPr>
        <p:spPr bwMode="auto">
          <a:xfrm>
            <a:off x="2595564" y="5797551"/>
            <a:ext cx="14287" cy="9525"/>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73" name="Rectangle 61"/>
          <p:cNvSpPr>
            <a:spLocks noChangeArrowheads="1"/>
          </p:cNvSpPr>
          <p:nvPr/>
        </p:nvSpPr>
        <p:spPr bwMode="auto">
          <a:xfrm>
            <a:off x="2636839" y="5797551"/>
            <a:ext cx="14287" cy="9525"/>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74" name="Rectangle 62"/>
          <p:cNvSpPr>
            <a:spLocks noChangeArrowheads="1"/>
          </p:cNvSpPr>
          <p:nvPr/>
        </p:nvSpPr>
        <p:spPr bwMode="auto">
          <a:xfrm>
            <a:off x="2678114" y="5797551"/>
            <a:ext cx="14287" cy="9525"/>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75" name="Rectangle 63"/>
          <p:cNvSpPr>
            <a:spLocks noChangeArrowheads="1"/>
          </p:cNvSpPr>
          <p:nvPr/>
        </p:nvSpPr>
        <p:spPr bwMode="auto">
          <a:xfrm>
            <a:off x="2717800" y="5797551"/>
            <a:ext cx="14288" cy="9525"/>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76" name="Rectangle 64"/>
          <p:cNvSpPr>
            <a:spLocks noChangeArrowheads="1"/>
          </p:cNvSpPr>
          <p:nvPr/>
        </p:nvSpPr>
        <p:spPr bwMode="auto">
          <a:xfrm>
            <a:off x="2760664" y="5797551"/>
            <a:ext cx="14287" cy="9525"/>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77" name="Rectangle 65"/>
          <p:cNvSpPr>
            <a:spLocks noChangeArrowheads="1"/>
          </p:cNvSpPr>
          <p:nvPr/>
        </p:nvSpPr>
        <p:spPr bwMode="auto">
          <a:xfrm>
            <a:off x="2801939" y="5797551"/>
            <a:ext cx="14287" cy="9525"/>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78" name="Rectangle 66"/>
          <p:cNvSpPr>
            <a:spLocks noChangeArrowheads="1"/>
          </p:cNvSpPr>
          <p:nvPr/>
        </p:nvSpPr>
        <p:spPr bwMode="auto">
          <a:xfrm>
            <a:off x="2843214" y="5797551"/>
            <a:ext cx="14287" cy="9525"/>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14379" name="Rectangle 67"/>
          <p:cNvSpPr>
            <a:spLocks noChangeArrowheads="1"/>
          </p:cNvSpPr>
          <p:nvPr/>
        </p:nvSpPr>
        <p:spPr bwMode="auto">
          <a:xfrm>
            <a:off x="2884489" y="5797551"/>
            <a:ext cx="14287" cy="9525"/>
          </a:xfrm>
          <a:prstGeom prst="rect">
            <a:avLst/>
          </a:prstGeom>
          <a:solidFill>
            <a:srgbClr val="000000"/>
          </a:solidFill>
          <a:ln w="9525">
            <a:noFill/>
            <a:miter lim="800000"/>
            <a:headEnd/>
            <a:tailEnd/>
          </a:ln>
        </p:spPr>
        <p:txBody>
          <a:bodyPr>
            <a:prstTxWarp prst="textNoShape">
              <a:avLst/>
            </a:prstTxWarp>
          </a:bodyPr>
          <a:lstStyle/>
          <a:p>
            <a:endParaRPr lang="en-US"/>
          </a:p>
        </p:txBody>
      </p:sp>
      <p:grpSp>
        <p:nvGrpSpPr>
          <p:cNvPr id="11" name="Group 68"/>
          <p:cNvGrpSpPr>
            <a:grpSpLocks/>
          </p:cNvGrpSpPr>
          <p:nvPr/>
        </p:nvGrpSpPr>
        <p:grpSpPr bwMode="auto">
          <a:xfrm>
            <a:off x="4352925" y="5549905"/>
            <a:ext cx="1455738" cy="702457"/>
            <a:chOff x="1584" y="3109"/>
            <a:chExt cx="816" cy="394"/>
          </a:xfrm>
        </p:grpSpPr>
        <p:sp>
          <p:nvSpPr>
            <p:cNvPr id="14381" name="Rectangle 69"/>
            <p:cNvSpPr>
              <a:spLocks noChangeArrowheads="1"/>
            </p:cNvSpPr>
            <p:nvPr/>
          </p:nvSpPr>
          <p:spPr bwMode="auto">
            <a:xfrm>
              <a:off x="1789" y="3365"/>
              <a:ext cx="134" cy="138"/>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latin typeface="Times New Roman" pitchFamily="1" charset="0"/>
                </a:rPr>
                <a:t>B1</a:t>
              </a:r>
              <a:endParaRPr lang="en-GB" sz="2000" b="1"/>
            </a:p>
          </p:txBody>
        </p:sp>
        <p:sp>
          <p:nvSpPr>
            <p:cNvPr id="14382" name="Rectangle 70"/>
            <p:cNvSpPr>
              <a:spLocks noChangeArrowheads="1"/>
            </p:cNvSpPr>
            <p:nvPr/>
          </p:nvSpPr>
          <p:spPr bwMode="auto">
            <a:xfrm>
              <a:off x="1584" y="3109"/>
              <a:ext cx="816" cy="167"/>
            </a:xfrm>
            <a:prstGeom prst="rect">
              <a:avLst/>
            </a:prstGeom>
            <a:solidFill>
              <a:srgbClr val="FF0000"/>
            </a:solidFill>
            <a:ln w="12700">
              <a:solidFill>
                <a:srgbClr val="000000"/>
              </a:solidFill>
              <a:miter lim="800000"/>
              <a:headEnd/>
              <a:tailEnd/>
            </a:ln>
          </p:spPr>
          <p:txBody>
            <a:bodyPr>
              <a:prstTxWarp prst="textNoShape">
                <a:avLst/>
              </a:prstTxWarp>
            </a:bodyPr>
            <a:lstStyle/>
            <a:p>
              <a:endParaRPr lang="en-US"/>
            </a:p>
          </p:txBody>
        </p:sp>
        <p:sp>
          <p:nvSpPr>
            <p:cNvPr id="14383" name="Line 71"/>
            <p:cNvSpPr>
              <a:spLocks noChangeShapeType="1"/>
            </p:cNvSpPr>
            <p:nvPr/>
          </p:nvSpPr>
          <p:spPr bwMode="auto">
            <a:xfrm>
              <a:off x="1584" y="3120"/>
              <a:ext cx="1" cy="165"/>
            </a:xfrm>
            <a:prstGeom prst="line">
              <a:avLst/>
            </a:prstGeom>
            <a:noFill/>
            <a:ln w="12700">
              <a:solidFill>
                <a:srgbClr val="000000"/>
              </a:solidFill>
              <a:round/>
              <a:headEnd/>
              <a:tailEnd/>
            </a:ln>
          </p:spPr>
          <p:txBody>
            <a:bodyPr>
              <a:prstTxWarp prst="textNoShape">
                <a:avLst/>
              </a:prstTxWarp>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dissolv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dissolve">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dissolve">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dissolve">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dissolve">
                                      <p:cBhvr>
                                        <p:cTn id="5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ChangeArrowheads="1"/>
          </p:cNvSpPr>
          <p:nvPr/>
        </p:nvSpPr>
        <p:spPr bwMode="auto">
          <a:xfrm>
            <a:off x="1981200" y="1341438"/>
            <a:ext cx="7570788" cy="1325562"/>
          </a:xfrm>
          <a:prstGeom prst="rect">
            <a:avLst/>
          </a:prstGeom>
          <a:solidFill>
            <a:schemeClr val="folHlink"/>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15363" name="Rectangle 3"/>
          <p:cNvSpPr>
            <a:spLocks noChangeArrowheads="1"/>
          </p:cNvSpPr>
          <p:nvPr/>
        </p:nvSpPr>
        <p:spPr bwMode="auto">
          <a:xfrm>
            <a:off x="1703389" y="1412876"/>
            <a:ext cx="8002587" cy="4824413"/>
          </a:xfrm>
          <a:prstGeom prst="rect">
            <a:avLst/>
          </a:prstGeom>
          <a:noFill/>
          <a:ln w="9525">
            <a:noFill/>
            <a:miter lim="800000"/>
            <a:headEnd/>
            <a:tailEnd/>
          </a:ln>
        </p:spPr>
        <p:txBody>
          <a:bodyPr lIns="73025" tIns="36512" rIns="73025" bIns="36512" anchor="ctr" anchorCtr="1">
            <a:prstTxWarp prst="textNoShape">
              <a:avLst/>
            </a:prstTxWarp>
          </a:bodyPr>
          <a:lstStyle/>
          <a:p>
            <a:pPr marL="236538" indent="-236538" algn="l" defTabSz="814388">
              <a:lnSpc>
                <a:spcPct val="95000"/>
              </a:lnSpc>
              <a:spcBef>
                <a:spcPct val="50000"/>
              </a:spcBef>
              <a:buClr>
                <a:schemeClr val="tx2"/>
              </a:buClr>
              <a:buSzPct val="100000"/>
              <a:buFont typeface="Wingdings" pitchFamily="1" charset="2"/>
              <a:buChar char="§"/>
            </a:pPr>
            <a:r>
              <a:rPr lang="en-GB"/>
              <a:t>Fair-queuing scheme with weight attribution allows certain flows to get relatively more bandwidth than others</a:t>
            </a:r>
          </a:p>
          <a:p>
            <a:pPr marL="236538" indent="-236538" algn="l" defTabSz="814388">
              <a:lnSpc>
                <a:spcPct val="95000"/>
              </a:lnSpc>
              <a:spcBef>
                <a:spcPct val="50000"/>
              </a:spcBef>
              <a:buClr>
                <a:schemeClr val="tx2"/>
              </a:buClr>
              <a:buSzPct val="100000"/>
              <a:buFont typeface="Wingdings" pitchFamily="1" charset="2"/>
              <a:buChar char="§"/>
            </a:pPr>
            <a:endParaRPr lang="en-GB"/>
          </a:p>
          <a:p>
            <a:pPr marL="236538" indent="-236538" algn="l" defTabSz="814388">
              <a:lnSpc>
                <a:spcPct val="95000"/>
              </a:lnSpc>
              <a:spcBef>
                <a:spcPct val="50000"/>
              </a:spcBef>
              <a:buClr>
                <a:schemeClr val="tx2"/>
              </a:buClr>
              <a:buSzPct val="100000"/>
              <a:buFont typeface="Wingdings" pitchFamily="1" charset="2"/>
              <a:buChar char="§"/>
            </a:pPr>
            <a:r>
              <a:rPr lang="en-GB"/>
              <a:t> On a </a:t>
            </a:r>
            <a:r>
              <a:rPr lang="en-GB">
                <a:solidFill>
                  <a:schemeClr val="folHlink"/>
                </a:solidFill>
              </a:rPr>
              <a:t>per-packet basis</a:t>
            </a:r>
            <a:r>
              <a:rPr lang="en-GB"/>
              <a:t> (not per flow)!</a:t>
            </a:r>
          </a:p>
          <a:p>
            <a:pPr marL="236538" indent="-236538" algn="l" defTabSz="814388">
              <a:lnSpc>
                <a:spcPct val="95000"/>
              </a:lnSpc>
              <a:spcBef>
                <a:spcPct val="50000"/>
              </a:spcBef>
              <a:buClr>
                <a:schemeClr val="tx2"/>
              </a:buClr>
              <a:buSzPct val="100000"/>
              <a:buFont typeface="Wingdings" pitchFamily="1" charset="2"/>
              <a:buChar char="§"/>
            </a:pPr>
            <a:r>
              <a:rPr lang="en-GB"/>
              <a:t> Allocated bandwidth is </a:t>
            </a:r>
            <a:r>
              <a:rPr lang="en-GB">
                <a:solidFill>
                  <a:schemeClr val="folHlink"/>
                </a:solidFill>
              </a:rPr>
              <a:t>PROPORTIONAL</a:t>
            </a:r>
            <a:r>
              <a:rPr lang="en-GB"/>
              <a:t> to the configured </a:t>
            </a:r>
            <a:r>
              <a:rPr lang="en-GB">
                <a:solidFill>
                  <a:schemeClr val="folHlink"/>
                </a:solidFill>
              </a:rPr>
              <a:t>PRECEDENCE</a:t>
            </a:r>
            <a:r>
              <a:rPr lang="en-GB"/>
              <a:t> </a:t>
            </a:r>
          </a:p>
          <a:p>
            <a:pPr marL="574675" lvl="1" algn="l" defTabSz="814388">
              <a:lnSpc>
                <a:spcPct val="95000"/>
              </a:lnSpc>
              <a:spcBef>
                <a:spcPct val="35000"/>
              </a:spcBef>
            </a:pPr>
            <a:r>
              <a:rPr lang="en-GB" sz="2000"/>
              <a:t> W = K/(Precedence+1) = </a:t>
            </a:r>
            <a:r>
              <a:rPr lang="en-GB" sz="2000">
                <a:solidFill>
                  <a:schemeClr val="folHlink"/>
                </a:solidFill>
              </a:rPr>
              <a:t>WEIGHT</a:t>
            </a:r>
          </a:p>
          <a:p>
            <a:pPr marL="574675" lvl="1" algn="l" defTabSz="814388">
              <a:lnSpc>
                <a:spcPct val="95000"/>
              </a:lnSpc>
              <a:spcBef>
                <a:spcPct val="35000"/>
              </a:spcBef>
            </a:pPr>
            <a:r>
              <a:rPr lang="en-GB" sz="2000"/>
              <a:t> K = 4096 until 12.0(5)T, </a:t>
            </a:r>
            <a:r>
              <a:rPr lang="en-US" sz="2000">
                <a:solidFill>
                  <a:schemeClr val="folHlink"/>
                </a:solidFill>
              </a:rPr>
              <a:t>32384</a:t>
            </a:r>
            <a:r>
              <a:rPr lang="en-GB" sz="2000"/>
              <a:t> after</a:t>
            </a:r>
          </a:p>
          <a:p>
            <a:pPr marL="236538" indent="-236538" algn="l" defTabSz="814388">
              <a:lnSpc>
                <a:spcPct val="95000"/>
              </a:lnSpc>
              <a:spcBef>
                <a:spcPct val="50000"/>
              </a:spcBef>
              <a:buClr>
                <a:schemeClr val="tx2"/>
              </a:buClr>
              <a:buSzPct val="100000"/>
              <a:buFont typeface="Wingdings" pitchFamily="1" charset="2"/>
              <a:buChar char="§"/>
            </a:pPr>
            <a:r>
              <a:rPr lang="en-GB"/>
              <a:t> RSVP and Pak-priority(*)  packets have a special weight (4 and 128 respectively)</a:t>
            </a:r>
          </a:p>
        </p:txBody>
      </p:sp>
      <p:sp>
        <p:nvSpPr>
          <p:cNvPr id="15364" name="Rectangle 4"/>
          <p:cNvSpPr>
            <a:spLocks noChangeArrowheads="1"/>
          </p:cNvSpPr>
          <p:nvPr/>
        </p:nvSpPr>
        <p:spPr bwMode="auto">
          <a:xfrm>
            <a:off x="1981201" y="304800"/>
            <a:ext cx="6778625" cy="1016000"/>
          </a:xfrm>
          <a:prstGeom prst="rect">
            <a:avLst/>
          </a:prstGeom>
          <a:noFill/>
          <a:ln w="9525">
            <a:noFill/>
            <a:miter lim="800000"/>
            <a:headEnd/>
            <a:tailEnd/>
          </a:ln>
        </p:spPr>
        <p:txBody>
          <a:bodyPr lIns="73025" tIns="36512" rIns="73025" bIns="36512" anchor="ctr">
            <a:prstTxWarp prst="textNoShape">
              <a:avLst/>
            </a:prstTxWarp>
          </a:bodyPr>
          <a:lstStyle/>
          <a:p>
            <a:pPr algn="l" defTabSz="814388" eaLnBrk="1" hangingPunct="1"/>
            <a:r>
              <a:rPr lang="en-GB" sz="3200" b="1">
                <a:solidFill>
                  <a:schemeClr val="folHlink"/>
                </a:solidFill>
              </a:rPr>
              <a:t>Flow-based Weighted FQ (WFQ)</a:t>
            </a: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solidFill>
                  <a:schemeClr val="folHlink"/>
                </a:solidFill>
              </a:rPr>
              <a:t>Checking Weight</a:t>
            </a:r>
          </a:p>
        </p:txBody>
      </p:sp>
      <p:sp>
        <p:nvSpPr>
          <p:cNvPr id="173059" name="Rectangle 3"/>
          <p:cNvSpPr>
            <a:spLocks noGrp="1" noChangeArrowheads="1"/>
          </p:cNvSpPr>
          <p:nvPr>
            <p:ph idx="1"/>
          </p:nvPr>
        </p:nvSpPr>
        <p:spPr>
          <a:xfrm>
            <a:off x="2063750" y="1196975"/>
            <a:ext cx="7924800" cy="5029200"/>
          </a:xfrm>
          <a:solidFill>
            <a:schemeClr val="folHlink"/>
          </a:solidFill>
          <a:effectLst>
            <a:outerShdw dist="107763" dir="2700000" algn="ctr" rotWithShape="0">
              <a:schemeClr val="bg2">
                <a:alpha val="50000"/>
              </a:schemeClr>
            </a:outerShdw>
          </a:effectLst>
        </p:spPr>
        <p:txBody>
          <a:bodyPr/>
          <a:lstStyle/>
          <a:p>
            <a:pPr>
              <a:lnSpc>
                <a:spcPct val="75000"/>
              </a:lnSpc>
              <a:spcBef>
                <a:spcPct val="10000"/>
              </a:spcBef>
              <a:buFont typeface="Wingdings" pitchFamily="2" charset="2"/>
              <a:buNone/>
              <a:defRPr/>
            </a:pPr>
            <a:endParaRPr lang="en-US" sz="1800">
              <a:latin typeface="Courier New" pitchFamily="49" charset="0"/>
            </a:endParaRPr>
          </a:p>
          <a:p>
            <a:pPr>
              <a:lnSpc>
                <a:spcPct val="75000"/>
              </a:lnSpc>
              <a:spcBef>
                <a:spcPct val="10000"/>
              </a:spcBef>
              <a:buFont typeface="Wingdings" pitchFamily="2" charset="2"/>
              <a:buNone/>
              <a:defRPr/>
            </a:pPr>
            <a:r>
              <a:rPr lang="en-US" sz="1800">
                <a:latin typeface="Courier New" pitchFamily="49" charset="0"/>
              </a:rPr>
              <a:t>router#</a:t>
            </a:r>
            <a:r>
              <a:rPr lang="en-US" sz="1800" b="1">
                <a:latin typeface="Courier New" pitchFamily="49" charset="0"/>
              </a:rPr>
              <a:t>show</a:t>
            </a:r>
            <a:r>
              <a:rPr lang="en-US" sz="1800">
                <a:latin typeface="Courier New" pitchFamily="49" charset="0"/>
              </a:rPr>
              <a:t> </a:t>
            </a:r>
            <a:r>
              <a:rPr lang="en-US" sz="1800" b="1">
                <a:latin typeface="Courier New" pitchFamily="49" charset="0"/>
              </a:rPr>
              <a:t>queue</a:t>
            </a:r>
            <a:r>
              <a:rPr lang="en-US" sz="1800">
                <a:latin typeface="Courier New" pitchFamily="49" charset="0"/>
              </a:rPr>
              <a:t> ATM 4/0.102 </a:t>
            </a:r>
          </a:p>
          <a:p>
            <a:pPr>
              <a:lnSpc>
                <a:spcPct val="75000"/>
              </a:lnSpc>
              <a:spcBef>
                <a:spcPct val="10000"/>
              </a:spcBef>
              <a:buFont typeface="Wingdings" pitchFamily="2" charset="2"/>
              <a:buNone/>
              <a:defRPr/>
            </a:pPr>
            <a:r>
              <a:rPr lang="en-US" sz="1800">
                <a:latin typeface="Courier New" pitchFamily="49" charset="0"/>
              </a:rPr>
              <a:t>Interface ATM4/0.102 VC 0/102 </a:t>
            </a:r>
          </a:p>
          <a:p>
            <a:pPr>
              <a:lnSpc>
                <a:spcPct val="75000"/>
              </a:lnSpc>
              <a:spcBef>
                <a:spcPct val="10000"/>
              </a:spcBef>
              <a:buFont typeface="Wingdings" pitchFamily="2" charset="2"/>
              <a:buNone/>
              <a:defRPr/>
            </a:pPr>
            <a:r>
              <a:rPr lang="en-US" sz="1800">
                <a:latin typeface="Courier New" pitchFamily="49" charset="0"/>
              </a:rPr>
              <a:t>Queuing strategy: weighted fair </a:t>
            </a:r>
          </a:p>
          <a:p>
            <a:pPr>
              <a:lnSpc>
                <a:spcPct val="75000"/>
              </a:lnSpc>
              <a:spcBef>
                <a:spcPct val="10000"/>
              </a:spcBef>
              <a:buFont typeface="Wingdings" pitchFamily="2" charset="2"/>
              <a:buNone/>
              <a:defRPr/>
            </a:pPr>
            <a:r>
              <a:rPr lang="en-US" sz="1800">
                <a:latin typeface="Courier New" pitchFamily="49" charset="0"/>
              </a:rPr>
              <a:t>Total output drops per VC: 1505772 </a:t>
            </a:r>
          </a:p>
          <a:p>
            <a:pPr>
              <a:lnSpc>
                <a:spcPct val="75000"/>
              </a:lnSpc>
              <a:spcBef>
                <a:spcPct val="10000"/>
              </a:spcBef>
              <a:buFont typeface="Wingdings" pitchFamily="2" charset="2"/>
              <a:buNone/>
              <a:defRPr/>
            </a:pPr>
            <a:r>
              <a:rPr lang="en-US" sz="1800">
                <a:latin typeface="Courier New" pitchFamily="49" charset="0"/>
              </a:rPr>
              <a:t>Output queue: 65/512/64/1505772 (size/max total/threshold/drops) </a:t>
            </a:r>
          </a:p>
          <a:p>
            <a:pPr>
              <a:lnSpc>
                <a:spcPct val="75000"/>
              </a:lnSpc>
              <a:spcBef>
                <a:spcPct val="10000"/>
              </a:spcBef>
              <a:buFont typeface="Wingdings" pitchFamily="2" charset="2"/>
              <a:buNone/>
              <a:defRPr/>
            </a:pPr>
            <a:r>
              <a:rPr lang="en-US" sz="1800">
                <a:latin typeface="Courier New" pitchFamily="49" charset="0"/>
              </a:rPr>
              <a:t>Conversations  2/3/16 (active/max active/max total)    </a:t>
            </a:r>
          </a:p>
          <a:p>
            <a:pPr>
              <a:lnSpc>
                <a:spcPct val="75000"/>
              </a:lnSpc>
              <a:spcBef>
                <a:spcPct val="10000"/>
              </a:spcBef>
              <a:buFont typeface="Wingdings" pitchFamily="2" charset="2"/>
              <a:buNone/>
              <a:defRPr/>
            </a:pPr>
            <a:r>
              <a:rPr lang="en-US" sz="1800">
                <a:latin typeface="Courier New" pitchFamily="49" charset="0"/>
              </a:rPr>
              <a:t>Reserved Conversations 0/0 (allocated/max allocated)</a:t>
            </a:r>
          </a:p>
          <a:p>
            <a:pPr>
              <a:lnSpc>
                <a:spcPct val="75000"/>
              </a:lnSpc>
              <a:spcBef>
                <a:spcPct val="10000"/>
              </a:spcBef>
              <a:buFont typeface="Wingdings" pitchFamily="2" charset="2"/>
              <a:buNone/>
              <a:defRPr/>
            </a:pPr>
            <a:endParaRPr lang="en-US" sz="1800">
              <a:latin typeface="Courier New" pitchFamily="49" charset="0"/>
            </a:endParaRPr>
          </a:p>
          <a:p>
            <a:pPr>
              <a:lnSpc>
                <a:spcPct val="75000"/>
              </a:lnSpc>
              <a:spcBef>
                <a:spcPct val="10000"/>
              </a:spcBef>
              <a:buFont typeface="Wingdings" pitchFamily="2" charset="2"/>
              <a:buNone/>
              <a:defRPr/>
            </a:pPr>
            <a:r>
              <a:rPr lang="en-US" sz="1800">
                <a:latin typeface="Courier New" pitchFamily="49" charset="0"/>
              </a:rPr>
              <a:t>(depth/weight/discards/taildrops/interleaves) 1/</a:t>
            </a:r>
            <a:r>
              <a:rPr lang="en-US" sz="1800" b="1">
                <a:latin typeface="Courier New" pitchFamily="49" charset="0"/>
              </a:rPr>
              <a:t>32384</a:t>
            </a:r>
            <a:r>
              <a:rPr lang="en-US" sz="1800">
                <a:latin typeface="Courier New" pitchFamily="49" charset="0"/>
              </a:rPr>
              <a:t>/0/0/0    </a:t>
            </a:r>
          </a:p>
          <a:p>
            <a:pPr>
              <a:lnSpc>
                <a:spcPct val="75000"/>
              </a:lnSpc>
              <a:spcBef>
                <a:spcPct val="10000"/>
              </a:spcBef>
              <a:buFont typeface="Wingdings" pitchFamily="2" charset="2"/>
              <a:buNone/>
              <a:defRPr/>
            </a:pPr>
            <a:r>
              <a:rPr lang="en-US" sz="1800">
                <a:latin typeface="Courier New" pitchFamily="49" charset="0"/>
              </a:rPr>
              <a:t>Conversation 2, linktype: ip, length: 58 </a:t>
            </a:r>
          </a:p>
          <a:p>
            <a:pPr>
              <a:lnSpc>
                <a:spcPct val="75000"/>
              </a:lnSpc>
              <a:spcBef>
                <a:spcPct val="10000"/>
              </a:spcBef>
              <a:buFont typeface="Wingdings" pitchFamily="2" charset="2"/>
              <a:buNone/>
              <a:defRPr/>
            </a:pPr>
            <a:r>
              <a:rPr lang="en-US" sz="1800">
                <a:latin typeface="Courier New" pitchFamily="49" charset="0"/>
              </a:rPr>
              <a:t>source: 8.0.0.1, destination: 6.6.6.6, id 0x2DA1, ttl: 254, prot: 1</a:t>
            </a:r>
          </a:p>
          <a:p>
            <a:pPr>
              <a:lnSpc>
                <a:spcPct val="75000"/>
              </a:lnSpc>
              <a:spcBef>
                <a:spcPct val="10000"/>
              </a:spcBef>
              <a:buFont typeface="Wingdings" pitchFamily="2" charset="2"/>
              <a:buNone/>
              <a:defRPr/>
            </a:pPr>
            <a:endParaRPr lang="en-US" sz="1800">
              <a:latin typeface="Courier New" pitchFamily="49" charset="0"/>
            </a:endParaRPr>
          </a:p>
          <a:p>
            <a:pPr>
              <a:lnSpc>
                <a:spcPct val="75000"/>
              </a:lnSpc>
              <a:spcBef>
                <a:spcPct val="10000"/>
              </a:spcBef>
              <a:buFont typeface="Wingdings" pitchFamily="2" charset="2"/>
              <a:buNone/>
              <a:defRPr/>
            </a:pPr>
            <a:r>
              <a:rPr lang="en-US" sz="1800">
                <a:latin typeface="Courier New" pitchFamily="49" charset="0"/>
              </a:rPr>
              <a:t>(depth/weight/discards/taildrops/interleaves) 64/</a:t>
            </a:r>
            <a:r>
              <a:rPr lang="en-US" sz="1800" b="1">
                <a:latin typeface="Courier New" pitchFamily="49" charset="0"/>
              </a:rPr>
              <a:t>32384</a:t>
            </a:r>
            <a:r>
              <a:rPr lang="en-US" sz="1800">
                <a:latin typeface="Courier New" pitchFamily="49" charset="0"/>
              </a:rPr>
              <a:t>/1505776/0/0    </a:t>
            </a:r>
          </a:p>
          <a:p>
            <a:pPr>
              <a:lnSpc>
                <a:spcPct val="75000"/>
              </a:lnSpc>
              <a:spcBef>
                <a:spcPct val="10000"/>
              </a:spcBef>
              <a:buFont typeface="Wingdings" pitchFamily="2" charset="2"/>
              <a:buNone/>
              <a:defRPr/>
            </a:pPr>
            <a:r>
              <a:rPr lang="en-US" sz="1800">
                <a:latin typeface="Courier New" pitchFamily="49" charset="0"/>
              </a:rPr>
              <a:t>Conversation 15, linktype: ip, length: 1494 </a:t>
            </a:r>
          </a:p>
          <a:p>
            <a:pPr>
              <a:lnSpc>
                <a:spcPct val="75000"/>
              </a:lnSpc>
              <a:spcBef>
                <a:spcPct val="10000"/>
              </a:spcBef>
              <a:buFont typeface="Wingdings" pitchFamily="2" charset="2"/>
              <a:buNone/>
              <a:defRPr/>
            </a:pPr>
            <a:r>
              <a:rPr lang="en-US" sz="1800">
                <a:latin typeface="Courier New" pitchFamily="49" charset="0"/>
              </a:rPr>
              <a:t>source: 7.0.0.1, destination: 6.6.6.6, id:0x0000, ttl: 63, prot: 255</a:t>
            </a: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ChangeArrowheads="1"/>
          </p:cNvSpPr>
          <p:nvPr/>
        </p:nvSpPr>
        <p:spPr bwMode="auto">
          <a:xfrm>
            <a:off x="2351088" y="2636839"/>
            <a:ext cx="7200900" cy="1800225"/>
          </a:xfrm>
          <a:prstGeom prst="rect">
            <a:avLst/>
          </a:prstGeom>
          <a:solidFill>
            <a:schemeClr val="folHlink"/>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17411" name="Rectangle 3"/>
          <p:cNvSpPr>
            <a:spLocks noChangeArrowheads="1"/>
          </p:cNvSpPr>
          <p:nvPr/>
        </p:nvSpPr>
        <p:spPr bwMode="auto">
          <a:xfrm>
            <a:off x="2344739" y="1628776"/>
            <a:ext cx="7062787" cy="4321175"/>
          </a:xfrm>
          <a:prstGeom prst="rect">
            <a:avLst/>
          </a:prstGeom>
          <a:noFill/>
          <a:ln w="9525">
            <a:noFill/>
            <a:miter lim="800000"/>
            <a:headEnd/>
            <a:tailEnd/>
          </a:ln>
        </p:spPr>
        <p:txBody>
          <a:bodyPr lIns="73025" tIns="36512" rIns="73025" bIns="36512" anchor="ctr" anchorCtr="1">
            <a:prstTxWarp prst="textNoShape">
              <a:avLst/>
            </a:prstTxWarp>
          </a:bodyPr>
          <a:lstStyle/>
          <a:p>
            <a:pPr marL="236538" indent="-236538" algn="l" defTabSz="814388">
              <a:lnSpc>
                <a:spcPct val="95000"/>
              </a:lnSpc>
              <a:spcBef>
                <a:spcPct val="50000"/>
              </a:spcBef>
              <a:buClr>
                <a:schemeClr val="tx2"/>
              </a:buClr>
              <a:buSzPct val="100000"/>
              <a:buFont typeface="Wingdings" pitchFamily="1" charset="2"/>
              <a:buChar char="§"/>
            </a:pPr>
            <a:r>
              <a:rPr lang="en-GB"/>
              <a:t>8 fixed system queues: </a:t>
            </a:r>
          </a:p>
          <a:p>
            <a:pPr marL="574675" lvl="1" algn="l" defTabSz="814388">
              <a:lnSpc>
                <a:spcPct val="95000"/>
              </a:lnSpc>
              <a:spcBef>
                <a:spcPct val="35000"/>
              </a:spcBef>
            </a:pPr>
            <a:r>
              <a:rPr lang="en-GB"/>
              <a:t>LMI, ARP, PPP control, Routing protocol</a:t>
            </a:r>
          </a:p>
          <a:p>
            <a:pPr marL="236538" indent="-236538" algn="l" defTabSz="814388">
              <a:lnSpc>
                <a:spcPct val="95000"/>
              </a:lnSpc>
              <a:spcBef>
                <a:spcPct val="50000"/>
              </a:spcBef>
              <a:buClr>
                <a:schemeClr val="tx2"/>
              </a:buClr>
              <a:buSzPct val="100000"/>
              <a:buFont typeface="Wingdings" pitchFamily="1" charset="2"/>
              <a:buChar char="§"/>
            </a:pPr>
            <a:r>
              <a:rPr lang="en-GB"/>
              <a:t>2</a:t>
            </a:r>
            <a:r>
              <a:rPr lang="en-GB" baseline="30000"/>
              <a:t>n</a:t>
            </a:r>
            <a:r>
              <a:rPr lang="en-GB"/>
              <a:t> dynamic queues (</a:t>
            </a:r>
            <a:r>
              <a:rPr lang="en-GB">
                <a:solidFill>
                  <a:schemeClr val="bg1"/>
                </a:solidFill>
              </a:rPr>
              <a:t>hashing</a:t>
            </a:r>
            <a:r>
              <a:rPr lang="en-GB"/>
              <a:t>)</a:t>
            </a:r>
          </a:p>
          <a:p>
            <a:pPr marL="574675" lvl="1" algn="l" defTabSz="814388">
              <a:lnSpc>
                <a:spcPct val="95000"/>
              </a:lnSpc>
              <a:spcBef>
                <a:spcPct val="35000"/>
              </a:spcBef>
            </a:pPr>
            <a:r>
              <a:rPr lang="en-GB"/>
              <a:t>IP Flow = 109-bit string (6 fields) = {Sadd, Dadd, PID, Sport, Dport, 5-bit ToS} </a:t>
            </a:r>
          </a:p>
          <a:p>
            <a:pPr marL="574675" lvl="1" algn="l" defTabSz="814388">
              <a:lnSpc>
                <a:spcPct val="95000"/>
              </a:lnSpc>
              <a:spcBef>
                <a:spcPct val="35000"/>
              </a:spcBef>
            </a:pPr>
            <a:r>
              <a:rPr lang="en-GB"/>
              <a:t>16 -&gt; 4096, default is 256  (11.2)</a:t>
            </a:r>
          </a:p>
          <a:p>
            <a:pPr marL="236538" indent="-236538" algn="l" defTabSz="814388">
              <a:lnSpc>
                <a:spcPct val="95000"/>
              </a:lnSpc>
              <a:spcBef>
                <a:spcPct val="50000"/>
              </a:spcBef>
              <a:buClr>
                <a:schemeClr val="tx2"/>
              </a:buClr>
              <a:buSzPct val="100000"/>
              <a:buFont typeface="Wingdings" pitchFamily="1" charset="2"/>
              <a:buChar char="§"/>
            </a:pPr>
            <a:r>
              <a:rPr lang="en-GB"/>
              <a:t>x RSVP queues 0 -&gt; 1000 [def: 0]</a:t>
            </a:r>
          </a:p>
          <a:p>
            <a:pPr marL="574675" lvl="1" algn="l" defTabSz="814388">
              <a:lnSpc>
                <a:spcPct val="95000"/>
              </a:lnSpc>
              <a:spcBef>
                <a:spcPct val="35000"/>
              </a:spcBef>
            </a:pPr>
            <a:r>
              <a:rPr lang="en-GB"/>
              <a:t>Weight of RSVP flow with largest BW reservation = 4 (6 after 12.0(5)T)</a:t>
            </a:r>
          </a:p>
        </p:txBody>
      </p:sp>
      <p:sp>
        <p:nvSpPr>
          <p:cNvPr id="17412" name="Rectangle 4"/>
          <p:cNvSpPr>
            <a:spLocks noChangeArrowheads="1"/>
          </p:cNvSpPr>
          <p:nvPr/>
        </p:nvSpPr>
        <p:spPr bwMode="auto">
          <a:xfrm>
            <a:off x="2333626" y="312738"/>
            <a:ext cx="6778625" cy="1016000"/>
          </a:xfrm>
          <a:prstGeom prst="rect">
            <a:avLst/>
          </a:prstGeom>
          <a:noFill/>
          <a:ln w="9525">
            <a:noFill/>
            <a:miter lim="800000"/>
            <a:headEnd/>
            <a:tailEnd/>
          </a:ln>
        </p:spPr>
        <p:txBody>
          <a:bodyPr lIns="73025" tIns="36512" rIns="73025" bIns="36512" anchor="ctr">
            <a:prstTxWarp prst="textNoShape">
              <a:avLst/>
            </a:prstTxWarp>
          </a:bodyPr>
          <a:lstStyle/>
          <a:p>
            <a:pPr algn="l" defTabSz="814388" eaLnBrk="1" hangingPunct="1"/>
            <a:r>
              <a:rPr lang="en-GB" sz="3200" b="1">
                <a:solidFill>
                  <a:schemeClr val="folHlink"/>
                </a:solidFill>
              </a:rPr>
              <a:t>WFQ: Per-Flow Sub queues</a:t>
            </a: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ChangeArrowheads="1"/>
          </p:cNvSpPr>
          <p:nvPr/>
        </p:nvSpPr>
        <p:spPr bwMode="auto">
          <a:xfrm>
            <a:off x="1828800" y="1676400"/>
            <a:ext cx="8382000" cy="1981200"/>
          </a:xfrm>
          <a:prstGeom prst="rect">
            <a:avLst/>
          </a:prstGeom>
          <a:solidFill>
            <a:schemeClr val="folHlink"/>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175107" name="Rectangle 3"/>
          <p:cNvSpPr>
            <a:spLocks noChangeArrowheads="1"/>
          </p:cNvSpPr>
          <p:nvPr/>
        </p:nvSpPr>
        <p:spPr bwMode="auto">
          <a:xfrm>
            <a:off x="1981200" y="4038600"/>
            <a:ext cx="8077200" cy="1295400"/>
          </a:xfrm>
          <a:prstGeom prst="rect">
            <a:avLst/>
          </a:prstGeom>
          <a:no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18436" name="Rectangle 4"/>
          <p:cNvSpPr>
            <a:spLocks noGrp="1" noChangeArrowheads="1"/>
          </p:cNvSpPr>
          <p:nvPr>
            <p:ph type="title"/>
          </p:nvPr>
        </p:nvSpPr>
        <p:spPr/>
        <p:txBody>
          <a:bodyPr/>
          <a:lstStyle/>
          <a:p>
            <a:pPr eaLnBrk="1" hangingPunct="1"/>
            <a:r>
              <a:rPr lang="en-GB">
                <a:solidFill>
                  <a:schemeClr val="folHlink"/>
                </a:solidFill>
              </a:rPr>
              <a:t>WFQ: Per-Flow Sub queue</a:t>
            </a:r>
          </a:p>
        </p:txBody>
      </p:sp>
      <p:sp>
        <p:nvSpPr>
          <p:cNvPr id="18437" name="Rectangle 5"/>
          <p:cNvSpPr>
            <a:spLocks noGrp="1" noChangeArrowheads="1"/>
          </p:cNvSpPr>
          <p:nvPr>
            <p:ph idx="1"/>
          </p:nvPr>
        </p:nvSpPr>
        <p:spPr>
          <a:xfrm>
            <a:off x="2179639" y="4237038"/>
            <a:ext cx="7940675" cy="1568450"/>
          </a:xfrm>
        </p:spPr>
        <p:txBody>
          <a:bodyPr/>
          <a:lstStyle/>
          <a:p>
            <a:r>
              <a:rPr lang="en-GB"/>
              <a:t>In theory, 1 Sub-queue per Flow (= conversation)</a:t>
            </a:r>
          </a:p>
          <a:p>
            <a:r>
              <a:rPr lang="en-GB"/>
              <a:t>In practice, </a:t>
            </a:r>
            <a:r>
              <a:rPr lang="en-GB">
                <a:solidFill>
                  <a:schemeClr val="folHlink"/>
                </a:solidFill>
              </a:rPr>
              <a:t>Flows are hashed</a:t>
            </a:r>
            <a:r>
              <a:rPr lang="en-GB"/>
              <a:t> in a set number of sub-queues (16 up to 4096)</a:t>
            </a:r>
          </a:p>
        </p:txBody>
      </p:sp>
      <p:sp>
        <p:nvSpPr>
          <p:cNvPr id="18438" name="Text Box 6"/>
          <p:cNvSpPr txBox="1">
            <a:spLocks noChangeArrowheads="1"/>
          </p:cNvSpPr>
          <p:nvPr/>
        </p:nvSpPr>
        <p:spPr bwMode="auto">
          <a:xfrm>
            <a:off x="1981201" y="1676401"/>
            <a:ext cx="8418513" cy="2024063"/>
          </a:xfrm>
          <a:prstGeom prst="rect">
            <a:avLst/>
          </a:prstGeom>
          <a:noFill/>
          <a:ln w="9525">
            <a:noFill/>
            <a:miter lim="800000"/>
            <a:headEnd type="none" w="sm" len="sm"/>
            <a:tailEnd type="none" w="sm" len="sm"/>
          </a:ln>
        </p:spPr>
        <p:txBody>
          <a:bodyPr lIns="102833" tIns="51417" rIns="102833" bIns="51417">
            <a:prstTxWarp prst="textNoShape">
              <a:avLst/>
            </a:prstTxWarp>
            <a:spAutoFit/>
          </a:bodyPr>
          <a:lstStyle/>
          <a:p>
            <a:pPr algn="l" defTabSz="1028700">
              <a:lnSpc>
                <a:spcPct val="100000"/>
              </a:lnSpc>
            </a:pPr>
            <a:r>
              <a:rPr lang="en-GB" sz="1800">
                <a:latin typeface="Courier New" pitchFamily="1" charset="0"/>
              </a:rPr>
              <a:t>router#</a:t>
            </a:r>
            <a:r>
              <a:rPr lang="en-GB" sz="1800" b="1">
                <a:latin typeface="Courier New" pitchFamily="1" charset="0"/>
              </a:rPr>
              <a:t>sh int s 0</a:t>
            </a:r>
          </a:p>
          <a:p>
            <a:pPr algn="l" defTabSz="1028700">
              <a:lnSpc>
                <a:spcPct val="100000"/>
              </a:lnSpc>
            </a:pPr>
            <a:r>
              <a:rPr lang="en-GB" sz="1800">
                <a:latin typeface="Courier New" pitchFamily="1" charset="0"/>
              </a:rPr>
              <a:t>  Input queue: 0/75/0 (size/max/drops); Total output drops: 10607</a:t>
            </a:r>
          </a:p>
          <a:p>
            <a:pPr algn="l" defTabSz="1028700">
              <a:lnSpc>
                <a:spcPct val="100000"/>
              </a:lnSpc>
            </a:pPr>
            <a:r>
              <a:rPr lang="en-GB" sz="1800">
                <a:latin typeface="Courier New" pitchFamily="1" charset="0"/>
              </a:rPr>
              <a:t>  Queueing strategy: weighted fair</a:t>
            </a:r>
          </a:p>
          <a:p>
            <a:pPr algn="l" defTabSz="1028700">
              <a:lnSpc>
                <a:spcPct val="100000"/>
              </a:lnSpc>
            </a:pPr>
            <a:r>
              <a:rPr lang="en-GB" sz="1800">
                <a:latin typeface="Courier New" pitchFamily="1" charset="0"/>
              </a:rPr>
              <a:t>  Output queue: 65/64/10607 (size/threshold/drops) </a:t>
            </a:r>
          </a:p>
          <a:p>
            <a:pPr algn="l" defTabSz="1028700">
              <a:lnSpc>
                <a:spcPct val="100000"/>
              </a:lnSpc>
            </a:pPr>
            <a:r>
              <a:rPr lang="en-GB" sz="1800">
                <a:latin typeface="Courier New" pitchFamily="1" charset="0"/>
              </a:rPr>
              <a:t>     </a:t>
            </a:r>
            <a:r>
              <a:rPr lang="en-GB" sz="1800" b="1">
                <a:latin typeface="Courier New" pitchFamily="1" charset="0"/>
              </a:rPr>
              <a:t>Conversations  3/5 (active/max active)</a:t>
            </a:r>
          </a:p>
          <a:p>
            <a:pPr algn="l" defTabSz="1028700">
              <a:lnSpc>
                <a:spcPct val="100000"/>
              </a:lnSpc>
            </a:pPr>
            <a:r>
              <a:rPr lang="en-GB" sz="1800">
                <a:latin typeface="Courier New" pitchFamily="1" charset="0"/>
              </a:rPr>
              <a:t>     Reserved Conversations 0/0 (allocated/max allocated)</a:t>
            </a: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ChangeArrowheads="1"/>
          </p:cNvSpPr>
          <p:nvPr/>
        </p:nvSpPr>
        <p:spPr bwMode="auto">
          <a:xfrm>
            <a:off x="1847850" y="1773238"/>
            <a:ext cx="8439150" cy="2036762"/>
          </a:xfrm>
          <a:prstGeom prst="rect">
            <a:avLst/>
          </a:prstGeom>
          <a:solidFill>
            <a:schemeClr val="folHlink"/>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19459" name="Rectangle 3"/>
          <p:cNvSpPr>
            <a:spLocks noGrp="1" noChangeArrowheads="1"/>
          </p:cNvSpPr>
          <p:nvPr>
            <p:ph type="title"/>
          </p:nvPr>
        </p:nvSpPr>
        <p:spPr>
          <a:xfrm>
            <a:off x="2001839" y="381000"/>
            <a:ext cx="7623175" cy="838200"/>
          </a:xfrm>
          <a:noFill/>
        </p:spPr>
        <p:txBody>
          <a:bodyPr anchor="ctr"/>
          <a:lstStyle/>
          <a:p>
            <a:pPr eaLnBrk="1" hangingPunct="1"/>
            <a:r>
              <a:rPr lang="en-GB">
                <a:solidFill>
                  <a:schemeClr val="folHlink"/>
                </a:solidFill>
              </a:rPr>
              <a:t>Finish Time</a:t>
            </a:r>
          </a:p>
        </p:txBody>
      </p:sp>
      <p:sp>
        <p:nvSpPr>
          <p:cNvPr id="19460" name="Rectangle 4"/>
          <p:cNvSpPr>
            <a:spLocks noGrp="1" noChangeArrowheads="1"/>
          </p:cNvSpPr>
          <p:nvPr>
            <p:ph idx="1"/>
          </p:nvPr>
        </p:nvSpPr>
        <p:spPr>
          <a:xfrm>
            <a:off x="1703389" y="1543050"/>
            <a:ext cx="8656637" cy="4191000"/>
          </a:xfrm>
          <a:noFill/>
        </p:spPr>
        <p:txBody>
          <a:bodyPr anchor="ctr" anchorCtr="1">
            <a:normAutofit fontScale="92500"/>
          </a:bodyPr>
          <a:lstStyle/>
          <a:p>
            <a:pPr>
              <a:lnSpc>
                <a:spcPct val="90000"/>
              </a:lnSpc>
              <a:spcBef>
                <a:spcPct val="40000"/>
              </a:spcBef>
            </a:pPr>
            <a:endParaRPr lang="en-GB"/>
          </a:p>
          <a:p>
            <a:pPr>
              <a:lnSpc>
                <a:spcPct val="90000"/>
              </a:lnSpc>
              <a:spcBef>
                <a:spcPct val="40000"/>
              </a:spcBef>
              <a:buFont typeface="Wingdings" pitchFamily="1" charset="2"/>
              <a:buNone/>
            </a:pPr>
            <a:r>
              <a:rPr lang="en-GB"/>
              <a:t>Each packet is tagged with its </a:t>
            </a:r>
            <a:r>
              <a:rPr lang="en-GB">
                <a:solidFill>
                  <a:schemeClr val="bg1"/>
                </a:solidFill>
              </a:rPr>
              <a:t>Finish time in a virtual TDM system.</a:t>
            </a:r>
          </a:p>
          <a:p>
            <a:pPr>
              <a:lnSpc>
                <a:spcPct val="90000"/>
              </a:lnSpc>
              <a:spcBef>
                <a:spcPct val="40000"/>
              </a:spcBef>
              <a:buFont typeface="Wingdings" pitchFamily="1" charset="2"/>
              <a:buNone/>
            </a:pPr>
            <a:r>
              <a:rPr lang="en-GB"/>
              <a:t>The scheduler selects the packets with the </a:t>
            </a:r>
            <a:r>
              <a:rPr lang="en-GB">
                <a:solidFill>
                  <a:schemeClr val="bg1"/>
                </a:solidFill>
              </a:rPr>
              <a:t>earliest finish time tag</a:t>
            </a:r>
            <a:r>
              <a:rPr lang="en-GB"/>
              <a:t> (thus the packet that leaves the virtual TDM the earliest)</a:t>
            </a:r>
          </a:p>
          <a:p>
            <a:pPr>
              <a:lnSpc>
                <a:spcPct val="90000"/>
              </a:lnSpc>
              <a:spcBef>
                <a:spcPct val="40000"/>
              </a:spcBef>
            </a:pPr>
            <a:endParaRPr lang="en-GB"/>
          </a:p>
          <a:p>
            <a:pPr>
              <a:lnSpc>
                <a:spcPct val="90000"/>
              </a:lnSpc>
              <a:spcBef>
                <a:spcPct val="40000"/>
              </a:spcBef>
            </a:pPr>
            <a:endParaRPr lang="en-GB" sz="1700"/>
          </a:p>
          <a:p>
            <a:pPr>
              <a:lnSpc>
                <a:spcPct val="90000"/>
              </a:lnSpc>
              <a:spcBef>
                <a:spcPct val="40000"/>
              </a:spcBef>
              <a:buFont typeface="Wingdings" pitchFamily="1" charset="2"/>
              <a:buNone/>
            </a:pPr>
            <a:endParaRPr lang="en-GB" sz="2000" i="1"/>
          </a:p>
          <a:p>
            <a:pPr>
              <a:lnSpc>
                <a:spcPct val="90000"/>
              </a:lnSpc>
              <a:spcBef>
                <a:spcPct val="40000"/>
              </a:spcBef>
              <a:buFont typeface="Wingdings" pitchFamily="1" charset="2"/>
              <a:buNone/>
            </a:pPr>
            <a:endParaRPr lang="en-GB" sz="2000" i="1"/>
          </a:p>
          <a:p>
            <a:pPr>
              <a:lnSpc>
                <a:spcPct val="90000"/>
              </a:lnSpc>
              <a:spcBef>
                <a:spcPct val="40000"/>
              </a:spcBef>
              <a:buFont typeface="Wingdings" pitchFamily="1" charset="2"/>
              <a:buNone/>
            </a:pPr>
            <a:r>
              <a:rPr lang="en-GB" sz="2000" i="1"/>
              <a:t>"On the Efficient Implementation of Fair Queueing", Keshav, Berkeley, 1994</a:t>
            </a:r>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2057400" y="2133600"/>
            <a:ext cx="8153400" cy="1905000"/>
          </a:xfrm>
          <a:prstGeom prst="rect">
            <a:avLst/>
          </a:prstGeom>
          <a:solidFill>
            <a:schemeClr val="folHlink"/>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20483" name="Rectangle 3"/>
          <p:cNvSpPr>
            <a:spLocks noChangeArrowheads="1"/>
          </p:cNvSpPr>
          <p:nvPr/>
        </p:nvSpPr>
        <p:spPr bwMode="auto">
          <a:xfrm>
            <a:off x="2057400" y="2133601"/>
            <a:ext cx="8077200" cy="3730625"/>
          </a:xfrm>
          <a:prstGeom prst="rect">
            <a:avLst/>
          </a:prstGeom>
          <a:noFill/>
          <a:ln w="9525">
            <a:noFill/>
            <a:miter lim="800000"/>
            <a:headEnd/>
            <a:tailEnd/>
          </a:ln>
        </p:spPr>
        <p:txBody>
          <a:bodyPr lIns="73025" tIns="36512" rIns="73025" bIns="36512">
            <a:prstTxWarp prst="textNoShape">
              <a:avLst/>
            </a:prstTxWarp>
            <a:spAutoFit/>
          </a:bodyPr>
          <a:lstStyle/>
          <a:p>
            <a:pPr marL="457200" indent="-457200" algn="l">
              <a:lnSpc>
                <a:spcPct val="100000"/>
              </a:lnSpc>
              <a:buFontTx/>
              <a:buAutoNum type="arabicPeriod"/>
            </a:pPr>
            <a:r>
              <a:rPr lang="en-GB" sz="2000">
                <a:solidFill>
                  <a:schemeClr val="bg1"/>
                </a:solidFill>
              </a:rPr>
              <a:t>Classify packet</a:t>
            </a:r>
            <a:r>
              <a:rPr lang="en-GB" sz="2000"/>
              <a:t> to match a sub-queue (</a:t>
            </a:r>
            <a:r>
              <a:rPr lang="en-GB" sz="2000">
                <a:solidFill>
                  <a:schemeClr val="bg1"/>
                </a:solidFill>
              </a:rPr>
              <a:t>hashing</a:t>
            </a:r>
            <a:r>
              <a:rPr lang="en-GB" sz="2000"/>
              <a:t>)</a:t>
            </a:r>
            <a:endParaRPr lang="en-US" sz="2000"/>
          </a:p>
          <a:p>
            <a:pPr marL="457200" indent="-457200" algn="l">
              <a:lnSpc>
                <a:spcPct val="100000"/>
              </a:lnSpc>
              <a:buFontTx/>
              <a:buAutoNum type="arabicPeriod"/>
            </a:pPr>
            <a:r>
              <a:rPr lang="en-GB" sz="2000"/>
              <a:t>Calculate the </a:t>
            </a:r>
            <a:r>
              <a:rPr lang="en-GB" sz="2000">
                <a:solidFill>
                  <a:schemeClr val="bg1"/>
                </a:solidFill>
              </a:rPr>
              <a:t>current round number</a:t>
            </a:r>
            <a:r>
              <a:rPr lang="en-GB" sz="2000"/>
              <a:t> (as in a bit-wise per-flow TDM)</a:t>
            </a:r>
          </a:p>
          <a:p>
            <a:pPr marL="457200" indent="-457200" algn="l">
              <a:lnSpc>
                <a:spcPct val="100000"/>
              </a:lnSpc>
              <a:buFontTx/>
              <a:buAutoNum type="arabicPeriod"/>
            </a:pPr>
            <a:r>
              <a:rPr lang="en-GB" sz="2000">
                <a:solidFill>
                  <a:schemeClr val="bg1"/>
                </a:solidFill>
              </a:rPr>
              <a:t>Calculate the finishing time</a:t>
            </a:r>
            <a:r>
              <a:rPr lang="en-GB" sz="2000"/>
              <a:t> for each packet as it arrives. In WFQ, the FT will be calculated based on the round number, packet size and Weight.</a:t>
            </a:r>
            <a:endParaRPr lang="en-US" sz="2000"/>
          </a:p>
          <a:p>
            <a:pPr marL="457200" indent="-457200" algn="l">
              <a:lnSpc>
                <a:spcPct val="100000"/>
              </a:lnSpc>
            </a:pPr>
            <a:endParaRPr lang="en-US" sz="2000"/>
          </a:p>
          <a:p>
            <a:pPr marL="457200" indent="-457200" algn="l">
              <a:lnSpc>
                <a:spcPct val="100000"/>
              </a:lnSpc>
            </a:pPr>
            <a:endParaRPr lang="en-US" sz="2000"/>
          </a:p>
          <a:p>
            <a:pPr marL="457200" indent="-457200" algn="l">
              <a:lnSpc>
                <a:spcPct val="100000"/>
              </a:lnSpc>
            </a:pPr>
            <a:r>
              <a:rPr lang="en-US" sz="2000"/>
              <a:t>The scheduler will serve packets from different queues based upon the Finishing Time (FT).  The packet with the lowest FT will be the one to be sent to the transmit queue. </a:t>
            </a:r>
          </a:p>
          <a:p>
            <a:pPr marL="457200" indent="-457200" algn="l">
              <a:lnSpc>
                <a:spcPct val="100000"/>
              </a:lnSpc>
            </a:pPr>
            <a:endParaRPr lang="en-US" sz="2000"/>
          </a:p>
        </p:txBody>
      </p:sp>
      <p:sp>
        <p:nvSpPr>
          <p:cNvPr id="20484" name="Rectangle 4"/>
          <p:cNvSpPr>
            <a:spLocks noGrp="1" noChangeArrowheads="1"/>
          </p:cNvSpPr>
          <p:nvPr>
            <p:ph type="title"/>
          </p:nvPr>
        </p:nvSpPr>
        <p:spPr/>
        <p:txBody>
          <a:bodyPr/>
          <a:lstStyle/>
          <a:p>
            <a:pPr eaLnBrk="1" hangingPunct="1"/>
            <a:r>
              <a:rPr lang="en-US">
                <a:solidFill>
                  <a:schemeClr val="folHlink"/>
                </a:solidFill>
              </a:rPr>
              <a:t>Weighted Fair Queuing</a:t>
            </a: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ChangeArrowheads="1"/>
          </p:cNvSpPr>
          <p:nvPr/>
        </p:nvSpPr>
        <p:spPr bwMode="auto">
          <a:xfrm>
            <a:off x="2133600" y="4267200"/>
            <a:ext cx="7848600" cy="914400"/>
          </a:xfrm>
          <a:prstGeom prst="rect">
            <a:avLst/>
          </a:prstGeom>
          <a:solidFill>
            <a:schemeClr val="folHlink"/>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180227" name="Rectangle 3"/>
          <p:cNvSpPr>
            <a:spLocks noChangeArrowheads="1"/>
          </p:cNvSpPr>
          <p:nvPr/>
        </p:nvSpPr>
        <p:spPr bwMode="auto">
          <a:xfrm>
            <a:off x="2133600" y="2852738"/>
            <a:ext cx="7848600" cy="914400"/>
          </a:xfrm>
          <a:prstGeom prst="rect">
            <a:avLst/>
          </a:prstGeom>
          <a:solidFill>
            <a:schemeClr val="folHlink"/>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21508" name="Rectangle 4"/>
          <p:cNvSpPr>
            <a:spLocks noGrp="1" noChangeArrowheads="1"/>
          </p:cNvSpPr>
          <p:nvPr>
            <p:ph type="title"/>
          </p:nvPr>
        </p:nvSpPr>
        <p:spPr/>
        <p:txBody>
          <a:bodyPr/>
          <a:lstStyle/>
          <a:p>
            <a:pPr eaLnBrk="1" hangingPunct="1"/>
            <a:r>
              <a:rPr lang="en-US">
                <a:solidFill>
                  <a:schemeClr val="folHlink"/>
                </a:solidFill>
              </a:rPr>
              <a:t>Computing Finish Time (FT)</a:t>
            </a:r>
          </a:p>
        </p:txBody>
      </p:sp>
      <p:sp>
        <p:nvSpPr>
          <p:cNvPr id="21509" name="Rectangle 5"/>
          <p:cNvSpPr>
            <a:spLocks noGrp="1" noChangeArrowheads="1"/>
          </p:cNvSpPr>
          <p:nvPr>
            <p:ph idx="1"/>
          </p:nvPr>
        </p:nvSpPr>
        <p:spPr>
          <a:xfrm>
            <a:off x="2208214" y="1268414"/>
            <a:ext cx="8224837" cy="4054475"/>
          </a:xfrm>
        </p:spPr>
        <p:txBody>
          <a:bodyPr>
            <a:normAutofit fontScale="92500" lnSpcReduction="10000"/>
          </a:bodyPr>
          <a:lstStyle/>
          <a:p>
            <a:pPr>
              <a:lnSpc>
                <a:spcPct val="75000"/>
              </a:lnSpc>
              <a:buSzTx/>
              <a:buFont typeface="Wingdings" pitchFamily="1" charset="2"/>
              <a:buNone/>
            </a:pPr>
            <a:r>
              <a:rPr lang="en-US"/>
              <a:t> The higher the IP Prec, the lower the weight, and the higher the priority and the share of the bandwidth. </a:t>
            </a:r>
          </a:p>
          <a:p>
            <a:pPr>
              <a:lnSpc>
                <a:spcPct val="75000"/>
              </a:lnSpc>
              <a:buSzTx/>
              <a:buFont typeface="Wingdings" pitchFamily="1" charset="2"/>
              <a:buNone/>
            </a:pPr>
            <a:r>
              <a:rPr lang="en-US"/>
              <a:t> We use </a:t>
            </a:r>
            <a:r>
              <a:rPr lang="en-US">
                <a:solidFill>
                  <a:schemeClr val="folHlink"/>
                </a:solidFill>
              </a:rPr>
              <a:t>weight</a:t>
            </a:r>
            <a:r>
              <a:rPr lang="en-US"/>
              <a:t> and </a:t>
            </a:r>
            <a:r>
              <a:rPr lang="en-US">
                <a:solidFill>
                  <a:schemeClr val="folHlink"/>
                </a:solidFill>
              </a:rPr>
              <a:t>packet size</a:t>
            </a:r>
            <a:r>
              <a:rPr lang="en-US"/>
              <a:t> to calculate FT like this : </a:t>
            </a:r>
          </a:p>
          <a:p>
            <a:pPr>
              <a:lnSpc>
                <a:spcPct val="75000"/>
              </a:lnSpc>
              <a:buSzTx/>
              <a:buFont typeface="Wingdings" pitchFamily="1" charset="2"/>
              <a:buNone/>
            </a:pPr>
            <a:endParaRPr lang="en-US"/>
          </a:p>
          <a:p>
            <a:pPr>
              <a:lnSpc>
                <a:spcPct val="75000"/>
              </a:lnSpc>
              <a:buSzTx/>
              <a:buFont typeface="Wingdings" pitchFamily="1" charset="2"/>
              <a:buNone/>
            </a:pPr>
            <a:r>
              <a:rPr lang="en-US"/>
              <a:t>If Flow F Active, </a:t>
            </a:r>
          </a:p>
          <a:p>
            <a:pPr lvl="1" indent="0">
              <a:lnSpc>
                <a:spcPct val="75000"/>
              </a:lnSpc>
            </a:pPr>
            <a:r>
              <a:rPr lang="en-US" sz="2400"/>
              <a:t>FT(Pfk+1) = FT(Pfk) + Size(Pfk+1) * W </a:t>
            </a:r>
          </a:p>
          <a:p>
            <a:pPr lvl="1" indent="0">
              <a:lnSpc>
                <a:spcPct val="75000"/>
              </a:lnSpc>
            </a:pPr>
            <a:endParaRPr lang="en-US" sz="3200"/>
          </a:p>
          <a:p>
            <a:pPr>
              <a:lnSpc>
                <a:spcPct val="75000"/>
              </a:lnSpc>
              <a:buSzTx/>
              <a:buFont typeface="Wingdings" pitchFamily="1" charset="2"/>
              <a:buNone/>
            </a:pPr>
            <a:r>
              <a:rPr lang="en-US"/>
              <a:t>Else, </a:t>
            </a:r>
          </a:p>
          <a:p>
            <a:pPr lvl="1" indent="0">
              <a:lnSpc>
                <a:spcPct val="75000"/>
              </a:lnSpc>
            </a:pPr>
            <a:r>
              <a:rPr lang="en-US" sz="2400"/>
              <a:t>FT(Pf0) = Now + Size(Pf0) * W </a:t>
            </a:r>
          </a:p>
          <a:p>
            <a:pPr lvl="1" indent="0">
              <a:lnSpc>
                <a:spcPct val="75000"/>
              </a:lnSpc>
            </a:pPr>
            <a:endParaRPr lang="en-US" sz="2400"/>
          </a:p>
          <a:p>
            <a:pPr>
              <a:lnSpc>
                <a:spcPct val="75000"/>
              </a:lnSpc>
              <a:buSzTx/>
              <a:buFont typeface="Wingdings" pitchFamily="1" charset="2"/>
              <a:buNone/>
            </a:pPr>
            <a:r>
              <a:rPr lang="en-US"/>
              <a:t>With Pfk being an already enqueued packet and Pf0 a first packet that comes into a queue. b</a:t>
            </a: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2632075" y="3916363"/>
            <a:ext cx="12700"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31" name="Rectangle 3"/>
          <p:cNvSpPr>
            <a:spLocks noChangeArrowheads="1"/>
          </p:cNvSpPr>
          <p:nvPr/>
        </p:nvSpPr>
        <p:spPr bwMode="auto">
          <a:xfrm>
            <a:off x="2589214" y="3916363"/>
            <a:ext cx="14287"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32" name="Rectangle 4"/>
          <p:cNvSpPr>
            <a:spLocks noChangeArrowheads="1"/>
          </p:cNvSpPr>
          <p:nvPr/>
        </p:nvSpPr>
        <p:spPr bwMode="auto">
          <a:xfrm>
            <a:off x="2549525" y="3916363"/>
            <a:ext cx="14288"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33" name="Rectangle 5"/>
          <p:cNvSpPr>
            <a:spLocks noChangeArrowheads="1"/>
          </p:cNvSpPr>
          <p:nvPr/>
        </p:nvSpPr>
        <p:spPr bwMode="auto">
          <a:xfrm>
            <a:off x="2508250" y="3916363"/>
            <a:ext cx="14288"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34" name="Rectangle 6"/>
          <p:cNvSpPr>
            <a:spLocks noChangeArrowheads="1"/>
          </p:cNvSpPr>
          <p:nvPr/>
        </p:nvSpPr>
        <p:spPr bwMode="auto">
          <a:xfrm>
            <a:off x="2466975" y="3916363"/>
            <a:ext cx="14288"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35" name="Rectangle 7"/>
          <p:cNvSpPr>
            <a:spLocks noChangeArrowheads="1"/>
          </p:cNvSpPr>
          <p:nvPr/>
        </p:nvSpPr>
        <p:spPr bwMode="auto">
          <a:xfrm>
            <a:off x="2425700" y="3916363"/>
            <a:ext cx="14288"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36" name="Rectangle 8"/>
          <p:cNvSpPr>
            <a:spLocks noChangeArrowheads="1"/>
          </p:cNvSpPr>
          <p:nvPr/>
        </p:nvSpPr>
        <p:spPr bwMode="auto">
          <a:xfrm>
            <a:off x="2384425" y="3916363"/>
            <a:ext cx="14288"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37" name="Rectangle 9"/>
          <p:cNvSpPr>
            <a:spLocks noChangeArrowheads="1"/>
          </p:cNvSpPr>
          <p:nvPr/>
        </p:nvSpPr>
        <p:spPr bwMode="auto">
          <a:xfrm>
            <a:off x="2343150" y="3916363"/>
            <a:ext cx="14288"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38" name="Rectangle 10"/>
          <p:cNvSpPr>
            <a:spLocks noChangeArrowheads="1"/>
          </p:cNvSpPr>
          <p:nvPr/>
        </p:nvSpPr>
        <p:spPr bwMode="auto">
          <a:xfrm>
            <a:off x="2301875" y="3916363"/>
            <a:ext cx="14288"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39" name="Rectangle 11"/>
          <p:cNvSpPr>
            <a:spLocks noChangeArrowheads="1"/>
          </p:cNvSpPr>
          <p:nvPr/>
        </p:nvSpPr>
        <p:spPr bwMode="auto">
          <a:xfrm>
            <a:off x="2262189" y="3916363"/>
            <a:ext cx="14287"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40" name="Rectangle 12"/>
          <p:cNvSpPr>
            <a:spLocks noChangeArrowheads="1"/>
          </p:cNvSpPr>
          <p:nvPr/>
        </p:nvSpPr>
        <p:spPr bwMode="auto">
          <a:xfrm>
            <a:off x="2220914" y="3916363"/>
            <a:ext cx="14287"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41" name="Rectangle 13"/>
          <p:cNvSpPr>
            <a:spLocks noChangeArrowheads="1"/>
          </p:cNvSpPr>
          <p:nvPr/>
        </p:nvSpPr>
        <p:spPr bwMode="auto">
          <a:xfrm>
            <a:off x="2179639" y="3916363"/>
            <a:ext cx="14287" cy="4762"/>
          </a:xfrm>
          <a:prstGeom prst="rect">
            <a:avLst/>
          </a:prstGeom>
          <a:solidFill>
            <a:srgbClr val="000000"/>
          </a:solidFill>
          <a:ln w="9525">
            <a:noFill/>
            <a:miter lim="800000"/>
            <a:headEnd/>
            <a:tailEnd/>
          </a:ln>
        </p:spPr>
        <p:txBody>
          <a:bodyPr>
            <a:prstTxWarp prst="textNoShape">
              <a:avLst/>
            </a:prstTxWarp>
          </a:bodyPr>
          <a:lstStyle/>
          <a:p>
            <a:endParaRPr lang="en-US"/>
          </a:p>
        </p:txBody>
      </p:sp>
      <p:sp>
        <p:nvSpPr>
          <p:cNvPr id="22542" name="Line 14"/>
          <p:cNvSpPr>
            <a:spLocks noChangeShapeType="1"/>
          </p:cNvSpPr>
          <p:nvPr/>
        </p:nvSpPr>
        <p:spPr bwMode="auto">
          <a:xfrm flipH="1">
            <a:off x="1828801" y="5930901"/>
            <a:ext cx="7808913" cy="3175"/>
          </a:xfrm>
          <a:prstGeom prst="line">
            <a:avLst/>
          </a:prstGeom>
          <a:noFill/>
          <a:ln w="9525">
            <a:solidFill>
              <a:srgbClr val="000000"/>
            </a:solidFill>
            <a:round/>
            <a:headEnd/>
            <a:tailEnd type="triangle" w="med" len="med"/>
          </a:ln>
        </p:spPr>
        <p:txBody>
          <a:bodyPr lIns="0" tIns="0" rIns="0" bIns="0">
            <a:prstTxWarp prst="textNoShape">
              <a:avLst/>
            </a:prstTxWarp>
            <a:spAutoFit/>
          </a:bodyPr>
          <a:lstStyle/>
          <a:p>
            <a:endParaRPr lang="en-US"/>
          </a:p>
        </p:txBody>
      </p:sp>
      <p:sp>
        <p:nvSpPr>
          <p:cNvPr id="22543" name="Line 15"/>
          <p:cNvSpPr>
            <a:spLocks noChangeShapeType="1"/>
          </p:cNvSpPr>
          <p:nvPr/>
        </p:nvSpPr>
        <p:spPr bwMode="auto">
          <a:xfrm flipH="1">
            <a:off x="2873375" y="4765675"/>
            <a:ext cx="6764338" cy="1588"/>
          </a:xfrm>
          <a:prstGeom prst="line">
            <a:avLst/>
          </a:prstGeom>
          <a:noFill/>
          <a:ln w="9525">
            <a:solidFill>
              <a:srgbClr val="000000"/>
            </a:solidFill>
            <a:round/>
            <a:headEnd/>
            <a:tailEnd/>
          </a:ln>
        </p:spPr>
        <p:txBody>
          <a:bodyPr wrap="none" lIns="0" tIns="0" rIns="0" bIns="0">
            <a:prstTxWarp prst="textNoShape">
              <a:avLst/>
            </a:prstTxWarp>
            <a:spAutoFit/>
          </a:bodyPr>
          <a:lstStyle/>
          <a:p>
            <a:endParaRPr lang="en-US"/>
          </a:p>
        </p:txBody>
      </p:sp>
      <p:sp>
        <p:nvSpPr>
          <p:cNvPr id="22544" name="Freeform 16"/>
          <p:cNvSpPr>
            <a:spLocks/>
          </p:cNvSpPr>
          <p:nvPr/>
        </p:nvSpPr>
        <p:spPr bwMode="auto">
          <a:xfrm>
            <a:off x="2844768" y="4721226"/>
            <a:ext cx="65" cy="332399"/>
          </a:xfrm>
          <a:custGeom>
            <a:avLst/>
            <a:gdLst>
              <a:gd name="T0" fmla="*/ 129 w 129"/>
              <a:gd name="T1" fmla="*/ 111 h 111"/>
              <a:gd name="T2" fmla="*/ 129 w 129"/>
              <a:gd name="T3" fmla="*/ 0 h 111"/>
              <a:gd name="T4" fmla="*/ 0 w 129"/>
              <a:gd name="T5" fmla="*/ 55 h 111"/>
              <a:gd name="T6" fmla="*/ 129 w 129"/>
              <a:gd name="T7" fmla="*/ 111 h 111"/>
              <a:gd name="T8" fmla="*/ 0 60000 65536"/>
              <a:gd name="T9" fmla="*/ 0 60000 65536"/>
              <a:gd name="T10" fmla="*/ 0 60000 65536"/>
              <a:gd name="T11" fmla="*/ 0 60000 65536"/>
              <a:gd name="T12" fmla="*/ 0 w 129"/>
              <a:gd name="T13" fmla="*/ 0 h 111"/>
              <a:gd name="T14" fmla="*/ 129 w 129"/>
              <a:gd name="T15" fmla="*/ 111 h 111"/>
            </a:gdLst>
            <a:ahLst/>
            <a:cxnLst>
              <a:cxn ang="T8">
                <a:pos x="T0" y="T1"/>
              </a:cxn>
              <a:cxn ang="T9">
                <a:pos x="T2" y="T3"/>
              </a:cxn>
              <a:cxn ang="T10">
                <a:pos x="T4" y="T5"/>
              </a:cxn>
              <a:cxn ang="T11">
                <a:pos x="T6" y="T7"/>
              </a:cxn>
            </a:cxnLst>
            <a:rect l="T12" t="T13" r="T14" b="T15"/>
            <a:pathLst>
              <a:path w="129" h="111">
                <a:moveTo>
                  <a:pt x="129" y="111"/>
                </a:moveTo>
                <a:lnTo>
                  <a:pt x="129" y="0"/>
                </a:lnTo>
                <a:lnTo>
                  <a:pt x="0" y="55"/>
                </a:lnTo>
                <a:lnTo>
                  <a:pt x="129" y="111"/>
                </a:lnTo>
                <a:close/>
              </a:path>
            </a:pathLst>
          </a:custGeom>
          <a:solidFill>
            <a:srgbClr val="000000"/>
          </a:solidFill>
          <a:ln w="1588">
            <a:solidFill>
              <a:srgbClr val="000000"/>
            </a:solidFill>
            <a:round/>
            <a:headEnd/>
            <a:tailEnd/>
          </a:ln>
        </p:spPr>
        <p:txBody>
          <a:bodyPr wrap="none" lIns="0" tIns="0" rIns="0" bIns="0">
            <a:prstTxWarp prst="textNoShape">
              <a:avLst/>
            </a:prstTxWarp>
            <a:spAutoFit/>
          </a:bodyPr>
          <a:lstStyle/>
          <a:p>
            <a:endParaRPr lang="en-US"/>
          </a:p>
        </p:txBody>
      </p:sp>
      <p:sp>
        <p:nvSpPr>
          <p:cNvPr id="22545" name="Line 17"/>
          <p:cNvSpPr>
            <a:spLocks noChangeShapeType="1"/>
          </p:cNvSpPr>
          <p:nvPr/>
        </p:nvSpPr>
        <p:spPr bwMode="auto">
          <a:xfrm>
            <a:off x="9637714" y="4692650"/>
            <a:ext cx="1587" cy="146050"/>
          </a:xfrm>
          <a:prstGeom prst="line">
            <a:avLst/>
          </a:prstGeom>
          <a:noFill/>
          <a:ln w="12700">
            <a:solidFill>
              <a:srgbClr val="000000"/>
            </a:solidFill>
            <a:round/>
            <a:headEnd/>
            <a:tailEnd/>
          </a:ln>
        </p:spPr>
        <p:txBody>
          <a:bodyPr wrap="none" lIns="0" tIns="0" rIns="0" bIns="0">
            <a:prstTxWarp prst="textNoShape">
              <a:avLst/>
            </a:prstTxWarp>
            <a:spAutoFit/>
          </a:bodyPr>
          <a:lstStyle/>
          <a:p>
            <a:endParaRPr lang="en-US"/>
          </a:p>
        </p:txBody>
      </p:sp>
      <p:sp>
        <p:nvSpPr>
          <p:cNvPr id="22546" name="Line 18"/>
          <p:cNvSpPr>
            <a:spLocks noChangeShapeType="1"/>
          </p:cNvSpPr>
          <p:nvPr/>
        </p:nvSpPr>
        <p:spPr bwMode="auto">
          <a:xfrm>
            <a:off x="8589964" y="4692650"/>
            <a:ext cx="1587" cy="146050"/>
          </a:xfrm>
          <a:prstGeom prst="line">
            <a:avLst/>
          </a:prstGeom>
          <a:noFill/>
          <a:ln w="12700">
            <a:solidFill>
              <a:srgbClr val="000000"/>
            </a:solidFill>
            <a:round/>
            <a:headEnd/>
            <a:tailEnd/>
          </a:ln>
        </p:spPr>
        <p:txBody>
          <a:bodyPr wrap="none" lIns="0" tIns="0" rIns="0" bIns="0">
            <a:prstTxWarp prst="textNoShape">
              <a:avLst/>
            </a:prstTxWarp>
            <a:spAutoFit/>
          </a:bodyPr>
          <a:lstStyle/>
          <a:p>
            <a:endParaRPr lang="en-US"/>
          </a:p>
        </p:txBody>
      </p:sp>
      <p:sp>
        <p:nvSpPr>
          <p:cNvPr id="22547" name="Line 19"/>
          <p:cNvSpPr>
            <a:spLocks noChangeShapeType="1"/>
          </p:cNvSpPr>
          <p:nvPr/>
        </p:nvSpPr>
        <p:spPr bwMode="auto">
          <a:xfrm>
            <a:off x="8267700" y="4692650"/>
            <a:ext cx="1588" cy="146050"/>
          </a:xfrm>
          <a:prstGeom prst="line">
            <a:avLst/>
          </a:prstGeom>
          <a:noFill/>
          <a:ln w="12700">
            <a:solidFill>
              <a:srgbClr val="000000"/>
            </a:solidFill>
            <a:round/>
            <a:headEnd/>
            <a:tailEnd/>
          </a:ln>
        </p:spPr>
        <p:txBody>
          <a:bodyPr wrap="none" lIns="0" tIns="0" rIns="0" bIns="0">
            <a:prstTxWarp prst="textNoShape">
              <a:avLst/>
            </a:prstTxWarp>
            <a:spAutoFit/>
          </a:bodyPr>
          <a:lstStyle/>
          <a:p>
            <a:endParaRPr lang="en-US"/>
          </a:p>
        </p:txBody>
      </p:sp>
      <p:sp>
        <p:nvSpPr>
          <p:cNvPr id="22548" name="Line 20"/>
          <p:cNvSpPr>
            <a:spLocks noChangeShapeType="1"/>
          </p:cNvSpPr>
          <p:nvPr/>
        </p:nvSpPr>
        <p:spPr bwMode="auto">
          <a:xfrm>
            <a:off x="7945439" y="4692650"/>
            <a:ext cx="1587" cy="146050"/>
          </a:xfrm>
          <a:prstGeom prst="line">
            <a:avLst/>
          </a:prstGeom>
          <a:noFill/>
          <a:ln w="12700">
            <a:solidFill>
              <a:srgbClr val="000000"/>
            </a:solidFill>
            <a:round/>
            <a:headEnd/>
            <a:tailEnd/>
          </a:ln>
        </p:spPr>
        <p:txBody>
          <a:bodyPr wrap="none" lIns="0" tIns="0" rIns="0" bIns="0">
            <a:prstTxWarp prst="textNoShape">
              <a:avLst/>
            </a:prstTxWarp>
            <a:spAutoFit/>
          </a:bodyPr>
          <a:lstStyle/>
          <a:p>
            <a:endParaRPr lang="en-US"/>
          </a:p>
        </p:txBody>
      </p:sp>
      <p:sp>
        <p:nvSpPr>
          <p:cNvPr id="22549" name="Line 21"/>
          <p:cNvSpPr>
            <a:spLocks noChangeShapeType="1"/>
          </p:cNvSpPr>
          <p:nvPr/>
        </p:nvSpPr>
        <p:spPr bwMode="auto">
          <a:xfrm>
            <a:off x="7302500" y="4692650"/>
            <a:ext cx="1588" cy="146050"/>
          </a:xfrm>
          <a:prstGeom prst="line">
            <a:avLst/>
          </a:prstGeom>
          <a:noFill/>
          <a:ln w="12700">
            <a:solidFill>
              <a:srgbClr val="000000"/>
            </a:solidFill>
            <a:round/>
            <a:headEnd/>
            <a:tailEnd/>
          </a:ln>
        </p:spPr>
        <p:txBody>
          <a:bodyPr wrap="none" lIns="0" tIns="0" rIns="0" bIns="0">
            <a:prstTxWarp prst="textNoShape">
              <a:avLst/>
            </a:prstTxWarp>
            <a:spAutoFit/>
          </a:bodyPr>
          <a:lstStyle/>
          <a:p>
            <a:endParaRPr lang="en-US"/>
          </a:p>
        </p:txBody>
      </p:sp>
      <p:grpSp>
        <p:nvGrpSpPr>
          <p:cNvPr id="2" name="Group 22"/>
          <p:cNvGrpSpPr>
            <a:grpSpLocks/>
          </p:cNvGrpSpPr>
          <p:nvPr/>
        </p:nvGrpSpPr>
        <p:grpSpPr bwMode="auto">
          <a:xfrm>
            <a:off x="2755900" y="3886199"/>
            <a:ext cx="4775200" cy="669100"/>
            <a:chOff x="602" y="2436"/>
            <a:chExt cx="3008" cy="395"/>
          </a:xfrm>
        </p:grpSpPr>
        <p:sp>
          <p:nvSpPr>
            <p:cNvPr id="22589" name="Rectangle 23"/>
            <p:cNvSpPr>
              <a:spLocks noChangeArrowheads="1"/>
            </p:cNvSpPr>
            <p:nvPr/>
          </p:nvSpPr>
          <p:spPr bwMode="auto">
            <a:xfrm>
              <a:off x="2117" y="2635"/>
              <a:ext cx="0" cy="196"/>
            </a:xfrm>
            <a:prstGeom prst="rect">
              <a:avLst/>
            </a:prstGeom>
            <a:solidFill>
              <a:srgbClr val="FF0000"/>
            </a:solidFill>
            <a:ln w="9525">
              <a:solidFill>
                <a:schemeClr val="tx1"/>
              </a:solidFill>
              <a:miter lim="800000"/>
              <a:headEnd/>
              <a:tailEnd/>
            </a:ln>
          </p:spPr>
          <p:txBody>
            <a:bodyPr wrap="none" lIns="0" tIns="0" rIns="0" bIns="0">
              <a:prstTxWarp prst="textNoShape">
                <a:avLst/>
              </a:prstTxWarp>
              <a:spAutoFit/>
            </a:bodyPr>
            <a:lstStyle/>
            <a:p>
              <a:endParaRPr lang="en-US"/>
            </a:p>
          </p:txBody>
        </p:sp>
        <p:sp>
          <p:nvSpPr>
            <p:cNvPr id="22590" name="Rectangle 24"/>
            <p:cNvSpPr>
              <a:spLocks noChangeArrowheads="1"/>
            </p:cNvSpPr>
            <p:nvPr/>
          </p:nvSpPr>
          <p:spPr bwMode="auto">
            <a:xfrm>
              <a:off x="602" y="2436"/>
              <a:ext cx="974" cy="14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FT(B2)=350+300</a:t>
              </a:r>
              <a:endParaRPr lang="en-GB" sz="2000" b="1"/>
            </a:p>
          </p:txBody>
        </p:sp>
        <p:sp>
          <p:nvSpPr>
            <p:cNvPr id="22591" name="Rectangle 25"/>
            <p:cNvSpPr>
              <a:spLocks noChangeArrowheads="1"/>
            </p:cNvSpPr>
            <p:nvPr/>
          </p:nvSpPr>
          <p:spPr bwMode="auto">
            <a:xfrm>
              <a:off x="3148" y="2649"/>
              <a:ext cx="462" cy="145"/>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rPr>
                <a:t>B2[300]</a:t>
              </a:r>
              <a:endParaRPr lang="en-GB" sz="2000" b="1"/>
            </a:p>
          </p:txBody>
        </p:sp>
      </p:grpSp>
      <p:grpSp>
        <p:nvGrpSpPr>
          <p:cNvPr id="3" name="Group 26"/>
          <p:cNvGrpSpPr>
            <a:grpSpLocks/>
          </p:cNvGrpSpPr>
          <p:nvPr/>
        </p:nvGrpSpPr>
        <p:grpSpPr bwMode="auto">
          <a:xfrm>
            <a:off x="6105526" y="3857631"/>
            <a:ext cx="2282825" cy="331788"/>
            <a:chOff x="2886" y="2451"/>
            <a:chExt cx="1438" cy="209"/>
          </a:xfrm>
        </p:grpSpPr>
        <p:sp>
          <p:nvSpPr>
            <p:cNvPr id="22586" name="Rectangle 27"/>
            <p:cNvSpPr>
              <a:spLocks noChangeArrowheads="1"/>
            </p:cNvSpPr>
            <p:nvPr/>
          </p:nvSpPr>
          <p:spPr bwMode="auto">
            <a:xfrm>
              <a:off x="3944" y="2451"/>
              <a:ext cx="0" cy="209"/>
            </a:xfrm>
            <a:prstGeom prst="rect">
              <a:avLst/>
            </a:prstGeom>
            <a:solidFill>
              <a:srgbClr val="FFFF00"/>
            </a:solidFill>
            <a:ln w="12700">
              <a:solidFill>
                <a:srgbClr val="000000"/>
              </a:solidFill>
              <a:miter lim="800000"/>
              <a:headEnd/>
              <a:tailEnd/>
            </a:ln>
          </p:spPr>
          <p:txBody>
            <a:bodyPr wrap="none" lIns="0" tIns="0" rIns="0" bIns="0">
              <a:prstTxWarp prst="textNoShape">
                <a:avLst/>
              </a:prstTxWarp>
              <a:spAutoFit/>
            </a:bodyPr>
            <a:lstStyle/>
            <a:p>
              <a:endParaRPr lang="en-US"/>
            </a:p>
          </p:txBody>
        </p:sp>
        <p:sp>
          <p:nvSpPr>
            <p:cNvPr id="22587" name="Rectangle 28"/>
            <p:cNvSpPr>
              <a:spLocks noChangeArrowheads="1"/>
            </p:cNvSpPr>
            <p:nvPr/>
          </p:nvSpPr>
          <p:spPr bwMode="auto">
            <a:xfrm>
              <a:off x="2886" y="2481"/>
              <a:ext cx="903"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FT(A3)=120+10</a:t>
              </a:r>
              <a:endParaRPr lang="en-GB" sz="2000" b="1"/>
            </a:p>
          </p:txBody>
        </p:sp>
        <p:sp>
          <p:nvSpPr>
            <p:cNvPr id="22588" name="Rectangle 29"/>
            <p:cNvSpPr>
              <a:spLocks noChangeArrowheads="1"/>
            </p:cNvSpPr>
            <p:nvPr/>
          </p:nvSpPr>
          <p:spPr bwMode="auto">
            <a:xfrm>
              <a:off x="3897" y="2457"/>
              <a:ext cx="427"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rPr>
                <a:t>A3 [10]</a:t>
              </a:r>
              <a:endParaRPr lang="en-GB" sz="2000" b="1"/>
            </a:p>
          </p:txBody>
        </p:sp>
      </p:grpSp>
      <p:grpSp>
        <p:nvGrpSpPr>
          <p:cNvPr id="4" name="Group 30"/>
          <p:cNvGrpSpPr>
            <a:grpSpLocks/>
          </p:cNvGrpSpPr>
          <p:nvPr/>
        </p:nvGrpSpPr>
        <p:grpSpPr bwMode="auto">
          <a:xfrm>
            <a:off x="6105526" y="3500440"/>
            <a:ext cx="2168525" cy="331787"/>
            <a:chOff x="2886" y="2222"/>
            <a:chExt cx="1366" cy="209"/>
          </a:xfrm>
        </p:grpSpPr>
        <p:sp>
          <p:nvSpPr>
            <p:cNvPr id="22583" name="Rectangle 31"/>
            <p:cNvSpPr>
              <a:spLocks noChangeArrowheads="1"/>
            </p:cNvSpPr>
            <p:nvPr/>
          </p:nvSpPr>
          <p:spPr bwMode="auto">
            <a:xfrm>
              <a:off x="4045" y="2222"/>
              <a:ext cx="0" cy="209"/>
            </a:xfrm>
            <a:prstGeom prst="rect">
              <a:avLst/>
            </a:prstGeom>
            <a:solidFill>
              <a:srgbClr val="FFFF00"/>
            </a:solidFill>
            <a:ln w="12700">
              <a:solidFill>
                <a:srgbClr val="000000"/>
              </a:solidFill>
              <a:miter lim="800000"/>
              <a:headEnd/>
              <a:tailEnd/>
            </a:ln>
          </p:spPr>
          <p:txBody>
            <a:bodyPr wrap="none" lIns="0" tIns="0" rIns="0" bIns="0">
              <a:prstTxWarp prst="textNoShape">
                <a:avLst/>
              </a:prstTxWarp>
              <a:spAutoFit/>
            </a:bodyPr>
            <a:lstStyle/>
            <a:p>
              <a:endParaRPr lang="en-US"/>
            </a:p>
          </p:txBody>
        </p:sp>
        <p:sp>
          <p:nvSpPr>
            <p:cNvPr id="22584" name="Rectangle 32"/>
            <p:cNvSpPr>
              <a:spLocks noChangeArrowheads="1"/>
            </p:cNvSpPr>
            <p:nvPr/>
          </p:nvSpPr>
          <p:spPr bwMode="auto">
            <a:xfrm>
              <a:off x="2886" y="2253"/>
              <a:ext cx="903"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FT(A2)=100+20</a:t>
              </a:r>
              <a:endParaRPr lang="en-GB" sz="2000" b="1"/>
            </a:p>
          </p:txBody>
        </p:sp>
        <p:sp>
          <p:nvSpPr>
            <p:cNvPr id="22585" name="Rectangle 33"/>
            <p:cNvSpPr>
              <a:spLocks noChangeArrowheads="1"/>
            </p:cNvSpPr>
            <p:nvPr/>
          </p:nvSpPr>
          <p:spPr bwMode="auto">
            <a:xfrm>
              <a:off x="3861" y="2228"/>
              <a:ext cx="391"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rPr>
                <a:t>A2[20]</a:t>
              </a:r>
              <a:endParaRPr lang="en-GB" sz="2000" b="1"/>
            </a:p>
          </p:txBody>
        </p:sp>
      </p:grpSp>
      <p:grpSp>
        <p:nvGrpSpPr>
          <p:cNvPr id="5" name="Group 34"/>
          <p:cNvGrpSpPr>
            <a:grpSpLocks/>
          </p:cNvGrpSpPr>
          <p:nvPr/>
        </p:nvGrpSpPr>
        <p:grpSpPr bwMode="auto">
          <a:xfrm>
            <a:off x="2641602" y="2852738"/>
            <a:ext cx="6022975" cy="647700"/>
            <a:chOff x="704" y="1793"/>
            <a:chExt cx="3794" cy="408"/>
          </a:xfrm>
        </p:grpSpPr>
        <p:sp>
          <p:nvSpPr>
            <p:cNvPr id="22580" name="Rectangle 35"/>
            <p:cNvSpPr>
              <a:spLocks noChangeArrowheads="1"/>
            </p:cNvSpPr>
            <p:nvPr/>
          </p:nvSpPr>
          <p:spPr bwMode="auto">
            <a:xfrm>
              <a:off x="2573" y="1992"/>
              <a:ext cx="0" cy="209"/>
            </a:xfrm>
            <a:prstGeom prst="rect">
              <a:avLst/>
            </a:prstGeom>
            <a:solidFill>
              <a:srgbClr val="FF0000"/>
            </a:solidFill>
            <a:ln w="12700">
              <a:solidFill>
                <a:srgbClr val="000000"/>
              </a:solidFill>
              <a:miter lim="800000"/>
              <a:headEnd/>
              <a:tailEnd/>
            </a:ln>
          </p:spPr>
          <p:txBody>
            <a:bodyPr wrap="none" lIns="0" tIns="0" rIns="0" bIns="0">
              <a:prstTxWarp prst="textNoShape">
                <a:avLst/>
              </a:prstTxWarp>
              <a:spAutoFit/>
            </a:bodyPr>
            <a:lstStyle/>
            <a:p>
              <a:endParaRPr lang="en-US"/>
            </a:p>
          </p:txBody>
        </p:sp>
        <p:sp>
          <p:nvSpPr>
            <p:cNvPr id="22581" name="Rectangle 36"/>
            <p:cNvSpPr>
              <a:spLocks noChangeArrowheads="1"/>
            </p:cNvSpPr>
            <p:nvPr/>
          </p:nvSpPr>
          <p:spPr bwMode="auto">
            <a:xfrm>
              <a:off x="704" y="1793"/>
              <a:ext cx="903"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FT(B1)=50+300</a:t>
              </a:r>
              <a:endParaRPr lang="en-GB" sz="2000" b="1"/>
            </a:p>
          </p:txBody>
        </p:sp>
        <p:sp>
          <p:nvSpPr>
            <p:cNvPr id="22582" name="Rectangle 37"/>
            <p:cNvSpPr>
              <a:spLocks noChangeArrowheads="1"/>
            </p:cNvSpPr>
            <p:nvPr/>
          </p:nvSpPr>
          <p:spPr bwMode="auto">
            <a:xfrm>
              <a:off x="4036" y="1993"/>
              <a:ext cx="462"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rPr>
                <a:t>B1[300]</a:t>
              </a:r>
              <a:endParaRPr lang="en-GB" sz="2000" b="1"/>
            </a:p>
          </p:txBody>
        </p:sp>
      </p:grpSp>
      <p:sp>
        <p:nvSpPr>
          <p:cNvPr id="22554" name="Rectangle 38"/>
          <p:cNvSpPr>
            <a:spLocks noChangeArrowheads="1"/>
          </p:cNvSpPr>
          <p:nvPr/>
        </p:nvSpPr>
        <p:spPr bwMode="auto">
          <a:xfrm>
            <a:off x="5056188" y="5395914"/>
            <a:ext cx="3342262" cy="246221"/>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u="sng">
                <a:solidFill>
                  <a:srgbClr val="000000"/>
                </a:solidFill>
              </a:rPr>
              <a:t>Hence the resulting scheduling is:</a:t>
            </a:r>
            <a:endParaRPr lang="en-GB" sz="2000" b="1"/>
          </a:p>
        </p:txBody>
      </p:sp>
      <p:grpSp>
        <p:nvGrpSpPr>
          <p:cNvPr id="6" name="Group 39"/>
          <p:cNvGrpSpPr>
            <a:grpSpLocks/>
          </p:cNvGrpSpPr>
          <p:nvPr/>
        </p:nvGrpSpPr>
        <p:grpSpPr bwMode="auto">
          <a:xfrm>
            <a:off x="7067550" y="2495551"/>
            <a:ext cx="2519330" cy="646113"/>
            <a:chOff x="3493" y="1565"/>
            <a:chExt cx="1586" cy="407"/>
          </a:xfrm>
        </p:grpSpPr>
        <p:sp>
          <p:nvSpPr>
            <p:cNvPr id="22577" name="Rectangle 40"/>
            <p:cNvSpPr>
              <a:spLocks noChangeArrowheads="1"/>
            </p:cNvSpPr>
            <p:nvPr/>
          </p:nvSpPr>
          <p:spPr bwMode="auto">
            <a:xfrm>
              <a:off x="4376" y="1763"/>
              <a:ext cx="0" cy="209"/>
            </a:xfrm>
            <a:prstGeom prst="rect">
              <a:avLst/>
            </a:prstGeom>
            <a:solidFill>
              <a:srgbClr val="FFFF00"/>
            </a:solidFill>
            <a:ln w="12700">
              <a:solidFill>
                <a:srgbClr val="000000"/>
              </a:solidFill>
              <a:miter lim="800000"/>
              <a:headEnd/>
              <a:tailEnd/>
            </a:ln>
          </p:spPr>
          <p:txBody>
            <a:bodyPr wrap="none" lIns="0" tIns="0" rIns="0" bIns="0">
              <a:prstTxWarp prst="textNoShape">
                <a:avLst/>
              </a:prstTxWarp>
              <a:spAutoFit/>
            </a:bodyPr>
            <a:lstStyle/>
            <a:p>
              <a:endParaRPr lang="en-US"/>
            </a:p>
          </p:txBody>
        </p:sp>
        <p:sp>
          <p:nvSpPr>
            <p:cNvPr id="22578" name="Rectangle 41"/>
            <p:cNvSpPr>
              <a:spLocks noChangeArrowheads="1"/>
            </p:cNvSpPr>
            <p:nvPr/>
          </p:nvSpPr>
          <p:spPr bwMode="auto">
            <a:xfrm>
              <a:off x="4617" y="1772"/>
              <a:ext cx="462"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rPr>
                <a:t>A1[100]</a:t>
              </a:r>
              <a:endParaRPr lang="en-GB" sz="2000" b="1"/>
            </a:p>
          </p:txBody>
        </p:sp>
        <p:sp>
          <p:nvSpPr>
            <p:cNvPr id="22579" name="Rectangle 42"/>
            <p:cNvSpPr>
              <a:spLocks noChangeArrowheads="1"/>
            </p:cNvSpPr>
            <p:nvPr/>
          </p:nvSpPr>
          <p:spPr bwMode="auto">
            <a:xfrm>
              <a:off x="3493" y="1565"/>
              <a:ext cx="832"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FT(A1)=0+100</a:t>
              </a:r>
              <a:endParaRPr lang="en-GB" sz="2000" b="1"/>
            </a:p>
          </p:txBody>
        </p:sp>
      </p:grpSp>
      <p:sp>
        <p:nvSpPr>
          <p:cNvPr id="22556" name="Rectangle 43"/>
          <p:cNvSpPr>
            <a:spLocks noChangeArrowheads="1"/>
          </p:cNvSpPr>
          <p:nvPr/>
        </p:nvSpPr>
        <p:spPr bwMode="auto">
          <a:xfrm>
            <a:off x="3525838" y="4959351"/>
            <a:ext cx="57150" cy="244475"/>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t</a:t>
            </a:r>
            <a:endParaRPr lang="en-GB" sz="2000" b="1"/>
          </a:p>
        </p:txBody>
      </p:sp>
      <p:sp>
        <p:nvSpPr>
          <p:cNvPr id="22557" name="Rectangle 44"/>
          <p:cNvSpPr>
            <a:spLocks noChangeArrowheads="1"/>
          </p:cNvSpPr>
          <p:nvPr/>
        </p:nvSpPr>
        <p:spPr bwMode="auto">
          <a:xfrm>
            <a:off x="7108825" y="4959351"/>
            <a:ext cx="338138" cy="244475"/>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100</a:t>
            </a:r>
            <a:endParaRPr lang="en-GB" sz="2000" b="1"/>
          </a:p>
        </p:txBody>
      </p:sp>
      <p:sp>
        <p:nvSpPr>
          <p:cNvPr id="22558" name="Rectangle 45"/>
          <p:cNvSpPr>
            <a:spLocks noChangeArrowheads="1"/>
          </p:cNvSpPr>
          <p:nvPr/>
        </p:nvSpPr>
        <p:spPr bwMode="auto">
          <a:xfrm>
            <a:off x="7839076" y="4959351"/>
            <a:ext cx="225425" cy="244475"/>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70</a:t>
            </a:r>
            <a:endParaRPr lang="en-GB" sz="2000" b="1"/>
          </a:p>
        </p:txBody>
      </p:sp>
      <p:sp>
        <p:nvSpPr>
          <p:cNvPr id="22559" name="Rectangle 46"/>
          <p:cNvSpPr>
            <a:spLocks noChangeArrowheads="1"/>
          </p:cNvSpPr>
          <p:nvPr/>
        </p:nvSpPr>
        <p:spPr bwMode="auto">
          <a:xfrm>
            <a:off x="8166101" y="4959351"/>
            <a:ext cx="225425" cy="244475"/>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60</a:t>
            </a:r>
            <a:endParaRPr lang="en-GB" sz="2000" b="1"/>
          </a:p>
        </p:txBody>
      </p:sp>
      <p:sp>
        <p:nvSpPr>
          <p:cNvPr id="22560" name="Rectangle 47"/>
          <p:cNvSpPr>
            <a:spLocks noChangeArrowheads="1"/>
          </p:cNvSpPr>
          <p:nvPr/>
        </p:nvSpPr>
        <p:spPr bwMode="auto">
          <a:xfrm>
            <a:off x="8491539" y="4959351"/>
            <a:ext cx="225425" cy="244475"/>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50</a:t>
            </a:r>
            <a:endParaRPr lang="en-GB" sz="2000" b="1"/>
          </a:p>
        </p:txBody>
      </p:sp>
      <p:sp>
        <p:nvSpPr>
          <p:cNvPr id="22561" name="Rectangle 48"/>
          <p:cNvSpPr>
            <a:spLocks noChangeArrowheads="1"/>
          </p:cNvSpPr>
          <p:nvPr/>
        </p:nvSpPr>
        <p:spPr bwMode="auto">
          <a:xfrm>
            <a:off x="9585326" y="4959351"/>
            <a:ext cx="112713" cy="244475"/>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a:solidFill>
                  <a:srgbClr val="000000"/>
                </a:solidFill>
              </a:rPr>
              <a:t>0</a:t>
            </a:r>
            <a:endParaRPr lang="en-GB" sz="2000" b="1"/>
          </a:p>
        </p:txBody>
      </p:sp>
      <p:sp>
        <p:nvSpPr>
          <p:cNvPr id="22562" name="Line 49"/>
          <p:cNvSpPr>
            <a:spLocks noChangeShapeType="1"/>
          </p:cNvSpPr>
          <p:nvPr/>
        </p:nvSpPr>
        <p:spPr bwMode="auto">
          <a:xfrm>
            <a:off x="9637714" y="5857875"/>
            <a:ext cx="1587" cy="147638"/>
          </a:xfrm>
          <a:prstGeom prst="line">
            <a:avLst/>
          </a:prstGeom>
          <a:noFill/>
          <a:ln w="12700">
            <a:solidFill>
              <a:srgbClr val="000000"/>
            </a:solidFill>
            <a:round/>
            <a:headEnd/>
            <a:tailEnd/>
          </a:ln>
        </p:spPr>
        <p:txBody>
          <a:bodyPr wrap="none" lIns="0" tIns="0" rIns="0" bIns="0">
            <a:prstTxWarp prst="textNoShape">
              <a:avLst/>
            </a:prstTxWarp>
            <a:spAutoFit/>
          </a:bodyPr>
          <a:lstStyle/>
          <a:p>
            <a:endParaRPr lang="en-US"/>
          </a:p>
        </p:txBody>
      </p:sp>
      <p:sp>
        <p:nvSpPr>
          <p:cNvPr id="182322" name="Text Box 50"/>
          <p:cNvSpPr txBox="1">
            <a:spLocks noChangeArrowheads="1"/>
          </p:cNvSpPr>
          <p:nvPr/>
        </p:nvSpPr>
        <p:spPr bwMode="auto">
          <a:xfrm>
            <a:off x="1676400" y="476250"/>
            <a:ext cx="5257800" cy="1713498"/>
          </a:xfrm>
          <a:prstGeom prst="rect">
            <a:avLst/>
          </a:prstGeom>
          <a:solidFill>
            <a:schemeClr val="folHlink"/>
          </a:solidFill>
          <a:ln w="9525">
            <a:noFill/>
            <a:miter lim="800000"/>
            <a:headEnd type="none" w="sm" len="sm"/>
            <a:tailEnd type="none" w="sm" len="sm"/>
          </a:ln>
          <a:effectLst>
            <a:outerShdw dist="107763" dir="2700000" algn="ctr" rotWithShape="0">
              <a:schemeClr val="tx1"/>
            </a:outerShdw>
          </a:effectLst>
        </p:spPr>
        <p:txBody>
          <a:bodyPr lIns="102821" tIns="51411" rIns="102821" bIns="51411">
            <a:prstTxWarp prst="textNoShape">
              <a:avLst/>
            </a:prstTxWarp>
            <a:spAutoFit/>
          </a:bodyPr>
          <a:lstStyle/>
          <a:p>
            <a:pPr algn="l" defTabSz="1028700">
              <a:lnSpc>
                <a:spcPct val="80000"/>
              </a:lnSpc>
              <a:spcBef>
                <a:spcPct val="50000"/>
              </a:spcBef>
            </a:pPr>
            <a:r>
              <a:rPr lang="en-GB" sz="1900" b="1">
                <a:solidFill>
                  <a:schemeClr val="bg1"/>
                </a:solidFill>
              </a:rPr>
              <a:t>Computing Finish Time </a:t>
            </a:r>
            <a:r>
              <a:rPr lang="en-GB" sz="1900" b="1" i="1">
                <a:solidFill>
                  <a:schemeClr val="bg1"/>
                </a:solidFill>
              </a:rPr>
              <a:t>FT</a:t>
            </a:r>
            <a:endParaRPr lang="en-GB" sz="1900" b="1">
              <a:solidFill>
                <a:schemeClr val="bg1"/>
              </a:solidFill>
            </a:endParaRPr>
          </a:p>
          <a:p>
            <a:pPr algn="l" defTabSz="1028700">
              <a:lnSpc>
                <a:spcPct val="80000"/>
              </a:lnSpc>
              <a:spcBef>
                <a:spcPct val="50000"/>
              </a:spcBef>
            </a:pPr>
            <a:r>
              <a:rPr lang="en-GB" sz="1900" b="1">
                <a:solidFill>
                  <a:schemeClr val="bg1"/>
                </a:solidFill>
              </a:rPr>
              <a:t>If Flow F Active, </a:t>
            </a:r>
            <a:br>
              <a:rPr lang="en-GB" sz="1900" b="1">
                <a:solidFill>
                  <a:schemeClr val="bg1"/>
                </a:solidFill>
              </a:rPr>
            </a:br>
            <a:r>
              <a:rPr lang="en-GB" sz="600" b="1">
                <a:solidFill>
                  <a:schemeClr val="bg1"/>
                </a:solidFill>
              </a:rPr>
              <a:t/>
            </a:r>
            <a:br>
              <a:rPr lang="en-GB" sz="600" b="1">
                <a:solidFill>
                  <a:schemeClr val="bg1"/>
                </a:solidFill>
              </a:rPr>
            </a:br>
            <a:r>
              <a:rPr lang="en-GB" sz="600" b="1">
                <a:solidFill>
                  <a:schemeClr val="bg1"/>
                </a:solidFill>
              </a:rPr>
              <a:t>         </a:t>
            </a:r>
            <a:r>
              <a:rPr lang="en-GB" sz="1900" b="1"/>
              <a:t>FT(Pfk+1) = FT(Pfk) + Size(Pfk+1) * W </a:t>
            </a:r>
            <a:br>
              <a:rPr lang="en-GB" sz="1900" b="1"/>
            </a:br>
            <a:r>
              <a:rPr lang="en-GB" sz="600" b="1">
                <a:solidFill>
                  <a:schemeClr val="bg1"/>
                </a:solidFill>
              </a:rPr>
              <a:t/>
            </a:r>
            <a:br>
              <a:rPr lang="en-GB" sz="600" b="1">
                <a:solidFill>
                  <a:schemeClr val="bg1"/>
                </a:solidFill>
              </a:rPr>
            </a:br>
            <a:r>
              <a:rPr lang="en-GB" sz="1900" b="1">
                <a:solidFill>
                  <a:schemeClr val="bg1"/>
                </a:solidFill>
              </a:rPr>
              <a:t>Else, </a:t>
            </a:r>
          </a:p>
          <a:p>
            <a:pPr algn="l" defTabSz="1028700">
              <a:lnSpc>
                <a:spcPct val="80000"/>
              </a:lnSpc>
              <a:spcBef>
                <a:spcPct val="50000"/>
              </a:spcBef>
            </a:pPr>
            <a:r>
              <a:rPr lang="en-GB" sz="1900" b="1"/>
              <a:t>   FT(Pf0) = Now + Size(Pf0) * W</a:t>
            </a:r>
          </a:p>
        </p:txBody>
      </p:sp>
      <p:grpSp>
        <p:nvGrpSpPr>
          <p:cNvPr id="7" name="Group 51"/>
          <p:cNvGrpSpPr>
            <a:grpSpLocks/>
          </p:cNvGrpSpPr>
          <p:nvPr/>
        </p:nvGrpSpPr>
        <p:grpSpPr bwMode="auto">
          <a:xfrm>
            <a:off x="8488363" y="5795963"/>
            <a:ext cx="1066800" cy="544512"/>
            <a:chOff x="4387" y="3651"/>
            <a:chExt cx="672" cy="343"/>
          </a:xfrm>
        </p:grpSpPr>
        <p:sp>
          <p:nvSpPr>
            <p:cNvPr id="22575" name="Rectangle 52"/>
            <p:cNvSpPr>
              <a:spLocks noChangeArrowheads="1"/>
            </p:cNvSpPr>
            <p:nvPr/>
          </p:nvSpPr>
          <p:spPr bwMode="auto">
            <a:xfrm>
              <a:off x="4387" y="3651"/>
              <a:ext cx="0" cy="209"/>
            </a:xfrm>
            <a:prstGeom prst="rect">
              <a:avLst/>
            </a:prstGeom>
            <a:solidFill>
              <a:srgbClr val="FFFF00"/>
            </a:solidFill>
            <a:ln w="12700">
              <a:solidFill>
                <a:srgbClr val="000000"/>
              </a:solidFill>
              <a:miter lim="800000"/>
              <a:headEnd/>
              <a:tailEnd/>
            </a:ln>
          </p:spPr>
          <p:txBody>
            <a:bodyPr wrap="none" lIns="0" tIns="0" rIns="0" bIns="0">
              <a:prstTxWarp prst="textNoShape">
                <a:avLst/>
              </a:prstTxWarp>
              <a:spAutoFit/>
            </a:bodyPr>
            <a:lstStyle/>
            <a:p>
              <a:endParaRPr lang="en-US"/>
            </a:p>
          </p:txBody>
        </p:sp>
        <p:sp>
          <p:nvSpPr>
            <p:cNvPr id="22576" name="Rectangle 53"/>
            <p:cNvSpPr>
              <a:spLocks noChangeArrowheads="1"/>
            </p:cNvSpPr>
            <p:nvPr/>
          </p:nvSpPr>
          <p:spPr bwMode="auto">
            <a:xfrm>
              <a:off x="4416" y="3840"/>
              <a:ext cx="643"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rPr>
                <a:t>A1 FT=100</a:t>
              </a:r>
              <a:endParaRPr lang="en-GB" sz="2000" b="1"/>
            </a:p>
          </p:txBody>
        </p:sp>
      </p:grpSp>
      <p:grpSp>
        <p:nvGrpSpPr>
          <p:cNvPr id="8" name="Group 54"/>
          <p:cNvGrpSpPr>
            <a:grpSpLocks/>
          </p:cNvGrpSpPr>
          <p:nvPr/>
        </p:nvGrpSpPr>
        <p:grpSpPr bwMode="auto">
          <a:xfrm>
            <a:off x="6705601" y="5795963"/>
            <a:ext cx="1020763" cy="544512"/>
            <a:chOff x="3264" y="3651"/>
            <a:chExt cx="643" cy="343"/>
          </a:xfrm>
        </p:grpSpPr>
        <p:sp>
          <p:nvSpPr>
            <p:cNvPr id="22573" name="Rectangle 55"/>
            <p:cNvSpPr>
              <a:spLocks noChangeArrowheads="1"/>
            </p:cNvSpPr>
            <p:nvPr/>
          </p:nvSpPr>
          <p:spPr bwMode="auto">
            <a:xfrm>
              <a:off x="3463" y="3651"/>
              <a:ext cx="0" cy="209"/>
            </a:xfrm>
            <a:prstGeom prst="rect">
              <a:avLst/>
            </a:prstGeom>
            <a:solidFill>
              <a:srgbClr val="FFFF00"/>
            </a:solidFill>
            <a:ln w="12700">
              <a:solidFill>
                <a:srgbClr val="000000"/>
              </a:solidFill>
              <a:miter lim="800000"/>
              <a:headEnd/>
              <a:tailEnd/>
            </a:ln>
          </p:spPr>
          <p:txBody>
            <a:bodyPr wrap="none" lIns="0" tIns="0" rIns="0" bIns="0">
              <a:prstTxWarp prst="textNoShape">
                <a:avLst/>
              </a:prstTxWarp>
              <a:spAutoFit/>
            </a:bodyPr>
            <a:lstStyle/>
            <a:p>
              <a:endParaRPr lang="en-US"/>
            </a:p>
          </p:txBody>
        </p:sp>
        <p:sp>
          <p:nvSpPr>
            <p:cNvPr id="22574" name="Rectangle 56"/>
            <p:cNvSpPr>
              <a:spLocks noChangeArrowheads="1"/>
            </p:cNvSpPr>
            <p:nvPr/>
          </p:nvSpPr>
          <p:spPr bwMode="auto">
            <a:xfrm>
              <a:off x="3264" y="3840"/>
              <a:ext cx="643"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rPr>
                <a:t>A2 FT=120</a:t>
              </a:r>
              <a:endParaRPr lang="en-GB" sz="2000" b="1"/>
            </a:p>
          </p:txBody>
        </p:sp>
      </p:grpSp>
      <p:grpSp>
        <p:nvGrpSpPr>
          <p:cNvPr id="9" name="Group 57"/>
          <p:cNvGrpSpPr>
            <a:grpSpLocks/>
          </p:cNvGrpSpPr>
          <p:nvPr/>
        </p:nvGrpSpPr>
        <p:grpSpPr bwMode="auto">
          <a:xfrm>
            <a:off x="6097587" y="5795961"/>
            <a:ext cx="1030270" cy="850899"/>
            <a:chOff x="2880" y="3651"/>
            <a:chExt cx="650" cy="536"/>
          </a:xfrm>
        </p:grpSpPr>
        <p:sp>
          <p:nvSpPr>
            <p:cNvPr id="22571" name="Rectangle 58"/>
            <p:cNvSpPr>
              <a:spLocks noChangeArrowheads="1"/>
            </p:cNvSpPr>
            <p:nvPr/>
          </p:nvSpPr>
          <p:spPr bwMode="auto">
            <a:xfrm>
              <a:off x="3170" y="3651"/>
              <a:ext cx="0" cy="209"/>
            </a:xfrm>
            <a:prstGeom prst="rect">
              <a:avLst/>
            </a:prstGeom>
            <a:solidFill>
              <a:srgbClr val="FFFF00"/>
            </a:solidFill>
            <a:ln w="12700">
              <a:solidFill>
                <a:srgbClr val="000000"/>
              </a:solidFill>
              <a:miter lim="800000"/>
              <a:headEnd/>
              <a:tailEnd/>
            </a:ln>
          </p:spPr>
          <p:txBody>
            <a:bodyPr wrap="none" lIns="0" tIns="0" rIns="0" bIns="0">
              <a:prstTxWarp prst="textNoShape">
                <a:avLst/>
              </a:prstTxWarp>
              <a:spAutoFit/>
            </a:bodyPr>
            <a:lstStyle/>
            <a:p>
              <a:endParaRPr lang="en-US"/>
            </a:p>
          </p:txBody>
        </p:sp>
        <p:sp>
          <p:nvSpPr>
            <p:cNvPr id="22572" name="Rectangle 59"/>
            <p:cNvSpPr>
              <a:spLocks noChangeArrowheads="1"/>
            </p:cNvSpPr>
            <p:nvPr/>
          </p:nvSpPr>
          <p:spPr bwMode="auto">
            <a:xfrm>
              <a:off x="2880" y="4032"/>
              <a:ext cx="650" cy="155"/>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rPr>
                <a:t>A3 FT=130</a:t>
              </a:r>
              <a:endParaRPr lang="en-GB" sz="2000" b="1"/>
            </a:p>
          </p:txBody>
        </p:sp>
      </p:grpSp>
      <p:grpSp>
        <p:nvGrpSpPr>
          <p:cNvPr id="10" name="Group 60"/>
          <p:cNvGrpSpPr>
            <a:grpSpLocks/>
          </p:cNvGrpSpPr>
          <p:nvPr/>
        </p:nvGrpSpPr>
        <p:grpSpPr bwMode="auto">
          <a:xfrm>
            <a:off x="4695826" y="5791201"/>
            <a:ext cx="1277938" cy="549275"/>
            <a:chOff x="1998" y="3648"/>
            <a:chExt cx="805" cy="346"/>
          </a:xfrm>
        </p:grpSpPr>
        <p:sp>
          <p:nvSpPr>
            <p:cNvPr id="22569" name="Rectangle 61"/>
            <p:cNvSpPr>
              <a:spLocks noChangeArrowheads="1"/>
            </p:cNvSpPr>
            <p:nvPr/>
          </p:nvSpPr>
          <p:spPr bwMode="auto">
            <a:xfrm>
              <a:off x="1998" y="3648"/>
              <a:ext cx="0" cy="209"/>
            </a:xfrm>
            <a:prstGeom prst="rect">
              <a:avLst/>
            </a:prstGeom>
            <a:solidFill>
              <a:srgbClr val="FF0000"/>
            </a:solidFill>
            <a:ln w="12700">
              <a:solidFill>
                <a:srgbClr val="000000"/>
              </a:solidFill>
              <a:miter lim="800000"/>
              <a:headEnd/>
              <a:tailEnd/>
            </a:ln>
          </p:spPr>
          <p:txBody>
            <a:bodyPr wrap="none" lIns="0" tIns="0" rIns="0" bIns="0">
              <a:prstTxWarp prst="textNoShape">
                <a:avLst/>
              </a:prstTxWarp>
              <a:spAutoFit/>
            </a:bodyPr>
            <a:lstStyle/>
            <a:p>
              <a:endParaRPr lang="en-US"/>
            </a:p>
          </p:txBody>
        </p:sp>
        <p:sp>
          <p:nvSpPr>
            <p:cNvPr id="22570" name="Rectangle 62"/>
            <p:cNvSpPr>
              <a:spLocks noChangeArrowheads="1"/>
            </p:cNvSpPr>
            <p:nvPr/>
          </p:nvSpPr>
          <p:spPr bwMode="auto">
            <a:xfrm>
              <a:off x="2160" y="3840"/>
              <a:ext cx="643" cy="154"/>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rPr>
                <a:t>B1 FT=350</a:t>
              </a:r>
              <a:endParaRPr lang="en-GB" sz="2000" b="1"/>
            </a:p>
          </p:txBody>
        </p:sp>
      </p:grpSp>
      <p:sp>
        <p:nvSpPr>
          <p:cNvPr id="182335" name="Rectangle 63"/>
          <p:cNvSpPr>
            <a:spLocks noChangeArrowheads="1"/>
          </p:cNvSpPr>
          <p:nvPr/>
        </p:nvSpPr>
        <p:spPr bwMode="auto">
          <a:xfrm>
            <a:off x="1905001" y="6246814"/>
            <a:ext cx="1020763" cy="244475"/>
          </a:xfrm>
          <a:prstGeom prst="rect">
            <a:avLst/>
          </a:prstGeom>
          <a:noFill/>
          <a:ln w="9525">
            <a:noFill/>
            <a:miter lim="800000"/>
            <a:headEnd/>
            <a:tailEnd/>
          </a:ln>
        </p:spPr>
        <p:txBody>
          <a:bodyPr wrap="none" lIns="0" tIns="0" rIns="0" bIns="0">
            <a:prstTxWarp prst="textNoShape">
              <a:avLst/>
            </a:prstTxWarp>
            <a:spAutoFit/>
          </a:bodyPr>
          <a:lstStyle/>
          <a:p>
            <a:pPr algn="l" defTabSz="1028700">
              <a:lnSpc>
                <a:spcPct val="100000"/>
              </a:lnSpc>
            </a:pPr>
            <a:r>
              <a:rPr lang="en-GB" sz="1600" b="1">
                <a:solidFill>
                  <a:srgbClr val="000000"/>
                </a:solidFill>
              </a:rPr>
              <a:t>B2 FT=650</a:t>
            </a:r>
            <a:endParaRPr lang="en-GB" sz="20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0-#ppt_w/2"/>
                                          </p:val>
                                        </p:tav>
                                        <p:tav tm="100000">
                                          <p:val>
                                            <p:strVal val="#ppt_x"/>
                                          </p:val>
                                        </p:tav>
                                      </p:tavLst>
                                    </p:anim>
                                    <p:anim calcmode="lin" valueType="num">
                                      <p:cBhvr additive="base">
                                        <p:cTn id="3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0-#ppt_w/2"/>
                                          </p:val>
                                        </p:tav>
                                        <p:tav tm="100000">
                                          <p:val>
                                            <p:strVal val="#ppt_x"/>
                                          </p:val>
                                        </p:tav>
                                      </p:tavLst>
                                    </p:anim>
                                    <p:anim calcmode="lin" valueType="num">
                                      <p:cBhvr additive="base">
                                        <p:cTn id="3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499"/>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182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335"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ChangeArrowheads="1"/>
          </p:cNvSpPr>
          <p:nvPr/>
        </p:nvSpPr>
        <p:spPr bwMode="auto">
          <a:xfrm>
            <a:off x="1752600" y="5638800"/>
            <a:ext cx="8610600" cy="457200"/>
          </a:xfrm>
          <a:prstGeom prst="rect">
            <a:avLst/>
          </a:prstGeom>
          <a:solidFill>
            <a:schemeClr val="folHlink"/>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23555" name="Rectangle 3"/>
          <p:cNvSpPr>
            <a:spLocks noChangeArrowheads="1"/>
          </p:cNvSpPr>
          <p:nvPr/>
        </p:nvSpPr>
        <p:spPr bwMode="auto">
          <a:xfrm>
            <a:off x="1752600" y="1524000"/>
            <a:ext cx="8610600" cy="4495800"/>
          </a:xfrm>
          <a:prstGeom prst="rect">
            <a:avLst/>
          </a:prstGeom>
          <a:noFill/>
          <a:ln w="9525">
            <a:noFill/>
            <a:miter lim="800000"/>
            <a:headEnd/>
            <a:tailEnd/>
          </a:ln>
        </p:spPr>
        <p:txBody>
          <a:bodyPr lIns="73025" tIns="36512" rIns="73025" bIns="36512" anchor="ctr" anchorCtr="1">
            <a:prstTxWarp prst="textNoShape">
              <a:avLst/>
            </a:prstTxWarp>
          </a:bodyPr>
          <a:lstStyle/>
          <a:p>
            <a:pPr marL="257175" indent="-257175" algn="l" defTabSz="723900">
              <a:lnSpc>
                <a:spcPct val="95000"/>
              </a:lnSpc>
              <a:spcBef>
                <a:spcPct val="50000"/>
              </a:spcBef>
              <a:buClr>
                <a:schemeClr val="tx2"/>
              </a:buClr>
              <a:buSzPct val="100000"/>
              <a:buFont typeface="Wingdings" pitchFamily="1" charset="2"/>
              <a:buChar char="§"/>
            </a:pPr>
            <a:r>
              <a:rPr lang="en-GB" sz="2000"/>
              <a:t>Upon enqueue of a new packet,</a:t>
            </a:r>
          </a:p>
          <a:p>
            <a:pPr marL="257175" indent="-257175" algn="l" defTabSz="723900">
              <a:lnSpc>
                <a:spcPct val="95000"/>
              </a:lnSpc>
              <a:spcBef>
                <a:spcPct val="50000"/>
              </a:spcBef>
              <a:buClr>
                <a:schemeClr val="tx2"/>
              </a:buClr>
              <a:buSzPct val="100000"/>
              <a:buFont typeface="Wingdings" pitchFamily="1" charset="2"/>
              <a:buChar char="§"/>
            </a:pPr>
            <a:r>
              <a:rPr lang="en-GB" sz="2000">
                <a:solidFill>
                  <a:schemeClr val="accent2"/>
                </a:solidFill>
              </a:rPr>
              <a:t>IF </a:t>
            </a:r>
            <a:r>
              <a:rPr lang="en-GB" sz="2000">
                <a:solidFill>
                  <a:schemeClr val="folHlink"/>
                </a:solidFill>
              </a:rPr>
              <a:t>the sum of all subqueues &gt; Max-limit</a:t>
            </a:r>
            <a:r>
              <a:rPr lang="en-GB" sz="2000">
                <a:solidFill>
                  <a:schemeClr val="accent2"/>
                </a:solidFill>
              </a:rPr>
              <a:t>,</a:t>
            </a:r>
            <a:endParaRPr lang="en-GB" sz="2000"/>
          </a:p>
          <a:p>
            <a:pPr marL="257175" indent="-257175" algn="l" defTabSz="723900">
              <a:lnSpc>
                <a:spcPct val="95000"/>
              </a:lnSpc>
              <a:spcBef>
                <a:spcPct val="50000"/>
              </a:spcBef>
              <a:buClr>
                <a:schemeClr val="tx2"/>
              </a:buClr>
              <a:buSzPct val="100000"/>
              <a:buFont typeface="Wingdings" pitchFamily="1" charset="2"/>
              <a:buChar char="§"/>
            </a:pPr>
            <a:r>
              <a:rPr lang="en-GB" sz="2000"/>
              <a:t>  </a:t>
            </a:r>
            <a:r>
              <a:rPr lang="en-GB" sz="2000">
                <a:solidFill>
                  <a:schemeClr val="accent2"/>
                </a:solidFill>
              </a:rPr>
              <a:t>THEN</a:t>
            </a:r>
            <a:r>
              <a:rPr lang="en-GB" sz="2000"/>
              <a:t>,</a:t>
            </a:r>
            <a:r>
              <a:rPr lang="en-GB" sz="2000">
                <a:solidFill>
                  <a:schemeClr val="hlink"/>
                </a:solidFill>
              </a:rPr>
              <a:t> if</a:t>
            </a:r>
            <a:r>
              <a:rPr lang="en-GB" sz="2000">
                <a:solidFill>
                  <a:schemeClr val="folHlink"/>
                </a:solidFill>
              </a:rPr>
              <a:t> the tail time of the new packet is &gt; current system tail time, </a:t>
            </a:r>
            <a:br>
              <a:rPr lang="en-GB" sz="2000">
                <a:solidFill>
                  <a:schemeClr val="folHlink"/>
                </a:solidFill>
              </a:rPr>
            </a:br>
            <a:r>
              <a:rPr lang="en-GB" sz="2000">
                <a:solidFill>
                  <a:schemeClr val="folHlink"/>
                </a:solidFill>
              </a:rPr>
              <a:t>        </a:t>
            </a:r>
            <a:r>
              <a:rPr lang="en-GB" sz="2000">
                <a:solidFill>
                  <a:schemeClr val="hlink"/>
                </a:solidFill>
              </a:rPr>
              <a:t>then</a:t>
            </a:r>
            <a:r>
              <a:rPr lang="en-GB" sz="2000"/>
              <a:t> the new packet is dropped </a:t>
            </a:r>
            <a:br>
              <a:rPr lang="en-GB" sz="2000"/>
            </a:br>
            <a:r>
              <a:rPr lang="en-GB" sz="2000"/>
              <a:t>        </a:t>
            </a:r>
            <a:r>
              <a:rPr lang="en-GB" sz="2000">
                <a:solidFill>
                  <a:schemeClr val="hlink"/>
                </a:solidFill>
              </a:rPr>
              <a:t>else</a:t>
            </a:r>
            <a:r>
              <a:rPr lang="en-GB" sz="2000"/>
              <a:t> the system tail-time packet is dropped and the new one is enqueued</a:t>
            </a:r>
          </a:p>
          <a:p>
            <a:pPr marL="257175" indent="-257175" algn="l" defTabSz="723900">
              <a:lnSpc>
                <a:spcPct val="95000"/>
              </a:lnSpc>
              <a:spcBef>
                <a:spcPct val="50000"/>
              </a:spcBef>
              <a:buClr>
                <a:schemeClr val="tx2"/>
              </a:buClr>
              <a:buSzPct val="100000"/>
              <a:buFont typeface="Wingdings" pitchFamily="1" charset="2"/>
              <a:buChar char="§"/>
            </a:pPr>
            <a:r>
              <a:rPr lang="en-GB" sz="2000">
                <a:solidFill>
                  <a:schemeClr val="accent2"/>
                </a:solidFill>
              </a:rPr>
              <a:t>IF </a:t>
            </a:r>
            <a:r>
              <a:rPr lang="en-GB" sz="2000">
                <a:solidFill>
                  <a:schemeClr val="folHlink"/>
                </a:solidFill>
              </a:rPr>
              <a:t>CDT &lt; the sum of all subqueues &lt; Max-limit,</a:t>
            </a:r>
          </a:p>
          <a:p>
            <a:pPr marL="257175" indent="-257175" algn="l" defTabSz="723900">
              <a:lnSpc>
                <a:spcPct val="95000"/>
              </a:lnSpc>
              <a:spcBef>
                <a:spcPct val="50000"/>
              </a:spcBef>
              <a:buClr>
                <a:schemeClr val="tx2"/>
              </a:buClr>
              <a:buSzPct val="100000"/>
              <a:buFont typeface="Wingdings" pitchFamily="1" charset="2"/>
              <a:buChar char="§"/>
            </a:pPr>
            <a:r>
              <a:rPr lang="en-GB" sz="2000">
                <a:solidFill>
                  <a:schemeClr val="accent2"/>
                </a:solidFill>
              </a:rPr>
              <a:t>  THEN</a:t>
            </a:r>
            <a:r>
              <a:rPr lang="en-GB" sz="2000"/>
              <a:t>, </a:t>
            </a:r>
            <a:r>
              <a:rPr lang="en-GB" sz="2000">
                <a:solidFill>
                  <a:schemeClr val="hlink"/>
                </a:solidFill>
              </a:rPr>
              <a:t>if</a:t>
            </a:r>
            <a:r>
              <a:rPr lang="en-GB" sz="2000"/>
              <a:t> the new packet’s tail time &gt; current system tail time</a:t>
            </a:r>
            <a:br>
              <a:rPr lang="en-GB" sz="2000"/>
            </a:br>
            <a:r>
              <a:rPr lang="en-GB" sz="2000"/>
              <a:t>         </a:t>
            </a:r>
            <a:r>
              <a:rPr lang="en-GB" sz="2000">
                <a:solidFill>
                  <a:schemeClr val="hlink"/>
                </a:solidFill>
              </a:rPr>
              <a:t>then</a:t>
            </a:r>
            <a:r>
              <a:rPr lang="en-GB" sz="2000"/>
              <a:t> drop the new packet</a:t>
            </a:r>
            <a:br>
              <a:rPr lang="en-GB" sz="2000"/>
            </a:br>
            <a:r>
              <a:rPr lang="en-GB" sz="2000"/>
              <a:t>         </a:t>
            </a:r>
            <a:r>
              <a:rPr lang="en-GB" sz="2000">
                <a:solidFill>
                  <a:schemeClr val="hlink"/>
                </a:solidFill>
              </a:rPr>
              <a:t>else</a:t>
            </a:r>
            <a:r>
              <a:rPr lang="en-GB" sz="2000"/>
              <a:t> enqueue the new packet</a:t>
            </a:r>
          </a:p>
          <a:p>
            <a:pPr marL="257175" indent="-257175" algn="l" defTabSz="723900">
              <a:lnSpc>
                <a:spcPct val="95000"/>
              </a:lnSpc>
              <a:spcBef>
                <a:spcPct val="50000"/>
              </a:spcBef>
              <a:buClr>
                <a:schemeClr val="tx2"/>
              </a:buClr>
              <a:buSzPct val="100000"/>
              <a:buFont typeface="Wingdings" pitchFamily="1" charset="2"/>
              <a:buChar char="§"/>
            </a:pPr>
            <a:r>
              <a:rPr lang="en-GB" sz="2000">
                <a:solidFill>
                  <a:schemeClr val="accent2"/>
                </a:solidFill>
              </a:rPr>
              <a:t>Exception</a:t>
            </a:r>
            <a:r>
              <a:rPr lang="en-GB" sz="2000"/>
              <a:t>: a packet classified into an empty sub-queue is never dropped</a:t>
            </a:r>
          </a:p>
          <a:p>
            <a:pPr marL="257175" indent="-257175" algn="l" defTabSz="723900">
              <a:lnSpc>
                <a:spcPct val="95000"/>
              </a:lnSpc>
              <a:spcBef>
                <a:spcPct val="50000"/>
              </a:spcBef>
              <a:buClr>
                <a:schemeClr val="tx2"/>
              </a:buClr>
              <a:buSzPct val="100000"/>
              <a:buFont typeface="Wingdings" pitchFamily="1" charset="2"/>
              <a:buChar char="§"/>
            </a:pPr>
            <a:r>
              <a:rPr lang="en-GB" sz="2000"/>
              <a:t>The packet precedence has no effect on the dropping scheme</a:t>
            </a:r>
          </a:p>
        </p:txBody>
      </p:sp>
      <p:sp>
        <p:nvSpPr>
          <p:cNvPr id="23556" name="Rectangle 4"/>
          <p:cNvSpPr>
            <a:spLocks noChangeArrowheads="1"/>
          </p:cNvSpPr>
          <p:nvPr/>
        </p:nvSpPr>
        <p:spPr bwMode="auto">
          <a:xfrm>
            <a:off x="2359026" y="177800"/>
            <a:ext cx="6778625" cy="1016000"/>
          </a:xfrm>
          <a:prstGeom prst="rect">
            <a:avLst/>
          </a:prstGeom>
          <a:noFill/>
          <a:ln w="9525">
            <a:noFill/>
            <a:miter lim="800000"/>
            <a:headEnd/>
            <a:tailEnd/>
          </a:ln>
        </p:spPr>
        <p:txBody>
          <a:bodyPr lIns="73016" tIns="36507" rIns="73016" bIns="36507" anchor="ctr">
            <a:prstTxWarp prst="textNoShape">
              <a:avLst/>
            </a:prstTxWarp>
          </a:bodyPr>
          <a:lstStyle/>
          <a:p>
            <a:pPr algn="l" defTabSz="814388" eaLnBrk="1" hangingPunct="1"/>
            <a:r>
              <a:rPr lang="en-GB" sz="3200" b="1">
                <a:solidFill>
                  <a:schemeClr val="folHlink"/>
                </a:solidFill>
              </a:rPr>
              <a:t>Fair Dropping</a:t>
            </a: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2209801" y="304800"/>
            <a:ext cx="6778625" cy="1016000"/>
          </a:xfrm>
          <a:prstGeom prst="rect">
            <a:avLst/>
          </a:prstGeom>
          <a:noFill/>
          <a:ln w="9525">
            <a:noFill/>
            <a:miter lim="800000"/>
            <a:headEnd/>
            <a:tailEnd/>
          </a:ln>
        </p:spPr>
        <p:txBody>
          <a:bodyPr lIns="73016" tIns="36507" rIns="73016" bIns="36507" anchor="ctr">
            <a:prstTxWarp prst="textNoShape">
              <a:avLst/>
            </a:prstTxWarp>
          </a:bodyPr>
          <a:lstStyle/>
          <a:p>
            <a:pPr algn="l" defTabSz="814388" eaLnBrk="1" hangingPunct="1"/>
            <a:r>
              <a:rPr lang="en-GB" sz="3200" b="1">
                <a:solidFill>
                  <a:schemeClr val="folHlink"/>
                </a:solidFill>
              </a:rPr>
              <a:t>Fair Drops example</a:t>
            </a:r>
          </a:p>
        </p:txBody>
      </p:sp>
      <p:sp>
        <p:nvSpPr>
          <p:cNvPr id="24579" name="Rectangle 3"/>
          <p:cNvSpPr>
            <a:spLocks noChangeArrowheads="1"/>
          </p:cNvSpPr>
          <p:nvPr/>
        </p:nvSpPr>
        <p:spPr bwMode="auto">
          <a:xfrm>
            <a:off x="1933576" y="4968876"/>
            <a:ext cx="7312025" cy="485775"/>
          </a:xfrm>
          <a:prstGeom prst="rect">
            <a:avLst/>
          </a:prstGeom>
          <a:noFill/>
          <a:ln w="9525">
            <a:noFill/>
            <a:miter lim="800000"/>
            <a:headEnd/>
            <a:tailEnd/>
          </a:ln>
        </p:spPr>
        <p:txBody>
          <a:bodyPr lIns="73016" tIns="36507" rIns="73016" bIns="36507" anchor="ctr" anchorCtr="1">
            <a:prstTxWarp prst="textNoShape">
              <a:avLst/>
            </a:prstTxWarp>
          </a:bodyPr>
          <a:lstStyle/>
          <a:p>
            <a:pPr marL="236538" indent="-236538" algn="l" defTabSz="814388">
              <a:lnSpc>
                <a:spcPct val="95000"/>
              </a:lnSpc>
              <a:spcBef>
                <a:spcPct val="50000"/>
              </a:spcBef>
              <a:buClr>
                <a:schemeClr val="tx2"/>
              </a:buClr>
              <a:buSzPct val="100000"/>
              <a:buFont typeface="Wingdings" pitchFamily="1" charset="2"/>
              <a:buChar char="§"/>
            </a:pPr>
            <a:r>
              <a:rPr lang="en-GB" sz="1800" b="1"/>
              <a:t>CDT = 8, Max-Limit=14</a:t>
            </a:r>
            <a:endParaRPr lang="en-GB"/>
          </a:p>
        </p:txBody>
      </p:sp>
      <p:sp>
        <p:nvSpPr>
          <p:cNvPr id="185348" name="Rectangle 4"/>
          <p:cNvSpPr>
            <a:spLocks noChangeArrowheads="1"/>
          </p:cNvSpPr>
          <p:nvPr/>
        </p:nvSpPr>
        <p:spPr bwMode="auto">
          <a:xfrm>
            <a:off x="2900363" y="2674938"/>
            <a:ext cx="228600" cy="76200"/>
          </a:xfrm>
          <a:prstGeom prst="rect">
            <a:avLst/>
          </a:prstGeom>
          <a:solidFill>
            <a:srgbClr val="F8FD2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grpSp>
        <p:nvGrpSpPr>
          <p:cNvPr id="24581" name="Group 5"/>
          <p:cNvGrpSpPr>
            <a:grpSpLocks/>
          </p:cNvGrpSpPr>
          <p:nvPr/>
        </p:nvGrpSpPr>
        <p:grpSpPr bwMode="auto">
          <a:xfrm>
            <a:off x="4348163" y="1912938"/>
            <a:ext cx="1752600" cy="1600200"/>
            <a:chOff x="1776" y="1056"/>
            <a:chExt cx="1104" cy="1008"/>
          </a:xfrm>
        </p:grpSpPr>
        <p:grpSp>
          <p:nvGrpSpPr>
            <p:cNvPr id="24602" name="Group 6"/>
            <p:cNvGrpSpPr>
              <a:grpSpLocks/>
            </p:cNvGrpSpPr>
            <p:nvPr/>
          </p:nvGrpSpPr>
          <p:grpSpPr bwMode="auto">
            <a:xfrm>
              <a:off x="1776" y="1056"/>
              <a:ext cx="1104" cy="144"/>
              <a:chOff x="960" y="1152"/>
              <a:chExt cx="1104" cy="144"/>
            </a:xfrm>
          </p:grpSpPr>
          <p:sp>
            <p:nvSpPr>
              <p:cNvPr id="24627" name="Line 7"/>
              <p:cNvSpPr>
                <a:spLocks noChangeShapeType="1"/>
              </p:cNvSpPr>
              <p:nvPr/>
            </p:nvSpPr>
            <p:spPr bwMode="auto">
              <a:xfrm>
                <a:off x="960" y="1152"/>
                <a:ext cx="1104" cy="0"/>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sp>
            <p:nvSpPr>
              <p:cNvPr id="24628" name="Line 8"/>
              <p:cNvSpPr>
                <a:spLocks noChangeShapeType="1"/>
              </p:cNvSpPr>
              <p:nvPr/>
            </p:nvSpPr>
            <p:spPr bwMode="auto">
              <a:xfrm>
                <a:off x="960" y="1296"/>
                <a:ext cx="1104" cy="0"/>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sp>
            <p:nvSpPr>
              <p:cNvPr id="24629" name="Line 9"/>
              <p:cNvSpPr>
                <a:spLocks noChangeShapeType="1"/>
              </p:cNvSpPr>
              <p:nvPr/>
            </p:nvSpPr>
            <p:spPr bwMode="auto">
              <a:xfrm>
                <a:off x="2064" y="1152"/>
                <a:ext cx="0" cy="144"/>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grpSp>
        <p:grpSp>
          <p:nvGrpSpPr>
            <p:cNvPr id="24603" name="Group 10"/>
            <p:cNvGrpSpPr>
              <a:grpSpLocks/>
            </p:cNvGrpSpPr>
            <p:nvPr/>
          </p:nvGrpSpPr>
          <p:grpSpPr bwMode="auto">
            <a:xfrm>
              <a:off x="1776" y="1344"/>
              <a:ext cx="1104" cy="144"/>
              <a:chOff x="960" y="1152"/>
              <a:chExt cx="1104" cy="144"/>
            </a:xfrm>
          </p:grpSpPr>
          <p:sp>
            <p:nvSpPr>
              <p:cNvPr id="24624" name="Line 11"/>
              <p:cNvSpPr>
                <a:spLocks noChangeShapeType="1"/>
              </p:cNvSpPr>
              <p:nvPr/>
            </p:nvSpPr>
            <p:spPr bwMode="auto">
              <a:xfrm>
                <a:off x="960" y="1152"/>
                <a:ext cx="1104" cy="0"/>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sp>
            <p:nvSpPr>
              <p:cNvPr id="24625" name="Line 12"/>
              <p:cNvSpPr>
                <a:spLocks noChangeShapeType="1"/>
              </p:cNvSpPr>
              <p:nvPr/>
            </p:nvSpPr>
            <p:spPr bwMode="auto">
              <a:xfrm>
                <a:off x="960" y="1296"/>
                <a:ext cx="1104" cy="0"/>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sp>
            <p:nvSpPr>
              <p:cNvPr id="24626" name="Line 13"/>
              <p:cNvSpPr>
                <a:spLocks noChangeShapeType="1"/>
              </p:cNvSpPr>
              <p:nvPr/>
            </p:nvSpPr>
            <p:spPr bwMode="auto">
              <a:xfrm>
                <a:off x="2064" y="1152"/>
                <a:ext cx="0" cy="144"/>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grpSp>
        <p:grpSp>
          <p:nvGrpSpPr>
            <p:cNvPr id="24604" name="Group 14"/>
            <p:cNvGrpSpPr>
              <a:grpSpLocks/>
            </p:cNvGrpSpPr>
            <p:nvPr/>
          </p:nvGrpSpPr>
          <p:grpSpPr bwMode="auto">
            <a:xfrm>
              <a:off x="1776" y="1632"/>
              <a:ext cx="1104" cy="144"/>
              <a:chOff x="960" y="1152"/>
              <a:chExt cx="1104" cy="144"/>
            </a:xfrm>
          </p:grpSpPr>
          <p:sp>
            <p:nvSpPr>
              <p:cNvPr id="24621" name="Line 15"/>
              <p:cNvSpPr>
                <a:spLocks noChangeShapeType="1"/>
              </p:cNvSpPr>
              <p:nvPr/>
            </p:nvSpPr>
            <p:spPr bwMode="auto">
              <a:xfrm>
                <a:off x="960" y="1152"/>
                <a:ext cx="1104" cy="0"/>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sp>
            <p:nvSpPr>
              <p:cNvPr id="24622" name="Line 16"/>
              <p:cNvSpPr>
                <a:spLocks noChangeShapeType="1"/>
              </p:cNvSpPr>
              <p:nvPr/>
            </p:nvSpPr>
            <p:spPr bwMode="auto">
              <a:xfrm>
                <a:off x="960" y="1296"/>
                <a:ext cx="1104" cy="0"/>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sp>
            <p:nvSpPr>
              <p:cNvPr id="24623" name="Line 17"/>
              <p:cNvSpPr>
                <a:spLocks noChangeShapeType="1"/>
              </p:cNvSpPr>
              <p:nvPr/>
            </p:nvSpPr>
            <p:spPr bwMode="auto">
              <a:xfrm>
                <a:off x="2064" y="1152"/>
                <a:ext cx="0" cy="144"/>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grpSp>
        <p:grpSp>
          <p:nvGrpSpPr>
            <p:cNvPr id="24605" name="Group 18"/>
            <p:cNvGrpSpPr>
              <a:grpSpLocks/>
            </p:cNvGrpSpPr>
            <p:nvPr/>
          </p:nvGrpSpPr>
          <p:grpSpPr bwMode="auto">
            <a:xfrm>
              <a:off x="1776" y="1920"/>
              <a:ext cx="1104" cy="144"/>
              <a:chOff x="960" y="1152"/>
              <a:chExt cx="1104" cy="144"/>
            </a:xfrm>
          </p:grpSpPr>
          <p:sp>
            <p:nvSpPr>
              <p:cNvPr id="24618" name="Line 19"/>
              <p:cNvSpPr>
                <a:spLocks noChangeShapeType="1"/>
              </p:cNvSpPr>
              <p:nvPr/>
            </p:nvSpPr>
            <p:spPr bwMode="auto">
              <a:xfrm>
                <a:off x="960" y="1152"/>
                <a:ext cx="1104" cy="0"/>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sp>
            <p:nvSpPr>
              <p:cNvPr id="24619" name="Line 20"/>
              <p:cNvSpPr>
                <a:spLocks noChangeShapeType="1"/>
              </p:cNvSpPr>
              <p:nvPr/>
            </p:nvSpPr>
            <p:spPr bwMode="auto">
              <a:xfrm>
                <a:off x="960" y="1296"/>
                <a:ext cx="1104" cy="0"/>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sp>
            <p:nvSpPr>
              <p:cNvPr id="24620" name="Line 21"/>
              <p:cNvSpPr>
                <a:spLocks noChangeShapeType="1"/>
              </p:cNvSpPr>
              <p:nvPr/>
            </p:nvSpPr>
            <p:spPr bwMode="auto">
              <a:xfrm>
                <a:off x="2064" y="1152"/>
                <a:ext cx="0" cy="144"/>
              </a:xfrm>
              <a:prstGeom prst="line">
                <a:avLst/>
              </a:prstGeom>
              <a:noFill/>
              <a:ln w="3175">
                <a:solidFill>
                  <a:schemeClr val="tx1"/>
                </a:solidFill>
                <a:round/>
                <a:headEnd type="none" w="sm" len="sm"/>
                <a:tailEnd type="none" w="sm" len="sm"/>
              </a:ln>
            </p:spPr>
            <p:txBody>
              <a:bodyPr wrap="none" anchor="ctr">
                <a:prstTxWarp prst="textNoShape">
                  <a:avLst/>
                </a:prstTxWarp>
              </a:bodyPr>
              <a:lstStyle/>
              <a:p>
                <a:endParaRPr lang="en-US"/>
              </a:p>
            </p:txBody>
          </p:sp>
        </p:grpSp>
        <p:sp>
          <p:nvSpPr>
            <p:cNvPr id="24606" name="Rectangle 22"/>
            <p:cNvSpPr>
              <a:spLocks noChangeArrowheads="1"/>
            </p:cNvSpPr>
            <p:nvPr/>
          </p:nvSpPr>
          <p:spPr bwMode="auto">
            <a:xfrm>
              <a:off x="2736" y="1104"/>
              <a:ext cx="144" cy="48"/>
            </a:xfrm>
            <a:prstGeom prst="rect">
              <a:avLst/>
            </a:prstGeom>
            <a:solidFill>
              <a:srgbClr val="F8FD2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07" name="Rectangle 23"/>
            <p:cNvSpPr>
              <a:spLocks noChangeArrowheads="1"/>
            </p:cNvSpPr>
            <p:nvPr/>
          </p:nvSpPr>
          <p:spPr bwMode="auto">
            <a:xfrm>
              <a:off x="2544" y="1104"/>
              <a:ext cx="144" cy="48"/>
            </a:xfrm>
            <a:prstGeom prst="rect">
              <a:avLst/>
            </a:prstGeom>
            <a:solidFill>
              <a:srgbClr val="F8FD2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08" name="Rectangle 24"/>
            <p:cNvSpPr>
              <a:spLocks noChangeArrowheads="1"/>
            </p:cNvSpPr>
            <p:nvPr/>
          </p:nvSpPr>
          <p:spPr bwMode="auto">
            <a:xfrm>
              <a:off x="2352" y="1104"/>
              <a:ext cx="144" cy="48"/>
            </a:xfrm>
            <a:prstGeom prst="rect">
              <a:avLst/>
            </a:prstGeom>
            <a:solidFill>
              <a:srgbClr val="F8FD2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09" name="Rectangle 25"/>
            <p:cNvSpPr>
              <a:spLocks noChangeArrowheads="1"/>
            </p:cNvSpPr>
            <p:nvPr/>
          </p:nvSpPr>
          <p:spPr bwMode="auto">
            <a:xfrm>
              <a:off x="2160" y="1104"/>
              <a:ext cx="144" cy="48"/>
            </a:xfrm>
            <a:prstGeom prst="rect">
              <a:avLst/>
            </a:prstGeom>
            <a:solidFill>
              <a:srgbClr val="F8FD2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10" name="Rectangle 26"/>
            <p:cNvSpPr>
              <a:spLocks noChangeArrowheads="1"/>
            </p:cNvSpPr>
            <p:nvPr/>
          </p:nvSpPr>
          <p:spPr bwMode="auto">
            <a:xfrm>
              <a:off x="1968" y="1104"/>
              <a:ext cx="144" cy="48"/>
            </a:xfrm>
            <a:prstGeom prst="rect">
              <a:avLst/>
            </a:prstGeom>
            <a:solidFill>
              <a:srgbClr val="F8FD2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11" name="Rectangle 27"/>
            <p:cNvSpPr>
              <a:spLocks noChangeArrowheads="1"/>
            </p:cNvSpPr>
            <p:nvPr/>
          </p:nvSpPr>
          <p:spPr bwMode="auto">
            <a:xfrm>
              <a:off x="2736" y="1392"/>
              <a:ext cx="144" cy="48"/>
            </a:xfrm>
            <a:prstGeom prst="rect">
              <a:avLst/>
            </a:prstGeom>
            <a:solidFill>
              <a:srgbClr val="00B15B"/>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12" name="Rectangle 28"/>
            <p:cNvSpPr>
              <a:spLocks noChangeArrowheads="1"/>
            </p:cNvSpPr>
            <p:nvPr/>
          </p:nvSpPr>
          <p:spPr bwMode="auto">
            <a:xfrm>
              <a:off x="2544" y="1392"/>
              <a:ext cx="144" cy="48"/>
            </a:xfrm>
            <a:prstGeom prst="rect">
              <a:avLst/>
            </a:prstGeom>
            <a:solidFill>
              <a:srgbClr val="00B15B"/>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13" name="Rectangle 29"/>
            <p:cNvSpPr>
              <a:spLocks noChangeArrowheads="1"/>
            </p:cNvSpPr>
            <p:nvPr/>
          </p:nvSpPr>
          <p:spPr bwMode="auto">
            <a:xfrm>
              <a:off x="2352" y="1392"/>
              <a:ext cx="144" cy="48"/>
            </a:xfrm>
            <a:prstGeom prst="rect">
              <a:avLst/>
            </a:prstGeom>
            <a:solidFill>
              <a:srgbClr val="00B15B"/>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14" name="Rectangle 30"/>
            <p:cNvSpPr>
              <a:spLocks noChangeArrowheads="1"/>
            </p:cNvSpPr>
            <p:nvPr/>
          </p:nvSpPr>
          <p:spPr bwMode="auto">
            <a:xfrm>
              <a:off x="2736" y="1680"/>
              <a:ext cx="144" cy="48"/>
            </a:xfrm>
            <a:prstGeom prst="rect">
              <a:avLst/>
            </a:prstGeom>
            <a:solidFill>
              <a:schemeClr val="accent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15" name="Rectangle 31"/>
            <p:cNvSpPr>
              <a:spLocks noChangeArrowheads="1"/>
            </p:cNvSpPr>
            <p:nvPr/>
          </p:nvSpPr>
          <p:spPr bwMode="auto">
            <a:xfrm>
              <a:off x="2736" y="1968"/>
              <a:ext cx="144" cy="48"/>
            </a:xfrm>
            <a:prstGeom prst="rect">
              <a:avLst/>
            </a:prstGeom>
            <a:solidFill>
              <a:srgbClr val="790015"/>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16" name="Rectangle 32"/>
            <p:cNvSpPr>
              <a:spLocks noChangeArrowheads="1"/>
            </p:cNvSpPr>
            <p:nvPr/>
          </p:nvSpPr>
          <p:spPr bwMode="auto">
            <a:xfrm>
              <a:off x="2544" y="1968"/>
              <a:ext cx="144" cy="48"/>
            </a:xfrm>
            <a:prstGeom prst="rect">
              <a:avLst/>
            </a:prstGeom>
            <a:solidFill>
              <a:srgbClr val="790015"/>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617" name="Rectangle 33"/>
            <p:cNvSpPr>
              <a:spLocks noChangeArrowheads="1"/>
            </p:cNvSpPr>
            <p:nvPr/>
          </p:nvSpPr>
          <p:spPr bwMode="auto">
            <a:xfrm>
              <a:off x="2352" y="1968"/>
              <a:ext cx="144" cy="48"/>
            </a:xfrm>
            <a:prstGeom prst="rect">
              <a:avLst/>
            </a:prstGeom>
            <a:solidFill>
              <a:srgbClr val="790015"/>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grpSp>
      <p:grpSp>
        <p:nvGrpSpPr>
          <p:cNvPr id="7" name="Group 34"/>
          <p:cNvGrpSpPr>
            <a:grpSpLocks/>
          </p:cNvGrpSpPr>
          <p:nvPr/>
        </p:nvGrpSpPr>
        <p:grpSpPr bwMode="auto">
          <a:xfrm>
            <a:off x="4652963" y="1912938"/>
            <a:ext cx="228600" cy="304800"/>
            <a:chOff x="4080" y="2016"/>
            <a:chExt cx="192" cy="240"/>
          </a:xfrm>
        </p:grpSpPr>
        <p:sp>
          <p:nvSpPr>
            <p:cNvPr id="24600" name="Line 35"/>
            <p:cNvSpPr>
              <a:spLocks noChangeShapeType="1"/>
            </p:cNvSpPr>
            <p:nvPr/>
          </p:nvSpPr>
          <p:spPr bwMode="auto">
            <a:xfrm>
              <a:off x="4080" y="2016"/>
              <a:ext cx="192" cy="240"/>
            </a:xfrm>
            <a:prstGeom prst="line">
              <a:avLst/>
            </a:prstGeom>
            <a:noFill/>
            <a:ln w="28575">
              <a:solidFill>
                <a:schemeClr val="tx1"/>
              </a:solidFill>
              <a:round/>
              <a:headEnd type="none" w="sm" len="sm"/>
              <a:tailEnd type="none" w="sm" len="sm"/>
            </a:ln>
          </p:spPr>
          <p:txBody>
            <a:bodyPr wrap="none" anchor="ctr">
              <a:prstTxWarp prst="textNoShape">
                <a:avLst/>
              </a:prstTxWarp>
            </a:bodyPr>
            <a:lstStyle/>
            <a:p>
              <a:endParaRPr lang="en-US"/>
            </a:p>
          </p:txBody>
        </p:sp>
        <p:sp>
          <p:nvSpPr>
            <p:cNvPr id="24601" name="Line 36"/>
            <p:cNvSpPr>
              <a:spLocks noChangeShapeType="1"/>
            </p:cNvSpPr>
            <p:nvPr/>
          </p:nvSpPr>
          <p:spPr bwMode="auto">
            <a:xfrm flipH="1">
              <a:off x="4080" y="2016"/>
              <a:ext cx="192" cy="240"/>
            </a:xfrm>
            <a:prstGeom prst="line">
              <a:avLst/>
            </a:prstGeom>
            <a:noFill/>
            <a:ln w="28575">
              <a:solidFill>
                <a:schemeClr val="tx1"/>
              </a:solidFill>
              <a:round/>
              <a:headEnd type="none" w="sm" len="sm"/>
              <a:tailEnd type="none" w="sm" len="sm"/>
            </a:ln>
          </p:spPr>
          <p:txBody>
            <a:bodyPr wrap="none" anchor="ctr">
              <a:prstTxWarp prst="textNoShape">
                <a:avLst/>
              </a:prstTxWarp>
            </a:bodyPr>
            <a:lstStyle/>
            <a:p>
              <a:endParaRPr lang="en-US"/>
            </a:p>
          </p:txBody>
        </p:sp>
      </p:grpSp>
      <p:grpSp>
        <p:nvGrpSpPr>
          <p:cNvPr id="8" name="Group 37"/>
          <p:cNvGrpSpPr>
            <a:grpSpLocks/>
          </p:cNvGrpSpPr>
          <p:nvPr/>
        </p:nvGrpSpPr>
        <p:grpSpPr bwMode="auto">
          <a:xfrm>
            <a:off x="2900363" y="2598738"/>
            <a:ext cx="228600" cy="304800"/>
            <a:chOff x="4080" y="2016"/>
            <a:chExt cx="192" cy="240"/>
          </a:xfrm>
        </p:grpSpPr>
        <p:sp>
          <p:nvSpPr>
            <p:cNvPr id="24598" name="Line 38"/>
            <p:cNvSpPr>
              <a:spLocks noChangeShapeType="1"/>
            </p:cNvSpPr>
            <p:nvPr/>
          </p:nvSpPr>
          <p:spPr bwMode="auto">
            <a:xfrm>
              <a:off x="4080" y="2016"/>
              <a:ext cx="192" cy="240"/>
            </a:xfrm>
            <a:prstGeom prst="line">
              <a:avLst/>
            </a:prstGeom>
            <a:noFill/>
            <a:ln w="28575">
              <a:solidFill>
                <a:schemeClr val="tx1"/>
              </a:solidFill>
              <a:round/>
              <a:headEnd type="none" w="sm" len="sm"/>
              <a:tailEnd type="none" w="sm" len="sm"/>
            </a:ln>
          </p:spPr>
          <p:txBody>
            <a:bodyPr wrap="none" anchor="ctr">
              <a:prstTxWarp prst="textNoShape">
                <a:avLst/>
              </a:prstTxWarp>
            </a:bodyPr>
            <a:lstStyle/>
            <a:p>
              <a:endParaRPr lang="en-US"/>
            </a:p>
          </p:txBody>
        </p:sp>
        <p:sp>
          <p:nvSpPr>
            <p:cNvPr id="24599" name="Line 39"/>
            <p:cNvSpPr>
              <a:spLocks noChangeShapeType="1"/>
            </p:cNvSpPr>
            <p:nvPr/>
          </p:nvSpPr>
          <p:spPr bwMode="auto">
            <a:xfrm flipH="1">
              <a:off x="4080" y="2016"/>
              <a:ext cx="192" cy="240"/>
            </a:xfrm>
            <a:prstGeom prst="line">
              <a:avLst/>
            </a:prstGeom>
            <a:noFill/>
            <a:ln w="28575">
              <a:solidFill>
                <a:schemeClr val="tx1"/>
              </a:solidFill>
              <a:round/>
              <a:headEnd type="none" w="sm" len="sm"/>
              <a:tailEnd type="none" w="sm" len="sm"/>
            </a:ln>
          </p:spPr>
          <p:txBody>
            <a:bodyPr wrap="none" anchor="ctr">
              <a:prstTxWarp prst="textNoShape">
                <a:avLst/>
              </a:prstTxWarp>
            </a:bodyPr>
            <a:lstStyle/>
            <a:p>
              <a:endParaRPr lang="en-US"/>
            </a:p>
          </p:txBody>
        </p:sp>
      </p:grpSp>
      <p:sp>
        <p:nvSpPr>
          <p:cNvPr id="185384" name="Rectangle 40"/>
          <p:cNvSpPr>
            <a:spLocks noChangeArrowheads="1"/>
          </p:cNvSpPr>
          <p:nvPr/>
        </p:nvSpPr>
        <p:spPr bwMode="auto">
          <a:xfrm>
            <a:off x="2519363" y="2446338"/>
            <a:ext cx="1066800" cy="609600"/>
          </a:xfrm>
          <a:prstGeom prst="rect">
            <a:avLst/>
          </a:prstGeom>
          <a:solidFill>
            <a:schemeClr val="bg1"/>
          </a:solidFill>
          <a:ln w="9525">
            <a:noFill/>
            <a:miter lim="800000"/>
            <a:headEnd type="none" w="sm" len="sm"/>
            <a:tailEnd type="none" w="sm" len="sm"/>
          </a:ln>
        </p:spPr>
        <p:txBody>
          <a:bodyPr wrap="none" anchor="ctr">
            <a:prstTxWarp prst="textNoShape">
              <a:avLst/>
            </a:prstTxWarp>
          </a:bodyPr>
          <a:lstStyle/>
          <a:p>
            <a:endParaRPr lang="en-US"/>
          </a:p>
        </p:txBody>
      </p:sp>
      <p:sp>
        <p:nvSpPr>
          <p:cNvPr id="185385" name="Rectangle 41"/>
          <p:cNvSpPr>
            <a:spLocks noChangeArrowheads="1"/>
          </p:cNvSpPr>
          <p:nvPr/>
        </p:nvSpPr>
        <p:spPr bwMode="auto">
          <a:xfrm>
            <a:off x="5262563" y="2903538"/>
            <a:ext cx="228600" cy="76200"/>
          </a:xfrm>
          <a:prstGeom prst="rect">
            <a:avLst/>
          </a:prstGeom>
          <a:solidFill>
            <a:schemeClr val="accent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185386" name="Rectangle 42"/>
          <p:cNvSpPr>
            <a:spLocks noChangeArrowheads="1"/>
          </p:cNvSpPr>
          <p:nvPr/>
        </p:nvSpPr>
        <p:spPr bwMode="auto">
          <a:xfrm>
            <a:off x="2900363" y="2903538"/>
            <a:ext cx="228600" cy="76200"/>
          </a:xfrm>
          <a:prstGeom prst="rect">
            <a:avLst/>
          </a:prstGeom>
          <a:solidFill>
            <a:srgbClr val="00B15B"/>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587" name="Rectangle 43"/>
          <p:cNvSpPr>
            <a:spLocks noChangeArrowheads="1"/>
          </p:cNvSpPr>
          <p:nvPr/>
        </p:nvSpPr>
        <p:spPr bwMode="auto">
          <a:xfrm>
            <a:off x="2062163" y="4579938"/>
            <a:ext cx="838200" cy="457200"/>
          </a:xfrm>
          <a:prstGeom prst="rect">
            <a:avLst/>
          </a:prstGeom>
          <a:solidFill>
            <a:schemeClr val="bg1"/>
          </a:solidFill>
          <a:ln w="9525">
            <a:noFill/>
            <a:miter lim="800000"/>
            <a:headEnd type="none" w="sm" len="sm"/>
            <a:tailEnd type="none" w="sm" len="sm"/>
          </a:ln>
        </p:spPr>
        <p:txBody>
          <a:bodyPr wrap="none" anchor="ctr">
            <a:prstTxWarp prst="textNoShape">
              <a:avLst/>
            </a:prstTxWarp>
          </a:bodyPr>
          <a:lstStyle/>
          <a:p>
            <a:endParaRPr lang="en-US"/>
          </a:p>
        </p:txBody>
      </p:sp>
      <p:sp>
        <p:nvSpPr>
          <p:cNvPr id="185388" name="Rectangle 44"/>
          <p:cNvSpPr>
            <a:spLocks noChangeArrowheads="1"/>
          </p:cNvSpPr>
          <p:nvPr/>
        </p:nvSpPr>
        <p:spPr bwMode="auto">
          <a:xfrm>
            <a:off x="2595563" y="2674938"/>
            <a:ext cx="838200" cy="457200"/>
          </a:xfrm>
          <a:prstGeom prst="rect">
            <a:avLst/>
          </a:prstGeom>
          <a:solidFill>
            <a:schemeClr val="bg1"/>
          </a:solidFill>
          <a:ln w="9525">
            <a:noFill/>
            <a:miter lim="800000"/>
            <a:headEnd type="none" w="sm" len="sm"/>
            <a:tailEnd type="none" w="sm" len="sm"/>
          </a:ln>
        </p:spPr>
        <p:txBody>
          <a:bodyPr wrap="none" anchor="ctr">
            <a:prstTxWarp prst="textNoShape">
              <a:avLst/>
            </a:prstTxWarp>
          </a:bodyPr>
          <a:lstStyle/>
          <a:p>
            <a:endParaRPr lang="en-US"/>
          </a:p>
        </p:txBody>
      </p:sp>
      <p:sp>
        <p:nvSpPr>
          <p:cNvPr id="185389" name="Rectangle 45"/>
          <p:cNvSpPr>
            <a:spLocks noChangeArrowheads="1"/>
          </p:cNvSpPr>
          <p:nvPr/>
        </p:nvSpPr>
        <p:spPr bwMode="auto">
          <a:xfrm>
            <a:off x="4957763" y="2446338"/>
            <a:ext cx="228600" cy="76200"/>
          </a:xfrm>
          <a:prstGeom prst="rect">
            <a:avLst/>
          </a:prstGeom>
          <a:solidFill>
            <a:srgbClr val="00B15B"/>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185390" name="Rectangle 46"/>
          <p:cNvSpPr>
            <a:spLocks noChangeArrowheads="1"/>
          </p:cNvSpPr>
          <p:nvPr/>
        </p:nvSpPr>
        <p:spPr bwMode="auto">
          <a:xfrm>
            <a:off x="2900363" y="2827338"/>
            <a:ext cx="228600" cy="76200"/>
          </a:xfrm>
          <a:prstGeom prst="rect">
            <a:avLst/>
          </a:prstGeom>
          <a:solidFill>
            <a:schemeClr val="accent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4591" name="Rectangle 47"/>
          <p:cNvSpPr>
            <a:spLocks noChangeArrowheads="1"/>
          </p:cNvSpPr>
          <p:nvPr/>
        </p:nvSpPr>
        <p:spPr bwMode="auto">
          <a:xfrm>
            <a:off x="2443163" y="4808538"/>
            <a:ext cx="990600" cy="609600"/>
          </a:xfrm>
          <a:prstGeom prst="rect">
            <a:avLst/>
          </a:prstGeom>
          <a:solidFill>
            <a:schemeClr val="bg1"/>
          </a:solidFill>
          <a:ln w="9525">
            <a:noFill/>
            <a:miter lim="800000"/>
            <a:headEnd type="none" w="sm" len="sm"/>
            <a:tailEnd type="none" w="sm" len="sm"/>
          </a:ln>
        </p:spPr>
        <p:txBody>
          <a:bodyPr wrap="none" anchor="ctr">
            <a:prstTxWarp prst="textNoShape">
              <a:avLst/>
            </a:prstTxWarp>
          </a:bodyPr>
          <a:lstStyle/>
          <a:p>
            <a:endParaRPr lang="en-US"/>
          </a:p>
        </p:txBody>
      </p:sp>
      <p:sp>
        <p:nvSpPr>
          <p:cNvPr id="185392" name="Rectangle 48"/>
          <p:cNvSpPr>
            <a:spLocks noChangeArrowheads="1"/>
          </p:cNvSpPr>
          <p:nvPr/>
        </p:nvSpPr>
        <p:spPr bwMode="auto">
          <a:xfrm>
            <a:off x="2519363" y="2522538"/>
            <a:ext cx="990600" cy="609600"/>
          </a:xfrm>
          <a:prstGeom prst="rect">
            <a:avLst/>
          </a:prstGeom>
          <a:solidFill>
            <a:schemeClr val="bg1"/>
          </a:solidFill>
          <a:ln w="9525">
            <a:noFill/>
            <a:miter lim="800000"/>
            <a:headEnd type="none" w="sm" len="sm"/>
            <a:tailEnd type="none" w="sm" len="sm"/>
          </a:ln>
        </p:spPr>
        <p:txBody>
          <a:bodyPr wrap="none" anchor="ctr">
            <a:prstTxWarp prst="textNoShape">
              <a:avLst/>
            </a:prstTxWarp>
          </a:bodyPr>
          <a:lstStyle/>
          <a:p>
            <a:endParaRPr lang="en-US"/>
          </a:p>
        </p:txBody>
      </p:sp>
      <p:sp>
        <p:nvSpPr>
          <p:cNvPr id="185393" name="Rectangle 49"/>
          <p:cNvSpPr>
            <a:spLocks noChangeArrowheads="1"/>
          </p:cNvSpPr>
          <p:nvPr/>
        </p:nvSpPr>
        <p:spPr bwMode="auto">
          <a:xfrm>
            <a:off x="5567363" y="2903538"/>
            <a:ext cx="228600" cy="76200"/>
          </a:xfrm>
          <a:prstGeom prst="rect">
            <a:avLst/>
          </a:prstGeom>
          <a:solidFill>
            <a:schemeClr val="accent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185394" name="Rectangle 50"/>
          <p:cNvSpPr>
            <a:spLocks noChangeArrowheads="1"/>
          </p:cNvSpPr>
          <p:nvPr/>
        </p:nvSpPr>
        <p:spPr bwMode="auto">
          <a:xfrm>
            <a:off x="2900363" y="2827338"/>
            <a:ext cx="228600" cy="76200"/>
          </a:xfrm>
          <a:prstGeom prst="rect">
            <a:avLst/>
          </a:prstGeom>
          <a:solidFill>
            <a:schemeClr val="accent1"/>
          </a:solidFill>
          <a:ln w="3175">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185395" name="Rectangle 51"/>
          <p:cNvSpPr>
            <a:spLocks noChangeArrowheads="1"/>
          </p:cNvSpPr>
          <p:nvPr/>
        </p:nvSpPr>
        <p:spPr bwMode="auto">
          <a:xfrm>
            <a:off x="2214563" y="4275138"/>
            <a:ext cx="1066800" cy="685800"/>
          </a:xfrm>
          <a:prstGeom prst="rect">
            <a:avLst/>
          </a:prstGeom>
          <a:noFill/>
          <a:ln w="9525">
            <a:noFill/>
            <a:miter lim="800000"/>
            <a:headEnd type="none" w="sm" len="sm"/>
            <a:tailEnd type="none" w="sm" len="sm"/>
          </a:ln>
          <a:effectLst>
            <a:outerShdw dist="35921" dir="2700000" algn="ctr" rotWithShape="0">
              <a:schemeClr val="tx1"/>
            </a:outerShdw>
          </a:effectLst>
        </p:spPr>
        <p:txBody>
          <a:bodyPr wrap="none" anchor="ctr"/>
          <a:lstStyle/>
          <a:p>
            <a:pPr>
              <a:defRPr/>
            </a:pPr>
            <a:endParaRPr lang="en-US">
              <a:latin typeface="Arial" charset="0"/>
            </a:endParaRPr>
          </a:p>
        </p:txBody>
      </p:sp>
      <p:sp>
        <p:nvSpPr>
          <p:cNvPr id="185396" name="Rectangle 52"/>
          <p:cNvSpPr>
            <a:spLocks noChangeArrowheads="1"/>
          </p:cNvSpPr>
          <p:nvPr/>
        </p:nvSpPr>
        <p:spPr bwMode="auto">
          <a:xfrm>
            <a:off x="2595563" y="2598738"/>
            <a:ext cx="990600" cy="609600"/>
          </a:xfrm>
          <a:prstGeom prst="rect">
            <a:avLst/>
          </a:prstGeom>
          <a:solidFill>
            <a:schemeClr val="bg1"/>
          </a:solidFill>
          <a:ln w="9525">
            <a:noFill/>
            <a:miter lim="800000"/>
            <a:headEnd type="none" w="sm" len="sm"/>
            <a:tailEnd type="none" w="sm" len="sm"/>
          </a:ln>
        </p:spPr>
        <p:txBody>
          <a:bodyPr wrap="none" anchor="ctr">
            <a:prstTxWarp prst="textNoShape">
              <a:avLst/>
            </a:prstTxWarp>
          </a:bodyPr>
          <a:lstStyle/>
          <a:p>
            <a:endParaRPr lang="en-US"/>
          </a:p>
        </p:txBody>
      </p:sp>
      <p:sp>
        <p:nvSpPr>
          <p:cNvPr id="185397" name="Rectangle 53"/>
          <p:cNvSpPr>
            <a:spLocks noChangeArrowheads="1"/>
          </p:cNvSpPr>
          <p:nvPr/>
        </p:nvSpPr>
        <p:spPr bwMode="auto">
          <a:xfrm>
            <a:off x="7853363" y="1760538"/>
            <a:ext cx="838200" cy="457200"/>
          </a:xfrm>
          <a:prstGeom prst="rect">
            <a:avLst/>
          </a:prstGeom>
          <a:solidFill>
            <a:schemeClr val="bg1"/>
          </a:solidFill>
          <a:ln w="9525">
            <a:noFill/>
            <a:miter lim="800000"/>
            <a:headEnd type="none" w="sm" len="sm"/>
            <a:tailEnd type="none" w="sm" len="sm"/>
          </a:ln>
        </p:spPr>
        <p:txBody>
          <a:bodyPr wrap="none" anchor="ctr">
            <a:prstTxWarp prst="textNoShape">
              <a:avLst/>
            </a:prstTxWarp>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5348"/>
                                        </p:tgtEl>
                                        <p:attrNameLst>
                                          <p:attrName>style.visibility</p:attrName>
                                        </p:attrNameLst>
                                      </p:cBhvr>
                                      <p:to>
                                        <p:strVal val="visible"/>
                                      </p:to>
                                    </p:set>
                                    <p:anim calcmode="lin" valueType="num">
                                      <p:cBhvr additive="base">
                                        <p:cTn id="7" dur="500" fill="hold"/>
                                        <p:tgtEl>
                                          <p:spTgt spid="185348"/>
                                        </p:tgtEl>
                                        <p:attrNameLst>
                                          <p:attrName>ppt_x</p:attrName>
                                        </p:attrNameLst>
                                      </p:cBhvr>
                                      <p:tavLst>
                                        <p:tav tm="0">
                                          <p:val>
                                            <p:strVal val="0-#ppt_w/2"/>
                                          </p:val>
                                        </p:tav>
                                        <p:tav tm="100000">
                                          <p:val>
                                            <p:strVal val="#ppt_x"/>
                                          </p:val>
                                        </p:tav>
                                      </p:tavLst>
                                    </p:anim>
                                    <p:anim calcmode="lin" valueType="num">
                                      <p:cBhvr additive="base">
                                        <p:cTn id="8" dur="500" fill="hold"/>
                                        <p:tgtEl>
                                          <p:spTgt spid="18534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85384"/>
                                        </p:tgtEl>
                                        <p:attrNameLst>
                                          <p:attrName>style.visibility</p:attrName>
                                        </p:attrNameLst>
                                      </p:cBhvr>
                                      <p:to>
                                        <p:strVal val="visible"/>
                                      </p:to>
                                    </p:set>
                                    <p:anim calcmode="lin" valueType="num">
                                      <p:cBhvr additive="base">
                                        <p:cTn id="17" dur="500" fill="hold"/>
                                        <p:tgtEl>
                                          <p:spTgt spid="185384"/>
                                        </p:tgtEl>
                                        <p:attrNameLst>
                                          <p:attrName>ppt_x</p:attrName>
                                        </p:attrNameLst>
                                      </p:cBhvr>
                                      <p:tavLst>
                                        <p:tav tm="0">
                                          <p:val>
                                            <p:strVal val="0-#ppt_w/2"/>
                                          </p:val>
                                        </p:tav>
                                        <p:tav tm="100000">
                                          <p:val>
                                            <p:strVal val="#ppt_x"/>
                                          </p:val>
                                        </p:tav>
                                      </p:tavLst>
                                    </p:anim>
                                    <p:anim calcmode="lin" valueType="num">
                                      <p:cBhvr additive="base">
                                        <p:cTn id="18" dur="500" fill="hold"/>
                                        <p:tgtEl>
                                          <p:spTgt spid="18538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85386"/>
                                        </p:tgtEl>
                                        <p:attrNameLst>
                                          <p:attrName>style.visibility</p:attrName>
                                        </p:attrNameLst>
                                      </p:cBhvr>
                                      <p:to>
                                        <p:strVal val="visible"/>
                                      </p:to>
                                    </p:set>
                                    <p:anim calcmode="lin" valueType="num">
                                      <p:cBhvr additive="base">
                                        <p:cTn id="23" dur="500" fill="hold"/>
                                        <p:tgtEl>
                                          <p:spTgt spid="185386"/>
                                        </p:tgtEl>
                                        <p:attrNameLst>
                                          <p:attrName>ppt_x</p:attrName>
                                        </p:attrNameLst>
                                      </p:cBhvr>
                                      <p:tavLst>
                                        <p:tav tm="0">
                                          <p:val>
                                            <p:strVal val="0-#ppt_w/2"/>
                                          </p:val>
                                        </p:tav>
                                        <p:tav tm="100000">
                                          <p:val>
                                            <p:strVal val="#ppt_x"/>
                                          </p:val>
                                        </p:tav>
                                      </p:tavLst>
                                    </p:anim>
                                    <p:anim calcmode="lin" valueType="num">
                                      <p:cBhvr additive="base">
                                        <p:cTn id="24" dur="500" fill="hold"/>
                                        <p:tgtEl>
                                          <p:spTgt spid="18538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85388"/>
                                        </p:tgtEl>
                                        <p:attrNameLst>
                                          <p:attrName>style.visibility</p:attrName>
                                        </p:attrNameLst>
                                      </p:cBhvr>
                                      <p:to>
                                        <p:strVal val="visible"/>
                                      </p:to>
                                    </p:set>
                                    <p:anim calcmode="lin" valueType="num">
                                      <p:cBhvr additive="base">
                                        <p:cTn id="29" dur="500" fill="hold"/>
                                        <p:tgtEl>
                                          <p:spTgt spid="185388"/>
                                        </p:tgtEl>
                                        <p:attrNameLst>
                                          <p:attrName>ppt_x</p:attrName>
                                        </p:attrNameLst>
                                      </p:cBhvr>
                                      <p:tavLst>
                                        <p:tav tm="0">
                                          <p:val>
                                            <p:strVal val="0-#ppt_w/2"/>
                                          </p:val>
                                        </p:tav>
                                        <p:tav tm="100000">
                                          <p:val>
                                            <p:strVal val="#ppt_x"/>
                                          </p:val>
                                        </p:tav>
                                      </p:tavLst>
                                    </p:anim>
                                    <p:anim calcmode="lin" valueType="num">
                                      <p:cBhvr additive="base">
                                        <p:cTn id="30" dur="500" fill="hold"/>
                                        <p:tgtEl>
                                          <p:spTgt spid="185388"/>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8538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85390"/>
                                        </p:tgtEl>
                                        <p:attrNameLst>
                                          <p:attrName>style.visibility</p:attrName>
                                        </p:attrNameLst>
                                      </p:cBhvr>
                                      <p:to>
                                        <p:strVal val="visible"/>
                                      </p:to>
                                    </p:set>
                                    <p:anim calcmode="lin" valueType="num">
                                      <p:cBhvr additive="base">
                                        <p:cTn id="39" dur="500" fill="hold"/>
                                        <p:tgtEl>
                                          <p:spTgt spid="185390"/>
                                        </p:tgtEl>
                                        <p:attrNameLst>
                                          <p:attrName>ppt_x</p:attrName>
                                        </p:attrNameLst>
                                      </p:cBhvr>
                                      <p:tavLst>
                                        <p:tav tm="0">
                                          <p:val>
                                            <p:strVal val="0-#ppt_w/2"/>
                                          </p:val>
                                        </p:tav>
                                        <p:tav tm="100000">
                                          <p:val>
                                            <p:strVal val="#ppt_x"/>
                                          </p:val>
                                        </p:tav>
                                      </p:tavLst>
                                    </p:anim>
                                    <p:anim calcmode="lin" valueType="num">
                                      <p:cBhvr additive="base">
                                        <p:cTn id="40" dur="500" fill="hold"/>
                                        <p:tgtEl>
                                          <p:spTgt spid="185390"/>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85392"/>
                                        </p:tgtEl>
                                        <p:attrNameLst>
                                          <p:attrName>style.visibility</p:attrName>
                                        </p:attrNameLst>
                                      </p:cBhvr>
                                      <p:to>
                                        <p:strVal val="visible"/>
                                      </p:to>
                                    </p:set>
                                    <p:anim calcmode="lin" valueType="num">
                                      <p:cBhvr additive="base">
                                        <p:cTn id="45" dur="500" fill="hold"/>
                                        <p:tgtEl>
                                          <p:spTgt spid="185392"/>
                                        </p:tgtEl>
                                        <p:attrNameLst>
                                          <p:attrName>ppt_x</p:attrName>
                                        </p:attrNameLst>
                                      </p:cBhvr>
                                      <p:tavLst>
                                        <p:tav tm="0">
                                          <p:val>
                                            <p:strVal val="0-#ppt_w/2"/>
                                          </p:val>
                                        </p:tav>
                                        <p:tav tm="100000">
                                          <p:val>
                                            <p:strVal val="#ppt_x"/>
                                          </p:val>
                                        </p:tav>
                                      </p:tavLst>
                                    </p:anim>
                                    <p:anim calcmode="lin" valueType="num">
                                      <p:cBhvr additive="base">
                                        <p:cTn id="46" dur="500" fill="hold"/>
                                        <p:tgtEl>
                                          <p:spTgt spid="185392"/>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8539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85394"/>
                                        </p:tgtEl>
                                        <p:attrNameLst>
                                          <p:attrName>style.visibility</p:attrName>
                                        </p:attrNameLst>
                                      </p:cBhvr>
                                      <p:to>
                                        <p:strVal val="visible"/>
                                      </p:to>
                                    </p:set>
                                    <p:anim calcmode="lin" valueType="num">
                                      <p:cBhvr additive="base">
                                        <p:cTn id="55" dur="500" fill="hold"/>
                                        <p:tgtEl>
                                          <p:spTgt spid="185394"/>
                                        </p:tgtEl>
                                        <p:attrNameLst>
                                          <p:attrName>ppt_x</p:attrName>
                                        </p:attrNameLst>
                                      </p:cBhvr>
                                      <p:tavLst>
                                        <p:tav tm="0">
                                          <p:val>
                                            <p:strVal val="0-#ppt_w/2"/>
                                          </p:val>
                                        </p:tav>
                                        <p:tav tm="100000">
                                          <p:val>
                                            <p:strVal val="#ppt_x"/>
                                          </p:val>
                                        </p:tav>
                                      </p:tavLst>
                                    </p:anim>
                                    <p:anim calcmode="lin" valueType="num">
                                      <p:cBhvr additive="base">
                                        <p:cTn id="56" dur="500" fill="hold"/>
                                        <p:tgtEl>
                                          <p:spTgt spid="185394"/>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85396"/>
                                        </p:tgtEl>
                                        <p:attrNameLst>
                                          <p:attrName>style.visibility</p:attrName>
                                        </p:attrNameLst>
                                      </p:cBhvr>
                                      <p:to>
                                        <p:strVal val="visible"/>
                                      </p:to>
                                    </p:set>
                                    <p:anim calcmode="lin" valueType="num">
                                      <p:cBhvr additive="base">
                                        <p:cTn id="61" dur="500" fill="hold"/>
                                        <p:tgtEl>
                                          <p:spTgt spid="185396"/>
                                        </p:tgtEl>
                                        <p:attrNameLst>
                                          <p:attrName>ppt_x</p:attrName>
                                        </p:attrNameLst>
                                      </p:cBhvr>
                                      <p:tavLst>
                                        <p:tav tm="0">
                                          <p:val>
                                            <p:strVal val="0-#ppt_w/2"/>
                                          </p:val>
                                        </p:tav>
                                        <p:tav tm="100000">
                                          <p:val>
                                            <p:strVal val="#ppt_x"/>
                                          </p:val>
                                        </p:tav>
                                      </p:tavLst>
                                    </p:anim>
                                    <p:anim calcmode="lin" valueType="num">
                                      <p:cBhvr additive="base">
                                        <p:cTn id="62" dur="500" fill="hold"/>
                                        <p:tgtEl>
                                          <p:spTgt spid="18539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18538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185397"/>
                                        </p:tgtEl>
                                        <p:attrNameLst>
                                          <p:attrName>style.visibility</p:attrName>
                                        </p:attrNameLst>
                                      </p:cBhvr>
                                      <p:to>
                                        <p:strVal val="visible"/>
                                      </p:to>
                                    </p:set>
                                    <p:animEffect transition="in" filter="dissolve">
                                      <p:cBhvr>
                                        <p:cTn id="75" dur="500"/>
                                        <p:tgtEl>
                                          <p:spTgt spid="185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8" grpId="0" animBg="1"/>
      <p:bldP spid="185384" grpId="0" animBg="1"/>
      <p:bldP spid="185385" grpId="0" animBg="1"/>
      <p:bldP spid="185386" grpId="0" animBg="1"/>
      <p:bldP spid="185388" grpId="0" animBg="1"/>
      <p:bldP spid="185389" grpId="0" animBg="1"/>
      <p:bldP spid="185390" grpId="0" animBg="1"/>
      <p:bldP spid="185392" grpId="0" animBg="1"/>
      <p:bldP spid="185393" grpId="0" animBg="1"/>
      <p:bldP spid="185394" grpId="0" animBg="1"/>
      <p:bldP spid="185396" grpId="0" animBg="1"/>
      <p:bldP spid="18539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2057401" y="304800"/>
            <a:ext cx="6778625" cy="1016000"/>
          </a:xfrm>
          <a:prstGeom prst="rect">
            <a:avLst/>
          </a:prstGeom>
          <a:noFill/>
          <a:ln w="9525">
            <a:noFill/>
            <a:miter lim="800000"/>
            <a:headEnd/>
            <a:tailEnd/>
          </a:ln>
        </p:spPr>
        <p:txBody>
          <a:bodyPr lIns="73025" tIns="36512" rIns="73025" bIns="36512" anchor="ctr">
            <a:prstTxWarp prst="textNoShape">
              <a:avLst/>
            </a:prstTxWarp>
          </a:bodyPr>
          <a:lstStyle/>
          <a:p>
            <a:pPr algn="l" defTabSz="814388" eaLnBrk="1" hangingPunct="1"/>
            <a:r>
              <a:rPr lang="en-GB" sz="3200" b="1">
                <a:solidFill>
                  <a:schemeClr val="folHlink"/>
                </a:solidFill>
              </a:rPr>
              <a:t>WFQ: CLI commands</a:t>
            </a:r>
          </a:p>
        </p:txBody>
      </p:sp>
      <p:sp>
        <p:nvSpPr>
          <p:cNvPr id="186371" name="Rectangle 3"/>
          <p:cNvSpPr>
            <a:spLocks noChangeArrowheads="1"/>
          </p:cNvSpPr>
          <p:nvPr/>
        </p:nvSpPr>
        <p:spPr bwMode="auto">
          <a:xfrm>
            <a:off x="2057400" y="1524001"/>
            <a:ext cx="7543800" cy="1558925"/>
          </a:xfrm>
          <a:prstGeom prst="rect">
            <a:avLst/>
          </a:prstGeom>
          <a:solidFill>
            <a:schemeClr val="bg2"/>
          </a:solidFill>
          <a:ln w="12700">
            <a:noFill/>
            <a:miter lim="800000"/>
            <a:headEnd/>
            <a:tailEnd/>
          </a:ln>
          <a:effectLst>
            <a:outerShdw dist="107763" dir="2700000" algn="ctr" rotWithShape="0">
              <a:schemeClr val="bg2">
                <a:alpha val="50000"/>
              </a:schemeClr>
            </a:outerShdw>
          </a:effectLst>
        </p:spPr>
        <p:txBody>
          <a:bodyPr lIns="92075" tIns="46038" rIns="92075" bIns="46038">
            <a:prstTxWarp prst="textNoShape">
              <a:avLst/>
            </a:prstTxWarp>
            <a:spAutoFit/>
          </a:bodyPr>
          <a:lstStyle/>
          <a:p>
            <a:pPr algn="l">
              <a:lnSpc>
                <a:spcPct val="100000"/>
              </a:lnSpc>
              <a:spcBef>
                <a:spcPct val="50000"/>
              </a:spcBef>
            </a:pPr>
            <a:r>
              <a:rPr lang="en-GB" sz="1600" b="1">
                <a:solidFill>
                  <a:schemeClr val="bg1"/>
                </a:solidFill>
                <a:latin typeface="Courier New" pitchFamily="1" charset="0"/>
              </a:rPr>
              <a:t>fair-queue</a:t>
            </a:r>
            <a:r>
              <a:rPr lang="en-GB" sz="1600">
                <a:solidFill>
                  <a:schemeClr val="bg1"/>
                </a:solidFill>
                <a:latin typeface="Courier New" pitchFamily="1" charset="0"/>
              </a:rPr>
              <a:t> [congestive-discard-threshold 	64  [1, 512] </a:t>
            </a:r>
            <a:br>
              <a:rPr lang="en-GB" sz="1600">
                <a:solidFill>
                  <a:schemeClr val="bg1"/>
                </a:solidFill>
                <a:latin typeface="Courier New" pitchFamily="1" charset="0"/>
              </a:rPr>
            </a:br>
            <a:r>
              <a:rPr lang="en-GB" sz="1600">
                <a:solidFill>
                  <a:schemeClr val="bg1"/>
                </a:solidFill>
                <a:latin typeface="Courier New" pitchFamily="1" charset="0"/>
              </a:rPr>
              <a:t>           [dynamic-queues 		       256  [16, 4096]	     	   [reservable-queues]]]       	 0  [0, 1000]	</a:t>
            </a:r>
          </a:p>
          <a:p>
            <a:pPr algn="l">
              <a:lnSpc>
                <a:spcPct val="100000"/>
              </a:lnSpc>
              <a:spcBef>
                <a:spcPct val="50000"/>
              </a:spcBef>
            </a:pPr>
            <a:r>
              <a:rPr lang="en-GB" sz="1600" b="1">
                <a:solidFill>
                  <a:schemeClr val="bg1"/>
                </a:solidFill>
                <a:latin typeface="Courier New" pitchFamily="1" charset="0"/>
              </a:rPr>
              <a:t>holdqueue</a:t>
            </a:r>
            <a:r>
              <a:rPr lang="en-GB" sz="1600">
                <a:solidFill>
                  <a:schemeClr val="bg1"/>
                </a:solidFill>
                <a:latin typeface="Courier New" pitchFamily="1" charset="0"/>
              </a:rPr>
              <a:t> &lt;max-limit&gt; out</a:t>
            </a:r>
          </a:p>
          <a:p>
            <a:pPr algn="l">
              <a:lnSpc>
                <a:spcPct val="100000"/>
              </a:lnSpc>
              <a:spcBef>
                <a:spcPct val="50000"/>
              </a:spcBef>
            </a:pPr>
            <a:endParaRPr lang="en-GB" sz="1600">
              <a:solidFill>
                <a:schemeClr val="bg1"/>
              </a:solidFill>
              <a:latin typeface="Courier New" pitchFamily="1" charset="0"/>
            </a:endParaRPr>
          </a:p>
        </p:txBody>
      </p:sp>
      <p:sp>
        <p:nvSpPr>
          <p:cNvPr id="186372" name="Text Box 4"/>
          <p:cNvSpPr txBox="1">
            <a:spLocks noChangeArrowheads="1"/>
          </p:cNvSpPr>
          <p:nvPr/>
        </p:nvSpPr>
        <p:spPr bwMode="auto">
          <a:xfrm>
            <a:off x="2057400" y="4114801"/>
            <a:ext cx="7696200" cy="396875"/>
          </a:xfrm>
          <a:prstGeom prst="rect">
            <a:avLst/>
          </a:prstGeom>
          <a:solidFill>
            <a:schemeClr val="folHlink"/>
          </a:solidFill>
          <a:ln w="9525">
            <a:noFill/>
            <a:miter lim="800000"/>
            <a:headEnd type="none" w="sm" len="sm"/>
            <a:tailEnd type="none" w="sm" len="sm"/>
          </a:ln>
          <a:effectLst>
            <a:outerShdw dist="107763" dir="2700000" algn="ctr" rotWithShape="0">
              <a:schemeClr val="tx1">
                <a:alpha val="50000"/>
              </a:schemeClr>
            </a:outerShdw>
          </a:effectLst>
        </p:spPr>
        <p:txBody>
          <a:bodyPr>
            <a:spAutoFit/>
          </a:bodyPr>
          <a:lstStyle/>
          <a:p>
            <a:pPr>
              <a:lnSpc>
                <a:spcPct val="100000"/>
              </a:lnSpc>
              <a:spcBef>
                <a:spcPct val="50000"/>
              </a:spcBef>
              <a:defRPr/>
            </a:pPr>
            <a:r>
              <a:rPr lang="en-GB" sz="2000" b="1">
                <a:latin typeface="Arial" charset="0"/>
              </a:rPr>
              <a:t> Optimised for minimizing jitter on low-speed links</a:t>
            </a:r>
          </a:p>
        </p:txBody>
      </p:sp>
      <p:sp>
        <p:nvSpPr>
          <p:cNvPr id="25605" name="Text Box 5"/>
          <p:cNvSpPr txBox="1">
            <a:spLocks noChangeArrowheads="1"/>
          </p:cNvSpPr>
          <p:nvPr/>
        </p:nvSpPr>
        <p:spPr bwMode="auto">
          <a:xfrm>
            <a:off x="2135189" y="5327650"/>
            <a:ext cx="5881687" cy="622300"/>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spcBef>
                <a:spcPct val="50000"/>
              </a:spcBef>
            </a:pPr>
            <a:r>
              <a:rPr lang="en-US" sz="1800" b="1"/>
              <a:t>Main limitation of WFQ is that is is resource intensive (maintaining a s</a:t>
            </a:r>
            <a:r>
              <a:rPr lang="en-US" sz="1800" b="1">
                <a:sym typeface="Wingdings" pitchFamily="1" charset="2"/>
              </a:rPr>
              <a:t>orted list.)</a:t>
            </a:r>
            <a:endParaRPr lang="en-US" sz="18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6372"/>
                                        </p:tgtEl>
                                        <p:attrNameLst>
                                          <p:attrName>style.visibility</p:attrName>
                                        </p:attrNameLst>
                                      </p:cBhvr>
                                      <p:to>
                                        <p:strVal val="visible"/>
                                      </p:to>
                                    </p:set>
                                    <p:animEffect transition="in" filter="dissolve">
                                      <p:cBhvr>
                                        <p:cTn id="7" dur="500"/>
                                        <p:tgtEl>
                                          <p:spTgt spid="186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animBg="1"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2209801" y="304800"/>
            <a:ext cx="6778625" cy="1016000"/>
          </a:xfrm>
          <a:prstGeom prst="rect">
            <a:avLst/>
          </a:prstGeom>
          <a:noFill/>
          <a:ln w="9525">
            <a:noFill/>
            <a:miter lim="800000"/>
            <a:headEnd/>
            <a:tailEnd/>
          </a:ln>
        </p:spPr>
        <p:txBody>
          <a:bodyPr lIns="73016" tIns="36507" rIns="73016" bIns="36507" anchor="ctr">
            <a:prstTxWarp prst="textNoShape">
              <a:avLst/>
            </a:prstTxWarp>
          </a:bodyPr>
          <a:lstStyle/>
          <a:p>
            <a:pPr algn="l" defTabSz="814388" eaLnBrk="1" hangingPunct="1"/>
            <a:r>
              <a:rPr lang="en-GB" sz="3200" b="1">
                <a:solidFill>
                  <a:schemeClr val="folHlink"/>
                </a:solidFill>
              </a:rPr>
              <a:t>Software Implementation</a:t>
            </a:r>
          </a:p>
        </p:txBody>
      </p:sp>
      <p:sp>
        <p:nvSpPr>
          <p:cNvPr id="187395" name="Line 3"/>
          <p:cNvSpPr>
            <a:spLocks noChangeShapeType="1"/>
          </p:cNvSpPr>
          <p:nvPr/>
        </p:nvSpPr>
        <p:spPr bwMode="auto">
          <a:xfrm>
            <a:off x="5056188" y="1817688"/>
            <a:ext cx="0" cy="584200"/>
          </a:xfrm>
          <a:prstGeom prst="line">
            <a:avLst/>
          </a:prstGeom>
          <a:noFill/>
          <a:ln w="25399">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87396" name="Line 4"/>
          <p:cNvSpPr>
            <a:spLocks noChangeShapeType="1"/>
          </p:cNvSpPr>
          <p:nvPr/>
        </p:nvSpPr>
        <p:spPr bwMode="auto">
          <a:xfrm>
            <a:off x="5064125" y="3192464"/>
            <a:ext cx="0" cy="1101725"/>
          </a:xfrm>
          <a:prstGeom prst="line">
            <a:avLst/>
          </a:prstGeom>
          <a:noFill/>
          <a:ln w="25399">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87397" name="Freeform 5"/>
          <p:cNvSpPr>
            <a:spLocks/>
          </p:cNvSpPr>
          <p:nvPr/>
        </p:nvSpPr>
        <p:spPr bwMode="auto">
          <a:xfrm>
            <a:off x="5675314" y="3011489"/>
            <a:ext cx="1373187" cy="153987"/>
          </a:xfrm>
          <a:custGeom>
            <a:avLst/>
            <a:gdLst/>
            <a:ahLst/>
            <a:cxnLst>
              <a:cxn ang="0">
                <a:pos x="0" y="0"/>
              </a:cxn>
              <a:cxn ang="0">
                <a:pos x="864" y="0"/>
              </a:cxn>
              <a:cxn ang="0">
                <a:pos x="864" y="96"/>
              </a:cxn>
            </a:cxnLst>
            <a:rect l="0" t="0" r="r" b="b"/>
            <a:pathLst>
              <a:path w="865" h="97">
                <a:moveTo>
                  <a:pt x="0" y="0"/>
                </a:moveTo>
                <a:lnTo>
                  <a:pt x="864" y="0"/>
                </a:lnTo>
                <a:lnTo>
                  <a:pt x="864" y="96"/>
                </a:lnTo>
              </a:path>
            </a:pathLst>
          </a:custGeom>
          <a:noFill/>
          <a:ln w="25399" cap="rnd" cmpd="sng">
            <a:solidFill>
              <a:schemeClr val="tx1"/>
            </a:solidFill>
            <a:prstDash val="solid"/>
            <a:round/>
            <a:headEnd type="none" w="med" len="med"/>
            <a:tailEnd type="triangle" w="med" len="med"/>
          </a:ln>
          <a:effectLst>
            <a:outerShdw dist="17961" dir="2700000" algn="ctr" rotWithShape="0">
              <a:schemeClr val="hlink"/>
            </a:outerShdw>
          </a:effectLst>
        </p:spPr>
        <p:txBody>
          <a:bodyPr/>
          <a:lstStyle/>
          <a:p>
            <a:pPr>
              <a:defRPr/>
            </a:pPr>
            <a:endParaRPr lang="en-US">
              <a:latin typeface="Arial" charset="0"/>
            </a:endParaRPr>
          </a:p>
        </p:txBody>
      </p:sp>
      <p:sp>
        <p:nvSpPr>
          <p:cNvPr id="187398" name="Freeform 6"/>
          <p:cNvSpPr>
            <a:spLocks/>
          </p:cNvSpPr>
          <p:nvPr/>
        </p:nvSpPr>
        <p:spPr bwMode="auto">
          <a:xfrm>
            <a:off x="5087938" y="3943350"/>
            <a:ext cx="1960562" cy="127000"/>
          </a:xfrm>
          <a:custGeom>
            <a:avLst/>
            <a:gdLst/>
            <a:ahLst/>
            <a:cxnLst>
              <a:cxn ang="0">
                <a:pos x="0" y="79"/>
              </a:cxn>
              <a:cxn ang="0">
                <a:pos x="1234" y="79"/>
              </a:cxn>
              <a:cxn ang="0">
                <a:pos x="1234" y="0"/>
              </a:cxn>
            </a:cxnLst>
            <a:rect l="0" t="0" r="r" b="b"/>
            <a:pathLst>
              <a:path w="1235" h="80">
                <a:moveTo>
                  <a:pt x="0" y="79"/>
                </a:moveTo>
                <a:lnTo>
                  <a:pt x="1234" y="79"/>
                </a:lnTo>
                <a:lnTo>
                  <a:pt x="1234" y="0"/>
                </a:lnTo>
              </a:path>
            </a:pathLst>
          </a:custGeom>
          <a:noFill/>
          <a:ln w="25399" cap="rnd" cmpd="sng">
            <a:solidFill>
              <a:schemeClr val="tx1"/>
            </a:solidFill>
            <a:prstDash val="solid"/>
            <a:round/>
            <a:headEnd type="none" w="med" len="med"/>
            <a:tailEnd type="none" w="med" len="med"/>
          </a:ln>
          <a:effectLst>
            <a:outerShdw dist="17961" dir="2700000" algn="ctr" rotWithShape="0">
              <a:schemeClr val="hlink"/>
            </a:outerShdw>
          </a:effectLst>
        </p:spPr>
        <p:txBody>
          <a:bodyPr/>
          <a:lstStyle/>
          <a:p>
            <a:pPr>
              <a:defRPr/>
            </a:pPr>
            <a:endParaRPr lang="en-US">
              <a:latin typeface="Arial" charset="0"/>
            </a:endParaRPr>
          </a:p>
        </p:txBody>
      </p:sp>
      <p:sp>
        <p:nvSpPr>
          <p:cNvPr id="26631" name="Freeform 7"/>
          <p:cNvSpPr>
            <a:spLocks/>
          </p:cNvSpPr>
          <p:nvPr/>
        </p:nvSpPr>
        <p:spPr bwMode="auto">
          <a:xfrm>
            <a:off x="4265613" y="1693864"/>
            <a:ext cx="1617662" cy="498475"/>
          </a:xfrm>
          <a:custGeom>
            <a:avLst/>
            <a:gdLst>
              <a:gd name="T0" fmla="*/ 70 w 1019"/>
              <a:gd name="T1" fmla="*/ 0 h 314"/>
              <a:gd name="T2" fmla="*/ 0 w 1019"/>
              <a:gd name="T3" fmla="*/ 152 h 314"/>
              <a:gd name="T4" fmla="*/ 70 w 1019"/>
              <a:gd name="T5" fmla="*/ 313 h 314"/>
              <a:gd name="T6" fmla="*/ 947 w 1019"/>
              <a:gd name="T7" fmla="*/ 313 h 314"/>
              <a:gd name="T8" fmla="*/ 1018 w 1019"/>
              <a:gd name="T9" fmla="*/ 152 h 314"/>
              <a:gd name="T10" fmla="*/ 947 w 1019"/>
              <a:gd name="T11" fmla="*/ 0 h 314"/>
              <a:gd name="T12" fmla="*/ 70 w 1019"/>
              <a:gd name="T13" fmla="*/ 0 h 314"/>
              <a:gd name="T14" fmla="*/ 0 60000 65536"/>
              <a:gd name="T15" fmla="*/ 0 60000 65536"/>
              <a:gd name="T16" fmla="*/ 0 60000 65536"/>
              <a:gd name="T17" fmla="*/ 0 60000 65536"/>
              <a:gd name="T18" fmla="*/ 0 60000 65536"/>
              <a:gd name="T19" fmla="*/ 0 60000 65536"/>
              <a:gd name="T20" fmla="*/ 0 60000 65536"/>
              <a:gd name="T21" fmla="*/ 0 w 1019"/>
              <a:gd name="T22" fmla="*/ 0 h 314"/>
              <a:gd name="T23" fmla="*/ 1019 w 1019"/>
              <a:gd name="T24" fmla="*/ 314 h 3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9" h="314">
                <a:moveTo>
                  <a:pt x="70" y="0"/>
                </a:moveTo>
                <a:lnTo>
                  <a:pt x="0" y="152"/>
                </a:lnTo>
                <a:lnTo>
                  <a:pt x="70" y="313"/>
                </a:lnTo>
                <a:lnTo>
                  <a:pt x="947" y="313"/>
                </a:lnTo>
                <a:lnTo>
                  <a:pt x="1018" y="152"/>
                </a:lnTo>
                <a:lnTo>
                  <a:pt x="947" y="0"/>
                </a:lnTo>
                <a:lnTo>
                  <a:pt x="70" y="0"/>
                </a:lnTo>
              </a:path>
            </a:pathLst>
          </a:custGeom>
          <a:solidFill>
            <a:schemeClr val="folHlink"/>
          </a:solidFill>
          <a:ln w="25400" cap="rnd">
            <a:solidFill>
              <a:schemeClr val="tx1"/>
            </a:solidFill>
            <a:round/>
            <a:headEnd/>
            <a:tailEnd/>
          </a:ln>
        </p:spPr>
        <p:txBody>
          <a:bodyPr>
            <a:prstTxWarp prst="textNoShape">
              <a:avLst/>
            </a:prstTxWarp>
          </a:bodyPr>
          <a:lstStyle/>
          <a:p>
            <a:endParaRPr lang="en-US"/>
          </a:p>
        </p:txBody>
      </p:sp>
      <p:sp>
        <p:nvSpPr>
          <p:cNvPr id="187400" name="Rectangle 8"/>
          <p:cNvSpPr>
            <a:spLocks noChangeArrowheads="1"/>
          </p:cNvSpPr>
          <p:nvPr/>
        </p:nvSpPr>
        <p:spPr bwMode="auto">
          <a:xfrm>
            <a:off x="4490065" y="1752601"/>
            <a:ext cx="1186223" cy="311367"/>
          </a:xfrm>
          <a:prstGeom prst="rect">
            <a:avLst/>
          </a:prstGeom>
          <a:noFill/>
          <a:ln w="12699">
            <a:noFill/>
            <a:miter lim="800000"/>
            <a:headEnd/>
            <a:tailEnd/>
          </a:ln>
          <a:effectLst/>
        </p:spPr>
        <p:txBody>
          <a:bodyPr wrap="none" lIns="90488" tIns="44450" rIns="90488" bIns="44450">
            <a:spAutoFit/>
          </a:bodyPr>
          <a:lstStyle/>
          <a:p>
            <a:pPr>
              <a:defRPr/>
            </a:pPr>
            <a:r>
              <a:rPr lang="en-GB" sz="1600" b="1">
                <a:solidFill>
                  <a:schemeClr val="bg1"/>
                </a:solidFill>
                <a:effectLst>
                  <a:outerShdw blurRad="38100" dist="38100" dir="2700000" algn="tl">
                    <a:srgbClr val="C0C0C0"/>
                  </a:outerShdw>
                </a:effectLst>
                <a:latin typeface="Arial" charset="0"/>
              </a:rPr>
              <a:t>Forwarder</a:t>
            </a:r>
          </a:p>
        </p:txBody>
      </p:sp>
      <p:sp>
        <p:nvSpPr>
          <p:cNvPr id="26633" name="Freeform 9"/>
          <p:cNvSpPr>
            <a:spLocks/>
          </p:cNvSpPr>
          <p:nvPr/>
        </p:nvSpPr>
        <p:spPr bwMode="auto">
          <a:xfrm>
            <a:off x="4273551" y="2525714"/>
            <a:ext cx="1617663" cy="962025"/>
          </a:xfrm>
          <a:custGeom>
            <a:avLst/>
            <a:gdLst>
              <a:gd name="T0" fmla="*/ 509 w 1019"/>
              <a:gd name="T1" fmla="*/ 0 h 606"/>
              <a:gd name="T2" fmla="*/ 0 w 1019"/>
              <a:gd name="T3" fmla="*/ 302 h 606"/>
              <a:gd name="T4" fmla="*/ 509 w 1019"/>
              <a:gd name="T5" fmla="*/ 605 h 606"/>
              <a:gd name="T6" fmla="*/ 1018 w 1019"/>
              <a:gd name="T7" fmla="*/ 302 h 606"/>
              <a:gd name="T8" fmla="*/ 509 w 1019"/>
              <a:gd name="T9" fmla="*/ 0 h 606"/>
              <a:gd name="T10" fmla="*/ 0 60000 65536"/>
              <a:gd name="T11" fmla="*/ 0 60000 65536"/>
              <a:gd name="T12" fmla="*/ 0 60000 65536"/>
              <a:gd name="T13" fmla="*/ 0 60000 65536"/>
              <a:gd name="T14" fmla="*/ 0 60000 65536"/>
              <a:gd name="T15" fmla="*/ 0 w 1019"/>
              <a:gd name="T16" fmla="*/ 0 h 606"/>
              <a:gd name="T17" fmla="*/ 1019 w 1019"/>
              <a:gd name="T18" fmla="*/ 606 h 606"/>
            </a:gdLst>
            <a:ahLst/>
            <a:cxnLst>
              <a:cxn ang="T10">
                <a:pos x="T0" y="T1"/>
              </a:cxn>
              <a:cxn ang="T11">
                <a:pos x="T2" y="T3"/>
              </a:cxn>
              <a:cxn ang="T12">
                <a:pos x="T4" y="T5"/>
              </a:cxn>
              <a:cxn ang="T13">
                <a:pos x="T6" y="T7"/>
              </a:cxn>
              <a:cxn ang="T14">
                <a:pos x="T8" y="T9"/>
              </a:cxn>
            </a:cxnLst>
            <a:rect l="T15" t="T16" r="T17" b="T18"/>
            <a:pathLst>
              <a:path w="1019" h="606">
                <a:moveTo>
                  <a:pt x="509" y="0"/>
                </a:moveTo>
                <a:lnTo>
                  <a:pt x="0" y="302"/>
                </a:lnTo>
                <a:lnTo>
                  <a:pt x="509" y="605"/>
                </a:lnTo>
                <a:lnTo>
                  <a:pt x="1018" y="302"/>
                </a:lnTo>
                <a:lnTo>
                  <a:pt x="509" y="0"/>
                </a:lnTo>
              </a:path>
            </a:pathLst>
          </a:custGeom>
          <a:solidFill>
            <a:schemeClr val="folHlink"/>
          </a:solidFill>
          <a:ln w="25400" cap="rnd">
            <a:solidFill>
              <a:schemeClr val="tx1"/>
            </a:solidFill>
            <a:round/>
            <a:headEnd/>
            <a:tailEnd/>
          </a:ln>
        </p:spPr>
        <p:txBody>
          <a:bodyPr>
            <a:prstTxWarp prst="textNoShape">
              <a:avLst/>
            </a:prstTxWarp>
          </a:bodyPr>
          <a:lstStyle/>
          <a:p>
            <a:endParaRPr lang="en-US"/>
          </a:p>
        </p:txBody>
      </p:sp>
      <p:sp>
        <p:nvSpPr>
          <p:cNvPr id="187402" name="Rectangle 10"/>
          <p:cNvSpPr>
            <a:spLocks noChangeArrowheads="1"/>
          </p:cNvSpPr>
          <p:nvPr/>
        </p:nvSpPr>
        <p:spPr bwMode="auto">
          <a:xfrm>
            <a:off x="4339412" y="2733675"/>
            <a:ext cx="1481176" cy="532966"/>
          </a:xfrm>
          <a:prstGeom prst="rect">
            <a:avLst/>
          </a:prstGeom>
          <a:noFill/>
          <a:ln w="12699">
            <a:noFill/>
            <a:miter lim="800000"/>
            <a:headEnd/>
            <a:tailEnd/>
          </a:ln>
          <a:effectLst/>
        </p:spPr>
        <p:txBody>
          <a:bodyPr wrap="none" lIns="90488" tIns="44450" rIns="90488" bIns="44450">
            <a:spAutoFit/>
          </a:bodyPr>
          <a:lstStyle/>
          <a:p>
            <a:pPr>
              <a:defRPr/>
            </a:pPr>
            <a:r>
              <a:rPr lang="en-GB" sz="1600" b="1">
                <a:solidFill>
                  <a:schemeClr val="bg1"/>
                </a:solidFill>
                <a:effectLst>
                  <a:outerShdw blurRad="38100" dist="38100" dir="2700000" algn="tl">
                    <a:srgbClr val="C0C0C0"/>
                  </a:outerShdw>
                </a:effectLst>
                <a:latin typeface="Arial" charset="0"/>
              </a:rPr>
              <a:t>Interface</a:t>
            </a:r>
            <a:br>
              <a:rPr lang="en-GB" sz="1600" b="1">
                <a:solidFill>
                  <a:schemeClr val="bg1"/>
                </a:solidFill>
                <a:effectLst>
                  <a:outerShdw blurRad="38100" dist="38100" dir="2700000" algn="tl">
                    <a:srgbClr val="C0C0C0"/>
                  </a:outerShdw>
                </a:effectLst>
                <a:latin typeface="Arial" charset="0"/>
              </a:rPr>
            </a:br>
            <a:r>
              <a:rPr lang="en-GB" sz="1600" b="1">
                <a:solidFill>
                  <a:schemeClr val="bg1"/>
                </a:solidFill>
                <a:effectLst>
                  <a:outerShdw blurRad="38100" dist="38100" dir="2700000" algn="tl">
                    <a:srgbClr val="C0C0C0"/>
                  </a:outerShdw>
                </a:effectLst>
                <a:latin typeface="Arial" charset="0"/>
              </a:rPr>
              <a:t> Congested? </a:t>
            </a:r>
          </a:p>
        </p:txBody>
      </p:sp>
      <p:sp>
        <p:nvSpPr>
          <p:cNvPr id="26635" name="Rectangle 11"/>
          <p:cNvSpPr>
            <a:spLocks noChangeArrowheads="1"/>
          </p:cNvSpPr>
          <p:nvPr/>
        </p:nvSpPr>
        <p:spPr bwMode="auto">
          <a:xfrm>
            <a:off x="6181725" y="3206751"/>
            <a:ext cx="1747838" cy="741363"/>
          </a:xfrm>
          <a:prstGeom prst="rect">
            <a:avLst/>
          </a:prstGeom>
          <a:solidFill>
            <a:schemeClr val="hlink"/>
          </a:solidFill>
          <a:ln w="25400">
            <a:solidFill>
              <a:schemeClr val="tx1"/>
            </a:solidFill>
            <a:miter lim="800000"/>
            <a:headEnd/>
            <a:tailEnd/>
          </a:ln>
        </p:spPr>
        <p:txBody>
          <a:bodyPr wrap="none" anchor="ctr">
            <a:prstTxWarp prst="textNoShape">
              <a:avLst/>
            </a:prstTxWarp>
          </a:bodyPr>
          <a:lstStyle/>
          <a:p>
            <a:endParaRPr lang="en-US"/>
          </a:p>
        </p:txBody>
      </p:sp>
      <p:sp>
        <p:nvSpPr>
          <p:cNvPr id="187404" name="Rectangle 12"/>
          <p:cNvSpPr>
            <a:spLocks noChangeArrowheads="1"/>
          </p:cNvSpPr>
          <p:nvPr/>
        </p:nvSpPr>
        <p:spPr bwMode="auto">
          <a:xfrm>
            <a:off x="6533891" y="3201988"/>
            <a:ext cx="1038747" cy="754566"/>
          </a:xfrm>
          <a:prstGeom prst="rect">
            <a:avLst/>
          </a:prstGeom>
          <a:noFill/>
          <a:ln w="12699">
            <a:noFill/>
            <a:miter lim="800000"/>
            <a:headEnd/>
            <a:tailEnd/>
          </a:ln>
          <a:effectLst/>
        </p:spPr>
        <p:txBody>
          <a:bodyPr wrap="none" lIns="90488" tIns="44450" rIns="90488" bIns="44450">
            <a:spAutoFit/>
          </a:bodyPr>
          <a:lstStyle/>
          <a:p>
            <a:pPr>
              <a:defRPr/>
            </a:pPr>
            <a:r>
              <a:rPr lang="en-GB" sz="1600" b="1">
                <a:effectLst>
                  <a:outerShdw blurRad="38100" dist="38100" dir="2700000" algn="tl">
                    <a:srgbClr val="C0C0C0"/>
                  </a:outerShdw>
                </a:effectLst>
                <a:latin typeface="Arial" charset="0"/>
              </a:rPr>
              <a:t>WFQ</a:t>
            </a:r>
            <a:br>
              <a:rPr lang="en-GB" sz="1600" b="1">
                <a:effectLst>
                  <a:outerShdw blurRad="38100" dist="38100" dir="2700000" algn="tl">
                    <a:srgbClr val="C0C0C0"/>
                  </a:outerShdw>
                </a:effectLst>
                <a:latin typeface="Arial" charset="0"/>
              </a:rPr>
            </a:br>
            <a:r>
              <a:rPr lang="en-GB" sz="1600" b="1">
                <a:effectLst>
                  <a:outerShdw blurRad="38100" dist="38100" dir="2700000" algn="tl">
                    <a:srgbClr val="C0C0C0"/>
                  </a:outerShdw>
                </a:effectLst>
                <a:latin typeface="Arial" charset="0"/>
              </a:rPr>
              <a:t>Interface</a:t>
            </a:r>
            <a:br>
              <a:rPr lang="en-GB" sz="1600" b="1">
                <a:effectLst>
                  <a:outerShdw blurRad="38100" dist="38100" dir="2700000" algn="tl">
                    <a:srgbClr val="C0C0C0"/>
                  </a:outerShdw>
                </a:effectLst>
                <a:latin typeface="Arial" charset="0"/>
              </a:rPr>
            </a:br>
            <a:r>
              <a:rPr lang="en-GB" sz="1600" b="1">
                <a:effectLst>
                  <a:outerShdw blurRad="38100" dist="38100" dir="2700000" algn="tl">
                    <a:srgbClr val="C0C0C0"/>
                  </a:outerShdw>
                </a:effectLst>
                <a:latin typeface="Arial" charset="0"/>
              </a:rPr>
              <a:t>Queues</a:t>
            </a:r>
          </a:p>
        </p:txBody>
      </p:sp>
      <p:sp>
        <p:nvSpPr>
          <p:cNvPr id="26637" name="Rectangle 13"/>
          <p:cNvSpPr>
            <a:spLocks noChangeArrowheads="1"/>
          </p:cNvSpPr>
          <p:nvPr/>
        </p:nvSpPr>
        <p:spPr bwMode="auto">
          <a:xfrm>
            <a:off x="4286251" y="4352926"/>
            <a:ext cx="1590675" cy="608013"/>
          </a:xfrm>
          <a:prstGeom prst="rect">
            <a:avLst/>
          </a:prstGeom>
          <a:solidFill>
            <a:schemeClr val="folHlink"/>
          </a:solidFill>
          <a:ln w="25400">
            <a:solidFill>
              <a:schemeClr val="tx1"/>
            </a:solidFill>
            <a:miter lim="800000"/>
            <a:headEnd/>
            <a:tailEnd/>
          </a:ln>
        </p:spPr>
        <p:txBody>
          <a:bodyPr wrap="none" anchor="ctr">
            <a:prstTxWarp prst="textNoShape">
              <a:avLst/>
            </a:prstTxWarp>
          </a:bodyPr>
          <a:lstStyle/>
          <a:p>
            <a:endParaRPr lang="en-US"/>
          </a:p>
        </p:txBody>
      </p:sp>
      <p:sp>
        <p:nvSpPr>
          <p:cNvPr id="187406" name="Rectangle 14"/>
          <p:cNvSpPr>
            <a:spLocks noChangeArrowheads="1"/>
          </p:cNvSpPr>
          <p:nvPr/>
        </p:nvSpPr>
        <p:spPr bwMode="auto">
          <a:xfrm>
            <a:off x="4343401" y="4343400"/>
            <a:ext cx="1501775" cy="577850"/>
          </a:xfrm>
          <a:prstGeom prst="rect">
            <a:avLst/>
          </a:prstGeom>
          <a:noFill/>
          <a:ln w="12699">
            <a:noFill/>
            <a:miter lim="800000"/>
            <a:headEnd/>
            <a:tailEnd/>
          </a:ln>
          <a:effectLst/>
        </p:spPr>
        <p:txBody>
          <a:bodyPr wrap="none" lIns="90488" tIns="44450" rIns="90488" bIns="44450">
            <a:spAutoFit/>
          </a:bodyPr>
          <a:lstStyle/>
          <a:p>
            <a:pPr>
              <a:lnSpc>
                <a:spcPct val="100000"/>
              </a:lnSpc>
              <a:defRPr/>
            </a:pPr>
            <a:r>
              <a:rPr lang="en-GB" sz="1600" b="1">
                <a:solidFill>
                  <a:schemeClr val="bg1"/>
                </a:solidFill>
                <a:effectLst>
                  <a:outerShdw blurRad="38100" dist="38100" dir="2700000" algn="tl">
                    <a:srgbClr val="C0C0C0"/>
                  </a:outerShdw>
                </a:effectLst>
                <a:latin typeface="Arial" charset="0"/>
              </a:rPr>
              <a:t>Transmission</a:t>
            </a:r>
            <a:br>
              <a:rPr lang="en-GB" sz="1600" b="1">
                <a:solidFill>
                  <a:schemeClr val="bg1"/>
                </a:solidFill>
                <a:effectLst>
                  <a:outerShdw blurRad="38100" dist="38100" dir="2700000" algn="tl">
                    <a:srgbClr val="C0C0C0"/>
                  </a:outerShdw>
                </a:effectLst>
                <a:latin typeface="Arial" charset="0"/>
              </a:rPr>
            </a:br>
            <a:r>
              <a:rPr lang="en-GB" sz="1600" b="1">
                <a:solidFill>
                  <a:schemeClr val="bg1"/>
                </a:solidFill>
                <a:effectLst>
                  <a:outerShdw blurRad="38100" dist="38100" dir="2700000" algn="tl">
                    <a:srgbClr val="C0C0C0"/>
                  </a:outerShdw>
                </a:effectLst>
                <a:latin typeface="Arial" charset="0"/>
              </a:rPr>
              <a:t>Queue </a:t>
            </a:r>
          </a:p>
        </p:txBody>
      </p:sp>
      <p:sp>
        <p:nvSpPr>
          <p:cNvPr id="26639" name="Rectangle 15"/>
          <p:cNvSpPr>
            <a:spLocks noChangeArrowheads="1"/>
          </p:cNvSpPr>
          <p:nvPr/>
        </p:nvSpPr>
        <p:spPr bwMode="auto">
          <a:xfrm>
            <a:off x="5799139" y="2755901"/>
            <a:ext cx="541337" cy="309563"/>
          </a:xfrm>
          <a:prstGeom prst="rect">
            <a:avLst/>
          </a:prstGeom>
          <a:noFill/>
          <a:ln w="12699">
            <a:noFill/>
            <a:miter lim="800000"/>
            <a:headEnd/>
            <a:tailEnd/>
          </a:ln>
        </p:spPr>
        <p:txBody>
          <a:bodyPr wrap="none" lIns="90488" tIns="44450" rIns="90488" bIns="44450">
            <a:prstTxWarp prst="textNoShape">
              <a:avLst/>
            </a:prstTxWarp>
            <a:spAutoFit/>
          </a:bodyPr>
          <a:lstStyle/>
          <a:p>
            <a:pPr algn="l"/>
            <a:r>
              <a:rPr lang="en-GB" sz="1600" b="1">
                <a:solidFill>
                  <a:schemeClr val="bg2"/>
                </a:solidFill>
              </a:rPr>
              <a:t>Yes</a:t>
            </a:r>
          </a:p>
        </p:txBody>
      </p:sp>
      <p:sp>
        <p:nvSpPr>
          <p:cNvPr id="26640" name="Rectangle 16"/>
          <p:cNvSpPr>
            <a:spLocks noChangeArrowheads="1"/>
          </p:cNvSpPr>
          <p:nvPr/>
        </p:nvSpPr>
        <p:spPr bwMode="auto">
          <a:xfrm>
            <a:off x="4677134" y="3525839"/>
            <a:ext cx="455255" cy="311367"/>
          </a:xfrm>
          <a:prstGeom prst="rect">
            <a:avLst/>
          </a:prstGeom>
          <a:noFill/>
          <a:ln w="12699">
            <a:noFill/>
            <a:miter lim="800000"/>
            <a:headEnd/>
            <a:tailEnd/>
          </a:ln>
        </p:spPr>
        <p:txBody>
          <a:bodyPr wrap="none" lIns="90488" tIns="44450" rIns="90488" bIns="44450">
            <a:prstTxWarp prst="textNoShape">
              <a:avLst/>
            </a:prstTxWarp>
            <a:spAutoFit/>
          </a:bodyPr>
          <a:lstStyle/>
          <a:p>
            <a:pPr algn="r"/>
            <a:r>
              <a:rPr lang="en-GB" sz="1600" b="1">
                <a:solidFill>
                  <a:schemeClr val="bg2"/>
                </a:solidFill>
              </a:rPr>
              <a:t>No</a:t>
            </a:r>
          </a:p>
        </p:txBody>
      </p:sp>
      <p:sp>
        <p:nvSpPr>
          <p:cNvPr id="26641" name="Text Box 17"/>
          <p:cNvSpPr txBox="1">
            <a:spLocks noChangeArrowheads="1"/>
          </p:cNvSpPr>
          <p:nvPr/>
        </p:nvSpPr>
        <p:spPr bwMode="auto">
          <a:xfrm>
            <a:off x="5948363" y="4518026"/>
            <a:ext cx="2057400" cy="366713"/>
          </a:xfrm>
          <a:prstGeom prst="rect">
            <a:avLst/>
          </a:prstGeom>
          <a:noFill/>
          <a:ln w="9525">
            <a:noFill/>
            <a:miter lim="800000"/>
            <a:headEnd type="none" w="sm" len="sm"/>
            <a:tailEnd type="none" w="sm" len="sm"/>
          </a:ln>
        </p:spPr>
        <p:txBody>
          <a:bodyPr>
            <a:prstTxWarp prst="textNoShape">
              <a:avLst/>
            </a:prstTxWarp>
            <a:spAutoFit/>
          </a:bodyPr>
          <a:lstStyle/>
          <a:p>
            <a:pPr algn="l">
              <a:lnSpc>
                <a:spcPct val="100000"/>
              </a:lnSpc>
              <a:spcBef>
                <a:spcPct val="50000"/>
              </a:spcBef>
            </a:pPr>
            <a:r>
              <a:rPr lang="en-GB" sz="1800" b="1"/>
              <a:t>Always FIFO</a:t>
            </a:r>
          </a:p>
        </p:txBody>
      </p:sp>
      <p:sp>
        <p:nvSpPr>
          <p:cNvPr id="26642" name="Text Box 18"/>
          <p:cNvSpPr txBox="1">
            <a:spLocks noChangeArrowheads="1"/>
          </p:cNvSpPr>
          <p:nvPr/>
        </p:nvSpPr>
        <p:spPr bwMode="auto">
          <a:xfrm>
            <a:off x="2138363" y="2827338"/>
            <a:ext cx="2057400" cy="366712"/>
          </a:xfrm>
          <a:prstGeom prst="rect">
            <a:avLst/>
          </a:prstGeom>
          <a:noFill/>
          <a:ln w="9525">
            <a:noFill/>
            <a:miter lim="800000"/>
            <a:headEnd type="none" w="sm" len="sm"/>
            <a:tailEnd type="none" w="sm" len="sm"/>
          </a:ln>
        </p:spPr>
        <p:txBody>
          <a:bodyPr>
            <a:prstTxWarp prst="textNoShape">
              <a:avLst/>
            </a:prstTxWarp>
            <a:spAutoFit/>
          </a:bodyPr>
          <a:lstStyle/>
          <a:p>
            <a:pPr>
              <a:lnSpc>
                <a:spcPct val="100000"/>
              </a:lnSpc>
              <a:spcBef>
                <a:spcPct val="50000"/>
              </a:spcBef>
            </a:pPr>
            <a:r>
              <a:rPr lang="en-GB" sz="1800" b="1"/>
              <a:t>Is TxAcc=0?</a:t>
            </a:r>
          </a:p>
        </p:txBody>
      </p:sp>
      <p:sp>
        <p:nvSpPr>
          <p:cNvPr id="187411" name="Line 19"/>
          <p:cNvSpPr>
            <a:spLocks noChangeShapeType="1"/>
          </p:cNvSpPr>
          <p:nvPr/>
        </p:nvSpPr>
        <p:spPr bwMode="auto">
          <a:xfrm>
            <a:off x="5110163" y="4960938"/>
            <a:ext cx="0" cy="584200"/>
          </a:xfrm>
          <a:prstGeom prst="line">
            <a:avLst/>
          </a:prstGeom>
          <a:noFill/>
          <a:ln w="25399">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6644" name="Text Box 20"/>
          <p:cNvSpPr txBox="1">
            <a:spLocks noChangeArrowheads="1"/>
          </p:cNvSpPr>
          <p:nvPr/>
        </p:nvSpPr>
        <p:spPr bwMode="auto">
          <a:xfrm>
            <a:off x="5186363" y="5113338"/>
            <a:ext cx="3352800" cy="366712"/>
          </a:xfrm>
          <a:prstGeom prst="rect">
            <a:avLst/>
          </a:prstGeom>
          <a:noFill/>
          <a:ln w="9525">
            <a:noFill/>
            <a:miter lim="800000"/>
            <a:headEnd type="none" w="sm" len="sm"/>
            <a:tailEnd type="none" w="sm" len="sm"/>
          </a:ln>
        </p:spPr>
        <p:txBody>
          <a:bodyPr>
            <a:prstTxWarp prst="textNoShape">
              <a:avLst/>
            </a:prstTxWarp>
            <a:spAutoFit/>
          </a:bodyPr>
          <a:lstStyle/>
          <a:p>
            <a:pPr algn="l">
              <a:lnSpc>
                <a:spcPct val="100000"/>
              </a:lnSpc>
              <a:spcBef>
                <a:spcPct val="50000"/>
              </a:spcBef>
            </a:pPr>
            <a:r>
              <a:rPr lang="en-GB" sz="1800" b="1"/>
              <a:t>Upon sending, TxACC+=1</a:t>
            </a:r>
          </a:p>
        </p:txBody>
      </p:sp>
      <p:sp>
        <p:nvSpPr>
          <p:cNvPr id="26645" name="Line 21"/>
          <p:cNvSpPr>
            <a:spLocks noChangeShapeType="1"/>
          </p:cNvSpPr>
          <p:nvPr/>
        </p:nvSpPr>
        <p:spPr bwMode="auto">
          <a:xfrm flipH="1">
            <a:off x="7548563" y="2522538"/>
            <a:ext cx="152400" cy="533400"/>
          </a:xfrm>
          <a:prstGeom prst="line">
            <a:avLst/>
          </a:prstGeom>
          <a:noFill/>
          <a:ln w="38100">
            <a:solidFill>
              <a:schemeClr val="tx1"/>
            </a:solidFill>
            <a:round/>
            <a:headEnd type="none" w="sm" len="sm"/>
            <a:tailEnd type="triangle" w="med" len="med"/>
          </a:ln>
        </p:spPr>
        <p:txBody>
          <a:bodyPr wrap="none" anchor="ctr">
            <a:prstTxWarp prst="textNoShape">
              <a:avLst/>
            </a:prstTxWarp>
          </a:bodyPr>
          <a:lstStyle/>
          <a:p>
            <a:endParaRPr lang="en-US"/>
          </a:p>
        </p:txBody>
      </p:sp>
      <p:sp>
        <p:nvSpPr>
          <p:cNvPr id="187414" name="Text Box 22"/>
          <p:cNvSpPr txBox="1">
            <a:spLocks noChangeArrowheads="1"/>
          </p:cNvSpPr>
          <p:nvPr/>
        </p:nvSpPr>
        <p:spPr bwMode="auto">
          <a:xfrm>
            <a:off x="6710363" y="1760538"/>
            <a:ext cx="2438400" cy="779462"/>
          </a:xfrm>
          <a:prstGeom prst="rect">
            <a:avLst/>
          </a:prstGeom>
          <a:solidFill>
            <a:schemeClr val="folHlink"/>
          </a:solidFill>
          <a:ln w="9525">
            <a:noFill/>
            <a:miter lim="800000"/>
            <a:headEnd type="none" w="sm" len="sm"/>
            <a:tailEnd type="none" w="sm" len="sm"/>
          </a:ln>
          <a:effectLst>
            <a:outerShdw dist="107763" dir="2700000" algn="ctr" rotWithShape="0">
              <a:schemeClr val="tx1">
                <a:alpha val="50000"/>
              </a:schemeClr>
            </a:outerShdw>
          </a:effectLst>
        </p:spPr>
        <p:txBody>
          <a:bodyPr>
            <a:spAutoFit/>
          </a:bodyPr>
          <a:lstStyle/>
          <a:p>
            <a:pPr algn="l">
              <a:lnSpc>
                <a:spcPct val="100000"/>
              </a:lnSpc>
              <a:spcBef>
                <a:spcPct val="50000"/>
              </a:spcBef>
              <a:defRPr/>
            </a:pPr>
            <a:r>
              <a:rPr lang="en-GB" sz="1800" b="1">
                <a:latin typeface="Arial" charset="0"/>
              </a:rPr>
              <a:t>Packet stays in I/O</a:t>
            </a:r>
          </a:p>
          <a:p>
            <a:pPr algn="l">
              <a:lnSpc>
                <a:spcPct val="100000"/>
              </a:lnSpc>
              <a:spcBef>
                <a:spcPct val="50000"/>
              </a:spcBef>
              <a:defRPr/>
            </a:pPr>
            <a:r>
              <a:rPr lang="en-GB" sz="1800" b="1">
                <a:latin typeface="Arial" charset="0"/>
              </a:rPr>
              <a:t>Pointer exchange</a:t>
            </a: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solidFill>
                  <a:schemeClr val="folHlink"/>
                </a:solidFill>
              </a:rPr>
              <a:t>Review Questions</a:t>
            </a:r>
          </a:p>
        </p:txBody>
      </p:sp>
      <p:sp>
        <p:nvSpPr>
          <p:cNvPr id="27651" name="Rectangle 3"/>
          <p:cNvSpPr>
            <a:spLocks noGrp="1" noChangeArrowheads="1"/>
          </p:cNvSpPr>
          <p:nvPr>
            <p:ph idx="1"/>
          </p:nvPr>
        </p:nvSpPr>
        <p:spPr>
          <a:xfrm>
            <a:off x="2179639" y="1781176"/>
            <a:ext cx="7940675" cy="4456113"/>
          </a:xfrm>
        </p:spPr>
        <p:txBody>
          <a:bodyPr/>
          <a:lstStyle/>
          <a:p>
            <a:r>
              <a:rPr lang="en-US"/>
              <a:t>What is the difference between a flow, a conversation, and a sub-queue ?</a:t>
            </a:r>
          </a:p>
          <a:p>
            <a:r>
              <a:rPr lang="en-US"/>
              <a:t>What is the maximum number of dynamic sub-queues we can configure ?</a:t>
            </a:r>
          </a:p>
          <a:p>
            <a:r>
              <a:rPr lang="en-US"/>
              <a:t>What is the main metric used when deciding which packet to send first ?</a:t>
            </a:r>
          </a:p>
          <a:p>
            <a:r>
              <a:rPr lang="en-US"/>
              <a:t>How does IP Precedence influence that decision ?</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solidFill>
                  <a:schemeClr val="folHlink"/>
                </a:solidFill>
              </a:rPr>
              <a:t>Class-Based WFQ</a:t>
            </a:r>
          </a:p>
        </p:txBody>
      </p:sp>
      <p:sp>
        <p:nvSpPr>
          <p:cNvPr id="28675" name="Rectangle 3"/>
          <p:cNvSpPr>
            <a:spLocks noGrp="1" noChangeArrowheads="1"/>
          </p:cNvSpPr>
          <p:nvPr>
            <p:ph idx="1"/>
          </p:nvPr>
        </p:nvSpPr>
        <p:spPr>
          <a:xfrm>
            <a:off x="2179639" y="1781176"/>
            <a:ext cx="7940675" cy="4240213"/>
          </a:xfrm>
        </p:spPr>
        <p:txBody>
          <a:bodyPr/>
          <a:lstStyle/>
          <a:p>
            <a:r>
              <a:rPr lang="en-US"/>
              <a:t>Same concept as WFQ</a:t>
            </a:r>
          </a:p>
          <a:p>
            <a:r>
              <a:rPr lang="en-US"/>
              <a:t>Here we will </a:t>
            </a:r>
            <a:r>
              <a:rPr lang="en-US">
                <a:solidFill>
                  <a:schemeClr val="folHlink"/>
                </a:solidFill>
              </a:rPr>
              <a:t>manually</a:t>
            </a:r>
            <a:r>
              <a:rPr lang="en-US"/>
              <a:t> reserve bandwidth for </a:t>
            </a:r>
            <a:r>
              <a:rPr lang="en-US">
                <a:solidFill>
                  <a:schemeClr val="folHlink"/>
                </a:solidFill>
              </a:rPr>
              <a:t>pre-defined</a:t>
            </a:r>
            <a:r>
              <a:rPr lang="en-US"/>
              <a:t> classes, which will result in a weight, compared to dynamic weight assigned dynamically created conversations with Flow-Based WFQ.</a:t>
            </a:r>
          </a:p>
          <a:p>
            <a:r>
              <a:rPr lang="en-US"/>
              <a:t>The higher the configured bandwidth, the lower the weight.</a:t>
            </a:r>
          </a:p>
          <a:p>
            <a:r>
              <a:rPr lang="en-US"/>
              <a:t>Exact conversion from bandwidth to weight is complex, and is done auto-magically by the router.</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title"/>
          </p:nvPr>
        </p:nvSpPr>
        <p:spPr>
          <a:xfrm>
            <a:off x="2209801" y="503238"/>
            <a:ext cx="8145463" cy="838200"/>
          </a:xfrm>
          <a:noFill/>
        </p:spPr>
        <p:txBody>
          <a:bodyPr vert="horz" wrap="square" lIns="82114" tIns="41056" rIns="82114" bIns="41056" numCol="1" anchor="ctr" anchorCtr="0" compatLnSpc="1">
            <a:prstTxWarp prst="textNoShape">
              <a:avLst/>
            </a:prstTxWarp>
          </a:bodyPr>
          <a:lstStyle/>
          <a:p>
            <a:pPr eaLnBrk="1" hangingPunct="1"/>
            <a:r>
              <a:rPr lang="en-GB">
                <a:solidFill>
                  <a:schemeClr val="folHlink"/>
                </a:solidFill>
              </a:rPr>
              <a:t>Example of CBWFQ computation</a:t>
            </a:r>
          </a:p>
        </p:txBody>
      </p:sp>
      <p:sp>
        <p:nvSpPr>
          <p:cNvPr id="29698" name="Rectangle 2"/>
          <p:cNvSpPr>
            <a:spLocks noGrp="1" noChangeArrowheads="1"/>
          </p:cNvSpPr>
          <p:nvPr>
            <p:ph idx="1"/>
          </p:nvPr>
        </p:nvSpPr>
        <p:spPr>
          <a:xfrm>
            <a:off x="1903414" y="1944689"/>
            <a:ext cx="8224837" cy="3571875"/>
          </a:xfrm>
        </p:spPr>
        <p:txBody>
          <a:bodyPr vert="horz" wrap="square" lIns="91429" tIns="45715" rIns="91429" bIns="45715" numCol="1" anchor="t" anchorCtr="0" compatLnSpc="1">
            <a:prstTxWarp prst="textNoShape">
              <a:avLst/>
            </a:prstTxWarp>
          </a:bodyPr>
          <a:lstStyle/>
          <a:p>
            <a:pPr marL="257175" indent="-257175" defTabSz="723900">
              <a:buNone/>
            </a:pPr>
            <a:r>
              <a:rPr lang="en-GB" sz="1700" b="1" u="sng">
                <a:solidFill>
                  <a:schemeClr val="folHlink"/>
                </a:solidFill>
              </a:rPr>
              <a:t>WFQ type	kbps/Prec	Weight		Arrival Times 		Finish Times</a:t>
            </a:r>
            <a:endParaRPr lang="en-GB" sz="1700" b="1">
              <a:solidFill>
                <a:schemeClr val="folHlink"/>
              </a:solidFill>
            </a:endParaRPr>
          </a:p>
          <a:p>
            <a:pPr marL="257175" indent="-257175" defTabSz="723900">
              <a:buNone/>
            </a:pPr>
            <a:r>
              <a:rPr lang="en-GB" sz="1700" b="1"/>
              <a:t>RSVP				4		0,20,40,50		4,24,44,54</a:t>
            </a:r>
          </a:p>
          <a:p>
            <a:pPr marL="257175" indent="-257175" defTabSz="723900">
              <a:buNone/>
            </a:pPr>
            <a:r>
              <a:rPr lang="en-GB" sz="1700" b="1"/>
              <a:t>OSPF/Pak			128		0,50			128,183</a:t>
            </a:r>
          </a:p>
          <a:p>
            <a:pPr marL="257175" indent="-257175" defTabSz="723900">
              <a:buNone/>
            </a:pPr>
            <a:r>
              <a:rPr lang="en-GB" sz="1700" b="1"/>
              <a:t>Class 1	200 kbps	4		5,10,15,20,25		9,14,19,24,29	</a:t>
            </a:r>
          </a:p>
          <a:p>
            <a:pPr marL="257175" indent="-257175" defTabSz="723900">
              <a:buNone/>
            </a:pPr>
            <a:r>
              <a:rPr lang="en-GB" sz="1700" b="1"/>
              <a:t>Class 2	100 kbps	8		0,10,20,30		8,18,28,38</a:t>
            </a:r>
          </a:p>
          <a:p>
            <a:pPr marL="257175" indent="-257175" defTabSz="723900">
              <a:buNone/>
            </a:pPr>
            <a:r>
              <a:rPr lang="en-GB" sz="1700" b="1"/>
              <a:t>Class 3	50 kbps	16		5,25,45		31,41,61</a:t>
            </a:r>
          </a:p>
          <a:p>
            <a:pPr marL="257175" indent="-257175" defTabSz="723900">
              <a:buNone/>
            </a:pPr>
            <a:r>
              <a:rPr lang="en-GB" sz="1700" b="1"/>
              <a:t>flow 1		0		4096		100			4196</a:t>
            </a:r>
          </a:p>
          <a:p>
            <a:pPr marL="257175" indent="-257175" defTabSz="723900">
              <a:buNone/>
            </a:pPr>
            <a:r>
              <a:rPr lang="en-GB" sz="1700" b="1"/>
              <a:t>flow 2		0		4096		200			4296</a:t>
            </a:r>
          </a:p>
          <a:p>
            <a:pPr marL="257175" indent="-257175" defTabSz="723900">
              <a:buNone/>
            </a:pPr>
            <a:r>
              <a:rPr lang="en-GB" sz="1700" b="1"/>
              <a:t>flow 3		5		682		20			702</a:t>
            </a: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solidFill>
                  <a:schemeClr val="folHlink"/>
                </a:solidFill>
              </a:rPr>
              <a:t>CBWFQ Configuration</a:t>
            </a:r>
          </a:p>
        </p:txBody>
      </p:sp>
      <p:sp>
        <p:nvSpPr>
          <p:cNvPr id="30723" name="Rectangle 3"/>
          <p:cNvSpPr>
            <a:spLocks noGrp="1" noChangeArrowheads="1"/>
          </p:cNvSpPr>
          <p:nvPr>
            <p:ph idx="1"/>
          </p:nvPr>
        </p:nvSpPr>
        <p:spPr>
          <a:xfrm>
            <a:off x="2179639" y="1484314"/>
            <a:ext cx="7940675" cy="3571875"/>
          </a:xfrm>
        </p:spPr>
        <p:txBody>
          <a:bodyPr/>
          <a:lstStyle/>
          <a:p>
            <a:r>
              <a:rPr lang="en-US"/>
              <a:t>Class-based WFQ can only be configured via </a:t>
            </a:r>
            <a:r>
              <a:rPr lang="en-US">
                <a:solidFill>
                  <a:schemeClr val="folHlink"/>
                </a:solidFill>
              </a:rPr>
              <a:t>MQC</a:t>
            </a:r>
            <a:r>
              <a:rPr lang="en-US"/>
              <a:t>.</a:t>
            </a:r>
          </a:p>
          <a:p>
            <a:r>
              <a:rPr lang="en-US"/>
              <a:t>To reserve bandwidth for a class, use the </a:t>
            </a:r>
            <a:r>
              <a:rPr lang="en-US">
                <a:solidFill>
                  <a:schemeClr val="folHlink"/>
                </a:solidFill>
              </a:rPr>
              <a:t>bandwidth</a:t>
            </a:r>
            <a:r>
              <a:rPr lang="en-US"/>
              <a:t> keyword.</a:t>
            </a:r>
          </a:p>
          <a:p>
            <a:r>
              <a:rPr lang="en-US"/>
              <a:t>This sets the weight for </a:t>
            </a:r>
            <a:r>
              <a:rPr lang="en-US">
                <a:solidFill>
                  <a:schemeClr val="folHlink"/>
                </a:solidFill>
              </a:rPr>
              <a:t>all</a:t>
            </a:r>
            <a:r>
              <a:rPr lang="en-US"/>
              <a:t> packets within that class.</a:t>
            </a:r>
          </a:p>
          <a:p>
            <a:r>
              <a:rPr lang="en-US"/>
              <a:t>Within a class where bandwidth is configured, queuing is </a:t>
            </a:r>
            <a:r>
              <a:rPr lang="en-US">
                <a:solidFill>
                  <a:schemeClr val="accent2"/>
                </a:solidFill>
              </a:rPr>
              <a:t>FIFO</a:t>
            </a:r>
            <a:r>
              <a:rPr lang="en-US"/>
              <a:t> !</a:t>
            </a:r>
          </a:p>
        </p:txBody>
      </p:sp>
      <p:sp>
        <p:nvSpPr>
          <p:cNvPr id="30724" name="Text Box 4"/>
          <p:cNvSpPr txBox="1">
            <a:spLocks noChangeArrowheads="1"/>
          </p:cNvSpPr>
          <p:nvPr/>
        </p:nvSpPr>
        <p:spPr bwMode="auto">
          <a:xfrm>
            <a:off x="3287713" y="4508500"/>
            <a:ext cx="4418012" cy="2014538"/>
          </a:xfrm>
          <a:prstGeom prst="rect">
            <a:avLst/>
          </a:prstGeom>
          <a:solidFill>
            <a:schemeClr val="bg2"/>
          </a:solidFill>
          <a:ln w="9525">
            <a:solidFill>
              <a:schemeClr val="tx1"/>
            </a:solidFill>
            <a:miter lim="800000"/>
            <a:headEnd/>
            <a:tailEnd/>
          </a:ln>
        </p:spPr>
        <p:txBody>
          <a:bodyPr lIns="82124" tIns="41061" rIns="82124" bIns="41061">
            <a:prstTxWarp prst="textNoShape">
              <a:avLst/>
            </a:prstTxWarp>
            <a:spAutoFit/>
          </a:bodyPr>
          <a:lstStyle/>
          <a:p>
            <a:pPr algn="l" defTabSz="814388"/>
            <a:r>
              <a:rPr lang="en-US" sz="2000" b="1">
                <a:solidFill>
                  <a:schemeClr val="bg1"/>
                </a:solidFill>
                <a:latin typeface="Courier New" pitchFamily="1" charset="0"/>
              </a:rPr>
              <a:t>policy-map cbwfq</a:t>
            </a:r>
          </a:p>
          <a:p>
            <a:pPr algn="l" defTabSz="814388"/>
            <a:r>
              <a:rPr lang="en-US" sz="2000" b="1">
                <a:solidFill>
                  <a:schemeClr val="bg1"/>
                </a:solidFill>
                <a:latin typeface="Courier New" pitchFamily="1" charset="0"/>
              </a:rPr>
              <a:t>	class Data100k</a:t>
            </a:r>
          </a:p>
          <a:p>
            <a:pPr algn="l" defTabSz="814388"/>
            <a:r>
              <a:rPr lang="en-US" sz="2000" b="1">
                <a:solidFill>
                  <a:schemeClr val="bg1"/>
                </a:solidFill>
                <a:latin typeface="Courier New" pitchFamily="1" charset="0"/>
              </a:rPr>
              <a:t>	 	bandwidth 100</a:t>
            </a:r>
          </a:p>
          <a:p>
            <a:pPr algn="l" defTabSz="814388"/>
            <a:r>
              <a:rPr lang="en-US" sz="2000" b="1">
                <a:solidFill>
                  <a:schemeClr val="bg1"/>
                </a:solidFill>
                <a:latin typeface="Courier New" pitchFamily="1" charset="0"/>
              </a:rPr>
              <a:t>	class Sig50k</a:t>
            </a:r>
          </a:p>
          <a:p>
            <a:pPr algn="l" defTabSz="814388"/>
            <a:r>
              <a:rPr lang="en-US" sz="2000" b="1">
                <a:solidFill>
                  <a:schemeClr val="bg1"/>
                </a:solidFill>
                <a:latin typeface="Courier New" pitchFamily="1" charset="0"/>
              </a:rPr>
              <a:t>	 	bandwidth 50</a:t>
            </a:r>
          </a:p>
          <a:p>
            <a:pPr algn="l" defTabSz="814388"/>
            <a:r>
              <a:rPr lang="en-US" sz="2000" b="1">
                <a:solidFill>
                  <a:schemeClr val="bg1"/>
                </a:solidFill>
                <a:latin typeface="Courier New" pitchFamily="1" charset="0"/>
              </a:rPr>
              <a:t>	class class-default</a:t>
            </a:r>
          </a:p>
          <a:p>
            <a:pPr algn="l" defTabSz="814388"/>
            <a:r>
              <a:rPr lang="en-US" sz="2000" b="1">
                <a:solidFill>
                  <a:schemeClr val="bg1"/>
                </a:solidFill>
                <a:latin typeface="Courier New" pitchFamily="1" charset="0"/>
              </a:rPr>
              <a:t>	 	fair-queue</a:t>
            </a:r>
          </a:p>
        </p:txBody>
      </p:sp>
      <p:sp>
        <p:nvSpPr>
          <p:cNvPr id="30725" name="Line 5"/>
          <p:cNvSpPr>
            <a:spLocks noChangeShapeType="1"/>
          </p:cNvSpPr>
          <p:nvPr/>
        </p:nvSpPr>
        <p:spPr bwMode="auto">
          <a:xfrm flipH="1">
            <a:off x="7248526" y="5157789"/>
            <a:ext cx="1439863" cy="71437"/>
          </a:xfrm>
          <a:prstGeom prst="line">
            <a:avLst/>
          </a:prstGeom>
          <a:noFill/>
          <a:ln w="28575">
            <a:solidFill>
              <a:schemeClr val="tx1"/>
            </a:solidFill>
            <a:round/>
            <a:headEnd/>
            <a:tailEnd type="triangle" w="med" len="med"/>
          </a:ln>
        </p:spPr>
        <p:txBody>
          <a:bodyPr wrap="none" lIns="82124" tIns="41061" rIns="82124" bIns="41061" anchor="ctr">
            <a:prstTxWarp prst="textNoShape">
              <a:avLst/>
            </a:prstTxWarp>
            <a:spAutoFit/>
          </a:bodyPr>
          <a:lstStyle/>
          <a:p>
            <a:endParaRPr lang="en-US"/>
          </a:p>
        </p:txBody>
      </p:sp>
      <p:sp>
        <p:nvSpPr>
          <p:cNvPr id="30726" name="Line 6"/>
          <p:cNvSpPr>
            <a:spLocks noChangeShapeType="1"/>
          </p:cNvSpPr>
          <p:nvPr/>
        </p:nvSpPr>
        <p:spPr bwMode="auto">
          <a:xfrm flipH="1">
            <a:off x="7248526" y="5157788"/>
            <a:ext cx="1439863" cy="576262"/>
          </a:xfrm>
          <a:prstGeom prst="line">
            <a:avLst/>
          </a:prstGeom>
          <a:noFill/>
          <a:ln w="28575">
            <a:solidFill>
              <a:schemeClr val="tx1"/>
            </a:solidFill>
            <a:round/>
            <a:headEnd/>
            <a:tailEnd type="triangle" w="med" len="med"/>
          </a:ln>
        </p:spPr>
        <p:txBody>
          <a:bodyPr wrap="none" lIns="82124" tIns="41061" rIns="82124" bIns="41061" anchor="ctr">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solidFill>
                  <a:schemeClr val="folHlink"/>
                </a:solidFill>
              </a:rPr>
              <a:t>Bandwidth allocation</a:t>
            </a:r>
          </a:p>
        </p:txBody>
      </p:sp>
      <p:sp>
        <p:nvSpPr>
          <p:cNvPr id="31747" name="Rectangle 3"/>
          <p:cNvSpPr>
            <a:spLocks noGrp="1" noChangeArrowheads="1"/>
          </p:cNvSpPr>
          <p:nvPr>
            <p:ph idx="1"/>
          </p:nvPr>
        </p:nvSpPr>
        <p:spPr/>
        <p:txBody>
          <a:bodyPr/>
          <a:lstStyle/>
          <a:p>
            <a:r>
              <a:rPr lang="en-US"/>
              <a:t>By default, the sum of all reserved bandwidth in a CBWFQ policy-map must be lower than 75% of the interface bandwidth</a:t>
            </a:r>
          </a:p>
          <a:p>
            <a:r>
              <a:rPr lang="en-US"/>
              <a:t>That interface bandwidth is defined by the </a:t>
            </a:r>
            <a:r>
              <a:rPr lang="en-US">
                <a:solidFill>
                  <a:schemeClr val="folHlink"/>
                </a:solidFill>
              </a:rPr>
              <a:t>bandwidth</a:t>
            </a:r>
            <a:r>
              <a:rPr lang="en-US"/>
              <a:t> interface-configuration command, so this should be set correctly  !</a:t>
            </a:r>
          </a:p>
          <a:p>
            <a:r>
              <a:rPr lang="en-US"/>
              <a:t>The 75% can be tuned using the </a:t>
            </a:r>
            <a:r>
              <a:rPr lang="en-US">
                <a:solidFill>
                  <a:schemeClr val="folHlink"/>
                </a:solidFill>
              </a:rPr>
              <a:t>max-reserved-bandwidth</a:t>
            </a:r>
            <a:r>
              <a:rPr lang="en-US"/>
              <a:t> interface-configuration command</a:t>
            </a:r>
          </a:p>
          <a:p>
            <a:r>
              <a:rPr lang="en-US"/>
              <a:t>Defaults have changed with </a:t>
            </a:r>
            <a:r>
              <a:rPr lang="en-US">
                <a:solidFill>
                  <a:srgbClr val="FFC000"/>
                </a:solidFill>
              </a:rPr>
              <a:t>HQF</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1981201" y="304800"/>
            <a:ext cx="6778625" cy="1016000"/>
          </a:xfrm>
          <a:prstGeom prst="rect">
            <a:avLst/>
          </a:prstGeom>
          <a:noFill/>
          <a:ln w="9525">
            <a:noFill/>
            <a:miter lim="800000"/>
            <a:headEnd/>
            <a:tailEnd/>
          </a:ln>
        </p:spPr>
        <p:txBody>
          <a:bodyPr lIns="73016" tIns="36507" rIns="73016" bIns="36507" anchor="ctr">
            <a:prstTxWarp prst="textNoShape">
              <a:avLst/>
            </a:prstTxWarp>
          </a:bodyPr>
          <a:lstStyle/>
          <a:p>
            <a:pPr algn="l" defTabSz="814388" eaLnBrk="1" hangingPunct="1"/>
            <a:r>
              <a:rPr lang="en-GB" sz="3200" b="1">
                <a:solidFill>
                  <a:schemeClr val="folHlink"/>
                </a:solidFill>
              </a:rPr>
              <a:t>Class Based WFQ</a:t>
            </a:r>
          </a:p>
        </p:txBody>
      </p:sp>
      <p:sp>
        <p:nvSpPr>
          <p:cNvPr id="195587" name="Line 3"/>
          <p:cNvSpPr>
            <a:spLocks noChangeShapeType="1"/>
          </p:cNvSpPr>
          <p:nvPr/>
        </p:nvSpPr>
        <p:spPr bwMode="auto">
          <a:xfrm>
            <a:off x="7618413" y="3705226"/>
            <a:ext cx="1293812" cy="461963"/>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588" name="Line 4"/>
          <p:cNvSpPr>
            <a:spLocks noChangeShapeType="1"/>
          </p:cNvSpPr>
          <p:nvPr/>
        </p:nvSpPr>
        <p:spPr bwMode="auto">
          <a:xfrm flipH="1">
            <a:off x="7618413" y="3821113"/>
            <a:ext cx="0" cy="63500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589" name="Line 5"/>
          <p:cNvSpPr>
            <a:spLocks noChangeShapeType="1"/>
          </p:cNvSpPr>
          <p:nvPr/>
        </p:nvSpPr>
        <p:spPr bwMode="auto">
          <a:xfrm flipH="1">
            <a:off x="6391276" y="3821114"/>
            <a:ext cx="1158875" cy="103822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590" name="Line 6"/>
          <p:cNvSpPr>
            <a:spLocks noChangeShapeType="1"/>
          </p:cNvSpPr>
          <p:nvPr/>
        </p:nvSpPr>
        <p:spPr bwMode="auto">
          <a:xfrm>
            <a:off x="2782889" y="4051300"/>
            <a:ext cx="1587" cy="1316038"/>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591" name="Line 7"/>
          <p:cNvSpPr>
            <a:spLocks noChangeShapeType="1"/>
          </p:cNvSpPr>
          <p:nvPr/>
        </p:nvSpPr>
        <p:spPr bwMode="auto">
          <a:xfrm>
            <a:off x="3463925" y="4224339"/>
            <a:ext cx="1588" cy="117157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592" name="Line 8"/>
          <p:cNvSpPr>
            <a:spLocks noChangeShapeType="1"/>
          </p:cNvSpPr>
          <p:nvPr/>
        </p:nvSpPr>
        <p:spPr bwMode="auto">
          <a:xfrm>
            <a:off x="4076700" y="4398964"/>
            <a:ext cx="1588" cy="103663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593" name="Line 9"/>
          <p:cNvSpPr>
            <a:spLocks noChangeShapeType="1"/>
          </p:cNvSpPr>
          <p:nvPr/>
        </p:nvSpPr>
        <p:spPr bwMode="auto">
          <a:xfrm>
            <a:off x="4826000" y="4745039"/>
            <a:ext cx="1588" cy="66198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32778" name="Rectangle 10"/>
          <p:cNvSpPr>
            <a:spLocks noChangeArrowheads="1"/>
          </p:cNvSpPr>
          <p:nvPr/>
        </p:nvSpPr>
        <p:spPr bwMode="auto">
          <a:xfrm>
            <a:off x="1981200" y="5486400"/>
            <a:ext cx="7696200" cy="342900"/>
          </a:xfrm>
          <a:prstGeom prst="rect">
            <a:avLst/>
          </a:prstGeom>
          <a:solidFill>
            <a:schemeClr val="hlink"/>
          </a:solidFill>
          <a:ln w="25400">
            <a:solidFill>
              <a:schemeClr val="tx1"/>
            </a:solidFill>
            <a:miter lim="800000"/>
            <a:headEnd/>
            <a:tailEnd/>
          </a:ln>
        </p:spPr>
        <p:txBody>
          <a:bodyPr wrap="none" anchor="ctr">
            <a:prstTxWarp prst="textNoShape">
              <a:avLst/>
            </a:prstTxWarp>
          </a:bodyPr>
          <a:lstStyle/>
          <a:p>
            <a:endParaRPr lang="en-US"/>
          </a:p>
        </p:txBody>
      </p:sp>
      <p:sp>
        <p:nvSpPr>
          <p:cNvPr id="195595" name="Rectangle 11"/>
          <p:cNvSpPr>
            <a:spLocks noChangeArrowheads="1"/>
          </p:cNvSpPr>
          <p:nvPr/>
        </p:nvSpPr>
        <p:spPr bwMode="auto">
          <a:xfrm>
            <a:off x="3947337" y="5486400"/>
            <a:ext cx="3462303" cy="347174"/>
          </a:xfrm>
          <a:prstGeom prst="rect">
            <a:avLst/>
          </a:prstGeom>
          <a:noFill/>
          <a:ln w="12700">
            <a:noFill/>
            <a:miter lim="800000"/>
            <a:headEnd/>
            <a:tailEnd/>
          </a:ln>
          <a:effectLst/>
        </p:spPr>
        <p:txBody>
          <a:bodyPr wrap="none" lIns="101763" tIns="49988" rIns="101763" bIns="49988">
            <a:spAutoFit/>
          </a:bodyPr>
          <a:lstStyle/>
          <a:p>
            <a:pPr defTabSz="1028700">
              <a:lnSpc>
                <a:spcPct val="100000"/>
              </a:lnSpc>
              <a:defRPr/>
            </a:pPr>
            <a:r>
              <a:rPr lang="en-GB" sz="1600" b="1">
                <a:solidFill>
                  <a:schemeClr val="bg1"/>
                </a:solidFill>
                <a:effectLst>
                  <a:outerShdw blurRad="38100" dist="38100" dir="2700000" algn="tl">
                    <a:srgbClr val="C0C0C0"/>
                  </a:outerShdw>
                </a:effectLst>
                <a:latin typeface="Arial" charset="0"/>
              </a:rPr>
              <a:t>Scheduling based on Finish Time</a:t>
            </a:r>
          </a:p>
        </p:txBody>
      </p:sp>
      <p:sp>
        <p:nvSpPr>
          <p:cNvPr id="32780" name="Rectangle 12"/>
          <p:cNvSpPr>
            <a:spLocks noChangeArrowheads="1"/>
          </p:cNvSpPr>
          <p:nvPr/>
        </p:nvSpPr>
        <p:spPr bwMode="auto">
          <a:xfrm>
            <a:off x="2170114" y="3763963"/>
            <a:ext cx="1279525" cy="247650"/>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95597" name="Rectangle 13"/>
          <p:cNvSpPr>
            <a:spLocks noChangeArrowheads="1"/>
          </p:cNvSpPr>
          <p:nvPr/>
        </p:nvSpPr>
        <p:spPr bwMode="auto">
          <a:xfrm>
            <a:off x="2337971" y="3763963"/>
            <a:ext cx="1037473" cy="347174"/>
          </a:xfrm>
          <a:prstGeom prst="rect">
            <a:avLst/>
          </a:prstGeom>
          <a:noFill/>
          <a:ln w="12700">
            <a:noFill/>
            <a:miter lim="800000"/>
            <a:headEnd/>
            <a:tailEnd/>
          </a:ln>
          <a:effectLst/>
        </p:spPr>
        <p:txBody>
          <a:bodyPr wrap="none" lIns="101763" tIns="49988" rIns="101763" bIns="49988">
            <a:spAutoFit/>
          </a:bodyPr>
          <a:lstStyle/>
          <a:p>
            <a:pPr defTabSz="1028700">
              <a:lnSpc>
                <a:spcPct val="100000"/>
              </a:lnSpc>
              <a:defRPr/>
            </a:pPr>
            <a:r>
              <a:rPr lang="en-GB" sz="1600" b="1">
                <a:effectLst>
                  <a:outerShdw blurRad="38100" dist="38100" dir="2700000" algn="tl">
                    <a:srgbClr val="C0C0C0"/>
                  </a:outerShdw>
                </a:effectLst>
                <a:latin typeface="Arial" charset="0"/>
              </a:rPr>
              <a:t>Class #1</a:t>
            </a:r>
          </a:p>
        </p:txBody>
      </p:sp>
      <p:grpSp>
        <p:nvGrpSpPr>
          <p:cNvPr id="32782" name="Group 14"/>
          <p:cNvGrpSpPr>
            <a:grpSpLocks/>
          </p:cNvGrpSpPr>
          <p:nvPr/>
        </p:nvGrpSpPr>
        <p:grpSpPr bwMode="auto">
          <a:xfrm>
            <a:off x="2851151" y="4051302"/>
            <a:ext cx="1279525" cy="347696"/>
            <a:chOff x="1562" y="2717"/>
            <a:chExt cx="902" cy="290"/>
          </a:xfrm>
        </p:grpSpPr>
        <p:sp>
          <p:nvSpPr>
            <p:cNvPr id="32812" name="Rectangle 15"/>
            <p:cNvSpPr>
              <a:spLocks noChangeArrowheads="1"/>
            </p:cNvSpPr>
            <p:nvPr/>
          </p:nvSpPr>
          <p:spPr bwMode="auto">
            <a:xfrm>
              <a:off x="1562" y="2729"/>
              <a:ext cx="902" cy="206"/>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95600" name="Rectangle 16"/>
            <p:cNvSpPr>
              <a:spLocks noChangeArrowheads="1"/>
            </p:cNvSpPr>
            <p:nvPr/>
          </p:nvSpPr>
          <p:spPr bwMode="auto">
            <a:xfrm>
              <a:off x="1648" y="2717"/>
              <a:ext cx="731" cy="290"/>
            </a:xfrm>
            <a:prstGeom prst="rect">
              <a:avLst/>
            </a:prstGeom>
            <a:noFill/>
            <a:ln w="12700">
              <a:noFill/>
              <a:miter lim="800000"/>
              <a:headEnd/>
              <a:tailEnd/>
            </a:ln>
            <a:effectLst/>
          </p:spPr>
          <p:txBody>
            <a:bodyPr wrap="none" lIns="101763" tIns="49988" rIns="101763" bIns="49988">
              <a:spAutoFit/>
            </a:bodyPr>
            <a:lstStyle/>
            <a:p>
              <a:pPr defTabSz="1028700">
                <a:lnSpc>
                  <a:spcPct val="100000"/>
                </a:lnSpc>
                <a:defRPr/>
              </a:pPr>
              <a:r>
                <a:rPr lang="en-GB" sz="1600" b="1">
                  <a:effectLst>
                    <a:outerShdw blurRad="38100" dist="38100" dir="2700000" algn="tl">
                      <a:srgbClr val="C0C0C0"/>
                    </a:outerShdw>
                  </a:effectLst>
                  <a:latin typeface="Arial" charset="0"/>
                </a:rPr>
                <a:t>Class #2</a:t>
              </a:r>
            </a:p>
          </p:txBody>
        </p:sp>
      </p:grpSp>
      <p:grpSp>
        <p:nvGrpSpPr>
          <p:cNvPr id="32783" name="Group 17"/>
          <p:cNvGrpSpPr>
            <a:grpSpLocks/>
          </p:cNvGrpSpPr>
          <p:nvPr/>
        </p:nvGrpSpPr>
        <p:grpSpPr bwMode="auto">
          <a:xfrm>
            <a:off x="3598863" y="4340230"/>
            <a:ext cx="1281112" cy="347713"/>
            <a:chOff x="1682" y="2830"/>
            <a:chExt cx="902" cy="289"/>
          </a:xfrm>
        </p:grpSpPr>
        <p:sp>
          <p:nvSpPr>
            <p:cNvPr id="32810" name="Rectangle 18"/>
            <p:cNvSpPr>
              <a:spLocks noChangeArrowheads="1"/>
            </p:cNvSpPr>
            <p:nvPr/>
          </p:nvSpPr>
          <p:spPr bwMode="auto">
            <a:xfrm>
              <a:off x="1682" y="2841"/>
              <a:ext cx="902" cy="206"/>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95603" name="Rectangle 19"/>
            <p:cNvSpPr>
              <a:spLocks noChangeArrowheads="1"/>
            </p:cNvSpPr>
            <p:nvPr/>
          </p:nvSpPr>
          <p:spPr bwMode="auto">
            <a:xfrm>
              <a:off x="1769" y="2830"/>
              <a:ext cx="730" cy="289"/>
            </a:xfrm>
            <a:prstGeom prst="rect">
              <a:avLst/>
            </a:prstGeom>
            <a:noFill/>
            <a:ln w="12700">
              <a:noFill/>
              <a:miter lim="800000"/>
              <a:headEnd/>
              <a:tailEnd/>
            </a:ln>
            <a:effectLst/>
          </p:spPr>
          <p:txBody>
            <a:bodyPr wrap="none" lIns="101763" tIns="49988" rIns="101763" bIns="49988">
              <a:spAutoFit/>
            </a:bodyPr>
            <a:lstStyle/>
            <a:p>
              <a:pPr defTabSz="1028700">
                <a:lnSpc>
                  <a:spcPct val="100000"/>
                </a:lnSpc>
                <a:defRPr/>
              </a:pPr>
              <a:r>
                <a:rPr lang="en-GB" sz="1600" b="1">
                  <a:effectLst>
                    <a:outerShdw blurRad="38100" dist="38100" dir="2700000" algn="tl">
                      <a:srgbClr val="C0C0C0"/>
                    </a:outerShdw>
                  </a:effectLst>
                  <a:latin typeface="Arial" charset="0"/>
                </a:rPr>
                <a:t>Class #3</a:t>
              </a:r>
            </a:p>
          </p:txBody>
        </p:sp>
      </p:grpSp>
      <p:grpSp>
        <p:nvGrpSpPr>
          <p:cNvPr id="32784" name="Group 20"/>
          <p:cNvGrpSpPr>
            <a:grpSpLocks/>
          </p:cNvGrpSpPr>
          <p:nvPr/>
        </p:nvGrpSpPr>
        <p:grpSpPr bwMode="auto">
          <a:xfrm>
            <a:off x="4348163" y="4629155"/>
            <a:ext cx="1281112" cy="347713"/>
            <a:chOff x="1794" y="2950"/>
            <a:chExt cx="902" cy="289"/>
          </a:xfrm>
        </p:grpSpPr>
        <p:sp>
          <p:nvSpPr>
            <p:cNvPr id="32808" name="Rectangle 21"/>
            <p:cNvSpPr>
              <a:spLocks noChangeArrowheads="1"/>
            </p:cNvSpPr>
            <p:nvPr/>
          </p:nvSpPr>
          <p:spPr bwMode="auto">
            <a:xfrm>
              <a:off x="1794" y="2961"/>
              <a:ext cx="902" cy="206"/>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95606" name="Rectangle 22"/>
            <p:cNvSpPr>
              <a:spLocks noChangeArrowheads="1"/>
            </p:cNvSpPr>
            <p:nvPr/>
          </p:nvSpPr>
          <p:spPr bwMode="auto">
            <a:xfrm>
              <a:off x="1882" y="2950"/>
              <a:ext cx="730" cy="289"/>
            </a:xfrm>
            <a:prstGeom prst="rect">
              <a:avLst/>
            </a:prstGeom>
            <a:noFill/>
            <a:ln w="12700">
              <a:noFill/>
              <a:miter lim="800000"/>
              <a:headEnd/>
              <a:tailEnd/>
            </a:ln>
            <a:effectLst/>
          </p:spPr>
          <p:txBody>
            <a:bodyPr wrap="none" lIns="101763" tIns="49988" rIns="101763" bIns="49988">
              <a:spAutoFit/>
            </a:bodyPr>
            <a:lstStyle/>
            <a:p>
              <a:pPr defTabSz="1028700">
                <a:lnSpc>
                  <a:spcPct val="100000"/>
                </a:lnSpc>
                <a:defRPr/>
              </a:pPr>
              <a:r>
                <a:rPr lang="en-GB" sz="1600" b="1">
                  <a:effectLst>
                    <a:outerShdw blurRad="38100" dist="38100" dir="2700000" algn="tl">
                      <a:srgbClr val="C0C0C0"/>
                    </a:outerShdw>
                  </a:effectLst>
                  <a:latin typeface="Arial" charset="0"/>
                </a:rPr>
                <a:t>Class #4</a:t>
              </a:r>
            </a:p>
          </p:txBody>
        </p:sp>
      </p:grpSp>
      <p:sp>
        <p:nvSpPr>
          <p:cNvPr id="195607" name="Line 23"/>
          <p:cNvSpPr>
            <a:spLocks noChangeShapeType="1"/>
          </p:cNvSpPr>
          <p:nvPr/>
        </p:nvSpPr>
        <p:spPr bwMode="auto">
          <a:xfrm flipH="1">
            <a:off x="2986088" y="3033713"/>
            <a:ext cx="2197100" cy="67151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608" name="Line 24"/>
          <p:cNvSpPr>
            <a:spLocks noChangeShapeType="1"/>
          </p:cNvSpPr>
          <p:nvPr/>
        </p:nvSpPr>
        <p:spPr bwMode="auto">
          <a:xfrm flipH="1">
            <a:off x="3735389" y="3062288"/>
            <a:ext cx="1481137" cy="98901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609" name="Line 25"/>
          <p:cNvSpPr>
            <a:spLocks noChangeShapeType="1"/>
          </p:cNvSpPr>
          <p:nvPr/>
        </p:nvSpPr>
        <p:spPr bwMode="auto">
          <a:xfrm flipH="1">
            <a:off x="4962526" y="3119438"/>
            <a:ext cx="333375" cy="150971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610" name="Line 26"/>
          <p:cNvSpPr>
            <a:spLocks noChangeShapeType="1"/>
          </p:cNvSpPr>
          <p:nvPr/>
        </p:nvSpPr>
        <p:spPr bwMode="auto">
          <a:xfrm>
            <a:off x="6324601" y="2840038"/>
            <a:ext cx="1293813" cy="46196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611" name="Line 27"/>
          <p:cNvSpPr>
            <a:spLocks noChangeShapeType="1"/>
          </p:cNvSpPr>
          <p:nvPr/>
        </p:nvSpPr>
        <p:spPr bwMode="auto">
          <a:xfrm flipH="1">
            <a:off x="4279901" y="3090863"/>
            <a:ext cx="982663" cy="124936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612" name="Line 28"/>
          <p:cNvSpPr>
            <a:spLocks noChangeShapeType="1"/>
          </p:cNvSpPr>
          <p:nvPr/>
        </p:nvSpPr>
        <p:spPr bwMode="auto">
          <a:xfrm>
            <a:off x="5597525" y="1827214"/>
            <a:ext cx="1588" cy="496887"/>
          </a:xfrm>
          <a:prstGeom prst="line">
            <a:avLst/>
          </a:prstGeom>
          <a:noFill/>
          <a:ln w="25400">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613" name="Freeform 29"/>
          <p:cNvSpPr>
            <a:spLocks/>
          </p:cNvSpPr>
          <p:nvPr/>
        </p:nvSpPr>
        <p:spPr bwMode="auto">
          <a:xfrm>
            <a:off x="4868863" y="2351089"/>
            <a:ext cx="1466850" cy="973137"/>
          </a:xfrm>
          <a:custGeom>
            <a:avLst/>
            <a:gdLst/>
            <a:ahLst/>
            <a:cxnLst>
              <a:cxn ang="0">
                <a:pos x="459" y="0"/>
              </a:cxn>
              <a:cxn ang="0">
                <a:pos x="0" y="359"/>
              </a:cxn>
              <a:cxn ang="0">
                <a:pos x="459" y="719"/>
              </a:cxn>
              <a:cxn ang="0">
                <a:pos x="918" y="359"/>
              </a:cxn>
              <a:cxn ang="0">
                <a:pos x="459" y="0"/>
              </a:cxn>
            </a:cxnLst>
            <a:rect l="0" t="0" r="r" b="b"/>
            <a:pathLst>
              <a:path w="919" h="720">
                <a:moveTo>
                  <a:pt x="459" y="0"/>
                </a:moveTo>
                <a:lnTo>
                  <a:pt x="0" y="359"/>
                </a:lnTo>
                <a:lnTo>
                  <a:pt x="459" y="719"/>
                </a:lnTo>
                <a:lnTo>
                  <a:pt x="918" y="359"/>
                </a:lnTo>
                <a:lnTo>
                  <a:pt x="459" y="0"/>
                </a:lnTo>
              </a:path>
            </a:pathLst>
          </a:custGeom>
          <a:solidFill>
            <a:schemeClr val="folHlink"/>
          </a:solidFill>
          <a:ln w="25400" cap="rnd" cmpd="sng">
            <a:solidFill>
              <a:schemeClr val="tx1"/>
            </a:solidFill>
            <a:prstDash val="solid"/>
            <a:round/>
            <a:headEnd type="none" w="med" len="med"/>
            <a:tailEnd type="none" w="med" len="med"/>
          </a:ln>
          <a:effectLst>
            <a:outerShdw dist="35921" dir="2700000" algn="ctr" rotWithShape="0">
              <a:schemeClr val="tx1"/>
            </a:outerShdw>
          </a:effectLst>
        </p:spPr>
        <p:txBody>
          <a:bodyPr/>
          <a:lstStyle/>
          <a:p>
            <a:pPr>
              <a:defRPr/>
            </a:pPr>
            <a:endParaRPr lang="en-US">
              <a:latin typeface="Arial" charset="0"/>
            </a:endParaRPr>
          </a:p>
        </p:txBody>
      </p:sp>
      <p:sp>
        <p:nvSpPr>
          <p:cNvPr id="195614" name="Rectangle 30"/>
          <p:cNvSpPr>
            <a:spLocks noChangeArrowheads="1"/>
          </p:cNvSpPr>
          <p:nvPr/>
        </p:nvSpPr>
        <p:spPr bwMode="auto">
          <a:xfrm>
            <a:off x="5001184" y="2608264"/>
            <a:ext cx="1164109" cy="544151"/>
          </a:xfrm>
          <a:prstGeom prst="rect">
            <a:avLst/>
          </a:prstGeom>
          <a:noFill/>
          <a:ln w="12700">
            <a:noFill/>
            <a:miter lim="800000"/>
            <a:headEnd/>
            <a:tailEnd/>
          </a:ln>
          <a:effectLst/>
        </p:spPr>
        <p:txBody>
          <a:bodyPr wrap="none" lIns="101763" tIns="49988" rIns="101763" bIns="49988">
            <a:spAutoFit/>
          </a:bodyPr>
          <a:lstStyle/>
          <a:p>
            <a:pPr defTabSz="1028700">
              <a:defRPr/>
            </a:pPr>
            <a:r>
              <a:rPr lang="en-GB" sz="1600" b="1">
                <a:solidFill>
                  <a:schemeClr val="bg1"/>
                </a:solidFill>
                <a:effectLst>
                  <a:outerShdw blurRad="38100" dist="38100" dir="2700000" algn="tl">
                    <a:srgbClr val="C0C0C0"/>
                  </a:outerShdw>
                </a:effectLst>
                <a:latin typeface="Arial" charset="0"/>
              </a:rPr>
              <a:t> Per class</a:t>
            </a:r>
          </a:p>
          <a:p>
            <a:pPr defTabSz="1028700">
              <a:defRPr/>
            </a:pPr>
            <a:r>
              <a:rPr lang="en-GB" sz="1600" b="1">
                <a:solidFill>
                  <a:schemeClr val="bg1"/>
                </a:solidFill>
                <a:effectLst>
                  <a:outerShdw blurRad="38100" dist="38100" dir="2700000" algn="tl">
                    <a:srgbClr val="C0C0C0"/>
                  </a:outerShdw>
                </a:effectLst>
                <a:latin typeface="Arial" charset="0"/>
              </a:rPr>
              <a:t>(ACL)</a:t>
            </a:r>
          </a:p>
        </p:txBody>
      </p:sp>
      <p:sp>
        <p:nvSpPr>
          <p:cNvPr id="195615" name="Freeform 31"/>
          <p:cNvSpPr>
            <a:spLocks/>
          </p:cNvSpPr>
          <p:nvPr/>
        </p:nvSpPr>
        <p:spPr bwMode="auto">
          <a:xfrm>
            <a:off x="4868863" y="1524001"/>
            <a:ext cx="1466850" cy="549275"/>
          </a:xfrm>
          <a:custGeom>
            <a:avLst/>
            <a:gdLst/>
            <a:ahLst/>
            <a:cxnLst>
              <a:cxn ang="0">
                <a:pos x="70" y="0"/>
              </a:cxn>
              <a:cxn ang="0">
                <a:pos x="0" y="203"/>
              </a:cxn>
              <a:cxn ang="0">
                <a:pos x="70" y="406"/>
              </a:cxn>
              <a:cxn ang="0">
                <a:pos x="847" y="406"/>
              </a:cxn>
              <a:cxn ang="0">
                <a:pos x="918" y="203"/>
              </a:cxn>
              <a:cxn ang="0">
                <a:pos x="847" y="0"/>
              </a:cxn>
              <a:cxn ang="0">
                <a:pos x="70" y="0"/>
              </a:cxn>
            </a:cxnLst>
            <a:rect l="0" t="0" r="r" b="b"/>
            <a:pathLst>
              <a:path w="919" h="407">
                <a:moveTo>
                  <a:pt x="70" y="0"/>
                </a:moveTo>
                <a:lnTo>
                  <a:pt x="0" y="203"/>
                </a:lnTo>
                <a:lnTo>
                  <a:pt x="70" y="406"/>
                </a:lnTo>
                <a:lnTo>
                  <a:pt x="847" y="406"/>
                </a:lnTo>
                <a:lnTo>
                  <a:pt x="918" y="203"/>
                </a:lnTo>
                <a:lnTo>
                  <a:pt x="847" y="0"/>
                </a:lnTo>
                <a:lnTo>
                  <a:pt x="70" y="0"/>
                </a:lnTo>
              </a:path>
            </a:pathLst>
          </a:custGeom>
          <a:solidFill>
            <a:schemeClr val="folHlink"/>
          </a:solidFill>
          <a:ln w="25400" cap="rnd" cmpd="sng">
            <a:solidFill>
              <a:schemeClr val="tx1"/>
            </a:solidFill>
            <a:prstDash val="solid"/>
            <a:round/>
            <a:headEnd type="none" w="med" len="med"/>
            <a:tailEnd type="none" w="med" len="med"/>
          </a:ln>
          <a:effectLst>
            <a:outerShdw dist="35921" dir="2700000" algn="ctr" rotWithShape="0">
              <a:schemeClr val="tx1"/>
            </a:outerShdw>
          </a:effectLst>
        </p:spPr>
        <p:txBody>
          <a:bodyPr/>
          <a:lstStyle/>
          <a:p>
            <a:pPr>
              <a:defRPr/>
            </a:pPr>
            <a:endParaRPr lang="en-US">
              <a:latin typeface="Arial" charset="0"/>
            </a:endParaRPr>
          </a:p>
        </p:txBody>
      </p:sp>
      <p:sp>
        <p:nvSpPr>
          <p:cNvPr id="195616" name="Rectangle 32"/>
          <p:cNvSpPr>
            <a:spLocks noChangeArrowheads="1"/>
          </p:cNvSpPr>
          <p:nvPr/>
        </p:nvSpPr>
        <p:spPr bwMode="auto">
          <a:xfrm>
            <a:off x="4997792" y="1666875"/>
            <a:ext cx="1208993" cy="347174"/>
          </a:xfrm>
          <a:prstGeom prst="rect">
            <a:avLst/>
          </a:prstGeom>
          <a:noFill/>
          <a:ln w="12700">
            <a:noFill/>
            <a:miter lim="800000"/>
            <a:headEnd/>
            <a:tailEnd/>
          </a:ln>
          <a:effectLst/>
        </p:spPr>
        <p:txBody>
          <a:bodyPr wrap="none" lIns="101763" tIns="49988" rIns="101763" bIns="49988">
            <a:spAutoFit/>
          </a:bodyPr>
          <a:lstStyle/>
          <a:p>
            <a:pPr defTabSz="1028700">
              <a:lnSpc>
                <a:spcPct val="100000"/>
              </a:lnSpc>
              <a:defRPr/>
            </a:pPr>
            <a:r>
              <a:rPr lang="en-GB" sz="1600" b="1">
                <a:solidFill>
                  <a:schemeClr val="bg1"/>
                </a:solidFill>
                <a:effectLst>
                  <a:outerShdw blurRad="38100" dist="38100" dir="2700000" algn="tl">
                    <a:srgbClr val="C0C0C0"/>
                  </a:outerShdw>
                </a:effectLst>
                <a:latin typeface="Arial" charset="0"/>
              </a:rPr>
              <a:t>Forwarder</a:t>
            </a:r>
          </a:p>
        </p:txBody>
      </p:sp>
      <p:sp>
        <p:nvSpPr>
          <p:cNvPr id="195617" name="Freeform 33"/>
          <p:cNvSpPr>
            <a:spLocks/>
          </p:cNvSpPr>
          <p:nvPr/>
        </p:nvSpPr>
        <p:spPr bwMode="auto">
          <a:xfrm>
            <a:off x="6869113" y="3302000"/>
            <a:ext cx="1466850" cy="973138"/>
          </a:xfrm>
          <a:custGeom>
            <a:avLst/>
            <a:gdLst/>
            <a:ahLst/>
            <a:cxnLst>
              <a:cxn ang="0">
                <a:pos x="459" y="0"/>
              </a:cxn>
              <a:cxn ang="0">
                <a:pos x="0" y="359"/>
              </a:cxn>
              <a:cxn ang="0">
                <a:pos x="459" y="719"/>
              </a:cxn>
              <a:cxn ang="0">
                <a:pos x="918" y="359"/>
              </a:cxn>
              <a:cxn ang="0">
                <a:pos x="459" y="0"/>
              </a:cxn>
            </a:cxnLst>
            <a:rect l="0" t="0" r="r" b="b"/>
            <a:pathLst>
              <a:path w="919" h="720">
                <a:moveTo>
                  <a:pt x="459" y="0"/>
                </a:moveTo>
                <a:lnTo>
                  <a:pt x="0" y="359"/>
                </a:lnTo>
                <a:lnTo>
                  <a:pt x="459" y="719"/>
                </a:lnTo>
                <a:lnTo>
                  <a:pt x="918" y="359"/>
                </a:lnTo>
                <a:lnTo>
                  <a:pt x="459" y="0"/>
                </a:lnTo>
              </a:path>
            </a:pathLst>
          </a:custGeom>
          <a:solidFill>
            <a:schemeClr val="folHlink"/>
          </a:solidFill>
          <a:ln w="25400" cap="rnd" cmpd="sng">
            <a:solidFill>
              <a:schemeClr val="tx1"/>
            </a:solidFill>
            <a:prstDash val="solid"/>
            <a:round/>
            <a:headEnd type="none" w="med" len="med"/>
            <a:tailEnd type="none" w="med" len="med"/>
          </a:ln>
          <a:effectLst>
            <a:outerShdw dist="35921" dir="2700000" algn="ctr" rotWithShape="0">
              <a:schemeClr val="tx1"/>
            </a:outerShdw>
          </a:effectLst>
        </p:spPr>
        <p:txBody>
          <a:bodyPr/>
          <a:lstStyle/>
          <a:p>
            <a:pPr>
              <a:defRPr/>
            </a:pPr>
            <a:endParaRPr lang="en-US">
              <a:latin typeface="Arial" charset="0"/>
            </a:endParaRPr>
          </a:p>
        </p:txBody>
      </p:sp>
      <p:sp>
        <p:nvSpPr>
          <p:cNvPr id="195618" name="Rectangle 34"/>
          <p:cNvSpPr>
            <a:spLocks noChangeArrowheads="1"/>
          </p:cNvSpPr>
          <p:nvPr/>
        </p:nvSpPr>
        <p:spPr bwMode="auto">
          <a:xfrm>
            <a:off x="7035260" y="3532189"/>
            <a:ext cx="1063121" cy="544151"/>
          </a:xfrm>
          <a:prstGeom prst="rect">
            <a:avLst/>
          </a:prstGeom>
          <a:noFill/>
          <a:ln w="12700">
            <a:noFill/>
            <a:miter lim="800000"/>
            <a:headEnd/>
            <a:tailEnd/>
          </a:ln>
          <a:effectLst/>
        </p:spPr>
        <p:txBody>
          <a:bodyPr wrap="none" lIns="101763" tIns="49988" rIns="101763" bIns="49988">
            <a:spAutoFit/>
          </a:bodyPr>
          <a:lstStyle/>
          <a:p>
            <a:pPr defTabSz="1028700">
              <a:defRPr/>
            </a:pPr>
            <a:r>
              <a:rPr lang="en-GB" sz="1600" b="1">
                <a:solidFill>
                  <a:schemeClr val="bg1"/>
                </a:solidFill>
                <a:effectLst>
                  <a:outerShdw blurRad="38100" dist="38100" dir="2700000" algn="tl">
                    <a:srgbClr val="C0C0C0"/>
                  </a:outerShdw>
                </a:effectLst>
                <a:latin typeface="Arial" charset="0"/>
              </a:rPr>
              <a:t> Per flow</a:t>
            </a:r>
          </a:p>
          <a:p>
            <a:pPr defTabSz="1028700">
              <a:defRPr/>
            </a:pPr>
            <a:r>
              <a:rPr lang="en-GB" sz="1600" b="1">
                <a:solidFill>
                  <a:schemeClr val="bg1"/>
                </a:solidFill>
                <a:effectLst>
                  <a:outerShdw blurRad="38100" dist="38100" dir="2700000" algn="tl">
                    <a:srgbClr val="C0C0C0"/>
                  </a:outerShdw>
                </a:effectLst>
                <a:latin typeface="Arial" charset="0"/>
              </a:rPr>
              <a:t>(hash)</a:t>
            </a:r>
          </a:p>
        </p:txBody>
      </p:sp>
      <p:sp>
        <p:nvSpPr>
          <p:cNvPr id="32797" name="Rectangle 35"/>
          <p:cNvSpPr>
            <a:spLocks noChangeArrowheads="1"/>
          </p:cNvSpPr>
          <p:nvPr/>
        </p:nvSpPr>
        <p:spPr bwMode="auto">
          <a:xfrm>
            <a:off x="6051551" y="4859339"/>
            <a:ext cx="1279525" cy="249237"/>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grpSp>
        <p:nvGrpSpPr>
          <p:cNvPr id="32798" name="Group 36"/>
          <p:cNvGrpSpPr>
            <a:grpSpLocks/>
          </p:cNvGrpSpPr>
          <p:nvPr/>
        </p:nvGrpSpPr>
        <p:grpSpPr bwMode="auto">
          <a:xfrm>
            <a:off x="6800851" y="4456117"/>
            <a:ext cx="1279525" cy="347713"/>
            <a:chOff x="1562" y="2718"/>
            <a:chExt cx="902" cy="289"/>
          </a:xfrm>
        </p:grpSpPr>
        <p:sp>
          <p:nvSpPr>
            <p:cNvPr id="32806" name="Rectangle 37"/>
            <p:cNvSpPr>
              <a:spLocks noChangeArrowheads="1"/>
            </p:cNvSpPr>
            <p:nvPr/>
          </p:nvSpPr>
          <p:spPr bwMode="auto">
            <a:xfrm>
              <a:off x="1562" y="2729"/>
              <a:ext cx="902" cy="206"/>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95622" name="Rectangle 38"/>
            <p:cNvSpPr>
              <a:spLocks noChangeArrowheads="1"/>
            </p:cNvSpPr>
            <p:nvPr/>
          </p:nvSpPr>
          <p:spPr bwMode="auto">
            <a:xfrm>
              <a:off x="1679" y="2718"/>
              <a:ext cx="676" cy="289"/>
            </a:xfrm>
            <a:prstGeom prst="rect">
              <a:avLst/>
            </a:prstGeom>
            <a:noFill/>
            <a:ln w="12700">
              <a:noFill/>
              <a:miter lim="800000"/>
              <a:headEnd/>
              <a:tailEnd/>
            </a:ln>
            <a:effectLst/>
          </p:spPr>
          <p:txBody>
            <a:bodyPr wrap="none" lIns="101763" tIns="49988" rIns="101763" bIns="49988">
              <a:spAutoFit/>
            </a:bodyPr>
            <a:lstStyle/>
            <a:p>
              <a:pPr defTabSz="1028700">
                <a:lnSpc>
                  <a:spcPct val="100000"/>
                </a:lnSpc>
                <a:defRPr/>
              </a:pPr>
              <a:r>
                <a:rPr lang="en-GB" sz="1600" b="1">
                  <a:effectLst>
                    <a:outerShdw blurRad="38100" dist="38100" dir="2700000" algn="tl">
                      <a:srgbClr val="C0C0C0"/>
                    </a:outerShdw>
                  </a:effectLst>
                  <a:latin typeface="Arial" charset="0"/>
                </a:rPr>
                <a:t>Flow #2</a:t>
              </a:r>
            </a:p>
          </p:txBody>
        </p:sp>
      </p:grpSp>
      <p:grpSp>
        <p:nvGrpSpPr>
          <p:cNvPr id="32799" name="Group 39"/>
          <p:cNvGrpSpPr>
            <a:grpSpLocks/>
          </p:cNvGrpSpPr>
          <p:nvPr/>
        </p:nvGrpSpPr>
        <p:grpSpPr bwMode="auto">
          <a:xfrm>
            <a:off x="8231189" y="4167193"/>
            <a:ext cx="1279525" cy="347713"/>
            <a:chOff x="1682" y="2830"/>
            <a:chExt cx="902" cy="289"/>
          </a:xfrm>
        </p:grpSpPr>
        <p:sp>
          <p:nvSpPr>
            <p:cNvPr id="32804" name="Rectangle 40"/>
            <p:cNvSpPr>
              <a:spLocks noChangeArrowheads="1"/>
            </p:cNvSpPr>
            <p:nvPr/>
          </p:nvSpPr>
          <p:spPr bwMode="auto">
            <a:xfrm>
              <a:off x="1682" y="2841"/>
              <a:ext cx="902" cy="206"/>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195625" name="Rectangle 41"/>
            <p:cNvSpPr>
              <a:spLocks noChangeArrowheads="1"/>
            </p:cNvSpPr>
            <p:nvPr/>
          </p:nvSpPr>
          <p:spPr bwMode="auto">
            <a:xfrm>
              <a:off x="1798" y="2830"/>
              <a:ext cx="676" cy="289"/>
            </a:xfrm>
            <a:prstGeom prst="rect">
              <a:avLst/>
            </a:prstGeom>
            <a:noFill/>
            <a:ln w="12700">
              <a:noFill/>
              <a:miter lim="800000"/>
              <a:headEnd/>
              <a:tailEnd/>
            </a:ln>
            <a:effectLst/>
          </p:spPr>
          <p:txBody>
            <a:bodyPr wrap="none" lIns="101763" tIns="49988" rIns="101763" bIns="49988">
              <a:spAutoFit/>
            </a:bodyPr>
            <a:lstStyle/>
            <a:p>
              <a:pPr defTabSz="1028700">
                <a:lnSpc>
                  <a:spcPct val="100000"/>
                </a:lnSpc>
                <a:defRPr/>
              </a:pPr>
              <a:r>
                <a:rPr lang="en-GB" sz="1600" b="1">
                  <a:effectLst>
                    <a:outerShdw blurRad="38100" dist="38100" dir="2700000" algn="tl">
                      <a:srgbClr val="C0C0C0"/>
                    </a:outerShdw>
                  </a:effectLst>
                  <a:latin typeface="Arial" charset="0"/>
                </a:rPr>
                <a:t>Flow #3</a:t>
              </a:r>
            </a:p>
          </p:txBody>
        </p:sp>
      </p:grpSp>
      <p:sp>
        <p:nvSpPr>
          <p:cNvPr id="195626" name="Rectangle 42"/>
          <p:cNvSpPr>
            <a:spLocks noChangeArrowheads="1"/>
          </p:cNvSpPr>
          <p:nvPr/>
        </p:nvSpPr>
        <p:spPr bwMode="auto">
          <a:xfrm>
            <a:off x="6191214" y="4860925"/>
            <a:ext cx="958925" cy="347174"/>
          </a:xfrm>
          <a:prstGeom prst="rect">
            <a:avLst/>
          </a:prstGeom>
          <a:noFill/>
          <a:ln w="12700">
            <a:noFill/>
            <a:miter lim="800000"/>
            <a:headEnd/>
            <a:tailEnd/>
          </a:ln>
          <a:effectLst/>
        </p:spPr>
        <p:txBody>
          <a:bodyPr wrap="none" lIns="101763" tIns="49988" rIns="101763" bIns="49988">
            <a:spAutoFit/>
          </a:bodyPr>
          <a:lstStyle/>
          <a:p>
            <a:pPr defTabSz="1028700">
              <a:lnSpc>
                <a:spcPct val="100000"/>
              </a:lnSpc>
              <a:defRPr/>
            </a:pPr>
            <a:r>
              <a:rPr lang="en-GB" sz="1600" b="1">
                <a:effectLst>
                  <a:outerShdw blurRad="38100" dist="38100" dir="2700000" algn="tl">
                    <a:srgbClr val="C0C0C0"/>
                  </a:outerShdw>
                </a:effectLst>
                <a:latin typeface="Arial" charset="0"/>
              </a:rPr>
              <a:t>Flow #1</a:t>
            </a:r>
          </a:p>
        </p:txBody>
      </p:sp>
      <p:sp>
        <p:nvSpPr>
          <p:cNvPr id="195627" name="Line 43"/>
          <p:cNvSpPr>
            <a:spLocks noChangeShapeType="1"/>
          </p:cNvSpPr>
          <p:nvPr/>
        </p:nvSpPr>
        <p:spPr bwMode="auto">
          <a:xfrm>
            <a:off x="6596064" y="5148263"/>
            <a:ext cx="1587" cy="31750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628" name="Line 44"/>
          <p:cNvSpPr>
            <a:spLocks noChangeShapeType="1"/>
          </p:cNvSpPr>
          <p:nvPr/>
        </p:nvSpPr>
        <p:spPr bwMode="auto">
          <a:xfrm>
            <a:off x="7413625" y="4745039"/>
            <a:ext cx="1588" cy="72072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195629" name="Line 45"/>
          <p:cNvSpPr>
            <a:spLocks noChangeShapeType="1"/>
          </p:cNvSpPr>
          <p:nvPr/>
        </p:nvSpPr>
        <p:spPr bwMode="auto">
          <a:xfrm>
            <a:off x="8774114" y="4456113"/>
            <a:ext cx="3175" cy="100965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ChangeArrowheads="1"/>
          </p:cNvSpPr>
          <p:nvPr/>
        </p:nvSpPr>
        <p:spPr bwMode="auto">
          <a:xfrm>
            <a:off x="1992313" y="1473200"/>
            <a:ext cx="7467600" cy="1524000"/>
          </a:xfrm>
          <a:prstGeom prst="rect">
            <a:avLst/>
          </a:prstGeom>
          <a:solidFill>
            <a:schemeClr val="folHlink"/>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33795" name="Rectangle 3"/>
          <p:cNvSpPr>
            <a:spLocks noGrp="1" noChangeArrowheads="1"/>
          </p:cNvSpPr>
          <p:nvPr>
            <p:ph type="title"/>
          </p:nvPr>
        </p:nvSpPr>
        <p:spPr/>
        <p:txBody>
          <a:bodyPr/>
          <a:lstStyle/>
          <a:p>
            <a:pPr eaLnBrk="1" hangingPunct="1"/>
            <a:r>
              <a:rPr lang="en-US">
                <a:solidFill>
                  <a:schemeClr val="folHlink"/>
                </a:solidFill>
              </a:rPr>
              <a:t>Available Bandwidth</a:t>
            </a:r>
          </a:p>
        </p:txBody>
      </p:sp>
      <p:sp>
        <p:nvSpPr>
          <p:cNvPr id="33796" name="Rectangle 4"/>
          <p:cNvSpPr>
            <a:spLocks noGrp="1" noChangeArrowheads="1"/>
          </p:cNvSpPr>
          <p:nvPr>
            <p:ph idx="1"/>
          </p:nvPr>
        </p:nvSpPr>
        <p:spPr>
          <a:xfrm>
            <a:off x="2057400" y="1524000"/>
            <a:ext cx="8383588" cy="4419600"/>
          </a:xfrm>
        </p:spPr>
        <p:txBody>
          <a:bodyPr>
            <a:normAutofit fontScale="92500" lnSpcReduction="20000"/>
          </a:bodyPr>
          <a:lstStyle/>
          <a:p>
            <a:pPr>
              <a:lnSpc>
                <a:spcPct val="85000"/>
              </a:lnSpc>
              <a:buFont typeface="Wingdings" pitchFamily="1" charset="2"/>
              <a:buNone/>
            </a:pPr>
            <a:r>
              <a:rPr lang="en-US" sz="1800" b="1">
                <a:latin typeface="Courier New" pitchFamily="1" charset="0"/>
              </a:rPr>
              <a:t>router#sh queueing int atm 4/0.10 </a:t>
            </a:r>
          </a:p>
          <a:p>
            <a:pPr>
              <a:lnSpc>
                <a:spcPct val="65000"/>
              </a:lnSpc>
              <a:spcBef>
                <a:spcPct val="25000"/>
              </a:spcBef>
              <a:buFont typeface="Wingdings" pitchFamily="1" charset="2"/>
              <a:buNone/>
            </a:pPr>
            <a:r>
              <a:rPr lang="en-US" sz="1800" b="1">
                <a:latin typeface="Courier New" pitchFamily="1" charset="0"/>
              </a:rPr>
              <a:t>  Interface ATM4/0.10 VC 0/101 </a:t>
            </a:r>
          </a:p>
          <a:p>
            <a:pPr>
              <a:lnSpc>
                <a:spcPct val="65000"/>
              </a:lnSpc>
              <a:spcBef>
                <a:spcPct val="25000"/>
              </a:spcBef>
              <a:buFont typeface="Wingdings" pitchFamily="1" charset="2"/>
              <a:buNone/>
            </a:pPr>
            <a:r>
              <a:rPr lang="en-US" sz="1800" b="1">
                <a:latin typeface="Courier New" pitchFamily="1" charset="0"/>
              </a:rPr>
              <a:t>    Queueing strategy: weighted fair </a:t>
            </a:r>
          </a:p>
          <a:p>
            <a:pPr>
              <a:lnSpc>
                <a:spcPct val="65000"/>
              </a:lnSpc>
              <a:spcBef>
                <a:spcPct val="25000"/>
              </a:spcBef>
              <a:buFont typeface="Wingdings" pitchFamily="1" charset="2"/>
              <a:buNone/>
            </a:pPr>
            <a:r>
              <a:rPr lang="en-US" sz="1800" b="1">
                <a:latin typeface="Courier New" pitchFamily="1" charset="0"/>
              </a:rPr>
              <a:t>    [output omitted]</a:t>
            </a:r>
          </a:p>
          <a:p>
            <a:pPr>
              <a:lnSpc>
                <a:spcPct val="65000"/>
              </a:lnSpc>
              <a:spcBef>
                <a:spcPct val="25000"/>
              </a:spcBef>
              <a:buFont typeface="Wingdings" pitchFamily="1" charset="2"/>
              <a:buNone/>
            </a:pPr>
            <a:r>
              <a:rPr lang="en-US" sz="1800" b="1">
                <a:solidFill>
                  <a:schemeClr val="bg1"/>
                </a:solidFill>
                <a:latin typeface="Courier New" pitchFamily="1" charset="0"/>
              </a:rPr>
              <a:t>    Available Bandwidth 1500 kilobits/sec</a:t>
            </a:r>
          </a:p>
          <a:p>
            <a:pPr>
              <a:lnSpc>
                <a:spcPct val="85000"/>
              </a:lnSpc>
            </a:pPr>
            <a:endParaRPr lang="en-US" sz="1800" b="1">
              <a:solidFill>
                <a:schemeClr val="bg1"/>
              </a:solidFill>
              <a:latin typeface="Courier New" pitchFamily="1" charset="0"/>
            </a:endParaRPr>
          </a:p>
          <a:p>
            <a:pPr>
              <a:lnSpc>
                <a:spcPct val="85000"/>
              </a:lnSpc>
            </a:pPr>
            <a:r>
              <a:rPr lang="en-US"/>
              <a:t>This can be seen in the show interface output.  It is the difference between the </a:t>
            </a:r>
            <a:r>
              <a:rPr lang="en-US">
                <a:solidFill>
                  <a:schemeClr val="folHlink"/>
                </a:solidFill>
              </a:rPr>
              <a:t>sum of all reserved bandwidth</a:t>
            </a:r>
            <a:r>
              <a:rPr lang="en-US"/>
              <a:t> and the </a:t>
            </a:r>
            <a:r>
              <a:rPr lang="en-US">
                <a:solidFill>
                  <a:schemeClr val="folHlink"/>
                </a:solidFill>
              </a:rPr>
              <a:t>maximum reservable bandwidth</a:t>
            </a:r>
            <a:r>
              <a:rPr lang="en-US"/>
              <a:t> of the interface (by default 75% of the bandwidth)</a:t>
            </a:r>
          </a:p>
          <a:p>
            <a:pPr>
              <a:lnSpc>
                <a:spcPct val="85000"/>
              </a:lnSpc>
            </a:pPr>
            <a:endParaRPr lang="en-US" sz="1000"/>
          </a:p>
          <a:p>
            <a:pPr>
              <a:lnSpc>
                <a:spcPct val="65000"/>
              </a:lnSpc>
              <a:buSzTx/>
              <a:buFont typeface="Wingdings" pitchFamily="1" charset="2"/>
              <a:buNone/>
            </a:pPr>
            <a:r>
              <a:rPr lang="en-US" sz="1700" u="sng"/>
              <a:t>Example :</a:t>
            </a:r>
          </a:p>
          <a:p>
            <a:pPr>
              <a:lnSpc>
                <a:spcPct val="65000"/>
              </a:lnSpc>
              <a:buSzTx/>
              <a:buFont typeface="Wingdings" pitchFamily="1" charset="2"/>
              <a:buNone/>
            </a:pPr>
            <a:r>
              <a:rPr lang="en-US" sz="1700"/>
              <a:t>ATM pvc SCR = 6M.  75% of 6M is reservable: </a:t>
            </a:r>
          </a:p>
          <a:p>
            <a:pPr lvl="1" indent="0">
              <a:lnSpc>
                <a:spcPct val="65000"/>
              </a:lnSpc>
            </a:pPr>
            <a:r>
              <a:rPr lang="en-US" sz="1700"/>
              <a:t>.75 * 6000000 = 4500000</a:t>
            </a:r>
          </a:p>
          <a:p>
            <a:pPr>
              <a:lnSpc>
                <a:spcPct val="65000"/>
              </a:lnSpc>
              <a:buSzTx/>
              <a:buFont typeface="Wingdings" pitchFamily="1" charset="2"/>
              <a:buNone/>
            </a:pPr>
            <a:r>
              <a:rPr lang="en-US" sz="1700"/>
              <a:t>3M used by voice and data classes: </a:t>
            </a:r>
          </a:p>
          <a:p>
            <a:pPr lvl="1" indent="0">
              <a:lnSpc>
                <a:spcPct val="65000"/>
              </a:lnSpc>
            </a:pPr>
            <a:r>
              <a:rPr lang="en-US" sz="1700"/>
              <a:t>4500000 - 3000000 = 1500000 bps</a:t>
            </a:r>
          </a:p>
          <a:p>
            <a:pPr>
              <a:lnSpc>
                <a:spcPct val="65000"/>
              </a:lnSpc>
              <a:buSzTx/>
              <a:buFont typeface="Wingdings" pitchFamily="1" charset="2"/>
              <a:buNone/>
            </a:pPr>
            <a:r>
              <a:rPr lang="en-US" sz="1700">
                <a:sym typeface="Wingdings" pitchFamily="1" charset="2"/>
              </a:rPr>
              <a:t></a:t>
            </a:r>
            <a:r>
              <a:rPr lang="en-US" sz="1700"/>
              <a:t>Available bandwidth is 1500000 bps. </a:t>
            </a: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ChangeArrowheads="1"/>
          </p:cNvSpPr>
          <p:nvPr/>
        </p:nvSpPr>
        <p:spPr bwMode="auto">
          <a:xfrm>
            <a:off x="2424113" y="1484313"/>
            <a:ext cx="5105400" cy="1219200"/>
          </a:xfrm>
          <a:prstGeom prst="rect">
            <a:avLst/>
          </a:prstGeom>
          <a:solidFill>
            <a:schemeClr val="bg2"/>
          </a:solidFill>
          <a:ln w="9525" algn="ctr">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34819" name="Rectangle 3"/>
          <p:cNvSpPr>
            <a:spLocks noGrp="1" noChangeArrowheads="1"/>
          </p:cNvSpPr>
          <p:nvPr>
            <p:ph type="title"/>
          </p:nvPr>
        </p:nvSpPr>
        <p:spPr/>
        <p:txBody>
          <a:bodyPr/>
          <a:lstStyle/>
          <a:p>
            <a:pPr eaLnBrk="1" hangingPunct="1"/>
            <a:r>
              <a:rPr lang="en-US">
                <a:solidFill>
                  <a:schemeClr val="folHlink"/>
                </a:solidFill>
              </a:rPr>
              <a:t>How Is Unused Bandwidth Allocated?</a:t>
            </a:r>
          </a:p>
        </p:txBody>
      </p:sp>
      <p:sp>
        <p:nvSpPr>
          <p:cNvPr id="34820" name="Rectangle 4"/>
          <p:cNvSpPr>
            <a:spLocks noGrp="1" noChangeArrowheads="1"/>
          </p:cNvSpPr>
          <p:nvPr>
            <p:ph idx="1"/>
          </p:nvPr>
        </p:nvSpPr>
        <p:spPr>
          <a:xfrm>
            <a:off x="2119314" y="1412875"/>
            <a:ext cx="8224837" cy="4495800"/>
          </a:xfrm>
        </p:spPr>
        <p:txBody>
          <a:bodyPr>
            <a:normAutofit fontScale="92500" lnSpcReduction="10000"/>
          </a:bodyPr>
          <a:lstStyle/>
          <a:p>
            <a:pPr>
              <a:buFont typeface="Wingdings" pitchFamily="1" charset="2"/>
              <a:buNone/>
            </a:pPr>
            <a:r>
              <a:rPr lang="en-US" sz="1300" b="1">
                <a:solidFill>
                  <a:schemeClr val="bg1"/>
                </a:solidFill>
                <a:latin typeface="Courier New" pitchFamily="1" charset="0"/>
              </a:rPr>
              <a:t>    </a:t>
            </a:r>
            <a:r>
              <a:rPr lang="en-US" sz="1800" b="1">
                <a:solidFill>
                  <a:schemeClr val="bg1"/>
                </a:solidFill>
                <a:latin typeface="Courier New" pitchFamily="1" charset="0"/>
              </a:rPr>
              <a:t>policy-map foo </a:t>
            </a:r>
          </a:p>
          <a:p>
            <a:pPr>
              <a:lnSpc>
                <a:spcPct val="65000"/>
              </a:lnSpc>
              <a:spcBef>
                <a:spcPct val="20000"/>
              </a:spcBef>
              <a:buFont typeface="Wingdings" pitchFamily="1" charset="2"/>
              <a:buNone/>
            </a:pPr>
            <a:r>
              <a:rPr lang="en-US" sz="1800" b="1">
                <a:solidFill>
                  <a:schemeClr val="bg1"/>
                </a:solidFill>
                <a:latin typeface="Courier New" pitchFamily="1" charset="0"/>
              </a:rPr>
              <a:t>      class bar </a:t>
            </a:r>
          </a:p>
          <a:p>
            <a:pPr>
              <a:lnSpc>
                <a:spcPct val="65000"/>
              </a:lnSpc>
              <a:spcBef>
                <a:spcPct val="20000"/>
              </a:spcBef>
              <a:buFont typeface="Wingdings" pitchFamily="1" charset="2"/>
              <a:buNone/>
            </a:pPr>
            <a:r>
              <a:rPr lang="en-US" sz="1800" b="1">
                <a:solidFill>
                  <a:schemeClr val="bg1"/>
                </a:solidFill>
                <a:latin typeface="Courier New" pitchFamily="1" charset="0"/>
              </a:rPr>
              <a:t>       bandwidth percent 30 </a:t>
            </a:r>
          </a:p>
          <a:p>
            <a:pPr>
              <a:lnSpc>
                <a:spcPct val="65000"/>
              </a:lnSpc>
              <a:spcBef>
                <a:spcPct val="20000"/>
              </a:spcBef>
              <a:buFont typeface="Wingdings" pitchFamily="1" charset="2"/>
              <a:buNone/>
            </a:pPr>
            <a:r>
              <a:rPr lang="en-US" sz="1800" b="1">
                <a:solidFill>
                  <a:schemeClr val="bg1"/>
                </a:solidFill>
                <a:latin typeface="Courier New" pitchFamily="1" charset="0"/>
              </a:rPr>
              <a:t>      class baz </a:t>
            </a:r>
          </a:p>
          <a:p>
            <a:pPr>
              <a:lnSpc>
                <a:spcPct val="65000"/>
              </a:lnSpc>
              <a:spcBef>
                <a:spcPct val="20000"/>
              </a:spcBef>
              <a:buFont typeface="Wingdings" pitchFamily="1" charset="2"/>
              <a:buNone/>
            </a:pPr>
            <a:r>
              <a:rPr lang="en-US" sz="1800" b="1">
                <a:solidFill>
                  <a:schemeClr val="bg1"/>
                </a:solidFill>
                <a:latin typeface="Courier New" pitchFamily="1" charset="0"/>
              </a:rPr>
              <a:t>       bandwidth percent 60</a:t>
            </a:r>
          </a:p>
          <a:p>
            <a:pPr>
              <a:lnSpc>
                <a:spcPct val="65000"/>
              </a:lnSpc>
              <a:spcBef>
                <a:spcPct val="20000"/>
              </a:spcBef>
            </a:pPr>
            <a:endParaRPr lang="en-US" sz="1800" b="1">
              <a:solidFill>
                <a:schemeClr val="bg1"/>
              </a:solidFill>
              <a:latin typeface="Courier New" pitchFamily="1" charset="0"/>
            </a:endParaRPr>
          </a:p>
          <a:p>
            <a:r>
              <a:rPr lang="en-US"/>
              <a:t>With a 1 Mbps link:</a:t>
            </a:r>
          </a:p>
          <a:p>
            <a:pPr lvl="1" indent="0">
              <a:spcBef>
                <a:spcPct val="40000"/>
              </a:spcBef>
            </a:pPr>
            <a:r>
              <a:rPr lang="en-US"/>
              <a:t>300 kbps is guaranteed to class bar.</a:t>
            </a:r>
          </a:p>
          <a:p>
            <a:pPr lvl="1" indent="0">
              <a:spcBef>
                <a:spcPct val="40000"/>
              </a:spcBef>
            </a:pPr>
            <a:r>
              <a:rPr lang="en-US"/>
              <a:t>600 kbps is guaranteed to class baz.</a:t>
            </a:r>
          </a:p>
          <a:p>
            <a:pPr lvl="1" indent="0">
              <a:spcBef>
                <a:spcPct val="40000"/>
              </a:spcBef>
            </a:pPr>
            <a:r>
              <a:rPr lang="en-US"/>
              <a:t>100 kbps is leftover for class-default.  </a:t>
            </a:r>
          </a:p>
          <a:p>
            <a:pPr lvl="1" indent="0">
              <a:spcBef>
                <a:spcPct val="40000"/>
              </a:spcBef>
            </a:pPr>
            <a:r>
              <a:rPr lang="en-US"/>
              <a:t>If class-default does not need it, unused 100 kbps is available for class bar and class baz. </a:t>
            </a:r>
          </a:p>
          <a:p>
            <a:pPr lvl="1" indent="0">
              <a:spcBef>
                <a:spcPct val="40000"/>
              </a:spcBef>
            </a:pPr>
            <a:r>
              <a:rPr lang="en-US"/>
              <a:t>If both classes need it, they share it in proportion to configured rates i.e. 30:60 or 1:2. </a:t>
            </a: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type="title"/>
          </p:nvPr>
        </p:nvSpPr>
        <p:spPr>
          <a:xfrm>
            <a:off x="2165350" y="549275"/>
            <a:ext cx="8610600" cy="609600"/>
          </a:xfrm>
        </p:spPr>
        <p:txBody>
          <a:bodyPr>
            <a:normAutofit fontScale="90000"/>
          </a:bodyPr>
          <a:lstStyle/>
          <a:p>
            <a:pPr eaLnBrk="1" hangingPunct="1"/>
            <a:r>
              <a:rPr lang="en-US">
                <a:solidFill>
                  <a:schemeClr val="folHlink"/>
                </a:solidFill>
              </a:rPr>
              <a:t>CBWFQ: The bandwidth command</a:t>
            </a:r>
          </a:p>
        </p:txBody>
      </p:sp>
      <p:sp>
        <p:nvSpPr>
          <p:cNvPr id="35843" name="Rectangle 4"/>
          <p:cNvSpPr>
            <a:spLocks noGrp="1" noChangeArrowheads="1"/>
          </p:cNvSpPr>
          <p:nvPr>
            <p:ph idx="1"/>
          </p:nvPr>
        </p:nvSpPr>
        <p:spPr>
          <a:xfrm>
            <a:off x="1919288" y="1557338"/>
            <a:ext cx="8534400" cy="3886200"/>
          </a:xfrm>
        </p:spPr>
        <p:txBody>
          <a:bodyPr>
            <a:normAutofit fontScale="92500" lnSpcReduction="20000"/>
          </a:bodyPr>
          <a:lstStyle/>
          <a:p>
            <a:pPr algn="ctr">
              <a:lnSpc>
                <a:spcPct val="85000"/>
              </a:lnSpc>
            </a:pPr>
            <a:endParaRPr lang="en-US" sz="1700"/>
          </a:p>
          <a:p>
            <a:pPr>
              <a:lnSpc>
                <a:spcPct val="85000"/>
              </a:lnSpc>
            </a:pPr>
            <a:r>
              <a:rPr lang="en-US"/>
              <a:t>Provides </a:t>
            </a:r>
            <a:r>
              <a:rPr lang="en-US">
                <a:solidFill>
                  <a:schemeClr val="folHlink"/>
                </a:solidFill>
              </a:rPr>
              <a:t>minimum</a:t>
            </a:r>
            <a:r>
              <a:rPr lang="en-US"/>
              <a:t> guaranteed bandwidth.</a:t>
            </a:r>
          </a:p>
          <a:p>
            <a:pPr>
              <a:lnSpc>
                <a:spcPct val="85000"/>
              </a:lnSpc>
            </a:pPr>
            <a:r>
              <a:rPr lang="en-US"/>
              <a:t>Three ways to use it:</a:t>
            </a:r>
          </a:p>
          <a:p>
            <a:pPr lvl="1" indent="0">
              <a:lnSpc>
                <a:spcPct val="85000"/>
              </a:lnSpc>
            </a:pPr>
            <a:r>
              <a:rPr lang="en-US">
                <a:solidFill>
                  <a:schemeClr val="folHlink"/>
                </a:solidFill>
              </a:rPr>
              <a:t>bandwidth</a:t>
            </a:r>
            <a:r>
              <a:rPr lang="en-US"/>
              <a:t> {kbps} – BW allocation as a bit rate. (12.0(5)T)</a:t>
            </a:r>
          </a:p>
          <a:p>
            <a:pPr lvl="1" indent="0">
              <a:lnSpc>
                <a:spcPct val="85000"/>
              </a:lnSpc>
            </a:pPr>
            <a:r>
              <a:rPr lang="en-US">
                <a:solidFill>
                  <a:schemeClr val="folHlink"/>
                </a:solidFill>
              </a:rPr>
              <a:t>bandwidth</a:t>
            </a:r>
            <a:r>
              <a:rPr lang="en-US">
                <a:solidFill>
                  <a:srgbClr val="FF0000"/>
                </a:solidFill>
              </a:rPr>
              <a:t> </a:t>
            </a:r>
            <a:r>
              <a:rPr lang="en-US">
                <a:solidFill>
                  <a:schemeClr val="folHlink"/>
                </a:solidFill>
              </a:rPr>
              <a:t>percent</a:t>
            </a:r>
            <a:r>
              <a:rPr lang="en-US"/>
              <a:t> {value} – BW allocation as a percentage of the underlying link rate.(12.1(1))</a:t>
            </a:r>
          </a:p>
          <a:p>
            <a:pPr lvl="1" indent="0">
              <a:lnSpc>
                <a:spcPct val="85000"/>
              </a:lnSpc>
            </a:pPr>
            <a:r>
              <a:rPr lang="en-US">
                <a:solidFill>
                  <a:schemeClr val="folHlink"/>
                </a:solidFill>
              </a:rPr>
              <a:t>bandwidth</a:t>
            </a:r>
            <a:r>
              <a:rPr lang="en-US">
                <a:solidFill>
                  <a:srgbClr val="FF0000"/>
                </a:solidFill>
              </a:rPr>
              <a:t> </a:t>
            </a:r>
            <a:r>
              <a:rPr lang="en-US">
                <a:solidFill>
                  <a:schemeClr val="folHlink"/>
                </a:solidFill>
              </a:rPr>
              <a:t>remaining</a:t>
            </a:r>
            <a:r>
              <a:rPr lang="en-US">
                <a:solidFill>
                  <a:srgbClr val="FF0000"/>
                </a:solidFill>
              </a:rPr>
              <a:t> </a:t>
            </a:r>
            <a:r>
              <a:rPr lang="en-US">
                <a:solidFill>
                  <a:schemeClr val="folHlink"/>
                </a:solidFill>
              </a:rPr>
              <a:t>percent</a:t>
            </a:r>
            <a:r>
              <a:rPr lang="en-US"/>
              <a:t> {value} – B/w allocation as % of bandwidth not allocated. (12.2T)</a:t>
            </a:r>
          </a:p>
          <a:p>
            <a:pPr lvl="1" indent="0">
              <a:lnSpc>
                <a:spcPct val="85000"/>
              </a:lnSpc>
            </a:pPr>
            <a:endParaRPr lang="en-US"/>
          </a:p>
          <a:p>
            <a:pPr lvl="1" indent="0">
              <a:lnSpc>
                <a:spcPct val="85000"/>
              </a:lnSpc>
            </a:pPr>
            <a:endParaRPr lang="en-US"/>
          </a:p>
          <a:p>
            <a:pPr lvl="1" indent="0">
              <a:lnSpc>
                <a:spcPct val="85000"/>
              </a:lnSpc>
            </a:pPr>
            <a:r>
              <a:rPr lang="en-US" sz="1600"/>
              <a:t>Calculation for bandwidth percent changes per IOS version and there is a difference between 7500 and low-end.  Check out :</a:t>
            </a:r>
          </a:p>
          <a:p>
            <a:pPr lvl="1" indent="0">
              <a:lnSpc>
                <a:spcPct val="85000"/>
              </a:lnSpc>
            </a:pPr>
            <a:r>
              <a:rPr lang="en-US" sz="1600">
                <a:hlinkClick r:id="rId3"/>
              </a:rPr>
              <a:t>http://www.cisco.com/en/US/partner/tech/tk39/tk48/technologies_tech_note09186a00800fe2c1.shtml#understand</a:t>
            </a:r>
            <a:endParaRPr lang="en-US" sz="1600"/>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solidFill>
                  <a:schemeClr val="folHlink"/>
                </a:solidFill>
              </a:rPr>
              <a:t>CBWFQ: The Queue-limit command</a:t>
            </a:r>
          </a:p>
        </p:txBody>
      </p:sp>
      <p:sp>
        <p:nvSpPr>
          <p:cNvPr id="36867" name="Rectangle 3"/>
          <p:cNvSpPr>
            <a:spLocks noGrp="1" noChangeArrowheads="1"/>
          </p:cNvSpPr>
          <p:nvPr>
            <p:ph idx="1"/>
          </p:nvPr>
        </p:nvSpPr>
        <p:spPr>
          <a:xfrm>
            <a:off x="1979614" y="1828800"/>
            <a:ext cx="8224837" cy="4038600"/>
          </a:xfrm>
        </p:spPr>
        <p:txBody>
          <a:bodyPr/>
          <a:lstStyle/>
          <a:p>
            <a:pPr>
              <a:lnSpc>
                <a:spcPct val="85000"/>
              </a:lnSpc>
            </a:pPr>
            <a:r>
              <a:rPr lang="en-US"/>
              <a:t>The MQC </a:t>
            </a:r>
            <a:r>
              <a:rPr lang="en-US">
                <a:solidFill>
                  <a:schemeClr val="folHlink"/>
                </a:solidFill>
              </a:rPr>
              <a:t>queue-limit</a:t>
            </a:r>
            <a:r>
              <a:rPr lang="en-US"/>
              <a:t> command applies </a:t>
            </a:r>
            <a:r>
              <a:rPr lang="en-US">
                <a:solidFill>
                  <a:schemeClr val="accent2"/>
                </a:solidFill>
              </a:rPr>
              <a:t>only</a:t>
            </a:r>
            <a:r>
              <a:rPr lang="en-US"/>
              <a:t> to CBWFQ classes configured with the bandwidth command.</a:t>
            </a:r>
          </a:p>
          <a:p>
            <a:pPr>
              <a:lnSpc>
                <a:spcPct val="85000"/>
              </a:lnSpc>
            </a:pPr>
            <a:endParaRPr lang="en-US"/>
          </a:p>
          <a:p>
            <a:pPr>
              <a:lnSpc>
                <a:spcPct val="85000"/>
              </a:lnSpc>
            </a:pPr>
            <a:r>
              <a:rPr lang="en-US"/>
              <a:t>It is the </a:t>
            </a:r>
            <a:r>
              <a:rPr lang="en-US">
                <a:solidFill>
                  <a:schemeClr val="folHlink"/>
                </a:solidFill>
              </a:rPr>
              <a:t>size of the queue</a:t>
            </a:r>
            <a:r>
              <a:rPr lang="en-US"/>
              <a:t>.</a:t>
            </a:r>
          </a:p>
          <a:p>
            <a:pPr>
              <a:lnSpc>
                <a:spcPct val="85000"/>
              </a:lnSpc>
            </a:pPr>
            <a:endParaRPr lang="en-US"/>
          </a:p>
          <a:p>
            <a:pPr>
              <a:lnSpc>
                <a:spcPct val="85000"/>
              </a:lnSpc>
            </a:pPr>
            <a:r>
              <a:rPr lang="en-US"/>
              <a:t>Default queue-limit value varies with the platform. For low-end, the default value is often</a:t>
            </a:r>
            <a:r>
              <a:rPr lang="en-US">
                <a:solidFill>
                  <a:schemeClr val="folHlink"/>
                </a:solidFill>
              </a:rPr>
              <a:t> 64</a:t>
            </a:r>
            <a:r>
              <a:rPr lang="en-US"/>
              <a:t>.  </a:t>
            </a:r>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solidFill>
                  <a:schemeClr val="folHlink"/>
                </a:solidFill>
              </a:rPr>
              <a:t>Review Questions</a:t>
            </a:r>
          </a:p>
        </p:txBody>
      </p:sp>
      <p:sp>
        <p:nvSpPr>
          <p:cNvPr id="201731" name="Rectangle 3"/>
          <p:cNvSpPr>
            <a:spLocks noGrp="1" noChangeArrowheads="1"/>
          </p:cNvSpPr>
          <p:nvPr>
            <p:ph idx="1"/>
          </p:nvPr>
        </p:nvSpPr>
        <p:spPr>
          <a:xfrm>
            <a:off x="2179639" y="1196976"/>
            <a:ext cx="7940675" cy="4600575"/>
          </a:xfrm>
        </p:spPr>
        <p:txBody>
          <a:bodyPr>
            <a:normAutofit lnSpcReduction="10000"/>
          </a:bodyPr>
          <a:lstStyle/>
          <a:p>
            <a:endParaRPr lang="en-US"/>
          </a:p>
          <a:p>
            <a:r>
              <a:rPr lang="en-US"/>
              <a:t>If bandwidth is configured, which queuing is used within the class ?</a:t>
            </a:r>
          </a:p>
          <a:p>
            <a:r>
              <a:rPr lang="en-US"/>
              <a:t>What happens when bandwidth is configured in the class-default ?</a:t>
            </a:r>
          </a:p>
          <a:p>
            <a:r>
              <a:rPr lang="en-US"/>
              <a:t>You are trying to have three classes reserving 4 Megs, 2 Megs and 2 Megs on your 10 Megs Ethernet, but the router complains about not having enough bandwidth for that.  What could be the reason ?</a:t>
            </a:r>
          </a:p>
          <a:p>
            <a:r>
              <a:rPr lang="en-US"/>
              <a:t>Which DiffServ PHB bandwidth could be linked to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7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7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173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17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solidFill>
                  <a:schemeClr val="folHlink"/>
                </a:solidFill>
              </a:rPr>
              <a:t>Low Latency Queuing (PQCBWFQ)</a:t>
            </a:r>
          </a:p>
        </p:txBody>
      </p:sp>
      <p:sp>
        <p:nvSpPr>
          <p:cNvPr id="38915" name="Rectangle 3"/>
          <p:cNvSpPr>
            <a:spLocks noGrp="1" noChangeArrowheads="1"/>
          </p:cNvSpPr>
          <p:nvPr>
            <p:ph idx="1"/>
          </p:nvPr>
        </p:nvSpPr>
        <p:spPr>
          <a:xfrm>
            <a:off x="2179639" y="1781176"/>
            <a:ext cx="7940675" cy="4456113"/>
          </a:xfrm>
        </p:spPr>
        <p:txBody>
          <a:bodyPr>
            <a:normAutofit lnSpcReduction="10000"/>
          </a:bodyPr>
          <a:lstStyle/>
          <a:p>
            <a:r>
              <a:rPr lang="en-US"/>
              <a:t>Bandwidth matches AF PHB.  We need a mechanism for EF PHP that provides low delay guarantees.</a:t>
            </a:r>
          </a:p>
          <a:p>
            <a:r>
              <a:rPr lang="en-US"/>
              <a:t>So this should also implement both a </a:t>
            </a:r>
            <a:r>
              <a:rPr lang="en-US">
                <a:solidFill>
                  <a:schemeClr val="folHlink"/>
                </a:solidFill>
              </a:rPr>
              <a:t>minimum</a:t>
            </a:r>
            <a:r>
              <a:rPr lang="en-US"/>
              <a:t> and a </a:t>
            </a:r>
            <a:r>
              <a:rPr lang="en-US">
                <a:solidFill>
                  <a:schemeClr val="folHlink"/>
                </a:solidFill>
              </a:rPr>
              <a:t>maximum</a:t>
            </a:r>
            <a:r>
              <a:rPr lang="en-US"/>
              <a:t> bandwidth.</a:t>
            </a:r>
          </a:p>
          <a:p>
            <a:r>
              <a:rPr lang="en-US"/>
              <a:t>This is done simply by creating a class with a weight of </a:t>
            </a:r>
            <a:r>
              <a:rPr lang="en-US">
                <a:solidFill>
                  <a:schemeClr val="folHlink"/>
                </a:solidFill>
              </a:rPr>
              <a:t>zero</a:t>
            </a:r>
            <a:r>
              <a:rPr lang="en-US"/>
              <a:t> and a built-in policer that prevents it from starving the other classes.</a:t>
            </a:r>
          </a:p>
          <a:p>
            <a:endParaRPr lang="en-US"/>
          </a:p>
          <a:p>
            <a:r>
              <a:rPr lang="en-US"/>
              <a:t>This is obviously used for traffic such as voice and real-time video</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GB">
                <a:solidFill>
                  <a:schemeClr val="folHlink"/>
                </a:solidFill>
              </a:rPr>
              <a:t>Low Latency Queuing (PQCBWFQ)</a:t>
            </a:r>
          </a:p>
        </p:txBody>
      </p:sp>
      <p:sp>
        <p:nvSpPr>
          <p:cNvPr id="205827" name="Line 3"/>
          <p:cNvSpPr>
            <a:spLocks noChangeShapeType="1"/>
          </p:cNvSpPr>
          <p:nvPr/>
        </p:nvSpPr>
        <p:spPr bwMode="auto">
          <a:xfrm>
            <a:off x="8293100" y="3908425"/>
            <a:ext cx="1455738" cy="52070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28" name="Line 4"/>
          <p:cNvSpPr>
            <a:spLocks noChangeShapeType="1"/>
          </p:cNvSpPr>
          <p:nvPr/>
        </p:nvSpPr>
        <p:spPr bwMode="auto">
          <a:xfrm flipH="1">
            <a:off x="8293100" y="4040189"/>
            <a:ext cx="0" cy="71278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29" name="Line 5"/>
          <p:cNvSpPr>
            <a:spLocks noChangeShapeType="1"/>
          </p:cNvSpPr>
          <p:nvPr/>
        </p:nvSpPr>
        <p:spPr bwMode="auto">
          <a:xfrm flipH="1">
            <a:off x="6913564" y="4040188"/>
            <a:ext cx="1303337" cy="116681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30" name="Line 6"/>
          <p:cNvSpPr>
            <a:spLocks noChangeShapeType="1"/>
          </p:cNvSpPr>
          <p:nvPr/>
        </p:nvSpPr>
        <p:spPr bwMode="auto">
          <a:xfrm>
            <a:off x="1966914" y="4298950"/>
            <a:ext cx="1587" cy="147955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31" name="Line 7"/>
          <p:cNvSpPr>
            <a:spLocks noChangeShapeType="1"/>
          </p:cNvSpPr>
          <p:nvPr/>
        </p:nvSpPr>
        <p:spPr bwMode="auto">
          <a:xfrm>
            <a:off x="2732089" y="4492626"/>
            <a:ext cx="3175" cy="131762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32" name="Line 8"/>
          <p:cNvSpPr>
            <a:spLocks noChangeShapeType="1"/>
          </p:cNvSpPr>
          <p:nvPr/>
        </p:nvSpPr>
        <p:spPr bwMode="auto">
          <a:xfrm>
            <a:off x="3422650" y="4689476"/>
            <a:ext cx="1588" cy="116522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33" name="Line 9"/>
          <p:cNvSpPr>
            <a:spLocks noChangeShapeType="1"/>
          </p:cNvSpPr>
          <p:nvPr/>
        </p:nvSpPr>
        <p:spPr bwMode="auto">
          <a:xfrm>
            <a:off x="4265614" y="5078414"/>
            <a:ext cx="1587" cy="74453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39946" name="Rectangle 10"/>
          <p:cNvSpPr>
            <a:spLocks noChangeArrowheads="1"/>
          </p:cNvSpPr>
          <p:nvPr/>
        </p:nvSpPr>
        <p:spPr bwMode="auto">
          <a:xfrm>
            <a:off x="1781175" y="5868988"/>
            <a:ext cx="8656638" cy="379412"/>
          </a:xfrm>
          <a:prstGeom prst="rect">
            <a:avLst/>
          </a:prstGeom>
          <a:solidFill>
            <a:schemeClr val="hlink"/>
          </a:solidFill>
          <a:ln w="25400">
            <a:solidFill>
              <a:schemeClr val="tx1"/>
            </a:solidFill>
            <a:miter lim="800000"/>
            <a:headEnd/>
            <a:tailEnd/>
          </a:ln>
        </p:spPr>
        <p:txBody>
          <a:bodyPr wrap="none" anchor="ctr">
            <a:prstTxWarp prst="textNoShape">
              <a:avLst/>
            </a:prstTxWarp>
          </a:bodyPr>
          <a:lstStyle/>
          <a:p>
            <a:endParaRPr lang="en-US"/>
          </a:p>
        </p:txBody>
      </p:sp>
      <p:sp>
        <p:nvSpPr>
          <p:cNvPr id="39947" name="Rectangle 11"/>
          <p:cNvSpPr>
            <a:spLocks noChangeArrowheads="1"/>
          </p:cNvSpPr>
          <p:nvPr/>
        </p:nvSpPr>
        <p:spPr bwMode="auto">
          <a:xfrm>
            <a:off x="4188377" y="5856289"/>
            <a:ext cx="3894625" cy="390531"/>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lnSpc>
                <a:spcPct val="100000"/>
              </a:lnSpc>
            </a:pPr>
            <a:r>
              <a:rPr lang="en-GB" sz="1800" b="1">
                <a:solidFill>
                  <a:schemeClr val="bg1"/>
                </a:solidFill>
              </a:rPr>
              <a:t>Scheduling based on Finish Time</a:t>
            </a:r>
          </a:p>
        </p:txBody>
      </p:sp>
      <p:sp>
        <p:nvSpPr>
          <p:cNvPr id="39948" name="Rectangle 12"/>
          <p:cNvSpPr>
            <a:spLocks noChangeArrowheads="1"/>
          </p:cNvSpPr>
          <p:nvPr/>
        </p:nvSpPr>
        <p:spPr bwMode="auto">
          <a:xfrm>
            <a:off x="1695451" y="3975101"/>
            <a:ext cx="1439863" cy="277813"/>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39949" name="Rectangle 13"/>
          <p:cNvSpPr>
            <a:spLocks noChangeArrowheads="1"/>
          </p:cNvSpPr>
          <p:nvPr/>
        </p:nvSpPr>
        <p:spPr bwMode="auto">
          <a:xfrm>
            <a:off x="1884131" y="3975101"/>
            <a:ext cx="1167276" cy="390531"/>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lnSpc>
                <a:spcPct val="100000"/>
              </a:lnSpc>
            </a:pPr>
            <a:r>
              <a:rPr lang="en-GB" sz="1800" b="1"/>
              <a:t>Class #1</a:t>
            </a:r>
          </a:p>
        </p:txBody>
      </p:sp>
      <p:grpSp>
        <p:nvGrpSpPr>
          <p:cNvPr id="39950" name="Group 14"/>
          <p:cNvGrpSpPr>
            <a:grpSpLocks/>
          </p:cNvGrpSpPr>
          <p:nvPr/>
        </p:nvGrpSpPr>
        <p:grpSpPr bwMode="auto">
          <a:xfrm>
            <a:off x="2462214" y="4298948"/>
            <a:ext cx="1438275" cy="390891"/>
            <a:chOff x="1562" y="2717"/>
            <a:chExt cx="902" cy="291"/>
          </a:xfrm>
        </p:grpSpPr>
        <p:sp>
          <p:nvSpPr>
            <p:cNvPr id="39984" name="Rectangle 15"/>
            <p:cNvSpPr>
              <a:spLocks noChangeArrowheads="1"/>
            </p:cNvSpPr>
            <p:nvPr/>
          </p:nvSpPr>
          <p:spPr bwMode="auto">
            <a:xfrm>
              <a:off x="1562" y="2729"/>
              <a:ext cx="902" cy="206"/>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39985" name="Rectangle 16"/>
            <p:cNvSpPr>
              <a:spLocks noChangeArrowheads="1"/>
            </p:cNvSpPr>
            <p:nvPr/>
          </p:nvSpPr>
          <p:spPr bwMode="auto">
            <a:xfrm>
              <a:off x="1648" y="2717"/>
              <a:ext cx="732" cy="291"/>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lnSpc>
                  <a:spcPct val="100000"/>
                </a:lnSpc>
              </a:pPr>
              <a:r>
                <a:rPr lang="en-GB" sz="1800" b="1"/>
                <a:t>Class #2</a:t>
              </a:r>
            </a:p>
          </p:txBody>
        </p:sp>
      </p:grpSp>
      <p:grpSp>
        <p:nvGrpSpPr>
          <p:cNvPr id="39951" name="Group 17"/>
          <p:cNvGrpSpPr>
            <a:grpSpLocks/>
          </p:cNvGrpSpPr>
          <p:nvPr/>
        </p:nvGrpSpPr>
        <p:grpSpPr bwMode="auto">
          <a:xfrm>
            <a:off x="3302000" y="4622799"/>
            <a:ext cx="1441450" cy="391177"/>
            <a:chOff x="1682" y="2830"/>
            <a:chExt cx="902" cy="289"/>
          </a:xfrm>
        </p:grpSpPr>
        <p:sp>
          <p:nvSpPr>
            <p:cNvPr id="39982" name="Rectangle 18"/>
            <p:cNvSpPr>
              <a:spLocks noChangeArrowheads="1"/>
            </p:cNvSpPr>
            <p:nvPr/>
          </p:nvSpPr>
          <p:spPr bwMode="auto">
            <a:xfrm>
              <a:off x="1682" y="2841"/>
              <a:ext cx="902" cy="206"/>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39983" name="Rectangle 19"/>
            <p:cNvSpPr>
              <a:spLocks noChangeArrowheads="1"/>
            </p:cNvSpPr>
            <p:nvPr/>
          </p:nvSpPr>
          <p:spPr bwMode="auto">
            <a:xfrm>
              <a:off x="1769" y="2830"/>
              <a:ext cx="730" cy="289"/>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lnSpc>
                  <a:spcPct val="100000"/>
                </a:lnSpc>
              </a:pPr>
              <a:r>
                <a:rPr lang="en-GB" sz="1800" b="1"/>
                <a:t>Class #3</a:t>
              </a:r>
            </a:p>
          </p:txBody>
        </p:sp>
      </p:grpSp>
      <p:grpSp>
        <p:nvGrpSpPr>
          <p:cNvPr id="39952" name="Group 20"/>
          <p:cNvGrpSpPr>
            <a:grpSpLocks/>
          </p:cNvGrpSpPr>
          <p:nvPr/>
        </p:nvGrpSpPr>
        <p:grpSpPr bwMode="auto">
          <a:xfrm>
            <a:off x="4144963" y="4948236"/>
            <a:ext cx="1441450" cy="391176"/>
            <a:chOff x="1794" y="2950"/>
            <a:chExt cx="902" cy="289"/>
          </a:xfrm>
        </p:grpSpPr>
        <p:sp>
          <p:nvSpPr>
            <p:cNvPr id="39980" name="Rectangle 21"/>
            <p:cNvSpPr>
              <a:spLocks noChangeArrowheads="1"/>
            </p:cNvSpPr>
            <p:nvPr/>
          </p:nvSpPr>
          <p:spPr bwMode="auto">
            <a:xfrm>
              <a:off x="1794" y="2961"/>
              <a:ext cx="902" cy="206"/>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39981" name="Rectangle 22"/>
            <p:cNvSpPr>
              <a:spLocks noChangeArrowheads="1"/>
            </p:cNvSpPr>
            <p:nvPr/>
          </p:nvSpPr>
          <p:spPr bwMode="auto">
            <a:xfrm>
              <a:off x="1881" y="2950"/>
              <a:ext cx="730" cy="289"/>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lnSpc>
                  <a:spcPct val="100000"/>
                </a:lnSpc>
              </a:pPr>
              <a:r>
                <a:rPr lang="en-GB" sz="1800" b="1"/>
                <a:t>Class #4</a:t>
              </a:r>
            </a:p>
          </p:txBody>
        </p:sp>
      </p:grpSp>
      <p:sp>
        <p:nvSpPr>
          <p:cNvPr id="205847" name="Line 23"/>
          <p:cNvSpPr>
            <a:spLocks noChangeShapeType="1"/>
          </p:cNvSpPr>
          <p:nvPr/>
        </p:nvSpPr>
        <p:spPr bwMode="auto">
          <a:xfrm flipH="1">
            <a:off x="3082925" y="3154363"/>
            <a:ext cx="2471738" cy="75406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48" name="Line 24"/>
          <p:cNvSpPr>
            <a:spLocks noChangeShapeType="1"/>
          </p:cNvSpPr>
          <p:nvPr/>
        </p:nvSpPr>
        <p:spPr bwMode="auto">
          <a:xfrm flipH="1">
            <a:off x="3925889" y="3186114"/>
            <a:ext cx="1665287" cy="111283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49" name="Line 25"/>
          <p:cNvSpPr>
            <a:spLocks noChangeShapeType="1"/>
          </p:cNvSpPr>
          <p:nvPr/>
        </p:nvSpPr>
        <p:spPr bwMode="auto">
          <a:xfrm flipH="1">
            <a:off x="5305425" y="3251200"/>
            <a:ext cx="374650" cy="1697038"/>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50" name="Line 26"/>
          <p:cNvSpPr>
            <a:spLocks noChangeShapeType="1"/>
          </p:cNvSpPr>
          <p:nvPr/>
        </p:nvSpPr>
        <p:spPr bwMode="auto">
          <a:xfrm>
            <a:off x="6837364" y="2936876"/>
            <a:ext cx="1455737" cy="519113"/>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51" name="Line 27"/>
          <p:cNvSpPr>
            <a:spLocks noChangeShapeType="1"/>
          </p:cNvSpPr>
          <p:nvPr/>
        </p:nvSpPr>
        <p:spPr bwMode="auto">
          <a:xfrm flipH="1">
            <a:off x="4538663" y="3217864"/>
            <a:ext cx="1104900" cy="1404937"/>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52" name="Line 28"/>
          <p:cNvSpPr>
            <a:spLocks noChangeShapeType="1"/>
          </p:cNvSpPr>
          <p:nvPr/>
        </p:nvSpPr>
        <p:spPr bwMode="auto">
          <a:xfrm>
            <a:off x="6019800" y="1797050"/>
            <a:ext cx="1588" cy="558800"/>
          </a:xfrm>
          <a:prstGeom prst="line">
            <a:avLst/>
          </a:prstGeom>
          <a:noFill/>
          <a:ln w="25400">
            <a:solidFill>
              <a:schemeClr val="bg2"/>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53" name="Freeform 29"/>
          <p:cNvSpPr>
            <a:spLocks/>
          </p:cNvSpPr>
          <p:nvPr/>
        </p:nvSpPr>
        <p:spPr bwMode="auto">
          <a:xfrm>
            <a:off x="5200651" y="2386014"/>
            <a:ext cx="1649413" cy="1095375"/>
          </a:xfrm>
          <a:custGeom>
            <a:avLst/>
            <a:gdLst/>
            <a:ahLst/>
            <a:cxnLst>
              <a:cxn ang="0">
                <a:pos x="459" y="0"/>
              </a:cxn>
              <a:cxn ang="0">
                <a:pos x="0" y="359"/>
              </a:cxn>
              <a:cxn ang="0">
                <a:pos x="459" y="719"/>
              </a:cxn>
              <a:cxn ang="0">
                <a:pos x="918" y="359"/>
              </a:cxn>
              <a:cxn ang="0">
                <a:pos x="459" y="0"/>
              </a:cxn>
            </a:cxnLst>
            <a:rect l="0" t="0" r="r" b="b"/>
            <a:pathLst>
              <a:path w="919" h="720">
                <a:moveTo>
                  <a:pt x="459" y="0"/>
                </a:moveTo>
                <a:lnTo>
                  <a:pt x="0" y="359"/>
                </a:lnTo>
                <a:lnTo>
                  <a:pt x="459" y="719"/>
                </a:lnTo>
                <a:lnTo>
                  <a:pt x="918" y="359"/>
                </a:lnTo>
                <a:lnTo>
                  <a:pt x="459" y="0"/>
                </a:lnTo>
              </a:path>
            </a:pathLst>
          </a:custGeom>
          <a:solidFill>
            <a:schemeClr val="folHlink"/>
          </a:solidFill>
          <a:ln w="25400" cap="rnd" cmpd="sng">
            <a:solidFill>
              <a:schemeClr val="tx1"/>
            </a:solidFill>
            <a:prstDash val="solid"/>
            <a:round/>
            <a:headEnd type="none" w="med" len="med"/>
            <a:tailEnd type="none" w="med" len="med"/>
          </a:ln>
          <a:effectLst>
            <a:outerShdw dist="35921" dir="2700000" algn="ctr" rotWithShape="0">
              <a:schemeClr val="tx1"/>
            </a:outerShdw>
          </a:effectLst>
        </p:spPr>
        <p:txBody>
          <a:bodyPr/>
          <a:lstStyle/>
          <a:p>
            <a:pPr>
              <a:defRPr/>
            </a:pPr>
            <a:endParaRPr lang="en-US">
              <a:latin typeface="Arial" charset="0"/>
            </a:endParaRPr>
          </a:p>
        </p:txBody>
      </p:sp>
      <p:sp>
        <p:nvSpPr>
          <p:cNvPr id="39960" name="Rectangle 30"/>
          <p:cNvSpPr>
            <a:spLocks noChangeArrowheads="1"/>
          </p:cNvSpPr>
          <p:nvPr/>
        </p:nvSpPr>
        <p:spPr bwMode="auto">
          <a:xfrm>
            <a:off x="5349757" y="2674938"/>
            <a:ext cx="1308339" cy="612130"/>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r>
              <a:rPr lang="en-GB" sz="1800" b="1">
                <a:solidFill>
                  <a:schemeClr val="bg1"/>
                </a:solidFill>
              </a:rPr>
              <a:t> Per class</a:t>
            </a:r>
          </a:p>
          <a:p>
            <a:pPr defTabSz="1157288"/>
            <a:r>
              <a:rPr lang="en-GB" sz="1800" b="1">
                <a:solidFill>
                  <a:schemeClr val="bg1"/>
                </a:solidFill>
              </a:rPr>
              <a:t>(ACL)</a:t>
            </a:r>
          </a:p>
        </p:txBody>
      </p:sp>
      <p:sp>
        <p:nvSpPr>
          <p:cNvPr id="205855" name="Freeform 31"/>
          <p:cNvSpPr>
            <a:spLocks/>
          </p:cNvSpPr>
          <p:nvPr/>
        </p:nvSpPr>
        <p:spPr bwMode="auto">
          <a:xfrm>
            <a:off x="5200651" y="1457325"/>
            <a:ext cx="1649413" cy="617538"/>
          </a:xfrm>
          <a:custGeom>
            <a:avLst/>
            <a:gdLst/>
            <a:ahLst/>
            <a:cxnLst>
              <a:cxn ang="0">
                <a:pos x="70" y="0"/>
              </a:cxn>
              <a:cxn ang="0">
                <a:pos x="0" y="203"/>
              </a:cxn>
              <a:cxn ang="0">
                <a:pos x="70" y="406"/>
              </a:cxn>
              <a:cxn ang="0">
                <a:pos x="847" y="406"/>
              </a:cxn>
              <a:cxn ang="0">
                <a:pos x="918" y="203"/>
              </a:cxn>
              <a:cxn ang="0">
                <a:pos x="847" y="0"/>
              </a:cxn>
              <a:cxn ang="0">
                <a:pos x="70" y="0"/>
              </a:cxn>
            </a:cxnLst>
            <a:rect l="0" t="0" r="r" b="b"/>
            <a:pathLst>
              <a:path w="919" h="407">
                <a:moveTo>
                  <a:pt x="70" y="0"/>
                </a:moveTo>
                <a:lnTo>
                  <a:pt x="0" y="203"/>
                </a:lnTo>
                <a:lnTo>
                  <a:pt x="70" y="406"/>
                </a:lnTo>
                <a:lnTo>
                  <a:pt x="847" y="406"/>
                </a:lnTo>
                <a:lnTo>
                  <a:pt x="918" y="203"/>
                </a:lnTo>
                <a:lnTo>
                  <a:pt x="847" y="0"/>
                </a:lnTo>
                <a:lnTo>
                  <a:pt x="70" y="0"/>
                </a:lnTo>
              </a:path>
            </a:pathLst>
          </a:custGeom>
          <a:solidFill>
            <a:schemeClr val="folHlink"/>
          </a:solidFill>
          <a:ln w="25400" cap="rnd" cmpd="sng">
            <a:solidFill>
              <a:schemeClr val="tx1"/>
            </a:solidFill>
            <a:prstDash val="solid"/>
            <a:round/>
            <a:headEnd type="none" w="med" len="med"/>
            <a:tailEnd type="none" w="med" len="med"/>
          </a:ln>
          <a:effectLst>
            <a:outerShdw dist="35921" dir="2700000" algn="ctr" rotWithShape="0">
              <a:schemeClr val="tx1"/>
            </a:outerShdw>
          </a:effectLst>
        </p:spPr>
        <p:txBody>
          <a:bodyPr/>
          <a:lstStyle/>
          <a:p>
            <a:pPr>
              <a:defRPr/>
            </a:pPr>
            <a:endParaRPr lang="en-US">
              <a:latin typeface="Arial" charset="0"/>
            </a:endParaRPr>
          </a:p>
        </p:txBody>
      </p:sp>
      <p:sp>
        <p:nvSpPr>
          <p:cNvPr id="39962" name="Rectangle 32"/>
          <p:cNvSpPr>
            <a:spLocks noChangeArrowheads="1"/>
          </p:cNvSpPr>
          <p:nvPr/>
        </p:nvSpPr>
        <p:spPr bwMode="auto">
          <a:xfrm>
            <a:off x="5346334" y="1617664"/>
            <a:ext cx="1359635" cy="390531"/>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lnSpc>
                <a:spcPct val="100000"/>
              </a:lnSpc>
            </a:pPr>
            <a:r>
              <a:rPr lang="en-GB" sz="1800" b="1">
                <a:solidFill>
                  <a:schemeClr val="bg1"/>
                </a:solidFill>
              </a:rPr>
              <a:t>Forwarder</a:t>
            </a:r>
          </a:p>
        </p:txBody>
      </p:sp>
      <p:sp>
        <p:nvSpPr>
          <p:cNvPr id="205857" name="Freeform 33"/>
          <p:cNvSpPr>
            <a:spLocks/>
          </p:cNvSpPr>
          <p:nvPr/>
        </p:nvSpPr>
        <p:spPr bwMode="auto">
          <a:xfrm>
            <a:off x="7450138" y="3455989"/>
            <a:ext cx="1649412" cy="1093787"/>
          </a:xfrm>
          <a:custGeom>
            <a:avLst/>
            <a:gdLst/>
            <a:ahLst/>
            <a:cxnLst>
              <a:cxn ang="0">
                <a:pos x="459" y="0"/>
              </a:cxn>
              <a:cxn ang="0">
                <a:pos x="0" y="359"/>
              </a:cxn>
              <a:cxn ang="0">
                <a:pos x="459" y="719"/>
              </a:cxn>
              <a:cxn ang="0">
                <a:pos x="918" y="359"/>
              </a:cxn>
              <a:cxn ang="0">
                <a:pos x="459" y="0"/>
              </a:cxn>
            </a:cxnLst>
            <a:rect l="0" t="0" r="r" b="b"/>
            <a:pathLst>
              <a:path w="919" h="720">
                <a:moveTo>
                  <a:pt x="459" y="0"/>
                </a:moveTo>
                <a:lnTo>
                  <a:pt x="0" y="359"/>
                </a:lnTo>
                <a:lnTo>
                  <a:pt x="459" y="719"/>
                </a:lnTo>
                <a:lnTo>
                  <a:pt x="918" y="359"/>
                </a:lnTo>
                <a:lnTo>
                  <a:pt x="459" y="0"/>
                </a:lnTo>
              </a:path>
            </a:pathLst>
          </a:custGeom>
          <a:solidFill>
            <a:schemeClr val="folHlink"/>
          </a:solidFill>
          <a:ln w="25400" cap="rnd" cmpd="sng">
            <a:solidFill>
              <a:schemeClr val="tx1"/>
            </a:solidFill>
            <a:prstDash val="solid"/>
            <a:round/>
            <a:headEnd type="none" w="med" len="med"/>
            <a:tailEnd type="none" w="med" len="med"/>
          </a:ln>
          <a:effectLst>
            <a:outerShdw dist="35921" dir="2700000" algn="ctr" rotWithShape="0">
              <a:schemeClr val="tx1"/>
            </a:outerShdw>
          </a:effectLst>
        </p:spPr>
        <p:txBody>
          <a:bodyPr/>
          <a:lstStyle/>
          <a:p>
            <a:pPr>
              <a:defRPr/>
            </a:pPr>
            <a:endParaRPr lang="en-US">
              <a:latin typeface="Arial" charset="0"/>
            </a:endParaRPr>
          </a:p>
        </p:txBody>
      </p:sp>
      <p:sp>
        <p:nvSpPr>
          <p:cNvPr id="39964" name="Rectangle 34"/>
          <p:cNvSpPr>
            <a:spLocks noChangeArrowheads="1"/>
          </p:cNvSpPr>
          <p:nvPr/>
        </p:nvSpPr>
        <p:spPr bwMode="auto">
          <a:xfrm>
            <a:off x="7643814" y="3714751"/>
            <a:ext cx="1182687" cy="606425"/>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r>
              <a:rPr lang="en-GB" sz="1800" b="1">
                <a:solidFill>
                  <a:schemeClr val="bg1"/>
                </a:solidFill>
              </a:rPr>
              <a:t> Per flow</a:t>
            </a:r>
          </a:p>
          <a:p>
            <a:pPr defTabSz="1157288"/>
            <a:r>
              <a:rPr lang="en-GB" sz="1800" b="1">
                <a:solidFill>
                  <a:schemeClr val="bg1"/>
                </a:solidFill>
              </a:rPr>
              <a:t>(hash)</a:t>
            </a:r>
          </a:p>
        </p:txBody>
      </p:sp>
      <p:sp>
        <p:nvSpPr>
          <p:cNvPr id="39965" name="Rectangle 35"/>
          <p:cNvSpPr>
            <a:spLocks noChangeArrowheads="1"/>
          </p:cNvSpPr>
          <p:nvPr/>
        </p:nvSpPr>
        <p:spPr bwMode="auto">
          <a:xfrm>
            <a:off x="6530976" y="5207000"/>
            <a:ext cx="1438275" cy="279400"/>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grpSp>
        <p:nvGrpSpPr>
          <p:cNvPr id="39966" name="Group 36"/>
          <p:cNvGrpSpPr>
            <a:grpSpLocks/>
          </p:cNvGrpSpPr>
          <p:nvPr/>
        </p:nvGrpSpPr>
        <p:grpSpPr bwMode="auto">
          <a:xfrm>
            <a:off x="7373939" y="4752974"/>
            <a:ext cx="1438275" cy="391177"/>
            <a:chOff x="1562" y="2718"/>
            <a:chExt cx="902" cy="289"/>
          </a:xfrm>
        </p:grpSpPr>
        <p:sp>
          <p:nvSpPr>
            <p:cNvPr id="39978" name="Rectangle 37"/>
            <p:cNvSpPr>
              <a:spLocks noChangeArrowheads="1"/>
            </p:cNvSpPr>
            <p:nvPr/>
          </p:nvSpPr>
          <p:spPr bwMode="auto">
            <a:xfrm>
              <a:off x="1562" y="2729"/>
              <a:ext cx="902" cy="206"/>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39979" name="Rectangle 38"/>
            <p:cNvSpPr>
              <a:spLocks noChangeArrowheads="1"/>
            </p:cNvSpPr>
            <p:nvPr/>
          </p:nvSpPr>
          <p:spPr bwMode="auto">
            <a:xfrm>
              <a:off x="1679" y="2718"/>
              <a:ext cx="676" cy="289"/>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lnSpc>
                  <a:spcPct val="100000"/>
                </a:lnSpc>
              </a:pPr>
              <a:r>
                <a:rPr lang="en-GB" sz="1800" b="1"/>
                <a:t>Flow #2</a:t>
              </a:r>
            </a:p>
          </p:txBody>
        </p:sp>
      </p:grpSp>
      <p:grpSp>
        <p:nvGrpSpPr>
          <p:cNvPr id="39967" name="Group 39"/>
          <p:cNvGrpSpPr>
            <a:grpSpLocks/>
          </p:cNvGrpSpPr>
          <p:nvPr/>
        </p:nvGrpSpPr>
        <p:grpSpPr bwMode="auto">
          <a:xfrm>
            <a:off x="8982076" y="4429124"/>
            <a:ext cx="1439863" cy="391177"/>
            <a:chOff x="1682" y="2830"/>
            <a:chExt cx="902" cy="289"/>
          </a:xfrm>
        </p:grpSpPr>
        <p:sp>
          <p:nvSpPr>
            <p:cNvPr id="39976" name="Rectangle 40"/>
            <p:cNvSpPr>
              <a:spLocks noChangeArrowheads="1"/>
            </p:cNvSpPr>
            <p:nvPr/>
          </p:nvSpPr>
          <p:spPr bwMode="auto">
            <a:xfrm>
              <a:off x="1682" y="2841"/>
              <a:ext cx="902" cy="206"/>
            </a:xfrm>
            <a:prstGeom prst="rect">
              <a:avLst/>
            </a:prstGeom>
            <a:gradFill rotWithShape="0">
              <a:gsLst>
                <a:gs pos="0">
                  <a:srgbClr val="007C40"/>
                </a:gs>
                <a:gs pos="50000">
                  <a:srgbClr val="00B15B"/>
                </a:gs>
                <a:gs pos="100000">
                  <a:srgbClr val="007C40"/>
                </a:gs>
              </a:gsLst>
              <a:lin ang="2700000" scaled="1"/>
            </a:gradFill>
            <a:ln w="25400">
              <a:solidFill>
                <a:srgbClr val="00B15B"/>
              </a:solidFill>
              <a:miter lim="800000"/>
              <a:headEnd/>
              <a:tailEnd/>
            </a:ln>
          </p:spPr>
          <p:txBody>
            <a:bodyPr wrap="none" anchor="ctr">
              <a:prstTxWarp prst="textNoShape">
                <a:avLst/>
              </a:prstTxWarp>
            </a:bodyPr>
            <a:lstStyle/>
            <a:p>
              <a:endParaRPr lang="en-US"/>
            </a:p>
          </p:txBody>
        </p:sp>
        <p:sp>
          <p:nvSpPr>
            <p:cNvPr id="39977" name="Rectangle 41"/>
            <p:cNvSpPr>
              <a:spLocks noChangeArrowheads="1"/>
            </p:cNvSpPr>
            <p:nvPr/>
          </p:nvSpPr>
          <p:spPr bwMode="auto">
            <a:xfrm>
              <a:off x="1798" y="2830"/>
              <a:ext cx="675" cy="289"/>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lnSpc>
                  <a:spcPct val="100000"/>
                </a:lnSpc>
              </a:pPr>
              <a:r>
                <a:rPr lang="en-GB" sz="1800" b="1"/>
                <a:t>Flow #3</a:t>
              </a:r>
            </a:p>
          </p:txBody>
        </p:sp>
      </p:grpSp>
      <p:sp>
        <p:nvSpPr>
          <p:cNvPr id="39968" name="Rectangle 42"/>
          <p:cNvSpPr>
            <a:spLocks noChangeArrowheads="1"/>
          </p:cNvSpPr>
          <p:nvPr/>
        </p:nvSpPr>
        <p:spPr bwMode="auto">
          <a:xfrm>
            <a:off x="6688342" y="5208589"/>
            <a:ext cx="1077507" cy="390531"/>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lnSpc>
                <a:spcPct val="100000"/>
              </a:lnSpc>
            </a:pPr>
            <a:r>
              <a:rPr lang="en-GB" sz="1800" b="1"/>
              <a:t>Flow #1</a:t>
            </a:r>
          </a:p>
        </p:txBody>
      </p:sp>
      <p:sp>
        <p:nvSpPr>
          <p:cNvPr id="205867" name="Line 43"/>
          <p:cNvSpPr>
            <a:spLocks noChangeShapeType="1"/>
          </p:cNvSpPr>
          <p:nvPr/>
        </p:nvSpPr>
        <p:spPr bwMode="auto">
          <a:xfrm>
            <a:off x="7143750" y="5532438"/>
            <a:ext cx="1588" cy="355600"/>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68" name="Line 44"/>
          <p:cNvSpPr>
            <a:spLocks noChangeShapeType="1"/>
          </p:cNvSpPr>
          <p:nvPr/>
        </p:nvSpPr>
        <p:spPr bwMode="auto">
          <a:xfrm>
            <a:off x="8062914" y="5078414"/>
            <a:ext cx="1587" cy="80962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69" name="Line 45"/>
          <p:cNvSpPr>
            <a:spLocks noChangeShapeType="1"/>
          </p:cNvSpPr>
          <p:nvPr/>
        </p:nvSpPr>
        <p:spPr bwMode="auto">
          <a:xfrm>
            <a:off x="9593264" y="4752976"/>
            <a:ext cx="3175" cy="1135063"/>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39972" name="Rectangle 46"/>
          <p:cNvSpPr>
            <a:spLocks noChangeArrowheads="1"/>
          </p:cNvSpPr>
          <p:nvPr/>
        </p:nvSpPr>
        <p:spPr bwMode="auto">
          <a:xfrm>
            <a:off x="5715001" y="5195888"/>
            <a:ext cx="600075" cy="328612"/>
          </a:xfrm>
          <a:prstGeom prst="rect">
            <a:avLst/>
          </a:prstGeom>
          <a:solidFill>
            <a:schemeClr val="accent2"/>
          </a:solidFill>
          <a:ln w="25400">
            <a:solidFill>
              <a:schemeClr val="tx1"/>
            </a:solidFill>
            <a:miter lim="800000"/>
            <a:headEnd/>
            <a:tailEnd/>
          </a:ln>
        </p:spPr>
        <p:txBody>
          <a:bodyPr wrap="none" anchor="ctr">
            <a:prstTxWarp prst="textNoShape">
              <a:avLst/>
            </a:prstTxWarp>
          </a:bodyPr>
          <a:lstStyle/>
          <a:p>
            <a:endParaRPr lang="en-US"/>
          </a:p>
        </p:txBody>
      </p:sp>
      <p:sp>
        <p:nvSpPr>
          <p:cNvPr id="39973" name="Rectangle 47"/>
          <p:cNvSpPr>
            <a:spLocks noChangeArrowheads="1"/>
          </p:cNvSpPr>
          <p:nvPr/>
        </p:nvSpPr>
        <p:spPr bwMode="auto">
          <a:xfrm>
            <a:off x="5712127" y="5181601"/>
            <a:ext cx="564546" cy="390531"/>
          </a:xfrm>
          <a:prstGeom prst="rect">
            <a:avLst/>
          </a:prstGeom>
          <a:noFill/>
          <a:ln w="12700">
            <a:noFill/>
            <a:miter lim="800000"/>
            <a:headEnd/>
            <a:tailEnd/>
          </a:ln>
        </p:spPr>
        <p:txBody>
          <a:bodyPr wrap="none" lIns="114443" tIns="56217" rIns="114443" bIns="56217">
            <a:prstTxWarp prst="textNoShape">
              <a:avLst/>
            </a:prstTxWarp>
            <a:spAutoFit/>
          </a:bodyPr>
          <a:lstStyle/>
          <a:p>
            <a:pPr defTabSz="1157288">
              <a:lnSpc>
                <a:spcPct val="100000"/>
              </a:lnSpc>
            </a:pPr>
            <a:r>
              <a:rPr lang="en-GB" sz="1800" b="1"/>
              <a:t>PQ</a:t>
            </a:r>
          </a:p>
        </p:txBody>
      </p:sp>
      <p:sp>
        <p:nvSpPr>
          <p:cNvPr id="205872" name="Line 48"/>
          <p:cNvSpPr>
            <a:spLocks noChangeShapeType="1"/>
          </p:cNvSpPr>
          <p:nvPr/>
        </p:nvSpPr>
        <p:spPr bwMode="auto">
          <a:xfrm flipH="1">
            <a:off x="5980114" y="3598863"/>
            <a:ext cx="33337" cy="1541462"/>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
        <p:nvSpPr>
          <p:cNvPr id="205873" name="Line 49"/>
          <p:cNvSpPr>
            <a:spLocks noChangeShapeType="1"/>
          </p:cNvSpPr>
          <p:nvPr/>
        </p:nvSpPr>
        <p:spPr bwMode="auto">
          <a:xfrm>
            <a:off x="5980113" y="5568951"/>
            <a:ext cx="0" cy="257175"/>
          </a:xfrm>
          <a:prstGeom prst="line">
            <a:avLst/>
          </a:prstGeom>
          <a:noFill/>
          <a:ln w="25400">
            <a:solidFill>
              <a:srgbClr val="000000"/>
            </a:solidFill>
            <a:round/>
            <a:headEnd/>
            <a:tailEnd type="triangle" w="med" len="med"/>
          </a:ln>
          <a:effectLst>
            <a:outerShdw dist="17961" dir="2700000" algn="ctr" rotWithShape="0">
              <a:schemeClr val="hlink"/>
            </a:outerShdw>
          </a:effectLst>
        </p:spPr>
        <p:txBody>
          <a:bodyPr wrap="none" anchor="ctr"/>
          <a:lstStyle/>
          <a:p>
            <a:pPr>
              <a:defRPr/>
            </a:pPr>
            <a:endParaRPr lang="en-US">
              <a:latin typeface="Arial" charset="0"/>
            </a:endParaRP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t>CBWFQ vs LLQ</a:t>
            </a:r>
          </a:p>
        </p:txBody>
      </p:sp>
      <p:graphicFrame>
        <p:nvGraphicFramePr>
          <p:cNvPr id="208899" name="Group 3"/>
          <p:cNvGraphicFramePr>
            <a:graphicFrameLocks noGrp="1"/>
          </p:cNvGraphicFramePr>
          <p:nvPr/>
        </p:nvGraphicFramePr>
        <p:xfrm>
          <a:off x="2895600" y="2057401"/>
          <a:ext cx="6096000" cy="3532189"/>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811213">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endParaRPr kumimoji="0" lang="en-GB" sz="15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1" i="0" u="none" strike="noStrike" cap="none" normalizeH="0" baseline="0" smtClean="0">
                          <a:ln>
                            <a:noFill/>
                          </a:ln>
                          <a:solidFill>
                            <a:schemeClr val="tx1"/>
                          </a:solidFill>
                          <a:effectLst/>
                          <a:latin typeface="Courier New" pitchFamily="49" charset="0"/>
                        </a:rPr>
                        <a:t>Bandwidth</a:t>
                      </a:r>
                      <a:r>
                        <a:rPr kumimoji="0" lang="en-US" sz="1500" b="0" i="0" u="none" strike="noStrike" cap="none" normalizeH="0" baseline="0" smtClean="0">
                          <a:ln>
                            <a:noFill/>
                          </a:ln>
                          <a:solidFill>
                            <a:schemeClr val="tx1"/>
                          </a:solidFill>
                          <a:effectLst/>
                          <a:latin typeface="Arial" charset="0"/>
                        </a:rPr>
                        <a:t> Command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1" i="0" u="none" strike="noStrike" cap="none" normalizeH="0" baseline="0" smtClean="0">
                          <a:ln>
                            <a:noFill/>
                          </a:ln>
                          <a:solidFill>
                            <a:schemeClr val="tx1"/>
                          </a:solidFill>
                          <a:effectLst/>
                          <a:latin typeface="Courier New" pitchFamily="49" charset="0"/>
                        </a:rPr>
                        <a:t>Priority</a:t>
                      </a:r>
                      <a:r>
                        <a:rPr kumimoji="0" lang="en-US" sz="1500" b="0" i="0" u="none" strike="noStrike" cap="none" normalizeH="0" baseline="0" smtClean="0">
                          <a:ln>
                            <a:noFill/>
                          </a:ln>
                          <a:solidFill>
                            <a:schemeClr val="tx1"/>
                          </a:solidFill>
                          <a:effectLst/>
                          <a:latin typeface="Arial" charset="0"/>
                        </a:rPr>
                        <a:t> Command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55675">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smtClean="0">
                          <a:ln>
                            <a:noFill/>
                          </a:ln>
                          <a:solidFill>
                            <a:schemeClr val="folHlink"/>
                          </a:solidFill>
                          <a:effectLst/>
                          <a:latin typeface="Arial" charset="0"/>
                        </a:rPr>
                        <a:t>Minimum</a:t>
                      </a:r>
                      <a:r>
                        <a:rPr kumimoji="0" lang="en-US" sz="1500" b="0" i="0" u="none" strike="noStrike" cap="none" normalizeH="0" baseline="0" smtClean="0">
                          <a:ln>
                            <a:noFill/>
                          </a:ln>
                          <a:solidFill>
                            <a:schemeClr val="tx1"/>
                          </a:solidFill>
                          <a:effectLst/>
                          <a:latin typeface="Arial" charset="0"/>
                        </a:rPr>
                        <a:t> bandwidth guarantee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smtClean="0">
                          <a:ln>
                            <a:noFill/>
                          </a:ln>
                          <a:solidFill>
                            <a:schemeClr val="tx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smtClean="0">
                          <a:ln>
                            <a:noFill/>
                          </a:ln>
                          <a:solidFill>
                            <a:schemeClr val="tx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54088">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smtClean="0">
                          <a:ln>
                            <a:noFill/>
                          </a:ln>
                          <a:solidFill>
                            <a:schemeClr val="folHlink"/>
                          </a:solidFill>
                          <a:effectLst/>
                          <a:latin typeface="Arial" charset="0"/>
                        </a:rPr>
                        <a:t>Maximum</a:t>
                      </a:r>
                      <a:r>
                        <a:rPr kumimoji="0" lang="en-US" sz="1500" b="0" i="0" u="none" strike="noStrike" cap="none" normalizeH="0" baseline="0" smtClean="0">
                          <a:ln>
                            <a:noFill/>
                          </a:ln>
                          <a:solidFill>
                            <a:schemeClr val="tx1"/>
                          </a:solidFill>
                          <a:effectLst/>
                          <a:latin typeface="Arial" charset="0"/>
                        </a:rPr>
                        <a:t> bandwidth guarantee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smtClean="0">
                          <a:ln>
                            <a:noFill/>
                          </a:ln>
                          <a:solidFill>
                            <a:schemeClr val="tx1"/>
                          </a:solidFill>
                          <a:effectLst/>
                          <a:latin typeface="Arial"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smtClean="0">
                          <a:ln>
                            <a:noFill/>
                          </a:ln>
                          <a:solidFill>
                            <a:schemeClr val="tx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1213">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smtClean="0">
                          <a:ln>
                            <a:noFill/>
                          </a:ln>
                          <a:solidFill>
                            <a:schemeClr val="tx1"/>
                          </a:solidFill>
                          <a:effectLst/>
                          <a:latin typeface="Arial" charset="0"/>
                        </a:rPr>
                        <a:t>Provides low latency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smtClean="0">
                          <a:ln>
                            <a:noFill/>
                          </a:ln>
                          <a:solidFill>
                            <a:schemeClr val="tx1"/>
                          </a:solidFill>
                          <a:effectLst/>
                          <a:latin typeface="Arial"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smtClean="0">
                          <a:ln>
                            <a:noFill/>
                          </a:ln>
                          <a:solidFill>
                            <a:schemeClr val="tx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solidFill>
                  <a:schemeClr val="folHlink"/>
                </a:solidFill>
              </a:rPr>
              <a:t>Bandwidth vs Priority</a:t>
            </a:r>
          </a:p>
        </p:txBody>
      </p:sp>
      <p:sp>
        <p:nvSpPr>
          <p:cNvPr id="209941" name="Rectangle 21"/>
          <p:cNvSpPr>
            <a:spLocks noGrp="1" noChangeArrowheads="1"/>
          </p:cNvSpPr>
          <p:nvPr>
            <p:ph idx="1"/>
          </p:nvPr>
        </p:nvSpPr>
        <p:spPr>
          <a:xfrm>
            <a:off x="3200400" y="5105400"/>
            <a:ext cx="6019800" cy="914400"/>
          </a:xfrm>
          <a:solidFill>
            <a:schemeClr val="folHlink"/>
          </a:solidFill>
          <a:effectLst>
            <a:outerShdw dist="107763" dir="2700000" algn="ctr" rotWithShape="0">
              <a:schemeClr val="bg2">
                <a:alpha val="50000"/>
              </a:schemeClr>
            </a:outerShdw>
          </a:effectLst>
        </p:spPr>
        <p:txBody>
          <a:bodyPr anchor="ctr" anchorCtr="1"/>
          <a:lstStyle/>
          <a:p>
            <a:pPr algn="ctr">
              <a:buFont typeface="Wingdings" pitchFamily="1" charset="2"/>
              <a:buNone/>
            </a:pPr>
            <a:r>
              <a:rPr lang="en-US"/>
              <a:t>During congestion, LLQ </a:t>
            </a:r>
            <a:r>
              <a:rPr lang="en-US">
                <a:solidFill>
                  <a:schemeClr val="bg1"/>
                </a:solidFill>
              </a:rPr>
              <a:t>cannot</a:t>
            </a:r>
            <a:r>
              <a:rPr lang="en-US">
                <a:solidFill>
                  <a:schemeClr val="accent2"/>
                </a:solidFill>
              </a:rPr>
              <a:t> </a:t>
            </a:r>
            <a:r>
              <a:rPr lang="en-US"/>
              <a:t>use any excess bandwidth. </a:t>
            </a:r>
            <a:endParaRPr lang="en-US">
              <a:solidFill>
                <a:schemeClr val="tx2"/>
              </a:solidFill>
            </a:endParaRPr>
          </a:p>
        </p:txBody>
      </p:sp>
      <p:graphicFrame>
        <p:nvGraphicFramePr>
          <p:cNvPr id="209947" name="Group 27"/>
          <p:cNvGraphicFramePr>
            <a:graphicFrameLocks noGrp="1"/>
          </p:cNvGraphicFramePr>
          <p:nvPr/>
        </p:nvGraphicFramePr>
        <p:xfrm>
          <a:off x="3048000" y="1604963"/>
          <a:ext cx="6096000" cy="2886456"/>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736600">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endParaRPr kumimoji="0" lang="en-GB" sz="1500" b="0" i="0" u="none" strike="noStrike" cap="none" normalizeH="0" baseline="0">
                        <a:ln>
                          <a:noFill/>
                        </a:ln>
                        <a:solidFill>
                          <a:schemeClr val="tx1"/>
                        </a:solidFill>
                        <a:effectLst/>
                        <a:latin typeface="Arial" pitchFamily="1"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ctr"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r>
                        <a:rPr kumimoji="0" lang="en-US" sz="2000" b="0" i="0" u="none" strike="noStrike" cap="none" normalizeH="0" baseline="0">
                          <a:ln>
                            <a:noFill/>
                          </a:ln>
                          <a:solidFill>
                            <a:schemeClr val="tx1"/>
                          </a:solidFill>
                          <a:effectLst/>
                          <a:latin typeface="Arial" pitchFamily="1" charset="0"/>
                        </a:rPr>
                        <a:t>Congestion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ctr"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r>
                        <a:rPr kumimoji="0" lang="en-US" sz="2000" b="0" i="0" u="none" strike="noStrike" cap="none" normalizeH="0" baseline="0">
                          <a:ln>
                            <a:noFill/>
                          </a:ln>
                          <a:solidFill>
                            <a:schemeClr val="tx1"/>
                          </a:solidFill>
                          <a:effectLst/>
                          <a:latin typeface="Arial" pitchFamily="1" charset="0"/>
                        </a:rPr>
                        <a:t>Non-Congestion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00">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endParaRPr kumimoji="0" lang="en-US" sz="1500" b="1" i="0" u="none" strike="noStrike" cap="none" normalizeH="0" baseline="0">
                        <a:ln>
                          <a:noFill/>
                        </a:ln>
                        <a:solidFill>
                          <a:schemeClr val="tx1"/>
                        </a:solidFill>
                        <a:effectLst/>
                        <a:latin typeface="Courier New" pitchFamily="1" charset="0"/>
                      </a:endParaRPr>
                    </a:p>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r>
                        <a:rPr kumimoji="0" lang="en-US" sz="2000" b="1" i="0" u="none" strike="noStrike" cap="none" normalizeH="0" baseline="0">
                          <a:ln>
                            <a:noFill/>
                          </a:ln>
                          <a:solidFill>
                            <a:schemeClr val="folHlink"/>
                          </a:solidFill>
                          <a:effectLst/>
                          <a:latin typeface="Courier New" pitchFamily="1" charset="0"/>
                        </a:rPr>
                        <a:t>bandwidth</a:t>
                      </a:r>
                      <a:endParaRPr kumimoji="0" lang="en-US" sz="2000" b="0" i="0" u="none" strike="noStrike" cap="none" normalizeH="0" baseline="0">
                        <a:ln>
                          <a:noFill/>
                        </a:ln>
                        <a:solidFill>
                          <a:schemeClr val="folHlink"/>
                        </a:solidFill>
                        <a:effectLst/>
                        <a:latin typeface="Arial" pitchFamily="1"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ctr"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r>
                        <a:rPr kumimoji="0" lang="en-US" sz="1800" b="0" i="0" u="none" strike="noStrike" cap="none" normalizeH="0" baseline="0">
                          <a:ln>
                            <a:noFill/>
                          </a:ln>
                          <a:solidFill>
                            <a:schemeClr val="tx1"/>
                          </a:solidFill>
                          <a:effectLst/>
                          <a:latin typeface="Arial" pitchFamily="1" charset="0"/>
                        </a:rPr>
                        <a:t>Allowed to exceed the allocated rate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ctr"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r>
                        <a:rPr kumimoji="0" lang="en-US" sz="1800" b="0" i="0" u="none" strike="noStrike" cap="none" normalizeH="0" baseline="0">
                          <a:ln>
                            <a:noFill/>
                          </a:ln>
                          <a:solidFill>
                            <a:schemeClr val="tx1"/>
                          </a:solidFill>
                          <a:effectLst/>
                          <a:latin typeface="Arial" pitchFamily="1" charset="0"/>
                        </a:rPr>
                        <a:t>Allowed to exceed the                                  allocated rate.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endParaRPr kumimoji="0" lang="en-US" sz="1500" b="1" i="0" u="none" strike="noStrike" cap="none" normalizeH="0" baseline="0">
                        <a:ln>
                          <a:noFill/>
                        </a:ln>
                        <a:solidFill>
                          <a:schemeClr val="tx1"/>
                        </a:solidFill>
                        <a:effectLst/>
                        <a:latin typeface="Courier New" pitchFamily="1" charset="0"/>
                      </a:endParaRPr>
                    </a:p>
                    <a:p>
                      <a:pPr marL="236538" marR="0" lvl="0" indent="-236538" algn="l"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r>
                        <a:rPr kumimoji="0" lang="en-US" sz="2000" b="1" i="0" u="none" strike="noStrike" cap="none" normalizeH="0" baseline="0">
                          <a:ln>
                            <a:noFill/>
                          </a:ln>
                          <a:solidFill>
                            <a:schemeClr val="folHlink"/>
                          </a:solidFill>
                          <a:effectLst/>
                          <a:latin typeface="Courier New" pitchFamily="1" charset="0"/>
                        </a:rPr>
                        <a:t>priority</a:t>
                      </a:r>
                      <a:r>
                        <a:rPr kumimoji="0" lang="en-US" sz="2000" b="0" i="0" u="none" strike="noStrike" cap="none" normalizeH="0" baseline="0">
                          <a:ln>
                            <a:noFill/>
                          </a:ln>
                          <a:solidFill>
                            <a:schemeClr val="folHlink"/>
                          </a:solidFill>
                          <a:effectLst/>
                          <a:latin typeface="Courier New" pitchFamily="1" charset="0"/>
                        </a:rPr>
                        <a:t/>
                      </a:r>
                      <a:br>
                        <a:rPr kumimoji="0" lang="en-US" sz="2000" b="0" i="0" u="none" strike="noStrike" cap="none" normalizeH="0" baseline="0">
                          <a:ln>
                            <a:noFill/>
                          </a:ln>
                          <a:solidFill>
                            <a:schemeClr val="folHlink"/>
                          </a:solidFill>
                          <a:effectLst/>
                          <a:latin typeface="Courier New" pitchFamily="1" charset="0"/>
                        </a:rPr>
                      </a:br>
                      <a:endParaRPr kumimoji="0" lang="en-US" sz="2000" b="0" i="0" u="none" strike="noStrike" cap="none" normalizeH="0" baseline="0">
                        <a:ln>
                          <a:noFill/>
                        </a:ln>
                        <a:solidFill>
                          <a:schemeClr val="folHlink"/>
                        </a:solidFill>
                        <a:effectLst/>
                        <a:latin typeface="Arial" pitchFamily="1"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ctr"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r>
                        <a:rPr kumimoji="0" lang="en-US" sz="1800" b="0" i="0" u="none" strike="noStrike" cap="none" normalizeH="0" baseline="0">
                          <a:ln>
                            <a:noFill/>
                          </a:ln>
                          <a:solidFill>
                            <a:schemeClr val="tx1"/>
                          </a:solidFill>
                          <a:effectLst/>
                          <a:latin typeface="Arial" pitchFamily="1" charset="0"/>
                        </a:rPr>
                        <a:t>Packets metered, token bucket. Excess packets are discarded.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36538" marR="0" lvl="0" indent="-236538" algn="ctr" defTabSz="814388" rtl="0" eaLnBrk="0" fontAlgn="base" latinLnBrk="0" hangingPunct="0">
                        <a:lnSpc>
                          <a:spcPct val="95000"/>
                        </a:lnSpc>
                        <a:spcBef>
                          <a:spcPct val="50000"/>
                        </a:spcBef>
                        <a:spcAft>
                          <a:spcPct val="0"/>
                        </a:spcAft>
                        <a:buClr>
                          <a:schemeClr val="tx2"/>
                        </a:buClr>
                        <a:buSzPct val="100000"/>
                        <a:buFont typeface="Wingdings" pitchFamily="1" charset="2"/>
                        <a:buNone/>
                        <a:tabLst/>
                      </a:pPr>
                      <a:r>
                        <a:rPr kumimoji="0" lang="en-US" sz="1800" b="0" i="0" u="none" strike="noStrike" cap="none" normalizeH="0" baseline="0">
                          <a:ln>
                            <a:noFill/>
                          </a:ln>
                          <a:solidFill>
                            <a:schemeClr val="tx1"/>
                          </a:solidFill>
                          <a:effectLst/>
                          <a:latin typeface="Arial" pitchFamily="1" charset="0"/>
                        </a:rPr>
                        <a:t>The class can exceed its                                 configured bandwidth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solidFill>
                  <a:schemeClr val="folHlink"/>
                </a:solidFill>
              </a:rPr>
              <a:t>LLQ: The priority command</a:t>
            </a:r>
          </a:p>
        </p:txBody>
      </p:sp>
      <p:sp>
        <p:nvSpPr>
          <p:cNvPr id="43011" name="Rectangle 3"/>
          <p:cNvSpPr>
            <a:spLocks noGrp="1" noChangeArrowheads="1"/>
          </p:cNvSpPr>
          <p:nvPr>
            <p:ph idx="1"/>
          </p:nvPr>
        </p:nvSpPr>
        <p:spPr>
          <a:xfrm>
            <a:off x="2179639" y="1781176"/>
            <a:ext cx="7940675" cy="4600575"/>
          </a:xfrm>
        </p:spPr>
        <p:txBody>
          <a:bodyPr>
            <a:normAutofit lnSpcReduction="10000"/>
          </a:bodyPr>
          <a:lstStyle/>
          <a:p>
            <a:r>
              <a:rPr lang="en-US"/>
              <a:t>Reserves a </a:t>
            </a:r>
            <a:r>
              <a:rPr lang="en-US">
                <a:solidFill>
                  <a:schemeClr val="folHlink"/>
                </a:solidFill>
              </a:rPr>
              <a:t>minimum</a:t>
            </a:r>
            <a:r>
              <a:rPr lang="en-US"/>
              <a:t> an </a:t>
            </a:r>
            <a:r>
              <a:rPr lang="en-US">
                <a:solidFill>
                  <a:schemeClr val="folHlink"/>
                </a:solidFill>
              </a:rPr>
              <a:t>maximum</a:t>
            </a:r>
            <a:r>
              <a:rPr lang="en-US"/>
              <a:t> bandwidth</a:t>
            </a:r>
          </a:p>
          <a:p>
            <a:r>
              <a:rPr lang="en-US"/>
              <a:t>Two ways to use it:</a:t>
            </a:r>
          </a:p>
          <a:p>
            <a:pPr lvl="1" indent="0"/>
            <a:r>
              <a:rPr lang="en-US">
                <a:solidFill>
                  <a:schemeClr val="folHlink"/>
                </a:solidFill>
              </a:rPr>
              <a:t>priority</a:t>
            </a:r>
            <a:r>
              <a:rPr lang="en-US"/>
              <a:t> {kbps} – BW Allocated as a bit rate</a:t>
            </a:r>
          </a:p>
          <a:p>
            <a:pPr lvl="1" indent="0"/>
            <a:r>
              <a:rPr lang="en-US">
                <a:solidFill>
                  <a:schemeClr val="folHlink"/>
                </a:solidFill>
              </a:rPr>
              <a:t>priority percent</a:t>
            </a:r>
            <a:r>
              <a:rPr lang="en-US"/>
              <a:t> {value} – BW allocated as percentage of underlying rate (12.2(2)T)</a:t>
            </a:r>
          </a:p>
          <a:p>
            <a:r>
              <a:rPr lang="en-US"/>
              <a:t>Other parameter: </a:t>
            </a:r>
            <a:r>
              <a:rPr lang="en-US">
                <a:solidFill>
                  <a:schemeClr val="folHlink"/>
                </a:solidFill>
              </a:rPr>
              <a:t>burst </a:t>
            </a:r>
            <a:r>
              <a:rPr lang="en-US"/>
              <a:t>(12.2(3)T)</a:t>
            </a:r>
          </a:p>
          <a:p>
            <a:pPr lvl="1" indent="0"/>
            <a:r>
              <a:rPr lang="en-US"/>
              <a:t>This is how you control the associated policer</a:t>
            </a:r>
          </a:p>
          <a:p>
            <a:pPr lvl="1" indent="0"/>
            <a:r>
              <a:rPr lang="en-US"/>
              <a:t>Default value is </a:t>
            </a:r>
            <a:r>
              <a:rPr lang="en-US">
                <a:solidFill>
                  <a:schemeClr val="folHlink"/>
                </a:solidFill>
              </a:rPr>
              <a:t>200ms</a:t>
            </a:r>
            <a:r>
              <a:rPr lang="en-US"/>
              <a:t> of the reserved bandwidth for the class</a:t>
            </a:r>
          </a:p>
          <a:p>
            <a:r>
              <a:rPr lang="en-US"/>
              <a:t>Only </a:t>
            </a:r>
            <a:r>
              <a:rPr lang="en-US">
                <a:solidFill>
                  <a:schemeClr val="accent2"/>
                </a:solidFill>
              </a:rPr>
              <a:t>one</a:t>
            </a:r>
            <a:r>
              <a:rPr lang="en-US"/>
              <a:t> LLQ !</a:t>
            </a:r>
          </a:p>
          <a:p>
            <a:pPr lvl="1" indent="0"/>
            <a:r>
              <a:rPr lang="en-US"/>
              <a:t>Multiple classes using priority will have to share the same queue.</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solidFill>
                  <a:schemeClr val="folHlink"/>
                </a:solidFill>
              </a:rPr>
              <a:t>Review questions</a:t>
            </a:r>
          </a:p>
        </p:txBody>
      </p:sp>
      <p:sp>
        <p:nvSpPr>
          <p:cNvPr id="44035" name="Rectangle 3"/>
          <p:cNvSpPr>
            <a:spLocks noGrp="1" noChangeArrowheads="1"/>
          </p:cNvSpPr>
          <p:nvPr>
            <p:ph idx="1"/>
          </p:nvPr>
        </p:nvSpPr>
        <p:spPr>
          <a:xfrm>
            <a:off x="2179639" y="1557339"/>
            <a:ext cx="7940675" cy="4600575"/>
          </a:xfrm>
        </p:spPr>
        <p:txBody>
          <a:bodyPr>
            <a:normAutofit lnSpcReduction="10000"/>
          </a:bodyPr>
          <a:lstStyle/>
          <a:p>
            <a:r>
              <a:rPr lang="en-US"/>
              <a:t>What are the three keywords we can use to configure queuing within a class ?</a:t>
            </a:r>
          </a:p>
          <a:p>
            <a:r>
              <a:rPr lang="en-US"/>
              <a:t>What is the weight of class configured with the command ‘priority 100’ on a 2Mb/s interface ?</a:t>
            </a:r>
          </a:p>
          <a:p>
            <a:r>
              <a:rPr lang="en-US"/>
              <a:t>I have two delay sensitive traffic classes, voice and video, for which I use LLQ.   Will my video streams affect the voice quality ?</a:t>
            </a:r>
          </a:p>
          <a:p>
            <a:r>
              <a:rPr lang="en-US"/>
              <a:t>I am using PQCBWFQ, everything was fine but recently the traffic increased slightly, and the voice quality dropped down to almost un-hearable.  What could have happened ?</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4"/>
          <p:cNvSpPr>
            <a:spLocks noChangeArrowheads="1"/>
          </p:cNvSpPr>
          <p:nvPr/>
        </p:nvSpPr>
        <p:spPr bwMode="auto">
          <a:xfrm>
            <a:off x="1524001" y="1"/>
            <a:ext cx="4500563" cy="3141663"/>
          </a:xfrm>
          <a:prstGeom prst="rect">
            <a:avLst/>
          </a:prstGeom>
          <a:solidFill>
            <a:schemeClr val="tx2"/>
          </a:solidFill>
          <a:ln w="25400">
            <a:noFill/>
            <a:miter lim="800000"/>
            <a:headEnd/>
            <a:tailEnd/>
          </a:ln>
        </p:spPr>
        <p:txBody>
          <a:bodyPr wrap="none" anchor="ctr">
            <a:prstTxWarp prst="textNoShape">
              <a:avLst/>
            </a:prstTxWarp>
          </a:bodyPr>
          <a:lstStyle/>
          <a:p>
            <a:endParaRPr lang="en-US"/>
          </a:p>
        </p:txBody>
      </p:sp>
      <p:sp>
        <p:nvSpPr>
          <p:cNvPr id="45062" name="Rectangle 9"/>
          <p:cNvSpPr>
            <a:spLocks noChangeArrowheads="1"/>
          </p:cNvSpPr>
          <p:nvPr/>
        </p:nvSpPr>
        <p:spPr bwMode="auto">
          <a:xfrm>
            <a:off x="1524001" y="571008"/>
            <a:ext cx="4500563" cy="415323"/>
          </a:xfrm>
          <a:prstGeom prst="rect">
            <a:avLst/>
          </a:prstGeom>
          <a:solidFill>
            <a:schemeClr val="accent2"/>
          </a:solidFill>
          <a:ln w="9525">
            <a:noFill/>
            <a:miter lim="800000"/>
            <a:headEnd/>
            <a:tailEnd/>
          </a:ln>
        </p:spPr>
        <p:txBody>
          <a:bodyPr lIns="82124" tIns="41061" rIns="82124" bIns="41061" anchor="ctr">
            <a:prstTxWarp prst="textNoShape">
              <a:avLst/>
            </a:prstTxWarp>
            <a:spAutoFit/>
          </a:bodyPr>
          <a:lstStyle/>
          <a:p>
            <a:endParaRPr lang="en-US"/>
          </a:p>
        </p:txBody>
      </p:sp>
      <p:sp>
        <p:nvSpPr>
          <p:cNvPr id="45063" name="Rectangle 5"/>
          <p:cNvSpPr>
            <a:spLocks noGrp="1" noChangeArrowheads="1"/>
          </p:cNvSpPr>
          <p:nvPr>
            <p:ph type="title"/>
          </p:nvPr>
        </p:nvSpPr>
        <p:spPr>
          <a:xfrm>
            <a:off x="1847850" y="1125538"/>
            <a:ext cx="3816350" cy="838200"/>
          </a:xfrm>
        </p:spPr>
        <p:txBody>
          <a:bodyPr>
            <a:normAutofit fontScale="90000"/>
          </a:bodyPr>
          <a:lstStyle/>
          <a:p>
            <a:pPr algn="ctr" eaLnBrk="1" hangingPunct="1"/>
            <a:r>
              <a:rPr lang="en-US" sz="2800">
                <a:solidFill>
                  <a:schemeClr val="bg1"/>
                </a:solidFill>
              </a:rPr>
              <a:t>Policing and </a:t>
            </a:r>
            <a:br>
              <a:rPr lang="en-US" sz="2800">
                <a:solidFill>
                  <a:schemeClr val="bg1"/>
                </a:solidFill>
              </a:rPr>
            </a:br>
            <a:r>
              <a:rPr lang="en-US" sz="2800">
                <a:solidFill>
                  <a:schemeClr val="bg1"/>
                </a:solidFill>
              </a:rPr>
              <a:t>Shaping</a:t>
            </a:r>
          </a:p>
        </p:txBody>
      </p:sp>
      <p:pic>
        <p:nvPicPr>
          <p:cNvPr id="8" name="Picture 11" descr="Bob-the-bouncer"/>
          <p:cNvPicPr>
            <a:picLocks noChangeAspect="1" noChangeArrowheads="1"/>
          </p:cNvPicPr>
          <p:nvPr/>
        </p:nvPicPr>
        <p:blipFill>
          <a:blip r:embed="rId2"/>
          <a:srcRect/>
          <a:stretch>
            <a:fillRect/>
          </a:stretch>
        </p:blipFill>
        <p:spPr bwMode="auto">
          <a:xfrm>
            <a:off x="7752184" y="981077"/>
            <a:ext cx="1566862" cy="216058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out)">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t>Policing and Shaping</a:t>
            </a:r>
          </a:p>
        </p:txBody>
      </p:sp>
      <p:sp>
        <p:nvSpPr>
          <p:cNvPr id="46084" name="Rectangle 3"/>
          <p:cNvSpPr>
            <a:spLocks noGrp="1" noChangeArrowheads="1"/>
          </p:cNvSpPr>
          <p:nvPr>
            <p:ph idx="1"/>
          </p:nvPr>
        </p:nvSpPr>
        <p:spPr>
          <a:xfrm>
            <a:off x="1847850" y="1412876"/>
            <a:ext cx="4535488" cy="5076825"/>
          </a:xfrm>
        </p:spPr>
        <p:txBody>
          <a:bodyPr/>
          <a:lstStyle/>
          <a:p>
            <a:r>
              <a:rPr lang="en-GB"/>
              <a:t>Both are </a:t>
            </a:r>
            <a:r>
              <a:rPr lang="en-GB">
                <a:solidFill>
                  <a:schemeClr val="tx2"/>
                </a:solidFill>
              </a:rPr>
              <a:t>control mechanisms</a:t>
            </a:r>
            <a:r>
              <a:rPr lang="en-GB"/>
              <a:t> to know when traffic conforms or exceeds the set contract</a:t>
            </a:r>
          </a:p>
          <a:p>
            <a:endParaRPr lang="en-GB" sz="1200"/>
          </a:p>
          <a:p>
            <a:pPr>
              <a:buFont typeface="Wingdings" pitchFamily="1" charset="2"/>
              <a:buNone/>
            </a:pPr>
            <a:r>
              <a:rPr lang="en-GB" sz="2200">
                <a:solidFill>
                  <a:schemeClr val="accent2"/>
                </a:solidFill>
              </a:rPr>
              <a:t>Policing</a:t>
            </a:r>
            <a:r>
              <a:rPr lang="en-GB" sz="2200"/>
              <a:t>: conform/exceed actions are set by the user!</a:t>
            </a:r>
          </a:p>
          <a:p>
            <a:pPr>
              <a:buFont typeface="Wingdings" pitchFamily="1" charset="2"/>
              <a:buNone/>
            </a:pPr>
            <a:endParaRPr lang="en-GB" sz="2200"/>
          </a:p>
          <a:p>
            <a:pPr>
              <a:buFont typeface="Wingdings" pitchFamily="1" charset="2"/>
              <a:buNone/>
            </a:pPr>
            <a:r>
              <a:rPr lang="en-GB" sz="2200">
                <a:solidFill>
                  <a:schemeClr val="tx2"/>
                </a:solidFill>
              </a:rPr>
              <a:t>Shaping</a:t>
            </a:r>
            <a:r>
              <a:rPr lang="en-GB" sz="2200"/>
              <a:t>: conform means packet is sent while exceed means that packet is delayed in a waiting queue</a:t>
            </a:r>
          </a:p>
          <a:p>
            <a:endParaRPr lang="en-US"/>
          </a:p>
        </p:txBody>
      </p:sp>
      <p:pic>
        <p:nvPicPr>
          <p:cNvPr id="46083" name="Picture 4" descr="shapingvspolicing"/>
          <p:cNvPicPr>
            <a:picLocks noChangeAspect="1" noChangeArrowheads="1"/>
          </p:cNvPicPr>
          <p:nvPr/>
        </p:nvPicPr>
        <p:blipFill>
          <a:blip r:embed="rId2"/>
          <a:srcRect/>
          <a:stretch>
            <a:fillRect/>
          </a:stretch>
        </p:blipFill>
        <p:spPr bwMode="auto">
          <a:xfrm>
            <a:off x="5591175" y="1989138"/>
            <a:ext cx="5621338" cy="421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noFill/>
        </p:spPr>
        <p:txBody>
          <a:bodyPr vert="horz" wrap="square" lIns="71412" tIns="35706" rIns="71412" bIns="35706" numCol="1" anchor="ctr" anchorCtr="0" compatLnSpc="1">
            <a:prstTxWarp prst="textNoShape">
              <a:avLst/>
            </a:prstTxWarp>
          </a:bodyPr>
          <a:lstStyle/>
          <a:p>
            <a:pPr defTabSz="554038" eaLnBrk="1" hangingPunct="1"/>
            <a:r>
              <a:rPr lang="en-GB"/>
              <a:t>Metering: the Token Bucket</a:t>
            </a:r>
          </a:p>
        </p:txBody>
      </p:sp>
      <p:grpSp>
        <p:nvGrpSpPr>
          <p:cNvPr id="2" name="Group 3"/>
          <p:cNvGrpSpPr>
            <a:grpSpLocks/>
          </p:cNvGrpSpPr>
          <p:nvPr/>
        </p:nvGrpSpPr>
        <p:grpSpPr bwMode="auto">
          <a:xfrm>
            <a:off x="1985172" y="4437065"/>
            <a:ext cx="2942429" cy="719733"/>
            <a:chOff x="305" y="2501"/>
            <a:chExt cx="1648" cy="403"/>
          </a:xfrm>
        </p:grpSpPr>
        <p:sp>
          <p:nvSpPr>
            <p:cNvPr id="47141" name="AutoShape 4"/>
            <p:cNvSpPr>
              <a:spLocks noChangeArrowheads="1"/>
            </p:cNvSpPr>
            <p:nvPr/>
          </p:nvSpPr>
          <p:spPr bwMode="auto">
            <a:xfrm>
              <a:off x="1773" y="2636"/>
              <a:ext cx="180" cy="140"/>
            </a:xfrm>
            <a:prstGeom prst="rightArrow">
              <a:avLst>
                <a:gd name="adj1" fmla="val 50000"/>
                <a:gd name="adj2" fmla="val 64292"/>
              </a:avLst>
            </a:prstGeom>
            <a:solidFill>
              <a:schemeClr val="accent2"/>
            </a:solidFill>
            <a:ln w="12700">
              <a:solidFill>
                <a:schemeClr val="tx1"/>
              </a:solidFill>
              <a:miter lim="800000"/>
              <a:headEnd/>
              <a:tailEnd/>
            </a:ln>
          </p:spPr>
          <p:txBody>
            <a:bodyPr wrap="none" anchor="ctr">
              <a:prstTxWarp prst="textNoShape">
                <a:avLst/>
              </a:prstTxWarp>
            </a:bodyPr>
            <a:lstStyle/>
            <a:p>
              <a:endParaRPr lang="en-US"/>
            </a:p>
          </p:txBody>
        </p:sp>
        <p:sp>
          <p:nvSpPr>
            <p:cNvPr id="47142" name="Rectangle 5"/>
            <p:cNvSpPr>
              <a:spLocks noChangeArrowheads="1"/>
            </p:cNvSpPr>
            <p:nvPr/>
          </p:nvSpPr>
          <p:spPr bwMode="auto">
            <a:xfrm>
              <a:off x="1567" y="2633"/>
              <a:ext cx="131" cy="121"/>
            </a:xfrm>
            <a:prstGeom prst="rect">
              <a:avLst/>
            </a:prstGeom>
            <a:solidFill>
              <a:srgbClr val="FF9900"/>
            </a:solidFill>
            <a:ln w="12700">
              <a:solidFill>
                <a:schemeClr val="tx1"/>
              </a:solidFill>
              <a:miter lim="800000"/>
              <a:headEnd/>
              <a:tailEnd/>
            </a:ln>
          </p:spPr>
          <p:txBody>
            <a:bodyPr wrap="none" anchor="ctr">
              <a:prstTxWarp prst="textNoShape">
                <a:avLst/>
              </a:prstTxWarp>
            </a:bodyPr>
            <a:lstStyle/>
            <a:p>
              <a:endParaRPr lang="en-US"/>
            </a:p>
          </p:txBody>
        </p:sp>
        <p:sp>
          <p:nvSpPr>
            <p:cNvPr id="47143" name="Rectangle 6"/>
            <p:cNvSpPr>
              <a:spLocks noChangeArrowheads="1"/>
            </p:cNvSpPr>
            <p:nvPr/>
          </p:nvSpPr>
          <p:spPr bwMode="auto">
            <a:xfrm>
              <a:off x="970" y="2633"/>
              <a:ext cx="131" cy="121"/>
            </a:xfrm>
            <a:prstGeom prst="rect">
              <a:avLst/>
            </a:prstGeom>
            <a:solidFill>
              <a:srgbClr val="FF9900"/>
            </a:solidFill>
            <a:ln w="12700">
              <a:solidFill>
                <a:schemeClr val="tx1"/>
              </a:solidFill>
              <a:miter lim="800000"/>
              <a:headEnd/>
              <a:tailEnd/>
            </a:ln>
          </p:spPr>
          <p:txBody>
            <a:bodyPr wrap="none" anchor="ctr">
              <a:prstTxWarp prst="textNoShape">
                <a:avLst/>
              </a:prstTxWarp>
            </a:bodyPr>
            <a:lstStyle/>
            <a:p>
              <a:endParaRPr lang="en-US"/>
            </a:p>
          </p:txBody>
        </p:sp>
        <p:sp>
          <p:nvSpPr>
            <p:cNvPr id="47144" name="Rectangle 7"/>
            <p:cNvSpPr>
              <a:spLocks noChangeArrowheads="1"/>
            </p:cNvSpPr>
            <p:nvPr/>
          </p:nvSpPr>
          <p:spPr bwMode="auto">
            <a:xfrm>
              <a:off x="1177" y="2633"/>
              <a:ext cx="132" cy="121"/>
            </a:xfrm>
            <a:prstGeom prst="rect">
              <a:avLst/>
            </a:prstGeom>
            <a:solidFill>
              <a:srgbClr val="FF9900"/>
            </a:solidFill>
            <a:ln w="12700">
              <a:solidFill>
                <a:schemeClr val="tx1"/>
              </a:solidFill>
              <a:miter lim="800000"/>
              <a:headEnd/>
              <a:tailEnd/>
            </a:ln>
          </p:spPr>
          <p:txBody>
            <a:bodyPr wrap="none" anchor="ctr">
              <a:prstTxWarp prst="textNoShape">
                <a:avLst/>
              </a:prstTxWarp>
            </a:bodyPr>
            <a:lstStyle/>
            <a:p>
              <a:endParaRPr lang="en-US"/>
            </a:p>
          </p:txBody>
        </p:sp>
        <p:sp>
          <p:nvSpPr>
            <p:cNvPr id="47145" name="Rectangle 8"/>
            <p:cNvSpPr>
              <a:spLocks noChangeArrowheads="1"/>
            </p:cNvSpPr>
            <p:nvPr/>
          </p:nvSpPr>
          <p:spPr bwMode="auto">
            <a:xfrm>
              <a:off x="1368" y="2633"/>
              <a:ext cx="132" cy="121"/>
            </a:xfrm>
            <a:prstGeom prst="rect">
              <a:avLst/>
            </a:prstGeom>
            <a:solidFill>
              <a:srgbClr val="FF9900"/>
            </a:solidFill>
            <a:ln w="12700">
              <a:solidFill>
                <a:schemeClr val="tx1"/>
              </a:solidFill>
              <a:miter lim="800000"/>
              <a:headEnd/>
              <a:tailEnd/>
            </a:ln>
          </p:spPr>
          <p:txBody>
            <a:bodyPr wrap="none" anchor="ctr">
              <a:prstTxWarp prst="textNoShape">
                <a:avLst/>
              </a:prstTxWarp>
            </a:bodyPr>
            <a:lstStyle/>
            <a:p>
              <a:endParaRPr lang="en-US"/>
            </a:p>
          </p:txBody>
        </p:sp>
        <p:sp>
          <p:nvSpPr>
            <p:cNvPr id="47146" name="Rectangle 9"/>
            <p:cNvSpPr>
              <a:spLocks noChangeArrowheads="1"/>
            </p:cNvSpPr>
            <p:nvPr/>
          </p:nvSpPr>
          <p:spPr bwMode="auto">
            <a:xfrm>
              <a:off x="305" y="2501"/>
              <a:ext cx="660" cy="403"/>
            </a:xfrm>
            <a:prstGeom prst="rect">
              <a:avLst/>
            </a:prstGeom>
            <a:noFill/>
            <a:ln w="9525">
              <a:noFill/>
              <a:miter lim="800000"/>
              <a:headEnd/>
              <a:tailEnd/>
            </a:ln>
          </p:spPr>
          <p:txBody>
            <a:bodyPr wrap="none" lIns="103548" tIns="51774" rIns="103548" bIns="51774">
              <a:prstTxWarp prst="textNoShape">
                <a:avLst/>
              </a:prstTxWarp>
              <a:spAutoFit/>
            </a:bodyPr>
            <a:lstStyle/>
            <a:p>
              <a:pPr defTabSz="1028700">
                <a:lnSpc>
                  <a:spcPct val="100000"/>
                </a:lnSpc>
              </a:pPr>
              <a:r>
                <a:rPr lang="en-GB" sz="2000" b="1"/>
                <a:t>Packets</a:t>
              </a:r>
            </a:p>
            <a:p>
              <a:pPr defTabSz="1028700">
                <a:lnSpc>
                  <a:spcPct val="100000"/>
                </a:lnSpc>
              </a:pPr>
              <a:r>
                <a:rPr lang="en-GB" sz="2000" b="1"/>
                <a:t>arriving</a:t>
              </a:r>
            </a:p>
          </p:txBody>
        </p:sp>
      </p:grpSp>
      <p:sp>
        <p:nvSpPr>
          <p:cNvPr id="47108" name="AutoShape 10"/>
          <p:cNvSpPr>
            <a:spLocks noChangeArrowheads="1"/>
          </p:cNvSpPr>
          <p:nvPr/>
        </p:nvSpPr>
        <p:spPr bwMode="auto">
          <a:xfrm>
            <a:off x="6743701" y="4652964"/>
            <a:ext cx="320675" cy="250825"/>
          </a:xfrm>
          <a:prstGeom prst="rightArrow">
            <a:avLst>
              <a:gd name="adj1" fmla="val 50000"/>
              <a:gd name="adj2" fmla="val 63930"/>
            </a:avLst>
          </a:prstGeom>
          <a:solidFill>
            <a:schemeClr val="accent2"/>
          </a:solidFill>
          <a:ln w="12700">
            <a:solidFill>
              <a:schemeClr val="tx1"/>
            </a:solidFill>
            <a:miter lim="800000"/>
            <a:headEnd/>
            <a:tailEnd/>
          </a:ln>
        </p:spPr>
        <p:txBody>
          <a:bodyPr wrap="none" anchor="ctr">
            <a:prstTxWarp prst="textNoShape">
              <a:avLst/>
            </a:prstTxWarp>
          </a:bodyPr>
          <a:lstStyle/>
          <a:p>
            <a:endParaRPr lang="en-US"/>
          </a:p>
        </p:txBody>
      </p:sp>
      <p:sp>
        <p:nvSpPr>
          <p:cNvPr id="47109" name="Rectangle 11"/>
          <p:cNvSpPr>
            <a:spLocks noChangeArrowheads="1"/>
          </p:cNvSpPr>
          <p:nvPr/>
        </p:nvSpPr>
        <p:spPr bwMode="auto">
          <a:xfrm>
            <a:off x="7104064" y="4581525"/>
            <a:ext cx="1948377" cy="412336"/>
          </a:xfrm>
          <a:prstGeom prst="rect">
            <a:avLst/>
          </a:prstGeom>
          <a:noFill/>
          <a:ln w="9525">
            <a:noFill/>
            <a:miter lim="800000"/>
            <a:headEnd/>
            <a:tailEnd/>
          </a:ln>
        </p:spPr>
        <p:txBody>
          <a:bodyPr wrap="none" lIns="103548" tIns="51774" rIns="103548" bIns="51774">
            <a:prstTxWarp prst="textNoShape">
              <a:avLst/>
            </a:prstTxWarp>
            <a:spAutoFit/>
          </a:bodyPr>
          <a:lstStyle/>
          <a:p>
            <a:pPr algn="l" defTabSz="1028700">
              <a:lnSpc>
                <a:spcPct val="100000"/>
              </a:lnSpc>
            </a:pPr>
            <a:r>
              <a:rPr lang="en-GB" sz="2000" b="1"/>
              <a:t>YES:</a:t>
            </a:r>
            <a:r>
              <a:rPr lang="en-GB" sz="2000" b="1">
                <a:solidFill>
                  <a:schemeClr val="accent2"/>
                </a:solidFill>
              </a:rPr>
              <a:t> </a:t>
            </a:r>
            <a:r>
              <a:rPr lang="en-GB" sz="2000" b="1">
                <a:solidFill>
                  <a:schemeClr val="tx2"/>
                </a:solidFill>
              </a:rPr>
              <a:t>Conform</a:t>
            </a:r>
          </a:p>
        </p:txBody>
      </p:sp>
      <p:sp>
        <p:nvSpPr>
          <p:cNvPr id="47110" name="AutoShape 12"/>
          <p:cNvSpPr>
            <a:spLocks noChangeArrowheads="1"/>
          </p:cNvSpPr>
          <p:nvPr/>
        </p:nvSpPr>
        <p:spPr bwMode="auto">
          <a:xfrm>
            <a:off x="5808664" y="5589589"/>
            <a:ext cx="211137" cy="325437"/>
          </a:xfrm>
          <a:prstGeom prst="downArrow">
            <a:avLst>
              <a:gd name="adj1" fmla="val 50000"/>
              <a:gd name="adj2" fmla="val 77075"/>
            </a:avLst>
          </a:prstGeom>
          <a:solidFill>
            <a:schemeClr val="accent2"/>
          </a:solidFill>
          <a:ln w="12700">
            <a:solidFill>
              <a:schemeClr val="tx1"/>
            </a:solidFill>
            <a:miter lim="800000"/>
            <a:headEnd/>
            <a:tailEnd/>
          </a:ln>
        </p:spPr>
        <p:txBody>
          <a:bodyPr wrap="none" anchor="ctr">
            <a:prstTxWarp prst="textNoShape">
              <a:avLst/>
            </a:prstTxWarp>
          </a:bodyPr>
          <a:lstStyle/>
          <a:p>
            <a:endParaRPr lang="en-US"/>
          </a:p>
        </p:txBody>
      </p:sp>
      <p:sp>
        <p:nvSpPr>
          <p:cNvPr id="47111" name="Rectangle 13"/>
          <p:cNvSpPr>
            <a:spLocks noChangeArrowheads="1"/>
          </p:cNvSpPr>
          <p:nvPr/>
        </p:nvSpPr>
        <p:spPr bwMode="auto">
          <a:xfrm>
            <a:off x="5192714" y="6099175"/>
            <a:ext cx="1648615" cy="412336"/>
          </a:xfrm>
          <a:prstGeom prst="rect">
            <a:avLst/>
          </a:prstGeom>
          <a:noFill/>
          <a:ln w="9525">
            <a:noFill/>
            <a:miter lim="800000"/>
            <a:headEnd/>
            <a:tailEnd/>
          </a:ln>
        </p:spPr>
        <p:txBody>
          <a:bodyPr wrap="none" lIns="103548" tIns="51774" rIns="103548" bIns="51774">
            <a:prstTxWarp prst="textNoShape">
              <a:avLst/>
            </a:prstTxWarp>
            <a:spAutoFit/>
          </a:bodyPr>
          <a:lstStyle/>
          <a:p>
            <a:pPr algn="l" defTabSz="1028700">
              <a:lnSpc>
                <a:spcPct val="100000"/>
              </a:lnSpc>
            </a:pPr>
            <a:r>
              <a:rPr lang="en-GB" sz="2000" b="1"/>
              <a:t>NO:</a:t>
            </a:r>
            <a:r>
              <a:rPr lang="en-GB" sz="2000" b="1">
                <a:solidFill>
                  <a:schemeClr val="accent2"/>
                </a:solidFill>
              </a:rPr>
              <a:t> Exceed</a:t>
            </a:r>
          </a:p>
        </p:txBody>
      </p:sp>
      <p:sp>
        <p:nvSpPr>
          <p:cNvPr id="143374" name="Rectangle 14"/>
          <p:cNvSpPr>
            <a:spLocks noChangeArrowheads="1"/>
          </p:cNvSpPr>
          <p:nvPr/>
        </p:nvSpPr>
        <p:spPr bwMode="auto">
          <a:xfrm>
            <a:off x="7543801" y="1905000"/>
            <a:ext cx="2924175" cy="693380"/>
          </a:xfrm>
          <a:prstGeom prst="rect">
            <a:avLst/>
          </a:prstGeom>
          <a:noFill/>
          <a:ln w="9525">
            <a:noFill/>
            <a:miter lim="800000"/>
            <a:headEnd/>
            <a:tailEnd/>
          </a:ln>
        </p:spPr>
        <p:txBody>
          <a:bodyPr lIns="91050" tIns="44633" rIns="91050" bIns="44633">
            <a:prstTxWarp prst="textNoShape">
              <a:avLst/>
            </a:prstTxWarp>
            <a:spAutoFit/>
          </a:bodyPr>
          <a:lstStyle/>
          <a:p>
            <a:pPr algn="l" defTabSz="788988">
              <a:lnSpc>
                <a:spcPct val="70000"/>
              </a:lnSpc>
            </a:pPr>
            <a:r>
              <a:rPr lang="en-GB" sz="2000" b="1">
                <a:latin typeface="Lucida Handwriting" pitchFamily="1" charset="0"/>
              </a:rPr>
              <a:t>B </a:t>
            </a:r>
            <a:r>
              <a:rPr lang="en-GB" sz="2000" b="1"/>
              <a:t>- Burst size </a:t>
            </a:r>
            <a:r>
              <a:rPr lang="en-GB" sz="1600" b="1"/>
              <a:t>( = </a:t>
            </a:r>
            <a:r>
              <a:rPr lang="en-GB" sz="1600" b="1" i="1"/>
              <a:t>Bc</a:t>
            </a:r>
            <a:r>
              <a:rPr lang="en-GB" sz="1600" b="1"/>
              <a:t>+</a:t>
            </a:r>
            <a:r>
              <a:rPr lang="en-GB" sz="1600" b="1" i="1"/>
              <a:t>Be</a:t>
            </a:r>
            <a:r>
              <a:rPr lang="en-GB" sz="1600" b="1"/>
              <a:t>)</a:t>
            </a:r>
          </a:p>
          <a:p>
            <a:pPr algn="l" defTabSz="788988">
              <a:lnSpc>
                <a:spcPct val="70000"/>
              </a:lnSpc>
            </a:pPr>
            <a:endParaRPr lang="en-GB" sz="1600" b="1"/>
          </a:p>
          <a:p>
            <a:pPr algn="l" defTabSz="788988">
              <a:lnSpc>
                <a:spcPct val="70000"/>
              </a:lnSpc>
            </a:pPr>
            <a:r>
              <a:rPr lang="en-GB" sz="2000" b="1">
                <a:latin typeface="Lucida Handwriting" pitchFamily="1" charset="0"/>
              </a:rPr>
              <a:t>p </a:t>
            </a:r>
            <a:r>
              <a:rPr lang="en-GB" sz="2000" b="1"/>
              <a:t>- Token arrival rate.</a:t>
            </a:r>
          </a:p>
        </p:txBody>
      </p:sp>
      <p:sp>
        <p:nvSpPr>
          <p:cNvPr id="47113" name="Rectangle 15"/>
          <p:cNvSpPr>
            <a:spLocks noChangeArrowheads="1"/>
          </p:cNvSpPr>
          <p:nvPr/>
        </p:nvSpPr>
        <p:spPr bwMode="auto">
          <a:xfrm>
            <a:off x="1695450" y="1636713"/>
            <a:ext cx="3429000" cy="412750"/>
          </a:xfrm>
          <a:prstGeom prst="rect">
            <a:avLst/>
          </a:prstGeom>
          <a:noFill/>
          <a:ln w="9525">
            <a:noFill/>
            <a:miter lim="800000"/>
            <a:headEnd/>
            <a:tailEnd/>
          </a:ln>
        </p:spPr>
        <p:txBody>
          <a:bodyPr lIns="103548" tIns="51774" rIns="103548" bIns="51774">
            <a:prstTxWarp prst="textNoShape">
              <a:avLst/>
            </a:prstTxWarp>
            <a:spAutoFit/>
          </a:bodyPr>
          <a:lstStyle/>
          <a:p>
            <a:pPr defTabSz="1028700">
              <a:lnSpc>
                <a:spcPct val="100000"/>
              </a:lnSpc>
              <a:spcBef>
                <a:spcPct val="50000"/>
              </a:spcBef>
            </a:pPr>
            <a:r>
              <a:rPr lang="en-GB" sz="2000" b="1"/>
              <a:t>1 token = credit for 1 byte</a:t>
            </a:r>
          </a:p>
        </p:txBody>
      </p:sp>
      <p:sp>
        <p:nvSpPr>
          <p:cNvPr id="143376" name="Rectangle 16"/>
          <p:cNvSpPr>
            <a:spLocks noChangeArrowheads="1"/>
          </p:cNvSpPr>
          <p:nvPr/>
        </p:nvSpPr>
        <p:spPr bwMode="auto">
          <a:xfrm>
            <a:off x="5495925" y="4037013"/>
            <a:ext cx="769938" cy="857250"/>
          </a:xfrm>
          <a:prstGeom prst="rect">
            <a:avLst/>
          </a:prstGeom>
          <a:noFill/>
          <a:ln w="9525">
            <a:noFill/>
            <a:miter lim="800000"/>
            <a:headEnd/>
            <a:tailEnd/>
          </a:ln>
          <a:effectLst>
            <a:outerShdw dist="35921" dir="2700000" algn="ctr" rotWithShape="0">
              <a:schemeClr val="tx1"/>
            </a:outerShdw>
          </a:effectLst>
        </p:spPr>
        <p:txBody>
          <a:bodyPr wrap="none" anchor="ctr"/>
          <a:lstStyle/>
          <a:p>
            <a:pPr>
              <a:defRPr/>
            </a:pPr>
            <a:endParaRPr lang="en-US">
              <a:latin typeface="Arial" charset="0"/>
            </a:endParaRPr>
          </a:p>
        </p:txBody>
      </p:sp>
      <p:sp>
        <p:nvSpPr>
          <p:cNvPr id="47115" name="AutoShape 17"/>
          <p:cNvSpPr>
            <a:spLocks noChangeArrowheads="1"/>
          </p:cNvSpPr>
          <p:nvPr/>
        </p:nvSpPr>
        <p:spPr bwMode="auto">
          <a:xfrm>
            <a:off x="5087939" y="4005264"/>
            <a:ext cx="1590675" cy="1552575"/>
          </a:xfrm>
          <a:prstGeom prst="diamond">
            <a:avLst/>
          </a:prstGeom>
          <a:solidFill>
            <a:schemeClr val="hlink"/>
          </a:solidFill>
          <a:ln w="9525">
            <a:noFill/>
            <a:miter lim="800000"/>
            <a:headEnd/>
            <a:tailEnd/>
          </a:ln>
        </p:spPr>
        <p:txBody>
          <a:bodyPr wrap="none" anchor="ctr">
            <a:prstTxWarp prst="textNoShape">
              <a:avLst/>
            </a:prstTxWarp>
          </a:bodyPr>
          <a:lstStyle/>
          <a:p>
            <a:endParaRPr lang="en-US"/>
          </a:p>
        </p:txBody>
      </p:sp>
      <p:sp>
        <p:nvSpPr>
          <p:cNvPr id="47116" name="Rectangle 18"/>
          <p:cNvSpPr>
            <a:spLocks noChangeArrowheads="1"/>
          </p:cNvSpPr>
          <p:nvPr/>
        </p:nvSpPr>
        <p:spPr bwMode="auto">
          <a:xfrm>
            <a:off x="5232400" y="4437064"/>
            <a:ext cx="1284288" cy="714375"/>
          </a:xfrm>
          <a:prstGeom prst="rect">
            <a:avLst/>
          </a:prstGeom>
          <a:noFill/>
          <a:ln w="9525">
            <a:noFill/>
            <a:miter lim="800000"/>
            <a:headEnd/>
            <a:tailEnd/>
          </a:ln>
        </p:spPr>
        <p:txBody>
          <a:bodyPr lIns="103548" tIns="51774" rIns="103548" bIns="51774">
            <a:prstTxWarp prst="textNoShape">
              <a:avLst/>
            </a:prstTxWarp>
            <a:spAutoFit/>
          </a:bodyPr>
          <a:lstStyle/>
          <a:p>
            <a:pPr algn="l" defTabSz="1028700">
              <a:lnSpc>
                <a:spcPct val="100000"/>
              </a:lnSpc>
              <a:spcBef>
                <a:spcPct val="50000"/>
              </a:spcBef>
            </a:pPr>
            <a:r>
              <a:rPr lang="en-GB" sz="2000" b="1"/>
              <a:t>Enough Credits?</a:t>
            </a:r>
          </a:p>
        </p:txBody>
      </p:sp>
      <p:grpSp>
        <p:nvGrpSpPr>
          <p:cNvPr id="47117" name="Group 19"/>
          <p:cNvGrpSpPr>
            <a:grpSpLocks/>
          </p:cNvGrpSpPr>
          <p:nvPr/>
        </p:nvGrpSpPr>
        <p:grpSpPr bwMode="auto">
          <a:xfrm>
            <a:off x="2855914" y="1196975"/>
            <a:ext cx="4261443" cy="2768600"/>
            <a:chOff x="760" y="673"/>
            <a:chExt cx="2387" cy="1551"/>
          </a:xfrm>
        </p:grpSpPr>
        <p:sp>
          <p:nvSpPr>
            <p:cNvPr id="47120" name="Oval 20"/>
            <p:cNvSpPr>
              <a:spLocks noChangeArrowheads="1"/>
            </p:cNvSpPr>
            <p:nvPr/>
          </p:nvSpPr>
          <p:spPr bwMode="auto">
            <a:xfrm>
              <a:off x="2170" y="1508"/>
              <a:ext cx="531" cy="79"/>
            </a:xfrm>
            <a:prstGeom prst="ellipse">
              <a:avLst/>
            </a:prstGeom>
            <a:solidFill>
              <a:schemeClr val="folHlink"/>
            </a:solidFill>
            <a:ln w="25400">
              <a:solidFill>
                <a:schemeClr val="tx1"/>
              </a:solidFill>
              <a:round/>
              <a:headEnd/>
              <a:tailEnd/>
            </a:ln>
          </p:spPr>
          <p:txBody>
            <a:bodyPr wrap="none" anchor="ctr">
              <a:prstTxWarp prst="textNoShape">
                <a:avLst/>
              </a:prstTxWarp>
            </a:bodyPr>
            <a:lstStyle/>
            <a:p>
              <a:endParaRPr lang="en-US"/>
            </a:p>
          </p:txBody>
        </p:sp>
        <p:grpSp>
          <p:nvGrpSpPr>
            <p:cNvPr id="47121" name="Group 21"/>
            <p:cNvGrpSpPr>
              <a:grpSpLocks/>
            </p:cNvGrpSpPr>
            <p:nvPr/>
          </p:nvGrpSpPr>
          <p:grpSpPr bwMode="auto">
            <a:xfrm>
              <a:off x="2353" y="673"/>
              <a:ext cx="727" cy="874"/>
              <a:chOff x="2353" y="673"/>
              <a:chExt cx="727" cy="874"/>
            </a:xfrm>
          </p:grpSpPr>
          <p:grpSp>
            <p:nvGrpSpPr>
              <p:cNvPr id="47134" name="Group 22"/>
              <p:cNvGrpSpPr>
                <a:grpSpLocks/>
              </p:cNvGrpSpPr>
              <p:nvPr/>
            </p:nvGrpSpPr>
            <p:grpSpPr bwMode="auto">
              <a:xfrm>
                <a:off x="2353" y="673"/>
                <a:ext cx="160" cy="874"/>
                <a:chOff x="2353" y="673"/>
                <a:chExt cx="160" cy="874"/>
              </a:xfrm>
            </p:grpSpPr>
            <p:sp>
              <p:nvSpPr>
                <p:cNvPr id="47137" name="Oval 23"/>
                <p:cNvSpPr>
                  <a:spLocks noChangeArrowheads="1"/>
                </p:cNvSpPr>
                <p:nvPr/>
              </p:nvSpPr>
              <p:spPr bwMode="auto">
                <a:xfrm>
                  <a:off x="2353" y="673"/>
                  <a:ext cx="160" cy="182"/>
                </a:xfrm>
                <a:prstGeom prst="ellipse">
                  <a:avLst/>
                </a:prstGeom>
                <a:solidFill>
                  <a:srgbClr val="868686"/>
                </a:solidFill>
                <a:ln w="12700">
                  <a:solidFill>
                    <a:srgbClr val="868686"/>
                  </a:solidFill>
                  <a:round/>
                  <a:headEnd/>
                  <a:tailEnd/>
                </a:ln>
              </p:spPr>
              <p:txBody>
                <a:bodyPr wrap="none" anchor="ctr">
                  <a:prstTxWarp prst="textNoShape">
                    <a:avLst/>
                  </a:prstTxWarp>
                </a:bodyPr>
                <a:lstStyle/>
                <a:p>
                  <a:endParaRPr lang="en-US"/>
                </a:p>
              </p:txBody>
            </p:sp>
            <p:sp>
              <p:nvSpPr>
                <p:cNvPr id="47138" name="Oval 24"/>
                <p:cNvSpPr>
                  <a:spLocks noChangeArrowheads="1"/>
                </p:cNvSpPr>
                <p:nvPr/>
              </p:nvSpPr>
              <p:spPr bwMode="auto">
                <a:xfrm>
                  <a:off x="2353" y="910"/>
                  <a:ext cx="160" cy="182"/>
                </a:xfrm>
                <a:prstGeom prst="ellipse">
                  <a:avLst/>
                </a:prstGeom>
                <a:solidFill>
                  <a:srgbClr val="868686"/>
                </a:solidFill>
                <a:ln w="12700">
                  <a:solidFill>
                    <a:srgbClr val="868686"/>
                  </a:solidFill>
                  <a:round/>
                  <a:headEnd/>
                  <a:tailEnd/>
                </a:ln>
              </p:spPr>
              <p:txBody>
                <a:bodyPr wrap="none" anchor="ctr">
                  <a:prstTxWarp prst="textNoShape">
                    <a:avLst/>
                  </a:prstTxWarp>
                </a:bodyPr>
                <a:lstStyle/>
                <a:p>
                  <a:endParaRPr lang="en-US"/>
                </a:p>
              </p:txBody>
            </p:sp>
            <p:sp>
              <p:nvSpPr>
                <p:cNvPr id="47139" name="Oval 25"/>
                <p:cNvSpPr>
                  <a:spLocks noChangeArrowheads="1"/>
                </p:cNvSpPr>
                <p:nvPr/>
              </p:nvSpPr>
              <p:spPr bwMode="auto">
                <a:xfrm>
                  <a:off x="2353" y="1147"/>
                  <a:ext cx="160" cy="182"/>
                </a:xfrm>
                <a:prstGeom prst="ellipse">
                  <a:avLst/>
                </a:prstGeom>
                <a:solidFill>
                  <a:srgbClr val="868686"/>
                </a:solidFill>
                <a:ln w="12700">
                  <a:solidFill>
                    <a:srgbClr val="868686"/>
                  </a:solidFill>
                  <a:round/>
                  <a:headEnd/>
                  <a:tailEnd/>
                </a:ln>
              </p:spPr>
              <p:txBody>
                <a:bodyPr wrap="none" anchor="ctr">
                  <a:prstTxWarp prst="textNoShape">
                    <a:avLst/>
                  </a:prstTxWarp>
                </a:bodyPr>
                <a:lstStyle/>
                <a:p>
                  <a:endParaRPr lang="en-US"/>
                </a:p>
              </p:txBody>
            </p:sp>
            <p:sp>
              <p:nvSpPr>
                <p:cNvPr id="47140" name="AutoShape 26"/>
                <p:cNvSpPr>
                  <a:spLocks noChangeArrowheads="1"/>
                </p:cNvSpPr>
                <p:nvPr/>
              </p:nvSpPr>
              <p:spPr bwMode="auto">
                <a:xfrm>
                  <a:off x="2378" y="1366"/>
                  <a:ext cx="118" cy="181"/>
                </a:xfrm>
                <a:prstGeom prst="downArrow">
                  <a:avLst>
                    <a:gd name="adj1" fmla="val 50000"/>
                    <a:gd name="adj2" fmla="val 76702"/>
                  </a:avLst>
                </a:prstGeom>
                <a:solidFill>
                  <a:schemeClr val="accent2"/>
                </a:solidFill>
                <a:ln w="12700">
                  <a:solidFill>
                    <a:schemeClr val="tx1"/>
                  </a:solidFill>
                  <a:miter lim="800000"/>
                  <a:headEnd/>
                  <a:tailEnd/>
                </a:ln>
              </p:spPr>
              <p:txBody>
                <a:bodyPr wrap="none" anchor="ctr">
                  <a:prstTxWarp prst="textNoShape">
                    <a:avLst/>
                  </a:prstTxWarp>
                </a:bodyPr>
                <a:lstStyle/>
                <a:p>
                  <a:endParaRPr lang="en-US"/>
                </a:p>
              </p:txBody>
            </p:sp>
          </p:grpSp>
          <p:sp>
            <p:nvSpPr>
              <p:cNvPr id="47135" name="Rectangle 27"/>
              <p:cNvSpPr>
                <a:spLocks noChangeArrowheads="1"/>
              </p:cNvSpPr>
              <p:nvPr/>
            </p:nvSpPr>
            <p:spPr bwMode="auto">
              <a:xfrm>
                <a:off x="2487" y="1294"/>
                <a:ext cx="205" cy="231"/>
              </a:xfrm>
              <a:prstGeom prst="rect">
                <a:avLst/>
              </a:prstGeom>
              <a:noFill/>
              <a:ln w="9525">
                <a:noFill/>
                <a:miter lim="800000"/>
                <a:headEnd/>
                <a:tailEnd/>
              </a:ln>
            </p:spPr>
            <p:txBody>
              <a:bodyPr wrap="none" lIns="103548" tIns="51774" rIns="103548" bIns="51774">
                <a:prstTxWarp prst="textNoShape">
                  <a:avLst/>
                </a:prstTxWarp>
                <a:spAutoFit/>
              </a:bodyPr>
              <a:lstStyle/>
              <a:p>
                <a:pPr algn="l" defTabSz="1028700">
                  <a:lnSpc>
                    <a:spcPct val="100000"/>
                  </a:lnSpc>
                </a:pPr>
                <a:r>
                  <a:rPr lang="en-GB" sz="2000" b="1">
                    <a:latin typeface="Lucida Handwriting" pitchFamily="1" charset="0"/>
                  </a:rPr>
                  <a:t>p</a:t>
                </a:r>
              </a:p>
            </p:txBody>
          </p:sp>
          <p:sp>
            <p:nvSpPr>
              <p:cNvPr id="47136" name="Rectangle 28"/>
              <p:cNvSpPr>
                <a:spLocks noChangeArrowheads="1"/>
              </p:cNvSpPr>
              <p:nvPr/>
            </p:nvSpPr>
            <p:spPr bwMode="auto">
              <a:xfrm>
                <a:off x="2517" y="763"/>
                <a:ext cx="563" cy="212"/>
              </a:xfrm>
              <a:prstGeom prst="rect">
                <a:avLst/>
              </a:prstGeom>
              <a:noFill/>
              <a:ln w="9525">
                <a:noFill/>
                <a:miter lim="800000"/>
                <a:headEnd/>
                <a:tailEnd/>
              </a:ln>
            </p:spPr>
            <p:txBody>
              <a:bodyPr wrap="none" lIns="103548" tIns="51774" rIns="103548" bIns="51774">
                <a:prstTxWarp prst="textNoShape">
                  <a:avLst/>
                </a:prstTxWarp>
                <a:spAutoFit/>
              </a:bodyPr>
              <a:lstStyle/>
              <a:p>
                <a:pPr algn="l" defTabSz="1028700">
                  <a:lnSpc>
                    <a:spcPct val="100000"/>
                  </a:lnSpc>
                </a:pPr>
                <a:r>
                  <a:rPr lang="en-GB" sz="1800" b="1"/>
                  <a:t>Tokens</a:t>
                </a:r>
              </a:p>
            </p:txBody>
          </p:sp>
        </p:grpSp>
        <p:grpSp>
          <p:nvGrpSpPr>
            <p:cNvPr id="47122" name="Group 29"/>
            <p:cNvGrpSpPr>
              <a:grpSpLocks/>
            </p:cNvGrpSpPr>
            <p:nvPr/>
          </p:nvGrpSpPr>
          <p:grpSpPr bwMode="auto">
            <a:xfrm>
              <a:off x="2765" y="1523"/>
              <a:ext cx="382" cy="603"/>
              <a:chOff x="2765" y="1523"/>
              <a:chExt cx="382" cy="603"/>
            </a:xfrm>
          </p:grpSpPr>
          <p:sp>
            <p:nvSpPr>
              <p:cNvPr id="47132" name="Freeform 30"/>
              <p:cNvSpPr>
                <a:spLocks/>
              </p:cNvSpPr>
              <p:nvPr/>
            </p:nvSpPr>
            <p:spPr bwMode="auto">
              <a:xfrm>
                <a:off x="2765" y="1523"/>
                <a:ext cx="182" cy="603"/>
              </a:xfrm>
              <a:custGeom>
                <a:avLst/>
                <a:gdLst>
                  <a:gd name="T0" fmla="*/ 8 w 182"/>
                  <a:gd name="T1" fmla="*/ 0 h 603"/>
                  <a:gd name="T2" fmla="*/ 181 w 182"/>
                  <a:gd name="T3" fmla="*/ 0 h 603"/>
                  <a:gd name="T4" fmla="*/ 181 w 182"/>
                  <a:gd name="T5" fmla="*/ 602 h 603"/>
                  <a:gd name="T6" fmla="*/ 0 w 182"/>
                  <a:gd name="T7" fmla="*/ 602 h 603"/>
                  <a:gd name="T8" fmla="*/ 0 60000 65536"/>
                  <a:gd name="T9" fmla="*/ 0 60000 65536"/>
                  <a:gd name="T10" fmla="*/ 0 60000 65536"/>
                  <a:gd name="T11" fmla="*/ 0 60000 65536"/>
                  <a:gd name="T12" fmla="*/ 0 w 182"/>
                  <a:gd name="T13" fmla="*/ 0 h 603"/>
                  <a:gd name="T14" fmla="*/ 182 w 182"/>
                  <a:gd name="T15" fmla="*/ 603 h 603"/>
                </a:gdLst>
                <a:ahLst/>
                <a:cxnLst>
                  <a:cxn ang="T8">
                    <a:pos x="T0" y="T1"/>
                  </a:cxn>
                  <a:cxn ang="T9">
                    <a:pos x="T2" y="T3"/>
                  </a:cxn>
                  <a:cxn ang="T10">
                    <a:pos x="T4" y="T5"/>
                  </a:cxn>
                  <a:cxn ang="T11">
                    <a:pos x="T6" y="T7"/>
                  </a:cxn>
                </a:cxnLst>
                <a:rect l="T12" t="T13" r="T14" b="T15"/>
                <a:pathLst>
                  <a:path w="182" h="603">
                    <a:moveTo>
                      <a:pt x="8" y="0"/>
                    </a:moveTo>
                    <a:lnTo>
                      <a:pt x="181" y="0"/>
                    </a:lnTo>
                    <a:lnTo>
                      <a:pt x="181" y="602"/>
                    </a:lnTo>
                    <a:lnTo>
                      <a:pt x="0" y="602"/>
                    </a:lnTo>
                  </a:path>
                </a:pathLst>
              </a:custGeom>
              <a:noFill/>
              <a:ln w="50800" cap="rnd">
                <a:solidFill>
                  <a:schemeClr val="accent2"/>
                </a:solidFill>
                <a:round/>
                <a:headEnd type="none" w="sm" len="sm"/>
                <a:tailEnd type="none" w="sm" len="sm"/>
              </a:ln>
            </p:spPr>
            <p:txBody>
              <a:bodyPr>
                <a:prstTxWarp prst="textNoShape">
                  <a:avLst/>
                </a:prstTxWarp>
              </a:bodyPr>
              <a:lstStyle/>
              <a:p>
                <a:endParaRPr lang="en-US"/>
              </a:p>
            </p:txBody>
          </p:sp>
          <p:sp>
            <p:nvSpPr>
              <p:cNvPr id="47133" name="Rectangle 31"/>
              <p:cNvSpPr>
                <a:spLocks noChangeArrowheads="1"/>
              </p:cNvSpPr>
              <p:nvPr/>
            </p:nvSpPr>
            <p:spPr bwMode="auto">
              <a:xfrm>
                <a:off x="2921" y="1712"/>
                <a:ext cx="226" cy="231"/>
              </a:xfrm>
              <a:prstGeom prst="rect">
                <a:avLst/>
              </a:prstGeom>
              <a:noFill/>
              <a:ln w="9525">
                <a:noFill/>
                <a:miter lim="800000"/>
                <a:headEnd/>
                <a:tailEnd/>
              </a:ln>
            </p:spPr>
            <p:txBody>
              <a:bodyPr wrap="none" lIns="103548" tIns="51774" rIns="103548" bIns="51774">
                <a:prstTxWarp prst="textNoShape">
                  <a:avLst/>
                </a:prstTxWarp>
                <a:spAutoFit/>
              </a:bodyPr>
              <a:lstStyle/>
              <a:p>
                <a:pPr algn="l" defTabSz="1028700">
                  <a:lnSpc>
                    <a:spcPct val="100000"/>
                  </a:lnSpc>
                </a:pPr>
                <a:r>
                  <a:rPr lang="en-GB" sz="2000" b="1">
                    <a:latin typeface="Lucida Handwriting" pitchFamily="1" charset="0"/>
                  </a:rPr>
                  <a:t>B</a:t>
                </a:r>
              </a:p>
            </p:txBody>
          </p:sp>
        </p:grpSp>
        <p:grpSp>
          <p:nvGrpSpPr>
            <p:cNvPr id="47123" name="Group 32"/>
            <p:cNvGrpSpPr>
              <a:grpSpLocks/>
            </p:cNvGrpSpPr>
            <p:nvPr/>
          </p:nvGrpSpPr>
          <p:grpSpPr bwMode="auto">
            <a:xfrm>
              <a:off x="760" y="1292"/>
              <a:ext cx="1577" cy="932"/>
              <a:chOff x="760" y="1292"/>
              <a:chExt cx="1577" cy="932"/>
            </a:xfrm>
          </p:grpSpPr>
          <p:sp>
            <p:nvSpPr>
              <p:cNvPr id="47126" name="Arc 33"/>
              <p:cNvSpPr>
                <a:spLocks/>
              </p:cNvSpPr>
              <p:nvPr/>
            </p:nvSpPr>
            <p:spPr bwMode="auto">
              <a:xfrm>
                <a:off x="1487" y="1292"/>
                <a:ext cx="850" cy="508"/>
              </a:xfrm>
              <a:custGeom>
                <a:avLst/>
                <a:gdLst>
                  <a:gd name="T0" fmla="*/ 0 w 37857"/>
                  <a:gd name="T1" fmla="*/ 272 h 21600"/>
                  <a:gd name="T2" fmla="*/ 850 w 37857"/>
                  <a:gd name="T3" fmla="*/ 255 h 21600"/>
                  <a:gd name="T4" fmla="*/ 430 w 37857"/>
                  <a:gd name="T5" fmla="*/ 508 h 21600"/>
                  <a:gd name="T6" fmla="*/ 0 60000 65536"/>
                  <a:gd name="T7" fmla="*/ 0 60000 65536"/>
                  <a:gd name="T8" fmla="*/ 0 60000 65536"/>
                  <a:gd name="T9" fmla="*/ 0 w 37857"/>
                  <a:gd name="T10" fmla="*/ 0 h 21600"/>
                  <a:gd name="T11" fmla="*/ 37857 w 37857"/>
                  <a:gd name="T12" fmla="*/ 21600 h 21600"/>
                </a:gdLst>
                <a:ahLst/>
                <a:cxnLst>
                  <a:cxn ang="T6">
                    <a:pos x="T0" y="T1"/>
                  </a:cxn>
                  <a:cxn ang="T7">
                    <a:pos x="T2" y="T3"/>
                  </a:cxn>
                  <a:cxn ang="T8">
                    <a:pos x="T4" y="T5"/>
                  </a:cxn>
                </a:cxnLst>
                <a:rect l="T9" t="T10" r="T11" b="T12"/>
                <a:pathLst>
                  <a:path w="37857" h="21600" fill="none" extrusionOk="0">
                    <a:moveTo>
                      <a:pt x="0" y="11575"/>
                    </a:moveTo>
                    <a:cubicBezTo>
                      <a:pt x="3728" y="4458"/>
                      <a:pt x="11099" y="-1"/>
                      <a:pt x="19133" y="0"/>
                    </a:cubicBezTo>
                    <a:cubicBezTo>
                      <a:pt x="26863" y="0"/>
                      <a:pt x="34003" y="4130"/>
                      <a:pt x="37857" y="10831"/>
                    </a:cubicBezTo>
                  </a:path>
                  <a:path w="37857" h="21600" stroke="0" extrusionOk="0">
                    <a:moveTo>
                      <a:pt x="0" y="11575"/>
                    </a:moveTo>
                    <a:cubicBezTo>
                      <a:pt x="3728" y="4458"/>
                      <a:pt x="11099" y="-1"/>
                      <a:pt x="19133" y="0"/>
                    </a:cubicBezTo>
                    <a:cubicBezTo>
                      <a:pt x="26863" y="0"/>
                      <a:pt x="34003" y="4130"/>
                      <a:pt x="37857" y="10831"/>
                    </a:cubicBezTo>
                    <a:lnTo>
                      <a:pt x="19133" y="21600"/>
                    </a:lnTo>
                    <a:close/>
                  </a:path>
                </a:pathLst>
              </a:custGeom>
              <a:noFill/>
              <a:ln w="50800" cap="rnd">
                <a:solidFill>
                  <a:schemeClr val="accent2"/>
                </a:solidFill>
                <a:round/>
                <a:headEnd type="stealth" w="med" len="med"/>
                <a:tailEnd type="none" w="sm" len="sm"/>
              </a:ln>
            </p:spPr>
            <p:txBody>
              <a:bodyPr wrap="none" anchor="ctr">
                <a:prstTxWarp prst="textNoShape">
                  <a:avLst/>
                </a:prstTxWarp>
              </a:bodyPr>
              <a:lstStyle/>
              <a:p>
                <a:endParaRPr lang="en-US"/>
              </a:p>
            </p:txBody>
          </p:sp>
          <p:grpSp>
            <p:nvGrpSpPr>
              <p:cNvPr id="47127" name="Group 34"/>
              <p:cNvGrpSpPr>
                <a:grpSpLocks/>
              </p:cNvGrpSpPr>
              <p:nvPr/>
            </p:nvGrpSpPr>
            <p:grpSpPr bwMode="auto">
              <a:xfrm>
                <a:off x="1402" y="1602"/>
                <a:ext cx="164" cy="622"/>
                <a:chOff x="1402" y="1602"/>
                <a:chExt cx="164" cy="622"/>
              </a:xfrm>
            </p:grpSpPr>
            <p:sp>
              <p:nvSpPr>
                <p:cNvPr id="47129" name="Oval 35"/>
                <p:cNvSpPr>
                  <a:spLocks noChangeArrowheads="1"/>
                </p:cNvSpPr>
                <p:nvPr/>
              </p:nvSpPr>
              <p:spPr bwMode="auto">
                <a:xfrm>
                  <a:off x="1402" y="1602"/>
                  <a:ext cx="161" cy="181"/>
                </a:xfrm>
                <a:prstGeom prst="ellipse">
                  <a:avLst/>
                </a:prstGeom>
                <a:solidFill>
                  <a:srgbClr val="868686"/>
                </a:solidFill>
                <a:ln w="12700">
                  <a:solidFill>
                    <a:srgbClr val="868686"/>
                  </a:solidFill>
                  <a:round/>
                  <a:headEnd/>
                  <a:tailEnd/>
                </a:ln>
              </p:spPr>
              <p:txBody>
                <a:bodyPr wrap="none" anchor="ctr">
                  <a:prstTxWarp prst="textNoShape">
                    <a:avLst/>
                  </a:prstTxWarp>
                </a:bodyPr>
                <a:lstStyle/>
                <a:p>
                  <a:endParaRPr lang="en-US"/>
                </a:p>
              </p:txBody>
            </p:sp>
            <p:sp>
              <p:nvSpPr>
                <p:cNvPr id="47130" name="Oval 36"/>
                <p:cNvSpPr>
                  <a:spLocks noChangeArrowheads="1"/>
                </p:cNvSpPr>
                <p:nvPr/>
              </p:nvSpPr>
              <p:spPr bwMode="auto">
                <a:xfrm>
                  <a:off x="1404" y="1826"/>
                  <a:ext cx="160" cy="182"/>
                </a:xfrm>
                <a:prstGeom prst="ellipse">
                  <a:avLst/>
                </a:prstGeom>
                <a:solidFill>
                  <a:srgbClr val="868686"/>
                </a:solidFill>
                <a:ln w="12700">
                  <a:solidFill>
                    <a:srgbClr val="868686"/>
                  </a:solidFill>
                  <a:round/>
                  <a:headEnd/>
                  <a:tailEnd/>
                </a:ln>
              </p:spPr>
              <p:txBody>
                <a:bodyPr wrap="none" anchor="ctr">
                  <a:prstTxWarp prst="textNoShape">
                    <a:avLst/>
                  </a:prstTxWarp>
                </a:bodyPr>
                <a:lstStyle/>
                <a:p>
                  <a:endParaRPr lang="en-US"/>
                </a:p>
              </p:txBody>
            </p:sp>
            <p:sp>
              <p:nvSpPr>
                <p:cNvPr id="47131" name="Oval 37"/>
                <p:cNvSpPr>
                  <a:spLocks noChangeArrowheads="1"/>
                </p:cNvSpPr>
                <p:nvPr/>
              </p:nvSpPr>
              <p:spPr bwMode="auto">
                <a:xfrm>
                  <a:off x="1406" y="2042"/>
                  <a:ext cx="160" cy="182"/>
                </a:xfrm>
                <a:prstGeom prst="ellipse">
                  <a:avLst/>
                </a:prstGeom>
                <a:solidFill>
                  <a:srgbClr val="868686"/>
                </a:solidFill>
                <a:ln w="12700">
                  <a:solidFill>
                    <a:srgbClr val="868686"/>
                  </a:solidFill>
                  <a:round/>
                  <a:headEnd/>
                  <a:tailEnd/>
                </a:ln>
              </p:spPr>
              <p:txBody>
                <a:bodyPr wrap="none" anchor="ctr">
                  <a:prstTxWarp prst="textNoShape">
                    <a:avLst/>
                  </a:prstTxWarp>
                </a:bodyPr>
                <a:lstStyle/>
                <a:p>
                  <a:endParaRPr lang="en-US"/>
                </a:p>
              </p:txBody>
            </p:sp>
          </p:grpSp>
          <p:sp>
            <p:nvSpPr>
              <p:cNvPr id="47128" name="Rectangle 38"/>
              <p:cNvSpPr>
                <a:spLocks noChangeArrowheads="1"/>
              </p:cNvSpPr>
              <p:nvPr/>
            </p:nvSpPr>
            <p:spPr bwMode="auto">
              <a:xfrm>
                <a:off x="760" y="1623"/>
                <a:ext cx="664" cy="366"/>
              </a:xfrm>
              <a:prstGeom prst="rect">
                <a:avLst/>
              </a:prstGeom>
              <a:noFill/>
              <a:ln w="9525">
                <a:noFill/>
                <a:miter lim="800000"/>
                <a:headEnd/>
                <a:tailEnd/>
              </a:ln>
            </p:spPr>
            <p:txBody>
              <a:bodyPr wrap="none" lIns="103548" tIns="51774" rIns="103548" bIns="51774">
                <a:prstTxWarp prst="textNoShape">
                  <a:avLst/>
                </a:prstTxWarp>
                <a:spAutoFit/>
              </a:bodyPr>
              <a:lstStyle/>
              <a:p>
                <a:pPr algn="l" defTabSz="1028700">
                  <a:lnSpc>
                    <a:spcPct val="100000"/>
                  </a:lnSpc>
                </a:pPr>
                <a:r>
                  <a:rPr lang="en-GB" sz="1800" b="1"/>
                  <a:t>Overflow</a:t>
                </a:r>
              </a:p>
              <a:p>
                <a:pPr algn="l" defTabSz="1028700">
                  <a:lnSpc>
                    <a:spcPct val="100000"/>
                  </a:lnSpc>
                </a:pPr>
                <a:r>
                  <a:rPr lang="en-GB" sz="1800" b="1"/>
                  <a:t>Tokens</a:t>
                </a:r>
              </a:p>
            </p:txBody>
          </p:sp>
        </p:grpSp>
        <p:sp>
          <p:nvSpPr>
            <p:cNvPr id="47124" name="Freeform 39"/>
            <p:cNvSpPr>
              <a:spLocks/>
            </p:cNvSpPr>
            <p:nvPr/>
          </p:nvSpPr>
          <p:spPr bwMode="auto">
            <a:xfrm>
              <a:off x="2176" y="1537"/>
              <a:ext cx="529" cy="577"/>
            </a:xfrm>
            <a:custGeom>
              <a:avLst/>
              <a:gdLst>
                <a:gd name="T0" fmla="*/ 0 w 529"/>
                <a:gd name="T1" fmla="*/ 0 h 577"/>
                <a:gd name="T2" fmla="*/ 0 w 529"/>
                <a:gd name="T3" fmla="*/ 576 h 577"/>
                <a:gd name="T4" fmla="*/ 528 w 529"/>
                <a:gd name="T5" fmla="*/ 576 h 577"/>
                <a:gd name="T6" fmla="*/ 528 w 529"/>
                <a:gd name="T7" fmla="*/ 0 h 577"/>
                <a:gd name="T8" fmla="*/ 0 60000 65536"/>
                <a:gd name="T9" fmla="*/ 0 60000 65536"/>
                <a:gd name="T10" fmla="*/ 0 60000 65536"/>
                <a:gd name="T11" fmla="*/ 0 60000 65536"/>
                <a:gd name="T12" fmla="*/ 0 w 529"/>
                <a:gd name="T13" fmla="*/ 0 h 577"/>
                <a:gd name="T14" fmla="*/ 529 w 529"/>
                <a:gd name="T15" fmla="*/ 577 h 577"/>
              </a:gdLst>
              <a:ahLst/>
              <a:cxnLst>
                <a:cxn ang="T8">
                  <a:pos x="T0" y="T1"/>
                </a:cxn>
                <a:cxn ang="T9">
                  <a:pos x="T2" y="T3"/>
                </a:cxn>
                <a:cxn ang="T10">
                  <a:pos x="T4" y="T5"/>
                </a:cxn>
                <a:cxn ang="T11">
                  <a:pos x="T6" y="T7"/>
                </a:cxn>
              </a:cxnLst>
              <a:rect l="T12" t="T13" r="T14" b="T15"/>
              <a:pathLst>
                <a:path w="529" h="577">
                  <a:moveTo>
                    <a:pt x="0" y="0"/>
                  </a:moveTo>
                  <a:lnTo>
                    <a:pt x="0" y="576"/>
                  </a:lnTo>
                  <a:lnTo>
                    <a:pt x="528" y="576"/>
                  </a:lnTo>
                  <a:lnTo>
                    <a:pt x="528" y="0"/>
                  </a:lnTo>
                </a:path>
              </a:pathLst>
            </a:custGeom>
            <a:solidFill>
              <a:schemeClr val="folHlink"/>
            </a:solidFill>
            <a:ln w="25400" cap="rnd">
              <a:solidFill>
                <a:schemeClr val="tx1"/>
              </a:solidFill>
              <a:round/>
              <a:headEnd type="none" w="sm" len="sm"/>
              <a:tailEnd type="none" w="sm" len="sm"/>
            </a:ln>
          </p:spPr>
          <p:txBody>
            <a:bodyPr>
              <a:prstTxWarp prst="textNoShape">
                <a:avLst/>
              </a:prstTxWarp>
            </a:bodyPr>
            <a:lstStyle/>
            <a:p>
              <a:endParaRPr lang="en-US"/>
            </a:p>
          </p:txBody>
        </p:sp>
        <p:sp>
          <p:nvSpPr>
            <p:cNvPr id="47125" name="Oval 40"/>
            <p:cNvSpPr>
              <a:spLocks noChangeArrowheads="1"/>
            </p:cNvSpPr>
            <p:nvPr/>
          </p:nvSpPr>
          <p:spPr bwMode="auto">
            <a:xfrm>
              <a:off x="2172" y="2085"/>
              <a:ext cx="531" cy="79"/>
            </a:xfrm>
            <a:prstGeom prst="ellipse">
              <a:avLst/>
            </a:prstGeom>
            <a:solidFill>
              <a:schemeClr val="folHlink"/>
            </a:solidFill>
            <a:ln w="25400">
              <a:solidFill>
                <a:schemeClr val="tx1"/>
              </a:solidFill>
              <a:round/>
              <a:headEnd/>
              <a:tailEnd/>
            </a:ln>
          </p:spPr>
          <p:txBody>
            <a:bodyPr wrap="none" anchor="ctr">
              <a:prstTxWarp prst="textNoShape">
                <a:avLst/>
              </a:prstTxWarp>
            </a:bodyPr>
            <a:lstStyle/>
            <a:p>
              <a:endParaRPr lang="en-US"/>
            </a:p>
          </p:txBody>
        </p:sp>
      </p:grpSp>
      <p:sp>
        <p:nvSpPr>
          <p:cNvPr id="47118" name="Line 41"/>
          <p:cNvSpPr>
            <a:spLocks noChangeShapeType="1"/>
          </p:cNvSpPr>
          <p:nvPr/>
        </p:nvSpPr>
        <p:spPr bwMode="auto">
          <a:xfrm flipH="1" flipV="1">
            <a:off x="7866063" y="2665413"/>
            <a:ext cx="342900" cy="342900"/>
          </a:xfrm>
          <a:prstGeom prst="line">
            <a:avLst/>
          </a:prstGeom>
          <a:noFill/>
          <a:ln w="9525">
            <a:solidFill>
              <a:schemeClr val="tx1"/>
            </a:solidFill>
            <a:round/>
            <a:headEnd type="none" w="sm" len="sm"/>
            <a:tailEnd type="triangle" w="med" len="med"/>
          </a:ln>
        </p:spPr>
        <p:txBody>
          <a:bodyPr wrap="none" anchor="ctr">
            <a:prstTxWarp prst="textNoShape">
              <a:avLst/>
            </a:prstTxWarp>
          </a:bodyPr>
          <a:lstStyle/>
          <a:p>
            <a:endParaRPr lang="en-US"/>
          </a:p>
        </p:txBody>
      </p:sp>
      <p:sp>
        <p:nvSpPr>
          <p:cNvPr id="47119" name="Text Box 42"/>
          <p:cNvSpPr txBox="1">
            <a:spLocks noChangeArrowheads="1"/>
          </p:cNvSpPr>
          <p:nvPr/>
        </p:nvSpPr>
        <p:spPr bwMode="auto">
          <a:xfrm>
            <a:off x="8037513" y="3008313"/>
            <a:ext cx="2400300" cy="1334944"/>
          </a:xfrm>
          <a:prstGeom prst="rect">
            <a:avLst/>
          </a:prstGeom>
          <a:solidFill>
            <a:schemeClr val="tx2"/>
          </a:solidFill>
          <a:ln w="9525">
            <a:noFill/>
            <a:miter lim="800000"/>
            <a:headEnd type="none" w="sm" len="sm"/>
            <a:tailEnd type="none" w="sm" len="sm"/>
          </a:ln>
        </p:spPr>
        <p:txBody>
          <a:bodyPr lIns="102833" tIns="51417" rIns="102833" bIns="51417">
            <a:prstTxWarp prst="textNoShape">
              <a:avLst/>
            </a:prstTxWarp>
            <a:spAutoFit/>
          </a:bodyPr>
          <a:lstStyle/>
          <a:p>
            <a:pPr defTabSz="1028700">
              <a:lnSpc>
                <a:spcPct val="100000"/>
              </a:lnSpc>
              <a:spcBef>
                <a:spcPct val="50000"/>
              </a:spcBef>
            </a:pPr>
            <a:r>
              <a:rPr lang="en-GB" sz="2000" b="1">
                <a:solidFill>
                  <a:schemeClr val="bg1"/>
                </a:solidFill>
              </a:rPr>
              <a:t>In practice, add an increment of </a:t>
            </a:r>
            <a:r>
              <a:rPr lang="en-GB" sz="2000" b="1" i="1">
                <a:solidFill>
                  <a:schemeClr val="bg1"/>
                </a:solidFill>
              </a:rPr>
              <a:t>Bc</a:t>
            </a:r>
            <a:r>
              <a:rPr lang="en-GB" sz="2000" b="1">
                <a:solidFill>
                  <a:schemeClr val="bg1"/>
                </a:solidFill>
              </a:rPr>
              <a:t> tokens every </a:t>
            </a:r>
            <a:r>
              <a:rPr lang="en-GB" sz="2000" b="1" i="1">
                <a:solidFill>
                  <a:schemeClr val="bg1"/>
                </a:solidFill>
              </a:rPr>
              <a:t>Tc</a:t>
            </a:r>
            <a:r>
              <a:rPr lang="en-GB" sz="2000" b="1">
                <a:solidFill>
                  <a:schemeClr val="bg1"/>
                </a:solidFill>
              </a:rPr>
              <a:t> ms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33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74"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t>Token Bucket</a:t>
            </a:r>
          </a:p>
        </p:txBody>
      </p:sp>
      <p:sp>
        <p:nvSpPr>
          <p:cNvPr id="48131" name="Rectangle 3"/>
          <p:cNvSpPr>
            <a:spLocks noGrp="1" noChangeArrowheads="1"/>
          </p:cNvSpPr>
          <p:nvPr>
            <p:ph idx="1"/>
          </p:nvPr>
        </p:nvSpPr>
        <p:spPr>
          <a:xfrm>
            <a:off x="2063751" y="1412876"/>
            <a:ext cx="7940675" cy="4968875"/>
          </a:xfrm>
        </p:spPr>
        <p:txBody>
          <a:bodyPr/>
          <a:lstStyle/>
          <a:p>
            <a:pPr>
              <a:lnSpc>
                <a:spcPct val="85000"/>
              </a:lnSpc>
            </a:pPr>
            <a:r>
              <a:rPr lang="en-US" sz="2800" i="1">
                <a:solidFill>
                  <a:schemeClr val="accent1"/>
                </a:solidFill>
              </a:rPr>
              <a:t>Bc</a:t>
            </a:r>
            <a:r>
              <a:rPr lang="en-US" sz="2800"/>
              <a:t> tokens are added to the bucket every </a:t>
            </a:r>
            <a:r>
              <a:rPr lang="en-US" sz="2800" i="1">
                <a:solidFill>
                  <a:schemeClr val="accent1"/>
                </a:solidFill>
              </a:rPr>
              <a:t>Tc</a:t>
            </a:r>
            <a:r>
              <a:rPr lang="en-US" sz="2800"/>
              <a:t> ms</a:t>
            </a:r>
          </a:p>
          <a:p>
            <a:pPr>
              <a:lnSpc>
                <a:spcPct val="85000"/>
              </a:lnSpc>
            </a:pPr>
            <a:r>
              <a:rPr lang="en-US" sz="2800"/>
              <a:t>If bucket is full, new tokens are discarded</a:t>
            </a:r>
          </a:p>
          <a:p>
            <a:pPr>
              <a:lnSpc>
                <a:spcPct val="85000"/>
              </a:lnSpc>
            </a:pPr>
            <a:endParaRPr lang="en-US" sz="2800"/>
          </a:p>
          <a:p>
            <a:pPr>
              <a:lnSpc>
                <a:spcPct val="85000"/>
              </a:lnSpc>
            </a:pPr>
            <a:r>
              <a:rPr lang="en-US" sz="2800"/>
              <a:t>When a packet of </a:t>
            </a:r>
            <a:r>
              <a:rPr lang="en-US" sz="2800" i="1">
                <a:solidFill>
                  <a:schemeClr val="accent1"/>
                </a:solidFill>
              </a:rPr>
              <a:t>n</a:t>
            </a:r>
            <a:r>
              <a:rPr lang="en-US" sz="2800"/>
              <a:t> bytes arrives, </a:t>
            </a:r>
            <a:r>
              <a:rPr lang="en-US" sz="2800" i="1">
                <a:solidFill>
                  <a:schemeClr val="accent1"/>
                </a:solidFill>
              </a:rPr>
              <a:t>n</a:t>
            </a:r>
            <a:r>
              <a:rPr lang="en-US" sz="2800"/>
              <a:t> tokens are removed from the bucket and packet is transmitted</a:t>
            </a:r>
          </a:p>
          <a:p>
            <a:pPr>
              <a:lnSpc>
                <a:spcPct val="85000"/>
              </a:lnSpc>
            </a:pPr>
            <a:r>
              <a:rPr lang="en-US" sz="2800"/>
              <a:t>If fewer than </a:t>
            </a:r>
            <a:r>
              <a:rPr lang="en-US" sz="2800" i="1">
                <a:solidFill>
                  <a:schemeClr val="accent1"/>
                </a:solidFill>
              </a:rPr>
              <a:t>n</a:t>
            </a:r>
            <a:r>
              <a:rPr lang="en-US" sz="2800"/>
              <a:t> tokens are available, no tokens are removed from the bucket, and the packet is considered to be </a:t>
            </a:r>
            <a:r>
              <a:rPr lang="en-US" sz="2800" i="1">
                <a:solidFill>
                  <a:schemeClr val="accent1"/>
                </a:solidFill>
              </a:rPr>
              <a:t>non-conformant</a:t>
            </a:r>
            <a:r>
              <a:rPr lang="en-US" sz="2800" i="1"/>
              <a:t>.</a:t>
            </a:r>
            <a:endParaRPr lang="en-US" sz="2800"/>
          </a:p>
          <a:p>
            <a:pPr lvl="1" indent="0">
              <a:lnSpc>
                <a:spcPct val="85000"/>
              </a:lnSpc>
            </a:pPr>
            <a:r>
              <a:rPr lang="en-US" i="1"/>
              <a:t>‘non-conformant’ </a:t>
            </a:r>
            <a:r>
              <a:rPr lang="en-US"/>
              <a:t>packets may be dropped, queued, marked,  transmitted,…</a:t>
            </a:r>
          </a:p>
          <a:p>
            <a:pPr>
              <a:lnSpc>
                <a:spcPct val="85000"/>
              </a:lnSpc>
            </a:pPr>
            <a:endParaRPr lang="en-US" sz="200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Line 2"/>
          <p:cNvSpPr>
            <a:spLocks noChangeShapeType="1"/>
          </p:cNvSpPr>
          <p:nvPr/>
        </p:nvSpPr>
        <p:spPr bwMode="auto">
          <a:xfrm flipV="1">
            <a:off x="3819525" y="2449514"/>
            <a:ext cx="1371600" cy="3175"/>
          </a:xfrm>
          <a:prstGeom prst="line">
            <a:avLst/>
          </a:prstGeom>
          <a:noFill/>
          <a:ln w="12700">
            <a:solidFill>
              <a:schemeClr val="accent2"/>
            </a:solidFill>
            <a:round/>
            <a:headEnd type="none" w="sm" len="sm"/>
            <a:tailEnd type="none" w="sm" len="sm"/>
          </a:ln>
        </p:spPr>
        <p:txBody>
          <a:bodyPr wrap="none" anchor="ctr">
            <a:prstTxWarp prst="textNoShape">
              <a:avLst/>
            </a:prstTxWarp>
          </a:bodyPr>
          <a:lstStyle/>
          <a:p>
            <a:endParaRPr lang="en-US"/>
          </a:p>
        </p:txBody>
      </p:sp>
      <p:sp>
        <p:nvSpPr>
          <p:cNvPr id="49155" name="Line 3"/>
          <p:cNvSpPr>
            <a:spLocks noChangeShapeType="1"/>
          </p:cNvSpPr>
          <p:nvPr/>
        </p:nvSpPr>
        <p:spPr bwMode="auto">
          <a:xfrm flipV="1">
            <a:off x="6718301" y="2438401"/>
            <a:ext cx="1350963" cy="4763"/>
          </a:xfrm>
          <a:prstGeom prst="line">
            <a:avLst/>
          </a:prstGeom>
          <a:noFill/>
          <a:ln w="57150">
            <a:solidFill>
              <a:schemeClr val="accent2"/>
            </a:solidFill>
            <a:round/>
            <a:headEnd type="none" w="sm" len="sm"/>
            <a:tailEnd type="none" w="sm" len="sm"/>
          </a:ln>
        </p:spPr>
        <p:txBody>
          <a:bodyPr wrap="none" anchor="ctr">
            <a:prstTxWarp prst="textNoShape">
              <a:avLst/>
            </a:prstTxWarp>
          </a:bodyPr>
          <a:lstStyle/>
          <a:p>
            <a:endParaRPr lang="en-US"/>
          </a:p>
        </p:txBody>
      </p:sp>
      <p:pic>
        <p:nvPicPr>
          <p:cNvPr id="49156" name="Picture 4"/>
          <p:cNvPicPr preferRelativeResize="0">
            <a:picLocks noChangeArrowheads="1"/>
          </p:cNvPicPr>
          <p:nvPr/>
        </p:nvPicPr>
        <p:blipFill>
          <a:blip r:embed="rId3"/>
          <a:srcRect/>
          <a:stretch>
            <a:fillRect/>
          </a:stretch>
        </p:blipFill>
        <p:spPr bwMode="auto">
          <a:xfrm>
            <a:off x="7869239" y="1709739"/>
            <a:ext cx="750887" cy="1292225"/>
          </a:xfrm>
          <a:prstGeom prst="rect">
            <a:avLst/>
          </a:prstGeom>
          <a:noFill/>
          <a:ln w="9525">
            <a:noFill/>
            <a:miter lim="800000"/>
            <a:headEnd/>
            <a:tailEnd/>
          </a:ln>
        </p:spPr>
      </p:pic>
      <p:sp>
        <p:nvSpPr>
          <p:cNvPr id="49157" name="Rectangle 5"/>
          <p:cNvSpPr>
            <a:spLocks noChangeArrowheads="1"/>
          </p:cNvSpPr>
          <p:nvPr/>
        </p:nvSpPr>
        <p:spPr bwMode="auto">
          <a:xfrm>
            <a:off x="1771881" y="2178051"/>
            <a:ext cx="1575926" cy="361195"/>
          </a:xfrm>
          <a:prstGeom prst="rect">
            <a:avLst/>
          </a:prstGeom>
          <a:noFill/>
          <a:ln w="9525">
            <a:noFill/>
            <a:miter lim="800000"/>
            <a:headEnd/>
            <a:tailEnd/>
          </a:ln>
        </p:spPr>
        <p:txBody>
          <a:bodyPr wrap="none" lIns="95336" tIns="49311" rIns="95336" bIns="49311">
            <a:prstTxWarp prst="textNoShape">
              <a:avLst/>
            </a:prstTxWarp>
            <a:spAutoFit/>
          </a:bodyPr>
          <a:lstStyle/>
          <a:p>
            <a:pPr defTabSz="1087438">
              <a:lnSpc>
                <a:spcPct val="100000"/>
              </a:lnSpc>
            </a:pPr>
            <a:r>
              <a:rPr lang="en-US" sz="1700" b="1"/>
              <a:t>Remote Sites</a:t>
            </a:r>
          </a:p>
        </p:txBody>
      </p:sp>
      <p:sp>
        <p:nvSpPr>
          <p:cNvPr id="49158" name="Rectangle 6"/>
          <p:cNvSpPr>
            <a:spLocks noChangeArrowheads="1"/>
          </p:cNvSpPr>
          <p:nvPr/>
        </p:nvSpPr>
        <p:spPr bwMode="auto">
          <a:xfrm>
            <a:off x="7192448" y="2041525"/>
            <a:ext cx="416954" cy="330418"/>
          </a:xfrm>
          <a:prstGeom prst="rect">
            <a:avLst/>
          </a:prstGeom>
          <a:noFill/>
          <a:ln w="9525">
            <a:noFill/>
            <a:miter lim="800000"/>
            <a:headEnd/>
            <a:tailEnd/>
          </a:ln>
        </p:spPr>
        <p:txBody>
          <a:bodyPr wrap="none" lIns="95336" tIns="49311" rIns="95336" bIns="49311">
            <a:prstTxWarp prst="textNoShape">
              <a:avLst/>
            </a:prstTxWarp>
            <a:spAutoFit/>
          </a:bodyPr>
          <a:lstStyle/>
          <a:p>
            <a:pPr defTabSz="1087438">
              <a:lnSpc>
                <a:spcPct val="100000"/>
              </a:lnSpc>
            </a:pPr>
            <a:r>
              <a:rPr lang="en-US" sz="1500" b="1"/>
              <a:t>T1</a:t>
            </a:r>
          </a:p>
        </p:txBody>
      </p:sp>
      <p:sp>
        <p:nvSpPr>
          <p:cNvPr id="49159" name="Rectangle 7"/>
          <p:cNvSpPr>
            <a:spLocks noChangeArrowheads="1"/>
          </p:cNvSpPr>
          <p:nvPr/>
        </p:nvSpPr>
        <p:spPr bwMode="auto">
          <a:xfrm>
            <a:off x="7762986" y="2901951"/>
            <a:ext cx="944343" cy="622805"/>
          </a:xfrm>
          <a:prstGeom prst="rect">
            <a:avLst/>
          </a:prstGeom>
          <a:noFill/>
          <a:ln w="9525">
            <a:noFill/>
            <a:miter lim="800000"/>
            <a:headEnd/>
            <a:tailEnd/>
          </a:ln>
        </p:spPr>
        <p:txBody>
          <a:bodyPr wrap="none" lIns="95336" tIns="49311" rIns="95336" bIns="49311">
            <a:prstTxWarp prst="textNoShape">
              <a:avLst/>
            </a:prstTxWarp>
            <a:spAutoFit/>
          </a:bodyPr>
          <a:lstStyle/>
          <a:p>
            <a:pPr defTabSz="1087438">
              <a:lnSpc>
                <a:spcPct val="100000"/>
              </a:lnSpc>
            </a:pPr>
            <a:r>
              <a:rPr lang="en-US" sz="1700" b="1"/>
              <a:t>Central</a:t>
            </a:r>
            <a:br>
              <a:rPr lang="en-US" sz="1700" b="1"/>
            </a:br>
            <a:r>
              <a:rPr lang="en-US" sz="1700" b="1"/>
              <a:t>Site</a:t>
            </a:r>
          </a:p>
        </p:txBody>
      </p:sp>
      <p:pic>
        <p:nvPicPr>
          <p:cNvPr id="49160" name="Picture 8"/>
          <p:cNvPicPr preferRelativeResize="0">
            <a:picLocks noChangeArrowheads="1"/>
          </p:cNvPicPr>
          <p:nvPr/>
        </p:nvPicPr>
        <p:blipFill>
          <a:blip r:embed="rId4"/>
          <a:srcRect/>
          <a:stretch>
            <a:fillRect/>
          </a:stretch>
        </p:blipFill>
        <p:spPr bwMode="auto">
          <a:xfrm>
            <a:off x="3503613" y="2270126"/>
            <a:ext cx="692150" cy="403225"/>
          </a:xfrm>
          <a:prstGeom prst="rect">
            <a:avLst/>
          </a:prstGeom>
          <a:noFill/>
          <a:ln w="9525">
            <a:noFill/>
            <a:miter lim="800000"/>
            <a:headEnd/>
            <a:tailEnd/>
          </a:ln>
        </p:spPr>
      </p:pic>
      <p:pic>
        <p:nvPicPr>
          <p:cNvPr id="49161" name="Picture 9"/>
          <p:cNvPicPr preferRelativeResize="0">
            <a:picLocks noChangeArrowheads="1"/>
          </p:cNvPicPr>
          <p:nvPr/>
        </p:nvPicPr>
        <p:blipFill>
          <a:blip r:embed="rId4"/>
          <a:srcRect/>
          <a:stretch>
            <a:fillRect/>
          </a:stretch>
        </p:blipFill>
        <p:spPr bwMode="auto">
          <a:xfrm>
            <a:off x="7743825" y="2260600"/>
            <a:ext cx="692150" cy="401638"/>
          </a:xfrm>
          <a:prstGeom prst="rect">
            <a:avLst/>
          </a:prstGeom>
          <a:noFill/>
          <a:ln w="9525">
            <a:noFill/>
            <a:miter lim="800000"/>
            <a:headEnd/>
            <a:tailEnd/>
          </a:ln>
        </p:spPr>
      </p:pic>
      <p:sp>
        <p:nvSpPr>
          <p:cNvPr id="49162" name="Line 10"/>
          <p:cNvSpPr>
            <a:spLocks noChangeShapeType="1"/>
          </p:cNvSpPr>
          <p:nvPr/>
        </p:nvSpPr>
        <p:spPr bwMode="auto">
          <a:xfrm>
            <a:off x="3933825" y="1843089"/>
            <a:ext cx="2070100" cy="682625"/>
          </a:xfrm>
          <a:prstGeom prst="line">
            <a:avLst/>
          </a:prstGeom>
          <a:noFill/>
          <a:ln w="12700">
            <a:solidFill>
              <a:schemeClr val="accent2"/>
            </a:solidFill>
            <a:round/>
            <a:headEnd type="none" w="sm" len="sm"/>
            <a:tailEnd type="none" w="sm" len="sm"/>
          </a:ln>
        </p:spPr>
        <p:txBody>
          <a:bodyPr wrap="none" anchor="ctr">
            <a:prstTxWarp prst="textNoShape">
              <a:avLst/>
            </a:prstTxWarp>
          </a:bodyPr>
          <a:lstStyle/>
          <a:p>
            <a:endParaRPr lang="en-US"/>
          </a:p>
        </p:txBody>
      </p:sp>
      <p:sp>
        <p:nvSpPr>
          <p:cNvPr id="49163" name="Line 11"/>
          <p:cNvSpPr>
            <a:spLocks noChangeShapeType="1"/>
          </p:cNvSpPr>
          <p:nvPr/>
        </p:nvSpPr>
        <p:spPr bwMode="auto">
          <a:xfrm>
            <a:off x="4378325" y="1398589"/>
            <a:ext cx="1638300" cy="1114425"/>
          </a:xfrm>
          <a:prstGeom prst="line">
            <a:avLst/>
          </a:prstGeom>
          <a:noFill/>
          <a:ln w="12700">
            <a:solidFill>
              <a:schemeClr val="accent2"/>
            </a:solidFill>
            <a:round/>
            <a:headEnd type="none" w="sm" len="sm"/>
            <a:tailEnd type="none" w="sm" len="sm"/>
          </a:ln>
        </p:spPr>
        <p:txBody>
          <a:bodyPr wrap="none" anchor="ctr">
            <a:prstTxWarp prst="textNoShape">
              <a:avLst/>
            </a:prstTxWarp>
          </a:bodyPr>
          <a:lstStyle/>
          <a:p>
            <a:endParaRPr lang="en-US"/>
          </a:p>
        </p:txBody>
      </p:sp>
      <p:sp>
        <p:nvSpPr>
          <p:cNvPr id="49164" name="Line 12"/>
          <p:cNvSpPr>
            <a:spLocks noChangeShapeType="1"/>
          </p:cNvSpPr>
          <p:nvPr/>
        </p:nvSpPr>
        <p:spPr bwMode="auto">
          <a:xfrm flipV="1">
            <a:off x="3959225" y="2386014"/>
            <a:ext cx="2057400" cy="612775"/>
          </a:xfrm>
          <a:prstGeom prst="line">
            <a:avLst/>
          </a:prstGeom>
          <a:noFill/>
          <a:ln w="12700">
            <a:solidFill>
              <a:schemeClr val="accent2"/>
            </a:solidFill>
            <a:round/>
            <a:headEnd type="none" w="sm" len="sm"/>
            <a:tailEnd type="none" w="sm" len="sm"/>
          </a:ln>
        </p:spPr>
        <p:txBody>
          <a:bodyPr wrap="none" anchor="ctr">
            <a:prstTxWarp prst="textNoShape">
              <a:avLst/>
            </a:prstTxWarp>
          </a:bodyPr>
          <a:lstStyle/>
          <a:p>
            <a:endParaRPr lang="en-US"/>
          </a:p>
        </p:txBody>
      </p:sp>
      <p:sp>
        <p:nvSpPr>
          <p:cNvPr id="49165" name="Line 13"/>
          <p:cNvSpPr>
            <a:spLocks noChangeShapeType="1"/>
          </p:cNvSpPr>
          <p:nvPr/>
        </p:nvSpPr>
        <p:spPr bwMode="auto">
          <a:xfrm flipV="1">
            <a:off x="4340225" y="2408239"/>
            <a:ext cx="1625600" cy="1082675"/>
          </a:xfrm>
          <a:prstGeom prst="line">
            <a:avLst/>
          </a:prstGeom>
          <a:noFill/>
          <a:ln w="12700">
            <a:solidFill>
              <a:schemeClr val="accent2"/>
            </a:solidFill>
            <a:round/>
            <a:headEnd type="none" w="sm" len="sm"/>
            <a:tailEnd type="none" w="sm" len="sm"/>
          </a:ln>
        </p:spPr>
        <p:txBody>
          <a:bodyPr wrap="none" anchor="ctr">
            <a:prstTxWarp prst="textNoShape">
              <a:avLst/>
            </a:prstTxWarp>
          </a:bodyPr>
          <a:lstStyle/>
          <a:p>
            <a:endParaRPr lang="en-US"/>
          </a:p>
        </p:txBody>
      </p:sp>
      <p:pic>
        <p:nvPicPr>
          <p:cNvPr id="49166" name="Picture 14"/>
          <p:cNvPicPr preferRelativeResize="0">
            <a:picLocks noChangeArrowheads="1"/>
          </p:cNvPicPr>
          <p:nvPr/>
        </p:nvPicPr>
        <p:blipFill>
          <a:blip r:embed="rId5"/>
          <a:srcRect/>
          <a:stretch>
            <a:fillRect/>
          </a:stretch>
        </p:blipFill>
        <p:spPr bwMode="auto">
          <a:xfrm>
            <a:off x="4729163" y="1619251"/>
            <a:ext cx="2368550" cy="1628775"/>
          </a:xfrm>
          <a:prstGeom prst="rect">
            <a:avLst/>
          </a:prstGeom>
          <a:noFill/>
          <a:ln w="9525">
            <a:noFill/>
            <a:miter lim="800000"/>
            <a:headEnd/>
            <a:tailEnd/>
          </a:ln>
        </p:spPr>
      </p:pic>
      <p:sp>
        <p:nvSpPr>
          <p:cNvPr id="49167" name="Rectangle 15"/>
          <p:cNvSpPr>
            <a:spLocks noChangeArrowheads="1"/>
          </p:cNvSpPr>
          <p:nvPr/>
        </p:nvSpPr>
        <p:spPr bwMode="auto">
          <a:xfrm>
            <a:off x="5142119" y="2281239"/>
            <a:ext cx="1712501" cy="315029"/>
          </a:xfrm>
          <a:prstGeom prst="rect">
            <a:avLst/>
          </a:prstGeom>
          <a:noFill/>
          <a:ln w="9525">
            <a:noFill/>
            <a:miter lim="800000"/>
            <a:headEnd/>
            <a:tailEnd/>
          </a:ln>
        </p:spPr>
        <p:txBody>
          <a:bodyPr wrap="none" lIns="95336" tIns="49311" rIns="95336" bIns="49311">
            <a:prstTxWarp prst="textNoShape">
              <a:avLst/>
            </a:prstTxWarp>
            <a:spAutoFit/>
          </a:bodyPr>
          <a:lstStyle/>
          <a:p>
            <a:pPr defTabSz="1087438">
              <a:lnSpc>
                <a:spcPct val="100000"/>
              </a:lnSpc>
            </a:pPr>
            <a:r>
              <a:rPr lang="en-US" sz="1400" b="1"/>
              <a:t>Frame Relay, ATM</a:t>
            </a:r>
            <a:endParaRPr lang="en-US" sz="1200" b="1"/>
          </a:p>
        </p:txBody>
      </p:sp>
      <p:pic>
        <p:nvPicPr>
          <p:cNvPr id="49168" name="Picture 16"/>
          <p:cNvPicPr preferRelativeResize="0">
            <a:picLocks noChangeArrowheads="1"/>
          </p:cNvPicPr>
          <p:nvPr/>
        </p:nvPicPr>
        <p:blipFill>
          <a:blip r:embed="rId4"/>
          <a:srcRect/>
          <a:stretch>
            <a:fillRect/>
          </a:stretch>
        </p:blipFill>
        <p:spPr bwMode="auto">
          <a:xfrm>
            <a:off x="4062413" y="1241426"/>
            <a:ext cx="692150" cy="403225"/>
          </a:xfrm>
          <a:prstGeom prst="rect">
            <a:avLst/>
          </a:prstGeom>
          <a:noFill/>
          <a:ln w="9525">
            <a:noFill/>
            <a:miter lim="800000"/>
            <a:headEnd/>
            <a:tailEnd/>
          </a:ln>
        </p:spPr>
      </p:pic>
      <p:pic>
        <p:nvPicPr>
          <p:cNvPr id="49169" name="Picture 17"/>
          <p:cNvPicPr preferRelativeResize="0">
            <a:picLocks noChangeArrowheads="1"/>
          </p:cNvPicPr>
          <p:nvPr/>
        </p:nvPicPr>
        <p:blipFill>
          <a:blip r:embed="rId4"/>
          <a:srcRect/>
          <a:stretch>
            <a:fillRect/>
          </a:stretch>
        </p:blipFill>
        <p:spPr bwMode="auto">
          <a:xfrm>
            <a:off x="3579813" y="1698626"/>
            <a:ext cx="692150" cy="403225"/>
          </a:xfrm>
          <a:prstGeom prst="rect">
            <a:avLst/>
          </a:prstGeom>
          <a:noFill/>
          <a:ln w="9525">
            <a:noFill/>
            <a:miter lim="800000"/>
            <a:headEnd/>
            <a:tailEnd/>
          </a:ln>
        </p:spPr>
      </p:pic>
      <p:pic>
        <p:nvPicPr>
          <p:cNvPr id="49170" name="Picture 18"/>
          <p:cNvPicPr preferRelativeResize="0">
            <a:picLocks noChangeArrowheads="1"/>
          </p:cNvPicPr>
          <p:nvPr/>
        </p:nvPicPr>
        <p:blipFill>
          <a:blip r:embed="rId4"/>
          <a:srcRect/>
          <a:stretch>
            <a:fillRect/>
          </a:stretch>
        </p:blipFill>
        <p:spPr bwMode="auto">
          <a:xfrm>
            <a:off x="3579813" y="2841626"/>
            <a:ext cx="692150" cy="403225"/>
          </a:xfrm>
          <a:prstGeom prst="rect">
            <a:avLst/>
          </a:prstGeom>
          <a:noFill/>
          <a:ln w="9525">
            <a:noFill/>
            <a:miter lim="800000"/>
            <a:headEnd/>
            <a:tailEnd/>
          </a:ln>
        </p:spPr>
      </p:pic>
      <p:pic>
        <p:nvPicPr>
          <p:cNvPr id="49171" name="Picture 19"/>
          <p:cNvPicPr preferRelativeResize="0">
            <a:picLocks noChangeArrowheads="1"/>
          </p:cNvPicPr>
          <p:nvPr/>
        </p:nvPicPr>
        <p:blipFill>
          <a:blip r:embed="rId4"/>
          <a:srcRect/>
          <a:stretch>
            <a:fillRect/>
          </a:stretch>
        </p:blipFill>
        <p:spPr bwMode="auto">
          <a:xfrm>
            <a:off x="4024313" y="3362326"/>
            <a:ext cx="692150" cy="403225"/>
          </a:xfrm>
          <a:prstGeom prst="rect">
            <a:avLst/>
          </a:prstGeom>
          <a:noFill/>
          <a:ln w="9525">
            <a:noFill/>
            <a:miter lim="800000"/>
            <a:headEnd/>
            <a:tailEnd/>
          </a:ln>
        </p:spPr>
      </p:pic>
      <p:sp>
        <p:nvSpPr>
          <p:cNvPr id="49172" name="Rectangle 20"/>
          <p:cNvSpPr>
            <a:spLocks noChangeArrowheads="1"/>
          </p:cNvSpPr>
          <p:nvPr/>
        </p:nvSpPr>
        <p:spPr bwMode="auto">
          <a:xfrm>
            <a:off x="4880753" y="1487489"/>
            <a:ext cx="806485" cy="284251"/>
          </a:xfrm>
          <a:prstGeom prst="rect">
            <a:avLst/>
          </a:prstGeom>
          <a:noFill/>
          <a:ln w="9525">
            <a:noFill/>
            <a:miter lim="800000"/>
            <a:headEnd/>
            <a:tailEnd/>
          </a:ln>
        </p:spPr>
        <p:txBody>
          <a:bodyPr wrap="none" lIns="95336" tIns="49311" rIns="95336" bIns="49311">
            <a:prstTxWarp prst="textNoShape">
              <a:avLst/>
            </a:prstTxWarp>
            <a:spAutoFit/>
          </a:bodyPr>
          <a:lstStyle/>
          <a:p>
            <a:pPr defTabSz="1087438">
              <a:lnSpc>
                <a:spcPct val="100000"/>
              </a:lnSpc>
            </a:pPr>
            <a:r>
              <a:rPr lang="en-US" sz="1200" b="1"/>
              <a:t>128kbps</a:t>
            </a:r>
          </a:p>
        </p:txBody>
      </p:sp>
      <p:sp>
        <p:nvSpPr>
          <p:cNvPr id="49173" name="Rectangle 21"/>
          <p:cNvSpPr>
            <a:spLocks noChangeArrowheads="1"/>
          </p:cNvSpPr>
          <p:nvPr/>
        </p:nvSpPr>
        <p:spPr bwMode="auto">
          <a:xfrm>
            <a:off x="4304490" y="1800226"/>
            <a:ext cx="806485" cy="284251"/>
          </a:xfrm>
          <a:prstGeom prst="rect">
            <a:avLst/>
          </a:prstGeom>
          <a:noFill/>
          <a:ln w="9525">
            <a:noFill/>
            <a:miter lim="800000"/>
            <a:headEnd/>
            <a:tailEnd/>
          </a:ln>
        </p:spPr>
        <p:txBody>
          <a:bodyPr wrap="none" lIns="95336" tIns="49311" rIns="95336" bIns="49311">
            <a:prstTxWarp prst="textNoShape">
              <a:avLst/>
            </a:prstTxWarp>
            <a:spAutoFit/>
          </a:bodyPr>
          <a:lstStyle/>
          <a:p>
            <a:pPr defTabSz="1087438">
              <a:lnSpc>
                <a:spcPct val="100000"/>
              </a:lnSpc>
            </a:pPr>
            <a:r>
              <a:rPr lang="en-US" sz="1200" b="1"/>
              <a:t>256kbps</a:t>
            </a:r>
          </a:p>
        </p:txBody>
      </p:sp>
      <p:sp>
        <p:nvSpPr>
          <p:cNvPr id="49174" name="Rectangle 22"/>
          <p:cNvSpPr>
            <a:spLocks noChangeArrowheads="1"/>
          </p:cNvSpPr>
          <p:nvPr/>
        </p:nvSpPr>
        <p:spPr bwMode="auto">
          <a:xfrm>
            <a:off x="4077478" y="2201864"/>
            <a:ext cx="806485" cy="284251"/>
          </a:xfrm>
          <a:prstGeom prst="rect">
            <a:avLst/>
          </a:prstGeom>
          <a:noFill/>
          <a:ln w="9525">
            <a:noFill/>
            <a:miter lim="800000"/>
            <a:headEnd/>
            <a:tailEnd/>
          </a:ln>
        </p:spPr>
        <p:txBody>
          <a:bodyPr wrap="none" lIns="95336" tIns="49311" rIns="95336" bIns="49311">
            <a:prstTxWarp prst="textNoShape">
              <a:avLst/>
            </a:prstTxWarp>
            <a:spAutoFit/>
          </a:bodyPr>
          <a:lstStyle/>
          <a:p>
            <a:pPr defTabSz="1087438">
              <a:lnSpc>
                <a:spcPct val="100000"/>
              </a:lnSpc>
            </a:pPr>
            <a:r>
              <a:rPr lang="en-US" sz="1200" b="1"/>
              <a:t>512kbps</a:t>
            </a:r>
          </a:p>
        </p:txBody>
      </p:sp>
      <p:sp>
        <p:nvSpPr>
          <p:cNvPr id="49175" name="Rectangle 23"/>
          <p:cNvSpPr>
            <a:spLocks noChangeArrowheads="1"/>
          </p:cNvSpPr>
          <p:nvPr/>
        </p:nvSpPr>
        <p:spPr bwMode="auto">
          <a:xfrm>
            <a:off x="3998103" y="2587626"/>
            <a:ext cx="806485" cy="284251"/>
          </a:xfrm>
          <a:prstGeom prst="rect">
            <a:avLst/>
          </a:prstGeom>
          <a:noFill/>
          <a:ln w="9525">
            <a:noFill/>
            <a:miter lim="800000"/>
            <a:headEnd/>
            <a:tailEnd/>
          </a:ln>
        </p:spPr>
        <p:txBody>
          <a:bodyPr wrap="none" lIns="95336" tIns="49311" rIns="95336" bIns="49311">
            <a:prstTxWarp prst="textNoShape">
              <a:avLst/>
            </a:prstTxWarp>
            <a:spAutoFit/>
          </a:bodyPr>
          <a:lstStyle/>
          <a:p>
            <a:pPr defTabSz="1087438">
              <a:lnSpc>
                <a:spcPct val="100000"/>
              </a:lnSpc>
            </a:pPr>
            <a:r>
              <a:rPr lang="en-US" sz="1200" b="1"/>
              <a:t>768kbps</a:t>
            </a:r>
          </a:p>
        </p:txBody>
      </p:sp>
      <p:sp>
        <p:nvSpPr>
          <p:cNvPr id="49176" name="Rectangle 24"/>
          <p:cNvSpPr>
            <a:spLocks noChangeArrowheads="1"/>
          </p:cNvSpPr>
          <p:nvPr/>
        </p:nvSpPr>
        <p:spPr bwMode="auto">
          <a:xfrm>
            <a:off x="4428828" y="3017839"/>
            <a:ext cx="372070" cy="284251"/>
          </a:xfrm>
          <a:prstGeom prst="rect">
            <a:avLst/>
          </a:prstGeom>
          <a:noFill/>
          <a:ln w="9525">
            <a:noFill/>
            <a:miter lim="800000"/>
            <a:headEnd/>
            <a:tailEnd/>
          </a:ln>
        </p:spPr>
        <p:txBody>
          <a:bodyPr wrap="none" lIns="95336" tIns="49311" rIns="95336" bIns="49311">
            <a:prstTxWarp prst="textNoShape">
              <a:avLst/>
            </a:prstTxWarp>
            <a:spAutoFit/>
          </a:bodyPr>
          <a:lstStyle/>
          <a:p>
            <a:pPr defTabSz="1087438">
              <a:lnSpc>
                <a:spcPct val="100000"/>
              </a:lnSpc>
            </a:pPr>
            <a:r>
              <a:rPr lang="en-US" sz="1200" b="1"/>
              <a:t>T1</a:t>
            </a:r>
          </a:p>
        </p:txBody>
      </p:sp>
      <p:sp>
        <p:nvSpPr>
          <p:cNvPr id="147481" name="Arc 25"/>
          <p:cNvSpPr>
            <a:spLocks/>
          </p:cNvSpPr>
          <p:nvPr/>
        </p:nvSpPr>
        <p:spPr bwMode="auto">
          <a:xfrm flipH="1" flipV="1">
            <a:off x="4224339" y="2565400"/>
            <a:ext cx="4098925" cy="1593850"/>
          </a:xfrm>
          <a:custGeom>
            <a:avLst/>
            <a:gdLst>
              <a:gd name="G0" fmla="+- 0 0 0"/>
              <a:gd name="G1" fmla="+- 0 0 0"/>
              <a:gd name="G2" fmla="+- 21600 0 0"/>
              <a:gd name="T0" fmla="*/ 14938 w 14938"/>
              <a:gd name="T1" fmla="*/ 15602 h 21473"/>
              <a:gd name="T2" fmla="*/ 2340 w 14938"/>
              <a:gd name="T3" fmla="*/ 21473 h 21473"/>
              <a:gd name="T4" fmla="*/ 0 w 14938"/>
              <a:gd name="T5" fmla="*/ 0 h 21473"/>
            </a:gdLst>
            <a:ahLst/>
            <a:cxnLst>
              <a:cxn ang="0">
                <a:pos x="T0" y="T1"/>
              </a:cxn>
              <a:cxn ang="0">
                <a:pos x="T2" y="T3"/>
              </a:cxn>
              <a:cxn ang="0">
                <a:pos x="T4" y="T5"/>
              </a:cxn>
            </a:cxnLst>
            <a:rect l="0" t="0" r="r" b="b"/>
            <a:pathLst>
              <a:path w="14938" h="21473" fill="none" extrusionOk="0">
                <a:moveTo>
                  <a:pt x="14937" y="15601"/>
                </a:moveTo>
                <a:cubicBezTo>
                  <a:pt x="11500" y="18893"/>
                  <a:pt x="7071" y="20957"/>
                  <a:pt x="2339" y="21472"/>
                </a:cubicBezTo>
              </a:path>
              <a:path w="14938" h="21473" stroke="0" extrusionOk="0">
                <a:moveTo>
                  <a:pt x="14937" y="15601"/>
                </a:moveTo>
                <a:cubicBezTo>
                  <a:pt x="11500" y="18893"/>
                  <a:pt x="7071" y="20957"/>
                  <a:pt x="2339" y="21472"/>
                </a:cubicBezTo>
                <a:lnTo>
                  <a:pt x="0" y="0"/>
                </a:lnTo>
                <a:close/>
              </a:path>
            </a:pathLst>
          </a:custGeom>
          <a:noFill/>
          <a:ln w="50800" cap="rnd">
            <a:solidFill>
              <a:srgbClr val="7B00E4"/>
            </a:solidFill>
            <a:round/>
            <a:headEnd type="none" w="sm" len="sm"/>
            <a:tailEnd type="stealth" w="med" len="lg"/>
          </a:ln>
          <a:effectLst>
            <a:outerShdw dist="17961" dir="2700000" algn="ctr" rotWithShape="0">
              <a:schemeClr val="tx1"/>
            </a:outerShdw>
          </a:effectLst>
        </p:spPr>
        <p:txBody>
          <a:bodyPr wrap="none" anchor="ctr"/>
          <a:lstStyle/>
          <a:p>
            <a:pPr>
              <a:defRPr/>
            </a:pPr>
            <a:endParaRPr lang="en-US">
              <a:latin typeface="Arial" charset="0"/>
            </a:endParaRPr>
          </a:p>
        </p:txBody>
      </p:sp>
      <p:sp>
        <p:nvSpPr>
          <p:cNvPr id="147482" name="Arc 26"/>
          <p:cNvSpPr>
            <a:spLocks/>
          </p:cNvSpPr>
          <p:nvPr/>
        </p:nvSpPr>
        <p:spPr bwMode="auto">
          <a:xfrm flipH="1">
            <a:off x="4779963" y="1144588"/>
            <a:ext cx="2901950" cy="1212850"/>
          </a:xfrm>
          <a:custGeom>
            <a:avLst/>
            <a:gdLst>
              <a:gd name="G0" fmla="+- 0 0 0"/>
              <a:gd name="G1" fmla="+- 0 0 0"/>
              <a:gd name="G2" fmla="+- 21600 0 0"/>
              <a:gd name="T0" fmla="*/ 20173 w 20173"/>
              <a:gd name="T1" fmla="*/ 7720 h 21600"/>
              <a:gd name="T2" fmla="*/ 0 w 20173"/>
              <a:gd name="T3" fmla="*/ 21600 h 21600"/>
              <a:gd name="T4" fmla="*/ 0 w 20173"/>
              <a:gd name="T5" fmla="*/ 0 h 21600"/>
            </a:gdLst>
            <a:ahLst/>
            <a:cxnLst>
              <a:cxn ang="0">
                <a:pos x="T0" y="T1"/>
              </a:cxn>
              <a:cxn ang="0">
                <a:pos x="T2" y="T3"/>
              </a:cxn>
              <a:cxn ang="0">
                <a:pos x="T4" y="T5"/>
              </a:cxn>
            </a:cxnLst>
            <a:rect l="0" t="0" r="r" b="b"/>
            <a:pathLst>
              <a:path w="20173" h="21600" fill="none" extrusionOk="0">
                <a:moveTo>
                  <a:pt x="20173" y="7720"/>
                </a:moveTo>
                <a:cubicBezTo>
                  <a:pt x="16974" y="16079"/>
                  <a:pt x="8950" y="21599"/>
                  <a:pt x="0" y="21600"/>
                </a:cubicBezTo>
              </a:path>
              <a:path w="20173" h="21600" stroke="0" extrusionOk="0">
                <a:moveTo>
                  <a:pt x="20173" y="7720"/>
                </a:moveTo>
                <a:cubicBezTo>
                  <a:pt x="16974" y="16079"/>
                  <a:pt x="8950" y="21599"/>
                  <a:pt x="0" y="21600"/>
                </a:cubicBezTo>
                <a:lnTo>
                  <a:pt x="0" y="0"/>
                </a:lnTo>
                <a:close/>
              </a:path>
            </a:pathLst>
          </a:custGeom>
          <a:noFill/>
          <a:ln w="50800" cap="rnd">
            <a:solidFill>
              <a:srgbClr val="33CC33"/>
            </a:solidFill>
            <a:round/>
            <a:headEnd type="stealth" w="med" len="lg"/>
            <a:tailEnd type="none" w="sm" len="sm"/>
          </a:ln>
          <a:effectLst>
            <a:outerShdw dist="17961" dir="2700000" algn="ctr" rotWithShape="0">
              <a:schemeClr val="tx1"/>
            </a:outerShdw>
          </a:effectLst>
        </p:spPr>
        <p:txBody>
          <a:bodyPr wrap="none" anchor="ctr"/>
          <a:lstStyle/>
          <a:p>
            <a:pPr>
              <a:defRPr/>
            </a:pPr>
            <a:endParaRPr lang="en-US">
              <a:latin typeface="Arial" charset="0"/>
            </a:endParaRPr>
          </a:p>
        </p:txBody>
      </p:sp>
      <p:sp>
        <p:nvSpPr>
          <p:cNvPr id="147483" name="Arc 27"/>
          <p:cNvSpPr>
            <a:spLocks/>
          </p:cNvSpPr>
          <p:nvPr/>
        </p:nvSpPr>
        <p:spPr bwMode="auto">
          <a:xfrm flipH="1" flipV="1">
            <a:off x="4659314" y="2746375"/>
            <a:ext cx="3584575" cy="2546350"/>
          </a:xfrm>
          <a:custGeom>
            <a:avLst/>
            <a:gdLst>
              <a:gd name="G0" fmla="+- 0 0 0"/>
              <a:gd name="G1" fmla="+- 0 0 0"/>
              <a:gd name="G2" fmla="+- 21600 0 0"/>
              <a:gd name="T0" fmla="*/ 14938 w 14938"/>
              <a:gd name="T1" fmla="*/ 15602 h 21473"/>
              <a:gd name="T2" fmla="*/ 2340 w 14938"/>
              <a:gd name="T3" fmla="*/ 21473 h 21473"/>
              <a:gd name="T4" fmla="*/ 0 w 14938"/>
              <a:gd name="T5" fmla="*/ 0 h 21473"/>
            </a:gdLst>
            <a:ahLst/>
            <a:cxnLst>
              <a:cxn ang="0">
                <a:pos x="T0" y="T1"/>
              </a:cxn>
              <a:cxn ang="0">
                <a:pos x="T2" y="T3"/>
              </a:cxn>
              <a:cxn ang="0">
                <a:pos x="T4" y="T5"/>
              </a:cxn>
            </a:cxnLst>
            <a:rect l="0" t="0" r="r" b="b"/>
            <a:pathLst>
              <a:path w="14938" h="21473" fill="none" extrusionOk="0">
                <a:moveTo>
                  <a:pt x="14937" y="15601"/>
                </a:moveTo>
                <a:cubicBezTo>
                  <a:pt x="11500" y="18893"/>
                  <a:pt x="7071" y="20957"/>
                  <a:pt x="2339" y="21472"/>
                </a:cubicBezTo>
              </a:path>
              <a:path w="14938" h="21473" stroke="0" extrusionOk="0">
                <a:moveTo>
                  <a:pt x="14937" y="15601"/>
                </a:moveTo>
                <a:cubicBezTo>
                  <a:pt x="11500" y="18893"/>
                  <a:pt x="7071" y="20957"/>
                  <a:pt x="2339" y="21472"/>
                </a:cubicBezTo>
                <a:lnTo>
                  <a:pt x="0" y="0"/>
                </a:lnTo>
                <a:close/>
              </a:path>
            </a:pathLst>
          </a:custGeom>
          <a:noFill/>
          <a:ln w="50800" cap="rnd">
            <a:solidFill>
              <a:srgbClr val="7B00E4"/>
            </a:solidFill>
            <a:round/>
            <a:headEnd type="none" w="sm" len="sm"/>
            <a:tailEnd type="stealth" w="med" len="lg"/>
          </a:ln>
          <a:effectLst>
            <a:outerShdw dist="17961" dir="2700000" algn="ctr" rotWithShape="0">
              <a:schemeClr val="tx1"/>
            </a:outerShdw>
          </a:effectLst>
        </p:spPr>
        <p:txBody>
          <a:bodyPr wrap="none" anchor="ctr"/>
          <a:lstStyle/>
          <a:p>
            <a:pPr>
              <a:defRPr/>
            </a:pPr>
            <a:endParaRPr lang="en-US">
              <a:latin typeface="Arial" charset="0"/>
            </a:endParaRPr>
          </a:p>
        </p:txBody>
      </p:sp>
      <p:sp>
        <p:nvSpPr>
          <p:cNvPr id="49180" name="Rectangle 28"/>
          <p:cNvSpPr>
            <a:spLocks noChangeArrowheads="1"/>
          </p:cNvSpPr>
          <p:nvPr/>
        </p:nvSpPr>
        <p:spPr bwMode="auto">
          <a:xfrm>
            <a:off x="5624513" y="614364"/>
            <a:ext cx="4673600" cy="622805"/>
          </a:xfrm>
          <a:prstGeom prst="rect">
            <a:avLst/>
          </a:prstGeom>
          <a:noFill/>
          <a:ln w="9525">
            <a:noFill/>
            <a:miter lim="800000"/>
            <a:headEnd/>
            <a:tailEnd/>
          </a:ln>
        </p:spPr>
        <p:txBody>
          <a:bodyPr lIns="95336" tIns="49311" rIns="95336" bIns="49311">
            <a:prstTxWarp prst="textNoShape">
              <a:avLst/>
            </a:prstTxWarp>
            <a:spAutoFit/>
          </a:bodyPr>
          <a:lstStyle/>
          <a:p>
            <a:pPr defTabSz="1087438">
              <a:lnSpc>
                <a:spcPct val="100000"/>
              </a:lnSpc>
            </a:pPr>
            <a:r>
              <a:rPr lang="en-US" sz="1700" b="1" u="sng"/>
              <a:t>Result:</a:t>
            </a:r>
            <a:endParaRPr lang="en-US" sz="1700" b="1"/>
          </a:p>
          <a:p>
            <a:pPr defTabSz="1087438">
              <a:lnSpc>
                <a:spcPct val="100000"/>
              </a:lnSpc>
            </a:pPr>
            <a:r>
              <a:rPr lang="en-US" sz="1700" b="1"/>
              <a:t>Buffering = Delay or Dropped Packets</a:t>
            </a:r>
            <a:endParaRPr lang="en-US" sz="1900" b="1"/>
          </a:p>
        </p:txBody>
      </p:sp>
      <p:sp>
        <p:nvSpPr>
          <p:cNvPr id="49181" name="Line 29"/>
          <p:cNvSpPr>
            <a:spLocks noChangeShapeType="1"/>
          </p:cNvSpPr>
          <p:nvPr/>
        </p:nvSpPr>
        <p:spPr bwMode="auto">
          <a:xfrm flipH="1">
            <a:off x="5368925" y="1203325"/>
            <a:ext cx="1316038" cy="661988"/>
          </a:xfrm>
          <a:prstGeom prst="line">
            <a:avLst/>
          </a:prstGeom>
          <a:noFill/>
          <a:ln w="3175">
            <a:solidFill>
              <a:schemeClr val="tx1"/>
            </a:solidFill>
            <a:round/>
            <a:headEnd/>
            <a:tailEnd type="triangle" w="med" len="med"/>
          </a:ln>
        </p:spPr>
        <p:txBody>
          <a:bodyPr anchor="ctr">
            <a:prstTxWarp prst="textNoShape">
              <a:avLst/>
            </a:prstTxWarp>
            <a:spAutoFit/>
          </a:bodyPr>
          <a:lstStyle/>
          <a:p>
            <a:endParaRPr lang="en-US"/>
          </a:p>
        </p:txBody>
      </p:sp>
      <p:sp>
        <p:nvSpPr>
          <p:cNvPr id="49182" name="Line 30"/>
          <p:cNvSpPr>
            <a:spLocks noChangeShapeType="1"/>
          </p:cNvSpPr>
          <p:nvPr/>
        </p:nvSpPr>
        <p:spPr bwMode="auto">
          <a:xfrm flipH="1">
            <a:off x="6961188" y="1217614"/>
            <a:ext cx="482600" cy="1347787"/>
          </a:xfrm>
          <a:prstGeom prst="line">
            <a:avLst/>
          </a:prstGeom>
          <a:noFill/>
          <a:ln w="3175">
            <a:solidFill>
              <a:schemeClr val="tx1"/>
            </a:solidFill>
            <a:round/>
            <a:headEnd/>
            <a:tailEnd type="triangle" w="med" len="med"/>
          </a:ln>
        </p:spPr>
        <p:txBody>
          <a:bodyPr anchor="ctr">
            <a:prstTxWarp prst="textNoShape">
              <a:avLst/>
            </a:prstTxWarp>
            <a:spAutoFit/>
          </a:bodyPr>
          <a:lstStyle/>
          <a:p>
            <a:endParaRPr lang="en-US"/>
          </a:p>
        </p:txBody>
      </p:sp>
      <p:sp>
        <p:nvSpPr>
          <p:cNvPr id="49184" name="Rectangle 32"/>
          <p:cNvSpPr>
            <a:spLocks noGrp="1" noChangeArrowheads="1"/>
          </p:cNvSpPr>
          <p:nvPr>
            <p:ph type="title"/>
          </p:nvPr>
        </p:nvSpPr>
        <p:spPr/>
        <p:txBody>
          <a:bodyPr/>
          <a:lstStyle/>
          <a:p>
            <a:pPr eaLnBrk="1" hangingPunct="1"/>
            <a:r>
              <a:rPr lang="en-US"/>
              <a:t>Shaping</a:t>
            </a:r>
          </a:p>
        </p:txBody>
      </p:sp>
      <p:sp>
        <p:nvSpPr>
          <p:cNvPr id="49183" name="Rectangle 31"/>
          <p:cNvSpPr>
            <a:spLocks noGrp="1" noChangeArrowheads="1"/>
          </p:cNvSpPr>
          <p:nvPr>
            <p:ph idx="1"/>
          </p:nvPr>
        </p:nvSpPr>
        <p:spPr>
          <a:xfrm>
            <a:off x="1992314" y="4005263"/>
            <a:ext cx="8224837" cy="2209800"/>
          </a:xfrm>
          <a:noFill/>
        </p:spPr>
        <p:txBody>
          <a:bodyPr anchor="ctr" anchorCtr="1">
            <a:normAutofit fontScale="92500" lnSpcReduction="20000"/>
          </a:bodyPr>
          <a:lstStyle/>
          <a:p>
            <a:r>
              <a:rPr lang="en-US">
                <a:latin typeface="Helvetica" pitchFamily="1" charset="0"/>
              </a:rPr>
              <a:t>When shaping, a packet considered ‘non-conformant’ will be queued.</a:t>
            </a:r>
          </a:p>
          <a:p>
            <a:r>
              <a:rPr lang="en-US">
                <a:latin typeface="Helvetica" pitchFamily="1" charset="0"/>
              </a:rPr>
              <a:t>The exact type of queuing depends on the configuration</a:t>
            </a:r>
          </a:p>
          <a:p>
            <a:r>
              <a:rPr lang="en-US">
                <a:latin typeface="Helvetica" pitchFamily="1" charset="0"/>
              </a:rPr>
              <a:t>This makes shaping a very good mechanism to trigger backpressure.</a:t>
            </a: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t>Shaping parameters</a:t>
            </a:r>
          </a:p>
        </p:txBody>
      </p:sp>
      <p:sp>
        <p:nvSpPr>
          <p:cNvPr id="50179" name="Rectangle 3"/>
          <p:cNvSpPr>
            <a:spLocks noGrp="1" noChangeArrowheads="1"/>
          </p:cNvSpPr>
          <p:nvPr>
            <p:ph idx="1"/>
          </p:nvPr>
        </p:nvSpPr>
        <p:spPr>
          <a:xfrm>
            <a:off x="2179639" y="1484314"/>
            <a:ext cx="7940675" cy="4897437"/>
          </a:xfrm>
        </p:spPr>
        <p:txBody>
          <a:bodyPr>
            <a:normAutofit lnSpcReduction="10000"/>
          </a:bodyPr>
          <a:lstStyle/>
          <a:p>
            <a:pPr>
              <a:lnSpc>
                <a:spcPct val="85000"/>
              </a:lnSpc>
            </a:pPr>
            <a:r>
              <a:rPr lang="en-US">
                <a:solidFill>
                  <a:schemeClr val="tx2"/>
                </a:solidFill>
              </a:rPr>
              <a:t>Committed information rate (</a:t>
            </a:r>
            <a:r>
              <a:rPr lang="en-US" i="1">
                <a:solidFill>
                  <a:schemeClr val="tx2"/>
                </a:solidFill>
              </a:rPr>
              <a:t>CIR</a:t>
            </a:r>
            <a:r>
              <a:rPr lang="en-US">
                <a:solidFill>
                  <a:schemeClr val="tx2"/>
                </a:solidFill>
              </a:rPr>
              <a:t>)</a:t>
            </a:r>
            <a:r>
              <a:rPr lang="en-US"/>
              <a:t> : This is the average rate of transmission (*)</a:t>
            </a:r>
          </a:p>
          <a:p>
            <a:pPr>
              <a:lnSpc>
                <a:spcPct val="85000"/>
              </a:lnSpc>
            </a:pPr>
            <a:r>
              <a:rPr lang="en-US">
                <a:solidFill>
                  <a:schemeClr val="tx2"/>
                </a:solidFill>
              </a:rPr>
              <a:t>Time interval (</a:t>
            </a:r>
            <a:r>
              <a:rPr lang="en-US" i="1">
                <a:solidFill>
                  <a:schemeClr val="tx2"/>
                </a:solidFill>
              </a:rPr>
              <a:t>Tc</a:t>
            </a:r>
            <a:r>
              <a:rPr lang="en-US">
                <a:solidFill>
                  <a:schemeClr val="tx2"/>
                </a:solidFill>
              </a:rPr>
              <a:t>)</a:t>
            </a:r>
            <a:r>
              <a:rPr lang="en-US"/>
              <a:t> : Time interval between two replenishments of token bucket.</a:t>
            </a:r>
          </a:p>
          <a:p>
            <a:pPr>
              <a:lnSpc>
                <a:spcPct val="85000"/>
              </a:lnSpc>
            </a:pPr>
            <a:r>
              <a:rPr lang="en-US">
                <a:solidFill>
                  <a:schemeClr val="tx2"/>
                </a:solidFill>
              </a:rPr>
              <a:t>Burst size committed (</a:t>
            </a:r>
            <a:r>
              <a:rPr lang="en-US" i="1">
                <a:solidFill>
                  <a:schemeClr val="tx2"/>
                </a:solidFill>
              </a:rPr>
              <a:t>Bc</a:t>
            </a:r>
            <a:r>
              <a:rPr lang="en-US">
                <a:solidFill>
                  <a:schemeClr val="tx2"/>
                </a:solidFill>
              </a:rPr>
              <a:t>)</a:t>
            </a:r>
            <a:r>
              <a:rPr lang="en-US"/>
              <a:t> : This is the number of bits added to the token bucket every Tc (*)</a:t>
            </a:r>
          </a:p>
          <a:p>
            <a:pPr>
              <a:lnSpc>
                <a:spcPct val="85000"/>
              </a:lnSpc>
            </a:pPr>
            <a:r>
              <a:rPr lang="en-US">
                <a:solidFill>
                  <a:schemeClr val="tx2"/>
                </a:solidFill>
              </a:rPr>
              <a:t>Burst size excess (</a:t>
            </a:r>
            <a:r>
              <a:rPr lang="en-US" i="1">
                <a:solidFill>
                  <a:schemeClr val="tx2"/>
                </a:solidFill>
              </a:rPr>
              <a:t>Be</a:t>
            </a:r>
            <a:r>
              <a:rPr lang="en-US">
                <a:solidFill>
                  <a:schemeClr val="tx2"/>
                </a:solidFill>
              </a:rPr>
              <a:t>)</a:t>
            </a:r>
            <a:r>
              <a:rPr lang="en-US"/>
              <a:t> : </a:t>
            </a:r>
            <a:r>
              <a:rPr lang="en-GB"/>
              <a:t>Allow the token bucket to grow as deep as Be + Bc if not all Bc tokens are used in an interval.  If Be&gt;0, it is possible (but limited in time) to send more than Bc bits during a Tc (*)</a:t>
            </a:r>
          </a:p>
          <a:p>
            <a:pPr>
              <a:lnSpc>
                <a:spcPct val="85000"/>
              </a:lnSpc>
              <a:buFont typeface="Wingdings" pitchFamily="1" charset="2"/>
              <a:buNone/>
            </a:pPr>
            <a:endParaRPr lang="en-GB"/>
          </a:p>
          <a:p>
            <a:pPr>
              <a:lnSpc>
                <a:spcPct val="85000"/>
              </a:lnSpc>
              <a:buFont typeface="Wingdings" pitchFamily="1" charset="2"/>
              <a:buNone/>
            </a:pPr>
            <a:r>
              <a:rPr lang="en-GB" sz="2000">
                <a:solidFill>
                  <a:schemeClr val="bg2"/>
                </a:solidFill>
              </a:rPr>
              <a:t>(*) configurable through CLI</a:t>
            </a:r>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5867401" y="1524000"/>
            <a:ext cx="1763303" cy="750846"/>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2000" b="1"/>
              <a:t>Bc    = 1M</a:t>
            </a:r>
            <a:r>
              <a:rPr lang="en-GB" b="1"/>
              <a:t> </a:t>
            </a:r>
          </a:p>
          <a:p>
            <a:pPr algn="l">
              <a:lnSpc>
                <a:spcPct val="100000"/>
              </a:lnSpc>
            </a:pPr>
            <a:r>
              <a:rPr lang="en-GB" sz="2000" b="1"/>
              <a:t>CIR  = 1Mbps</a:t>
            </a:r>
          </a:p>
        </p:txBody>
      </p:sp>
      <p:sp>
        <p:nvSpPr>
          <p:cNvPr id="51203" name="Rectangle 3"/>
          <p:cNvSpPr>
            <a:spLocks noGrp="1" noChangeArrowheads="1"/>
          </p:cNvSpPr>
          <p:nvPr>
            <p:ph type="title"/>
          </p:nvPr>
        </p:nvSpPr>
        <p:spPr/>
        <p:txBody>
          <a:bodyPr/>
          <a:lstStyle/>
          <a:p>
            <a:pPr eaLnBrk="1" hangingPunct="1"/>
            <a:r>
              <a:rPr lang="en-GB"/>
              <a:t>Example</a:t>
            </a:r>
            <a:endParaRPr lang="en-US"/>
          </a:p>
        </p:txBody>
      </p:sp>
      <p:sp>
        <p:nvSpPr>
          <p:cNvPr id="51204" name="Line 4"/>
          <p:cNvSpPr>
            <a:spLocks noChangeShapeType="1"/>
          </p:cNvSpPr>
          <p:nvPr/>
        </p:nvSpPr>
        <p:spPr bwMode="auto">
          <a:xfrm>
            <a:off x="2590801" y="5105400"/>
            <a:ext cx="7197725" cy="0"/>
          </a:xfrm>
          <a:prstGeom prst="line">
            <a:avLst/>
          </a:prstGeom>
          <a:noFill/>
          <a:ln w="9525">
            <a:solidFill>
              <a:schemeClr val="tx1"/>
            </a:solidFill>
            <a:round/>
            <a:headEnd/>
            <a:tailEnd type="arrow" w="med" len="med"/>
          </a:ln>
        </p:spPr>
        <p:txBody>
          <a:bodyPr lIns="73025" tIns="36512" rIns="73025" bIns="36512">
            <a:prstTxWarp prst="textNoShape">
              <a:avLst/>
            </a:prstTxWarp>
          </a:bodyPr>
          <a:lstStyle/>
          <a:p>
            <a:endParaRPr lang="en-US"/>
          </a:p>
        </p:txBody>
      </p:sp>
      <p:sp>
        <p:nvSpPr>
          <p:cNvPr id="51205" name="Line 5"/>
          <p:cNvSpPr>
            <a:spLocks noChangeShapeType="1"/>
          </p:cNvSpPr>
          <p:nvPr/>
        </p:nvSpPr>
        <p:spPr bwMode="auto">
          <a:xfrm flipV="1">
            <a:off x="2590800" y="1447800"/>
            <a:ext cx="0" cy="36576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51206" name="Text Box 6"/>
          <p:cNvSpPr txBox="1">
            <a:spLocks noChangeArrowheads="1"/>
          </p:cNvSpPr>
          <p:nvPr/>
        </p:nvSpPr>
        <p:spPr bwMode="auto">
          <a:xfrm>
            <a:off x="9296400" y="5105401"/>
            <a:ext cx="830292" cy="289181"/>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1400" b="1"/>
              <a:t>Time (s)</a:t>
            </a:r>
            <a:endParaRPr lang="en-US" sz="1400" b="1"/>
          </a:p>
        </p:txBody>
      </p:sp>
      <p:sp>
        <p:nvSpPr>
          <p:cNvPr id="51207" name="Text Box 7"/>
          <p:cNvSpPr txBox="1">
            <a:spLocks noChangeArrowheads="1"/>
          </p:cNvSpPr>
          <p:nvPr/>
        </p:nvSpPr>
        <p:spPr bwMode="auto">
          <a:xfrm rot="10800000">
            <a:off x="2207728" y="1295401"/>
            <a:ext cx="362920" cy="1228725"/>
          </a:xfrm>
          <a:prstGeom prst="rect">
            <a:avLst/>
          </a:prstGeom>
          <a:noFill/>
          <a:ln w="9525">
            <a:noFill/>
            <a:miter lim="800000"/>
            <a:headEnd/>
            <a:tailEnd/>
          </a:ln>
        </p:spPr>
        <p:txBody>
          <a:bodyPr vert="eaVert" lIns="73025" tIns="36512" rIns="73025" bIns="36512">
            <a:prstTxWarp prst="textNoShape">
              <a:avLst/>
            </a:prstTxWarp>
            <a:spAutoFit/>
          </a:bodyPr>
          <a:lstStyle/>
          <a:p>
            <a:pPr algn="l">
              <a:lnSpc>
                <a:spcPct val="100000"/>
              </a:lnSpc>
            </a:pPr>
            <a:r>
              <a:rPr lang="en-GB" sz="1400" b="1"/>
              <a:t>Rate (Mbps)</a:t>
            </a:r>
            <a:endParaRPr lang="en-US" sz="1400" b="1"/>
          </a:p>
        </p:txBody>
      </p:sp>
      <p:sp>
        <p:nvSpPr>
          <p:cNvPr id="51208" name="Text Box 8"/>
          <p:cNvSpPr txBox="1">
            <a:spLocks noChangeArrowheads="1"/>
          </p:cNvSpPr>
          <p:nvPr/>
        </p:nvSpPr>
        <p:spPr bwMode="auto">
          <a:xfrm>
            <a:off x="7696200" y="1676401"/>
            <a:ext cx="1335088" cy="377825"/>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2000" b="1"/>
              <a:t>    TC = 1s</a:t>
            </a:r>
            <a:endParaRPr lang="en-US" sz="2000" b="1"/>
          </a:p>
        </p:txBody>
      </p:sp>
      <p:sp>
        <p:nvSpPr>
          <p:cNvPr id="51209" name="Line 9"/>
          <p:cNvSpPr>
            <a:spLocks noChangeShapeType="1"/>
          </p:cNvSpPr>
          <p:nvPr/>
        </p:nvSpPr>
        <p:spPr bwMode="auto">
          <a:xfrm>
            <a:off x="4391025" y="4876800"/>
            <a:ext cx="0" cy="304800"/>
          </a:xfrm>
          <a:prstGeom prst="line">
            <a:avLst/>
          </a:prstGeom>
          <a:noFill/>
          <a:ln w="9525">
            <a:solidFill>
              <a:schemeClr val="tx1"/>
            </a:solidFill>
            <a:round/>
            <a:headEnd/>
            <a:tailEnd/>
          </a:ln>
        </p:spPr>
        <p:txBody>
          <a:bodyPr lIns="73025" tIns="36512" rIns="73025" bIns="36512">
            <a:prstTxWarp prst="textNoShape">
              <a:avLst/>
            </a:prstTxWarp>
          </a:bodyPr>
          <a:lstStyle/>
          <a:p>
            <a:endParaRPr lang="en-US"/>
          </a:p>
        </p:txBody>
      </p:sp>
      <p:sp>
        <p:nvSpPr>
          <p:cNvPr id="51210" name="Line 10"/>
          <p:cNvSpPr>
            <a:spLocks noChangeShapeType="1"/>
          </p:cNvSpPr>
          <p:nvPr/>
        </p:nvSpPr>
        <p:spPr bwMode="auto">
          <a:xfrm>
            <a:off x="6189663" y="4876800"/>
            <a:ext cx="0" cy="304800"/>
          </a:xfrm>
          <a:prstGeom prst="line">
            <a:avLst/>
          </a:prstGeom>
          <a:noFill/>
          <a:ln w="9525">
            <a:solidFill>
              <a:schemeClr val="tx1"/>
            </a:solidFill>
            <a:round/>
            <a:headEnd/>
            <a:tailEnd/>
          </a:ln>
        </p:spPr>
        <p:txBody>
          <a:bodyPr lIns="73025" tIns="36512" rIns="73025" bIns="36512">
            <a:prstTxWarp prst="textNoShape">
              <a:avLst/>
            </a:prstTxWarp>
          </a:bodyPr>
          <a:lstStyle/>
          <a:p>
            <a:endParaRPr lang="en-US"/>
          </a:p>
        </p:txBody>
      </p:sp>
      <p:sp>
        <p:nvSpPr>
          <p:cNvPr id="51211" name="Line 11"/>
          <p:cNvSpPr>
            <a:spLocks noChangeShapeType="1"/>
          </p:cNvSpPr>
          <p:nvPr/>
        </p:nvSpPr>
        <p:spPr bwMode="auto">
          <a:xfrm>
            <a:off x="7989888" y="4876800"/>
            <a:ext cx="0" cy="304800"/>
          </a:xfrm>
          <a:prstGeom prst="line">
            <a:avLst/>
          </a:prstGeom>
          <a:noFill/>
          <a:ln w="9525">
            <a:solidFill>
              <a:schemeClr val="tx1"/>
            </a:solidFill>
            <a:round/>
            <a:headEnd/>
            <a:tailEnd/>
          </a:ln>
        </p:spPr>
        <p:txBody>
          <a:bodyPr lIns="73025" tIns="36512" rIns="73025" bIns="36512">
            <a:prstTxWarp prst="textNoShape">
              <a:avLst/>
            </a:prstTxWarp>
          </a:bodyPr>
          <a:lstStyle/>
          <a:p>
            <a:endParaRPr lang="en-US"/>
          </a:p>
        </p:txBody>
      </p:sp>
      <p:sp>
        <p:nvSpPr>
          <p:cNvPr id="51212" name="Text Box 12"/>
          <p:cNvSpPr txBox="1">
            <a:spLocks noChangeArrowheads="1"/>
          </p:cNvSpPr>
          <p:nvPr/>
        </p:nvSpPr>
        <p:spPr bwMode="auto">
          <a:xfrm>
            <a:off x="4270375" y="5126039"/>
            <a:ext cx="287338" cy="377825"/>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2000" b="1"/>
              <a:t>1</a:t>
            </a:r>
            <a:endParaRPr lang="en-US" sz="2000" b="1"/>
          </a:p>
        </p:txBody>
      </p:sp>
      <p:sp>
        <p:nvSpPr>
          <p:cNvPr id="51213" name="Text Box 13"/>
          <p:cNvSpPr txBox="1">
            <a:spLocks noChangeArrowheads="1"/>
          </p:cNvSpPr>
          <p:nvPr/>
        </p:nvSpPr>
        <p:spPr bwMode="auto">
          <a:xfrm>
            <a:off x="6096000" y="5156201"/>
            <a:ext cx="287338" cy="377825"/>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2000" b="1"/>
              <a:t>2</a:t>
            </a:r>
            <a:endParaRPr lang="en-US" sz="2000" b="1"/>
          </a:p>
        </p:txBody>
      </p:sp>
      <p:sp>
        <p:nvSpPr>
          <p:cNvPr id="51214" name="Text Box 14"/>
          <p:cNvSpPr txBox="1">
            <a:spLocks noChangeArrowheads="1"/>
          </p:cNvSpPr>
          <p:nvPr/>
        </p:nvSpPr>
        <p:spPr bwMode="auto">
          <a:xfrm>
            <a:off x="7851775" y="5126039"/>
            <a:ext cx="287338" cy="377825"/>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2000" b="1"/>
              <a:t>3</a:t>
            </a:r>
            <a:endParaRPr lang="en-US" sz="2000" b="1"/>
          </a:p>
        </p:txBody>
      </p:sp>
      <p:sp>
        <p:nvSpPr>
          <p:cNvPr id="51215" name="Line 15"/>
          <p:cNvSpPr>
            <a:spLocks noChangeShapeType="1"/>
          </p:cNvSpPr>
          <p:nvPr/>
        </p:nvSpPr>
        <p:spPr bwMode="auto">
          <a:xfrm>
            <a:off x="2438400" y="3968750"/>
            <a:ext cx="381000" cy="0"/>
          </a:xfrm>
          <a:prstGeom prst="line">
            <a:avLst/>
          </a:prstGeom>
          <a:noFill/>
          <a:ln w="9525">
            <a:solidFill>
              <a:schemeClr val="tx1"/>
            </a:solidFill>
            <a:round/>
            <a:headEnd/>
            <a:tailEnd/>
          </a:ln>
        </p:spPr>
        <p:txBody>
          <a:bodyPr lIns="73025" tIns="36512" rIns="73025" bIns="36512">
            <a:prstTxWarp prst="textNoShape">
              <a:avLst/>
            </a:prstTxWarp>
          </a:bodyPr>
          <a:lstStyle/>
          <a:p>
            <a:endParaRPr lang="en-US"/>
          </a:p>
        </p:txBody>
      </p:sp>
      <p:sp>
        <p:nvSpPr>
          <p:cNvPr id="51216" name="Line 16"/>
          <p:cNvSpPr>
            <a:spLocks noChangeShapeType="1"/>
          </p:cNvSpPr>
          <p:nvPr/>
        </p:nvSpPr>
        <p:spPr bwMode="auto">
          <a:xfrm>
            <a:off x="2436813" y="2944813"/>
            <a:ext cx="381000" cy="0"/>
          </a:xfrm>
          <a:prstGeom prst="line">
            <a:avLst/>
          </a:prstGeom>
          <a:noFill/>
          <a:ln w="9525">
            <a:solidFill>
              <a:schemeClr val="tx1"/>
            </a:solidFill>
            <a:round/>
            <a:headEnd/>
            <a:tailEnd/>
          </a:ln>
        </p:spPr>
        <p:txBody>
          <a:bodyPr lIns="73025" tIns="36512" rIns="73025" bIns="36512">
            <a:prstTxWarp prst="textNoShape">
              <a:avLst/>
            </a:prstTxWarp>
          </a:bodyPr>
          <a:lstStyle/>
          <a:p>
            <a:endParaRPr lang="en-US"/>
          </a:p>
        </p:txBody>
      </p:sp>
      <p:sp>
        <p:nvSpPr>
          <p:cNvPr id="51217" name="Text Box 17"/>
          <p:cNvSpPr txBox="1">
            <a:spLocks noChangeArrowheads="1"/>
          </p:cNvSpPr>
          <p:nvPr/>
        </p:nvSpPr>
        <p:spPr bwMode="auto">
          <a:xfrm>
            <a:off x="2209800" y="3733801"/>
            <a:ext cx="287338" cy="377825"/>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2000" b="1"/>
              <a:t>1</a:t>
            </a:r>
            <a:endParaRPr lang="en-US" sz="2000" b="1"/>
          </a:p>
        </p:txBody>
      </p:sp>
      <p:sp>
        <p:nvSpPr>
          <p:cNvPr id="51218" name="Text Box 18"/>
          <p:cNvSpPr txBox="1">
            <a:spLocks noChangeArrowheads="1"/>
          </p:cNvSpPr>
          <p:nvPr/>
        </p:nvSpPr>
        <p:spPr bwMode="auto">
          <a:xfrm>
            <a:off x="2209800" y="2717801"/>
            <a:ext cx="287338" cy="377825"/>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2000" b="1"/>
              <a:t>2</a:t>
            </a:r>
            <a:endParaRPr lang="en-US" sz="2000" b="1"/>
          </a:p>
        </p:txBody>
      </p:sp>
      <p:sp>
        <p:nvSpPr>
          <p:cNvPr id="51219" name="Rectangle 19" descr="Wide upward diagonal"/>
          <p:cNvSpPr>
            <a:spLocks noChangeArrowheads="1"/>
          </p:cNvSpPr>
          <p:nvPr/>
        </p:nvSpPr>
        <p:spPr bwMode="auto">
          <a:xfrm>
            <a:off x="2590800" y="2944813"/>
            <a:ext cx="914400" cy="2159000"/>
          </a:xfrm>
          <a:prstGeom prst="rect">
            <a:avLst/>
          </a:prstGeom>
          <a:pattFill prst="wdUpDiag">
            <a:fgClr>
              <a:schemeClr val="accent1"/>
            </a:fgClr>
            <a:bgClr>
              <a:schemeClr val="bg1"/>
            </a:bgClr>
          </a:pattFill>
          <a:ln w="9525">
            <a:solidFill>
              <a:schemeClr val="tx1"/>
            </a:solidFill>
            <a:miter lim="800000"/>
            <a:headEnd/>
            <a:tailEnd/>
          </a:ln>
        </p:spPr>
        <p:txBody>
          <a:bodyPr wrap="none" lIns="73025" tIns="36512" rIns="73025" bIns="36512" anchor="ctr">
            <a:prstTxWarp prst="textNoShape">
              <a:avLst/>
            </a:prstTxWarp>
          </a:bodyPr>
          <a:lstStyle/>
          <a:p>
            <a:pPr>
              <a:lnSpc>
                <a:spcPct val="100000"/>
              </a:lnSpc>
            </a:pPr>
            <a:endParaRPr lang="en-GB" sz="1800" b="1"/>
          </a:p>
          <a:p>
            <a:pPr>
              <a:lnSpc>
                <a:spcPct val="100000"/>
              </a:lnSpc>
            </a:pPr>
            <a:r>
              <a:rPr lang="en-GB" sz="1800" b="1"/>
              <a:t>Bc</a:t>
            </a:r>
            <a:endParaRPr lang="en-US" sz="1800" b="1"/>
          </a:p>
        </p:txBody>
      </p:sp>
      <p:sp>
        <p:nvSpPr>
          <p:cNvPr id="51220" name="Rectangle 20" descr="Wide upward diagonal"/>
          <p:cNvSpPr>
            <a:spLocks noChangeArrowheads="1"/>
          </p:cNvSpPr>
          <p:nvPr/>
        </p:nvSpPr>
        <p:spPr bwMode="auto">
          <a:xfrm>
            <a:off x="4391025" y="2944813"/>
            <a:ext cx="914400" cy="2159000"/>
          </a:xfrm>
          <a:prstGeom prst="rect">
            <a:avLst/>
          </a:prstGeom>
          <a:pattFill prst="wdUpDiag">
            <a:fgClr>
              <a:schemeClr val="accent1"/>
            </a:fgClr>
            <a:bgClr>
              <a:schemeClr val="bg1"/>
            </a:bgClr>
          </a:pattFill>
          <a:ln w="9525">
            <a:solidFill>
              <a:schemeClr val="tx1"/>
            </a:solidFill>
            <a:miter lim="800000"/>
            <a:headEnd/>
            <a:tailEnd/>
          </a:ln>
        </p:spPr>
        <p:txBody>
          <a:bodyPr wrap="none" lIns="73025" tIns="36512" rIns="73025" bIns="36512" anchor="ctr">
            <a:prstTxWarp prst="textNoShape">
              <a:avLst/>
            </a:prstTxWarp>
          </a:bodyPr>
          <a:lstStyle/>
          <a:p>
            <a:pPr>
              <a:lnSpc>
                <a:spcPct val="100000"/>
              </a:lnSpc>
            </a:pPr>
            <a:endParaRPr lang="en-GB" sz="1800" b="1"/>
          </a:p>
          <a:p>
            <a:pPr>
              <a:lnSpc>
                <a:spcPct val="100000"/>
              </a:lnSpc>
            </a:pPr>
            <a:r>
              <a:rPr lang="en-GB" sz="1800" b="1"/>
              <a:t>Bc</a:t>
            </a:r>
            <a:endParaRPr lang="en-US" sz="1800" b="1"/>
          </a:p>
        </p:txBody>
      </p:sp>
      <p:sp>
        <p:nvSpPr>
          <p:cNvPr id="51221" name="Rectangle 21" descr="Wide upward diagonal"/>
          <p:cNvSpPr>
            <a:spLocks noChangeArrowheads="1"/>
          </p:cNvSpPr>
          <p:nvPr/>
        </p:nvSpPr>
        <p:spPr bwMode="auto">
          <a:xfrm>
            <a:off x="6189663" y="2944813"/>
            <a:ext cx="914400" cy="2159000"/>
          </a:xfrm>
          <a:prstGeom prst="rect">
            <a:avLst/>
          </a:prstGeom>
          <a:pattFill prst="wdUpDiag">
            <a:fgClr>
              <a:schemeClr val="accent1"/>
            </a:fgClr>
            <a:bgClr>
              <a:schemeClr val="bg1"/>
            </a:bgClr>
          </a:patt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51222" name="Rectangle 22" descr="Wide upward diagonal"/>
          <p:cNvSpPr>
            <a:spLocks noChangeArrowheads="1"/>
          </p:cNvSpPr>
          <p:nvPr/>
        </p:nvSpPr>
        <p:spPr bwMode="auto">
          <a:xfrm>
            <a:off x="7989888" y="2944813"/>
            <a:ext cx="914400" cy="2159000"/>
          </a:xfrm>
          <a:prstGeom prst="rect">
            <a:avLst/>
          </a:prstGeom>
          <a:pattFill prst="wdUpDiag">
            <a:fgClr>
              <a:schemeClr val="accent1"/>
            </a:fgClr>
            <a:bgClr>
              <a:schemeClr val="bg1"/>
            </a:bgClr>
          </a:pattFill>
          <a:ln w="9525">
            <a:solidFill>
              <a:schemeClr val="tx1"/>
            </a:solidFill>
            <a:miter lim="800000"/>
            <a:headEnd/>
            <a:tailEnd/>
          </a:ln>
        </p:spPr>
        <p:txBody>
          <a:bodyPr wrap="none" lIns="73025" tIns="36512" rIns="73025" bIns="36512" anchor="ctr">
            <a:prstTxWarp prst="textNoShape">
              <a:avLst/>
            </a:prstTxWarp>
          </a:bodyPr>
          <a:lstStyle/>
          <a:p>
            <a:endParaRPr lang="en-US"/>
          </a:p>
        </p:txBody>
      </p:sp>
      <p:sp>
        <p:nvSpPr>
          <p:cNvPr id="51223" name="Line 23"/>
          <p:cNvSpPr>
            <a:spLocks noChangeShapeType="1"/>
          </p:cNvSpPr>
          <p:nvPr/>
        </p:nvSpPr>
        <p:spPr bwMode="auto">
          <a:xfrm>
            <a:off x="2590800" y="2944813"/>
            <a:ext cx="6705600" cy="0"/>
          </a:xfrm>
          <a:prstGeom prst="line">
            <a:avLst/>
          </a:prstGeom>
          <a:noFill/>
          <a:ln w="15875">
            <a:solidFill>
              <a:srgbClr val="FF0000"/>
            </a:solidFill>
            <a:round/>
            <a:headEnd/>
            <a:tailEnd/>
          </a:ln>
        </p:spPr>
        <p:txBody>
          <a:bodyPr lIns="73025" tIns="36512" rIns="73025" bIns="36512">
            <a:prstTxWarp prst="textNoShape">
              <a:avLst/>
            </a:prstTxWarp>
          </a:bodyPr>
          <a:lstStyle/>
          <a:p>
            <a:endParaRPr lang="en-US"/>
          </a:p>
        </p:txBody>
      </p:sp>
      <p:sp>
        <p:nvSpPr>
          <p:cNvPr id="51224" name="Line 24"/>
          <p:cNvSpPr>
            <a:spLocks noChangeShapeType="1"/>
          </p:cNvSpPr>
          <p:nvPr/>
        </p:nvSpPr>
        <p:spPr bwMode="auto">
          <a:xfrm>
            <a:off x="9372600" y="2944813"/>
            <a:ext cx="609600" cy="0"/>
          </a:xfrm>
          <a:prstGeom prst="line">
            <a:avLst/>
          </a:prstGeom>
          <a:noFill/>
          <a:ln w="15875">
            <a:solidFill>
              <a:srgbClr val="FF0000"/>
            </a:solidFill>
            <a:prstDash val="dashDot"/>
            <a:round/>
            <a:headEnd/>
            <a:tailEnd/>
          </a:ln>
        </p:spPr>
        <p:txBody>
          <a:bodyPr lIns="73025" tIns="36512" rIns="73025" bIns="36512">
            <a:prstTxWarp prst="textNoShape">
              <a:avLst/>
            </a:prstTxWarp>
          </a:bodyPr>
          <a:lstStyle/>
          <a:p>
            <a:endParaRPr lang="en-US"/>
          </a:p>
        </p:txBody>
      </p:sp>
      <p:sp>
        <p:nvSpPr>
          <p:cNvPr id="51225" name="Line 25"/>
          <p:cNvSpPr>
            <a:spLocks noChangeShapeType="1"/>
          </p:cNvSpPr>
          <p:nvPr/>
        </p:nvSpPr>
        <p:spPr bwMode="auto">
          <a:xfrm flipH="1">
            <a:off x="3505200" y="1676400"/>
            <a:ext cx="2362200" cy="1981200"/>
          </a:xfrm>
          <a:prstGeom prst="line">
            <a:avLst/>
          </a:prstGeom>
          <a:noFill/>
          <a:ln w="15875">
            <a:solidFill>
              <a:schemeClr val="folHlink"/>
            </a:solidFill>
            <a:round/>
            <a:headEnd/>
            <a:tailEnd type="triangle" w="med" len="med"/>
          </a:ln>
        </p:spPr>
        <p:txBody>
          <a:bodyPr lIns="73025" tIns="36512" rIns="73025" bIns="36512">
            <a:prstTxWarp prst="textNoShape">
              <a:avLst/>
            </a:prstTxWarp>
          </a:bodyPr>
          <a:lstStyle/>
          <a:p>
            <a:endParaRPr lang="en-US"/>
          </a:p>
        </p:txBody>
      </p:sp>
      <p:sp>
        <p:nvSpPr>
          <p:cNvPr id="51226" name="Line 26"/>
          <p:cNvSpPr>
            <a:spLocks noChangeShapeType="1"/>
          </p:cNvSpPr>
          <p:nvPr/>
        </p:nvSpPr>
        <p:spPr bwMode="auto">
          <a:xfrm flipH="1">
            <a:off x="6781800" y="2590800"/>
            <a:ext cx="609600" cy="304800"/>
          </a:xfrm>
          <a:prstGeom prst="line">
            <a:avLst/>
          </a:prstGeom>
          <a:noFill/>
          <a:ln w="9525">
            <a:solidFill>
              <a:srgbClr val="FF0000"/>
            </a:solidFill>
            <a:round/>
            <a:headEnd/>
            <a:tailEnd type="triangle" w="med" len="med"/>
          </a:ln>
        </p:spPr>
        <p:txBody>
          <a:bodyPr lIns="73025" tIns="36512" rIns="73025" bIns="36512">
            <a:prstTxWarp prst="textNoShape">
              <a:avLst/>
            </a:prstTxWarp>
          </a:bodyPr>
          <a:lstStyle/>
          <a:p>
            <a:endParaRPr lang="en-US"/>
          </a:p>
        </p:txBody>
      </p:sp>
      <p:sp>
        <p:nvSpPr>
          <p:cNvPr id="51227" name="Line 27"/>
          <p:cNvSpPr>
            <a:spLocks noChangeShapeType="1"/>
          </p:cNvSpPr>
          <p:nvPr/>
        </p:nvSpPr>
        <p:spPr bwMode="auto">
          <a:xfrm flipH="1">
            <a:off x="5334000" y="1752600"/>
            <a:ext cx="533400" cy="1447800"/>
          </a:xfrm>
          <a:prstGeom prst="line">
            <a:avLst/>
          </a:prstGeom>
          <a:noFill/>
          <a:ln w="15875">
            <a:solidFill>
              <a:schemeClr val="folHlink"/>
            </a:solidFill>
            <a:round/>
            <a:headEnd/>
            <a:tailEnd type="triangle" w="med" len="med"/>
          </a:ln>
        </p:spPr>
        <p:txBody>
          <a:bodyPr lIns="73025" tIns="36512" rIns="73025" bIns="36512">
            <a:prstTxWarp prst="textNoShape">
              <a:avLst/>
            </a:prstTxWarp>
          </a:bodyPr>
          <a:lstStyle/>
          <a:p>
            <a:endParaRPr lang="en-US"/>
          </a:p>
        </p:txBody>
      </p:sp>
      <p:sp>
        <p:nvSpPr>
          <p:cNvPr id="51228" name="Text Box 28"/>
          <p:cNvSpPr txBox="1">
            <a:spLocks noChangeArrowheads="1"/>
          </p:cNvSpPr>
          <p:nvPr/>
        </p:nvSpPr>
        <p:spPr bwMode="auto">
          <a:xfrm>
            <a:off x="7391400" y="2362201"/>
            <a:ext cx="2565400" cy="347663"/>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1800" b="1"/>
              <a:t>interface rate = </a:t>
            </a:r>
            <a:r>
              <a:rPr lang="en-GB" sz="1800" b="1">
                <a:solidFill>
                  <a:srgbClr val="FF0000"/>
                </a:solidFill>
              </a:rPr>
              <a:t>2Mbps</a:t>
            </a:r>
            <a:endParaRPr lang="en-US" sz="1800" b="1"/>
          </a:p>
        </p:txBody>
      </p:sp>
      <p:sp>
        <p:nvSpPr>
          <p:cNvPr id="51229" name="Text Box 29"/>
          <p:cNvSpPr txBox="1">
            <a:spLocks noChangeArrowheads="1"/>
          </p:cNvSpPr>
          <p:nvPr/>
        </p:nvSpPr>
        <p:spPr bwMode="auto">
          <a:xfrm>
            <a:off x="3276600" y="5181601"/>
            <a:ext cx="441916" cy="289181"/>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1400" b="1"/>
              <a:t>Tc1</a:t>
            </a:r>
            <a:endParaRPr lang="en-US" sz="1400" b="1"/>
          </a:p>
        </p:txBody>
      </p:sp>
      <p:sp>
        <p:nvSpPr>
          <p:cNvPr id="51230" name="Text Box 30"/>
          <p:cNvSpPr txBox="1">
            <a:spLocks noChangeArrowheads="1"/>
          </p:cNvSpPr>
          <p:nvPr/>
        </p:nvSpPr>
        <p:spPr bwMode="auto">
          <a:xfrm>
            <a:off x="5105400" y="5181601"/>
            <a:ext cx="441916" cy="289181"/>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1400" b="1"/>
              <a:t>Tc2</a:t>
            </a:r>
            <a:endParaRPr lang="en-US" sz="1400" b="1"/>
          </a:p>
        </p:txBody>
      </p:sp>
      <p:sp>
        <p:nvSpPr>
          <p:cNvPr id="51231" name="Text Box 31"/>
          <p:cNvSpPr txBox="1">
            <a:spLocks noChangeArrowheads="1"/>
          </p:cNvSpPr>
          <p:nvPr/>
        </p:nvSpPr>
        <p:spPr bwMode="auto">
          <a:xfrm>
            <a:off x="6934200" y="5181601"/>
            <a:ext cx="441916" cy="289181"/>
          </a:xfrm>
          <a:prstGeom prst="rect">
            <a:avLst/>
          </a:prstGeom>
          <a:noFill/>
          <a:ln w="9525">
            <a:noFill/>
            <a:miter lim="800000"/>
            <a:headEnd/>
            <a:tailEnd/>
          </a:ln>
        </p:spPr>
        <p:txBody>
          <a:bodyPr wrap="none" lIns="73025" tIns="36512" rIns="73025" bIns="36512">
            <a:prstTxWarp prst="textNoShape">
              <a:avLst/>
            </a:prstTxWarp>
            <a:spAutoFit/>
          </a:bodyPr>
          <a:lstStyle/>
          <a:p>
            <a:pPr algn="l">
              <a:lnSpc>
                <a:spcPct val="100000"/>
              </a:lnSpc>
            </a:pPr>
            <a:r>
              <a:rPr lang="en-GB" sz="1400" b="1"/>
              <a:t>Tc3</a:t>
            </a:r>
            <a:endParaRPr lang="en-US" sz="1400" b="1"/>
          </a:p>
        </p:txBody>
      </p:sp>
      <p:sp>
        <p:nvSpPr>
          <p:cNvPr id="51232" name="Line 32"/>
          <p:cNvSpPr>
            <a:spLocks noChangeShapeType="1"/>
          </p:cNvSpPr>
          <p:nvPr/>
        </p:nvSpPr>
        <p:spPr bwMode="auto">
          <a:xfrm flipH="1">
            <a:off x="2667000" y="5334000"/>
            <a:ext cx="533400" cy="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51233" name="Line 33"/>
          <p:cNvSpPr>
            <a:spLocks noChangeShapeType="1"/>
          </p:cNvSpPr>
          <p:nvPr/>
        </p:nvSpPr>
        <p:spPr bwMode="auto">
          <a:xfrm>
            <a:off x="3733800" y="5334000"/>
            <a:ext cx="533400" cy="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51234" name="Line 34"/>
          <p:cNvSpPr>
            <a:spLocks noChangeShapeType="1"/>
          </p:cNvSpPr>
          <p:nvPr/>
        </p:nvSpPr>
        <p:spPr bwMode="auto">
          <a:xfrm flipH="1">
            <a:off x="4572000" y="5334000"/>
            <a:ext cx="533400" cy="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51235" name="Line 35"/>
          <p:cNvSpPr>
            <a:spLocks noChangeShapeType="1"/>
          </p:cNvSpPr>
          <p:nvPr/>
        </p:nvSpPr>
        <p:spPr bwMode="auto">
          <a:xfrm flipH="1">
            <a:off x="6324600" y="5334000"/>
            <a:ext cx="609600" cy="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51236" name="Line 36"/>
          <p:cNvSpPr>
            <a:spLocks noChangeShapeType="1"/>
          </p:cNvSpPr>
          <p:nvPr/>
        </p:nvSpPr>
        <p:spPr bwMode="auto">
          <a:xfrm>
            <a:off x="5562600" y="5334000"/>
            <a:ext cx="533400" cy="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51237" name="Line 37"/>
          <p:cNvSpPr>
            <a:spLocks noChangeShapeType="1"/>
          </p:cNvSpPr>
          <p:nvPr/>
        </p:nvSpPr>
        <p:spPr bwMode="auto">
          <a:xfrm>
            <a:off x="7391400" y="5334000"/>
            <a:ext cx="457200" cy="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51238" name="Rectangle 38"/>
          <p:cNvSpPr>
            <a:spLocks noChangeArrowheads="1"/>
          </p:cNvSpPr>
          <p:nvPr/>
        </p:nvSpPr>
        <p:spPr bwMode="auto">
          <a:xfrm>
            <a:off x="5715000" y="1447800"/>
            <a:ext cx="3505200" cy="838200"/>
          </a:xfrm>
          <a:prstGeom prst="rect">
            <a:avLst/>
          </a:prstGeom>
          <a:noFill/>
          <a:ln w="9525">
            <a:solidFill>
              <a:schemeClr val="tx2"/>
            </a:solidFill>
            <a:miter lim="800000"/>
            <a:headEnd/>
            <a:tailEnd/>
          </a:ln>
        </p:spPr>
        <p:txBody>
          <a:bodyPr wrap="none" lIns="73025" tIns="36512" rIns="73025" bIns="36512" anchor="ctr">
            <a:prstTxWarp prst="textNoShape">
              <a:avLst/>
            </a:prstTxWarp>
          </a:bodyPr>
          <a:lstStyle/>
          <a:p>
            <a:endParaRPr lang="en-US"/>
          </a:p>
        </p:txBody>
      </p:sp>
      <p:sp>
        <p:nvSpPr>
          <p:cNvPr id="51239" name="Line 39"/>
          <p:cNvSpPr>
            <a:spLocks noChangeShapeType="1"/>
          </p:cNvSpPr>
          <p:nvPr/>
        </p:nvSpPr>
        <p:spPr bwMode="auto">
          <a:xfrm>
            <a:off x="2589213" y="3968750"/>
            <a:ext cx="6705600" cy="0"/>
          </a:xfrm>
          <a:prstGeom prst="line">
            <a:avLst/>
          </a:prstGeom>
          <a:noFill/>
          <a:ln w="15875">
            <a:solidFill>
              <a:schemeClr val="tx1"/>
            </a:solidFill>
            <a:round/>
            <a:headEnd/>
            <a:tailEnd/>
          </a:ln>
        </p:spPr>
        <p:txBody>
          <a:bodyPr lIns="73025" tIns="36512" rIns="73025" bIns="36512">
            <a:prstTxWarp prst="textNoShape">
              <a:avLst/>
            </a:prstTxWarp>
          </a:bodyPr>
          <a:lstStyle/>
          <a:p>
            <a:endParaRPr lang="en-US"/>
          </a:p>
        </p:txBody>
      </p:sp>
      <p:sp>
        <p:nvSpPr>
          <p:cNvPr id="51240" name="Line 40"/>
          <p:cNvSpPr>
            <a:spLocks noChangeShapeType="1"/>
          </p:cNvSpPr>
          <p:nvPr/>
        </p:nvSpPr>
        <p:spPr bwMode="auto">
          <a:xfrm>
            <a:off x="9372600" y="3968750"/>
            <a:ext cx="609600" cy="0"/>
          </a:xfrm>
          <a:prstGeom prst="line">
            <a:avLst/>
          </a:prstGeom>
          <a:noFill/>
          <a:ln w="15875">
            <a:solidFill>
              <a:schemeClr val="tx1"/>
            </a:solidFill>
            <a:prstDash val="dashDot"/>
            <a:round/>
            <a:headEnd/>
            <a:tailEnd/>
          </a:ln>
        </p:spPr>
        <p:txBody>
          <a:bodyPr lIns="73025" tIns="36512" rIns="73025" bIns="36512">
            <a:prstTxWarp prst="textNoShape">
              <a:avLst/>
            </a:prstTxWarp>
          </a:bodyPr>
          <a:lstStyle/>
          <a:p>
            <a:endParaRPr lang="en-US"/>
          </a:p>
        </p:txBody>
      </p:sp>
      <p:sp>
        <p:nvSpPr>
          <p:cNvPr id="51241" name="Line 41"/>
          <p:cNvSpPr>
            <a:spLocks noChangeShapeType="1"/>
          </p:cNvSpPr>
          <p:nvPr/>
        </p:nvSpPr>
        <p:spPr bwMode="auto">
          <a:xfrm flipH="1">
            <a:off x="5638800" y="2209800"/>
            <a:ext cx="533400" cy="17526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51242" name="Text Box 42"/>
          <p:cNvSpPr txBox="1">
            <a:spLocks noChangeArrowheads="1"/>
          </p:cNvSpPr>
          <p:nvPr/>
        </p:nvSpPr>
        <p:spPr bwMode="auto">
          <a:xfrm>
            <a:off x="2286000" y="5867400"/>
            <a:ext cx="7772400" cy="927100"/>
          </a:xfrm>
          <a:prstGeom prst="rect">
            <a:avLst/>
          </a:prstGeom>
          <a:noFill/>
          <a:ln w="9525">
            <a:noFill/>
            <a:miter lim="800000"/>
            <a:headEnd/>
            <a:tailEnd/>
          </a:ln>
        </p:spPr>
        <p:txBody>
          <a:bodyPr lIns="73025" tIns="36512" rIns="73025" bIns="36512">
            <a:prstTxWarp prst="textNoShape">
              <a:avLst/>
            </a:prstTxWarp>
            <a:spAutoFit/>
          </a:bodyPr>
          <a:lstStyle/>
          <a:p>
            <a:pPr algn="l">
              <a:spcBef>
                <a:spcPct val="40000"/>
              </a:spcBef>
              <a:buSzPct val="100000"/>
            </a:pPr>
            <a:r>
              <a:rPr lang="en-GB" sz="2000"/>
              <a:t>If there is continuous traffic, then on average we achieve a shaped rate of 1M (2M during 1/2s, every second = 1Mbps)</a:t>
            </a:r>
            <a:endParaRPr lang="en-US" sz="2000"/>
          </a:p>
          <a:p>
            <a:pPr algn="l">
              <a:lnSpc>
                <a:spcPct val="100000"/>
              </a:lnSpc>
            </a:pPr>
            <a:endParaRPr lang="en-US" sz="2000"/>
          </a:p>
        </p:txBody>
      </p:sp>
      <p:sp>
        <p:nvSpPr>
          <p:cNvPr id="51243" name="AutoShape 43"/>
          <p:cNvSpPr>
            <a:spLocks noChangeArrowheads="1"/>
          </p:cNvSpPr>
          <p:nvPr/>
        </p:nvSpPr>
        <p:spPr bwMode="auto">
          <a:xfrm>
            <a:off x="7658366" y="1467883"/>
            <a:ext cx="188380" cy="825022"/>
          </a:xfrm>
          <a:prstGeom prst="rightArrow">
            <a:avLst>
              <a:gd name="adj1" fmla="val 50000"/>
              <a:gd name="adj2" fmla="val 25000"/>
            </a:avLst>
          </a:prstGeom>
          <a:solidFill>
            <a:schemeClr val="accent1"/>
          </a:solidFill>
          <a:ln w="9525">
            <a:solidFill>
              <a:schemeClr val="tx2"/>
            </a:solidFill>
            <a:miter lim="800000"/>
            <a:headEnd/>
            <a:tailEnd/>
          </a:ln>
        </p:spPr>
        <p:txBody>
          <a:bodyPr wrap="none" lIns="82124" tIns="41061" rIns="82124" bIns="41061" anchor="ctr">
            <a:prstTxWarp prst="textNoShape">
              <a:avLst/>
            </a:prstTxWarp>
            <a:spAutoFit/>
          </a:bodyPr>
          <a:lstStyle/>
          <a:p>
            <a:endParaRPr lang="en-US"/>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ChangeArrowheads="1"/>
          </p:cNvSpPr>
          <p:nvPr/>
        </p:nvSpPr>
        <p:spPr bwMode="auto">
          <a:xfrm>
            <a:off x="2133600" y="4724400"/>
            <a:ext cx="7924800" cy="609600"/>
          </a:xfrm>
          <a:prstGeom prst="rect">
            <a:avLst/>
          </a:prstGeom>
          <a:solidFill>
            <a:schemeClr val="tx2"/>
          </a:solidFill>
          <a:ln w="9525">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52227" name="Rectangle 3"/>
          <p:cNvSpPr>
            <a:spLocks noGrp="1" noChangeArrowheads="1"/>
          </p:cNvSpPr>
          <p:nvPr>
            <p:ph type="title"/>
          </p:nvPr>
        </p:nvSpPr>
        <p:spPr/>
        <p:txBody>
          <a:bodyPr/>
          <a:lstStyle/>
          <a:p>
            <a:pPr eaLnBrk="1" hangingPunct="1"/>
            <a:r>
              <a:rPr lang="en-US"/>
              <a:t>Shaping: Selecting Bc and Tc</a:t>
            </a:r>
          </a:p>
        </p:txBody>
      </p:sp>
      <p:sp>
        <p:nvSpPr>
          <p:cNvPr id="52228" name="Rectangle 4"/>
          <p:cNvSpPr>
            <a:spLocks noGrp="1" noChangeArrowheads="1"/>
          </p:cNvSpPr>
          <p:nvPr>
            <p:ph idx="1"/>
          </p:nvPr>
        </p:nvSpPr>
        <p:spPr>
          <a:xfrm>
            <a:off x="2403476" y="1658938"/>
            <a:ext cx="7940675" cy="4506912"/>
          </a:xfrm>
        </p:spPr>
        <p:txBody>
          <a:bodyPr/>
          <a:lstStyle/>
          <a:p>
            <a:pPr>
              <a:lnSpc>
                <a:spcPct val="85000"/>
              </a:lnSpc>
            </a:pPr>
            <a:r>
              <a:rPr lang="en-US"/>
              <a:t>Selecting Values for </a:t>
            </a:r>
            <a:r>
              <a:rPr lang="en-US">
                <a:solidFill>
                  <a:schemeClr val="tx2"/>
                </a:solidFill>
              </a:rPr>
              <a:t>data</a:t>
            </a:r>
            <a:r>
              <a:rPr lang="en-US"/>
              <a:t> :</a:t>
            </a:r>
          </a:p>
          <a:p>
            <a:pPr lvl="1" indent="0">
              <a:lnSpc>
                <a:spcPct val="85000"/>
              </a:lnSpc>
            </a:pPr>
            <a:r>
              <a:rPr lang="en-US" sz="2400" i="1"/>
              <a:t>Bc</a:t>
            </a:r>
            <a:r>
              <a:rPr lang="en-US" sz="2400"/>
              <a:t> = </a:t>
            </a:r>
            <a:r>
              <a:rPr lang="en-US" sz="2400" i="1"/>
              <a:t>CIR</a:t>
            </a:r>
            <a:r>
              <a:rPr lang="en-US" sz="2400"/>
              <a:t>/8 or </a:t>
            </a:r>
            <a:r>
              <a:rPr lang="en-US" sz="2400" i="1"/>
              <a:t>Tc</a:t>
            </a:r>
            <a:r>
              <a:rPr lang="en-US" sz="2400"/>
              <a:t> = 125 ms *</a:t>
            </a:r>
          </a:p>
          <a:p>
            <a:pPr lvl="1" indent="0">
              <a:lnSpc>
                <a:spcPct val="85000"/>
              </a:lnSpc>
            </a:pPr>
            <a:endParaRPr lang="en-US" sz="2400"/>
          </a:p>
          <a:p>
            <a:pPr>
              <a:lnSpc>
                <a:spcPct val="85000"/>
              </a:lnSpc>
            </a:pPr>
            <a:r>
              <a:rPr lang="en-US"/>
              <a:t>Selecting values for </a:t>
            </a:r>
            <a:r>
              <a:rPr lang="en-US">
                <a:solidFill>
                  <a:schemeClr val="tx2"/>
                </a:solidFill>
              </a:rPr>
              <a:t>voice</a:t>
            </a:r>
            <a:r>
              <a:rPr lang="en-US"/>
              <a:t> :</a:t>
            </a:r>
          </a:p>
          <a:p>
            <a:pPr lvl="1" indent="0">
              <a:lnSpc>
                <a:spcPct val="85000"/>
              </a:lnSpc>
            </a:pPr>
            <a:r>
              <a:rPr lang="en-US" sz="2400" i="1"/>
              <a:t>Bc </a:t>
            </a:r>
            <a:r>
              <a:rPr lang="en-US" sz="2400"/>
              <a:t>= </a:t>
            </a:r>
            <a:r>
              <a:rPr lang="en-US" sz="2400" i="1"/>
              <a:t>CIR</a:t>
            </a:r>
            <a:r>
              <a:rPr lang="en-US" sz="2400"/>
              <a:t>/100 or </a:t>
            </a:r>
            <a:r>
              <a:rPr lang="en-US" sz="2400" i="1"/>
              <a:t>Tc</a:t>
            </a:r>
            <a:r>
              <a:rPr lang="en-US" sz="2400"/>
              <a:t> = 10 ms *</a:t>
            </a:r>
          </a:p>
          <a:p>
            <a:pPr lvl="1" indent="0">
              <a:lnSpc>
                <a:spcPct val="85000"/>
              </a:lnSpc>
            </a:pPr>
            <a:r>
              <a:rPr lang="en-US" sz="2400">
                <a:solidFill>
                  <a:schemeClr val="tx2"/>
                </a:solidFill>
              </a:rPr>
              <a:t>Voice packets cannot tolerate a long delay</a:t>
            </a:r>
          </a:p>
          <a:p>
            <a:pPr>
              <a:lnSpc>
                <a:spcPct val="85000"/>
              </a:lnSpc>
              <a:buFont typeface="Wingdings" pitchFamily="1" charset="2"/>
              <a:buNone/>
            </a:pPr>
            <a:endParaRPr lang="en-US">
              <a:solidFill>
                <a:schemeClr val="bg1"/>
              </a:solidFill>
            </a:endParaRPr>
          </a:p>
          <a:p>
            <a:pPr>
              <a:lnSpc>
                <a:spcPct val="85000"/>
              </a:lnSpc>
              <a:buFont typeface="Wingdings" pitchFamily="1" charset="2"/>
              <a:buNone/>
            </a:pPr>
            <a:r>
              <a:rPr lang="en-US">
                <a:solidFill>
                  <a:schemeClr val="bg1"/>
                </a:solidFill>
              </a:rPr>
              <a:t>Larger Bc = Larger Tc, this can affect voice latency </a:t>
            </a:r>
          </a:p>
          <a:p>
            <a:pPr>
              <a:lnSpc>
                <a:spcPct val="85000"/>
              </a:lnSpc>
              <a:buFont typeface="Wingdings" pitchFamily="1" charset="2"/>
              <a:buNone/>
            </a:pPr>
            <a:endParaRPr lang="en-US">
              <a:solidFill>
                <a:schemeClr val="bg1"/>
              </a:solidFill>
            </a:endParaRPr>
          </a:p>
          <a:p>
            <a:pPr>
              <a:lnSpc>
                <a:spcPct val="85000"/>
              </a:lnSpc>
              <a:buFont typeface="Wingdings" pitchFamily="1" charset="2"/>
              <a:buNone/>
            </a:pPr>
            <a:r>
              <a:rPr lang="en-US"/>
              <a:t>* Since HQF, 4ms is supported everywhere</a:t>
            </a:r>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t>Generic Traffic Shaping (pre-MQC)</a:t>
            </a:r>
          </a:p>
        </p:txBody>
      </p:sp>
      <p:sp>
        <p:nvSpPr>
          <p:cNvPr id="53251" name="Rectangle 3"/>
          <p:cNvSpPr>
            <a:spLocks noGrp="1" noChangeArrowheads="1"/>
          </p:cNvSpPr>
          <p:nvPr>
            <p:ph idx="1"/>
          </p:nvPr>
        </p:nvSpPr>
        <p:spPr>
          <a:xfrm>
            <a:off x="2179639" y="1781176"/>
            <a:ext cx="7940675" cy="4168775"/>
          </a:xfrm>
        </p:spPr>
        <p:txBody>
          <a:bodyPr/>
          <a:lstStyle/>
          <a:p>
            <a:r>
              <a:rPr lang="en-US"/>
              <a:t>Old way of configuring shaping</a:t>
            </a:r>
          </a:p>
          <a:p>
            <a:r>
              <a:rPr lang="en-US"/>
              <a:t>Queues for non-conformant packets were WFQ</a:t>
            </a:r>
          </a:p>
          <a:p>
            <a:r>
              <a:rPr lang="en-US"/>
              <a:t>CLI is the interface-configuration command :</a:t>
            </a:r>
          </a:p>
          <a:p>
            <a:endParaRPr lang="en-US"/>
          </a:p>
          <a:p>
            <a:endParaRPr lang="en-US"/>
          </a:p>
          <a:p>
            <a:endParaRPr lang="en-US"/>
          </a:p>
          <a:p>
            <a:r>
              <a:rPr lang="en-US"/>
              <a:t>Not seen anymore, replaced by MQC</a:t>
            </a:r>
          </a:p>
          <a:p>
            <a:endParaRPr lang="en-US"/>
          </a:p>
        </p:txBody>
      </p:sp>
      <p:sp>
        <p:nvSpPr>
          <p:cNvPr id="222212" name="Text Box 4"/>
          <p:cNvSpPr txBox="1">
            <a:spLocks noChangeArrowheads="1"/>
          </p:cNvSpPr>
          <p:nvPr/>
        </p:nvSpPr>
        <p:spPr bwMode="auto">
          <a:xfrm>
            <a:off x="1919288" y="3573464"/>
            <a:ext cx="8299450" cy="896937"/>
          </a:xfrm>
          <a:prstGeom prst="rect">
            <a:avLst/>
          </a:prstGeom>
          <a:solidFill>
            <a:schemeClr val="tx2"/>
          </a:solidFill>
          <a:ln w="9525">
            <a:noFill/>
            <a:miter lim="800000"/>
            <a:headEnd/>
            <a:tailEnd/>
          </a:ln>
          <a:effectLst>
            <a:outerShdw dist="107763" dir="2700000" algn="ctr" rotWithShape="0">
              <a:schemeClr val="bg2">
                <a:alpha val="50000"/>
              </a:schemeClr>
            </a:outerShdw>
          </a:effectLst>
        </p:spPr>
        <p:txBody>
          <a:bodyPr lIns="73025" tIns="36512" rIns="73025" bIns="36512">
            <a:prstTxWarp prst="textNoShape">
              <a:avLst/>
            </a:prstTxWarp>
            <a:spAutoFit/>
          </a:bodyPr>
          <a:lstStyle/>
          <a:p>
            <a:pPr algn="l">
              <a:spcBef>
                <a:spcPct val="40000"/>
              </a:spcBef>
              <a:buClr>
                <a:schemeClr val="folHlink"/>
              </a:buClr>
              <a:buSzPct val="100000"/>
              <a:buFont typeface="Arial" pitchFamily="1" charset="0"/>
              <a:buNone/>
            </a:pPr>
            <a:r>
              <a:rPr lang="en-GB" sz="2000">
                <a:solidFill>
                  <a:schemeClr val="bg1"/>
                </a:solidFill>
                <a:latin typeface="Courier New" pitchFamily="1" charset="0"/>
              </a:rPr>
              <a:t>(config-if)#</a:t>
            </a:r>
            <a:r>
              <a:rPr lang="en-GB" sz="2000" b="1">
                <a:solidFill>
                  <a:schemeClr val="bg1"/>
                </a:solidFill>
                <a:latin typeface="Courier New" pitchFamily="1" charset="0"/>
              </a:rPr>
              <a:t>traffic-shape rate &lt;CIR&gt;  </a:t>
            </a:r>
            <a:br>
              <a:rPr lang="en-GB" sz="2000" b="1">
                <a:solidFill>
                  <a:schemeClr val="bg1"/>
                </a:solidFill>
                <a:latin typeface="Courier New" pitchFamily="1" charset="0"/>
              </a:rPr>
            </a:br>
            <a:r>
              <a:rPr lang="en-GB" sz="2000" b="1">
                <a:solidFill>
                  <a:schemeClr val="bg1"/>
                </a:solidFill>
                <a:latin typeface="Courier New" pitchFamily="1" charset="0"/>
              </a:rPr>
              <a:t>                 			[&lt;Bc&gt;</a:t>
            </a:r>
            <a:br>
              <a:rPr lang="en-GB" sz="2000" b="1">
                <a:solidFill>
                  <a:schemeClr val="bg1"/>
                </a:solidFill>
                <a:latin typeface="Courier New" pitchFamily="1" charset="0"/>
              </a:rPr>
            </a:br>
            <a:r>
              <a:rPr lang="en-GB" sz="2000" b="1">
                <a:solidFill>
                  <a:schemeClr val="bg1"/>
                </a:solidFill>
                <a:latin typeface="Courier New" pitchFamily="1" charset="0"/>
              </a:rPr>
              <a:t>					[&lt;Be&gt;]]</a:t>
            </a:r>
            <a:endParaRPr lang="en-US" sz="2000" b="1">
              <a:solidFill>
                <a:schemeClr val="bg1"/>
              </a:solidFill>
              <a:latin typeface="Courier New" pitchFamily="1" charset="0"/>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60" name="Rectangle 4"/>
          <p:cNvSpPr>
            <a:spLocks noChangeArrowheads="1"/>
          </p:cNvSpPr>
          <p:nvPr/>
        </p:nvSpPr>
        <p:spPr bwMode="auto">
          <a:xfrm>
            <a:off x="1847851" y="5013326"/>
            <a:ext cx="8569325" cy="936625"/>
          </a:xfrm>
          <a:prstGeom prst="rect">
            <a:avLst/>
          </a:prstGeom>
          <a:solidFill>
            <a:schemeClr val="accent1"/>
          </a:solidFill>
          <a:ln w="9525">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54275" name="Rectangle 2"/>
          <p:cNvSpPr>
            <a:spLocks noGrp="1" noChangeArrowheads="1"/>
          </p:cNvSpPr>
          <p:nvPr>
            <p:ph type="title"/>
          </p:nvPr>
        </p:nvSpPr>
        <p:spPr/>
        <p:txBody>
          <a:bodyPr/>
          <a:lstStyle/>
          <a:p>
            <a:pPr eaLnBrk="1" hangingPunct="1"/>
            <a:r>
              <a:rPr lang="en-US"/>
              <a:t>Class-based Traffic Shaping</a:t>
            </a:r>
          </a:p>
        </p:txBody>
      </p:sp>
      <p:sp>
        <p:nvSpPr>
          <p:cNvPr id="54276" name="Rectangle 3"/>
          <p:cNvSpPr>
            <a:spLocks noGrp="1" noChangeArrowheads="1"/>
          </p:cNvSpPr>
          <p:nvPr>
            <p:ph idx="1"/>
          </p:nvPr>
        </p:nvSpPr>
        <p:spPr>
          <a:xfrm>
            <a:off x="2027238" y="1773238"/>
            <a:ext cx="8964612" cy="4608512"/>
          </a:xfrm>
        </p:spPr>
        <p:txBody>
          <a:bodyPr/>
          <a:lstStyle/>
          <a:p>
            <a:r>
              <a:rPr lang="en-US"/>
              <a:t>Same idea, but applied to a MQC Class</a:t>
            </a:r>
          </a:p>
          <a:p>
            <a:r>
              <a:rPr lang="en-US"/>
              <a:t>Two options:</a:t>
            </a:r>
          </a:p>
          <a:p>
            <a:pPr lvl="1" indent="0"/>
            <a:r>
              <a:rPr lang="en-US"/>
              <a:t>shape average – Bc every Tc normal shaping behavior</a:t>
            </a:r>
          </a:p>
          <a:p>
            <a:pPr lvl="1" indent="0"/>
            <a:r>
              <a:rPr lang="en-US"/>
              <a:t>shape peak – Bc+Be every Tc hardly ever used in practice</a:t>
            </a:r>
          </a:p>
          <a:p>
            <a:r>
              <a:rPr lang="en-US"/>
              <a:t>Percent option </a:t>
            </a:r>
          </a:p>
          <a:p>
            <a:pPr lvl="1" indent="0"/>
            <a:r>
              <a:rPr lang="en-US"/>
              <a:t>available since 12.2(13)T</a:t>
            </a:r>
          </a:p>
          <a:p>
            <a:endParaRPr lang="en-US"/>
          </a:p>
          <a:p>
            <a:pPr>
              <a:buFont typeface="Wingdings" pitchFamily="1" charset="2"/>
              <a:buNone/>
            </a:pPr>
            <a:r>
              <a:rPr lang="en-US" sz="2200" b="1">
                <a:solidFill>
                  <a:schemeClr val="bg1"/>
                </a:solidFill>
                <a:latin typeface="Courier New" pitchFamily="1" charset="0"/>
              </a:rPr>
              <a:t>shape</a:t>
            </a:r>
            <a:r>
              <a:rPr lang="en-US" sz="2200">
                <a:solidFill>
                  <a:schemeClr val="bg1"/>
                </a:solidFill>
                <a:latin typeface="Courier New" pitchFamily="1" charset="0"/>
              </a:rPr>
              <a:t> </a:t>
            </a:r>
            <a:r>
              <a:rPr lang="en-US" sz="2200" b="1">
                <a:solidFill>
                  <a:schemeClr val="bg1"/>
                </a:solidFill>
                <a:latin typeface="Courier New" pitchFamily="1" charset="0"/>
              </a:rPr>
              <a:t>{</a:t>
            </a:r>
            <a:r>
              <a:rPr lang="en-US" sz="2200">
                <a:solidFill>
                  <a:schemeClr val="bg1"/>
                </a:solidFill>
                <a:latin typeface="Courier New" pitchFamily="1" charset="0"/>
              </a:rPr>
              <a:t>average </a:t>
            </a:r>
            <a:r>
              <a:rPr lang="en-US" sz="2200" b="1">
                <a:solidFill>
                  <a:schemeClr val="bg1"/>
                </a:solidFill>
                <a:latin typeface="Courier New" pitchFamily="1" charset="0"/>
              </a:rPr>
              <a:t>|</a:t>
            </a:r>
            <a:r>
              <a:rPr lang="en-US" sz="2200">
                <a:solidFill>
                  <a:schemeClr val="bg1"/>
                </a:solidFill>
                <a:latin typeface="Courier New" pitchFamily="1" charset="0"/>
              </a:rPr>
              <a:t> peak</a:t>
            </a:r>
            <a:r>
              <a:rPr lang="en-US" sz="2200" b="1">
                <a:solidFill>
                  <a:schemeClr val="bg1"/>
                </a:solidFill>
                <a:latin typeface="Courier New" pitchFamily="1" charset="0"/>
              </a:rPr>
              <a:t>}</a:t>
            </a:r>
            <a:r>
              <a:rPr lang="en-US" sz="2200">
                <a:solidFill>
                  <a:schemeClr val="bg1"/>
                </a:solidFill>
                <a:latin typeface="Courier New" pitchFamily="1" charset="0"/>
              </a:rPr>
              <a:t> {percent </a:t>
            </a:r>
            <a:r>
              <a:rPr lang="en-US" sz="2200" b="1">
                <a:solidFill>
                  <a:schemeClr val="bg1"/>
                </a:solidFill>
                <a:latin typeface="Courier New" pitchFamily="1" charset="0"/>
              </a:rPr>
              <a:t>percent | cir}</a:t>
            </a:r>
            <a:r>
              <a:rPr lang="en-US" sz="2200">
                <a:solidFill>
                  <a:schemeClr val="bg1"/>
                </a:solidFill>
                <a:latin typeface="Courier New" pitchFamily="1" charset="0"/>
              </a:rPr>
              <a:t> </a:t>
            </a:r>
          </a:p>
          <a:p>
            <a:pPr>
              <a:buFont typeface="Wingdings" pitchFamily="1" charset="2"/>
              <a:buNone/>
            </a:pPr>
            <a:r>
              <a:rPr lang="en-US" sz="2200">
                <a:solidFill>
                  <a:schemeClr val="bg1"/>
                </a:solidFill>
                <a:latin typeface="Courier New" pitchFamily="1" charset="0"/>
              </a:rPr>
              <a:t>						</a:t>
            </a:r>
            <a:r>
              <a:rPr lang="en-US" sz="2200" b="1">
                <a:solidFill>
                  <a:schemeClr val="bg1"/>
                </a:solidFill>
                <a:latin typeface="Courier New" pitchFamily="1" charset="0"/>
              </a:rPr>
              <a:t>[bc] [be]</a:t>
            </a:r>
            <a:r>
              <a:rPr lang="en-US" sz="2200">
                <a:latin typeface="Courier New" pitchFamily="1" charset="0"/>
              </a:rPr>
              <a:t> </a:t>
            </a:r>
            <a:endParaRPr lang="en-GB" sz="2600"/>
          </a:p>
          <a:p>
            <a:endParaRPr lang="en-US"/>
          </a:p>
          <a:p>
            <a:pPr lvl="1" indent="0"/>
            <a:endParaRPr lang="en-US"/>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t>Class-Based Shaper: CLI</a:t>
            </a:r>
          </a:p>
        </p:txBody>
      </p:sp>
      <p:sp>
        <p:nvSpPr>
          <p:cNvPr id="55299" name="Rectangle 3"/>
          <p:cNvSpPr>
            <a:spLocks noGrp="1" noChangeArrowheads="1"/>
          </p:cNvSpPr>
          <p:nvPr>
            <p:ph idx="1"/>
          </p:nvPr>
        </p:nvSpPr>
        <p:spPr>
          <a:xfrm>
            <a:off x="2179639" y="1781176"/>
            <a:ext cx="7940675" cy="4384675"/>
          </a:xfrm>
        </p:spPr>
        <p:txBody>
          <a:bodyPr/>
          <a:lstStyle/>
          <a:p>
            <a:endParaRPr lang="en-US"/>
          </a:p>
          <a:p>
            <a:endParaRPr lang="en-US"/>
          </a:p>
          <a:p>
            <a:endParaRPr lang="en-US"/>
          </a:p>
          <a:p>
            <a:endParaRPr lang="en-US"/>
          </a:p>
          <a:p>
            <a:endParaRPr lang="en-US"/>
          </a:p>
          <a:p>
            <a:r>
              <a:rPr lang="en-US"/>
              <a:t>To specify the maximum number of buffers allowed on shaping queues, use the </a:t>
            </a:r>
            <a:r>
              <a:rPr lang="en-US">
                <a:solidFill>
                  <a:schemeClr val="tx2"/>
                </a:solidFill>
              </a:rPr>
              <a:t>shape max-buffers</a:t>
            </a:r>
            <a:r>
              <a:rPr lang="en-US"/>
              <a:t> command in class-map configuration mode.</a:t>
            </a:r>
          </a:p>
          <a:p>
            <a:endParaRPr lang="en-US"/>
          </a:p>
        </p:txBody>
      </p:sp>
      <p:sp>
        <p:nvSpPr>
          <p:cNvPr id="226308" name="Text Box 4"/>
          <p:cNvSpPr txBox="1">
            <a:spLocks noChangeArrowheads="1"/>
          </p:cNvSpPr>
          <p:nvPr/>
        </p:nvSpPr>
        <p:spPr bwMode="auto">
          <a:xfrm>
            <a:off x="1981200" y="1484314"/>
            <a:ext cx="8153400" cy="2206625"/>
          </a:xfrm>
          <a:prstGeom prst="rect">
            <a:avLst/>
          </a:prstGeom>
          <a:solidFill>
            <a:schemeClr val="tx2"/>
          </a:solidFill>
          <a:ln w="9525">
            <a:noFill/>
            <a:miter lim="800000"/>
            <a:headEnd/>
            <a:tailEnd/>
          </a:ln>
          <a:effectLst>
            <a:outerShdw dist="107763" dir="2700000" algn="ctr" rotWithShape="0">
              <a:schemeClr val="bg2">
                <a:alpha val="50000"/>
              </a:schemeClr>
            </a:outerShdw>
          </a:effectLst>
        </p:spPr>
        <p:txBody>
          <a:bodyPr lIns="73025" tIns="36512" rIns="73025" bIns="36512">
            <a:spAutoFit/>
          </a:bodyPr>
          <a:lstStyle/>
          <a:p>
            <a:pPr algn="l">
              <a:lnSpc>
                <a:spcPct val="100000"/>
              </a:lnSpc>
              <a:defRPr/>
            </a:pPr>
            <a:r>
              <a:rPr lang="en-US" sz="2000">
                <a:solidFill>
                  <a:schemeClr val="bg1"/>
                </a:solidFill>
                <a:latin typeface="Courier New" pitchFamily="49" charset="0"/>
              </a:rPr>
              <a:t>(config)#</a:t>
            </a:r>
            <a:r>
              <a:rPr lang="en-US" sz="2000" b="1">
                <a:solidFill>
                  <a:schemeClr val="bg1"/>
                </a:solidFill>
                <a:latin typeface="Courier New" pitchFamily="49" charset="0"/>
              </a:rPr>
              <a:t> policy-map SHAPING</a:t>
            </a:r>
          </a:p>
          <a:p>
            <a:pPr algn="l">
              <a:lnSpc>
                <a:spcPct val="100000"/>
              </a:lnSpc>
              <a:defRPr/>
            </a:pPr>
            <a:r>
              <a:rPr lang="en-US" sz="2000">
                <a:solidFill>
                  <a:schemeClr val="bg1"/>
                </a:solidFill>
                <a:latin typeface="Courier New" pitchFamily="49" charset="0"/>
              </a:rPr>
              <a:t>(config-pmap)#</a:t>
            </a:r>
            <a:r>
              <a:rPr lang="en-US" sz="2000" b="1">
                <a:solidFill>
                  <a:schemeClr val="bg1"/>
                </a:solidFill>
                <a:latin typeface="Courier New" pitchFamily="49" charset="0"/>
              </a:rPr>
              <a:t> class AF</a:t>
            </a:r>
          </a:p>
          <a:p>
            <a:pPr algn="l">
              <a:lnSpc>
                <a:spcPct val="100000"/>
              </a:lnSpc>
              <a:defRPr/>
            </a:pPr>
            <a:r>
              <a:rPr lang="en-US" sz="2000">
                <a:solidFill>
                  <a:schemeClr val="bg1"/>
                </a:solidFill>
                <a:latin typeface="Courier New" pitchFamily="49" charset="0"/>
              </a:rPr>
              <a:t>(config-pmap-c)#</a:t>
            </a:r>
            <a:r>
              <a:rPr lang="en-US" sz="2000" b="1">
                <a:solidFill>
                  <a:schemeClr val="bg1"/>
                </a:solidFill>
                <a:latin typeface="Courier New" pitchFamily="49" charset="0"/>
              </a:rPr>
              <a:t> shape average 1000000 </a:t>
            </a:r>
          </a:p>
          <a:p>
            <a:pPr algn="l">
              <a:lnSpc>
                <a:spcPct val="100000"/>
              </a:lnSpc>
              <a:defRPr/>
            </a:pPr>
            <a:r>
              <a:rPr lang="en-US" sz="2000">
                <a:solidFill>
                  <a:schemeClr val="bg1"/>
                </a:solidFill>
                <a:latin typeface="Courier New" pitchFamily="49" charset="0"/>
              </a:rPr>
              <a:t>(config-pmap-c)#</a:t>
            </a:r>
            <a:r>
              <a:rPr lang="en-US" sz="2000" b="1">
                <a:solidFill>
                  <a:schemeClr val="bg1"/>
                </a:solidFill>
                <a:latin typeface="Courier New" pitchFamily="49" charset="0"/>
              </a:rPr>
              <a:t> exit </a:t>
            </a:r>
          </a:p>
          <a:p>
            <a:pPr algn="l">
              <a:lnSpc>
                <a:spcPct val="100000"/>
              </a:lnSpc>
              <a:defRPr/>
            </a:pPr>
            <a:endParaRPr lang="en-US" sz="2000" b="1">
              <a:solidFill>
                <a:schemeClr val="bg1"/>
              </a:solidFill>
              <a:latin typeface="Courier New" pitchFamily="49" charset="0"/>
            </a:endParaRPr>
          </a:p>
          <a:p>
            <a:pPr algn="l">
              <a:lnSpc>
                <a:spcPct val="100000"/>
              </a:lnSpc>
              <a:defRPr/>
            </a:pPr>
            <a:r>
              <a:rPr lang="en-US" sz="2000">
                <a:solidFill>
                  <a:schemeClr val="bg1"/>
                </a:solidFill>
                <a:latin typeface="Courier New" pitchFamily="49" charset="0"/>
              </a:rPr>
              <a:t>(config)#</a:t>
            </a:r>
            <a:r>
              <a:rPr lang="en-US" sz="2000" b="1">
                <a:solidFill>
                  <a:schemeClr val="bg1"/>
                </a:solidFill>
                <a:latin typeface="Courier New" pitchFamily="49" charset="0"/>
              </a:rPr>
              <a:t> interface pos1/0/0 </a:t>
            </a:r>
          </a:p>
          <a:p>
            <a:pPr algn="l">
              <a:lnSpc>
                <a:spcPct val="100000"/>
              </a:lnSpc>
              <a:defRPr/>
            </a:pPr>
            <a:r>
              <a:rPr lang="en-US" sz="2000">
                <a:solidFill>
                  <a:schemeClr val="bg1"/>
                </a:solidFill>
                <a:latin typeface="Courier New" pitchFamily="49" charset="0"/>
              </a:rPr>
              <a:t>(config-if)#</a:t>
            </a:r>
            <a:r>
              <a:rPr lang="en-US" sz="2000" b="1">
                <a:solidFill>
                  <a:schemeClr val="bg1"/>
                </a:solidFill>
                <a:latin typeface="Courier New" pitchFamily="49" charset="0"/>
              </a:rPr>
              <a:t> service-policy output SHAPING</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ChangeArrowheads="1"/>
          </p:cNvSpPr>
          <p:nvPr/>
        </p:nvSpPr>
        <p:spPr bwMode="auto">
          <a:xfrm>
            <a:off x="1774825" y="1557338"/>
            <a:ext cx="8534400" cy="4572000"/>
          </a:xfrm>
          <a:prstGeom prst="rect">
            <a:avLst/>
          </a:prstGeom>
          <a:solidFill>
            <a:schemeClr val="tx2"/>
          </a:solidFill>
          <a:ln w="9525">
            <a:noFill/>
            <a:miter lim="800000"/>
            <a:headEnd/>
            <a:tailEnd/>
          </a:ln>
          <a:effectLst>
            <a:outerShdw dist="107763" dir="2700000" algn="ctr" rotWithShape="0">
              <a:schemeClr val="bg2">
                <a:alpha val="50000"/>
              </a:schemeClr>
            </a:outerShdw>
          </a:effectLst>
        </p:spPr>
        <p:txBody>
          <a:bodyPr wrap="none" lIns="73025" tIns="36512" rIns="73025" bIns="36512" anchor="ctr"/>
          <a:lstStyle/>
          <a:p>
            <a:pPr>
              <a:defRPr/>
            </a:pPr>
            <a:endParaRPr lang="en-US">
              <a:latin typeface="Arial" charset="0"/>
            </a:endParaRPr>
          </a:p>
        </p:txBody>
      </p:sp>
      <p:sp>
        <p:nvSpPr>
          <p:cNvPr id="56324" name="Rectangle 5"/>
          <p:cNvSpPr>
            <a:spLocks noGrp="1" noChangeArrowheads="1"/>
          </p:cNvSpPr>
          <p:nvPr>
            <p:ph type="title"/>
          </p:nvPr>
        </p:nvSpPr>
        <p:spPr>
          <a:noFill/>
        </p:spPr>
        <p:txBody>
          <a:bodyPr/>
          <a:lstStyle/>
          <a:p>
            <a:pPr eaLnBrk="1" hangingPunct="1"/>
            <a:r>
              <a:rPr lang="en-US"/>
              <a:t>Class-Based Shaper: CLI</a:t>
            </a:r>
          </a:p>
        </p:txBody>
      </p:sp>
      <p:sp>
        <p:nvSpPr>
          <p:cNvPr id="56323" name="Rectangle 4"/>
          <p:cNvSpPr>
            <a:spLocks noGrp="1" noChangeArrowheads="1"/>
          </p:cNvSpPr>
          <p:nvPr>
            <p:ph idx="1"/>
          </p:nvPr>
        </p:nvSpPr>
        <p:spPr>
          <a:xfrm>
            <a:off x="1946275" y="1773239"/>
            <a:ext cx="8686800" cy="3571875"/>
          </a:xfrm>
        </p:spPr>
        <p:txBody>
          <a:bodyPr>
            <a:normAutofit fontScale="92500" lnSpcReduction="20000"/>
          </a:bodyPr>
          <a:lstStyle/>
          <a:p>
            <a:pPr>
              <a:lnSpc>
                <a:spcPct val="85000"/>
              </a:lnSpc>
              <a:buFont typeface="Wingdings" pitchFamily="1" charset="2"/>
              <a:buNone/>
            </a:pPr>
            <a:r>
              <a:rPr lang="en-US" sz="1800" b="1">
                <a:solidFill>
                  <a:schemeClr val="bg1"/>
                </a:solidFill>
                <a:latin typeface="Courier New" pitchFamily="1" charset="0"/>
              </a:rPr>
              <a:t>Router# show policy interface Serial 3/0</a:t>
            </a:r>
          </a:p>
          <a:p>
            <a:pPr>
              <a:lnSpc>
                <a:spcPct val="70000"/>
              </a:lnSpc>
              <a:spcBef>
                <a:spcPct val="20000"/>
              </a:spcBef>
              <a:buFont typeface="Wingdings" pitchFamily="1" charset="2"/>
              <a:buNone/>
            </a:pPr>
            <a:r>
              <a:rPr lang="en-US" sz="1800" b="1">
                <a:solidFill>
                  <a:schemeClr val="bg1"/>
                </a:solidFill>
                <a:latin typeface="Courier New" pitchFamily="1" charset="0"/>
              </a:rPr>
              <a:t> Serial3/0 </a:t>
            </a:r>
          </a:p>
          <a:p>
            <a:pPr>
              <a:lnSpc>
                <a:spcPct val="70000"/>
              </a:lnSpc>
              <a:spcBef>
                <a:spcPct val="20000"/>
              </a:spcBef>
              <a:buFont typeface="Wingdings" pitchFamily="1" charset="2"/>
              <a:buNone/>
            </a:pPr>
            <a:r>
              <a:rPr lang="en-US" sz="1800" b="1">
                <a:solidFill>
                  <a:schemeClr val="bg1"/>
                </a:solidFill>
                <a:latin typeface="Courier New" pitchFamily="1" charset="0"/>
              </a:rPr>
              <a:t> output : parent</a:t>
            </a:r>
          </a:p>
          <a:p>
            <a:pPr>
              <a:lnSpc>
                <a:spcPct val="70000"/>
              </a:lnSpc>
              <a:spcBef>
                <a:spcPct val="20000"/>
              </a:spcBef>
              <a:buFont typeface="Wingdings" pitchFamily="1" charset="2"/>
              <a:buNone/>
            </a:pPr>
            <a:r>
              <a:rPr lang="en-US" sz="1800" b="1">
                <a:solidFill>
                  <a:schemeClr val="bg1"/>
                </a:solidFill>
                <a:latin typeface="Courier New" pitchFamily="1" charset="0"/>
              </a:rPr>
              <a:t>  Class shaped</a:t>
            </a:r>
          </a:p>
          <a:p>
            <a:pPr>
              <a:lnSpc>
                <a:spcPct val="70000"/>
              </a:lnSpc>
              <a:spcBef>
                <a:spcPct val="20000"/>
              </a:spcBef>
              <a:buFont typeface="Wingdings" pitchFamily="1" charset="2"/>
              <a:buNone/>
            </a:pPr>
            <a:r>
              <a:rPr lang="en-US" sz="1800" b="1">
                <a:solidFill>
                  <a:schemeClr val="bg1"/>
                </a:solidFill>
                <a:latin typeface="Courier New" pitchFamily="1" charset="0"/>
              </a:rPr>
              <a:t>   Weighted Fair Queueing</a:t>
            </a:r>
          </a:p>
          <a:p>
            <a:pPr>
              <a:lnSpc>
                <a:spcPct val="70000"/>
              </a:lnSpc>
              <a:spcBef>
                <a:spcPct val="20000"/>
              </a:spcBef>
              <a:buFont typeface="Wingdings" pitchFamily="1" charset="2"/>
              <a:buNone/>
            </a:pPr>
            <a:r>
              <a:rPr lang="en-US" sz="1800" b="1">
                <a:solidFill>
                  <a:schemeClr val="bg1"/>
                </a:solidFill>
                <a:latin typeface="Courier New" pitchFamily="1" charset="0"/>
              </a:rPr>
              <a:t>     Output Queue: Conversation 267 </a:t>
            </a:r>
          </a:p>
          <a:p>
            <a:pPr>
              <a:lnSpc>
                <a:spcPct val="70000"/>
              </a:lnSpc>
              <a:spcBef>
                <a:spcPct val="20000"/>
              </a:spcBef>
              <a:buFont typeface="Wingdings" pitchFamily="1" charset="2"/>
              <a:buNone/>
            </a:pPr>
            <a:r>
              <a:rPr lang="en-US" sz="1800" b="1">
                <a:solidFill>
                  <a:schemeClr val="bg1"/>
                </a:solidFill>
                <a:latin typeface="Courier New" pitchFamily="1" charset="0"/>
              </a:rPr>
              <a:t>     Bandwidth 241 (kbps) Max Threshold 64 (packets)</a:t>
            </a:r>
          </a:p>
          <a:p>
            <a:pPr>
              <a:lnSpc>
                <a:spcPct val="70000"/>
              </a:lnSpc>
              <a:spcBef>
                <a:spcPct val="20000"/>
              </a:spcBef>
              <a:buFont typeface="Wingdings" pitchFamily="1" charset="2"/>
              <a:buNone/>
            </a:pPr>
            <a:r>
              <a:rPr lang="en-US" sz="1800" b="1">
                <a:solidFill>
                  <a:schemeClr val="bg1"/>
                </a:solidFill>
                <a:latin typeface="Courier New" pitchFamily="1" charset="0"/>
              </a:rPr>
              <a:t>     (pkts matched/bytes matched) 3852/947384</a:t>
            </a:r>
          </a:p>
          <a:p>
            <a:pPr>
              <a:lnSpc>
                <a:spcPct val="70000"/>
              </a:lnSpc>
              <a:spcBef>
                <a:spcPct val="20000"/>
              </a:spcBef>
              <a:buFont typeface="Wingdings" pitchFamily="1" charset="2"/>
              <a:buNone/>
            </a:pPr>
            <a:r>
              <a:rPr lang="en-US" sz="1800" b="1">
                <a:solidFill>
                  <a:schemeClr val="bg1"/>
                </a:solidFill>
                <a:latin typeface="Courier New" pitchFamily="1" charset="0"/>
              </a:rPr>
              <a:t>     (pkts discards/bytes discards/tail drops) 0/0/0</a:t>
            </a:r>
          </a:p>
          <a:p>
            <a:pPr>
              <a:lnSpc>
                <a:spcPct val="70000"/>
              </a:lnSpc>
              <a:spcBef>
                <a:spcPct val="20000"/>
              </a:spcBef>
              <a:buFont typeface="Wingdings" pitchFamily="1" charset="2"/>
              <a:buNone/>
            </a:pPr>
            <a:r>
              <a:rPr lang="en-US" sz="1800" b="1">
                <a:solidFill>
                  <a:schemeClr val="bg1"/>
                </a:solidFill>
                <a:latin typeface="Courier New" pitchFamily="1" charset="0"/>
              </a:rPr>
              <a:t>  Traffic Shaping</a:t>
            </a:r>
          </a:p>
          <a:p>
            <a:pPr>
              <a:lnSpc>
                <a:spcPct val="70000"/>
              </a:lnSpc>
              <a:spcBef>
                <a:spcPct val="20000"/>
              </a:spcBef>
              <a:buFont typeface="Wingdings" pitchFamily="1" charset="2"/>
              <a:buNone/>
            </a:pPr>
            <a:r>
              <a:rPr lang="en-US" sz="1800" b="1">
                <a:solidFill>
                  <a:schemeClr val="bg1"/>
                </a:solidFill>
                <a:latin typeface="Courier New" pitchFamily="1" charset="0"/>
              </a:rPr>
              <a:t>  Target  Byte Sustain  Excess  Interval Increment Adap</a:t>
            </a:r>
          </a:p>
          <a:p>
            <a:pPr>
              <a:lnSpc>
                <a:spcPct val="70000"/>
              </a:lnSpc>
              <a:spcBef>
                <a:spcPct val="20000"/>
              </a:spcBef>
              <a:buFont typeface="Wingdings" pitchFamily="1" charset="2"/>
              <a:buNone/>
            </a:pPr>
            <a:r>
              <a:rPr lang="en-US" sz="1800" b="1">
                <a:solidFill>
                  <a:schemeClr val="bg1"/>
                </a:solidFill>
                <a:latin typeface="Courier New" pitchFamily="1" charset="0"/>
              </a:rPr>
              <a:t>   Rate  Limit bits/int bits/int  (ms)   (bytes) Active</a:t>
            </a:r>
          </a:p>
          <a:p>
            <a:pPr>
              <a:lnSpc>
                <a:spcPct val="70000"/>
              </a:lnSpc>
              <a:spcBef>
                <a:spcPct val="20000"/>
              </a:spcBef>
              <a:buFont typeface="Wingdings" pitchFamily="1" charset="2"/>
              <a:buNone/>
            </a:pPr>
            <a:r>
              <a:rPr lang="en-US" sz="1800" b="1">
                <a:solidFill>
                  <a:schemeClr val="bg1"/>
                </a:solidFill>
                <a:latin typeface="Courier New" pitchFamily="1" charset="0"/>
              </a:rPr>
              <a:t>  </a:t>
            </a:r>
            <a:r>
              <a:rPr lang="en-US" sz="1800" b="1">
                <a:latin typeface="Courier New" pitchFamily="1" charset="0"/>
              </a:rPr>
              <a:t>241000</a:t>
            </a:r>
            <a:r>
              <a:rPr lang="en-US" sz="1800" b="1">
                <a:solidFill>
                  <a:schemeClr val="bg1"/>
                </a:solidFill>
                <a:latin typeface="Courier New" pitchFamily="1" charset="0"/>
              </a:rPr>
              <a:t>  1928   </a:t>
            </a:r>
            <a:r>
              <a:rPr lang="en-US" sz="1800" b="1">
                <a:latin typeface="Courier New" pitchFamily="1" charset="0"/>
              </a:rPr>
              <a:t>7712</a:t>
            </a:r>
            <a:r>
              <a:rPr lang="en-US" sz="1800" b="1">
                <a:solidFill>
                  <a:schemeClr val="bg1"/>
                </a:solidFill>
                <a:latin typeface="Courier New" pitchFamily="1" charset="0"/>
              </a:rPr>
              <a:t>    </a:t>
            </a:r>
            <a:r>
              <a:rPr lang="en-US" sz="1800" b="1">
                <a:latin typeface="Courier New" pitchFamily="1" charset="0"/>
              </a:rPr>
              <a:t>7712</a:t>
            </a:r>
            <a:r>
              <a:rPr lang="en-US" sz="1800" b="1">
                <a:solidFill>
                  <a:schemeClr val="bg1"/>
                </a:solidFill>
                <a:latin typeface="Courier New" pitchFamily="1" charset="0"/>
              </a:rPr>
              <a:t>      </a:t>
            </a:r>
            <a:r>
              <a:rPr lang="en-US" sz="1800" b="1">
                <a:latin typeface="Courier New" pitchFamily="1" charset="0"/>
              </a:rPr>
              <a:t>32</a:t>
            </a:r>
            <a:r>
              <a:rPr lang="en-US" sz="1800" b="1">
                <a:solidFill>
                  <a:schemeClr val="bg1"/>
                </a:solidFill>
                <a:latin typeface="Courier New" pitchFamily="1" charset="0"/>
              </a:rPr>
              <a:t>      964       -</a:t>
            </a:r>
          </a:p>
          <a:p>
            <a:pPr>
              <a:lnSpc>
                <a:spcPct val="70000"/>
              </a:lnSpc>
              <a:spcBef>
                <a:spcPct val="20000"/>
              </a:spcBef>
              <a:buFont typeface="Wingdings" pitchFamily="1" charset="2"/>
              <a:buNone/>
            </a:pPr>
            <a:r>
              <a:rPr lang="en-US" sz="1800" b="1">
                <a:solidFill>
                  <a:schemeClr val="bg1"/>
                </a:solidFill>
                <a:latin typeface="Courier New" pitchFamily="1" charset="0"/>
              </a:rPr>
              <a:t> </a:t>
            </a:r>
          </a:p>
          <a:p>
            <a:pPr>
              <a:lnSpc>
                <a:spcPct val="70000"/>
              </a:lnSpc>
              <a:spcBef>
                <a:spcPct val="20000"/>
              </a:spcBef>
              <a:buFont typeface="Wingdings" pitchFamily="1" charset="2"/>
              <a:buNone/>
            </a:pPr>
            <a:r>
              <a:rPr lang="en-US" sz="1800" b="1">
                <a:solidFill>
                  <a:schemeClr val="bg1"/>
                </a:solidFill>
                <a:latin typeface="Courier New" pitchFamily="1" charset="0"/>
              </a:rPr>
              <a:t>  Queue     Packets   Bytes    Packets   Bytes</a:t>
            </a:r>
          </a:p>
          <a:p>
            <a:pPr>
              <a:lnSpc>
                <a:spcPct val="70000"/>
              </a:lnSpc>
              <a:spcBef>
                <a:spcPct val="20000"/>
              </a:spcBef>
              <a:buFont typeface="Wingdings" pitchFamily="1" charset="2"/>
              <a:buNone/>
            </a:pPr>
            <a:r>
              <a:rPr lang="en-US" sz="1800" b="1">
                <a:solidFill>
                  <a:schemeClr val="bg1"/>
                </a:solidFill>
                <a:latin typeface="Courier New" pitchFamily="1" charset="0"/>
              </a:rPr>
              <a:t>  Depth                        Delayed   Delayed Active</a:t>
            </a:r>
          </a:p>
          <a:p>
            <a:pPr>
              <a:lnSpc>
                <a:spcPct val="70000"/>
              </a:lnSpc>
              <a:spcBef>
                <a:spcPct val="20000"/>
              </a:spcBef>
              <a:buFont typeface="Wingdings" pitchFamily="1" charset="2"/>
              <a:buNone/>
            </a:pPr>
            <a:r>
              <a:rPr lang="en-US" sz="1800" b="1">
                <a:solidFill>
                  <a:schemeClr val="bg1"/>
                </a:solidFill>
                <a:latin typeface="Courier New" pitchFamily="1" charset="0"/>
              </a:rPr>
              <a:t>   41        3980     978872    3967      975686   yes</a:t>
            </a:r>
          </a:p>
        </p:txBody>
      </p:sp>
      <p:sp>
        <p:nvSpPr>
          <p:cNvPr id="227335" name="Text Box 7"/>
          <p:cNvSpPr txBox="1">
            <a:spLocks noChangeArrowheads="1"/>
          </p:cNvSpPr>
          <p:nvPr/>
        </p:nvSpPr>
        <p:spPr bwMode="auto">
          <a:xfrm>
            <a:off x="2424114" y="5300664"/>
            <a:ext cx="1081087" cy="415323"/>
          </a:xfrm>
          <a:prstGeom prst="rect">
            <a:avLst/>
          </a:prstGeom>
          <a:solidFill>
            <a:schemeClr val="bg1"/>
          </a:solidFill>
          <a:ln w="28575">
            <a:solidFill>
              <a:schemeClr val="tx1"/>
            </a:solidFill>
            <a:miter lim="800000"/>
            <a:headEnd/>
            <a:tailEnd/>
          </a:ln>
        </p:spPr>
        <p:txBody>
          <a:bodyPr lIns="82124" tIns="41061" rIns="82124" bIns="41061">
            <a:prstTxWarp prst="textNoShape">
              <a:avLst/>
            </a:prstTxWarp>
            <a:spAutoFit/>
          </a:bodyPr>
          <a:lstStyle/>
          <a:p>
            <a:pPr defTabSz="814388">
              <a:spcBef>
                <a:spcPct val="50000"/>
              </a:spcBef>
            </a:pPr>
            <a:r>
              <a:rPr lang="en-US"/>
              <a:t>CIR</a:t>
            </a:r>
          </a:p>
        </p:txBody>
      </p:sp>
      <p:sp>
        <p:nvSpPr>
          <p:cNvPr id="227336" name="Line 8"/>
          <p:cNvSpPr>
            <a:spLocks noChangeShapeType="1"/>
          </p:cNvSpPr>
          <p:nvPr/>
        </p:nvSpPr>
        <p:spPr bwMode="auto">
          <a:xfrm flipH="1" flipV="1">
            <a:off x="2640013" y="5013325"/>
            <a:ext cx="215900" cy="287338"/>
          </a:xfrm>
          <a:prstGeom prst="line">
            <a:avLst/>
          </a:prstGeom>
          <a:noFill/>
          <a:ln w="28575">
            <a:solidFill>
              <a:schemeClr val="tx1"/>
            </a:solidFill>
            <a:round/>
            <a:headEnd/>
            <a:tailEnd type="triangle" w="med" len="med"/>
          </a:ln>
        </p:spPr>
        <p:txBody>
          <a:bodyPr lIns="82124" tIns="41061" rIns="82124" bIns="41061" anchor="ctr">
            <a:prstTxWarp prst="textNoShape">
              <a:avLst/>
            </a:prstTxWarp>
            <a:spAutoFit/>
          </a:bodyPr>
          <a:lstStyle/>
          <a:p>
            <a:endParaRPr lang="en-US"/>
          </a:p>
        </p:txBody>
      </p:sp>
      <p:sp>
        <p:nvSpPr>
          <p:cNvPr id="227337" name="Text Box 9"/>
          <p:cNvSpPr txBox="1">
            <a:spLocks noChangeArrowheads="1"/>
          </p:cNvSpPr>
          <p:nvPr/>
        </p:nvSpPr>
        <p:spPr bwMode="auto">
          <a:xfrm>
            <a:off x="4224339" y="5300664"/>
            <a:ext cx="1081087" cy="415323"/>
          </a:xfrm>
          <a:prstGeom prst="rect">
            <a:avLst/>
          </a:prstGeom>
          <a:solidFill>
            <a:schemeClr val="bg1"/>
          </a:solidFill>
          <a:ln w="28575">
            <a:solidFill>
              <a:schemeClr val="tx1"/>
            </a:solidFill>
            <a:miter lim="800000"/>
            <a:headEnd/>
            <a:tailEnd/>
          </a:ln>
        </p:spPr>
        <p:txBody>
          <a:bodyPr lIns="82124" tIns="41061" rIns="82124" bIns="41061">
            <a:prstTxWarp prst="textNoShape">
              <a:avLst/>
            </a:prstTxWarp>
            <a:spAutoFit/>
          </a:bodyPr>
          <a:lstStyle/>
          <a:p>
            <a:pPr defTabSz="814388">
              <a:spcBef>
                <a:spcPct val="50000"/>
              </a:spcBef>
            </a:pPr>
            <a:r>
              <a:rPr lang="en-US"/>
              <a:t>Bc</a:t>
            </a:r>
          </a:p>
        </p:txBody>
      </p:sp>
      <p:sp>
        <p:nvSpPr>
          <p:cNvPr id="227338" name="Line 10"/>
          <p:cNvSpPr>
            <a:spLocks noChangeShapeType="1"/>
          </p:cNvSpPr>
          <p:nvPr/>
        </p:nvSpPr>
        <p:spPr bwMode="auto">
          <a:xfrm flipH="1" flipV="1">
            <a:off x="4440238" y="5013325"/>
            <a:ext cx="215900" cy="287338"/>
          </a:xfrm>
          <a:prstGeom prst="line">
            <a:avLst/>
          </a:prstGeom>
          <a:noFill/>
          <a:ln w="28575">
            <a:solidFill>
              <a:schemeClr val="tx1"/>
            </a:solidFill>
            <a:round/>
            <a:headEnd/>
            <a:tailEnd type="triangle" w="med" len="med"/>
          </a:ln>
        </p:spPr>
        <p:txBody>
          <a:bodyPr lIns="82124" tIns="41061" rIns="82124" bIns="41061" anchor="ctr">
            <a:prstTxWarp prst="textNoShape">
              <a:avLst/>
            </a:prstTxWarp>
            <a:spAutoFit/>
          </a:bodyPr>
          <a:lstStyle/>
          <a:p>
            <a:endParaRPr lang="en-US"/>
          </a:p>
        </p:txBody>
      </p:sp>
      <p:sp>
        <p:nvSpPr>
          <p:cNvPr id="227339" name="Text Box 11"/>
          <p:cNvSpPr txBox="1">
            <a:spLocks noChangeArrowheads="1"/>
          </p:cNvSpPr>
          <p:nvPr/>
        </p:nvSpPr>
        <p:spPr bwMode="auto">
          <a:xfrm>
            <a:off x="5519739" y="5300664"/>
            <a:ext cx="1081087" cy="415323"/>
          </a:xfrm>
          <a:prstGeom prst="rect">
            <a:avLst/>
          </a:prstGeom>
          <a:solidFill>
            <a:schemeClr val="bg1"/>
          </a:solidFill>
          <a:ln w="28575">
            <a:solidFill>
              <a:schemeClr val="tx1"/>
            </a:solidFill>
            <a:miter lim="800000"/>
            <a:headEnd/>
            <a:tailEnd/>
          </a:ln>
        </p:spPr>
        <p:txBody>
          <a:bodyPr lIns="82124" tIns="41061" rIns="82124" bIns="41061">
            <a:prstTxWarp prst="textNoShape">
              <a:avLst/>
            </a:prstTxWarp>
            <a:spAutoFit/>
          </a:bodyPr>
          <a:lstStyle/>
          <a:p>
            <a:pPr defTabSz="814388">
              <a:spcBef>
                <a:spcPct val="50000"/>
              </a:spcBef>
            </a:pPr>
            <a:r>
              <a:rPr lang="en-US"/>
              <a:t>Be</a:t>
            </a:r>
          </a:p>
        </p:txBody>
      </p:sp>
      <p:sp>
        <p:nvSpPr>
          <p:cNvPr id="227340" name="Line 12"/>
          <p:cNvSpPr>
            <a:spLocks noChangeShapeType="1"/>
          </p:cNvSpPr>
          <p:nvPr/>
        </p:nvSpPr>
        <p:spPr bwMode="auto">
          <a:xfrm flipH="1" flipV="1">
            <a:off x="5735638" y="5013325"/>
            <a:ext cx="215900" cy="287338"/>
          </a:xfrm>
          <a:prstGeom prst="line">
            <a:avLst/>
          </a:prstGeom>
          <a:noFill/>
          <a:ln w="28575">
            <a:solidFill>
              <a:schemeClr val="tx1"/>
            </a:solidFill>
            <a:round/>
            <a:headEnd/>
            <a:tailEnd type="triangle" w="med" len="med"/>
          </a:ln>
        </p:spPr>
        <p:txBody>
          <a:bodyPr lIns="82124" tIns="41061" rIns="82124" bIns="41061" anchor="ctr">
            <a:prstTxWarp prst="textNoShape">
              <a:avLst/>
            </a:prstTxWarp>
            <a:spAutoFit/>
          </a:bodyPr>
          <a:lstStyle/>
          <a:p>
            <a:endParaRPr lang="en-US"/>
          </a:p>
        </p:txBody>
      </p:sp>
      <p:sp>
        <p:nvSpPr>
          <p:cNvPr id="227341" name="Text Box 13"/>
          <p:cNvSpPr txBox="1">
            <a:spLocks noChangeArrowheads="1"/>
          </p:cNvSpPr>
          <p:nvPr/>
        </p:nvSpPr>
        <p:spPr bwMode="auto">
          <a:xfrm>
            <a:off x="6815139" y="5300664"/>
            <a:ext cx="1081087" cy="415323"/>
          </a:xfrm>
          <a:prstGeom prst="rect">
            <a:avLst/>
          </a:prstGeom>
          <a:solidFill>
            <a:schemeClr val="bg1"/>
          </a:solidFill>
          <a:ln w="28575">
            <a:solidFill>
              <a:schemeClr val="tx1"/>
            </a:solidFill>
            <a:miter lim="800000"/>
            <a:headEnd/>
            <a:tailEnd/>
          </a:ln>
        </p:spPr>
        <p:txBody>
          <a:bodyPr lIns="82124" tIns="41061" rIns="82124" bIns="41061">
            <a:prstTxWarp prst="textNoShape">
              <a:avLst/>
            </a:prstTxWarp>
            <a:spAutoFit/>
          </a:bodyPr>
          <a:lstStyle/>
          <a:p>
            <a:pPr defTabSz="814388">
              <a:spcBef>
                <a:spcPct val="50000"/>
              </a:spcBef>
            </a:pPr>
            <a:r>
              <a:rPr lang="en-US"/>
              <a:t>Tc</a:t>
            </a:r>
          </a:p>
        </p:txBody>
      </p:sp>
      <p:sp>
        <p:nvSpPr>
          <p:cNvPr id="227342" name="Line 14"/>
          <p:cNvSpPr>
            <a:spLocks noChangeShapeType="1"/>
          </p:cNvSpPr>
          <p:nvPr/>
        </p:nvSpPr>
        <p:spPr bwMode="auto">
          <a:xfrm flipH="1" flipV="1">
            <a:off x="7032626" y="5013325"/>
            <a:ext cx="214313" cy="287338"/>
          </a:xfrm>
          <a:prstGeom prst="line">
            <a:avLst/>
          </a:prstGeom>
          <a:noFill/>
          <a:ln w="28575">
            <a:solidFill>
              <a:schemeClr val="tx1"/>
            </a:solidFill>
            <a:round/>
            <a:headEnd/>
            <a:tailEnd type="triangle" w="med" len="med"/>
          </a:ln>
        </p:spPr>
        <p:txBody>
          <a:bodyPr lIns="82124" tIns="41061" rIns="82124" bIns="41061" anchor="ctr">
            <a:prstTxWarp prst="textNoShape">
              <a:avLst/>
            </a:prstTxWarp>
            <a:spAutoFit/>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7341"/>
                                        </p:tgtEl>
                                        <p:attrNameLst>
                                          <p:attrName>style.visibility</p:attrName>
                                        </p:attrNameLst>
                                      </p:cBhvr>
                                      <p:to>
                                        <p:strVal val="visible"/>
                                      </p:to>
                                    </p:set>
                                    <p:animEffect transition="in" filter="blinds(horizontal)">
                                      <p:cBhvr>
                                        <p:cTn id="7" dur="500"/>
                                        <p:tgtEl>
                                          <p:spTgt spid="22734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7342"/>
                                        </p:tgtEl>
                                        <p:attrNameLst>
                                          <p:attrName>style.visibility</p:attrName>
                                        </p:attrNameLst>
                                      </p:cBhvr>
                                      <p:to>
                                        <p:strVal val="visible"/>
                                      </p:to>
                                    </p:set>
                                    <p:animEffect transition="in" filter="blinds(horizontal)">
                                      <p:cBhvr>
                                        <p:cTn id="10" dur="500"/>
                                        <p:tgtEl>
                                          <p:spTgt spid="22734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7335"/>
                                        </p:tgtEl>
                                        <p:attrNameLst>
                                          <p:attrName>style.visibility</p:attrName>
                                        </p:attrNameLst>
                                      </p:cBhvr>
                                      <p:to>
                                        <p:strVal val="visible"/>
                                      </p:to>
                                    </p:set>
                                    <p:animEffect transition="in" filter="blinds(horizontal)">
                                      <p:cBhvr>
                                        <p:cTn id="13" dur="500"/>
                                        <p:tgtEl>
                                          <p:spTgt spid="22733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27336"/>
                                        </p:tgtEl>
                                        <p:attrNameLst>
                                          <p:attrName>style.visibility</p:attrName>
                                        </p:attrNameLst>
                                      </p:cBhvr>
                                      <p:to>
                                        <p:strVal val="visible"/>
                                      </p:to>
                                    </p:set>
                                    <p:animEffect transition="in" filter="blinds(horizontal)">
                                      <p:cBhvr>
                                        <p:cTn id="16" dur="500"/>
                                        <p:tgtEl>
                                          <p:spTgt spid="22733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27338"/>
                                        </p:tgtEl>
                                        <p:attrNameLst>
                                          <p:attrName>style.visibility</p:attrName>
                                        </p:attrNameLst>
                                      </p:cBhvr>
                                      <p:to>
                                        <p:strVal val="visible"/>
                                      </p:to>
                                    </p:set>
                                    <p:animEffect transition="in" filter="blinds(horizontal)">
                                      <p:cBhvr>
                                        <p:cTn id="19" dur="500"/>
                                        <p:tgtEl>
                                          <p:spTgt spid="22733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27337"/>
                                        </p:tgtEl>
                                        <p:attrNameLst>
                                          <p:attrName>style.visibility</p:attrName>
                                        </p:attrNameLst>
                                      </p:cBhvr>
                                      <p:to>
                                        <p:strVal val="visible"/>
                                      </p:to>
                                    </p:set>
                                    <p:animEffect transition="in" filter="blinds(horizontal)">
                                      <p:cBhvr>
                                        <p:cTn id="22" dur="500"/>
                                        <p:tgtEl>
                                          <p:spTgt spid="227337"/>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27340"/>
                                        </p:tgtEl>
                                        <p:attrNameLst>
                                          <p:attrName>style.visibility</p:attrName>
                                        </p:attrNameLst>
                                      </p:cBhvr>
                                      <p:to>
                                        <p:strVal val="visible"/>
                                      </p:to>
                                    </p:set>
                                    <p:animEffect transition="in" filter="blinds(horizontal)">
                                      <p:cBhvr>
                                        <p:cTn id="25" dur="500"/>
                                        <p:tgtEl>
                                          <p:spTgt spid="227340"/>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27339"/>
                                        </p:tgtEl>
                                        <p:attrNameLst>
                                          <p:attrName>style.visibility</p:attrName>
                                        </p:attrNameLst>
                                      </p:cBhvr>
                                      <p:to>
                                        <p:strVal val="visible"/>
                                      </p:to>
                                    </p:set>
                                    <p:animEffect transition="in" filter="blinds(horizontal)">
                                      <p:cBhvr>
                                        <p:cTn id="28" dur="500"/>
                                        <p:tgtEl>
                                          <p:spTgt spid="227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5" grpId="0" animBg="1"/>
      <p:bldP spid="227336" grpId="0" animBg="1"/>
      <p:bldP spid="227337" grpId="0" animBg="1"/>
      <p:bldP spid="227338" grpId="0" animBg="1"/>
      <p:bldP spid="227339" grpId="0" animBg="1"/>
      <p:bldP spid="227340" grpId="0" animBg="1"/>
      <p:bldP spid="227341" grpId="0" animBg="1"/>
      <p:bldP spid="227342"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t>Class-based Shaper: Interactions</a:t>
            </a:r>
          </a:p>
        </p:txBody>
      </p:sp>
      <p:sp>
        <p:nvSpPr>
          <p:cNvPr id="57347" name="Rectangle 3"/>
          <p:cNvSpPr>
            <a:spLocks noGrp="1" noChangeArrowheads="1"/>
          </p:cNvSpPr>
          <p:nvPr>
            <p:ph idx="1"/>
          </p:nvPr>
        </p:nvSpPr>
        <p:spPr>
          <a:xfrm>
            <a:off x="2179639" y="1781175"/>
            <a:ext cx="7940675" cy="4311650"/>
          </a:xfrm>
        </p:spPr>
        <p:txBody>
          <a:bodyPr>
            <a:normAutofit lnSpcReduction="10000"/>
          </a:bodyPr>
          <a:lstStyle/>
          <a:p>
            <a:pPr>
              <a:lnSpc>
                <a:spcPct val="85000"/>
              </a:lnSpc>
            </a:pPr>
            <a:r>
              <a:rPr lang="en-US"/>
              <a:t>You can use a shaper with other features, like bandwidth (set, priority, bandwidth,…) in the same class.</a:t>
            </a:r>
          </a:p>
          <a:p>
            <a:pPr>
              <a:lnSpc>
                <a:spcPct val="85000"/>
              </a:lnSpc>
            </a:pPr>
            <a:r>
              <a:rPr lang="en-US"/>
              <a:t>Example: </a:t>
            </a:r>
            <a:r>
              <a:rPr lang="en-US">
                <a:solidFill>
                  <a:schemeClr val="tx2"/>
                </a:solidFill>
              </a:rPr>
              <a:t>shape</a:t>
            </a:r>
            <a:r>
              <a:rPr lang="en-US"/>
              <a:t> + </a:t>
            </a:r>
            <a:r>
              <a:rPr lang="en-US">
                <a:solidFill>
                  <a:schemeClr val="tx2"/>
                </a:solidFill>
              </a:rPr>
              <a:t>bandwidth</a:t>
            </a:r>
          </a:p>
          <a:p>
            <a:pPr lvl="1" indent="0">
              <a:lnSpc>
                <a:spcPct val="85000"/>
              </a:lnSpc>
            </a:pPr>
            <a:r>
              <a:rPr lang="en-US"/>
              <a:t>The class will have a minimum reserved bandwidth.</a:t>
            </a:r>
          </a:p>
          <a:p>
            <a:pPr lvl="1" indent="0">
              <a:lnSpc>
                <a:spcPct val="85000"/>
              </a:lnSpc>
            </a:pPr>
            <a:r>
              <a:rPr lang="en-US"/>
              <a:t>The maximum usage when no congestion is defined by the shaper.</a:t>
            </a:r>
          </a:p>
          <a:p>
            <a:pPr lvl="1" indent="0">
              <a:lnSpc>
                <a:spcPct val="85000"/>
              </a:lnSpc>
            </a:pPr>
            <a:r>
              <a:rPr lang="en-US"/>
              <a:t>Only makes sense if shape CIR &gt;= bandwidth.</a:t>
            </a:r>
          </a:p>
          <a:p>
            <a:pPr lvl="1" indent="0">
              <a:lnSpc>
                <a:spcPct val="85000"/>
              </a:lnSpc>
            </a:pPr>
            <a:endParaRPr lang="en-US"/>
          </a:p>
          <a:p>
            <a:pPr>
              <a:lnSpc>
                <a:spcPct val="85000"/>
              </a:lnSpc>
              <a:buFont typeface="Wingdings" pitchFamily="1" charset="2"/>
              <a:buNone/>
            </a:pPr>
            <a:endParaRPr lang="en-US"/>
          </a:p>
          <a:p>
            <a:pPr>
              <a:lnSpc>
                <a:spcPct val="85000"/>
              </a:lnSpc>
            </a:pPr>
            <a:r>
              <a:rPr lang="en-US"/>
              <a:t>NB: Some exotic combinations may not make sense</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t>Class-Based Shaper: Hierarchical</a:t>
            </a:r>
          </a:p>
        </p:txBody>
      </p:sp>
      <p:sp>
        <p:nvSpPr>
          <p:cNvPr id="58371" name="Rectangle 3"/>
          <p:cNvSpPr>
            <a:spLocks noGrp="1" noChangeArrowheads="1"/>
          </p:cNvSpPr>
          <p:nvPr>
            <p:ph idx="1"/>
          </p:nvPr>
        </p:nvSpPr>
        <p:spPr>
          <a:xfrm>
            <a:off x="2179639" y="1781175"/>
            <a:ext cx="7940675" cy="4527550"/>
          </a:xfrm>
        </p:spPr>
        <p:txBody>
          <a:bodyPr/>
          <a:lstStyle/>
          <a:p>
            <a:r>
              <a:rPr lang="en-US"/>
              <a:t>Very common setup.</a:t>
            </a:r>
          </a:p>
          <a:p>
            <a:r>
              <a:rPr lang="en-US"/>
              <a:t>Parent service-policy is shaping</a:t>
            </a:r>
          </a:p>
          <a:p>
            <a:r>
              <a:rPr lang="en-US"/>
              <a:t>Child is organizing the queuing behind it.  Basically the </a:t>
            </a:r>
            <a:r>
              <a:rPr lang="en-US">
                <a:solidFill>
                  <a:schemeClr val="tx2"/>
                </a:solidFill>
              </a:rPr>
              <a:t>class queues are replacing the shaping queues</a:t>
            </a:r>
            <a:r>
              <a:rPr lang="en-US"/>
              <a:t> that are created when shaper is used in non-hierarchical way.</a:t>
            </a:r>
          </a:p>
          <a:p>
            <a:r>
              <a:rPr lang="en-US"/>
              <a:t>Only </a:t>
            </a:r>
            <a:r>
              <a:rPr lang="en-US">
                <a:solidFill>
                  <a:schemeClr val="tx2"/>
                </a:solidFill>
              </a:rPr>
              <a:t>one level of shaping</a:t>
            </a:r>
            <a:r>
              <a:rPr lang="en-US"/>
              <a:t> is allowed</a:t>
            </a:r>
          </a:p>
          <a:p>
            <a:r>
              <a:rPr lang="en-US"/>
              <a:t>In this case the shaper is creating the backpressure needed to start queuing, replacing the physical interface tx-ring.  Very useful for things like PPPoE.</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6" name="Rectangle 4"/>
          <p:cNvSpPr>
            <a:spLocks noChangeArrowheads="1"/>
          </p:cNvSpPr>
          <p:nvPr/>
        </p:nvSpPr>
        <p:spPr bwMode="auto">
          <a:xfrm>
            <a:off x="3719514" y="3500439"/>
            <a:ext cx="5184775" cy="465137"/>
          </a:xfrm>
          <a:prstGeom prst="rect">
            <a:avLst/>
          </a:prstGeom>
          <a:solidFill>
            <a:schemeClr val="accent2"/>
          </a:solidFill>
          <a:ln w="25400">
            <a:noFill/>
            <a:miter lim="800000"/>
            <a:headEnd/>
            <a:tailEnd/>
          </a:ln>
          <a:effectLst>
            <a:outerShdw dist="107763" dir="2700000" algn="ctr" rotWithShape="0">
              <a:schemeClr val="bg2">
                <a:alpha val="50000"/>
              </a:schemeClr>
            </a:outerShdw>
          </a:effectLst>
        </p:spPr>
        <p:txBody>
          <a:bodyPr wrap="none" anchor="ctr"/>
          <a:lstStyle/>
          <a:p>
            <a:pPr>
              <a:defRPr/>
            </a:pPr>
            <a:endParaRPr lang="en-US">
              <a:latin typeface="Arial" charset="0"/>
            </a:endParaRPr>
          </a:p>
        </p:txBody>
      </p:sp>
      <p:sp>
        <p:nvSpPr>
          <p:cNvPr id="59395" name="Rectangle 2"/>
          <p:cNvSpPr>
            <a:spLocks noGrp="1" noChangeArrowheads="1"/>
          </p:cNvSpPr>
          <p:nvPr>
            <p:ph type="title"/>
          </p:nvPr>
        </p:nvSpPr>
        <p:spPr/>
        <p:txBody>
          <a:bodyPr/>
          <a:lstStyle/>
          <a:p>
            <a:pPr eaLnBrk="1" hangingPunct="1"/>
            <a:r>
              <a:rPr lang="en-US">
                <a:solidFill>
                  <a:schemeClr val="accent2"/>
                </a:solidFill>
              </a:rPr>
              <a:t>Policing with CAR (pre-MQC)</a:t>
            </a:r>
          </a:p>
        </p:txBody>
      </p:sp>
      <p:sp>
        <p:nvSpPr>
          <p:cNvPr id="59396" name="Rectangle 3"/>
          <p:cNvSpPr>
            <a:spLocks noGrp="1" noChangeArrowheads="1"/>
          </p:cNvSpPr>
          <p:nvPr>
            <p:ph idx="1"/>
          </p:nvPr>
        </p:nvSpPr>
        <p:spPr>
          <a:xfrm>
            <a:off x="2279651" y="1557338"/>
            <a:ext cx="7940675" cy="4527550"/>
          </a:xfrm>
        </p:spPr>
        <p:txBody>
          <a:bodyPr/>
          <a:lstStyle/>
          <a:p>
            <a:pPr>
              <a:lnSpc>
                <a:spcPct val="85000"/>
              </a:lnSpc>
            </a:pPr>
            <a:r>
              <a:rPr lang="en-US"/>
              <a:t>Easy to configure, so we still see it</a:t>
            </a:r>
          </a:p>
          <a:p>
            <a:pPr>
              <a:lnSpc>
                <a:spcPct val="85000"/>
              </a:lnSpc>
            </a:pPr>
            <a:r>
              <a:rPr lang="en-US"/>
              <a:t>Configured </a:t>
            </a:r>
            <a:r>
              <a:rPr lang="en-US">
                <a:solidFill>
                  <a:schemeClr val="accent2"/>
                </a:solidFill>
              </a:rPr>
              <a:t>directly</a:t>
            </a:r>
            <a:r>
              <a:rPr lang="en-US"/>
              <a:t> on the interface, without MQC</a:t>
            </a:r>
          </a:p>
          <a:p>
            <a:pPr>
              <a:lnSpc>
                <a:spcPct val="85000"/>
              </a:lnSpc>
              <a:buFont typeface="Wingdings" pitchFamily="1" charset="2"/>
              <a:buNone/>
            </a:pPr>
            <a:endParaRPr lang="en-GB" b="1">
              <a:solidFill>
                <a:schemeClr val="bg1"/>
              </a:solidFill>
              <a:latin typeface="Courier New" pitchFamily="1" charset="0"/>
            </a:endParaRPr>
          </a:p>
          <a:p>
            <a:pPr>
              <a:lnSpc>
                <a:spcPct val="85000"/>
              </a:lnSpc>
              <a:buFont typeface="Wingdings" pitchFamily="1" charset="2"/>
              <a:buNone/>
            </a:pPr>
            <a:endParaRPr lang="en-GB" b="1">
              <a:solidFill>
                <a:schemeClr val="bg1"/>
              </a:solidFill>
              <a:latin typeface="Courier New" pitchFamily="1" charset="0"/>
            </a:endParaRPr>
          </a:p>
          <a:p>
            <a:pPr>
              <a:lnSpc>
                <a:spcPct val="85000"/>
              </a:lnSpc>
              <a:buFont typeface="Wingdings" pitchFamily="1" charset="2"/>
              <a:buNone/>
            </a:pPr>
            <a:r>
              <a:rPr lang="en-GB" b="1">
                <a:solidFill>
                  <a:schemeClr val="bg1"/>
                </a:solidFill>
                <a:latin typeface="Courier New" pitchFamily="1" charset="0"/>
              </a:rPr>
              <a:t>			rate-limit CR NB EB ...</a:t>
            </a:r>
          </a:p>
          <a:p>
            <a:pPr>
              <a:lnSpc>
                <a:spcPct val="85000"/>
              </a:lnSpc>
              <a:buFont typeface="Wingdings" pitchFamily="1" charset="2"/>
              <a:buNone/>
            </a:pPr>
            <a:endParaRPr lang="en-US">
              <a:latin typeface="Courier New" pitchFamily="1" charset="0"/>
            </a:endParaRPr>
          </a:p>
          <a:p>
            <a:pPr>
              <a:lnSpc>
                <a:spcPct val="85000"/>
              </a:lnSpc>
            </a:pPr>
            <a:r>
              <a:rPr lang="en-US">
                <a:solidFill>
                  <a:schemeClr val="accent2"/>
                </a:solidFill>
              </a:rPr>
              <a:t>CR</a:t>
            </a:r>
            <a:r>
              <a:rPr lang="en-US"/>
              <a:t>: Equivalent of </a:t>
            </a:r>
            <a:r>
              <a:rPr lang="en-US">
                <a:solidFill>
                  <a:schemeClr val="accent2"/>
                </a:solidFill>
              </a:rPr>
              <a:t>CIR</a:t>
            </a:r>
          </a:p>
          <a:p>
            <a:pPr>
              <a:lnSpc>
                <a:spcPct val="85000"/>
              </a:lnSpc>
            </a:pPr>
            <a:r>
              <a:rPr lang="en-US">
                <a:solidFill>
                  <a:schemeClr val="accent2"/>
                </a:solidFill>
              </a:rPr>
              <a:t>NB</a:t>
            </a:r>
            <a:r>
              <a:rPr lang="en-US"/>
              <a:t>: Equivalent of </a:t>
            </a:r>
            <a:r>
              <a:rPr lang="en-US">
                <a:solidFill>
                  <a:schemeClr val="accent2"/>
                </a:solidFill>
              </a:rPr>
              <a:t>Bc</a:t>
            </a:r>
          </a:p>
          <a:p>
            <a:pPr>
              <a:lnSpc>
                <a:spcPct val="85000"/>
              </a:lnSpc>
            </a:pPr>
            <a:r>
              <a:rPr lang="en-US">
                <a:solidFill>
                  <a:schemeClr val="accent2"/>
                </a:solidFill>
              </a:rPr>
              <a:t>EB</a:t>
            </a:r>
            <a:r>
              <a:rPr lang="en-US"/>
              <a:t>: </a:t>
            </a:r>
            <a:r>
              <a:rPr lang="en-US" b="1">
                <a:solidFill>
                  <a:schemeClr val="accent2"/>
                </a:solidFill>
              </a:rPr>
              <a:t>NOT</a:t>
            </a:r>
            <a:r>
              <a:rPr lang="en-US"/>
              <a:t> Be, but </a:t>
            </a:r>
            <a:r>
              <a:rPr lang="en-US">
                <a:solidFill>
                  <a:schemeClr val="accent2"/>
                </a:solidFill>
              </a:rPr>
              <a:t>Bc+Be</a:t>
            </a:r>
            <a:r>
              <a:rPr lang="en-US"/>
              <a:t> (so EB &gt;= NB)</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solidFill>
                  <a:schemeClr val="accent2"/>
                </a:solidFill>
              </a:rPr>
              <a:t>Policing with CAR</a:t>
            </a:r>
          </a:p>
        </p:txBody>
      </p:sp>
      <p:sp>
        <p:nvSpPr>
          <p:cNvPr id="60419" name="Rectangle 3"/>
          <p:cNvSpPr>
            <a:spLocks noGrp="1" noChangeArrowheads="1"/>
          </p:cNvSpPr>
          <p:nvPr>
            <p:ph idx="1"/>
          </p:nvPr>
        </p:nvSpPr>
        <p:spPr>
          <a:xfrm>
            <a:off x="2179639" y="1781176"/>
            <a:ext cx="7940675" cy="4456113"/>
          </a:xfrm>
        </p:spPr>
        <p:txBody>
          <a:bodyPr>
            <a:normAutofit lnSpcReduction="10000"/>
          </a:bodyPr>
          <a:lstStyle/>
          <a:p>
            <a:r>
              <a:rPr lang="en-US"/>
              <a:t>Usually we choose EB = 2 * NB.</a:t>
            </a:r>
          </a:p>
          <a:p>
            <a:r>
              <a:rPr lang="en-US"/>
              <a:t>If your packet size are bigger than EB (so bigger than NB also), those packets will be considered </a:t>
            </a:r>
            <a:r>
              <a:rPr lang="en-US">
                <a:solidFill>
                  <a:schemeClr val="accent2"/>
                </a:solidFill>
              </a:rPr>
              <a:t>exceeding</a:t>
            </a:r>
          </a:p>
          <a:p>
            <a:r>
              <a:rPr lang="en-US"/>
              <a:t>Possible actions:</a:t>
            </a:r>
          </a:p>
          <a:p>
            <a:pPr lvl="1" indent="0"/>
            <a:r>
              <a:rPr lang="en-US">
                <a:solidFill>
                  <a:schemeClr val="accent2"/>
                </a:solidFill>
              </a:rPr>
              <a:t>Transmit: </a:t>
            </a:r>
            <a:r>
              <a:rPr lang="en-US"/>
              <a:t>transmit the packet</a:t>
            </a:r>
          </a:p>
          <a:p>
            <a:pPr lvl="1" indent="0"/>
            <a:r>
              <a:rPr lang="en-US">
                <a:solidFill>
                  <a:schemeClr val="accent2"/>
                </a:solidFill>
              </a:rPr>
              <a:t>Drop: </a:t>
            </a:r>
            <a:r>
              <a:rPr lang="en-US"/>
              <a:t>drop the packet</a:t>
            </a:r>
          </a:p>
          <a:p>
            <a:pPr lvl="1" indent="0"/>
            <a:r>
              <a:rPr lang="en-US">
                <a:solidFill>
                  <a:schemeClr val="accent2"/>
                </a:solidFill>
              </a:rPr>
              <a:t>Continue: </a:t>
            </a:r>
            <a:r>
              <a:rPr lang="en-US"/>
              <a:t>go to the next rate-limit statement</a:t>
            </a:r>
          </a:p>
          <a:p>
            <a:pPr lvl="1" indent="0"/>
            <a:r>
              <a:rPr lang="en-US">
                <a:solidFill>
                  <a:schemeClr val="accent2"/>
                </a:solidFill>
              </a:rPr>
              <a:t>Set [x] and transmit: </a:t>
            </a:r>
            <a:r>
              <a:rPr lang="en-US"/>
              <a:t>set [x] and transmit the packet</a:t>
            </a:r>
          </a:p>
          <a:p>
            <a:pPr lvl="1" indent="0"/>
            <a:r>
              <a:rPr lang="en-US">
                <a:solidFill>
                  <a:schemeClr val="accent2"/>
                </a:solidFill>
              </a:rPr>
              <a:t>Set [x] and continue: </a:t>
            </a:r>
            <a:r>
              <a:rPr lang="en-US"/>
              <a:t>set [x] and continue to next statement</a:t>
            </a:r>
          </a:p>
          <a:p>
            <a:pPr lvl="1" indent="0"/>
            <a:endParaRPr lang="en-US"/>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GB">
                <a:solidFill>
                  <a:schemeClr val="accent2"/>
                </a:solidFill>
              </a:rPr>
              <a:t>Class-Based Policing</a:t>
            </a:r>
            <a:endParaRPr lang="en-US">
              <a:solidFill>
                <a:schemeClr val="accent2"/>
              </a:solidFill>
            </a:endParaRPr>
          </a:p>
        </p:txBody>
      </p:sp>
      <p:sp>
        <p:nvSpPr>
          <p:cNvPr id="237571" name="Rectangle 3"/>
          <p:cNvSpPr>
            <a:spLocks noGrp="1" noChangeArrowheads="1"/>
          </p:cNvSpPr>
          <p:nvPr>
            <p:ph idx="1"/>
          </p:nvPr>
        </p:nvSpPr>
        <p:spPr>
          <a:xfrm>
            <a:off x="1981200" y="1905000"/>
            <a:ext cx="8224838" cy="2133600"/>
          </a:xfrm>
          <a:solidFill>
            <a:schemeClr val="accent2"/>
          </a:solidFill>
          <a:effectLst>
            <a:outerShdw dist="107763" dir="2700000" algn="ctr" rotWithShape="0">
              <a:schemeClr val="bg2">
                <a:alpha val="50000"/>
              </a:schemeClr>
            </a:outerShdw>
          </a:effectLst>
        </p:spPr>
        <p:txBody>
          <a:bodyPr/>
          <a:lstStyle/>
          <a:p>
            <a:pPr>
              <a:buFont typeface="Wingdings" pitchFamily="1" charset="2"/>
              <a:buNone/>
            </a:pPr>
            <a:r>
              <a:rPr lang="en-GB">
                <a:solidFill>
                  <a:schemeClr val="bg1"/>
                </a:solidFill>
              </a:rPr>
              <a:t>Benefits from MQC classification options</a:t>
            </a:r>
          </a:p>
          <a:p>
            <a:pPr>
              <a:buFont typeface="Wingdings" pitchFamily="1" charset="2"/>
              <a:buNone/>
            </a:pPr>
            <a:r>
              <a:rPr lang="en-GB">
                <a:solidFill>
                  <a:schemeClr val="bg1"/>
                </a:solidFill>
              </a:rPr>
              <a:t>Configure in </a:t>
            </a:r>
            <a:r>
              <a:rPr lang="en-GB"/>
              <a:t>policy-map</a:t>
            </a:r>
            <a:r>
              <a:rPr lang="en-GB">
                <a:solidFill>
                  <a:schemeClr val="bg1"/>
                </a:solidFill>
              </a:rPr>
              <a:t> with </a:t>
            </a:r>
            <a:r>
              <a:rPr lang="en-GB"/>
              <a:t>police</a:t>
            </a:r>
            <a:r>
              <a:rPr lang="en-GB">
                <a:solidFill>
                  <a:schemeClr val="bg1"/>
                </a:solidFill>
              </a:rPr>
              <a:t> command</a:t>
            </a:r>
            <a:endParaRPr lang="en-GB">
              <a:solidFill>
                <a:schemeClr val="bg1"/>
              </a:solidFill>
              <a:latin typeface="Courier New" pitchFamily="1" charset="0"/>
            </a:endParaRPr>
          </a:p>
          <a:p>
            <a:pPr>
              <a:buFont typeface="Wingdings" pitchFamily="1" charset="2"/>
              <a:buNone/>
            </a:pPr>
            <a:r>
              <a:rPr lang="en-GB">
                <a:solidFill>
                  <a:schemeClr val="bg1"/>
                </a:solidFill>
              </a:rPr>
              <a:t>Allows </a:t>
            </a:r>
            <a:r>
              <a:rPr lang="en-GB"/>
              <a:t>multiple levels</a:t>
            </a:r>
            <a:r>
              <a:rPr lang="en-GB">
                <a:solidFill>
                  <a:schemeClr val="bg1"/>
                </a:solidFill>
              </a:rPr>
              <a:t> deep in hierarchical policy-map</a:t>
            </a:r>
          </a:p>
          <a:p>
            <a:pPr>
              <a:buFont typeface="Wingdings" pitchFamily="1" charset="2"/>
              <a:buNone/>
            </a:pPr>
            <a:r>
              <a:rPr lang="en-GB">
                <a:solidFill>
                  <a:schemeClr val="bg1"/>
                </a:solidFill>
              </a:rPr>
              <a:t>Allows </a:t>
            </a:r>
            <a:r>
              <a:rPr lang="en-GB"/>
              <a:t>multi-action</a:t>
            </a:r>
            <a:r>
              <a:rPr lang="en-GB">
                <a:solidFill>
                  <a:schemeClr val="bg1"/>
                </a:solidFill>
              </a:rPr>
              <a:t> policers</a:t>
            </a:r>
            <a:endParaRPr lang="en-US">
              <a:solidFill>
                <a:schemeClr val="bg1"/>
              </a:solidFill>
            </a:endParaRPr>
          </a:p>
        </p:txBody>
      </p:sp>
      <p:sp>
        <p:nvSpPr>
          <p:cNvPr id="61444" name="Text Box 4"/>
          <p:cNvSpPr txBox="1">
            <a:spLocks noChangeArrowheads="1"/>
          </p:cNvSpPr>
          <p:nvPr/>
        </p:nvSpPr>
        <p:spPr bwMode="auto">
          <a:xfrm>
            <a:off x="2819400" y="4945064"/>
            <a:ext cx="5899150" cy="987425"/>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pPr>
            <a:r>
              <a:rPr lang="en-GB" sz="2000" b="1"/>
              <a:t>BUT:</a:t>
            </a:r>
          </a:p>
          <a:p>
            <a:pPr algn="l">
              <a:lnSpc>
                <a:spcPct val="100000"/>
              </a:lnSpc>
              <a:buFontTx/>
              <a:buChar char="•"/>
            </a:pPr>
            <a:r>
              <a:rPr lang="en-GB" sz="2000" b="1"/>
              <a:t>No </a:t>
            </a:r>
            <a:r>
              <a:rPr lang="en-GB" sz="2000" b="1">
                <a:solidFill>
                  <a:schemeClr val="accent2"/>
                </a:solidFill>
                <a:latin typeface="Courier New" pitchFamily="1" charset="0"/>
              </a:rPr>
              <a:t>continue</a:t>
            </a:r>
            <a:r>
              <a:rPr lang="en-GB" sz="2000" b="1"/>
              <a:t> option</a:t>
            </a:r>
          </a:p>
          <a:p>
            <a:pPr algn="l">
              <a:lnSpc>
                <a:spcPct val="100000"/>
              </a:lnSpc>
              <a:buFontTx/>
              <a:buChar char="•"/>
            </a:pPr>
            <a:r>
              <a:rPr lang="en-GB" sz="2000" b="1"/>
              <a:t>No </a:t>
            </a:r>
            <a:r>
              <a:rPr lang="en-GB" sz="2000" b="1">
                <a:solidFill>
                  <a:schemeClr val="accent2"/>
                </a:solidFill>
                <a:latin typeface="Courier New" pitchFamily="1" charset="0"/>
              </a:rPr>
              <a:t>rate-limit acl</a:t>
            </a:r>
            <a:endParaRPr lang="en-GB" sz="2000" b="1">
              <a:solidFill>
                <a:schemeClr val="accent2"/>
              </a:solidFill>
            </a:endParaRPr>
          </a:p>
        </p:txBody>
      </p:sp>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solidFill>
                  <a:schemeClr val="accent2"/>
                </a:solidFill>
              </a:rPr>
              <a:t>Class-Based Policing: Options</a:t>
            </a:r>
          </a:p>
        </p:txBody>
      </p:sp>
      <p:sp>
        <p:nvSpPr>
          <p:cNvPr id="62467" name="Rectangle 3"/>
          <p:cNvSpPr>
            <a:spLocks noGrp="1" noChangeArrowheads="1"/>
          </p:cNvSpPr>
          <p:nvPr>
            <p:ph idx="1"/>
          </p:nvPr>
        </p:nvSpPr>
        <p:spPr>
          <a:xfrm>
            <a:off x="2063751" y="1557338"/>
            <a:ext cx="7940675" cy="4608512"/>
          </a:xfrm>
        </p:spPr>
        <p:txBody>
          <a:bodyPr/>
          <a:lstStyle/>
          <a:p>
            <a:pPr marL="457200" indent="-457200">
              <a:buNone/>
            </a:pPr>
            <a:r>
              <a:rPr lang="en-US"/>
              <a:t>1. Single rate, single bucket,</a:t>
            </a:r>
            <a:r>
              <a:rPr lang="en-US">
                <a:solidFill>
                  <a:schemeClr val="folHlink"/>
                </a:solidFill>
              </a:rPr>
              <a:t> </a:t>
            </a:r>
            <a:r>
              <a:rPr lang="en-US">
                <a:solidFill>
                  <a:schemeClr val="accent2"/>
                </a:solidFill>
              </a:rPr>
              <a:t>two-color</a:t>
            </a:r>
            <a:r>
              <a:rPr lang="en-US"/>
              <a:t> marker</a:t>
            </a:r>
          </a:p>
          <a:p>
            <a:pPr marL="955675" lvl="1" indent="-381000"/>
            <a:r>
              <a:rPr lang="en-US"/>
              <a:t>Same behavior as CAR</a:t>
            </a:r>
          </a:p>
          <a:p>
            <a:pPr marL="955675" lvl="1" indent="-381000"/>
            <a:endParaRPr lang="en-US"/>
          </a:p>
          <a:p>
            <a:pPr marL="955675" lvl="1" indent="-381000"/>
            <a:endParaRPr lang="en-US"/>
          </a:p>
          <a:p>
            <a:pPr marL="955675" lvl="1" indent="-381000"/>
            <a:endParaRPr lang="en-US" sz="1200"/>
          </a:p>
          <a:p>
            <a:pPr marL="457200" indent="-457200">
              <a:buNone/>
            </a:pPr>
            <a:r>
              <a:rPr lang="en-US"/>
              <a:t>2. Single rate, </a:t>
            </a:r>
            <a:r>
              <a:rPr lang="en-US">
                <a:solidFill>
                  <a:schemeClr val="accent2"/>
                </a:solidFill>
              </a:rPr>
              <a:t>dual</a:t>
            </a:r>
            <a:r>
              <a:rPr lang="en-US"/>
              <a:t> bucket, </a:t>
            </a:r>
            <a:r>
              <a:rPr lang="en-US">
                <a:solidFill>
                  <a:schemeClr val="accent2"/>
                </a:solidFill>
              </a:rPr>
              <a:t>three-color</a:t>
            </a:r>
            <a:r>
              <a:rPr lang="en-US"/>
              <a:t> marker</a:t>
            </a:r>
          </a:p>
          <a:p>
            <a:pPr marL="457200" indent="-457200">
              <a:buNone/>
            </a:pPr>
            <a:r>
              <a:rPr lang="en-US" sz="2000"/>
              <a:t>	Same as CAR + Violate action.</a:t>
            </a:r>
          </a:p>
          <a:p>
            <a:pPr marL="457200" indent="-457200">
              <a:buNone/>
            </a:pPr>
            <a:r>
              <a:rPr lang="en-US" sz="2000"/>
              <a:t>	Here NB and EB are separated.  Packets using NB bits </a:t>
            </a:r>
            <a:r>
              <a:rPr lang="en-US" sz="2000" i="1">
                <a:solidFill>
                  <a:schemeClr val="folHlink"/>
                </a:solidFill>
              </a:rPr>
              <a:t>conform</a:t>
            </a:r>
            <a:r>
              <a:rPr lang="en-US" sz="2000"/>
              <a:t>, packets using EB </a:t>
            </a:r>
            <a:r>
              <a:rPr lang="en-US" sz="2000" i="1">
                <a:solidFill>
                  <a:schemeClr val="folHlink"/>
                </a:solidFill>
              </a:rPr>
              <a:t>exceed</a:t>
            </a:r>
            <a:r>
              <a:rPr lang="en-US" sz="2000"/>
              <a:t>, and packets above EB </a:t>
            </a:r>
            <a:r>
              <a:rPr lang="en-US" sz="2000" i="1">
                <a:solidFill>
                  <a:schemeClr val="folHlink"/>
                </a:solidFill>
              </a:rPr>
              <a:t>violate</a:t>
            </a:r>
            <a:r>
              <a:rPr lang="en-US" sz="2000"/>
              <a:t>.</a:t>
            </a:r>
          </a:p>
          <a:p>
            <a:pPr marL="457200" indent="-457200">
              <a:buNone/>
            </a:pPr>
            <a:endParaRPr lang="en-US" sz="2000"/>
          </a:p>
          <a:p>
            <a:pPr marL="457200" indent="-457200">
              <a:buNone/>
            </a:pPr>
            <a:endParaRPr lang="en-US" sz="2000"/>
          </a:p>
          <a:p>
            <a:pPr marL="457200" indent="-457200">
              <a:buNone/>
            </a:pPr>
            <a:endParaRPr lang="en-US"/>
          </a:p>
        </p:txBody>
      </p:sp>
      <p:sp>
        <p:nvSpPr>
          <p:cNvPr id="236548" name="Text Box 4"/>
          <p:cNvSpPr txBox="1">
            <a:spLocks noChangeArrowheads="1"/>
          </p:cNvSpPr>
          <p:nvPr/>
        </p:nvSpPr>
        <p:spPr bwMode="auto">
          <a:xfrm>
            <a:off x="2046288" y="2459039"/>
            <a:ext cx="8153400" cy="682625"/>
          </a:xfrm>
          <a:prstGeom prst="rect">
            <a:avLst/>
          </a:prstGeom>
          <a:solidFill>
            <a:schemeClr val="accent2"/>
          </a:solidFill>
          <a:ln w="9525">
            <a:noFill/>
            <a:miter lim="800000"/>
            <a:headEnd/>
            <a:tailEnd/>
          </a:ln>
          <a:effectLst>
            <a:outerShdw dist="107763" dir="2700000" algn="ctr" rotWithShape="0">
              <a:schemeClr val="bg2">
                <a:alpha val="50000"/>
              </a:schemeClr>
            </a:outerShdw>
          </a:effectLst>
        </p:spPr>
        <p:txBody>
          <a:bodyPr lIns="73025" tIns="36512" rIns="73025" bIns="36512">
            <a:spAutoFit/>
          </a:bodyPr>
          <a:lstStyle/>
          <a:p>
            <a:pPr algn="l">
              <a:lnSpc>
                <a:spcPct val="100000"/>
              </a:lnSpc>
              <a:defRPr/>
            </a:pPr>
            <a:r>
              <a:rPr lang="en-US" sz="2000" b="1">
                <a:solidFill>
                  <a:schemeClr val="bg1"/>
                </a:solidFill>
                <a:latin typeface="Courier New" pitchFamily="49" charset="0"/>
              </a:rPr>
              <a:t>police</a:t>
            </a:r>
            <a:r>
              <a:rPr lang="en-US" sz="2000" i="1">
                <a:solidFill>
                  <a:schemeClr val="bg1"/>
                </a:solidFill>
                <a:latin typeface="Courier New" pitchFamily="49" charset="0"/>
              </a:rPr>
              <a:t> </a:t>
            </a:r>
            <a:r>
              <a:rPr lang="en-US" sz="2000">
                <a:solidFill>
                  <a:schemeClr val="bg1"/>
                </a:solidFill>
                <a:latin typeface="Courier New" pitchFamily="49" charset="0"/>
              </a:rPr>
              <a:t>bps</a:t>
            </a:r>
            <a:r>
              <a:rPr lang="en-US" sz="2000" b="1">
                <a:solidFill>
                  <a:schemeClr val="bg1"/>
                </a:solidFill>
                <a:latin typeface="Courier New" pitchFamily="49" charset="0"/>
              </a:rPr>
              <a:t> </a:t>
            </a:r>
            <a:r>
              <a:rPr lang="en-US" sz="2000">
                <a:solidFill>
                  <a:schemeClr val="bg1"/>
                </a:solidFill>
                <a:latin typeface="Courier New" pitchFamily="49" charset="0"/>
              </a:rPr>
              <a:t>[burst-normal] [burst-max]</a:t>
            </a:r>
            <a:r>
              <a:rPr lang="en-US" sz="2000" b="1">
                <a:solidFill>
                  <a:schemeClr val="bg1"/>
                </a:solidFill>
                <a:latin typeface="Courier New" pitchFamily="49" charset="0"/>
              </a:rPr>
              <a:t> conform-action</a:t>
            </a:r>
            <a:r>
              <a:rPr lang="en-US" sz="2000">
                <a:solidFill>
                  <a:schemeClr val="bg1"/>
                </a:solidFill>
                <a:latin typeface="Courier New" pitchFamily="49" charset="0"/>
              </a:rPr>
              <a:t> action</a:t>
            </a:r>
            <a:r>
              <a:rPr lang="en-US" sz="2000" b="1">
                <a:solidFill>
                  <a:schemeClr val="bg1"/>
                </a:solidFill>
                <a:latin typeface="Courier New" pitchFamily="49" charset="0"/>
              </a:rPr>
              <a:t> exceed-action</a:t>
            </a:r>
            <a:r>
              <a:rPr lang="en-US" sz="2000">
                <a:solidFill>
                  <a:schemeClr val="bg1"/>
                </a:solidFill>
                <a:latin typeface="Courier New" pitchFamily="49" charset="0"/>
              </a:rPr>
              <a:t> action</a:t>
            </a:r>
          </a:p>
        </p:txBody>
      </p:sp>
      <p:sp>
        <p:nvSpPr>
          <p:cNvPr id="236549" name="Text Box 5"/>
          <p:cNvSpPr txBox="1">
            <a:spLocks noChangeArrowheads="1"/>
          </p:cNvSpPr>
          <p:nvPr/>
        </p:nvSpPr>
        <p:spPr bwMode="auto">
          <a:xfrm>
            <a:off x="2063750" y="5373689"/>
            <a:ext cx="8153400" cy="682625"/>
          </a:xfrm>
          <a:prstGeom prst="rect">
            <a:avLst/>
          </a:prstGeom>
          <a:solidFill>
            <a:schemeClr val="accent2"/>
          </a:solidFill>
          <a:ln w="9525">
            <a:noFill/>
            <a:miter lim="800000"/>
            <a:headEnd/>
            <a:tailEnd/>
          </a:ln>
          <a:effectLst>
            <a:outerShdw dist="107763" dir="2700000" algn="ctr" rotWithShape="0">
              <a:schemeClr val="bg2">
                <a:alpha val="50000"/>
              </a:schemeClr>
            </a:outerShdw>
          </a:effectLst>
        </p:spPr>
        <p:txBody>
          <a:bodyPr lIns="73025" tIns="36512" rIns="73025" bIns="36512">
            <a:spAutoFit/>
          </a:bodyPr>
          <a:lstStyle/>
          <a:p>
            <a:pPr algn="l">
              <a:lnSpc>
                <a:spcPct val="100000"/>
              </a:lnSpc>
              <a:defRPr/>
            </a:pPr>
            <a:r>
              <a:rPr lang="en-US" sz="2000" b="1">
                <a:solidFill>
                  <a:schemeClr val="bg1"/>
                </a:solidFill>
                <a:latin typeface="Courier New" pitchFamily="49" charset="0"/>
              </a:rPr>
              <a:t>police</a:t>
            </a:r>
            <a:r>
              <a:rPr lang="en-US" sz="2000" i="1">
                <a:solidFill>
                  <a:schemeClr val="bg1"/>
                </a:solidFill>
                <a:latin typeface="Courier New" pitchFamily="49" charset="0"/>
              </a:rPr>
              <a:t> </a:t>
            </a:r>
            <a:r>
              <a:rPr lang="en-US" sz="2000">
                <a:solidFill>
                  <a:schemeClr val="bg1"/>
                </a:solidFill>
                <a:latin typeface="Courier New" pitchFamily="49" charset="0"/>
              </a:rPr>
              <a:t>bps</a:t>
            </a:r>
            <a:r>
              <a:rPr lang="en-US" sz="2000" b="1">
                <a:solidFill>
                  <a:schemeClr val="bg1"/>
                </a:solidFill>
                <a:latin typeface="Courier New" pitchFamily="49" charset="0"/>
              </a:rPr>
              <a:t> </a:t>
            </a:r>
            <a:r>
              <a:rPr lang="en-US" sz="2000">
                <a:solidFill>
                  <a:schemeClr val="bg1"/>
                </a:solidFill>
                <a:latin typeface="Courier New" pitchFamily="49" charset="0"/>
              </a:rPr>
              <a:t>[burst-normal] [burst-max]</a:t>
            </a:r>
            <a:r>
              <a:rPr lang="en-US" sz="2000" b="1">
                <a:solidFill>
                  <a:schemeClr val="bg1"/>
                </a:solidFill>
                <a:latin typeface="Courier New" pitchFamily="49" charset="0"/>
              </a:rPr>
              <a:t> conform-action</a:t>
            </a:r>
            <a:r>
              <a:rPr lang="en-US" sz="2000">
                <a:solidFill>
                  <a:schemeClr val="bg1"/>
                </a:solidFill>
                <a:latin typeface="Courier New" pitchFamily="49" charset="0"/>
              </a:rPr>
              <a:t> action</a:t>
            </a:r>
            <a:r>
              <a:rPr lang="en-US" sz="2000" b="1">
                <a:solidFill>
                  <a:schemeClr val="bg1"/>
                </a:solidFill>
                <a:latin typeface="Courier New" pitchFamily="49" charset="0"/>
              </a:rPr>
              <a:t> exceed-action</a:t>
            </a:r>
            <a:r>
              <a:rPr lang="en-US" sz="2000">
                <a:solidFill>
                  <a:schemeClr val="bg1"/>
                </a:solidFill>
                <a:latin typeface="Courier New" pitchFamily="49" charset="0"/>
              </a:rPr>
              <a:t> action </a:t>
            </a:r>
            <a:r>
              <a:rPr lang="en-US" sz="2000" b="1">
                <a:solidFill>
                  <a:schemeClr val="bg1"/>
                </a:solidFill>
                <a:latin typeface="Courier New" pitchFamily="49" charset="0"/>
              </a:rPr>
              <a:t>violate-action</a:t>
            </a:r>
            <a:r>
              <a:rPr lang="en-US" sz="2000">
                <a:solidFill>
                  <a:schemeClr val="bg1"/>
                </a:solidFill>
                <a:latin typeface="Courier New" pitchFamily="49" charset="0"/>
              </a:rPr>
              <a:t> action</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135188" y="503238"/>
            <a:ext cx="8145462" cy="838200"/>
          </a:xfrm>
        </p:spPr>
        <p:txBody>
          <a:bodyPr>
            <a:normAutofit fontScale="90000"/>
          </a:bodyPr>
          <a:lstStyle/>
          <a:p>
            <a:pPr eaLnBrk="1" hangingPunct="1"/>
            <a:r>
              <a:rPr lang="en-US">
                <a:solidFill>
                  <a:schemeClr val="accent2"/>
                </a:solidFill>
              </a:rPr>
              <a:t>Single rate, Dual Bucket, Three-Color Marker</a:t>
            </a:r>
          </a:p>
        </p:txBody>
      </p:sp>
      <p:sp>
        <p:nvSpPr>
          <p:cNvPr id="63491" name="Line 3"/>
          <p:cNvSpPr>
            <a:spLocks noChangeShapeType="1"/>
          </p:cNvSpPr>
          <p:nvPr/>
        </p:nvSpPr>
        <p:spPr bwMode="auto">
          <a:xfrm>
            <a:off x="4165600" y="2459039"/>
            <a:ext cx="1588" cy="160813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3492" name="Line 4"/>
          <p:cNvSpPr>
            <a:spLocks noChangeShapeType="1"/>
          </p:cNvSpPr>
          <p:nvPr/>
        </p:nvSpPr>
        <p:spPr bwMode="auto">
          <a:xfrm>
            <a:off x="5842000" y="2459039"/>
            <a:ext cx="1588" cy="160813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3493" name="Line 5"/>
          <p:cNvSpPr>
            <a:spLocks noChangeShapeType="1"/>
          </p:cNvSpPr>
          <p:nvPr/>
        </p:nvSpPr>
        <p:spPr bwMode="auto">
          <a:xfrm>
            <a:off x="4165600" y="4059239"/>
            <a:ext cx="1676400" cy="158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3494" name="Oval 6"/>
          <p:cNvSpPr>
            <a:spLocks noChangeArrowheads="1"/>
          </p:cNvSpPr>
          <p:nvPr/>
        </p:nvSpPr>
        <p:spPr bwMode="auto">
          <a:xfrm>
            <a:off x="4343400" y="372268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495" name="Oval 7"/>
          <p:cNvSpPr>
            <a:spLocks noChangeArrowheads="1"/>
          </p:cNvSpPr>
          <p:nvPr/>
        </p:nvSpPr>
        <p:spPr bwMode="auto">
          <a:xfrm>
            <a:off x="4686300" y="372268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496" name="Oval 8"/>
          <p:cNvSpPr>
            <a:spLocks noChangeArrowheads="1"/>
          </p:cNvSpPr>
          <p:nvPr/>
        </p:nvSpPr>
        <p:spPr bwMode="auto">
          <a:xfrm>
            <a:off x="5029200" y="372268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497" name="Oval 9"/>
          <p:cNvSpPr>
            <a:spLocks noChangeArrowheads="1"/>
          </p:cNvSpPr>
          <p:nvPr/>
        </p:nvSpPr>
        <p:spPr bwMode="auto">
          <a:xfrm>
            <a:off x="5372100" y="372268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498" name="Oval 10"/>
          <p:cNvSpPr>
            <a:spLocks noChangeArrowheads="1"/>
          </p:cNvSpPr>
          <p:nvPr/>
        </p:nvSpPr>
        <p:spPr bwMode="auto">
          <a:xfrm>
            <a:off x="4343400" y="34671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499" name="Oval 11"/>
          <p:cNvSpPr>
            <a:spLocks noChangeArrowheads="1"/>
          </p:cNvSpPr>
          <p:nvPr/>
        </p:nvSpPr>
        <p:spPr bwMode="auto">
          <a:xfrm>
            <a:off x="4686300" y="34671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00" name="Oval 12"/>
          <p:cNvSpPr>
            <a:spLocks noChangeArrowheads="1"/>
          </p:cNvSpPr>
          <p:nvPr/>
        </p:nvSpPr>
        <p:spPr bwMode="auto">
          <a:xfrm>
            <a:off x="5029200" y="34671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01" name="Oval 13"/>
          <p:cNvSpPr>
            <a:spLocks noChangeArrowheads="1"/>
          </p:cNvSpPr>
          <p:nvPr/>
        </p:nvSpPr>
        <p:spPr bwMode="auto">
          <a:xfrm>
            <a:off x="5372100" y="34671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02" name="Oval 14"/>
          <p:cNvSpPr>
            <a:spLocks noChangeArrowheads="1"/>
          </p:cNvSpPr>
          <p:nvPr/>
        </p:nvSpPr>
        <p:spPr bwMode="auto">
          <a:xfrm>
            <a:off x="4343400" y="32099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03" name="Oval 15"/>
          <p:cNvSpPr>
            <a:spLocks noChangeArrowheads="1"/>
          </p:cNvSpPr>
          <p:nvPr/>
        </p:nvSpPr>
        <p:spPr bwMode="auto">
          <a:xfrm>
            <a:off x="4686300" y="32099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04" name="Oval 16"/>
          <p:cNvSpPr>
            <a:spLocks noChangeArrowheads="1"/>
          </p:cNvSpPr>
          <p:nvPr/>
        </p:nvSpPr>
        <p:spPr bwMode="auto">
          <a:xfrm>
            <a:off x="5029200" y="32099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05" name="Oval 17"/>
          <p:cNvSpPr>
            <a:spLocks noChangeArrowheads="1"/>
          </p:cNvSpPr>
          <p:nvPr/>
        </p:nvSpPr>
        <p:spPr bwMode="auto">
          <a:xfrm>
            <a:off x="5372100" y="32099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06" name="Oval 18"/>
          <p:cNvSpPr>
            <a:spLocks noChangeArrowheads="1"/>
          </p:cNvSpPr>
          <p:nvPr/>
        </p:nvSpPr>
        <p:spPr bwMode="auto">
          <a:xfrm>
            <a:off x="4343400" y="29527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07" name="Oval 19"/>
          <p:cNvSpPr>
            <a:spLocks noChangeArrowheads="1"/>
          </p:cNvSpPr>
          <p:nvPr/>
        </p:nvSpPr>
        <p:spPr bwMode="auto">
          <a:xfrm>
            <a:off x="4686300" y="29527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08" name="Oval 20"/>
          <p:cNvSpPr>
            <a:spLocks noChangeArrowheads="1"/>
          </p:cNvSpPr>
          <p:nvPr/>
        </p:nvSpPr>
        <p:spPr bwMode="auto">
          <a:xfrm>
            <a:off x="5029200" y="29527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09" name="Oval 21"/>
          <p:cNvSpPr>
            <a:spLocks noChangeArrowheads="1"/>
          </p:cNvSpPr>
          <p:nvPr/>
        </p:nvSpPr>
        <p:spPr bwMode="auto">
          <a:xfrm>
            <a:off x="5372100" y="29527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10" name="Oval 22"/>
          <p:cNvSpPr>
            <a:spLocks noChangeArrowheads="1"/>
          </p:cNvSpPr>
          <p:nvPr/>
        </p:nvSpPr>
        <p:spPr bwMode="auto">
          <a:xfrm>
            <a:off x="4343400" y="269557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11" name="Oval 23"/>
          <p:cNvSpPr>
            <a:spLocks noChangeArrowheads="1"/>
          </p:cNvSpPr>
          <p:nvPr/>
        </p:nvSpPr>
        <p:spPr bwMode="auto">
          <a:xfrm>
            <a:off x="4686300" y="269557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12" name="Oval 24"/>
          <p:cNvSpPr>
            <a:spLocks noChangeArrowheads="1"/>
          </p:cNvSpPr>
          <p:nvPr/>
        </p:nvSpPr>
        <p:spPr bwMode="auto">
          <a:xfrm>
            <a:off x="5029200" y="269557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13" name="Oval 25"/>
          <p:cNvSpPr>
            <a:spLocks noChangeArrowheads="1"/>
          </p:cNvSpPr>
          <p:nvPr/>
        </p:nvSpPr>
        <p:spPr bwMode="auto">
          <a:xfrm>
            <a:off x="5372100" y="269557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14" name="Oval 26"/>
          <p:cNvSpPr>
            <a:spLocks noChangeArrowheads="1"/>
          </p:cNvSpPr>
          <p:nvPr/>
        </p:nvSpPr>
        <p:spPr bwMode="auto">
          <a:xfrm>
            <a:off x="4343400" y="24384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15" name="Oval 27"/>
          <p:cNvSpPr>
            <a:spLocks noChangeArrowheads="1"/>
          </p:cNvSpPr>
          <p:nvPr/>
        </p:nvSpPr>
        <p:spPr bwMode="auto">
          <a:xfrm>
            <a:off x="4686300" y="24384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16" name="Oval 28"/>
          <p:cNvSpPr>
            <a:spLocks noChangeArrowheads="1"/>
          </p:cNvSpPr>
          <p:nvPr/>
        </p:nvSpPr>
        <p:spPr bwMode="auto">
          <a:xfrm>
            <a:off x="5029200" y="24384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17" name="Oval 29"/>
          <p:cNvSpPr>
            <a:spLocks noChangeArrowheads="1"/>
          </p:cNvSpPr>
          <p:nvPr/>
        </p:nvSpPr>
        <p:spPr bwMode="auto">
          <a:xfrm>
            <a:off x="5372100" y="24384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3518" name="Text Box 30"/>
          <p:cNvSpPr txBox="1">
            <a:spLocks noChangeArrowheads="1"/>
          </p:cNvSpPr>
          <p:nvPr/>
        </p:nvSpPr>
        <p:spPr bwMode="auto">
          <a:xfrm>
            <a:off x="5918200" y="2992438"/>
            <a:ext cx="533400" cy="347662"/>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pPr>
            <a:r>
              <a:rPr lang="en-GB" sz="1800" b="1"/>
              <a:t>NB</a:t>
            </a:r>
            <a:endParaRPr lang="en-US" sz="1800" b="1"/>
          </a:p>
        </p:txBody>
      </p:sp>
      <p:sp>
        <p:nvSpPr>
          <p:cNvPr id="63519" name="Line 31"/>
          <p:cNvSpPr>
            <a:spLocks noChangeShapeType="1"/>
          </p:cNvSpPr>
          <p:nvPr/>
        </p:nvSpPr>
        <p:spPr bwMode="auto">
          <a:xfrm flipV="1">
            <a:off x="6146800" y="2535238"/>
            <a:ext cx="1588" cy="4572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3520" name="Line 32"/>
          <p:cNvSpPr>
            <a:spLocks noChangeShapeType="1"/>
          </p:cNvSpPr>
          <p:nvPr/>
        </p:nvSpPr>
        <p:spPr bwMode="auto">
          <a:xfrm>
            <a:off x="6146800" y="3373438"/>
            <a:ext cx="1588" cy="6096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3521" name="Line 33"/>
          <p:cNvSpPr>
            <a:spLocks noChangeShapeType="1"/>
          </p:cNvSpPr>
          <p:nvPr/>
        </p:nvSpPr>
        <p:spPr bwMode="auto">
          <a:xfrm>
            <a:off x="7137400" y="2420939"/>
            <a:ext cx="1588" cy="160813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3522" name="Line 34"/>
          <p:cNvSpPr>
            <a:spLocks noChangeShapeType="1"/>
          </p:cNvSpPr>
          <p:nvPr/>
        </p:nvSpPr>
        <p:spPr bwMode="auto">
          <a:xfrm>
            <a:off x="8813800" y="2420939"/>
            <a:ext cx="1588" cy="160813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3523" name="Line 35"/>
          <p:cNvSpPr>
            <a:spLocks noChangeShapeType="1"/>
          </p:cNvSpPr>
          <p:nvPr/>
        </p:nvSpPr>
        <p:spPr bwMode="auto">
          <a:xfrm>
            <a:off x="7137400" y="4021139"/>
            <a:ext cx="1676400" cy="158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3524" name="Oval 36"/>
          <p:cNvSpPr>
            <a:spLocks noChangeArrowheads="1"/>
          </p:cNvSpPr>
          <p:nvPr/>
        </p:nvSpPr>
        <p:spPr bwMode="auto">
          <a:xfrm>
            <a:off x="7315200" y="3684589"/>
            <a:ext cx="242888" cy="236537"/>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25" name="Oval 37"/>
          <p:cNvSpPr>
            <a:spLocks noChangeArrowheads="1"/>
          </p:cNvSpPr>
          <p:nvPr/>
        </p:nvSpPr>
        <p:spPr bwMode="auto">
          <a:xfrm>
            <a:off x="7658100" y="3684589"/>
            <a:ext cx="242888" cy="236537"/>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26" name="Oval 38"/>
          <p:cNvSpPr>
            <a:spLocks noChangeArrowheads="1"/>
          </p:cNvSpPr>
          <p:nvPr/>
        </p:nvSpPr>
        <p:spPr bwMode="auto">
          <a:xfrm>
            <a:off x="8001000" y="3684589"/>
            <a:ext cx="242888" cy="236537"/>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27" name="Oval 39"/>
          <p:cNvSpPr>
            <a:spLocks noChangeArrowheads="1"/>
          </p:cNvSpPr>
          <p:nvPr/>
        </p:nvSpPr>
        <p:spPr bwMode="auto">
          <a:xfrm>
            <a:off x="8343900" y="3684589"/>
            <a:ext cx="242888" cy="236537"/>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28" name="Oval 40"/>
          <p:cNvSpPr>
            <a:spLocks noChangeArrowheads="1"/>
          </p:cNvSpPr>
          <p:nvPr/>
        </p:nvSpPr>
        <p:spPr bwMode="auto">
          <a:xfrm>
            <a:off x="7315200" y="342900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29" name="Oval 41"/>
          <p:cNvSpPr>
            <a:spLocks noChangeArrowheads="1"/>
          </p:cNvSpPr>
          <p:nvPr/>
        </p:nvSpPr>
        <p:spPr bwMode="auto">
          <a:xfrm>
            <a:off x="7658100" y="342900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30" name="Oval 42"/>
          <p:cNvSpPr>
            <a:spLocks noChangeArrowheads="1"/>
          </p:cNvSpPr>
          <p:nvPr/>
        </p:nvSpPr>
        <p:spPr bwMode="auto">
          <a:xfrm>
            <a:off x="8001000" y="342900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31" name="Oval 43"/>
          <p:cNvSpPr>
            <a:spLocks noChangeArrowheads="1"/>
          </p:cNvSpPr>
          <p:nvPr/>
        </p:nvSpPr>
        <p:spPr bwMode="auto">
          <a:xfrm>
            <a:off x="8343900" y="342900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32" name="Oval 44"/>
          <p:cNvSpPr>
            <a:spLocks noChangeArrowheads="1"/>
          </p:cNvSpPr>
          <p:nvPr/>
        </p:nvSpPr>
        <p:spPr bwMode="auto">
          <a:xfrm>
            <a:off x="7315200" y="3171825"/>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33" name="Oval 45"/>
          <p:cNvSpPr>
            <a:spLocks noChangeArrowheads="1"/>
          </p:cNvSpPr>
          <p:nvPr/>
        </p:nvSpPr>
        <p:spPr bwMode="auto">
          <a:xfrm>
            <a:off x="7658100" y="3171825"/>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34" name="Oval 46"/>
          <p:cNvSpPr>
            <a:spLocks noChangeArrowheads="1"/>
          </p:cNvSpPr>
          <p:nvPr/>
        </p:nvSpPr>
        <p:spPr bwMode="auto">
          <a:xfrm>
            <a:off x="8001000" y="3171825"/>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35" name="Oval 47"/>
          <p:cNvSpPr>
            <a:spLocks noChangeArrowheads="1"/>
          </p:cNvSpPr>
          <p:nvPr/>
        </p:nvSpPr>
        <p:spPr bwMode="auto">
          <a:xfrm>
            <a:off x="8343900" y="3171825"/>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36" name="Oval 48"/>
          <p:cNvSpPr>
            <a:spLocks noChangeArrowheads="1"/>
          </p:cNvSpPr>
          <p:nvPr/>
        </p:nvSpPr>
        <p:spPr bwMode="auto">
          <a:xfrm>
            <a:off x="7315200" y="291465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37" name="Oval 49"/>
          <p:cNvSpPr>
            <a:spLocks noChangeArrowheads="1"/>
          </p:cNvSpPr>
          <p:nvPr/>
        </p:nvSpPr>
        <p:spPr bwMode="auto">
          <a:xfrm>
            <a:off x="7658100" y="291465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38" name="Oval 50"/>
          <p:cNvSpPr>
            <a:spLocks noChangeArrowheads="1"/>
          </p:cNvSpPr>
          <p:nvPr/>
        </p:nvSpPr>
        <p:spPr bwMode="auto">
          <a:xfrm>
            <a:off x="8001000" y="291465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39" name="Oval 51"/>
          <p:cNvSpPr>
            <a:spLocks noChangeArrowheads="1"/>
          </p:cNvSpPr>
          <p:nvPr/>
        </p:nvSpPr>
        <p:spPr bwMode="auto">
          <a:xfrm>
            <a:off x="8343900" y="291465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40" name="Oval 52"/>
          <p:cNvSpPr>
            <a:spLocks noChangeArrowheads="1"/>
          </p:cNvSpPr>
          <p:nvPr/>
        </p:nvSpPr>
        <p:spPr bwMode="auto">
          <a:xfrm>
            <a:off x="7315200" y="2657475"/>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41" name="Oval 53"/>
          <p:cNvSpPr>
            <a:spLocks noChangeArrowheads="1"/>
          </p:cNvSpPr>
          <p:nvPr/>
        </p:nvSpPr>
        <p:spPr bwMode="auto">
          <a:xfrm>
            <a:off x="7658100" y="2657475"/>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42" name="Oval 54"/>
          <p:cNvSpPr>
            <a:spLocks noChangeArrowheads="1"/>
          </p:cNvSpPr>
          <p:nvPr/>
        </p:nvSpPr>
        <p:spPr bwMode="auto">
          <a:xfrm>
            <a:off x="8001000" y="2657475"/>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43" name="Oval 55"/>
          <p:cNvSpPr>
            <a:spLocks noChangeArrowheads="1"/>
          </p:cNvSpPr>
          <p:nvPr/>
        </p:nvSpPr>
        <p:spPr bwMode="auto">
          <a:xfrm>
            <a:off x="8343900" y="2657475"/>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44" name="Oval 56"/>
          <p:cNvSpPr>
            <a:spLocks noChangeArrowheads="1"/>
          </p:cNvSpPr>
          <p:nvPr/>
        </p:nvSpPr>
        <p:spPr bwMode="auto">
          <a:xfrm>
            <a:off x="7315200" y="240030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45" name="Oval 57"/>
          <p:cNvSpPr>
            <a:spLocks noChangeArrowheads="1"/>
          </p:cNvSpPr>
          <p:nvPr/>
        </p:nvSpPr>
        <p:spPr bwMode="auto">
          <a:xfrm>
            <a:off x="7658100" y="240030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46" name="Oval 58"/>
          <p:cNvSpPr>
            <a:spLocks noChangeArrowheads="1"/>
          </p:cNvSpPr>
          <p:nvPr/>
        </p:nvSpPr>
        <p:spPr bwMode="auto">
          <a:xfrm>
            <a:off x="8001000" y="240030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47" name="Oval 59"/>
          <p:cNvSpPr>
            <a:spLocks noChangeArrowheads="1"/>
          </p:cNvSpPr>
          <p:nvPr/>
        </p:nvSpPr>
        <p:spPr bwMode="auto">
          <a:xfrm>
            <a:off x="8343900" y="2400300"/>
            <a:ext cx="242888" cy="236538"/>
          </a:xfrm>
          <a:prstGeom prst="ellipse">
            <a:avLst/>
          </a:prstGeom>
          <a:solidFill>
            <a:schemeClr val="tx2"/>
          </a:solidFill>
          <a:ln w="12700">
            <a:solidFill>
              <a:schemeClr val="tx1"/>
            </a:solidFill>
            <a:prstDash val="dash"/>
            <a:round/>
            <a:headEnd/>
            <a:tailEnd/>
          </a:ln>
        </p:spPr>
        <p:txBody>
          <a:bodyPr wrap="none" anchor="ctr">
            <a:prstTxWarp prst="textNoShape">
              <a:avLst/>
            </a:prstTxWarp>
          </a:bodyPr>
          <a:lstStyle/>
          <a:p>
            <a:endParaRPr lang="en-US"/>
          </a:p>
        </p:txBody>
      </p:sp>
      <p:sp>
        <p:nvSpPr>
          <p:cNvPr id="63548" name="Text Box 60"/>
          <p:cNvSpPr txBox="1">
            <a:spLocks noChangeArrowheads="1"/>
          </p:cNvSpPr>
          <p:nvPr/>
        </p:nvSpPr>
        <p:spPr bwMode="auto">
          <a:xfrm>
            <a:off x="8890000" y="2954338"/>
            <a:ext cx="520700" cy="347662"/>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pPr>
            <a:r>
              <a:rPr lang="en-GB" sz="1800" b="1"/>
              <a:t>EB</a:t>
            </a:r>
            <a:endParaRPr lang="en-US" sz="1800" b="1"/>
          </a:p>
        </p:txBody>
      </p:sp>
      <p:sp>
        <p:nvSpPr>
          <p:cNvPr id="63549" name="Line 61"/>
          <p:cNvSpPr>
            <a:spLocks noChangeShapeType="1"/>
          </p:cNvSpPr>
          <p:nvPr/>
        </p:nvSpPr>
        <p:spPr bwMode="auto">
          <a:xfrm flipV="1">
            <a:off x="9118600" y="2497138"/>
            <a:ext cx="1588" cy="4572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3550" name="Line 62"/>
          <p:cNvSpPr>
            <a:spLocks noChangeShapeType="1"/>
          </p:cNvSpPr>
          <p:nvPr/>
        </p:nvSpPr>
        <p:spPr bwMode="auto">
          <a:xfrm>
            <a:off x="9118600" y="3335338"/>
            <a:ext cx="1588" cy="6096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238655" name="Rectangle 63"/>
          <p:cNvSpPr>
            <a:spLocks noChangeAspect="1" noChangeArrowheads="1"/>
          </p:cNvSpPr>
          <p:nvPr/>
        </p:nvSpPr>
        <p:spPr bwMode="auto">
          <a:xfrm>
            <a:off x="4419600" y="4343400"/>
            <a:ext cx="4800600" cy="1981200"/>
          </a:xfrm>
          <a:prstGeom prst="rect">
            <a:avLst/>
          </a:prstGeom>
          <a:gradFill rotWithShape="1">
            <a:gsLst>
              <a:gs pos="0">
                <a:srgbClr val="EAEAEA">
                  <a:gamma/>
                  <a:tint val="40000"/>
                  <a:invGamma/>
                </a:srgbClr>
              </a:gs>
              <a:gs pos="100000">
                <a:srgbClr val="EAEAEA"/>
              </a:gs>
            </a:gsLst>
            <a:lin ang="2700000" scaled="1"/>
          </a:gradFill>
          <a:ln w="9525">
            <a:noFill/>
            <a:miter lim="800000"/>
            <a:headEnd/>
            <a:tailEnd/>
          </a:ln>
          <a:effectLst>
            <a:outerShdw dist="71842" dir="2700000" algn="ctr" rotWithShape="0">
              <a:schemeClr val="bg2">
                <a:alpha val="50000"/>
              </a:schemeClr>
            </a:outerShdw>
          </a:effectLst>
        </p:spPr>
        <p:txBody>
          <a:bodyPr lIns="73025" tIns="36512" rIns="73025" bIns="36512" anchor="ctr"/>
          <a:lstStyle/>
          <a:p>
            <a:pPr marL="228600" indent="-228600" algn="l">
              <a:lnSpc>
                <a:spcPct val="100000"/>
              </a:lnSpc>
              <a:defRPr/>
            </a:pPr>
            <a:endParaRPr lang="en-US" sz="1200" b="1">
              <a:solidFill>
                <a:schemeClr val="bg1"/>
              </a:solidFill>
              <a:latin typeface="Arial" charset="0"/>
            </a:endParaRPr>
          </a:p>
        </p:txBody>
      </p:sp>
      <p:sp>
        <p:nvSpPr>
          <p:cNvPr id="63552" name="Line 64"/>
          <p:cNvSpPr>
            <a:spLocks noChangeShapeType="1"/>
          </p:cNvSpPr>
          <p:nvPr/>
        </p:nvSpPr>
        <p:spPr bwMode="auto">
          <a:xfrm>
            <a:off x="7386638" y="4837113"/>
            <a:ext cx="825500" cy="0"/>
          </a:xfrm>
          <a:prstGeom prst="line">
            <a:avLst/>
          </a:prstGeom>
          <a:noFill/>
          <a:ln w="38100">
            <a:solidFill>
              <a:schemeClr val="tx1"/>
            </a:solidFill>
            <a:round/>
            <a:headEnd/>
            <a:tailEnd/>
          </a:ln>
        </p:spPr>
        <p:txBody>
          <a:bodyPr lIns="73025" tIns="36512" rIns="73025" bIns="36512">
            <a:prstTxWarp prst="textNoShape">
              <a:avLst/>
            </a:prstTxWarp>
          </a:bodyPr>
          <a:lstStyle/>
          <a:p>
            <a:endParaRPr lang="en-US"/>
          </a:p>
        </p:txBody>
      </p:sp>
      <p:sp>
        <p:nvSpPr>
          <p:cNvPr id="63553" name="Line 65"/>
          <p:cNvSpPr>
            <a:spLocks noChangeShapeType="1"/>
          </p:cNvSpPr>
          <p:nvPr/>
        </p:nvSpPr>
        <p:spPr bwMode="auto">
          <a:xfrm>
            <a:off x="5791200" y="5095876"/>
            <a:ext cx="0" cy="542925"/>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3554" name="Line 66"/>
          <p:cNvSpPr>
            <a:spLocks noChangeShapeType="1"/>
          </p:cNvSpPr>
          <p:nvPr/>
        </p:nvSpPr>
        <p:spPr bwMode="auto">
          <a:xfrm>
            <a:off x="7086600" y="5118100"/>
            <a:ext cx="0" cy="520700"/>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3555" name="Line 67"/>
          <p:cNvSpPr>
            <a:spLocks noChangeShapeType="1"/>
          </p:cNvSpPr>
          <p:nvPr/>
        </p:nvSpPr>
        <p:spPr bwMode="auto">
          <a:xfrm>
            <a:off x="8201026" y="4833938"/>
            <a:ext cx="11113" cy="800100"/>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238660" name="AutoShape 68"/>
          <p:cNvSpPr>
            <a:spLocks noChangeArrowheads="1"/>
          </p:cNvSpPr>
          <p:nvPr/>
        </p:nvSpPr>
        <p:spPr bwMode="auto">
          <a:xfrm>
            <a:off x="7772400" y="5638800"/>
            <a:ext cx="990600" cy="382588"/>
          </a:xfrm>
          <a:prstGeom prst="roundRect">
            <a:avLst>
              <a:gd name="adj" fmla="val 16667"/>
            </a:avLst>
          </a:prstGeom>
          <a:gradFill rotWithShape="1">
            <a:gsLst>
              <a:gs pos="0">
                <a:schemeClr val="accent2">
                  <a:gamma/>
                  <a:tint val="83922"/>
                  <a:invGamma/>
                </a:schemeClr>
              </a:gs>
              <a:gs pos="100000">
                <a:schemeClr val="accent2"/>
              </a:gs>
            </a:gsLst>
            <a:lin ang="2700000" scaled="1"/>
          </a:gradFill>
          <a:ln w="9525">
            <a:noFill/>
            <a:round/>
            <a:headEnd/>
            <a:tailEnd/>
          </a:ln>
          <a:effectLst/>
          <a:scene3d>
            <a:camera prst="legacyPerspectiveBottomRight">
              <a:rot lat="600000" lon="0" rev="0"/>
            </a:camera>
            <a:lightRig rig="legacyFlat2" dir="t"/>
          </a:scene3d>
          <a:sp3d extrusionH="125400" prstMaterial="legacyMatte">
            <a:bevelT w="13500" h="13500" prst="angle"/>
            <a:bevelB w="13500" h="13500" prst="angle"/>
            <a:extrusionClr>
              <a:schemeClr val="accent2"/>
            </a:extrusionClr>
          </a:sp3d>
        </p:spPr>
        <p:txBody>
          <a:bodyPr wrap="none" lIns="73025" tIns="36512" rIns="73025" bIns="36512" anchor="ctr">
            <a:flatTx/>
          </a:bodyPr>
          <a:lstStyle/>
          <a:p>
            <a:pPr>
              <a:lnSpc>
                <a:spcPct val="100000"/>
              </a:lnSpc>
              <a:defRPr/>
            </a:pPr>
            <a:r>
              <a:rPr lang="en-US" sz="1100" b="1">
                <a:solidFill>
                  <a:schemeClr val="bg1"/>
                </a:solidFill>
                <a:effectLst>
                  <a:outerShdw blurRad="38100" dist="38100" dir="2700000" algn="tl">
                    <a:srgbClr val="000000"/>
                  </a:outerShdw>
                </a:effectLst>
                <a:latin typeface="Arial" charset="0"/>
              </a:rPr>
              <a:t>Violate </a:t>
            </a:r>
          </a:p>
          <a:p>
            <a:pPr>
              <a:lnSpc>
                <a:spcPct val="100000"/>
              </a:lnSpc>
              <a:defRPr/>
            </a:pPr>
            <a:r>
              <a:rPr lang="en-US" sz="1100" b="1">
                <a:solidFill>
                  <a:schemeClr val="bg1"/>
                </a:solidFill>
                <a:effectLst>
                  <a:outerShdw blurRad="38100" dist="38100" dir="2700000" algn="tl">
                    <a:srgbClr val="000000"/>
                  </a:outerShdw>
                </a:effectLst>
                <a:latin typeface="Arial" charset="0"/>
              </a:rPr>
              <a:t>Action</a:t>
            </a:r>
          </a:p>
        </p:txBody>
      </p:sp>
      <p:sp>
        <p:nvSpPr>
          <p:cNvPr id="63557" name="Line 69"/>
          <p:cNvSpPr>
            <a:spLocks noChangeShapeType="1"/>
          </p:cNvSpPr>
          <p:nvPr/>
        </p:nvSpPr>
        <p:spPr bwMode="auto">
          <a:xfrm flipV="1">
            <a:off x="4914900" y="4852989"/>
            <a:ext cx="381000" cy="1587"/>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3558" name="Line 70"/>
          <p:cNvSpPr>
            <a:spLocks noChangeShapeType="1"/>
          </p:cNvSpPr>
          <p:nvPr/>
        </p:nvSpPr>
        <p:spPr bwMode="auto">
          <a:xfrm flipV="1">
            <a:off x="6210300" y="4852989"/>
            <a:ext cx="381000" cy="1587"/>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3559" name="Rectangle 71"/>
          <p:cNvSpPr>
            <a:spLocks noChangeAspect="1" noChangeArrowheads="1"/>
          </p:cNvSpPr>
          <p:nvPr/>
        </p:nvSpPr>
        <p:spPr bwMode="auto">
          <a:xfrm>
            <a:off x="6210300" y="4548189"/>
            <a:ext cx="457200" cy="258403"/>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200" b="1">
                <a:solidFill>
                  <a:srgbClr val="333333"/>
                </a:solidFill>
              </a:rPr>
              <a:t>no</a:t>
            </a:r>
          </a:p>
        </p:txBody>
      </p:sp>
      <p:sp>
        <p:nvSpPr>
          <p:cNvPr id="63560" name="AutoShape 72"/>
          <p:cNvSpPr>
            <a:spLocks noChangeAspect="1" noChangeArrowheads="1"/>
          </p:cNvSpPr>
          <p:nvPr/>
        </p:nvSpPr>
        <p:spPr bwMode="auto">
          <a:xfrm>
            <a:off x="6553201" y="4495800"/>
            <a:ext cx="981075" cy="685800"/>
          </a:xfrm>
          <a:prstGeom prst="diamond">
            <a:avLst/>
          </a:prstGeom>
          <a:solidFill>
            <a:srgbClr val="969696"/>
          </a:solidFill>
          <a:ln w="9525">
            <a:miter lim="800000"/>
            <a:headEnd/>
            <a:tailEnd/>
          </a:ln>
          <a:scene3d>
            <a:camera prst="legacyPerspectiveBottomRight">
              <a:rot lat="600000" lon="600000" rev="0"/>
            </a:camera>
            <a:lightRig rig="legacyFlat2" dir="t"/>
          </a:scene3d>
          <a:sp3d extrusionH="125400" prstMaterial="legacyMatte">
            <a:bevelT w="13500" h="13500" prst="angle"/>
            <a:bevelB w="13500" h="13500" prst="angle"/>
            <a:extrusionClr>
              <a:srgbClr val="969696"/>
            </a:extrusionClr>
          </a:sp3d>
        </p:spPr>
        <p:txBody>
          <a:bodyPr lIns="73025" tIns="36512" rIns="73025" bIns="36512" anchor="ctr">
            <a:prstTxWarp prst="textNoShape">
              <a:avLst/>
            </a:prstTxWarp>
            <a:flatTx/>
          </a:bodyPr>
          <a:lstStyle/>
          <a:p>
            <a:pPr>
              <a:lnSpc>
                <a:spcPct val="100000"/>
              </a:lnSpc>
            </a:pPr>
            <a:endParaRPr lang="en-US" sz="1100" b="1"/>
          </a:p>
        </p:txBody>
      </p:sp>
      <p:sp>
        <p:nvSpPr>
          <p:cNvPr id="238665" name="Rectangle 73"/>
          <p:cNvSpPr>
            <a:spLocks noChangeAspect="1" noChangeArrowheads="1"/>
          </p:cNvSpPr>
          <p:nvPr/>
        </p:nvSpPr>
        <p:spPr bwMode="auto">
          <a:xfrm>
            <a:off x="6629400" y="4670426"/>
            <a:ext cx="871538" cy="409575"/>
          </a:xfrm>
          <a:prstGeom prst="rect">
            <a:avLst/>
          </a:prstGeom>
          <a:noFill/>
          <a:ln w="9525">
            <a:noFill/>
            <a:miter lim="800000"/>
            <a:headEnd/>
            <a:tailEnd/>
          </a:ln>
          <a:effectLst>
            <a:outerShdw dist="17961" dir="2700000" algn="ctr" rotWithShape="0">
              <a:schemeClr val="bg2"/>
            </a:outerShdw>
          </a:effectLst>
        </p:spPr>
        <p:txBody>
          <a:bodyPr lIns="73025" tIns="36512" rIns="73025" bIns="36512">
            <a:spAutoFit/>
          </a:bodyPr>
          <a:lstStyle/>
          <a:p>
            <a:pPr>
              <a:lnSpc>
                <a:spcPct val="100000"/>
              </a:lnSpc>
              <a:defRPr/>
            </a:pPr>
            <a:r>
              <a:rPr lang="en-US" sz="1100" b="1">
                <a:solidFill>
                  <a:schemeClr val="bg1"/>
                </a:solidFill>
                <a:latin typeface="Arial" charset="0"/>
              </a:rPr>
              <a:t>B tokens in E?</a:t>
            </a:r>
          </a:p>
        </p:txBody>
      </p:sp>
      <p:sp>
        <p:nvSpPr>
          <p:cNvPr id="63562" name="AutoShape 74"/>
          <p:cNvSpPr>
            <a:spLocks noChangeAspect="1" noChangeArrowheads="1"/>
          </p:cNvSpPr>
          <p:nvPr/>
        </p:nvSpPr>
        <p:spPr bwMode="auto">
          <a:xfrm>
            <a:off x="5268914" y="4495800"/>
            <a:ext cx="981075" cy="685800"/>
          </a:xfrm>
          <a:prstGeom prst="diamond">
            <a:avLst/>
          </a:prstGeom>
          <a:solidFill>
            <a:srgbClr val="969696"/>
          </a:solidFill>
          <a:ln w="9525">
            <a:miter lim="800000"/>
            <a:headEnd/>
            <a:tailEnd/>
          </a:ln>
          <a:scene3d>
            <a:camera prst="legacyPerspectiveBottomRight">
              <a:rot lat="600000" lon="600000" rev="0"/>
            </a:camera>
            <a:lightRig rig="legacyFlat2" dir="t"/>
          </a:scene3d>
          <a:sp3d extrusionH="125400" prstMaterial="legacyMatte">
            <a:bevelT w="13500" h="13500" prst="angle"/>
            <a:bevelB w="13500" h="13500" prst="angle"/>
            <a:extrusionClr>
              <a:srgbClr val="969696"/>
            </a:extrusionClr>
          </a:sp3d>
        </p:spPr>
        <p:txBody>
          <a:bodyPr lIns="73025" tIns="36512" rIns="73025" bIns="36512" anchor="ctr">
            <a:prstTxWarp prst="textNoShape">
              <a:avLst/>
            </a:prstTxWarp>
            <a:flatTx/>
          </a:bodyPr>
          <a:lstStyle/>
          <a:p>
            <a:pPr>
              <a:lnSpc>
                <a:spcPct val="100000"/>
              </a:lnSpc>
            </a:pPr>
            <a:endParaRPr lang="en-US" sz="1100" b="1"/>
          </a:p>
        </p:txBody>
      </p:sp>
      <p:sp>
        <p:nvSpPr>
          <p:cNvPr id="63563" name="Rectangle 75"/>
          <p:cNvSpPr>
            <a:spLocks noChangeAspect="1" noChangeArrowheads="1"/>
          </p:cNvSpPr>
          <p:nvPr/>
        </p:nvSpPr>
        <p:spPr bwMode="auto">
          <a:xfrm>
            <a:off x="7820025" y="4540251"/>
            <a:ext cx="457200" cy="258403"/>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200" b="1">
                <a:solidFill>
                  <a:srgbClr val="333333"/>
                </a:solidFill>
              </a:rPr>
              <a:t>no</a:t>
            </a:r>
          </a:p>
        </p:txBody>
      </p:sp>
      <p:sp>
        <p:nvSpPr>
          <p:cNvPr id="63564" name="Rectangle 76"/>
          <p:cNvSpPr>
            <a:spLocks noChangeAspect="1" noChangeArrowheads="1"/>
          </p:cNvSpPr>
          <p:nvPr/>
        </p:nvSpPr>
        <p:spPr bwMode="auto">
          <a:xfrm>
            <a:off x="5257800" y="5159376"/>
            <a:ext cx="533400" cy="258403"/>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200" b="1">
                <a:solidFill>
                  <a:srgbClr val="333333"/>
                </a:solidFill>
              </a:rPr>
              <a:t>yes*</a:t>
            </a:r>
          </a:p>
        </p:txBody>
      </p:sp>
      <p:sp>
        <p:nvSpPr>
          <p:cNvPr id="238669" name="AutoShape 77"/>
          <p:cNvSpPr>
            <a:spLocks noChangeArrowheads="1"/>
          </p:cNvSpPr>
          <p:nvPr/>
        </p:nvSpPr>
        <p:spPr bwMode="auto">
          <a:xfrm>
            <a:off x="6553200" y="5638800"/>
            <a:ext cx="990600" cy="382588"/>
          </a:xfrm>
          <a:prstGeom prst="roundRect">
            <a:avLst>
              <a:gd name="adj" fmla="val 16667"/>
            </a:avLst>
          </a:prstGeom>
          <a:gradFill rotWithShape="1">
            <a:gsLst>
              <a:gs pos="0">
                <a:schemeClr val="hlink">
                  <a:gamma/>
                  <a:tint val="93725"/>
                  <a:invGamma/>
                </a:schemeClr>
              </a:gs>
              <a:gs pos="100000">
                <a:schemeClr val="hlink"/>
              </a:gs>
            </a:gsLst>
            <a:lin ang="2700000" scaled="1"/>
          </a:gradFill>
          <a:ln w="9525">
            <a:noFill/>
            <a:round/>
            <a:headEnd/>
            <a:tailEnd/>
          </a:ln>
          <a:effectLst/>
          <a:scene3d>
            <a:camera prst="legacyPerspectiveBottomRight">
              <a:rot lat="600000" lon="0" rev="0"/>
            </a:camera>
            <a:lightRig rig="legacyFlat2" dir="t"/>
          </a:scene3d>
          <a:sp3d extrusionH="125400" prstMaterial="legacyMatte">
            <a:bevelT w="13500" h="13500" prst="angle"/>
            <a:bevelB w="13500" h="13500" prst="angle"/>
            <a:extrusionClr>
              <a:schemeClr val="hlink"/>
            </a:extrusionClr>
          </a:sp3d>
        </p:spPr>
        <p:txBody>
          <a:bodyPr wrap="none" lIns="73025" tIns="36512" rIns="73025" bIns="36512" anchor="ctr">
            <a:flatTx/>
          </a:bodyPr>
          <a:lstStyle/>
          <a:p>
            <a:pPr>
              <a:lnSpc>
                <a:spcPct val="100000"/>
              </a:lnSpc>
              <a:defRPr/>
            </a:pPr>
            <a:r>
              <a:rPr lang="en-US" sz="1100" b="1">
                <a:solidFill>
                  <a:schemeClr val="bg1"/>
                </a:solidFill>
                <a:effectLst>
                  <a:outerShdw blurRad="38100" dist="38100" dir="2700000" algn="tl">
                    <a:srgbClr val="000000"/>
                  </a:outerShdw>
                </a:effectLst>
                <a:latin typeface="Arial" charset="0"/>
              </a:rPr>
              <a:t>Exceed </a:t>
            </a:r>
          </a:p>
          <a:p>
            <a:pPr>
              <a:lnSpc>
                <a:spcPct val="100000"/>
              </a:lnSpc>
              <a:defRPr/>
            </a:pPr>
            <a:r>
              <a:rPr lang="en-US" sz="1100" b="1">
                <a:solidFill>
                  <a:schemeClr val="bg1"/>
                </a:solidFill>
                <a:effectLst>
                  <a:outerShdw blurRad="38100" dist="38100" dir="2700000" algn="tl">
                    <a:srgbClr val="000000"/>
                  </a:outerShdw>
                </a:effectLst>
                <a:latin typeface="Arial" charset="0"/>
              </a:rPr>
              <a:t>Action</a:t>
            </a:r>
          </a:p>
        </p:txBody>
      </p:sp>
      <p:sp>
        <p:nvSpPr>
          <p:cNvPr id="63566" name="Rectangle 78"/>
          <p:cNvSpPr>
            <a:spLocks noChangeAspect="1" noChangeArrowheads="1"/>
          </p:cNvSpPr>
          <p:nvPr/>
        </p:nvSpPr>
        <p:spPr bwMode="auto">
          <a:xfrm>
            <a:off x="6553200" y="5168901"/>
            <a:ext cx="533400" cy="258403"/>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200" b="1">
                <a:solidFill>
                  <a:srgbClr val="333333"/>
                </a:solidFill>
              </a:rPr>
              <a:t>yes*</a:t>
            </a:r>
          </a:p>
        </p:txBody>
      </p:sp>
      <p:sp>
        <p:nvSpPr>
          <p:cNvPr id="238671" name="AutoShape 79"/>
          <p:cNvSpPr>
            <a:spLocks noChangeArrowheads="1"/>
          </p:cNvSpPr>
          <p:nvPr/>
        </p:nvSpPr>
        <p:spPr bwMode="auto">
          <a:xfrm>
            <a:off x="5334000" y="5638800"/>
            <a:ext cx="990600" cy="382588"/>
          </a:xfrm>
          <a:prstGeom prst="roundRect">
            <a:avLst>
              <a:gd name="adj" fmla="val 16667"/>
            </a:avLst>
          </a:prstGeom>
          <a:gradFill rotWithShape="1">
            <a:gsLst>
              <a:gs pos="0">
                <a:srgbClr val="339966">
                  <a:gamma/>
                  <a:tint val="89804"/>
                  <a:invGamma/>
                </a:srgbClr>
              </a:gs>
              <a:gs pos="100000">
                <a:srgbClr val="339966"/>
              </a:gs>
            </a:gsLst>
            <a:lin ang="2700000" scaled="1"/>
          </a:gradFill>
          <a:ln w="9525">
            <a:noFill/>
            <a:round/>
            <a:headEnd/>
            <a:tailEnd/>
          </a:ln>
          <a:effectLst/>
          <a:scene3d>
            <a:camera prst="legacyPerspectiveBottomRight">
              <a:rot lat="600000" lon="0" rev="0"/>
            </a:camera>
            <a:lightRig rig="legacyFlat2" dir="t"/>
          </a:scene3d>
          <a:sp3d extrusionH="125400" prstMaterial="legacyMatte">
            <a:bevelT w="13500" h="13500" prst="angle"/>
            <a:bevelB w="13500" h="13500" prst="angle"/>
            <a:extrusionClr>
              <a:srgbClr val="339966"/>
            </a:extrusionClr>
          </a:sp3d>
        </p:spPr>
        <p:txBody>
          <a:bodyPr wrap="none" lIns="73025" tIns="36512" rIns="73025" bIns="36512" anchor="ctr">
            <a:flatTx/>
          </a:bodyPr>
          <a:lstStyle/>
          <a:p>
            <a:pPr>
              <a:lnSpc>
                <a:spcPct val="100000"/>
              </a:lnSpc>
              <a:defRPr/>
            </a:pPr>
            <a:r>
              <a:rPr lang="en-US" sz="1100" b="1">
                <a:solidFill>
                  <a:schemeClr val="bg1"/>
                </a:solidFill>
                <a:effectLst>
                  <a:outerShdw blurRad="38100" dist="38100" dir="2700000" algn="tl">
                    <a:srgbClr val="000000"/>
                  </a:outerShdw>
                </a:effectLst>
                <a:latin typeface="Arial" charset="0"/>
              </a:rPr>
              <a:t>Conform </a:t>
            </a:r>
          </a:p>
          <a:p>
            <a:pPr>
              <a:lnSpc>
                <a:spcPct val="100000"/>
              </a:lnSpc>
              <a:defRPr/>
            </a:pPr>
            <a:r>
              <a:rPr lang="en-US" sz="1100" b="1">
                <a:solidFill>
                  <a:schemeClr val="bg1"/>
                </a:solidFill>
                <a:effectLst>
                  <a:outerShdw blurRad="38100" dist="38100" dir="2700000" algn="tl">
                    <a:srgbClr val="000000"/>
                  </a:outerShdw>
                </a:effectLst>
                <a:latin typeface="Arial" charset="0"/>
              </a:rPr>
              <a:t>Action</a:t>
            </a:r>
          </a:p>
        </p:txBody>
      </p:sp>
      <p:sp>
        <p:nvSpPr>
          <p:cNvPr id="63568" name="Rectangle 80"/>
          <p:cNvSpPr>
            <a:spLocks noChangeAspect="1" noChangeArrowheads="1"/>
          </p:cNvSpPr>
          <p:nvPr/>
        </p:nvSpPr>
        <p:spPr bwMode="auto">
          <a:xfrm>
            <a:off x="4394200" y="4441826"/>
            <a:ext cx="685800" cy="812401"/>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200" b="1">
                <a:solidFill>
                  <a:srgbClr val="333333"/>
                </a:solidFill>
              </a:rPr>
              <a:t>Packet of B bytes arrives</a:t>
            </a:r>
          </a:p>
        </p:txBody>
      </p:sp>
      <p:sp>
        <p:nvSpPr>
          <p:cNvPr id="238673" name="Rectangle 81"/>
          <p:cNvSpPr>
            <a:spLocks noChangeAspect="1" noChangeArrowheads="1"/>
          </p:cNvSpPr>
          <p:nvPr/>
        </p:nvSpPr>
        <p:spPr bwMode="auto">
          <a:xfrm>
            <a:off x="5334000" y="4657726"/>
            <a:ext cx="871538" cy="409575"/>
          </a:xfrm>
          <a:prstGeom prst="rect">
            <a:avLst/>
          </a:prstGeom>
          <a:noFill/>
          <a:ln w="9525">
            <a:noFill/>
            <a:miter lim="800000"/>
            <a:headEnd/>
            <a:tailEnd/>
          </a:ln>
          <a:effectLst>
            <a:outerShdw dist="17961" dir="2700000" algn="ctr" rotWithShape="0">
              <a:schemeClr val="bg2"/>
            </a:outerShdw>
          </a:effectLst>
        </p:spPr>
        <p:txBody>
          <a:bodyPr lIns="73025" tIns="36512" rIns="73025" bIns="36512">
            <a:spAutoFit/>
          </a:bodyPr>
          <a:lstStyle/>
          <a:p>
            <a:pPr>
              <a:lnSpc>
                <a:spcPct val="100000"/>
              </a:lnSpc>
              <a:defRPr/>
            </a:pPr>
            <a:r>
              <a:rPr lang="en-US" sz="1100" b="1">
                <a:solidFill>
                  <a:schemeClr val="bg1"/>
                </a:solidFill>
                <a:latin typeface="Arial" charset="0"/>
              </a:rPr>
              <a:t>B tokens in C?</a:t>
            </a:r>
          </a:p>
        </p:txBody>
      </p:sp>
      <p:sp>
        <p:nvSpPr>
          <p:cNvPr id="63570" name="Rectangle 82"/>
          <p:cNvSpPr>
            <a:spLocks noChangeAspect="1" noChangeArrowheads="1"/>
          </p:cNvSpPr>
          <p:nvPr/>
        </p:nvSpPr>
        <p:spPr bwMode="auto">
          <a:xfrm>
            <a:off x="4427538" y="6073775"/>
            <a:ext cx="2006600" cy="241300"/>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100" b="1">
                <a:solidFill>
                  <a:srgbClr val="333333"/>
                </a:solidFill>
              </a:rPr>
              <a:t>* Token count decremented</a:t>
            </a:r>
          </a:p>
        </p:txBody>
      </p:sp>
      <p:sp>
        <p:nvSpPr>
          <p:cNvPr id="63571" name="Freeform 83"/>
          <p:cNvSpPr>
            <a:spLocks/>
          </p:cNvSpPr>
          <p:nvPr/>
        </p:nvSpPr>
        <p:spPr bwMode="auto">
          <a:xfrm>
            <a:off x="5410200" y="1524000"/>
            <a:ext cx="1828800" cy="762000"/>
          </a:xfrm>
          <a:custGeom>
            <a:avLst/>
            <a:gdLst>
              <a:gd name="T0" fmla="*/ 0 w 1440"/>
              <a:gd name="T1" fmla="*/ 344 h 344"/>
              <a:gd name="T2" fmla="*/ 768 w 1440"/>
              <a:gd name="T3" fmla="*/ 8 h 344"/>
              <a:gd name="T4" fmla="*/ 1440 w 1440"/>
              <a:gd name="T5" fmla="*/ 296 h 344"/>
              <a:gd name="T6" fmla="*/ 0 60000 65536"/>
              <a:gd name="T7" fmla="*/ 0 60000 65536"/>
              <a:gd name="T8" fmla="*/ 0 60000 65536"/>
              <a:gd name="T9" fmla="*/ 0 w 1440"/>
              <a:gd name="T10" fmla="*/ 0 h 344"/>
              <a:gd name="T11" fmla="*/ 1440 w 1440"/>
              <a:gd name="T12" fmla="*/ 344 h 344"/>
            </a:gdLst>
            <a:ahLst/>
            <a:cxnLst>
              <a:cxn ang="T6">
                <a:pos x="T0" y="T1"/>
              </a:cxn>
              <a:cxn ang="T7">
                <a:pos x="T2" y="T3"/>
              </a:cxn>
              <a:cxn ang="T8">
                <a:pos x="T4" y="T5"/>
              </a:cxn>
            </a:cxnLst>
            <a:rect l="T9" t="T10" r="T11" b="T12"/>
            <a:pathLst>
              <a:path w="1440" h="344">
                <a:moveTo>
                  <a:pt x="0" y="344"/>
                </a:moveTo>
                <a:cubicBezTo>
                  <a:pt x="264" y="180"/>
                  <a:pt x="528" y="16"/>
                  <a:pt x="768" y="8"/>
                </a:cubicBezTo>
                <a:cubicBezTo>
                  <a:pt x="1008" y="0"/>
                  <a:pt x="1328" y="248"/>
                  <a:pt x="1440" y="296"/>
                </a:cubicBezTo>
              </a:path>
            </a:pathLst>
          </a:custGeom>
          <a:noFill/>
          <a:ln w="15875">
            <a:solidFill>
              <a:schemeClr val="tx1"/>
            </a:solidFill>
            <a:prstDash val="dash"/>
            <a:round/>
            <a:headEnd/>
            <a:tailEnd type="triangle" w="med" len="med"/>
          </a:ln>
        </p:spPr>
        <p:txBody>
          <a:bodyPr lIns="73025" tIns="36512" rIns="73025" bIns="36512">
            <a:prstTxWarp prst="textNoShape">
              <a:avLst/>
            </a:prstTxWarp>
          </a:bodyPr>
          <a:lstStyle/>
          <a:p>
            <a:endParaRPr lang="en-US"/>
          </a:p>
        </p:txBody>
      </p:sp>
      <p:sp>
        <p:nvSpPr>
          <p:cNvPr id="238676" name="Text Box 84"/>
          <p:cNvSpPr txBox="1">
            <a:spLocks noChangeArrowheads="1"/>
          </p:cNvSpPr>
          <p:nvPr/>
        </p:nvSpPr>
        <p:spPr bwMode="auto">
          <a:xfrm>
            <a:off x="7353300" y="1651001"/>
            <a:ext cx="1911350" cy="377825"/>
          </a:xfrm>
          <a:prstGeom prst="rect">
            <a:avLst/>
          </a:prstGeom>
          <a:solidFill>
            <a:schemeClr val="accent2"/>
          </a:solidFill>
          <a:ln w="9525">
            <a:noFill/>
            <a:miter lim="800000"/>
            <a:headEnd/>
            <a:tailEnd/>
          </a:ln>
          <a:effectLst>
            <a:outerShdw dist="107763" dir="2700000" algn="ctr" rotWithShape="0">
              <a:schemeClr val="bg2">
                <a:alpha val="50000"/>
              </a:schemeClr>
            </a:outerShdw>
          </a:effectLst>
        </p:spPr>
        <p:txBody>
          <a:bodyPr wrap="none" lIns="73025" tIns="36512" rIns="73025" bIns="36512">
            <a:prstTxWarp prst="textNoShape">
              <a:avLst/>
            </a:prstTxWarp>
            <a:spAutoFit/>
          </a:bodyPr>
          <a:lstStyle/>
          <a:p>
            <a:pPr algn="l">
              <a:lnSpc>
                <a:spcPct val="100000"/>
              </a:lnSpc>
            </a:pPr>
            <a:r>
              <a:rPr lang="en-GB" sz="2000" b="1">
                <a:solidFill>
                  <a:schemeClr val="bg1"/>
                </a:solidFill>
              </a:rPr>
              <a:t>Excess tokens</a:t>
            </a:r>
            <a:endParaRPr lang="en-US" sz="2000" b="1">
              <a:solidFill>
                <a:schemeClr val="bg1"/>
              </a:solidFill>
            </a:endParaRPr>
          </a:p>
        </p:txBody>
      </p:sp>
      <p:sp>
        <p:nvSpPr>
          <p:cNvPr id="63573" name="Freeform 85"/>
          <p:cNvSpPr>
            <a:spLocks/>
          </p:cNvSpPr>
          <p:nvPr/>
        </p:nvSpPr>
        <p:spPr bwMode="auto">
          <a:xfrm>
            <a:off x="3352800" y="1676400"/>
            <a:ext cx="1295400" cy="609600"/>
          </a:xfrm>
          <a:custGeom>
            <a:avLst/>
            <a:gdLst>
              <a:gd name="T0" fmla="*/ 0 w 720"/>
              <a:gd name="T1" fmla="*/ 136 h 376"/>
              <a:gd name="T2" fmla="*/ 528 w 720"/>
              <a:gd name="T3" fmla="*/ 40 h 376"/>
              <a:gd name="T4" fmla="*/ 720 w 720"/>
              <a:gd name="T5" fmla="*/ 376 h 376"/>
              <a:gd name="T6" fmla="*/ 0 60000 65536"/>
              <a:gd name="T7" fmla="*/ 0 60000 65536"/>
              <a:gd name="T8" fmla="*/ 0 60000 65536"/>
              <a:gd name="T9" fmla="*/ 0 w 720"/>
              <a:gd name="T10" fmla="*/ 0 h 376"/>
              <a:gd name="T11" fmla="*/ 720 w 720"/>
              <a:gd name="T12" fmla="*/ 376 h 376"/>
            </a:gdLst>
            <a:ahLst/>
            <a:cxnLst>
              <a:cxn ang="T6">
                <a:pos x="T0" y="T1"/>
              </a:cxn>
              <a:cxn ang="T7">
                <a:pos x="T2" y="T3"/>
              </a:cxn>
              <a:cxn ang="T8">
                <a:pos x="T4" y="T5"/>
              </a:cxn>
            </a:cxnLst>
            <a:rect l="T9" t="T10" r="T11" b="T12"/>
            <a:pathLst>
              <a:path w="720" h="376">
                <a:moveTo>
                  <a:pt x="0" y="136"/>
                </a:moveTo>
                <a:cubicBezTo>
                  <a:pt x="204" y="68"/>
                  <a:pt x="408" y="0"/>
                  <a:pt x="528" y="40"/>
                </a:cubicBezTo>
                <a:cubicBezTo>
                  <a:pt x="648" y="80"/>
                  <a:pt x="684" y="228"/>
                  <a:pt x="720" y="376"/>
                </a:cubicBezTo>
              </a:path>
            </a:pathLst>
          </a:custGeom>
          <a:noFill/>
          <a:ln w="1587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238678" name="Text Box 86"/>
          <p:cNvSpPr txBox="1">
            <a:spLocks noChangeArrowheads="1"/>
          </p:cNvSpPr>
          <p:nvPr/>
        </p:nvSpPr>
        <p:spPr bwMode="auto">
          <a:xfrm>
            <a:off x="1752600" y="2057401"/>
            <a:ext cx="1905000" cy="987425"/>
          </a:xfrm>
          <a:prstGeom prst="rect">
            <a:avLst/>
          </a:prstGeom>
          <a:solidFill>
            <a:schemeClr val="accent2"/>
          </a:solidFill>
          <a:ln w="9525">
            <a:noFill/>
            <a:miter lim="800000"/>
            <a:headEnd/>
            <a:tailEnd/>
          </a:ln>
          <a:effectLst>
            <a:outerShdw dist="107763" dir="2700000" algn="ctr" rotWithShape="0">
              <a:schemeClr val="bg2">
                <a:alpha val="50000"/>
              </a:schemeClr>
            </a:outerShdw>
          </a:effectLst>
        </p:spPr>
        <p:txBody>
          <a:bodyPr lIns="73025" tIns="36512" rIns="73025" bIns="36512">
            <a:prstTxWarp prst="textNoShape">
              <a:avLst/>
            </a:prstTxWarp>
            <a:spAutoFit/>
          </a:bodyPr>
          <a:lstStyle/>
          <a:p>
            <a:pPr algn="l">
              <a:lnSpc>
                <a:spcPct val="100000"/>
              </a:lnSpc>
            </a:pPr>
            <a:r>
              <a:rPr lang="en-GB" sz="2000" b="1">
                <a:solidFill>
                  <a:schemeClr val="bg1"/>
                </a:solidFill>
              </a:rPr>
              <a:t>Tokens added</a:t>
            </a:r>
          </a:p>
          <a:p>
            <a:pPr algn="l">
              <a:lnSpc>
                <a:spcPct val="100000"/>
              </a:lnSpc>
            </a:pPr>
            <a:r>
              <a:rPr lang="en-GB" sz="2000" b="1">
                <a:solidFill>
                  <a:schemeClr val="bg1"/>
                </a:solidFill>
              </a:rPr>
              <a:t>at every new </a:t>
            </a:r>
          </a:p>
          <a:p>
            <a:pPr algn="l">
              <a:lnSpc>
                <a:spcPct val="100000"/>
              </a:lnSpc>
            </a:pPr>
            <a:r>
              <a:rPr lang="en-GB" sz="2000" b="1">
                <a:solidFill>
                  <a:schemeClr val="bg1"/>
                </a:solidFill>
              </a:rPr>
              <a:t>packet arrival</a:t>
            </a:r>
            <a:endParaRPr lang="en-US" sz="2000" b="1">
              <a:solidFill>
                <a:schemeClr val="bg1"/>
              </a:solidFill>
            </a:endParaRPr>
          </a:p>
        </p:txBody>
      </p:sp>
      <p:sp>
        <p:nvSpPr>
          <p:cNvPr id="238679" name="Text Box 87"/>
          <p:cNvSpPr txBox="1">
            <a:spLocks noChangeArrowheads="1"/>
          </p:cNvSpPr>
          <p:nvPr/>
        </p:nvSpPr>
        <p:spPr bwMode="auto">
          <a:xfrm>
            <a:off x="1981200" y="4876801"/>
            <a:ext cx="1981200" cy="987425"/>
          </a:xfrm>
          <a:prstGeom prst="rect">
            <a:avLst/>
          </a:prstGeom>
          <a:solidFill>
            <a:schemeClr val="accent2"/>
          </a:solidFill>
          <a:ln w="9525">
            <a:noFill/>
            <a:miter lim="800000"/>
            <a:headEnd/>
            <a:tailEnd/>
          </a:ln>
          <a:effectLst>
            <a:outerShdw dist="107763" dir="2700000" algn="ctr" rotWithShape="0">
              <a:schemeClr val="bg2">
                <a:alpha val="50000"/>
              </a:schemeClr>
            </a:outerShdw>
          </a:effectLst>
        </p:spPr>
        <p:txBody>
          <a:bodyPr lIns="73025" tIns="36512" rIns="73025" bIns="36512">
            <a:prstTxWarp prst="textNoShape">
              <a:avLst/>
            </a:prstTxWarp>
            <a:spAutoFit/>
          </a:bodyPr>
          <a:lstStyle/>
          <a:p>
            <a:pPr algn="l">
              <a:lnSpc>
                <a:spcPct val="100000"/>
              </a:lnSpc>
            </a:pPr>
            <a:r>
              <a:rPr lang="en-GB" sz="2000" b="1">
                <a:solidFill>
                  <a:schemeClr val="bg1"/>
                </a:solidFill>
              </a:rPr>
              <a:t>NB and EB are configured</a:t>
            </a:r>
          </a:p>
          <a:p>
            <a:pPr algn="l">
              <a:lnSpc>
                <a:spcPct val="100000"/>
              </a:lnSpc>
            </a:pPr>
            <a:r>
              <a:rPr lang="en-GB" sz="2000" b="1">
                <a:solidFill>
                  <a:schemeClr val="bg1"/>
                </a:solidFill>
              </a:rPr>
              <a:t>independently</a:t>
            </a:r>
            <a:endParaRPr lang="en-US" sz="2000" b="1">
              <a:solidFill>
                <a:schemeClr val="bg1"/>
              </a:solidFill>
            </a:endParaRPr>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solidFill>
                  <a:schemeClr val="accent2"/>
                </a:solidFill>
              </a:rPr>
              <a:t>Class-Based Policing: Options</a:t>
            </a:r>
          </a:p>
        </p:txBody>
      </p:sp>
      <p:sp>
        <p:nvSpPr>
          <p:cNvPr id="64515" name="Rectangle 3"/>
          <p:cNvSpPr>
            <a:spLocks noGrp="1" noChangeArrowheads="1"/>
          </p:cNvSpPr>
          <p:nvPr>
            <p:ph idx="1"/>
          </p:nvPr>
        </p:nvSpPr>
        <p:spPr>
          <a:xfrm>
            <a:off x="2063751" y="1557338"/>
            <a:ext cx="7940675" cy="4608512"/>
          </a:xfrm>
        </p:spPr>
        <p:txBody>
          <a:bodyPr/>
          <a:lstStyle/>
          <a:p>
            <a:pPr marL="457200" indent="-457200">
              <a:buNone/>
            </a:pPr>
            <a:r>
              <a:rPr lang="en-US"/>
              <a:t>3. </a:t>
            </a:r>
            <a:r>
              <a:rPr lang="en-US">
                <a:solidFill>
                  <a:schemeClr val="accent2"/>
                </a:solidFill>
              </a:rPr>
              <a:t>Dual</a:t>
            </a:r>
            <a:r>
              <a:rPr lang="en-US"/>
              <a:t> rate, dual bucket, three-colo</a:t>
            </a:r>
            <a:r>
              <a:rPr lang="en-US">
                <a:solidFill>
                  <a:schemeClr val="accent2"/>
                </a:solidFill>
              </a:rPr>
              <a:t>r</a:t>
            </a:r>
            <a:r>
              <a:rPr lang="en-US"/>
              <a:t> marker</a:t>
            </a:r>
          </a:p>
          <a:p>
            <a:pPr marL="955675" lvl="1" indent="-381000"/>
            <a:r>
              <a:rPr lang="en-US"/>
              <a:t>Similar as before except the excess  bucket is also filled, using another rate (PIR)</a:t>
            </a:r>
          </a:p>
          <a:p>
            <a:pPr marL="955675" lvl="1" indent="-381000"/>
            <a:endParaRPr lang="en-US"/>
          </a:p>
          <a:p>
            <a:pPr marL="955675" lvl="1" indent="-381000"/>
            <a:endParaRPr lang="en-US"/>
          </a:p>
          <a:p>
            <a:pPr marL="955675" lvl="1" indent="-381000"/>
            <a:endParaRPr lang="en-US"/>
          </a:p>
          <a:p>
            <a:pPr marL="955675" lvl="1" indent="-381000"/>
            <a:endParaRPr lang="en-US"/>
          </a:p>
          <a:p>
            <a:pPr marL="955675" lvl="1" indent="-381000"/>
            <a:r>
              <a:rPr lang="en-US"/>
              <a:t>If the excess bucket isn’t big enough, packet </a:t>
            </a:r>
            <a:r>
              <a:rPr lang="en-US" i="1">
                <a:solidFill>
                  <a:schemeClr val="folHlink"/>
                </a:solidFill>
              </a:rPr>
              <a:t>violates</a:t>
            </a:r>
            <a:r>
              <a:rPr lang="en-US"/>
              <a:t>.  If it’s big enough but the normal bucket is not, packet </a:t>
            </a:r>
            <a:r>
              <a:rPr lang="en-US" i="1">
                <a:solidFill>
                  <a:schemeClr val="folHlink"/>
                </a:solidFill>
              </a:rPr>
              <a:t>exceeds</a:t>
            </a:r>
            <a:r>
              <a:rPr lang="en-US"/>
              <a:t> (excess bucket is decremented), if normal bucket is big enough, packet </a:t>
            </a:r>
            <a:r>
              <a:rPr lang="en-US" i="1">
                <a:solidFill>
                  <a:schemeClr val="folHlink"/>
                </a:solidFill>
              </a:rPr>
              <a:t>conforms</a:t>
            </a:r>
            <a:r>
              <a:rPr lang="en-US"/>
              <a:t> and BOTH buckets are decremented.</a:t>
            </a:r>
          </a:p>
          <a:p>
            <a:pPr marL="955675" lvl="1" indent="-381000"/>
            <a:endParaRPr lang="en-US"/>
          </a:p>
          <a:p>
            <a:pPr marL="955675" lvl="1" indent="-381000"/>
            <a:endParaRPr lang="en-US"/>
          </a:p>
          <a:p>
            <a:pPr marL="955675" lvl="1" indent="-381000"/>
            <a:endParaRPr lang="en-US" sz="1200"/>
          </a:p>
        </p:txBody>
      </p:sp>
      <p:sp>
        <p:nvSpPr>
          <p:cNvPr id="242692" name="Text Box 4"/>
          <p:cNvSpPr txBox="1">
            <a:spLocks noChangeArrowheads="1"/>
          </p:cNvSpPr>
          <p:nvPr/>
        </p:nvSpPr>
        <p:spPr bwMode="auto">
          <a:xfrm>
            <a:off x="2046288" y="2852739"/>
            <a:ext cx="8153400" cy="812401"/>
          </a:xfrm>
          <a:prstGeom prst="rect">
            <a:avLst/>
          </a:prstGeom>
          <a:solidFill>
            <a:schemeClr val="accent2"/>
          </a:solidFill>
          <a:ln w="9525">
            <a:noFill/>
            <a:miter lim="800000"/>
            <a:headEnd/>
            <a:tailEnd/>
          </a:ln>
          <a:effectLst>
            <a:outerShdw dist="107763" dir="2700000" algn="ctr" rotWithShape="0">
              <a:schemeClr val="bg2">
                <a:alpha val="50000"/>
              </a:schemeClr>
            </a:outerShdw>
          </a:effectLst>
        </p:spPr>
        <p:txBody>
          <a:bodyPr lIns="73025" tIns="36512" rIns="73025" bIns="36512">
            <a:spAutoFit/>
          </a:bodyPr>
          <a:lstStyle/>
          <a:p>
            <a:pPr algn="l">
              <a:lnSpc>
                <a:spcPct val="100000"/>
              </a:lnSpc>
              <a:defRPr/>
            </a:pPr>
            <a:r>
              <a:rPr lang="en-US" b="1">
                <a:solidFill>
                  <a:schemeClr val="bg1"/>
                </a:solidFill>
                <a:latin typeface="Courier New" pitchFamily="49" charset="0"/>
              </a:rPr>
              <a:t>police {cir </a:t>
            </a:r>
            <a:r>
              <a:rPr lang="en-US">
                <a:solidFill>
                  <a:schemeClr val="bg1"/>
                </a:solidFill>
                <a:latin typeface="Courier New" pitchFamily="49" charset="0"/>
              </a:rPr>
              <a:t>cir</a:t>
            </a:r>
            <a:r>
              <a:rPr lang="en-US" b="1">
                <a:solidFill>
                  <a:schemeClr val="bg1"/>
                </a:solidFill>
                <a:latin typeface="Courier New" pitchFamily="49" charset="0"/>
              </a:rPr>
              <a:t>} [bc  </a:t>
            </a:r>
            <a:r>
              <a:rPr lang="en-US">
                <a:solidFill>
                  <a:schemeClr val="bg1"/>
                </a:solidFill>
                <a:latin typeface="Courier New" pitchFamily="49" charset="0"/>
              </a:rPr>
              <a:t>conform-burst</a:t>
            </a:r>
            <a:r>
              <a:rPr lang="en-US" b="1">
                <a:solidFill>
                  <a:schemeClr val="bg1"/>
                </a:solidFill>
                <a:latin typeface="Courier New" pitchFamily="49" charset="0"/>
              </a:rPr>
              <a:t>] {pir </a:t>
            </a:r>
            <a:r>
              <a:rPr lang="en-US">
                <a:solidFill>
                  <a:schemeClr val="bg1"/>
                </a:solidFill>
                <a:latin typeface="Courier New" pitchFamily="49" charset="0"/>
              </a:rPr>
              <a:t>pir</a:t>
            </a:r>
            <a:r>
              <a:rPr lang="en-US" b="1">
                <a:solidFill>
                  <a:schemeClr val="bg1"/>
                </a:solidFill>
                <a:latin typeface="Courier New" pitchFamily="49" charset="0"/>
              </a:rPr>
              <a:t>} [be </a:t>
            </a:r>
            <a:r>
              <a:rPr lang="en-US">
                <a:solidFill>
                  <a:schemeClr val="bg1"/>
                </a:solidFill>
                <a:latin typeface="Courier New" pitchFamily="49" charset="0"/>
              </a:rPr>
              <a:t>peak-burst</a:t>
            </a:r>
            <a:r>
              <a:rPr lang="en-US" b="1">
                <a:solidFill>
                  <a:schemeClr val="bg1"/>
                </a:solidFill>
                <a:latin typeface="Courier New" pitchFamily="49" charset="0"/>
              </a:rPr>
              <a:t>] (+actions)</a:t>
            </a: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Line 2"/>
          <p:cNvSpPr>
            <a:spLocks noChangeShapeType="1"/>
          </p:cNvSpPr>
          <p:nvPr/>
        </p:nvSpPr>
        <p:spPr bwMode="auto">
          <a:xfrm>
            <a:off x="3492500" y="2222500"/>
            <a:ext cx="1588" cy="1608138"/>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5539" name="Line 3"/>
          <p:cNvSpPr>
            <a:spLocks noChangeShapeType="1"/>
          </p:cNvSpPr>
          <p:nvPr/>
        </p:nvSpPr>
        <p:spPr bwMode="auto">
          <a:xfrm>
            <a:off x="5168900" y="2222500"/>
            <a:ext cx="1588" cy="1608138"/>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5540" name="Line 4"/>
          <p:cNvSpPr>
            <a:spLocks noChangeShapeType="1"/>
          </p:cNvSpPr>
          <p:nvPr/>
        </p:nvSpPr>
        <p:spPr bwMode="auto">
          <a:xfrm>
            <a:off x="3492500" y="3822700"/>
            <a:ext cx="1676400" cy="1588"/>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5541" name="Oval 5"/>
          <p:cNvSpPr>
            <a:spLocks noChangeArrowheads="1"/>
          </p:cNvSpPr>
          <p:nvPr/>
        </p:nvSpPr>
        <p:spPr bwMode="auto">
          <a:xfrm>
            <a:off x="3670300" y="34861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42" name="Oval 6"/>
          <p:cNvSpPr>
            <a:spLocks noChangeArrowheads="1"/>
          </p:cNvSpPr>
          <p:nvPr/>
        </p:nvSpPr>
        <p:spPr bwMode="auto">
          <a:xfrm>
            <a:off x="4013200" y="34861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43" name="Oval 7"/>
          <p:cNvSpPr>
            <a:spLocks noChangeArrowheads="1"/>
          </p:cNvSpPr>
          <p:nvPr/>
        </p:nvSpPr>
        <p:spPr bwMode="auto">
          <a:xfrm>
            <a:off x="4356100" y="34861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44" name="Oval 8"/>
          <p:cNvSpPr>
            <a:spLocks noChangeArrowheads="1"/>
          </p:cNvSpPr>
          <p:nvPr/>
        </p:nvSpPr>
        <p:spPr bwMode="auto">
          <a:xfrm>
            <a:off x="4699000" y="34861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45" name="Oval 9"/>
          <p:cNvSpPr>
            <a:spLocks noChangeArrowheads="1"/>
          </p:cNvSpPr>
          <p:nvPr/>
        </p:nvSpPr>
        <p:spPr bwMode="auto">
          <a:xfrm>
            <a:off x="3670300" y="323056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46" name="Oval 10"/>
          <p:cNvSpPr>
            <a:spLocks noChangeArrowheads="1"/>
          </p:cNvSpPr>
          <p:nvPr/>
        </p:nvSpPr>
        <p:spPr bwMode="auto">
          <a:xfrm>
            <a:off x="4013200" y="323056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47" name="Oval 11"/>
          <p:cNvSpPr>
            <a:spLocks noChangeArrowheads="1"/>
          </p:cNvSpPr>
          <p:nvPr/>
        </p:nvSpPr>
        <p:spPr bwMode="auto">
          <a:xfrm>
            <a:off x="4356100" y="323056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48" name="Oval 12"/>
          <p:cNvSpPr>
            <a:spLocks noChangeArrowheads="1"/>
          </p:cNvSpPr>
          <p:nvPr/>
        </p:nvSpPr>
        <p:spPr bwMode="auto">
          <a:xfrm>
            <a:off x="4699000" y="323056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49" name="Oval 13"/>
          <p:cNvSpPr>
            <a:spLocks noChangeArrowheads="1"/>
          </p:cNvSpPr>
          <p:nvPr/>
        </p:nvSpPr>
        <p:spPr bwMode="auto">
          <a:xfrm>
            <a:off x="3670300" y="297338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50" name="Oval 14"/>
          <p:cNvSpPr>
            <a:spLocks noChangeArrowheads="1"/>
          </p:cNvSpPr>
          <p:nvPr/>
        </p:nvSpPr>
        <p:spPr bwMode="auto">
          <a:xfrm>
            <a:off x="4013200" y="297338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51" name="Oval 15"/>
          <p:cNvSpPr>
            <a:spLocks noChangeArrowheads="1"/>
          </p:cNvSpPr>
          <p:nvPr/>
        </p:nvSpPr>
        <p:spPr bwMode="auto">
          <a:xfrm>
            <a:off x="4356100" y="297338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52" name="Oval 16"/>
          <p:cNvSpPr>
            <a:spLocks noChangeArrowheads="1"/>
          </p:cNvSpPr>
          <p:nvPr/>
        </p:nvSpPr>
        <p:spPr bwMode="auto">
          <a:xfrm>
            <a:off x="4699000" y="297338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53" name="Oval 17"/>
          <p:cNvSpPr>
            <a:spLocks noChangeArrowheads="1"/>
          </p:cNvSpPr>
          <p:nvPr/>
        </p:nvSpPr>
        <p:spPr bwMode="auto">
          <a:xfrm>
            <a:off x="3670300" y="271621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54" name="Oval 18"/>
          <p:cNvSpPr>
            <a:spLocks noChangeArrowheads="1"/>
          </p:cNvSpPr>
          <p:nvPr/>
        </p:nvSpPr>
        <p:spPr bwMode="auto">
          <a:xfrm>
            <a:off x="4013200" y="271621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55" name="Oval 19"/>
          <p:cNvSpPr>
            <a:spLocks noChangeArrowheads="1"/>
          </p:cNvSpPr>
          <p:nvPr/>
        </p:nvSpPr>
        <p:spPr bwMode="auto">
          <a:xfrm>
            <a:off x="4356100" y="271621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56" name="Oval 20"/>
          <p:cNvSpPr>
            <a:spLocks noChangeArrowheads="1"/>
          </p:cNvSpPr>
          <p:nvPr/>
        </p:nvSpPr>
        <p:spPr bwMode="auto">
          <a:xfrm>
            <a:off x="4699000" y="271621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57" name="Oval 21"/>
          <p:cNvSpPr>
            <a:spLocks noChangeArrowheads="1"/>
          </p:cNvSpPr>
          <p:nvPr/>
        </p:nvSpPr>
        <p:spPr bwMode="auto">
          <a:xfrm>
            <a:off x="3670300" y="245903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58" name="Oval 22"/>
          <p:cNvSpPr>
            <a:spLocks noChangeArrowheads="1"/>
          </p:cNvSpPr>
          <p:nvPr/>
        </p:nvSpPr>
        <p:spPr bwMode="auto">
          <a:xfrm>
            <a:off x="4013200" y="245903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59" name="Oval 23"/>
          <p:cNvSpPr>
            <a:spLocks noChangeArrowheads="1"/>
          </p:cNvSpPr>
          <p:nvPr/>
        </p:nvSpPr>
        <p:spPr bwMode="auto">
          <a:xfrm>
            <a:off x="4356100" y="245903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60" name="Oval 24"/>
          <p:cNvSpPr>
            <a:spLocks noChangeArrowheads="1"/>
          </p:cNvSpPr>
          <p:nvPr/>
        </p:nvSpPr>
        <p:spPr bwMode="auto">
          <a:xfrm>
            <a:off x="4699000" y="2459039"/>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61" name="Oval 25"/>
          <p:cNvSpPr>
            <a:spLocks noChangeArrowheads="1"/>
          </p:cNvSpPr>
          <p:nvPr/>
        </p:nvSpPr>
        <p:spPr bwMode="auto">
          <a:xfrm>
            <a:off x="3670300" y="220186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62" name="Oval 26"/>
          <p:cNvSpPr>
            <a:spLocks noChangeArrowheads="1"/>
          </p:cNvSpPr>
          <p:nvPr/>
        </p:nvSpPr>
        <p:spPr bwMode="auto">
          <a:xfrm>
            <a:off x="4013200" y="220186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63" name="Oval 27"/>
          <p:cNvSpPr>
            <a:spLocks noChangeArrowheads="1"/>
          </p:cNvSpPr>
          <p:nvPr/>
        </p:nvSpPr>
        <p:spPr bwMode="auto">
          <a:xfrm>
            <a:off x="4356100" y="220186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64" name="Oval 28"/>
          <p:cNvSpPr>
            <a:spLocks noChangeArrowheads="1"/>
          </p:cNvSpPr>
          <p:nvPr/>
        </p:nvSpPr>
        <p:spPr bwMode="auto">
          <a:xfrm>
            <a:off x="4699000" y="220186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65" name="Text Box 29"/>
          <p:cNvSpPr txBox="1">
            <a:spLocks noChangeArrowheads="1"/>
          </p:cNvSpPr>
          <p:nvPr/>
        </p:nvSpPr>
        <p:spPr bwMode="auto">
          <a:xfrm>
            <a:off x="5245100" y="2755901"/>
            <a:ext cx="533400" cy="347663"/>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pPr>
            <a:r>
              <a:rPr lang="en-GB" sz="1800" b="1"/>
              <a:t>Be</a:t>
            </a:r>
            <a:endParaRPr lang="en-US" sz="1800" b="1"/>
          </a:p>
        </p:txBody>
      </p:sp>
      <p:sp>
        <p:nvSpPr>
          <p:cNvPr id="65566" name="Line 30"/>
          <p:cNvSpPr>
            <a:spLocks noChangeShapeType="1"/>
          </p:cNvSpPr>
          <p:nvPr/>
        </p:nvSpPr>
        <p:spPr bwMode="auto">
          <a:xfrm flipV="1">
            <a:off x="5473700" y="2298700"/>
            <a:ext cx="1588" cy="4572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5567" name="Line 31"/>
          <p:cNvSpPr>
            <a:spLocks noChangeShapeType="1"/>
          </p:cNvSpPr>
          <p:nvPr/>
        </p:nvSpPr>
        <p:spPr bwMode="auto">
          <a:xfrm>
            <a:off x="5473700" y="3136900"/>
            <a:ext cx="1588" cy="6096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5568" name="Line 32"/>
          <p:cNvSpPr>
            <a:spLocks noChangeShapeType="1"/>
          </p:cNvSpPr>
          <p:nvPr/>
        </p:nvSpPr>
        <p:spPr bwMode="auto">
          <a:xfrm>
            <a:off x="6642100" y="2201864"/>
            <a:ext cx="1588" cy="160813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5569" name="Line 33"/>
          <p:cNvSpPr>
            <a:spLocks noChangeShapeType="1"/>
          </p:cNvSpPr>
          <p:nvPr/>
        </p:nvSpPr>
        <p:spPr bwMode="auto">
          <a:xfrm>
            <a:off x="8318500" y="2201864"/>
            <a:ext cx="1588" cy="160813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5570" name="Line 34"/>
          <p:cNvSpPr>
            <a:spLocks noChangeShapeType="1"/>
          </p:cNvSpPr>
          <p:nvPr/>
        </p:nvSpPr>
        <p:spPr bwMode="auto">
          <a:xfrm>
            <a:off x="6642100" y="3802064"/>
            <a:ext cx="1676400" cy="1587"/>
          </a:xfrm>
          <a:prstGeom prst="line">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65571" name="Oval 35"/>
          <p:cNvSpPr>
            <a:spLocks noChangeArrowheads="1"/>
          </p:cNvSpPr>
          <p:nvPr/>
        </p:nvSpPr>
        <p:spPr bwMode="auto">
          <a:xfrm>
            <a:off x="6819900" y="346551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72" name="Oval 36"/>
          <p:cNvSpPr>
            <a:spLocks noChangeArrowheads="1"/>
          </p:cNvSpPr>
          <p:nvPr/>
        </p:nvSpPr>
        <p:spPr bwMode="auto">
          <a:xfrm>
            <a:off x="7162800" y="346551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73" name="Oval 37"/>
          <p:cNvSpPr>
            <a:spLocks noChangeArrowheads="1"/>
          </p:cNvSpPr>
          <p:nvPr/>
        </p:nvSpPr>
        <p:spPr bwMode="auto">
          <a:xfrm>
            <a:off x="7505700" y="346551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74" name="Oval 38"/>
          <p:cNvSpPr>
            <a:spLocks noChangeArrowheads="1"/>
          </p:cNvSpPr>
          <p:nvPr/>
        </p:nvSpPr>
        <p:spPr bwMode="auto">
          <a:xfrm>
            <a:off x="7848600" y="3465514"/>
            <a:ext cx="242888" cy="236537"/>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75" name="Oval 39"/>
          <p:cNvSpPr>
            <a:spLocks noChangeArrowheads="1"/>
          </p:cNvSpPr>
          <p:nvPr/>
        </p:nvSpPr>
        <p:spPr bwMode="auto">
          <a:xfrm>
            <a:off x="6819900" y="32099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76" name="Oval 40"/>
          <p:cNvSpPr>
            <a:spLocks noChangeArrowheads="1"/>
          </p:cNvSpPr>
          <p:nvPr/>
        </p:nvSpPr>
        <p:spPr bwMode="auto">
          <a:xfrm>
            <a:off x="7162800" y="32099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77" name="Oval 41"/>
          <p:cNvSpPr>
            <a:spLocks noChangeArrowheads="1"/>
          </p:cNvSpPr>
          <p:nvPr/>
        </p:nvSpPr>
        <p:spPr bwMode="auto">
          <a:xfrm>
            <a:off x="7505700" y="32099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78" name="Oval 42"/>
          <p:cNvSpPr>
            <a:spLocks noChangeArrowheads="1"/>
          </p:cNvSpPr>
          <p:nvPr/>
        </p:nvSpPr>
        <p:spPr bwMode="auto">
          <a:xfrm>
            <a:off x="7848600" y="32099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79" name="Oval 43"/>
          <p:cNvSpPr>
            <a:spLocks noChangeArrowheads="1"/>
          </p:cNvSpPr>
          <p:nvPr/>
        </p:nvSpPr>
        <p:spPr bwMode="auto">
          <a:xfrm>
            <a:off x="6819900" y="29527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80" name="Oval 44"/>
          <p:cNvSpPr>
            <a:spLocks noChangeArrowheads="1"/>
          </p:cNvSpPr>
          <p:nvPr/>
        </p:nvSpPr>
        <p:spPr bwMode="auto">
          <a:xfrm>
            <a:off x="7162800" y="29527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81" name="Oval 45"/>
          <p:cNvSpPr>
            <a:spLocks noChangeArrowheads="1"/>
          </p:cNvSpPr>
          <p:nvPr/>
        </p:nvSpPr>
        <p:spPr bwMode="auto">
          <a:xfrm>
            <a:off x="7505700" y="29527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82" name="Oval 46"/>
          <p:cNvSpPr>
            <a:spLocks noChangeArrowheads="1"/>
          </p:cNvSpPr>
          <p:nvPr/>
        </p:nvSpPr>
        <p:spPr bwMode="auto">
          <a:xfrm>
            <a:off x="7848600" y="295275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83" name="Oval 47"/>
          <p:cNvSpPr>
            <a:spLocks noChangeArrowheads="1"/>
          </p:cNvSpPr>
          <p:nvPr/>
        </p:nvSpPr>
        <p:spPr bwMode="auto">
          <a:xfrm>
            <a:off x="6819900" y="269557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84" name="Oval 48"/>
          <p:cNvSpPr>
            <a:spLocks noChangeArrowheads="1"/>
          </p:cNvSpPr>
          <p:nvPr/>
        </p:nvSpPr>
        <p:spPr bwMode="auto">
          <a:xfrm>
            <a:off x="7162800" y="269557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85" name="Oval 49"/>
          <p:cNvSpPr>
            <a:spLocks noChangeArrowheads="1"/>
          </p:cNvSpPr>
          <p:nvPr/>
        </p:nvSpPr>
        <p:spPr bwMode="auto">
          <a:xfrm>
            <a:off x="7505700" y="269557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86" name="Oval 50"/>
          <p:cNvSpPr>
            <a:spLocks noChangeArrowheads="1"/>
          </p:cNvSpPr>
          <p:nvPr/>
        </p:nvSpPr>
        <p:spPr bwMode="auto">
          <a:xfrm>
            <a:off x="7848600" y="269557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87" name="Oval 51"/>
          <p:cNvSpPr>
            <a:spLocks noChangeArrowheads="1"/>
          </p:cNvSpPr>
          <p:nvPr/>
        </p:nvSpPr>
        <p:spPr bwMode="auto">
          <a:xfrm>
            <a:off x="6819900" y="24384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88" name="Oval 52"/>
          <p:cNvSpPr>
            <a:spLocks noChangeArrowheads="1"/>
          </p:cNvSpPr>
          <p:nvPr/>
        </p:nvSpPr>
        <p:spPr bwMode="auto">
          <a:xfrm>
            <a:off x="7162800" y="24384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89" name="Oval 53"/>
          <p:cNvSpPr>
            <a:spLocks noChangeArrowheads="1"/>
          </p:cNvSpPr>
          <p:nvPr/>
        </p:nvSpPr>
        <p:spPr bwMode="auto">
          <a:xfrm>
            <a:off x="7505700" y="24384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90" name="Oval 54"/>
          <p:cNvSpPr>
            <a:spLocks noChangeArrowheads="1"/>
          </p:cNvSpPr>
          <p:nvPr/>
        </p:nvSpPr>
        <p:spPr bwMode="auto">
          <a:xfrm>
            <a:off x="7848600" y="2438400"/>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91" name="Oval 55"/>
          <p:cNvSpPr>
            <a:spLocks noChangeArrowheads="1"/>
          </p:cNvSpPr>
          <p:nvPr/>
        </p:nvSpPr>
        <p:spPr bwMode="auto">
          <a:xfrm>
            <a:off x="6819900" y="21812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92" name="Oval 56"/>
          <p:cNvSpPr>
            <a:spLocks noChangeArrowheads="1"/>
          </p:cNvSpPr>
          <p:nvPr/>
        </p:nvSpPr>
        <p:spPr bwMode="auto">
          <a:xfrm>
            <a:off x="7162800" y="21812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93" name="Oval 57"/>
          <p:cNvSpPr>
            <a:spLocks noChangeArrowheads="1"/>
          </p:cNvSpPr>
          <p:nvPr/>
        </p:nvSpPr>
        <p:spPr bwMode="auto">
          <a:xfrm>
            <a:off x="7505700" y="21812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94" name="Oval 58"/>
          <p:cNvSpPr>
            <a:spLocks noChangeArrowheads="1"/>
          </p:cNvSpPr>
          <p:nvPr/>
        </p:nvSpPr>
        <p:spPr bwMode="auto">
          <a:xfrm>
            <a:off x="7848600" y="2181225"/>
            <a:ext cx="242888" cy="236538"/>
          </a:xfrm>
          <a:prstGeom prst="ellipse">
            <a:avLst/>
          </a:prstGeom>
          <a:solidFill>
            <a:schemeClr val="tx2"/>
          </a:solidFill>
          <a:ln w="12700">
            <a:solidFill>
              <a:schemeClr val="tx1"/>
            </a:solidFill>
            <a:round/>
            <a:headEnd/>
            <a:tailEnd/>
          </a:ln>
        </p:spPr>
        <p:txBody>
          <a:bodyPr wrap="none" anchor="ctr">
            <a:prstTxWarp prst="textNoShape">
              <a:avLst/>
            </a:prstTxWarp>
          </a:bodyPr>
          <a:lstStyle/>
          <a:p>
            <a:endParaRPr lang="en-US"/>
          </a:p>
        </p:txBody>
      </p:sp>
      <p:sp>
        <p:nvSpPr>
          <p:cNvPr id="65595" name="Text Box 59"/>
          <p:cNvSpPr txBox="1">
            <a:spLocks noChangeArrowheads="1"/>
          </p:cNvSpPr>
          <p:nvPr/>
        </p:nvSpPr>
        <p:spPr bwMode="auto">
          <a:xfrm>
            <a:off x="8394700" y="2735263"/>
            <a:ext cx="520700" cy="347662"/>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pPr>
            <a:r>
              <a:rPr lang="en-GB" sz="1800" b="1"/>
              <a:t>Bc</a:t>
            </a:r>
            <a:endParaRPr lang="en-US" sz="1800" b="1"/>
          </a:p>
        </p:txBody>
      </p:sp>
      <p:sp>
        <p:nvSpPr>
          <p:cNvPr id="65596" name="Line 60"/>
          <p:cNvSpPr>
            <a:spLocks noChangeShapeType="1"/>
          </p:cNvSpPr>
          <p:nvPr/>
        </p:nvSpPr>
        <p:spPr bwMode="auto">
          <a:xfrm flipV="1">
            <a:off x="8623300" y="2278063"/>
            <a:ext cx="1588" cy="4572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5597" name="Line 61"/>
          <p:cNvSpPr>
            <a:spLocks noChangeShapeType="1"/>
          </p:cNvSpPr>
          <p:nvPr/>
        </p:nvSpPr>
        <p:spPr bwMode="auto">
          <a:xfrm>
            <a:off x="8623300" y="3116263"/>
            <a:ext cx="1588" cy="6096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244798" name="Text Box 62"/>
          <p:cNvSpPr txBox="1">
            <a:spLocks noChangeArrowheads="1"/>
          </p:cNvSpPr>
          <p:nvPr/>
        </p:nvSpPr>
        <p:spPr bwMode="auto">
          <a:xfrm>
            <a:off x="3365500" y="1363664"/>
            <a:ext cx="5410200" cy="377825"/>
          </a:xfrm>
          <a:prstGeom prst="rect">
            <a:avLst/>
          </a:prstGeom>
          <a:solidFill>
            <a:schemeClr val="accent2"/>
          </a:solidFill>
          <a:ln w="9525">
            <a:noFill/>
            <a:miter lim="800000"/>
            <a:headEnd/>
            <a:tailEnd/>
          </a:ln>
          <a:effectLst>
            <a:outerShdw dist="107763" dir="2700000" algn="ctr" rotWithShape="0">
              <a:schemeClr val="bg2">
                <a:alpha val="50000"/>
              </a:schemeClr>
            </a:outerShdw>
          </a:effectLst>
        </p:spPr>
        <p:txBody>
          <a:bodyPr lIns="73025" tIns="36512" rIns="73025" bIns="36512">
            <a:prstTxWarp prst="textNoShape">
              <a:avLst/>
            </a:prstTxWarp>
            <a:spAutoFit/>
          </a:bodyPr>
          <a:lstStyle/>
          <a:p>
            <a:pPr algn="l">
              <a:lnSpc>
                <a:spcPct val="100000"/>
              </a:lnSpc>
            </a:pPr>
            <a:r>
              <a:rPr lang="en-GB" sz="2000" b="1">
                <a:solidFill>
                  <a:schemeClr val="bg1"/>
                </a:solidFill>
              </a:rPr>
              <a:t>Tokens added at every new packet arrival</a:t>
            </a:r>
            <a:endParaRPr lang="en-US" sz="2000" b="1">
              <a:solidFill>
                <a:schemeClr val="bg1"/>
              </a:solidFill>
            </a:endParaRPr>
          </a:p>
        </p:txBody>
      </p:sp>
      <p:sp>
        <p:nvSpPr>
          <p:cNvPr id="244799" name="Text Box 63"/>
          <p:cNvSpPr txBox="1">
            <a:spLocks noChangeArrowheads="1"/>
          </p:cNvSpPr>
          <p:nvPr/>
        </p:nvSpPr>
        <p:spPr bwMode="auto">
          <a:xfrm>
            <a:off x="2209800" y="2743201"/>
            <a:ext cx="1143000" cy="377825"/>
          </a:xfrm>
          <a:prstGeom prst="rect">
            <a:avLst/>
          </a:prstGeom>
          <a:solidFill>
            <a:schemeClr val="accent2"/>
          </a:solidFill>
          <a:ln w="9525">
            <a:noFill/>
            <a:miter lim="800000"/>
            <a:headEnd/>
            <a:tailEnd/>
          </a:ln>
          <a:effectLst>
            <a:outerShdw dist="107763" dir="2700000" algn="ctr" rotWithShape="0">
              <a:schemeClr val="bg2">
                <a:alpha val="50000"/>
              </a:schemeClr>
            </a:outerShdw>
          </a:effectLst>
        </p:spPr>
        <p:txBody>
          <a:bodyPr lIns="73025" tIns="36512" rIns="73025" bIns="36512">
            <a:prstTxWarp prst="textNoShape">
              <a:avLst/>
            </a:prstTxWarp>
            <a:spAutoFit/>
          </a:bodyPr>
          <a:lstStyle/>
          <a:p>
            <a:pPr algn="l">
              <a:lnSpc>
                <a:spcPct val="100000"/>
              </a:lnSpc>
            </a:pPr>
            <a:r>
              <a:rPr lang="en-GB" sz="2000" b="1">
                <a:solidFill>
                  <a:schemeClr val="bg1"/>
                </a:solidFill>
              </a:rPr>
              <a:t>PIR (Be)</a:t>
            </a:r>
            <a:endParaRPr lang="en-US" sz="2000" b="1">
              <a:solidFill>
                <a:schemeClr val="bg1"/>
              </a:solidFill>
            </a:endParaRPr>
          </a:p>
        </p:txBody>
      </p:sp>
      <p:sp>
        <p:nvSpPr>
          <p:cNvPr id="244800" name="Rectangle 64"/>
          <p:cNvSpPr>
            <a:spLocks noChangeAspect="1" noChangeArrowheads="1"/>
          </p:cNvSpPr>
          <p:nvPr/>
        </p:nvSpPr>
        <p:spPr bwMode="auto">
          <a:xfrm>
            <a:off x="3352800" y="4038600"/>
            <a:ext cx="5410200" cy="2362200"/>
          </a:xfrm>
          <a:prstGeom prst="rect">
            <a:avLst/>
          </a:prstGeom>
          <a:gradFill rotWithShape="1">
            <a:gsLst>
              <a:gs pos="0">
                <a:srgbClr val="EAEAEA">
                  <a:gamma/>
                  <a:tint val="40000"/>
                  <a:invGamma/>
                </a:srgbClr>
              </a:gs>
              <a:gs pos="100000">
                <a:srgbClr val="EAEAEA"/>
              </a:gs>
            </a:gsLst>
            <a:lin ang="2700000" scaled="1"/>
          </a:gradFill>
          <a:ln w="9525">
            <a:noFill/>
            <a:miter lim="800000"/>
            <a:headEnd/>
            <a:tailEnd/>
          </a:ln>
          <a:effectLst>
            <a:outerShdw dist="71842" dir="2700000" algn="ctr" rotWithShape="0">
              <a:schemeClr val="bg2">
                <a:alpha val="50000"/>
              </a:schemeClr>
            </a:outerShdw>
          </a:effectLst>
        </p:spPr>
        <p:txBody>
          <a:bodyPr lIns="73025" tIns="36512" rIns="73025" bIns="36512" anchor="ctr"/>
          <a:lstStyle/>
          <a:p>
            <a:pPr marL="228600" indent="-228600" algn="l">
              <a:lnSpc>
                <a:spcPct val="100000"/>
              </a:lnSpc>
              <a:defRPr/>
            </a:pPr>
            <a:endParaRPr lang="en-US" sz="1200" b="1">
              <a:solidFill>
                <a:schemeClr val="bg1"/>
              </a:solidFill>
              <a:latin typeface="Arial" charset="0"/>
            </a:endParaRPr>
          </a:p>
        </p:txBody>
      </p:sp>
      <p:sp>
        <p:nvSpPr>
          <p:cNvPr id="65601" name="Line 65"/>
          <p:cNvSpPr>
            <a:spLocks noChangeShapeType="1"/>
          </p:cNvSpPr>
          <p:nvPr/>
        </p:nvSpPr>
        <p:spPr bwMode="auto">
          <a:xfrm>
            <a:off x="7005638" y="4532313"/>
            <a:ext cx="825500" cy="0"/>
          </a:xfrm>
          <a:prstGeom prst="line">
            <a:avLst/>
          </a:prstGeom>
          <a:noFill/>
          <a:ln w="38100">
            <a:solidFill>
              <a:schemeClr val="tx1"/>
            </a:solidFill>
            <a:round/>
            <a:headEnd/>
            <a:tailEnd/>
          </a:ln>
        </p:spPr>
        <p:txBody>
          <a:bodyPr lIns="73025" tIns="36512" rIns="73025" bIns="36512">
            <a:prstTxWarp prst="textNoShape">
              <a:avLst/>
            </a:prstTxWarp>
          </a:bodyPr>
          <a:lstStyle/>
          <a:p>
            <a:endParaRPr lang="en-US"/>
          </a:p>
        </p:txBody>
      </p:sp>
      <p:sp>
        <p:nvSpPr>
          <p:cNvPr id="65602" name="Line 66"/>
          <p:cNvSpPr>
            <a:spLocks noChangeShapeType="1"/>
          </p:cNvSpPr>
          <p:nvPr/>
        </p:nvSpPr>
        <p:spPr bwMode="auto">
          <a:xfrm>
            <a:off x="5392738" y="4791075"/>
            <a:ext cx="0" cy="685800"/>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5603" name="Line 67"/>
          <p:cNvSpPr>
            <a:spLocks noChangeShapeType="1"/>
          </p:cNvSpPr>
          <p:nvPr/>
        </p:nvSpPr>
        <p:spPr bwMode="auto">
          <a:xfrm>
            <a:off x="6669088" y="4795838"/>
            <a:ext cx="0" cy="685800"/>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5604" name="Line 68"/>
          <p:cNvSpPr>
            <a:spLocks noChangeShapeType="1"/>
          </p:cNvSpPr>
          <p:nvPr/>
        </p:nvSpPr>
        <p:spPr bwMode="auto">
          <a:xfrm>
            <a:off x="7820025" y="4529138"/>
            <a:ext cx="0" cy="957262"/>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244805" name="AutoShape 69"/>
          <p:cNvSpPr>
            <a:spLocks noChangeArrowheads="1"/>
          </p:cNvSpPr>
          <p:nvPr/>
        </p:nvSpPr>
        <p:spPr bwMode="auto">
          <a:xfrm>
            <a:off x="4953000" y="5476875"/>
            <a:ext cx="990600" cy="382588"/>
          </a:xfrm>
          <a:prstGeom prst="roundRect">
            <a:avLst>
              <a:gd name="adj" fmla="val 16667"/>
            </a:avLst>
          </a:prstGeom>
          <a:gradFill rotWithShape="1">
            <a:gsLst>
              <a:gs pos="0">
                <a:schemeClr val="accent2">
                  <a:gamma/>
                  <a:tint val="83922"/>
                  <a:invGamma/>
                </a:schemeClr>
              </a:gs>
              <a:gs pos="100000">
                <a:schemeClr val="accent2"/>
              </a:gs>
            </a:gsLst>
            <a:lin ang="2700000" scaled="1"/>
          </a:gradFill>
          <a:ln w="9525">
            <a:noFill/>
            <a:round/>
            <a:headEnd/>
            <a:tailEnd/>
          </a:ln>
          <a:effectLst/>
          <a:scene3d>
            <a:camera prst="legacyPerspectiveBottomRight">
              <a:rot lat="600000" lon="0" rev="0"/>
            </a:camera>
            <a:lightRig rig="legacyFlat2" dir="t"/>
          </a:scene3d>
          <a:sp3d extrusionH="125400" prstMaterial="legacyMatte">
            <a:bevelT w="13500" h="13500" prst="angle"/>
            <a:bevelB w="13500" h="13500" prst="angle"/>
            <a:extrusionClr>
              <a:schemeClr val="accent2"/>
            </a:extrusionClr>
          </a:sp3d>
        </p:spPr>
        <p:txBody>
          <a:bodyPr wrap="none" lIns="73025" tIns="36512" rIns="73025" bIns="36512" anchor="ctr">
            <a:flatTx/>
          </a:bodyPr>
          <a:lstStyle/>
          <a:p>
            <a:pPr>
              <a:lnSpc>
                <a:spcPct val="100000"/>
              </a:lnSpc>
              <a:defRPr/>
            </a:pPr>
            <a:r>
              <a:rPr lang="en-US" sz="1100" b="1">
                <a:solidFill>
                  <a:schemeClr val="bg1"/>
                </a:solidFill>
                <a:effectLst>
                  <a:outerShdw blurRad="38100" dist="38100" dir="2700000" algn="tl">
                    <a:srgbClr val="000000"/>
                  </a:outerShdw>
                </a:effectLst>
                <a:latin typeface="Arial" charset="0"/>
              </a:rPr>
              <a:t>Violate </a:t>
            </a:r>
          </a:p>
          <a:p>
            <a:pPr>
              <a:lnSpc>
                <a:spcPct val="100000"/>
              </a:lnSpc>
              <a:defRPr/>
            </a:pPr>
            <a:r>
              <a:rPr lang="en-US" sz="1100" b="1">
                <a:solidFill>
                  <a:schemeClr val="bg1"/>
                </a:solidFill>
                <a:effectLst>
                  <a:outerShdw blurRad="38100" dist="38100" dir="2700000" algn="tl">
                    <a:srgbClr val="000000"/>
                  </a:outerShdw>
                </a:effectLst>
                <a:latin typeface="Arial" charset="0"/>
              </a:rPr>
              <a:t>Action</a:t>
            </a:r>
          </a:p>
        </p:txBody>
      </p:sp>
      <p:sp>
        <p:nvSpPr>
          <p:cNvPr id="65606" name="Line 70"/>
          <p:cNvSpPr>
            <a:spLocks noChangeShapeType="1"/>
          </p:cNvSpPr>
          <p:nvPr/>
        </p:nvSpPr>
        <p:spPr bwMode="auto">
          <a:xfrm flipV="1">
            <a:off x="4533900" y="4548188"/>
            <a:ext cx="381000" cy="0"/>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5607" name="Line 71"/>
          <p:cNvSpPr>
            <a:spLocks noChangeShapeType="1"/>
          </p:cNvSpPr>
          <p:nvPr/>
        </p:nvSpPr>
        <p:spPr bwMode="auto">
          <a:xfrm flipV="1">
            <a:off x="5829300" y="4548188"/>
            <a:ext cx="381000" cy="0"/>
          </a:xfrm>
          <a:prstGeom prst="line">
            <a:avLst/>
          </a:prstGeom>
          <a:noFill/>
          <a:ln w="38100">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5608" name="Rectangle 72"/>
          <p:cNvSpPr>
            <a:spLocks noChangeAspect="1" noChangeArrowheads="1"/>
          </p:cNvSpPr>
          <p:nvPr/>
        </p:nvSpPr>
        <p:spPr bwMode="auto">
          <a:xfrm>
            <a:off x="5829300" y="4243389"/>
            <a:ext cx="457200" cy="258403"/>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200" b="1">
                <a:solidFill>
                  <a:srgbClr val="333333"/>
                </a:solidFill>
              </a:rPr>
              <a:t>yes</a:t>
            </a:r>
          </a:p>
        </p:txBody>
      </p:sp>
      <p:sp>
        <p:nvSpPr>
          <p:cNvPr id="65609" name="AutoShape 73"/>
          <p:cNvSpPr>
            <a:spLocks noChangeAspect="1" noChangeArrowheads="1"/>
          </p:cNvSpPr>
          <p:nvPr/>
        </p:nvSpPr>
        <p:spPr bwMode="auto">
          <a:xfrm>
            <a:off x="6153151" y="4248150"/>
            <a:ext cx="981075" cy="609600"/>
          </a:xfrm>
          <a:prstGeom prst="diamond">
            <a:avLst/>
          </a:prstGeom>
          <a:solidFill>
            <a:srgbClr val="969696"/>
          </a:solidFill>
          <a:ln w="9525">
            <a:miter lim="800000"/>
            <a:headEnd/>
            <a:tailEnd/>
          </a:ln>
          <a:scene3d>
            <a:camera prst="legacyPerspectiveBottomRight">
              <a:rot lat="600000" lon="600000" rev="0"/>
            </a:camera>
            <a:lightRig rig="legacyFlat2" dir="t"/>
          </a:scene3d>
          <a:sp3d extrusionH="125400" prstMaterial="legacyMatte">
            <a:bevelT w="13500" h="13500" prst="angle"/>
            <a:bevelB w="13500" h="13500" prst="angle"/>
            <a:extrusionClr>
              <a:srgbClr val="969696"/>
            </a:extrusionClr>
          </a:sp3d>
        </p:spPr>
        <p:txBody>
          <a:bodyPr lIns="73025" tIns="36512" rIns="73025" bIns="36512" anchor="ctr">
            <a:prstTxWarp prst="textNoShape">
              <a:avLst/>
            </a:prstTxWarp>
            <a:flatTx/>
          </a:bodyPr>
          <a:lstStyle/>
          <a:p>
            <a:pPr>
              <a:lnSpc>
                <a:spcPct val="100000"/>
              </a:lnSpc>
            </a:pPr>
            <a:endParaRPr lang="en-US" sz="1100" b="1"/>
          </a:p>
        </p:txBody>
      </p:sp>
      <p:sp>
        <p:nvSpPr>
          <p:cNvPr id="244810" name="Rectangle 74"/>
          <p:cNvSpPr>
            <a:spLocks noChangeAspect="1" noChangeArrowheads="1"/>
          </p:cNvSpPr>
          <p:nvPr/>
        </p:nvSpPr>
        <p:spPr bwMode="auto">
          <a:xfrm>
            <a:off x="6248400" y="4373564"/>
            <a:ext cx="871538" cy="409575"/>
          </a:xfrm>
          <a:prstGeom prst="rect">
            <a:avLst/>
          </a:prstGeom>
          <a:noFill/>
          <a:ln w="9525">
            <a:noFill/>
            <a:miter lim="800000"/>
            <a:headEnd/>
            <a:tailEnd/>
          </a:ln>
          <a:effectLst>
            <a:outerShdw dist="17961" dir="2700000" algn="ctr" rotWithShape="0">
              <a:schemeClr val="bg2"/>
            </a:outerShdw>
          </a:effectLst>
        </p:spPr>
        <p:txBody>
          <a:bodyPr lIns="73025" tIns="36512" rIns="73025" bIns="36512">
            <a:spAutoFit/>
          </a:bodyPr>
          <a:lstStyle/>
          <a:p>
            <a:pPr>
              <a:lnSpc>
                <a:spcPct val="100000"/>
              </a:lnSpc>
              <a:defRPr/>
            </a:pPr>
            <a:r>
              <a:rPr lang="en-US" sz="1100" b="1">
                <a:solidFill>
                  <a:schemeClr val="bg1"/>
                </a:solidFill>
                <a:latin typeface="Arial" charset="0"/>
              </a:rPr>
              <a:t>B tokens in C?</a:t>
            </a:r>
          </a:p>
        </p:txBody>
      </p:sp>
      <p:sp>
        <p:nvSpPr>
          <p:cNvPr id="65611" name="AutoShape 75"/>
          <p:cNvSpPr>
            <a:spLocks noChangeAspect="1" noChangeArrowheads="1"/>
          </p:cNvSpPr>
          <p:nvPr/>
        </p:nvSpPr>
        <p:spPr bwMode="auto">
          <a:xfrm>
            <a:off x="4868864" y="4251326"/>
            <a:ext cx="981075" cy="606425"/>
          </a:xfrm>
          <a:prstGeom prst="diamond">
            <a:avLst/>
          </a:prstGeom>
          <a:solidFill>
            <a:srgbClr val="969696"/>
          </a:solidFill>
          <a:ln w="9525">
            <a:miter lim="800000"/>
            <a:headEnd/>
            <a:tailEnd/>
          </a:ln>
          <a:scene3d>
            <a:camera prst="legacyPerspectiveBottomRight">
              <a:rot lat="600000" lon="600000" rev="0"/>
            </a:camera>
            <a:lightRig rig="legacyFlat2" dir="t"/>
          </a:scene3d>
          <a:sp3d extrusionH="125400" prstMaterial="legacyMatte">
            <a:bevelT w="13500" h="13500" prst="angle"/>
            <a:bevelB w="13500" h="13500" prst="angle"/>
            <a:extrusionClr>
              <a:srgbClr val="969696"/>
            </a:extrusionClr>
          </a:sp3d>
        </p:spPr>
        <p:txBody>
          <a:bodyPr lIns="73025" tIns="36512" rIns="73025" bIns="36512" anchor="ctr">
            <a:prstTxWarp prst="textNoShape">
              <a:avLst/>
            </a:prstTxWarp>
            <a:flatTx/>
          </a:bodyPr>
          <a:lstStyle/>
          <a:p>
            <a:pPr>
              <a:lnSpc>
                <a:spcPct val="100000"/>
              </a:lnSpc>
            </a:pPr>
            <a:endParaRPr lang="en-US" sz="1100" b="1"/>
          </a:p>
        </p:txBody>
      </p:sp>
      <p:sp>
        <p:nvSpPr>
          <p:cNvPr id="244812" name="Rectangle 76"/>
          <p:cNvSpPr>
            <a:spLocks noChangeAspect="1" noChangeArrowheads="1"/>
          </p:cNvSpPr>
          <p:nvPr/>
        </p:nvSpPr>
        <p:spPr bwMode="auto">
          <a:xfrm>
            <a:off x="4967289" y="4381501"/>
            <a:ext cx="871537" cy="409575"/>
          </a:xfrm>
          <a:prstGeom prst="rect">
            <a:avLst/>
          </a:prstGeom>
          <a:noFill/>
          <a:ln w="9525">
            <a:noFill/>
            <a:miter lim="800000"/>
            <a:headEnd/>
            <a:tailEnd/>
          </a:ln>
          <a:effectLst>
            <a:outerShdw dist="17961" dir="2700000" algn="ctr" rotWithShape="0">
              <a:schemeClr val="bg2"/>
            </a:outerShdw>
          </a:effectLst>
        </p:spPr>
        <p:txBody>
          <a:bodyPr lIns="73025" tIns="36512" rIns="73025" bIns="36512">
            <a:spAutoFit/>
          </a:bodyPr>
          <a:lstStyle/>
          <a:p>
            <a:pPr>
              <a:lnSpc>
                <a:spcPct val="100000"/>
              </a:lnSpc>
              <a:defRPr/>
            </a:pPr>
            <a:r>
              <a:rPr lang="en-US" sz="1100" b="1">
                <a:solidFill>
                  <a:schemeClr val="bg1"/>
                </a:solidFill>
                <a:latin typeface="Arial" charset="0"/>
              </a:rPr>
              <a:t>B tokens in P?</a:t>
            </a:r>
          </a:p>
        </p:txBody>
      </p:sp>
      <p:sp>
        <p:nvSpPr>
          <p:cNvPr id="65613" name="Rectangle 77"/>
          <p:cNvSpPr>
            <a:spLocks noChangeAspect="1" noChangeArrowheads="1"/>
          </p:cNvSpPr>
          <p:nvPr/>
        </p:nvSpPr>
        <p:spPr bwMode="auto">
          <a:xfrm>
            <a:off x="7239000" y="4259264"/>
            <a:ext cx="609600" cy="258403"/>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200" b="1">
                <a:solidFill>
                  <a:srgbClr val="333333"/>
                </a:solidFill>
              </a:rPr>
              <a:t>yes**</a:t>
            </a:r>
          </a:p>
        </p:txBody>
      </p:sp>
      <p:sp>
        <p:nvSpPr>
          <p:cNvPr id="65614" name="Rectangle 78"/>
          <p:cNvSpPr>
            <a:spLocks noChangeAspect="1" noChangeArrowheads="1"/>
          </p:cNvSpPr>
          <p:nvPr/>
        </p:nvSpPr>
        <p:spPr bwMode="auto">
          <a:xfrm>
            <a:off x="5029200" y="4943476"/>
            <a:ext cx="381000" cy="258403"/>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200" b="1">
                <a:solidFill>
                  <a:srgbClr val="333333"/>
                </a:solidFill>
              </a:rPr>
              <a:t>no</a:t>
            </a:r>
          </a:p>
        </p:txBody>
      </p:sp>
      <p:sp>
        <p:nvSpPr>
          <p:cNvPr id="244815" name="AutoShape 79"/>
          <p:cNvSpPr>
            <a:spLocks noChangeArrowheads="1"/>
          </p:cNvSpPr>
          <p:nvPr/>
        </p:nvSpPr>
        <p:spPr bwMode="auto">
          <a:xfrm>
            <a:off x="6172200" y="5473700"/>
            <a:ext cx="990600" cy="382588"/>
          </a:xfrm>
          <a:prstGeom prst="roundRect">
            <a:avLst>
              <a:gd name="adj" fmla="val 16667"/>
            </a:avLst>
          </a:prstGeom>
          <a:gradFill rotWithShape="1">
            <a:gsLst>
              <a:gs pos="0">
                <a:schemeClr val="hlink">
                  <a:gamma/>
                  <a:tint val="93725"/>
                  <a:invGamma/>
                </a:schemeClr>
              </a:gs>
              <a:gs pos="100000">
                <a:schemeClr val="hlink"/>
              </a:gs>
            </a:gsLst>
            <a:lin ang="2700000" scaled="1"/>
          </a:gradFill>
          <a:ln w="9525">
            <a:noFill/>
            <a:round/>
            <a:headEnd/>
            <a:tailEnd/>
          </a:ln>
          <a:effectLst/>
          <a:scene3d>
            <a:camera prst="legacyPerspectiveBottomRight">
              <a:rot lat="600000" lon="0" rev="0"/>
            </a:camera>
            <a:lightRig rig="legacyFlat2" dir="t"/>
          </a:scene3d>
          <a:sp3d extrusionH="125400" prstMaterial="legacyMatte">
            <a:bevelT w="13500" h="13500" prst="angle"/>
            <a:bevelB w="13500" h="13500" prst="angle"/>
            <a:extrusionClr>
              <a:schemeClr val="hlink"/>
            </a:extrusionClr>
          </a:sp3d>
        </p:spPr>
        <p:txBody>
          <a:bodyPr wrap="none" lIns="73025" tIns="36512" rIns="73025" bIns="36512" anchor="ctr">
            <a:flatTx/>
          </a:bodyPr>
          <a:lstStyle/>
          <a:p>
            <a:pPr>
              <a:lnSpc>
                <a:spcPct val="100000"/>
              </a:lnSpc>
              <a:defRPr/>
            </a:pPr>
            <a:r>
              <a:rPr lang="en-US" sz="1100" b="1">
                <a:solidFill>
                  <a:schemeClr val="bg1"/>
                </a:solidFill>
                <a:effectLst>
                  <a:outerShdw blurRad="38100" dist="38100" dir="2700000" algn="tl">
                    <a:srgbClr val="000000"/>
                  </a:outerShdw>
                </a:effectLst>
                <a:latin typeface="Arial" charset="0"/>
              </a:rPr>
              <a:t>Exceed </a:t>
            </a:r>
          </a:p>
          <a:p>
            <a:pPr>
              <a:lnSpc>
                <a:spcPct val="100000"/>
              </a:lnSpc>
              <a:defRPr/>
            </a:pPr>
            <a:r>
              <a:rPr lang="en-US" sz="1100" b="1">
                <a:solidFill>
                  <a:schemeClr val="bg1"/>
                </a:solidFill>
                <a:effectLst>
                  <a:outerShdw blurRad="38100" dist="38100" dir="2700000" algn="tl">
                    <a:srgbClr val="000000"/>
                  </a:outerShdw>
                </a:effectLst>
                <a:latin typeface="Arial" charset="0"/>
              </a:rPr>
              <a:t>Action</a:t>
            </a:r>
          </a:p>
        </p:txBody>
      </p:sp>
      <p:sp>
        <p:nvSpPr>
          <p:cNvPr id="65616" name="Rectangle 80"/>
          <p:cNvSpPr>
            <a:spLocks noChangeAspect="1" noChangeArrowheads="1"/>
          </p:cNvSpPr>
          <p:nvPr/>
        </p:nvSpPr>
        <p:spPr bwMode="auto">
          <a:xfrm>
            <a:off x="6275388" y="4953001"/>
            <a:ext cx="457200" cy="258403"/>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200" b="1">
                <a:solidFill>
                  <a:srgbClr val="333333"/>
                </a:solidFill>
              </a:rPr>
              <a:t>no*</a:t>
            </a:r>
          </a:p>
        </p:txBody>
      </p:sp>
      <p:sp>
        <p:nvSpPr>
          <p:cNvPr id="244817" name="AutoShape 81"/>
          <p:cNvSpPr>
            <a:spLocks noChangeArrowheads="1"/>
          </p:cNvSpPr>
          <p:nvPr/>
        </p:nvSpPr>
        <p:spPr bwMode="auto">
          <a:xfrm>
            <a:off x="7391400" y="5486400"/>
            <a:ext cx="990600" cy="382588"/>
          </a:xfrm>
          <a:prstGeom prst="roundRect">
            <a:avLst>
              <a:gd name="adj" fmla="val 16667"/>
            </a:avLst>
          </a:prstGeom>
          <a:gradFill rotWithShape="1">
            <a:gsLst>
              <a:gs pos="0">
                <a:srgbClr val="339966">
                  <a:gamma/>
                  <a:tint val="89804"/>
                  <a:invGamma/>
                </a:srgbClr>
              </a:gs>
              <a:gs pos="100000">
                <a:srgbClr val="339966"/>
              </a:gs>
            </a:gsLst>
            <a:lin ang="2700000" scaled="1"/>
          </a:gradFill>
          <a:ln w="9525">
            <a:noFill/>
            <a:round/>
            <a:headEnd/>
            <a:tailEnd/>
          </a:ln>
          <a:effectLst/>
          <a:scene3d>
            <a:camera prst="legacyPerspectiveBottomRight">
              <a:rot lat="600000" lon="0" rev="0"/>
            </a:camera>
            <a:lightRig rig="legacyFlat2" dir="t"/>
          </a:scene3d>
          <a:sp3d extrusionH="125400" prstMaterial="legacyMatte">
            <a:bevelT w="13500" h="13500" prst="angle"/>
            <a:bevelB w="13500" h="13500" prst="angle"/>
            <a:extrusionClr>
              <a:srgbClr val="339966"/>
            </a:extrusionClr>
          </a:sp3d>
        </p:spPr>
        <p:txBody>
          <a:bodyPr wrap="none" lIns="73025" tIns="36512" rIns="73025" bIns="36512" anchor="ctr">
            <a:flatTx/>
          </a:bodyPr>
          <a:lstStyle/>
          <a:p>
            <a:pPr>
              <a:lnSpc>
                <a:spcPct val="100000"/>
              </a:lnSpc>
              <a:defRPr/>
            </a:pPr>
            <a:r>
              <a:rPr lang="en-US" sz="1100" b="1">
                <a:solidFill>
                  <a:schemeClr val="bg1"/>
                </a:solidFill>
                <a:effectLst>
                  <a:outerShdw blurRad="38100" dist="38100" dir="2700000" algn="tl">
                    <a:srgbClr val="000000"/>
                  </a:outerShdw>
                </a:effectLst>
                <a:latin typeface="Arial" charset="0"/>
              </a:rPr>
              <a:t>Conform </a:t>
            </a:r>
          </a:p>
          <a:p>
            <a:pPr>
              <a:lnSpc>
                <a:spcPct val="100000"/>
              </a:lnSpc>
              <a:defRPr/>
            </a:pPr>
            <a:r>
              <a:rPr lang="en-US" sz="1100" b="1">
                <a:solidFill>
                  <a:schemeClr val="bg1"/>
                </a:solidFill>
                <a:effectLst>
                  <a:outerShdw blurRad="38100" dist="38100" dir="2700000" algn="tl">
                    <a:srgbClr val="000000"/>
                  </a:outerShdw>
                </a:effectLst>
                <a:latin typeface="Arial" charset="0"/>
              </a:rPr>
              <a:t>Action</a:t>
            </a:r>
          </a:p>
        </p:txBody>
      </p:sp>
      <p:sp>
        <p:nvSpPr>
          <p:cNvPr id="65618" name="Rectangle 82"/>
          <p:cNvSpPr>
            <a:spLocks noChangeAspect="1" noChangeArrowheads="1"/>
          </p:cNvSpPr>
          <p:nvPr/>
        </p:nvSpPr>
        <p:spPr bwMode="auto">
          <a:xfrm>
            <a:off x="3859213" y="4132264"/>
            <a:ext cx="685800" cy="812401"/>
          </a:xfrm>
          <a:prstGeom prst="rect">
            <a:avLst/>
          </a:prstGeom>
          <a:noFill/>
          <a:ln w="9525">
            <a:noFill/>
            <a:miter lim="800000"/>
            <a:headEnd/>
            <a:tailEnd/>
          </a:ln>
        </p:spPr>
        <p:txBody>
          <a:bodyPr lIns="73025" tIns="36512" rIns="73025" bIns="36512">
            <a:prstTxWarp prst="textNoShape">
              <a:avLst/>
            </a:prstTxWarp>
            <a:spAutoFit/>
          </a:bodyPr>
          <a:lstStyle/>
          <a:p>
            <a:pPr>
              <a:lnSpc>
                <a:spcPct val="100000"/>
              </a:lnSpc>
            </a:pPr>
            <a:r>
              <a:rPr lang="en-US" sz="1200" b="1">
                <a:solidFill>
                  <a:srgbClr val="333333"/>
                </a:solidFill>
              </a:rPr>
              <a:t>Packet of B bytes arrives</a:t>
            </a:r>
          </a:p>
        </p:txBody>
      </p:sp>
      <p:sp>
        <p:nvSpPr>
          <p:cNvPr id="65619" name="Rectangle 83"/>
          <p:cNvSpPr>
            <a:spLocks noChangeAspect="1" noChangeArrowheads="1"/>
          </p:cNvSpPr>
          <p:nvPr/>
        </p:nvSpPr>
        <p:spPr bwMode="auto">
          <a:xfrm>
            <a:off x="3352800" y="5943601"/>
            <a:ext cx="3657600" cy="409575"/>
          </a:xfrm>
          <a:prstGeom prst="rect">
            <a:avLst/>
          </a:prstGeom>
          <a:noFill/>
          <a:ln w="9525">
            <a:noFill/>
            <a:miter lim="800000"/>
            <a:headEnd/>
            <a:tailEnd/>
          </a:ln>
        </p:spPr>
        <p:txBody>
          <a:bodyPr lIns="73025" tIns="36512" rIns="73025" bIns="36512">
            <a:prstTxWarp prst="textNoShape">
              <a:avLst/>
            </a:prstTxWarp>
            <a:spAutoFit/>
          </a:bodyPr>
          <a:lstStyle/>
          <a:p>
            <a:pPr algn="l">
              <a:lnSpc>
                <a:spcPct val="100000"/>
              </a:lnSpc>
            </a:pPr>
            <a:r>
              <a:rPr lang="en-US" sz="1100" b="1">
                <a:solidFill>
                  <a:srgbClr val="333333"/>
                </a:solidFill>
              </a:rPr>
              <a:t>* Token count decremented</a:t>
            </a:r>
          </a:p>
          <a:p>
            <a:pPr algn="l">
              <a:lnSpc>
                <a:spcPct val="100000"/>
              </a:lnSpc>
            </a:pPr>
            <a:r>
              <a:rPr lang="en-US" sz="1100" b="1">
                <a:solidFill>
                  <a:srgbClr val="333333"/>
                </a:solidFill>
              </a:rPr>
              <a:t>** Token count on both buckets decremented</a:t>
            </a:r>
          </a:p>
        </p:txBody>
      </p:sp>
      <p:sp>
        <p:nvSpPr>
          <p:cNvPr id="65620" name="Line 84"/>
          <p:cNvSpPr>
            <a:spLocks noChangeShapeType="1"/>
          </p:cNvSpPr>
          <p:nvPr/>
        </p:nvSpPr>
        <p:spPr bwMode="auto">
          <a:xfrm>
            <a:off x="4356100" y="1744663"/>
            <a:ext cx="0" cy="3810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65621" name="Line 85"/>
          <p:cNvSpPr>
            <a:spLocks noChangeShapeType="1"/>
          </p:cNvSpPr>
          <p:nvPr/>
        </p:nvSpPr>
        <p:spPr bwMode="auto">
          <a:xfrm>
            <a:off x="7480300" y="1744663"/>
            <a:ext cx="0" cy="381000"/>
          </a:xfrm>
          <a:prstGeom prst="line">
            <a:avLst/>
          </a:prstGeom>
          <a:noFill/>
          <a:ln w="9525">
            <a:solidFill>
              <a:schemeClr val="tx1"/>
            </a:solidFill>
            <a:round/>
            <a:headEnd/>
            <a:tailEnd type="triangle" w="med" len="med"/>
          </a:ln>
        </p:spPr>
        <p:txBody>
          <a:bodyPr lIns="73025" tIns="36512" rIns="73025" bIns="36512">
            <a:prstTxWarp prst="textNoShape">
              <a:avLst/>
            </a:prstTxWarp>
          </a:bodyPr>
          <a:lstStyle/>
          <a:p>
            <a:endParaRPr lang="en-US"/>
          </a:p>
        </p:txBody>
      </p:sp>
      <p:sp>
        <p:nvSpPr>
          <p:cNvPr id="244822" name="Text Box 86"/>
          <p:cNvSpPr txBox="1">
            <a:spLocks noChangeArrowheads="1"/>
          </p:cNvSpPr>
          <p:nvPr/>
        </p:nvSpPr>
        <p:spPr bwMode="auto">
          <a:xfrm>
            <a:off x="8915400" y="2667001"/>
            <a:ext cx="1295400" cy="377825"/>
          </a:xfrm>
          <a:prstGeom prst="rect">
            <a:avLst/>
          </a:prstGeom>
          <a:solidFill>
            <a:schemeClr val="accent2"/>
          </a:solidFill>
          <a:ln w="9525">
            <a:noFill/>
            <a:miter lim="800000"/>
            <a:headEnd/>
            <a:tailEnd/>
          </a:ln>
          <a:effectLst>
            <a:outerShdw dist="107763" dir="2700000" algn="ctr" rotWithShape="0">
              <a:schemeClr val="bg2">
                <a:alpha val="50000"/>
              </a:schemeClr>
            </a:outerShdw>
          </a:effectLst>
        </p:spPr>
        <p:txBody>
          <a:bodyPr lIns="73025" tIns="36512" rIns="73025" bIns="36512">
            <a:prstTxWarp prst="textNoShape">
              <a:avLst/>
            </a:prstTxWarp>
            <a:spAutoFit/>
          </a:bodyPr>
          <a:lstStyle/>
          <a:p>
            <a:pPr algn="l">
              <a:lnSpc>
                <a:spcPct val="100000"/>
              </a:lnSpc>
            </a:pPr>
            <a:r>
              <a:rPr lang="en-GB" sz="2000" b="1">
                <a:solidFill>
                  <a:schemeClr val="bg1"/>
                </a:solidFill>
              </a:rPr>
              <a:t>CIR (Bc)</a:t>
            </a:r>
            <a:endParaRPr lang="en-US" sz="2000" b="1">
              <a:solidFill>
                <a:schemeClr val="bg1"/>
              </a:solidFill>
            </a:endParaRPr>
          </a:p>
        </p:txBody>
      </p:sp>
      <p:sp>
        <p:nvSpPr>
          <p:cNvPr id="65623" name="Rectangle 87"/>
          <p:cNvSpPr>
            <a:spLocks noGrp="1" noChangeArrowheads="1"/>
          </p:cNvSpPr>
          <p:nvPr>
            <p:ph type="title"/>
          </p:nvPr>
        </p:nvSpPr>
        <p:spPr/>
        <p:txBody>
          <a:bodyPr/>
          <a:lstStyle/>
          <a:p>
            <a:pPr eaLnBrk="1" hangingPunct="1"/>
            <a:r>
              <a:rPr lang="en-US" sz="2800">
                <a:solidFill>
                  <a:schemeClr val="accent2"/>
                </a:solidFill>
              </a:rPr>
              <a:t>Dual Rate, Dual Bucket, Three-color Marker</a:t>
            </a:r>
          </a:p>
        </p:txBody>
      </p:sp>
    </p:spTree>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1524001" y="1"/>
            <a:ext cx="4284663" cy="3141663"/>
          </a:xfrm>
          <a:prstGeom prst="rect">
            <a:avLst/>
          </a:prstGeom>
          <a:solidFill>
            <a:srgbClr val="669900"/>
          </a:solidFill>
          <a:ln w="25400">
            <a:noFill/>
            <a:miter lim="800000"/>
            <a:headEnd/>
            <a:tailEnd/>
          </a:ln>
        </p:spPr>
        <p:txBody>
          <a:bodyPr wrap="none" anchor="ctr">
            <a:prstTxWarp prst="textNoShape">
              <a:avLst/>
            </a:prstTxWarp>
          </a:bodyPr>
          <a:lstStyle/>
          <a:p>
            <a:endParaRPr lang="en-US"/>
          </a:p>
        </p:txBody>
      </p:sp>
      <p:sp>
        <p:nvSpPr>
          <p:cNvPr id="66563" name="Rectangle 3"/>
          <p:cNvSpPr>
            <a:spLocks noGrp="1" noChangeArrowheads="1"/>
          </p:cNvSpPr>
          <p:nvPr>
            <p:ph type="title"/>
          </p:nvPr>
        </p:nvSpPr>
        <p:spPr>
          <a:xfrm>
            <a:off x="1703389" y="765176"/>
            <a:ext cx="2898775" cy="1152525"/>
          </a:xfrm>
        </p:spPr>
        <p:txBody>
          <a:bodyPr/>
          <a:lstStyle/>
          <a:p>
            <a:pPr algn="ctr" eaLnBrk="1" hangingPunct="1"/>
            <a:r>
              <a:rPr lang="en-US">
                <a:solidFill>
                  <a:schemeClr val="bg1"/>
                </a:solidFill>
              </a:rPr>
              <a:t>Dropping</a:t>
            </a:r>
          </a:p>
        </p:txBody>
      </p:sp>
      <p:pic>
        <p:nvPicPr>
          <p:cNvPr id="246793" name="Picture 9" descr="Sid-the-sniper"/>
          <p:cNvPicPr>
            <a:picLocks noChangeAspect="1" noChangeArrowheads="1"/>
          </p:cNvPicPr>
          <p:nvPr/>
        </p:nvPicPr>
        <p:blipFill>
          <a:blip r:embed="rId3"/>
          <a:srcRect/>
          <a:stretch>
            <a:fillRect/>
          </a:stretch>
        </p:blipFill>
        <p:spPr bwMode="auto">
          <a:xfrm>
            <a:off x="7032105" y="418306"/>
            <a:ext cx="1939925" cy="2305050"/>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67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32" fill="hold" nodeType="clickEffect">
                                  <p:stCondLst>
                                    <p:cond delay="0"/>
                                  </p:stCondLst>
                                  <p:childTnLst>
                                    <p:set>
                                      <p:cBhvr>
                                        <p:cTn id="10" dur="1" fill="hold">
                                          <p:stCondLst>
                                            <p:cond delay="0"/>
                                          </p:stCondLst>
                                        </p:cTn>
                                        <p:tgtEl>
                                          <p:spTgt spid="246793"/>
                                        </p:tgtEl>
                                        <p:attrNameLst>
                                          <p:attrName>style.visibility</p:attrName>
                                        </p:attrNameLst>
                                      </p:cBhvr>
                                      <p:to>
                                        <p:strVal val="visible"/>
                                      </p:to>
                                    </p:set>
                                    <p:animEffect transition="in" filter="circle(out)">
                                      <p:cBhvr>
                                        <p:cTn id="11" dur="1000"/>
                                        <p:tgtEl>
                                          <p:spTgt spid="246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solidFill>
                  <a:srgbClr val="669900"/>
                </a:solidFill>
              </a:rPr>
              <a:t>WRED: What and Why</a:t>
            </a:r>
          </a:p>
        </p:txBody>
      </p:sp>
      <p:sp>
        <p:nvSpPr>
          <p:cNvPr id="67587" name="Rectangle 3"/>
          <p:cNvSpPr>
            <a:spLocks noGrp="1" noChangeArrowheads="1"/>
          </p:cNvSpPr>
          <p:nvPr>
            <p:ph idx="1"/>
          </p:nvPr>
        </p:nvSpPr>
        <p:spPr>
          <a:xfrm>
            <a:off x="2063751" y="1557339"/>
            <a:ext cx="8093075" cy="4967287"/>
          </a:xfrm>
        </p:spPr>
        <p:txBody>
          <a:bodyPr/>
          <a:lstStyle/>
          <a:p>
            <a:r>
              <a:rPr lang="en-US"/>
              <a:t>(W)RED stand for (</a:t>
            </a:r>
            <a:r>
              <a:rPr lang="en-US">
                <a:solidFill>
                  <a:srgbClr val="669900"/>
                </a:solidFill>
              </a:rPr>
              <a:t>W</a:t>
            </a:r>
            <a:r>
              <a:rPr lang="en-US"/>
              <a:t>eighted) </a:t>
            </a:r>
            <a:r>
              <a:rPr lang="en-US">
                <a:solidFill>
                  <a:srgbClr val="669900"/>
                </a:solidFill>
              </a:rPr>
              <a:t>R</a:t>
            </a:r>
            <a:r>
              <a:rPr lang="en-US"/>
              <a:t>andom </a:t>
            </a:r>
            <a:r>
              <a:rPr lang="en-US">
                <a:solidFill>
                  <a:srgbClr val="669900"/>
                </a:solidFill>
              </a:rPr>
              <a:t>E</a:t>
            </a:r>
            <a:r>
              <a:rPr lang="en-US"/>
              <a:t>arly </a:t>
            </a:r>
            <a:r>
              <a:rPr lang="en-US">
                <a:solidFill>
                  <a:srgbClr val="669900"/>
                </a:solidFill>
              </a:rPr>
              <a:t>D</a:t>
            </a:r>
            <a:r>
              <a:rPr lang="en-US"/>
              <a:t>rop</a:t>
            </a:r>
          </a:p>
          <a:p>
            <a:r>
              <a:rPr lang="en-US"/>
              <a:t>(W)RED is a dropping mechanism not associated with any type of queuing (unlike Fair Dropping)</a:t>
            </a:r>
          </a:p>
          <a:p>
            <a:r>
              <a:rPr lang="en-US" sz="2800"/>
              <a:t>Simple </a:t>
            </a:r>
            <a:r>
              <a:rPr lang="en-US" sz="2800">
                <a:solidFill>
                  <a:srgbClr val="669900"/>
                </a:solidFill>
              </a:rPr>
              <a:t>tail dropping</a:t>
            </a:r>
            <a:r>
              <a:rPr lang="en-US" sz="2800"/>
              <a:t> has significant flaws:</a:t>
            </a:r>
          </a:p>
          <a:p>
            <a:pPr lvl="1" indent="0"/>
            <a:r>
              <a:rPr lang="en-US" sz="1800"/>
              <a:t>TCP synchronization</a:t>
            </a:r>
          </a:p>
          <a:p>
            <a:pPr lvl="1" indent="0"/>
            <a:r>
              <a:rPr lang="en-US" sz="1800"/>
              <a:t>TCP starvation</a:t>
            </a:r>
          </a:p>
          <a:p>
            <a:pPr lvl="1" indent="0"/>
            <a:r>
              <a:rPr lang="en-US" sz="1800"/>
              <a:t>High delay and jitter</a:t>
            </a:r>
          </a:p>
          <a:p>
            <a:pPr lvl="1" indent="0"/>
            <a:r>
              <a:rPr lang="en-US" sz="1800"/>
              <a:t>No differentiated drop</a:t>
            </a:r>
          </a:p>
          <a:p>
            <a:pPr lvl="1" indent="0"/>
            <a:r>
              <a:rPr lang="en-US" sz="1800"/>
              <a:t>Poor feedback to TCP</a:t>
            </a:r>
            <a:endParaRPr lang="en-US"/>
          </a:p>
          <a:p>
            <a:r>
              <a:rPr lang="en-US"/>
              <a:t>(W)RED makes most sense in </a:t>
            </a:r>
            <a:r>
              <a:rPr lang="en-US">
                <a:solidFill>
                  <a:srgbClr val="669900"/>
                </a:solidFill>
              </a:rPr>
              <a:t>TCP-heavy</a:t>
            </a:r>
            <a:r>
              <a:rPr lang="en-US"/>
              <a:t> environments</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1981200" y="378289"/>
            <a:ext cx="7391400" cy="526122"/>
          </a:xfrm>
          <a:prstGeom prst="rect">
            <a:avLst/>
          </a:prstGeom>
          <a:noFill/>
          <a:ln w="12700">
            <a:noFill/>
            <a:miter lim="800000"/>
            <a:headEnd/>
            <a:tailEnd/>
          </a:ln>
        </p:spPr>
        <p:txBody>
          <a:bodyPr lIns="82124" tIns="41061" rIns="82124" bIns="41061" anchor="ctr">
            <a:prstTxWarp prst="textNoShape">
              <a:avLst/>
            </a:prstTxWarp>
            <a:spAutoFit/>
          </a:bodyPr>
          <a:lstStyle/>
          <a:p>
            <a:pPr algn="l" defTabSz="814388"/>
            <a:r>
              <a:rPr lang="en-US" sz="3200" b="1">
                <a:solidFill>
                  <a:srgbClr val="669900"/>
                </a:solidFill>
              </a:rPr>
              <a:t>The issue of TCP Synchronization</a:t>
            </a:r>
          </a:p>
        </p:txBody>
      </p:sp>
      <p:sp>
        <p:nvSpPr>
          <p:cNvPr id="68611" name="Line 3"/>
          <p:cNvSpPr>
            <a:spLocks noChangeShapeType="1"/>
          </p:cNvSpPr>
          <p:nvPr/>
        </p:nvSpPr>
        <p:spPr bwMode="auto">
          <a:xfrm>
            <a:off x="6188075" y="1990726"/>
            <a:ext cx="0" cy="2752725"/>
          </a:xfrm>
          <a:prstGeom prst="line">
            <a:avLst/>
          </a:prstGeom>
          <a:noFill/>
          <a:ln w="25400">
            <a:solidFill>
              <a:schemeClr val="tx1"/>
            </a:solidFill>
            <a:prstDash val="dash"/>
            <a:round/>
            <a:headEnd/>
            <a:tailEnd/>
          </a:ln>
        </p:spPr>
        <p:txBody>
          <a:bodyPr wrap="none" anchor="ctr">
            <a:prstTxWarp prst="textNoShape">
              <a:avLst/>
            </a:prstTxWarp>
          </a:bodyPr>
          <a:lstStyle/>
          <a:p>
            <a:endParaRPr lang="en-US"/>
          </a:p>
        </p:txBody>
      </p:sp>
      <p:sp>
        <p:nvSpPr>
          <p:cNvPr id="68612" name="Line 4"/>
          <p:cNvSpPr>
            <a:spLocks noChangeShapeType="1"/>
          </p:cNvSpPr>
          <p:nvPr/>
        </p:nvSpPr>
        <p:spPr bwMode="auto">
          <a:xfrm>
            <a:off x="8343900" y="1990725"/>
            <a:ext cx="0" cy="2749550"/>
          </a:xfrm>
          <a:prstGeom prst="line">
            <a:avLst/>
          </a:prstGeom>
          <a:noFill/>
          <a:ln w="25400">
            <a:solidFill>
              <a:schemeClr val="tx1"/>
            </a:solidFill>
            <a:prstDash val="dash"/>
            <a:round/>
            <a:headEnd/>
            <a:tailEnd/>
          </a:ln>
        </p:spPr>
        <p:txBody>
          <a:bodyPr wrap="none" anchor="ctr">
            <a:prstTxWarp prst="textNoShape">
              <a:avLst/>
            </a:prstTxWarp>
          </a:bodyPr>
          <a:lstStyle/>
          <a:p>
            <a:endParaRPr lang="en-US"/>
          </a:p>
        </p:txBody>
      </p:sp>
      <p:grpSp>
        <p:nvGrpSpPr>
          <p:cNvPr id="68613" name="Group 5"/>
          <p:cNvGrpSpPr>
            <a:grpSpLocks/>
          </p:cNvGrpSpPr>
          <p:nvPr/>
        </p:nvGrpSpPr>
        <p:grpSpPr bwMode="auto">
          <a:xfrm>
            <a:off x="2603500" y="2674939"/>
            <a:ext cx="1912938" cy="1690687"/>
            <a:chOff x="605" y="1499"/>
            <a:chExt cx="1071" cy="947"/>
          </a:xfrm>
        </p:grpSpPr>
        <p:sp>
          <p:nvSpPr>
            <p:cNvPr id="249862" name="Arc 6"/>
            <p:cNvSpPr>
              <a:spLocks/>
            </p:cNvSpPr>
            <p:nvPr/>
          </p:nvSpPr>
          <p:spPr bwMode="auto">
            <a:xfrm>
              <a:off x="605" y="1499"/>
              <a:ext cx="849" cy="947"/>
            </a:xfrm>
            <a:custGeom>
              <a:avLst/>
              <a:gdLst>
                <a:gd name="G0" fmla="+- 21600 0 0"/>
                <a:gd name="G1" fmla="+- 21600 0 0"/>
                <a:gd name="G2" fmla="+- 21600 0 0"/>
                <a:gd name="T0" fmla="*/ 0 w 21600"/>
                <a:gd name="T1" fmla="*/ 21600 h 21600"/>
                <a:gd name="T2" fmla="*/ 21575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0"/>
                    <a:pt x="9655" y="13"/>
                    <a:pt x="21575" y="0"/>
                  </a:cubicBezTo>
                </a:path>
                <a:path w="21600" h="21600" stroke="0" extrusionOk="0">
                  <a:moveTo>
                    <a:pt x="0" y="21600"/>
                  </a:moveTo>
                  <a:cubicBezTo>
                    <a:pt x="0" y="9680"/>
                    <a:pt x="9655" y="13"/>
                    <a:pt x="21575" y="0"/>
                  </a:cubicBezTo>
                  <a:lnTo>
                    <a:pt x="21600" y="21600"/>
                  </a:lnTo>
                  <a:close/>
                </a:path>
              </a:pathLst>
            </a:custGeom>
            <a:noFill/>
            <a:ln w="25400" cap="rnd">
              <a:solidFill>
                <a:srgbClr val="11CDFF"/>
              </a:solidFill>
              <a:round/>
              <a:headEnd/>
              <a:tailEnd/>
            </a:ln>
            <a:effectLst>
              <a:outerShdw dist="17961" dir="2700000" algn="ctr" rotWithShape="0">
                <a:schemeClr val="bg2"/>
              </a:outerShdw>
            </a:effectLst>
          </p:spPr>
          <p:txBody>
            <a:bodyPr wrap="none" anchor="ctr"/>
            <a:lstStyle/>
            <a:p>
              <a:pPr>
                <a:defRPr/>
              </a:pPr>
              <a:endParaRPr lang="en-US">
                <a:latin typeface="Arial" charset="0"/>
              </a:endParaRPr>
            </a:p>
          </p:txBody>
        </p:sp>
        <p:sp>
          <p:nvSpPr>
            <p:cNvPr id="249863" name="Arc 7"/>
            <p:cNvSpPr>
              <a:spLocks/>
            </p:cNvSpPr>
            <p:nvPr/>
          </p:nvSpPr>
          <p:spPr bwMode="auto">
            <a:xfrm>
              <a:off x="1453" y="1499"/>
              <a:ext cx="223" cy="9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rgbClr val="11CDFF"/>
              </a:solidFill>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grpSp>
      <p:sp>
        <p:nvSpPr>
          <p:cNvPr id="68614" name="Line 8"/>
          <p:cNvSpPr>
            <a:spLocks noChangeShapeType="1"/>
          </p:cNvSpPr>
          <p:nvPr/>
        </p:nvSpPr>
        <p:spPr bwMode="auto">
          <a:xfrm>
            <a:off x="2620963" y="4419600"/>
            <a:ext cx="644525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249865" name="Line 9"/>
          <p:cNvSpPr>
            <a:spLocks noChangeShapeType="1"/>
          </p:cNvSpPr>
          <p:nvPr/>
        </p:nvSpPr>
        <p:spPr bwMode="auto">
          <a:xfrm>
            <a:off x="2603501" y="2614614"/>
            <a:ext cx="6291263" cy="7937"/>
          </a:xfrm>
          <a:prstGeom prst="line">
            <a:avLst/>
          </a:prstGeom>
          <a:noFill/>
          <a:ln w="50800">
            <a:solidFill>
              <a:schemeClr val="accent2"/>
            </a:solidFill>
            <a:prstDash val="sysDot"/>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sp>
        <p:nvSpPr>
          <p:cNvPr id="68616" name="Rectangle 10"/>
          <p:cNvSpPr>
            <a:spLocks noChangeArrowheads="1"/>
          </p:cNvSpPr>
          <p:nvPr/>
        </p:nvSpPr>
        <p:spPr bwMode="auto">
          <a:xfrm>
            <a:off x="9194801" y="4237039"/>
            <a:ext cx="715963" cy="365125"/>
          </a:xfrm>
          <a:prstGeom prst="rect">
            <a:avLst/>
          </a:prstGeom>
          <a:noFill/>
          <a:ln w="12700">
            <a:noFill/>
            <a:miter lim="800000"/>
            <a:headEnd/>
            <a:tailEnd/>
          </a:ln>
        </p:spPr>
        <p:txBody>
          <a:bodyPr wrap="none" lIns="91050" tIns="44633" rIns="91050" bIns="44633">
            <a:prstTxWarp prst="textNoShape">
              <a:avLst/>
            </a:prstTxWarp>
            <a:spAutoFit/>
          </a:bodyPr>
          <a:lstStyle/>
          <a:p>
            <a:pPr algn="l" defTabSz="788988">
              <a:lnSpc>
                <a:spcPct val="100000"/>
              </a:lnSpc>
            </a:pPr>
            <a:r>
              <a:rPr lang="en-US" sz="1800" b="1"/>
              <a:t>Time</a:t>
            </a:r>
          </a:p>
        </p:txBody>
      </p:sp>
      <p:sp>
        <p:nvSpPr>
          <p:cNvPr id="68617" name="Rectangle 11"/>
          <p:cNvSpPr>
            <a:spLocks noChangeArrowheads="1"/>
          </p:cNvSpPr>
          <p:nvPr/>
        </p:nvSpPr>
        <p:spPr bwMode="auto">
          <a:xfrm>
            <a:off x="8913813" y="2297113"/>
            <a:ext cx="1286744" cy="644136"/>
          </a:xfrm>
          <a:prstGeom prst="rect">
            <a:avLst/>
          </a:prstGeom>
          <a:noFill/>
          <a:ln w="12700">
            <a:noFill/>
            <a:miter lim="800000"/>
            <a:headEnd/>
            <a:tailEnd/>
          </a:ln>
        </p:spPr>
        <p:txBody>
          <a:bodyPr wrap="none" lIns="91050" tIns="44633" rIns="91050" bIns="44633">
            <a:prstTxWarp prst="textNoShape">
              <a:avLst/>
            </a:prstTxWarp>
            <a:spAutoFit/>
          </a:bodyPr>
          <a:lstStyle/>
          <a:p>
            <a:pPr algn="l" defTabSz="788988">
              <a:lnSpc>
                <a:spcPct val="100000"/>
              </a:lnSpc>
            </a:pPr>
            <a:r>
              <a:rPr lang="en-US" sz="1800" b="1"/>
              <a:t>Queue </a:t>
            </a:r>
            <a:br>
              <a:rPr lang="en-US" sz="1800" b="1"/>
            </a:br>
            <a:r>
              <a:rPr lang="en-US" sz="1800" b="1"/>
              <a:t>Utilization</a:t>
            </a:r>
          </a:p>
        </p:txBody>
      </p:sp>
      <p:sp>
        <p:nvSpPr>
          <p:cNvPr id="68618" name="Rectangle 12"/>
          <p:cNvSpPr>
            <a:spLocks noChangeArrowheads="1"/>
          </p:cNvSpPr>
          <p:nvPr/>
        </p:nvSpPr>
        <p:spPr bwMode="auto">
          <a:xfrm>
            <a:off x="1795464" y="2436814"/>
            <a:ext cx="773783" cy="367137"/>
          </a:xfrm>
          <a:prstGeom prst="rect">
            <a:avLst/>
          </a:prstGeom>
          <a:noFill/>
          <a:ln w="12700">
            <a:noFill/>
            <a:miter lim="800000"/>
            <a:headEnd/>
            <a:tailEnd/>
          </a:ln>
        </p:spPr>
        <p:txBody>
          <a:bodyPr wrap="none" lIns="91050" tIns="44633" rIns="91050" bIns="44633">
            <a:prstTxWarp prst="textNoShape">
              <a:avLst/>
            </a:prstTxWarp>
            <a:spAutoFit/>
          </a:bodyPr>
          <a:lstStyle/>
          <a:p>
            <a:pPr algn="l" defTabSz="788988">
              <a:lnSpc>
                <a:spcPct val="100000"/>
              </a:lnSpc>
            </a:pPr>
            <a:r>
              <a:rPr lang="en-US" sz="1800" b="1"/>
              <a:t>100%</a:t>
            </a:r>
          </a:p>
        </p:txBody>
      </p:sp>
      <p:sp>
        <p:nvSpPr>
          <p:cNvPr id="68619" name="Line 13"/>
          <p:cNvSpPr>
            <a:spLocks noChangeShapeType="1"/>
          </p:cNvSpPr>
          <p:nvPr/>
        </p:nvSpPr>
        <p:spPr bwMode="auto">
          <a:xfrm>
            <a:off x="4160838" y="1990726"/>
            <a:ext cx="0" cy="2752725"/>
          </a:xfrm>
          <a:prstGeom prst="line">
            <a:avLst/>
          </a:prstGeom>
          <a:noFill/>
          <a:ln w="25400">
            <a:solidFill>
              <a:schemeClr val="tx1"/>
            </a:solidFill>
            <a:prstDash val="dash"/>
            <a:round/>
            <a:headEnd/>
            <a:tailEnd/>
          </a:ln>
        </p:spPr>
        <p:txBody>
          <a:bodyPr wrap="none" anchor="ctr">
            <a:prstTxWarp prst="textNoShape">
              <a:avLst/>
            </a:prstTxWarp>
          </a:bodyPr>
          <a:lstStyle/>
          <a:p>
            <a:endParaRPr lang="en-US"/>
          </a:p>
        </p:txBody>
      </p:sp>
      <p:sp>
        <p:nvSpPr>
          <p:cNvPr id="68620" name="Rectangle 14"/>
          <p:cNvSpPr>
            <a:spLocks noChangeArrowheads="1"/>
          </p:cNvSpPr>
          <p:nvPr/>
        </p:nvSpPr>
        <p:spPr bwMode="auto">
          <a:xfrm>
            <a:off x="3579814" y="4802189"/>
            <a:ext cx="1167033" cy="367137"/>
          </a:xfrm>
          <a:prstGeom prst="rect">
            <a:avLst/>
          </a:prstGeom>
          <a:noFill/>
          <a:ln w="12700">
            <a:noFill/>
            <a:miter lim="800000"/>
            <a:headEnd/>
            <a:tailEnd/>
          </a:ln>
        </p:spPr>
        <p:txBody>
          <a:bodyPr wrap="none" lIns="91050" tIns="44633" rIns="91050" bIns="44633">
            <a:prstTxWarp prst="textNoShape">
              <a:avLst/>
            </a:prstTxWarp>
            <a:spAutoFit/>
          </a:bodyPr>
          <a:lstStyle/>
          <a:p>
            <a:pPr algn="l" defTabSz="788988">
              <a:lnSpc>
                <a:spcPct val="100000"/>
              </a:lnSpc>
            </a:pPr>
            <a:r>
              <a:rPr lang="en-US" sz="1800" b="1"/>
              <a:t>Tail Drop</a:t>
            </a:r>
          </a:p>
        </p:txBody>
      </p:sp>
      <p:sp>
        <p:nvSpPr>
          <p:cNvPr id="68621" name="Line 15"/>
          <p:cNvSpPr>
            <a:spLocks noChangeShapeType="1"/>
          </p:cNvSpPr>
          <p:nvPr/>
        </p:nvSpPr>
        <p:spPr bwMode="auto">
          <a:xfrm flipV="1">
            <a:off x="2592388" y="1924051"/>
            <a:ext cx="0" cy="2524125"/>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68622" name="Rectangle 16"/>
          <p:cNvSpPr>
            <a:spLocks noChangeArrowheads="1"/>
          </p:cNvSpPr>
          <p:nvPr/>
        </p:nvSpPr>
        <p:spPr bwMode="auto">
          <a:xfrm>
            <a:off x="1851026" y="5437189"/>
            <a:ext cx="2428875" cy="638175"/>
          </a:xfrm>
          <a:prstGeom prst="rect">
            <a:avLst/>
          </a:prstGeom>
          <a:noFill/>
          <a:ln w="12700">
            <a:noFill/>
            <a:miter lim="800000"/>
            <a:headEnd/>
            <a:tailEnd/>
          </a:ln>
        </p:spPr>
        <p:txBody>
          <a:bodyPr wrap="none" lIns="91050" tIns="44633" rIns="91050" bIns="44633">
            <a:prstTxWarp prst="textNoShape">
              <a:avLst/>
            </a:prstTxWarp>
            <a:spAutoFit/>
          </a:bodyPr>
          <a:lstStyle/>
          <a:p>
            <a:pPr defTabSz="788988">
              <a:lnSpc>
                <a:spcPct val="100000"/>
              </a:lnSpc>
            </a:pPr>
            <a:r>
              <a:rPr lang="en-US" sz="1800" b="1"/>
              <a:t>3 Traffic Flows Start </a:t>
            </a:r>
            <a:br>
              <a:rPr lang="en-US" sz="1800" b="1"/>
            </a:br>
            <a:r>
              <a:rPr lang="en-US" sz="1800" b="1"/>
              <a:t>at Different Times</a:t>
            </a:r>
          </a:p>
        </p:txBody>
      </p:sp>
      <p:sp>
        <p:nvSpPr>
          <p:cNvPr id="68623" name="Rectangle 17"/>
          <p:cNvSpPr>
            <a:spLocks noChangeArrowheads="1"/>
          </p:cNvSpPr>
          <p:nvPr/>
        </p:nvSpPr>
        <p:spPr bwMode="auto">
          <a:xfrm>
            <a:off x="4697414" y="5437189"/>
            <a:ext cx="2403475" cy="638175"/>
          </a:xfrm>
          <a:prstGeom prst="rect">
            <a:avLst/>
          </a:prstGeom>
          <a:noFill/>
          <a:ln w="12700">
            <a:noFill/>
            <a:miter lim="800000"/>
            <a:headEnd/>
            <a:tailEnd/>
          </a:ln>
        </p:spPr>
        <p:txBody>
          <a:bodyPr wrap="none" lIns="91050" tIns="44633" rIns="91050" bIns="44633">
            <a:prstTxWarp prst="textNoShape">
              <a:avLst/>
            </a:prstTxWarp>
            <a:spAutoFit/>
          </a:bodyPr>
          <a:lstStyle/>
          <a:p>
            <a:pPr algn="l" defTabSz="788988">
              <a:lnSpc>
                <a:spcPct val="100000"/>
              </a:lnSpc>
            </a:pPr>
            <a:r>
              <a:rPr lang="en-US" sz="1800" b="1"/>
              <a:t>Another Traffic Flow</a:t>
            </a:r>
          </a:p>
          <a:p>
            <a:pPr algn="l" defTabSz="788988">
              <a:lnSpc>
                <a:spcPct val="100000"/>
              </a:lnSpc>
            </a:pPr>
            <a:r>
              <a:rPr lang="en-US" sz="1800" b="1"/>
              <a:t>Starts at This Point</a:t>
            </a:r>
          </a:p>
        </p:txBody>
      </p:sp>
      <p:sp>
        <p:nvSpPr>
          <p:cNvPr id="249874" name="Line 18"/>
          <p:cNvSpPr>
            <a:spLocks noChangeShapeType="1"/>
          </p:cNvSpPr>
          <p:nvPr/>
        </p:nvSpPr>
        <p:spPr bwMode="auto">
          <a:xfrm flipH="1" flipV="1">
            <a:off x="2930526" y="4565651"/>
            <a:ext cx="142875" cy="873125"/>
          </a:xfrm>
          <a:prstGeom prst="line">
            <a:avLst/>
          </a:prstGeom>
          <a:noFill/>
          <a:ln w="25400">
            <a:solidFill>
              <a:srgbClr val="669900"/>
            </a:solidFill>
            <a:round/>
            <a:headEnd/>
            <a:tailEnd type="triangle" w="med" len="med"/>
          </a:ln>
          <a:effectLst>
            <a:outerShdw dist="17961" dir="2700000" algn="ctr" rotWithShape="0">
              <a:schemeClr val="tx1"/>
            </a:outerShdw>
          </a:effectLst>
        </p:spPr>
        <p:txBody>
          <a:bodyPr wrap="none" anchor="ctr"/>
          <a:lstStyle/>
          <a:p>
            <a:pPr>
              <a:defRPr/>
            </a:pPr>
            <a:endParaRPr lang="en-US">
              <a:latin typeface="Arial" charset="0"/>
            </a:endParaRPr>
          </a:p>
        </p:txBody>
      </p:sp>
      <p:sp>
        <p:nvSpPr>
          <p:cNvPr id="249875" name="Line 19"/>
          <p:cNvSpPr>
            <a:spLocks noChangeShapeType="1"/>
          </p:cNvSpPr>
          <p:nvPr/>
        </p:nvSpPr>
        <p:spPr bwMode="auto">
          <a:xfrm flipH="1" flipV="1">
            <a:off x="5253039" y="4549776"/>
            <a:ext cx="579437" cy="841375"/>
          </a:xfrm>
          <a:prstGeom prst="line">
            <a:avLst/>
          </a:prstGeom>
          <a:noFill/>
          <a:ln w="25400">
            <a:solidFill>
              <a:srgbClr val="669900"/>
            </a:solidFill>
            <a:round/>
            <a:headEnd/>
            <a:tailEnd type="triangle" w="med" len="med"/>
          </a:ln>
          <a:effectLst>
            <a:outerShdw dist="17961" dir="2700000" algn="ctr" rotWithShape="0">
              <a:schemeClr val="tx1"/>
            </a:outerShdw>
          </a:effectLst>
        </p:spPr>
        <p:txBody>
          <a:bodyPr wrap="none" anchor="ctr"/>
          <a:lstStyle/>
          <a:p>
            <a:pPr>
              <a:defRPr/>
            </a:pPr>
            <a:endParaRPr lang="en-US">
              <a:latin typeface="Arial" charset="0"/>
            </a:endParaRPr>
          </a:p>
        </p:txBody>
      </p:sp>
      <p:grpSp>
        <p:nvGrpSpPr>
          <p:cNvPr id="68626" name="Group 20"/>
          <p:cNvGrpSpPr>
            <a:grpSpLocks/>
          </p:cNvGrpSpPr>
          <p:nvPr/>
        </p:nvGrpSpPr>
        <p:grpSpPr bwMode="auto">
          <a:xfrm>
            <a:off x="2963864" y="3011489"/>
            <a:ext cx="1538287" cy="1362075"/>
            <a:chOff x="806" y="1687"/>
            <a:chExt cx="862" cy="763"/>
          </a:xfrm>
        </p:grpSpPr>
        <p:sp>
          <p:nvSpPr>
            <p:cNvPr id="249877" name="Arc 21"/>
            <p:cNvSpPr>
              <a:spLocks/>
            </p:cNvSpPr>
            <p:nvPr/>
          </p:nvSpPr>
          <p:spPr bwMode="auto">
            <a:xfrm>
              <a:off x="806" y="1687"/>
              <a:ext cx="684" cy="763"/>
            </a:xfrm>
            <a:custGeom>
              <a:avLst/>
              <a:gdLst>
                <a:gd name="G0" fmla="+- 21600 0 0"/>
                <a:gd name="G1" fmla="+- 21600 0 0"/>
                <a:gd name="G2" fmla="+- 21600 0 0"/>
                <a:gd name="T0" fmla="*/ 0 w 21600"/>
                <a:gd name="T1" fmla="*/ 21600 h 21600"/>
                <a:gd name="T2" fmla="*/ 21568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3"/>
                    <a:pt x="9651" y="17"/>
                    <a:pt x="21568" y="0"/>
                  </a:cubicBezTo>
                </a:path>
                <a:path w="21600" h="21600" stroke="0" extrusionOk="0">
                  <a:moveTo>
                    <a:pt x="0" y="21600"/>
                  </a:moveTo>
                  <a:cubicBezTo>
                    <a:pt x="0" y="9683"/>
                    <a:pt x="9651" y="17"/>
                    <a:pt x="21568" y="0"/>
                  </a:cubicBezTo>
                  <a:lnTo>
                    <a:pt x="21600" y="21600"/>
                  </a:lnTo>
                  <a:close/>
                </a:path>
              </a:pathLst>
            </a:custGeom>
            <a:noFill/>
            <a:ln w="25400" cap="rnd">
              <a:solidFill>
                <a:srgbClr val="00CC66"/>
              </a:solidFill>
              <a:round/>
              <a:headEnd/>
              <a:tailEnd/>
            </a:ln>
            <a:effectLst>
              <a:outerShdw dist="17961" dir="2700000" algn="ctr" rotWithShape="0">
                <a:schemeClr val="bg2"/>
              </a:outerShdw>
            </a:effectLst>
          </p:spPr>
          <p:txBody>
            <a:bodyPr wrap="none" anchor="ctr"/>
            <a:lstStyle/>
            <a:p>
              <a:pPr>
                <a:defRPr/>
              </a:pPr>
              <a:endParaRPr lang="en-US">
                <a:latin typeface="Arial" charset="0"/>
              </a:endParaRPr>
            </a:p>
          </p:txBody>
        </p:sp>
        <p:sp>
          <p:nvSpPr>
            <p:cNvPr id="249878" name="Arc 22"/>
            <p:cNvSpPr>
              <a:spLocks/>
            </p:cNvSpPr>
            <p:nvPr/>
          </p:nvSpPr>
          <p:spPr bwMode="auto">
            <a:xfrm>
              <a:off x="1489" y="1687"/>
              <a:ext cx="179" cy="763"/>
            </a:xfrm>
            <a:custGeom>
              <a:avLst/>
              <a:gdLst>
                <a:gd name="G0" fmla="+- 121 0 0"/>
                <a:gd name="G1" fmla="+- 21600 0 0"/>
                <a:gd name="G2" fmla="+- 21600 0 0"/>
                <a:gd name="T0" fmla="*/ 0 w 21721"/>
                <a:gd name="T1" fmla="*/ 0 h 21600"/>
                <a:gd name="T2" fmla="*/ 21721 w 21721"/>
                <a:gd name="T3" fmla="*/ 21600 h 21600"/>
                <a:gd name="T4" fmla="*/ 121 w 21721"/>
                <a:gd name="T5" fmla="*/ 21600 h 21600"/>
              </a:gdLst>
              <a:ahLst/>
              <a:cxnLst>
                <a:cxn ang="0">
                  <a:pos x="T0" y="T1"/>
                </a:cxn>
                <a:cxn ang="0">
                  <a:pos x="T2" y="T3"/>
                </a:cxn>
                <a:cxn ang="0">
                  <a:pos x="T4" y="T5"/>
                </a:cxn>
              </a:cxnLst>
              <a:rect l="0" t="0" r="r" b="b"/>
              <a:pathLst>
                <a:path w="21721" h="21600" fill="none" extrusionOk="0">
                  <a:moveTo>
                    <a:pt x="0" y="0"/>
                  </a:moveTo>
                  <a:cubicBezTo>
                    <a:pt x="40" y="0"/>
                    <a:pt x="80" y="-1"/>
                    <a:pt x="121" y="0"/>
                  </a:cubicBezTo>
                  <a:cubicBezTo>
                    <a:pt x="12050" y="0"/>
                    <a:pt x="21721" y="9670"/>
                    <a:pt x="21721" y="21600"/>
                  </a:cubicBezTo>
                </a:path>
                <a:path w="21721" h="21600" stroke="0" extrusionOk="0">
                  <a:moveTo>
                    <a:pt x="0" y="0"/>
                  </a:moveTo>
                  <a:cubicBezTo>
                    <a:pt x="40" y="0"/>
                    <a:pt x="80" y="-1"/>
                    <a:pt x="121" y="0"/>
                  </a:cubicBezTo>
                  <a:cubicBezTo>
                    <a:pt x="12050" y="0"/>
                    <a:pt x="21721" y="9670"/>
                    <a:pt x="21721" y="21600"/>
                  </a:cubicBezTo>
                  <a:lnTo>
                    <a:pt x="121" y="21600"/>
                  </a:lnTo>
                  <a:close/>
                </a:path>
              </a:pathLst>
            </a:custGeom>
            <a:noFill/>
            <a:ln w="25400" cap="rnd">
              <a:solidFill>
                <a:srgbClr val="00CC66"/>
              </a:solidFill>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grpSp>
      <p:grpSp>
        <p:nvGrpSpPr>
          <p:cNvPr id="68627" name="Group 23"/>
          <p:cNvGrpSpPr>
            <a:grpSpLocks/>
          </p:cNvGrpSpPr>
          <p:nvPr/>
        </p:nvGrpSpPr>
        <p:grpSpPr bwMode="auto">
          <a:xfrm>
            <a:off x="3314701" y="3341689"/>
            <a:ext cx="1179513" cy="1044575"/>
            <a:chOff x="1003" y="1872"/>
            <a:chExt cx="660" cy="585"/>
          </a:xfrm>
        </p:grpSpPr>
        <p:sp>
          <p:nvSpPr>
            <p:cNvPr id="249880" name="Arc 24"/>
            <p:cNvSpPr>
              <a:spLocks/>
            </p:cNvSpPr>
            <p:nvPr/>
          </p:nvSpPr>
          <p:spPr bwMode="auto">
            <a:xfrm>
              <a:off x="1003" y="1872"/>
              <a:ext cx="524" cy="585"/>
            </a:xfrm>
            <a:custGeom>
              <a:avLst/>
              <a:gdLst>
                <a:gd name="G0" fmla="+- 21600 0 0"/>
                <a:gd name="G1" fmla="+- 21600 0 0"/>
                <a:gd name="G2" fmla="+- 21600 0 0"/>
                <a:gd name="T0" fmla="*/ 0 w 21600"/>
                <a:gd name="T1" fmla="*/ 21600 h 21600"/>
                <a:gd name="T2" fmla="*/ 21559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6"/>
                    <a:pt x="9645" y="22"/>
                    <a:pt x="21559" y="0"/>
                  </a:cubicBezTo>
                </a:path>
                <a:path w="21600" h="21600" stroke="0" extrusionOk="0">
                  <a:moveTo>
                    <a:pt x="0" y="21600"/>
                  </a:moveTo>
                  <a:cubicBezTo>
                    <a:pt x="0" y="9686"/>
                    <a:pt x="9645" y="22"/>
                    <a:pt x="21559" y="0"/>
                  </a:cubicBezTo>
                  <a:lnTo>
                    <a:pt x="21600" y="21600"/>
                  </a:lnTo>
                  <a:close/>
                </a:path>
              </a:pathLst>
            </a:custGeom>
            <a:noFill/>
            <a:ln w="25400" cap="rnd">
              <a:solidFill>
                <a:schemeClr val="accent2"/>
              </a:solidFill>
              <a:round/>
              <a:headEnd/>
              <a:tailEnd/>
            </a:ln>
            <a:effectLst>
              <a:outerShdw dist="17961" dir="2700000" algn="ctr" rotWithShape="0">
                <a:schemeClr val="bg2"/>
              </a:outerShdw>
            </a:effectLst>
          </p:spPr>
          <p:txBody>
            <a:bodyPr wrap="none" anchor="ctr"/>
            <a:lstStyle/>
            <a:p>
              <a:pPr>
                <a:defRPr/>
              </a:pPr>
              <a:endParaRPr lang="en-US">
                <a:latin typeface="Arial" charset="0"/>
              </a:endParaRPr>
            </a:p>
          </p:txBody>
        </p:sp>
        <p:sp>
          <p:nvSpPr>
            <p:cNvPr id="249881" name="Arc 25"/>
            <p:cNvSpPr>
              <a:spLocks/>
            </p:cNvSpPr>
            <p:nvPr/>
          </p:nvSpPr>
          <p:spPr bwMode="auto">
            <a:xfrm>
              <a:off x="1527" y="1872"/>
              <a:ext cx="136" cy="585"/>
            </a:xfrm>
            <a:custGeom>
              <a:avLst/>
              <a:gdLst>
                <a:gd name="G0" fmla="+- 159 0 0"/>
                <a:gd name="G1" fmla="+- 21600 0 0"/>
                <a:gd name="G2" fmla="+- 21600 0 0"/>
                <a:gd name="T0" fmla="*/ 0 w 21759"/>
                <a:gd name="T1" fmla="*/ 1 h 21600"/>
                <a:gd name="T2" fmla="*/ 21759 w 21759"/>
                <a:gd name="T3" fmla="*/ 21600 h 21600"/>
                <a:gd name="T4" fmla="*/ 159 w 21759"/>
                <a:gd name="T5" fmla="*/ 21600 h 21600"/>
              </a:gdLst>
              <a:ahLst/>
              <a:cxnLst>
                <a:cxn ang="0">
                  <a:pos x="T0" y="T1"/>
                </a:cxn>
                <a:cxn ang="0">
                  <a:pos x="T2" y="T3"/>
                </a:cxn>
                <a:cxn ang="0">
                  <a:pos x="T4" y="T5"/>
                </a:cxn>
              </a:cxnLst>
              <a:rect l="0" t="0" r="r" b="b"/>
              <a:pathLst>
                <a:path w="21759" h="21600" fill="none" extrusionOk="0">
                  <a:moveTo>
                    <a:pt x="-1" y="0"/>
                  </a:moveTo>
                  <a:cubicBezTo>
                    <a:pt x="52" y="0"/>
                    <a:pt x="105" y="-1"/>
                    <a:pt x="159" y="0"/>
                  </a:cubicBezTo>
                  <a:cubicBezTo>
                    <a:pt x="12088" y="0"/>
                    <a:pt x="21759" y="9670"/>
                    <a:pt x="21759" y="21600"/>
                  </a:cubicBezTo>
                </a:path>
                <a:path w="21759" h="21600" stroke="0" extrusionOk="0">
                  <a:moveTo>
                    <a:pt x="-1" y="0"/>
                  </a:moveTo>
                  <a:cubicBezTo>
                    <a:pt x="52" y="0"/>
                    <a:pt x="105" y="-1"/>
                    <a:pt x="159" y="0"/>
                  </a:cubicBezTo>
                  <a:cubicBezTo>
                    <a:pt x="12088" y="0"/>
                    <a:pt x="21759" y="9670"/>
                    <a:pt x="21759" y="21600"/>
                  </a:cubicBezTo>
                  <a:lnTo>
                    <a:pt x="159" y="21600"/>
                  </a:lnTo>
                  <a:close/>
                </a:path>
              </a:pathLst>
            </a:custGeom>
            <a:noFill/>
            <a:ln w="25400" cap="rnd">
              <a:solidFill>
                <a:schemeClr val="accent2"/>
              </a:solidFill>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grpSp>
      <p:grpSp>
        <p:nvGrpSpPr>
          <p:cNvPr id="68628" name="Group 26"/>
          <p:cNvGrpSpPr>
            <a:grpSpLocks/>
          </p:cNvGrpSpPr>
          <p:nvPr/>
        </p:nvGrpSpPr>
        <p:grpSpPr bwMode="auto">
          <a:xfrm>
            <a:off x="4614864" y="2674939"/>
            <a:ext cx="1912937" cy="1690687"/>
            <a:chOff x="1731" y="1499"/>
            <a:chExt cx="1071" cy="947"/>
          </a:xfrm>
        </p:grpSpPr>
        <p:sp>
          <p:nvSpPr>
            <p:cNvPr id="249883" name="Arc 27"/>
            <p:cNvSpPr>
              <a:spLocks/>
            </p:cNvSpPr>
            <p:nvPr/>
          </p:nvSpPr>
          <p:spPr bwMode="auto">
            <a:xfrm>
              <a:off x="1731" y="1499"/>
              <a:ext cx="849" cy="947"/>
            </a:xfrm>
            <a:custGeom>
              <a:avLst/>
              <a:gdLst>
                <a:gd name="G0" fmla="+- 21600 0 0"/>
                <a:gd name="G1" fmla="+- 21600 0 0"/>
                <a:gd name="G2" fmla="+- 21600 0 0"/>
                <a:gd name="T0" fmla="*/ 0 w 21600"/>
                <a:gd name="T1" fmla="*/ 21600 h 21600"/>
                <a:gd name="T2" fmla="*/ 21575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0"/>
                    <a:pt x="9655" y="13"/>
                    <a:pt x="21575" y="0"/>
                  </a:cubicBezTo>
                </a:path>
                <a:path w="21600" h="21600" stroke="0" extrusionOk="0">
                  <a:moveTo>
                    <a:pt x="0" y="21600"/>
                  </a:moveTo>
                  <a:cubicBezTo>
                    <a:pt x="0" y="9680"/>
                    <a:pt x="9655" y="13"/>
                    <a:pt x="21575" y="0"/>
                  </a:cubicBezTo>
                  <a:lnTo>
                    <a:pt x="21600" y="21600"/>
                  </a:lnTo>
                  <a:close/>
                </a:path>
              </a:pathLst>
            </a:custGeom>
            <a:noFill/>
            <a:ln w="25400" cap="rnd">
              <a:solidFill>
                <a:srgbClr val="00CC66"/>
              </a:solidFill>
              <a:round/>
              <a:headEnd/>
              <a:tailEnd/>
            </a:ln>
            <a:effectLst>
              <a:outerShdw dist="17961" dir="2700000" algn="ctr" rotWithShape="0">
                <a:schemeClr val="bg2"/>
              </a:outerShdw>
            </a:effectLst>
          </p:spPr>
          <p:txBody>
            <a:bodyPr wrap="none" anchor="ctr"/>
            <a:lstStyle/>
            <a:p>
              <a:pPr>
                <a:defRPr/>
              </a:pPr>
              <a:endParaRPr lang="en-US">
                <a:latin typeface="Arial" charset="0"/>
              </a:endParaRPr>
            </a:p>
          </p:txBody>
        </p:sp>
        <p:sp>
          <p:nvSpPr>
            <p:cNvPr id="249884" name="Arc 28"/>
            <p:cNvSpPr>
              <a:spLocks/>
            </p:cNvSpPr>
            <p:nvPr/>
          </p:nvSpPr>
          <p:spPr bwMode="auto">
            <a:xfrm>
              <a:off x="2579" y="1499"/>
              <a:ext cx="223" cy="9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rgbClr val="00CC66"/>
              </a:solidFill>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grpSp>
      <p:grpSp>
        <p:nvGrpSpPr>
          <p:cNvPr id="68629" name="Group 29"/>
          <p:cNvGrpSpPr>
            <a:grpSpLocks/>
          </p:cNvGrpSpPr>
          <p:nvPr/>
        </p:nvGrpSpPr>
        <p:grpSpPr bwMode="auto">
          <a:xfrm>
            <a:off x="4529139" y="2674939"/>
            <a:ext cx="1912937" cy="1690687"/>
            <a:chOff x="1683" y="1499"/>
            <a:chExt cx="1071" cy="947"/>
          </a:xfrm>
        </p:grpSpPr>
        <p:sp>
          <p:nvSpPr>
            <p:cNvPr id="249886" name="Arc 30"/>
            <p:cNvSpPr>
              <a:spLocks/>
            </p:cNvSpPr>
            <p:nvPr/>
          </p:nvSpPr>
          <p:spPr bwMode="auto">
            <a:xfrm>
              <a:off x="1683" y="1499"/>
              <a:ext cx="849" cy="947"/>
            </a:xfrm>
            <a:custGeom>
              <a:avLst/>
              <a:gdLst>
                <a:gd name="G0" fmla="+- 21600 0 0"/>
                <a:gd name="G1" fmla="+- 21600 0 0"/>
                <a:gd name="G2" fmla="+- 21600 0 0"/>
                <a:gd name="T0" fmla="*/ 0 w 21600"/>
                <a:gd name="T1" fmla="*/ 21600 h 21600"/>
                <a:gd name="T2" fmla="*/ 21575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0"/>
                    <a:pt x="9655" y="13"/>
                    <a:pt x="21575" y="0"/>
                  </a:cubicBezTo>
                </a:path>
                <a:path w="21600" h="21600" stroke="0" extrusionOk="0">
                  <a:moveTo>
                    <a:pt x="0" y="21600"/>
                  </a:moveTo>
                  <a:cubicBezTo>
                    <a:pt x="0" y="9680"/>
                    <a:pt x="9655" y="13"/>
                    <a:pt x="21575" y="0"/>
                  </a:cubicBezTo>
                  <a:lnTo>
                    <a:pt x="21600" y="21600"/>
                  </a:lnTo>
                  <a:close/>
                </a:path>
              </a:pathLst>
            </a:custGeom>
            <a:noFill/>
            <a:ln w="25400" cap="rnd">
              <a:solidFill>
                <a:srgbClr val="11CDFF"/>
              </a:solidFill>
              <a:round/>
              <a:headEnd/>
              <a:tailEnd/>
            </a:ln>
            <a:effectLst>
              <a:outerShdw dist="17961" dir="2700000" algn="ctr" rotWithShape="0">
                <a:schemeClr val="bg2"/>
              </a:outerShdw>
            </a:effectLst>
          </p:spPr>
          <p:txBody>
            <a:bodyPr wrap="none" anchor="ctr"/>
            <a:lstStyle/>
            <a:p>
              <a:pPr>
                <a:defRPr/>
              </a:pPr>
              <a:endParaRPr lang="en-US">
                <a:latin typeface="Arial" charset="0"/>
              </a:endParaRPr>
            </a:p>
          </p:txBody>
        </p:sp>
        <p:sp>
          <p:nvSpPr>
            <p:cNvPr id="249887" name="Arc 31"/>
            <p:cNvSpPr>
              <a:spLocks/>
            </p:cNvSpPr>
            <p:nvPr/>
          </p:nvSpPr>
          <p:spPr bwMode="auto">
            <a:xfrm>
              <a:off x="2531" y="1499"/>
              <a:ext cx="223" cy="9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rgbClr val="11CDFF"/>
              </a:solidFill>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grpSp>
      <p:grpSp>
        <p:nvGrpSpPr>
          <p:cNvPr id="68630" name="Group 32"/>
          <p:cNvGrpSpPr>
            <a:grpSpLocks/>
          </p:cNvGrpSpPr>
          <p:nvPr/>
        </p:nvGrpSpPr>
        <p:grpSpPr bwMode="auto">
          <a:xfrm>
            <a:off x="4700589" y="2674939"/>
            <a:ext cx="1912937" cy="1690687"/>
            <a:chOff x="1779" y="1499"/>
            <a:chExt cx="1071" cy="947"/>
          </a:xfrm>
        </p:grpSpPr>
        <p:sp>
          <p:nvSpPr>
            <p:cNvPr id="249889" name="Arc 33"/>
            <p:cNvSpPr>
              <a:spLocks/>
            </p:cNvSpPr>
            <p:nvPr/>
          </p:nvSpPr>
          <p:spPr bwMode="auto">
            <a:xfrm>
              <a:off x="1779" y="1499"/>
              <a:ext cx="849" cy="947"/>
            </a:xfrm>
            <a:custGeom>
              <a:avLst/>
              <a:gdLst>
                <a:gd name="G0" fmla="+- 21600 0 0"/>
                <a:gd name="G1" fmla="+- 21600 0 0"/>
                <a:gd name="G2" fmla="+- 21600 0 0"/>
                <a:gd name="T0" fmla="*/ 0 w 21600"/>
                <a:gd name="T1" fmla="*/ 21600 h 21600"/>
                <a:gd name="T2" fmla="*/ 21575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0"/>
                    <a:pt x="9655" y="13"/>
                    <a:pt x="21575" y="0"/>
                  </a:cubicBezTo>
                </a:path>
                <a:path w="21600" h="21600" stroke="0" extrusionOk="0">
                  <a:moveTo>
                    <a:pt x="0" y="21600"/>
                  </a:moveTo>
                  <a:cubicBezTo>
                    <a:pt x="0" y="9680"/>
                    <a:pt x="9655" y="13"/>
                    <a:pt x="21575" y="0"/>
                  </a:cubicBezTo>
                  <a:lnTo>
                    <a:pt x="21600" y="21600"/>
                  </a:lnTo>
                  <a:close/>
                </a:path>
              </a:pathLst>
            </a:custGeom>
            <a:noFill/>
            <a:ln w="25400" cap="rnd">
              <a:solidFill>
                <a:schemeClr val="accent2"/>
              </a:solidFill>
              <a:round/>
              <a:headEnd/>
              <a:tailEnd/>
            </a:ln>
            <a:effectLst>
              <a:outerShdw dist="17961" dir="2700000" algn="ctr" rotWithShape="0">
                <a:schemeClr val="bg2"/>
              </a:outerShdw>
            </a:effectLst>
          </p:spPr>
          <p:txBody>
            <a:bodyPr wrap="none" anchor="ctr"/>
            <a:lstStyle/>
            <a:p>
              <a:pPr>
                <a:defRPr/>
              </a:pPr>
              <a:endParaRPr lang="en-US">
                <a:latin typeface="Arial" charset="0"/>
              </a:endParaRPr>
            </a:p>
          </p:txBody>
        </p:sp>
        <p:sp>
          <p:nvSpPr>
            <p:cNvPr id="249890" name="Arc 34"/>
            <p:cNvSpPr>
              <a:spLocks/>
            </p:cNvSpPr>
            <p:nvPr/>
          </p:nvSpPr>
          <p:spPr bwMode="auto">
            <a:xfrm>
              <a:off x="2627" y="1499"/>
              <a:ext cx="223" cy="9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accent2"/>
              </a:solidFill>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grpSp>
      <p:grpSp>
        <p:nvGrpSpPr>
          <p:cNvPr id="68631" name="Group 35"/>
          <p:cNvGrpSpPr>
            <a:grpSpLocks/>
          </p:cNvGrpSpPr>
          <p:nvPr/>
        </p:nvGrpSpPr>
        <p:grpSpPr bwMode="auto">
          <a:xfrm>
            <a:off x="5254626" y="3328989"/>
            <a:ext cx="1177925" cy="1044575"/>
            <a:chOff x="2089" y="1865"/>
            <a:chExt cx="660" cy="585"/>
          </a:xfrm>
        </p:grpSpPr>
        <p:sp>
          <p:nvSpPr>
            <p:cNvPr id="68644" name="Arc 36"/>
            <p:cNvSpPr>
              <a:spLocks/>
            </p:cNvSpPr>
            <p:nvPr/>
          </p:nvSpPr>
          <p:spPr bwMode="auto">
            <a:xfrm>
              <a:off x="2089" y="1865"/>
              <a:ext cx="524" cy="585"/>
            </a:xfrm>
            <a:custGeom>
              <a:avLst/>
              <a:gdLst>
                <a:gd name="T0" fmla="*/ 0 w 21600"/>
                <a:gd name="T1" fmla="*/ 585 h 21600"/>
                <a:gd name="T2" fmla="*/ 523 w 21600"/>
                <a:gd name="T3" fmla="*/ 0 h 21600"/>
                <a:gd name="T4" fmla="*/ 524 w 21600"/>
                <a:gd name="T5" fmla="*/ 58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6"/>
                    <a:pt x="9645" y="22"/>
                    <a:pt x="21559" y="0"/>
                  </a:cubicBezTo>
                </a:path>
                <a:path w="21600" h="21600" stroke="0" extrusionOk="0">
                  <a:moveTo>
                    <a:pt x="0" y="21600"/>
                  </a:moveTo>
                  <a:cubicBezTo>
                    <a:pt x="0" y="9686"/>
                    <a:pt x="9645" y="22"/>
                    <a:pt x="21559" y="0"/>
                  </a:cubicBezTo>
                  <a:lnTo>
                    <a:pt x="21600" y="21600"/>
                  </a:lnTo>
                  <a:close/>
                </a:path>
              </a:pathLst>
            </a:custGeom>
            <a:noFill/>
            <a:ln w="25400" cap="rnd">
              <a:solidFill>
                <a:schemeClr val="tx1"/>
              </a:solidFill>
              <a:round/>
              <a:headEnd/>
              <a:tailEnd/>
            </a:ln>
          </p:spPr>
          <p:txBody>
            <a:bodyPr wrap="none" anchor="ctr">
              <a:prstTxWarp prst="textNoShape">
                <a:avLst/>
              </a:prstTxWarp>
            </a:bodyPr>
            <a:lstStyle/>
            <a:p>
              <a:endParaRPr lang="en-US"/>
            </a:p>
          </p:txBody>
        </p:sp>
        <p:sp>
          <p:nvSpPr>
            <p:cNvPr id="68645" name="Arc 37"/>
            <p:cNvSpPr>
              <a:spLocks/>
            </p:cNvSpPr>
            <p:nvPr/>
          </p:nvSpPr>
          <p:spPr bwMode="auto">
            <a:xfrm>
              <a:off x="2613" y="1865"/>
              <a:ext cx="136" cy="585"/>
            </a:xfrm>
            <a:custGeom>
              <a:avLst/>
              <a:gdLst>
                <a:gd name="T0" fmla="*/ 0 w 21759"/>
                <a:gd name="T1" fmla="*/ 0 h 21600"/>
                <a:gd name="T2" fmla="*/ 136 w 21759"/>
                <a:gd name="T3" fmla="*/ 585 h 21600"/>
                <a:gd name="T4" fmla="*/ 1 w 21759"/>
                <a:gd name="T5" fmla="*/ 585 h 21600"/>
                <a:gd name="T6" fmla="*/ 0 60000 65536"/>
                <a:gd name="T7" fmla="*/ 0 60000 65536"/>
                <a:gd name="T8" fmla="*/ 0 60000 65536"/>
                <a:gd name="T9" fmla="*/ 0 w 21759"/>
                <a:gd name="T10" fmla="*/ 0 h 21600"/>
                <a:gd name="T11" fmla="*/ 21759 w 21759"/>
                <a:gd name="T12" fmla="*/ 21600 h 21600"/>
              </a:gdLst>
              <a:ahLst/>
              <a:cxnLst>
                <a:cxn ang="T6">
                  <a:pos x="T0" y="T1"/>
                </a:cxn>
                <a:cxn ang="T7">
                  <a:pos x="T2" y="T3"/>
                </a:cxn>
                <a:cxn ang="T8">
                  <a:pos x="T4" y="T5"/>
                </a:cxn>
              </a:cxnLst>
              <a:rect l="T9" t="T10" r="T11" b="T12"/>
              <a:pathLst>
                <a:path w="21759" h="21600" fill="none" extrusionOk="0">
                  <a:moveTo>
                    <a:pt x="-1" y="0"/>
                  </a:moveTo>
                  <a:cubicBezTo>
                    <a:pt x="52" y="0"/>
                    <a:pt x="105" y="-1"/>
                    <a:pt x="159" y="0"/>
                  </a:cubicBezTo>
                  <a:cubicBezTo>
                    <a:pt x="12088" y="0"/>
                    <a:pt x="21759" y="9670"/>
                    <a:pt x="21759" y="21600"/>
                  </a:cubicBezTo>
                </a:path>
                <a:path w="21759" h="21600" stroke="0" extrusionOk="0">
                  <a:moveTo>
                    <a:pt x="-1" y="0"/>
                  </a:moveTo>
                  <a:cubicBezTo>
                    <a:pt x="52" y="0"/>
                    <a:pt x="105" y="-1"/>
                    <a:pt x="159" y="0"/>
                  </a:cubicBezTo>
                  <a:cubicBezTo>
                    <a:pt x="12088" y="0"/>
                    <a:pt x="21759" y="9670"/>
                    <a:pt x="21759" y="21600"/>
                  </a:cubicBezTo>
                  <a:lnTo>
                    <a:pt x="159" y="21600"/>
                  </a:lnTo>
                  <a:close/>
                </a:path>
              </a:pathLst>
            </a:custGeom>
            <a:noFill/>
            <a:ln w="25400" cap="rnd">
              <a:solidFill>
                <a:schemeClr val="tx1"/>
              </a:solidFill>
              <a:round/>
              <a:headEnd/>
              <a:tailEnd/>
            </a:ln>
          </p:spPr>
          <p:txBody>
            <a:bodyPr wrap="none" anchor="ctr">
              <a:prstTxWarp prst="textNoShape">
                <a:avLst/>
              </a:prstTxWarp>
            </a:bodyPr>
            <a:lstStyle/>
            <a:p>
              <a:endParaRPr lang="en-US"/>
            </a:p>
          </p:txBody>
        </p:sp>
      </p:grpSp>
      <p:grpSp>
        <p:nvGrpSpPr>
          <p:cNvPr id="68632" name="Group 38"/>
          <p:cNvGrpSpPr>
            <a:grpSpLocks/>
          </p:cNvGrpSpPr>
          <p:nvPr/>
        </p:nvGrpSpPr>
        <p:grpSpPr bwMode="auto">
          <a:xfrm>
            <a:off x="6672263" y="2682875"/>
            <a:ext cx="1911350" cy="1690688"/>
            <a:chOff x="2883" y="1503"/>
            <a:chExt cx="1071" cy="947"/>
          </a:xfrm>
        </p:grpSpPr>
        <p:sp>
          <p:nvSpPr>
            <p:cNvPr id="249895" name="Arc 39"/>
            <p:cNvSpPr>
              <a:spLocks/>
            </p:cNvSpPr>
            <p:nvPr/>
          </p:nvSpPr>
          <p:spPr bwMode="auto">
            <a:xfrm>
              <a:off x="2883" y="1503"/>
              <a:ext cx="849" cy="947"/>
            </a:xfrm>
            <a:custGeom>
              <a:avLst/>
              <a:gdLst>
                <a:gd name="G0" fmla="+- 21600 0 0"/>
                <a:gd name="G1" fmla="+- 21600 0 0"/>
                <a:gd name="G2" fmla="+- 21600 0 0"/>
                <a:gd name="T0" fmla="*/ 0 w 21600"/>
                <a:gd name="T1" fmla="*/ 21600 h 21600"/>
                <a:gd name="T2" fmla="*/ 21575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0"/>
                    <a:pt x="9655" y="13"/>
                    <a:pt x="21575" y="0"/>
                  </a:cubicBezTo>
                </a:path>
                <a:path w="21600" h="21600" stroke="0" extrusionOk="0">
                  <a:moveTo>
                    <a:pt x="0" y="21600"/>
                  </a:moveTo>
                  <a:cubicBezTo>
                    <a:pt x="0" y="9680"/>
                    <a:pt x="9655" y="13"/>
                    <a:pt x="21575" y="0"/>
                  </a:cubicBezTo>
                  <a:lnTo>
                    <a:pt x="21600" y="21600"/>
                  </a:lnTo>
                  <a:close/>
                </a:path>
              </a:pathLst>
            </a:custGeom>
            <a:noFill/>
            <a:ln w="25400" cap="rnd">
              <a:solidFill>
                <a:srgbClr val="00CC66"/>
              </a:solidFill>
              <a:round/>
              <a:headEnd/>
              <a:tailEnd/>
            </a:ln>
            <a:effectLst>
              <a:outerShdw dist="17961" dir="2700000" algn="ctr" rotWithShape="0">
                <a:schemeClr val="bg2"/>
              </a:outerShdw>
            </a:effectLst>
          </p:spPr>
          <p:txBody>
            <a:bodyPr wrap="none" anchor="ctr"/>
            <a:lstStyle/>
            <a:p>
              <a:pPr>
                <a:defRPr/>
              </a:pPr>
              <a:endParaRPr lang="en-US">
                <a:latin typeface="Arial" charset="0"/>
              </a:endParaRPr>
            </a:p>
          </p:txBody>
        </p:sp>
        <p:sp>
          <p:nvSpPr>
            <p:cNvPr id="249896" name="Arc 40"/>
            <p:cNvSpPr>
              <a:spLocks/>
            </p:cNvSpPr>
            <p:nvPr/>
          </p:nvSpPr>
          <p:spPr bwMode="auto">
            <a:xfrm>
              <a:off x="3731" y="1503"/>
              <a:ext cx="223" cy="9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rgbClr val="00CC66"/>
              </a:solidFill>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grpSp>
      <p:grpSp>
        <p:nvGrpSpPr>
          <p:cNvPr id="68633" name="Group 41"/>
          <p:cNvGrpSpPr>
            <a:grpSpLocks/>
          </p:cNvGrpSpPr>
          <p:nvPr/>
        </p:nvGrpSpPr>
        <p:grpSpPr bwMode="auto">
          <a:xfrm>
            <a:off x="6586538" y="2682875"/>
            <a:ext cx="1911350" cy="1690688"/>
            <a:chOff x="2835" y="1503"/>
            <a:chExt cx="1071" cy="947"/>
          </a:xfrm>
        </p:grpSpPr>
        <p:sp>
          <p:nvSpPr>
            <p:cNvPr id="249898" name="Arc 42"/>
            <p:cNvSpPr>
              <a:spLocks/>
            </p:cNvSpPr>
            <p:nvPr/>
          </p:nvSpPr>
          <p:spPr bwMode="auto">
            <a:xfrm>
              <a:off x="2835" y="1503"/>
              <a:ext cx="849" cy="947"/>
            </a:xfrm>
            <a:custGeom>
              <a:avLst/>
              <a:gdLst>
                <a:gd name="G0" fmla="+- 21600 0 0"/>
                <a:gd name="G1" fmla="+- 21600 0 0"/>
                <a:gd name="G2" fmla="+- 21600 0 0"/>
                <a:gd name="T0" fmla="*/ 0 w 21600"/>
                <a:gd name="T1" fmla="*/ 21600 h 21600"/>
                <a:gd name="T2" fmla="*/ 21575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0"/>
                    <a:pt x="9655" y="13"/>
                    <a:pt x="21575" y="0"/>
                  </a:cubicBezTo>
                </a:path>
                <a:path w="21600" h="21600" stroke="0" extrusionOk="0">
                  <a:moveTo>
                    <a:pt x="0" y="21600"/>
                  </a:moveTo>
                  <a:cubicBezTo>
                    <a:pt x="0" y="9680"/>
                    <a:pt x="9655" y="13"/>
                    <a:pt x="21575" y="0"/>
                  </a:cubicBezTo>
                  <a:lnTo>
                    <a:pt x="21600" y="21600"/>
                  </a:lnTo>
                  <a:close/>
                </a:path>
              </a:pathLst>
            </a:custGeom>
            <a:noFill/>
            <a:ln w="25400" cap="rnd">
              <a:solidFill>
                <a:srgbClr val="11CDFF"/>
              </a:solidFill>
              <a:round/>
              <a:headEnd/>
              <a:tailEnd/>
            </a:ln>
            <a:effectLst>
              <a:outerShdw dist="17961" dir="2700000" algn="ctr" rotWithShape="0">
                <a:schemeClr val="bg2"/>
              </a:outerShdw>
            </a:effectLst>
          </p:spPr>
          <p:txBody>
            <a:bodyPr wrap="none" anchor="ctr"/>
            <a:lstStyle/>
            <a:p>
              <a:pPr>
                <a:defRPr/>
              </a:pPr>
              <a:endParaRPr lang="en-US">
                <a:latin typeface="Arial" charset="0"/>
              </a:endParaRPr>
            </a:p>
          </p:txBody>
        </p:sp>
        <p:sp>
          <p:nvSpPr>
            <p:cNvPr id="249899" name="Arc 43"/>
            <p:cNvSpPr>
              <a:spLocks/>
            </p:cNvSpPr>
            <p:nvPr/>
          </p:nvSpPr>
          <p:spPr bwMode="auto">
            <a:xfrm>
              <a:off x="3683" y="1503"/>
              <a:ext cx="223" cy="9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rgbClr val="11CDFF"/>
              </a:solidFill>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grpSp>
      <p:grpSp>
        <p:nvGrpSpPr>
          <p:cNvPr id="68634" name="Group 44"/>
          <p:cNvGrpSpPr>
            <a:grpSpLocks/>
          </p:cNvGrpSpPr>
          <p:nvPr/>
        </p:nvGrpSpPr>
        <p:grpSpPr bwMode="auto">
          <a:xfrm>
            <a:off x="6757988" y="2682875"/>
            <a:ext cx="1911350" cy="1690688"/>
            <a:chOff x="2931" y="1503"/>
            <a:chExt cx="1071" cy="947"/>
          </a:xfrm>
        </p:grpSpPr>
        <p:sp>
          <p:nvSpPr>
            <p:cNvPr id="249901" name="Arc 45"/>
            <p:cNvSpPr>
              <a:spLocks/>
            </p:cNvSpPr>
            <p:nvPr/>
          </p:nvSpPr>
          <p:spPr bwMode="auto">
            <a:xfrm>
              <a:off x="2931" y="1503"/>
              <a:ext cx="849" cy="947"/>
            </a:xfrm>
            <a:custGeom>
              <a:avLst/>
              <a:gdLst>
                <a:gd name="G0" fmla="+- 21600 0 0"/>
                <a:gd name="G1" fmla="+- 21600 0 0"/>
                <a:gd name="G2" fmla="+- 21600 0 0"/>
                <a:gd name="T0" fmla="*/ 0 w 21600"/>
                <a:gd name="T1" fmla="*/ 21600 h 21600"/>
                <a:gd name="T2" fmla="*/ 21575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0"/>
                    <a:pt x="9655" y="13"/>
                    <a:pt x="21575" y="0"/>
                  </a:cubicBezTo>
                </a:path>
                <a:path w="21600" h="21600" stroke="0" extrusionOk="0">
                  <a:moveTo>
                    <a:pt x="0" y="21600"/>
                  </a:moveTo>
                  <a:cubicBezTo>
                    <a:pt x="0" y="9680"/>
                    <a:pt x="9655" y="13"/>
                    <a:pt x="21575" y="0"/>
                  </a:cubicBezTo>
                  <a:lnTo>
                    <a:pt x="21600" y="21600"/>
                  </a:lnTo>
                  <a:close/>
                </a:path>
              </a:pathLst>
            </a:custGeom>
            <a:noFill/>
            <a:ln w="25400" cap="rnd">
              <a:solidFill>
                <a:schemeClr val="accent2"/>
              </a:solidFill>
              <a:round/>
              <a:headEnd/>
              <a:tailEnd/>
            </a:ln>
            <a:effectLst>
              <a:outerShdw dist="17961" dir="2700000" algn="ctr" rotWithShape="0">
                <a:schemeClr val="bg2"/>
              </a:outerShdw>
            </a:effectLst>
          </p:spPr>
          <p:txBody>
            <a:bodyPr wrap="none" anchor="ctr"/>
            <a:lstStyle/>
            <a:p>
              <a:pPr>
                <a:defRPr/>
              </a:pPr>
              <a:endParaRPr lang="en-US">
                <a:latin typeface="Arial" charset="0"/>
              </a:endParaRPr>
            </a:p>
          </p:txBody>
        </p:sp>
        <p:sp>
          <p:nvSpPr>
            <p:cNvPr id="249902" name="Arc 46"/>
            <p:cNvSpPr>
              <a:spLocks/>
            </p:cNvSpPr>
            <p:nvPr/>
          </p:nvSpPr>
          <p:spPr bwMode="auto">
            <a:xfrm>
              <a:off x="3779" y="1503"/>
              <a:ext cx="223" cy="9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accent2"/>
              </a:solidFill>
              <a:round/>
              <a:headEnd/>
              <a:tailEnd/>
            </a:ln>
            <a:effectLst>
              <a:outerShdw dist="17961" dir="2700000" algn="ctr" rotWithShape="0">
                <a:schemeClr val="tx1"/>
              </a:outerShdw>
            </a:effectLst>
          </p:spPr>
          <p:txBody>
            <a:bodyPr wrap="none" anchor="ctr"/>
            <a:lstStyle/>
            <a:p>
              <a:pPr>
                <a:defRPr/>
              </a:pPr>
              <a:endParaRPr lang="en-US">
                <a:latin typeface="Arial" charset="0"/>
              </a:endParaRPr>
            </a:p>
          </p:txBody>
        </p:sp>
      </p:grpSp>
      <p:grpSp>
        <p:nvGrpSpPr>
          <p:cNvPr id="68635" name="Group 47"/>
          <p:cNvGrpSpPr>
            <a:grpSpLocks/>
          </p:cNvGrpSpPr>
          <p:nvPr/>
        </p:nvGrpSpPr>
        <p:grpSpPr bwMode="auto">
          <a:xfrm>
            <a:off x="6835775" y="2682875"/>
            <a:ext cx="1912938" cy="1690688"/>
            <a:chOff x="2975" y="1503"/>
            <a:chExt cx="1071" cy="947"/>
          </a:xfrm>
        </p:grpSpPr>
        <p:sp>
          <p:nvSpPr>
            <p:cNvPr id="68636" name="Arc 48"/>
            <p:cNvSpPr>
              <a:spLocks/>
            </p:cNvSpPr>
            <p:nvPr/>
          </p:nvSpPr>
          <p:spPr bwMode="auto">
            <a:xfrm>
              <a:off x="2975" y="1503"/>
              <a:ext cx="849" cy="947"/>
            </a:xfrm>
            <a:custGeom>
              <a:avLst/>
              <a:gdLst>
                <a:gd name="T0" fmla="*/ 0 w 21600"/>
                <a:gd name="T1" fmla="*/ 947 h 21600"/>
                <a:gd name="T2" fmla="*/ 848 w 21600"/>
                <a:gd name="T3" fmla="*/ 0 h 21600"/>
                <a:gd name="T4" fmla="*/ 849 w 21600"/>
                <a:gd name="T5" fmla="*/ 9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0"/>
                    <a:pt x="9655" y="13"/>
                    <a:pt x="21575" y="0"/>
                  </a:cubicBezTo>
                </a:path>
                <a:path w="21600" h="21600" stroke="0" extrusionOk="0">
                  <a:moveTo>
                    <a:pt x="0" y="21600"/>
                  </a:moveTo>
                  <a:cubicBezTo>
                    <a:pt x="0" y="9680"/>
                    <a:pt x="9655" y="13"/>
                    <a:pt x="21575" y="0"/>
                  </a:cubicBezTo>
                  <a:lnTo>
                    <a:pt x="21600" y="21600"/>
                  </a:lnTo>
                  <a:close/>
                </a:path>
              </a:pathLst>
            </a:custGeom>
            <a:noFill/>
            <a:ln w="25400" cap="rnd">
              <a:solidFill>
                <a:schemeClr val="tx1"/>
              </a:solidFill>
              <a:round/>
              <a:headEnd/>
              <a:tailEnd/>
            </a:ln>
          </p:spPr>
          <p:txBody>
            <a:bodyPr wrap="none" anchor="ctr">
              <a:prstTxWarp prst="textNoShape">
                <a:avLst/>
              </a:prstTxWarp>
            </a:bodyPr>
            <a:lstStyle/>
            <a:p>
              <a:endParaRPr lang="en-US"/>
            </a:p>
          </p:txBody>
        </p:sp>
        <p:sp>
          <p:nvSpPr>
            <p:cNvPr id="68637" name="Arc 49"/>
            <p:cNvSpPr>
              <a:spLocks/>
            </p:cNvSpPr>
            <p:nvPr/>
          </p:nvSpPr>
          <p:spPr bwMode="auto">
            <a:xfrm>
              <a:off x="3823" y="1503"/>
              <a:ext cx="223" cy="947"/>
            </a:xfrm>
            <a:custGeom>
              <a:avLst/>
              <a:gdLst>
                <a:gd name="T0" fmla="*/ 0 w 21600"/>
                <a:gd name="T1" fmla="*/ 0 h 21600"/>
                <a:gd name="T2" fmla="*/ 223 w 21600"/>
                <a:gd name="T3" fmla="*/ 947 h 21600"/>
                <a:gd name="T4" fmla="*/ 0 w 21600"/>
                <a:gd name="T5" fmla="*/ 9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a:tailEnd/>
            </a:ln>
          </p:spPr>
          <p:txBody>
            <a:bodyPr wrap="none" anchor="ctr">
              <a:prstTxWarp prst="textNoShape">
                <a:avLst/>
              </a:prstTxWarp>
            </a:bodyPr>
            <a:lstStyle/>
            <a:p>
              <a:endParaRPr lang="en-US"/>
            </a:p>
          </p:txBody>
        </p:sp>
      </p:grpSp>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solidFill>
                  <a:srgbClr val="669900"/>
                </a:solidFill>
              </a:rPr>
              <a:t>RED, WRED, Operation modes</a:t>
            </a:r>
          </a:p>
        </p:txBody>
      </p:sp>
      <p:sp>
        <p:nvSpPr>
          <p:cNvPr id="69635" name="Rectangle 3"/>
          <p:cNvSpPr>
            <a:spLocks noGrp="1" noChangeArrowheads="1"/>
          </p:cNvSpPr>
          <p:nvPr>
            <p:ph idx="1"/>
          </p:nvPr>
        </p:nvSpPr>
        <p:spPr>
          <a:xfrm>
            <a:off x="2179639" y="1781176"/>
            <a:ext cx="7940675" cy="4384675"/>
          </a:xfrm>
        </p:spPr>
        <p:txBody>
          <a:bodyPr>
            <a:normAutofit lnSpcReduction="10000"/>
          </a:bodyPr>
          <a:lstStyle/>
          <a:p>
            <a:r>
              <a:rPr lang="en-US"/>
              <a:t>RED comes in addition to whatever queuing is configured.</a:t>
            </a:r>
          </a:p>
          <a:p>
            <a:r>
              <a:rPr lang="en-US"/>
              <a:t>It can operate in three modes:</a:t>
            </a:r>
          </a:p>
          <a:p>
            <a:pPr lvl="1" indent="0"/>
            <a:r>
              <a:rPr lang="en-US">
                <a:solidFill>
                  <a:srgbClr val="669900"/>
                </a:solidFill>
              </a:rPr>
              <a:t>No drop</a:t>
            </a:r>
            <a:r>
              <a:rPr lang="en-US"/>
              <a:t>: not enough packets in the queue to start dropping</a:t>
            </a:r>
          </a:p>
          <a:p>
            <a:pPr lvl="1" indent="0"/>
            <a:r>
              <a:rPr lang="en-US">
                <a:solidFill>
                  <a:srgbClr val="669900"/>
                </a:solidFill>
              </a:rPr>
              <a:t>Random drop</a:t>
            </a:r>
            <a:r>
              <a:rPr lang="en-US"/>
              <a:t>: ideally we should drop here</a:t>
            </a:r>
          </a:p>
          <a:p>
            <a:pPr lvl="1" indent="0"/>
            <a:r>
              <a:rPr lang="en-US">
                <a:solidFill>
                  <a:srgbClr val="669900"/>
                </a:solidFill>
              </a:rPr>
              <a:t>Full drop</a:t>
            </a:r>
            <a:r>
              <a:rPr lang="en-US"/>
              <a:t> (= Tail drop): state we don’t want to reach</a:t>
            </a:r>
          </a:p>
          <a:p>
            <a:pPr lvl="1" indent="0"/>
            <a:endParaRPr lang="en-US"/>
          </a:p>
          <a:p>
            <a:r>
              <a:rPr lang="en-US"/>
              <a:t>Weighted RED uses the same mechanism, but applies different parameters depending on IP Precedence or DSCP.</a:t>
            </a:r>
          </a:p>
          <a:p>
            <a:pPr lvl="1" indent="0"/>
            <a:endParaRPr lang="en-US"/>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solidFill>
                  <a:srgbClr val="669900"/>
                </a:solidFill>
              </a:rPr>
              <a:t>WRED Parameters</a:t>
            </a:r>
          </a:p>
        </p:txBody>
      </p:sp>
      <p:sp>
        <p:nvSpPr>
          <p:cNvPr id="70659" name="Rectangle 3"/>
          <p:cNvSpPr>
            <a:spLocks noGrp="1" noChangeArrowheads="1"/>
          </p:cNvSpPr>
          <p:nvPr>
            <p:ph idx="1"/>
          </p:nvPr>
        </p:nvSpPr>
        <p:spPr/>
        <p:txBody>
          <a:bodyPr/>
          <a:lstStyle/>
          <a:p>
            <a:r>
              <a:rPr lang="en-US"/>
              <a:t>Three parameters can be configured:</a:t>
            </a:r>
          </a:p>
          <a:p>
            <a:pPr lvl="1" indent="0"/>
            <a:r>
              <a:rPr lang="en-US">
                <a:solidFill>
                  <a:srgbClr val="669900"/>
                </a:solidFill>
              </a:rPr>
              <a:t>Min Threshold</a:t>
            </a:r>
            <a:r>
              <a:rPr lang="en-US"/>
              <a:t>: Queue size at which random drops start to occur.  Must be large enough to allow link utilization to be maintained at an acceptable high level if traffic is bursty.</a:t>
            </a:r>
          </a:p>
          <a:p>
            <a:pPr lvl="1" indent="0"/>
            <a:r>
              <a:rPr lang="en-US">
                <a:solidFill>
                  <a:srgbClr val="669900"/>
                </a:solidFill>
              </a:rPr>
              <a:t>Max Threshold</a:t>
            </a:r>
            <a:r>
              <a:rPr lang="en-US"/>
              <a:t>: Queue size at which all packets are dropped. Ideal value depends on maximum average delay that can be tolerated.</a:t>
            </a:r>
          </a:p>
          <a:p>
            <a:pPr lvl="1" indent="0"/>
            <a:r>
              <a:rPr lang="en-US">
                <a:solidFill>
                  <a:srgbClr val="669900"/>
                </a:solidFill>
              </a:rPr>
              <a:t>Mark Probability Denominator</a:t>
            </a:r>
            <a:r>
              <a:rPr lang="en-US"/>
              <a:t>: Chance of dropping between Min Threshold and Max Threshold = 1/MPD</a:t>
            </a:r>
          </a:p>
        </p:txBody>
      </p:sp>
      <p:sp>
        <p:nvSpPr>
          <p:cNvPr id="253956" name="Rectangle 4"/>
          <p:cNvSpPr>
            <a:spLocks noChangeArrowheads="1"/>
          </p:cNvSpPr>
          <p:nvPr/>
        </p:nvSpPr>
        <p:spPr bwMode="auto">
          <a:xfrm>
            <a:off x="2209801" y="5319713"/>
            <a:ext cx="8062913" cy="708528"/>
          </a:xfrm>
          <a:prstGeom prst="rect">
            <a:avLst/>
          </a:prstGeom>
          <a:solidFill>
            <a:srgbClr val="669900"/>
          </a:solidFill>
          <a:ln w="12700">
            <a:noFill/>
            <a:miter lim="800000"/>
            <a:headEnd/>
            <a:tailEnd/>
          </a:ln>
          <a:effectLst>
            <a:outerShdw dist="107763" dir="2700000" algn="ctr" rotWithShape="0">
              <a:schemeClr val="bg2">
                <a:alpha val="50000"/>
              </a:schemeClr>
            </a:outerShdw>
          </a:effectLst>
        </p:spPr>
        <p:txBody>
          <a:bodyPr lIns="92075" tIns="46038" rIns="92075" bIns="46038">
            <a:prstTxWarp prst="textNoShape">
              <a:avLst/>
            </a:prstTxWarp>
            <a:spAutoFit/>
          </a:bodyPr>
          <a:lstStyle/>
          <a:p>
            <a:pPr algn="l">
              <a:lnSpc>
                <a:spcPct val="100000"/>
              </a:lnSpc>
            </a:pPr>
            <a:r>
              <a:rPr lang="en-GB" sz="2000">
                <a:solidFill>
                  <a:schemeClr val="bg1"/>
                </a:solidFill>
                <a:latin typeface="Courier New" pitchFamily="1" charset="0"/>
              </a:rPr>
              <a:t>Router(config-if)#</a:t>
            </a:r>
          </a:p>
          <a:p>
            <a:pPr algn="l">
              <a:lnSpc>
                <a:spcPct val="100000"/>
              </a:lnSpc>
            </a:pPr>
            <a:r>
              <a:rPr lang="en-GB" sz="2000" b="1">
                <a:solidFill>
                  <a:schemeClr val="bg1"/>
                </a:solidFill>
                <a:latin typeface="Courier New" pitchFamily="1" charset="0"/>
              </a:rPr>
              <a:t>random-detect</a:t>
            </a:r>
            <a:r>
              <a:rPr lang="sl-SI" sz="2000" b="1">
                <a:solidFill>
                  <a:schemeClr val="bg1"/>
                </a:solidFill>
                <a:latin typeface="Courier New" pitchFamily="1" charset="0"/>
              </a:rPr>
              <a:t> {prec-based | dscp-based}</a:t>
            </a:r>
            <a:endParaRPr lang="en-GB" sz="2000" b="1">
              <a:solidFill>
                <a:schemeClr val="bg1"/>
              </a:solidFill>
              <a:latin typeface="Courier New" pitchFamily="1" charset="0"/>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4"/>
          <p:cNvSpPr>
            <a:spLocks noGrp="1" noChangeArrowheads="1"/>
          </p:cNvSpPr>
          <p:nvPr>
            <p:ph type="title"/>
          </p:nvPr>
        </p:nvSpPr>
        <p:spPr>
          <a:xfrm>
            <a:off x="2135189" y="549275"/>
            <a:ext cx="7623175" cy="533400"/>
          </a:xfrm>
        </p:spPr>
        <p:txBody>
          <a:bodyPr>
            <a:normAutofit fontScale="90000"/>
          </a:bodyPr>
          <a:lstStyle/>
          <a:p>
            <a:pPr eaLnBrk="1" hangingPunct="1"/>
            <a:r>
              <a:rPr lang="en-US">
                <a:solidFill>
                  <a:srgbClr val="669900"/>
                </a:solidFill>
              </a:rPr>
              <a:t>Configuring WRED</a:t>
            </a:r>
          </a:p>
        </p:txBody>
      </p:sp>
      <p:sp>
        <p:nvSpPr>
          <p:cNvPr id="257031" name="Rectangle 7"/>
          <p:cNvSpPr>
            <a:spLocks noChangeArrowheads="1"/>
          </p:cNvSpPr>
          <p:nvPr/>
        </p:nvSpPr>
        <p:spPr bwMode="auto">
          <a:xfrm>
            <a:off x="2209801" y="2133601"/>
            <a:ext cx="8062913" cy="3387725"/>
          </a:xfrm>
          <a:prstGeom prst="rect">
            <a:avLst/>
          </a:prstGeom>
          <a:solidFill>
            <a:srgbClr val="669900"/>
          </a:solidFill>
          <a:ln w="12700">
            <a:noFill/>
            <a:miter lim="800000"/>
            <a:headEnd/>
            <a:tailEnd/>
          </a:ln>
          <a:effectLst>
            <a:outerShdw dist="107763" dir="2700000" algn="ctr" rotWithShape="0">
              <a:schemeClr val="bg2">
                <a:alpha val="50000"/>
              </a:schemeClr>
            </a:outerShdw>
          </a:effectLst>
        </p:spPr>
        <p:txBody>
          <a:bodyPr lIns="92075" tIns="46038" rIns="92075" bIns="46038">
            <a:spAutoFit/>
          </a:bodyPr>
          <a:lstStyle/>
          <a:p>
            <a:pPr algn="l">
              <a:defRPr/>
            </a:pPr>
            <a:r>
              <a:rPr lang="en-US" sz="2000">
                <a:solidFill>
                  <a:schemeClr val="bg1"/>
                </a:solidFill>
                <a:latin typeface="Courier New" pitchFamily="49" charset="0"/>
              </a:rPr>
              <a:t>interface Hssi0/0/0</a:t>
            </a:r>
          </a:p>
          <a:p>
            <a:pPr algn="l">
              <a:defRPr/>
            </a:pPr>
            <a:r>
              <a:rPr lang="en-US" sz="2000">
                <a:solidFill>
                  <a:schemeClr val="bg1"/>
                </a:solidFill>
                <a:latin typeface="Courier New" pitchFamily="49" charset="0"/>
              </a:rPr>
              <a:t> ip address 200.200.14.250 255.255.255.252</a:t>
            </a:r>
          </a:p>
          <a:p>
            <a:pPr algn="l">
              <a:defRPr/>
            </a:pPr>
            <a:r>
              <a:rPr lang="en-US" sz="2000">
                <a:solidFill>
                  <a:schemeClr val="bg1"/>
                </a:solidFill>
                <a:latin typeface="Courier New" pitchFamily="49" charset="0"/>
              </a:rPr>
              <a:t> random-detect</a:t>
            </a:r>
          </a:p>
          <a:p>
            <a:pPr algn="l">
              <a:defRPr/>
            </a:pPr>
            <a:r>
              <a:rPr lang="en-US" sz="2000">
                <a:solidFill>
                  <a:schemeClr val="bg1"/>
                </a:solidFill>
                <a:latin typeface="Courier New" pitchFamily="49" charset="0"/>
              </a:rPr>
              <a:t> </a:t>
            </a:r>
            <a:r>
              <a:rPr lang="en-US" sz="2000" b="1">
                <a:solidFill>
                  <a:schemeClr val="bg1"/>
                </a:solidFill>
                <a:latin typeface="Courier New" pitchFamily="49" charset="0"/>
              </a:rPr>
              <a:t>random-detect precedence 0 32 256 100</a:t>
            </a:r>
          </a:p>
          <a:p>
            <a:pPr algn="l">
              <a:defRPr/>
            </a:pPr>
            <a:r>
              <a:rPr lang="en-US" sz="2000" b="1">
                <a:solidFill>
                  <a:schemeClr val="bg1"/>
                </a:solidFill>
                <a:latin typeface="Courier New" pitchFamily="49" charset="0"/>
              </a:rPr>
              <a:t> random-detect precedence 1 64 256 100</a:t>
            </a:r>
          </a:p>
          <a:p>
            <a:pPr algn="l">
              <a:defRPr/>
            </a:pPr>
            <a:r>
              <a:rPr lang="en-US" sz="2000" b="1">
                <a:solidFill>
                  <a:schemeClr val="bg1"/>
                </a:solidFill>
                <a:latin typeface="Courier New" pitchFamily="49" charset="0"/>
              </a:rPr>
              <a:t> random-detect precedence 2 96 256 100</a:t>
            </a:r>
          </a:p>
          <a:p>
            <a:pPr algn="l">
              <a:defRPr/>
            </a:pPr>
            <a:r>
              <a:rPr lang="en-US" sz="2000" b="1">
                <a:solidFill>
                  <a:schemeClr val="bg1"/>
                </a:solidFill>
                <a:latin typeface="Courier New" pitchFamily="49" charset="0"/>
              </a:rPr>
              <a:t> random-detect precedence 3 120 256 100</a:t>
            </a:r>
          </a:p>
          <a:p>
            <a:pPr algn="l">
              <a:defRPr/>
            </a:pPr>
            <a:r>
              <a:rPr lang="en-US" sz="2000" b="1">
                <a:solidFill>
                  <a:schemeClr val="bg1"/>
                </a:solidFill>
                <a:latin typeface="Courier New" pitchFamily="49" charset="0"/>
              </a:rPr>
              <a:t> random-detect precedence 4 140 256 100</a:t>
            </a:r>
          </a:p>
          <a:p>
            <a:pPr algn="l">
              <a:defRPr/>
            </a:pPr>
            <a:r>
              <a:rPr lang="en-US" sz="2000" b="1">
                <a:solidFill>
                  <a:schemeClr val="bg1"/>
                </a:solidFill>
                <a:latin typeface="Courier New" pitchFamily="49" charset="0"/>
              </a:rPr>
              <a:t> random-detect precedence 5 170 256 100</a:t>
            </a:r>
          </a:p>
          <a:p>
            <a:pPr algn="l">
              <a:defRPr/>
            </a:pPr>
            <a:r>
              <a:rPr lang="en-US" sz="2000" b="1">
                <a:solidFill>
                  <a:schemeClr val="bg1"/>
                </a:solidFill>
                <a:latin typeface="Courier New" pitchFamily="49" charset="0"/>
              </a:rPr>
              <a:t> random-detect precedence 6 290 256 100</a:t>
            </a:r>
          </a:p>
          <a:p>
            <a:pPr algn="l">
              <a:defRPr/>
            </a:pPr>
            <a:r>
              <a:rPr lang="en-US" sz="2000" b="1">
                <a:solidFill>
                  <a:schemeClr val="bg1"/>
                </a:solidFill>
                <a:latin typeface="Courier New" pitchFamily="49" charset="0"/>
              </a:rPr>
              <a:t> random-detect precedence 7 210 256 100</a:t>
            </a:r>
          </a:p>
          <a:p>
            <a:pPr algn="l">
              <a:defRPr/>
            </a:pPr>
            <a:r>
              <a:rPr lang="en-US" sz="2000" b="1">
                <a:solidFill>
                  <a:schemeClr val="bg1"/>
                </a:solidFill>
                <a:latin typeface="Courier New" pitchFamily="49" charset="0"/>
              </a:rPr>
              <a:t> random-detect precedence rsvp 230 256 100</a:t>
            </a:r>
          </a:p>
        </p:txBody>
      </p:sp>
      <p:sp>
        <p:nvSpPr>
          <p:cNvPr id="71684" name="Text Box 8"/>
          <p:cNvSpPr txBox="1">
            <a:spLocks noChangeArrowheads="1"/>
          </p:cNvSpPr>
          <p:nvPr/>
        </p:nvSpPr>
        <p:spPr bwMode="auto">
          <a:xfrm>
            <a:off x="2495550" y="1412876"/>
            <a:ext cx="6690074" cy="415323"/>
          </a:xfrm>
          <a:prstGeom prst="rect">
            <a:avLst/>
          </a:prstGeom>
          <a:noFill/>
          <a:ln w="9525">
            <a:noFill/>
            <a:miter lim="800000"/>
            <a:headEnd/>
            <a:tailEnd/>
          </a:ln>
        </p:spPr>
        <p:txBody>
          <a:bodyPr wrap="none" lIns="82124" tIns="41061" rIns="82124" bIns="41061">
            <a:prstTxWarp prst="textNoShape">
              <a:avLst/>
            </a:prstTxWarp>
            <a:spAutoFit/>
          </a:bodyPr>
          <a:lstStyle/>
          <a:p>
            <a:pPr algn="l" defTabSz="814388"/>
            <a:r>
              <a:rPr lang="en-US"/>
              <a:t>Each precedence can be separately configured </a:t>
            </a:r>
          </a:p>
        </p:txBody>
      </p:sp>
    </p:spTree>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2168525" y="443209"/>
            <a:ext cx="6897688" cy="516935"/>
          </a:xfrm>
          <a:prstGeom prst="rect">
            <a:avLst/>
          </a:prstGeom>
          <a:noFill/>
          <a:ln w="12700">
            <a:noFill/>
            <a:miter lim="800000"/>
            <a:headEnd/>
            <a:tailEnd/>
          </a:ln>
        </p:spPr>
        <p:txBody>
          <a:bodyPr lIns="73025" tIns="36512" rIns="73025" bIns="36512" anchor="ctr">
            <a:prstTxWarp prst="textNoShape">
              <a:avLst/>
            </a:prstTxWarp>
            <a:spAutoFit/>
          </a:bodyPr>
          <a:lstStyle/>
          <a:p>
            <a:pPr algn="l" defTabSz="814388"/>
            <a:r>
              <a:rPr lang="en-GB" sz="3200" b="1">
                <a:solidFill>
                  <a:srgbClr val="669900"/>
                </a:solidFill>
              </a:rPr>
              <a:t>WRED Service Profile Example</a:t>
            </a:r>
          </a:p>
        </p:txBody>
      </p:sp>
      <p:sp>
        <p:nvSpPr>
          <p:cNvPr id="72707" name="Freeform 3"/>
          <p:cNvSpPr>
            <a:spLocks/>
          </p:cNvSpPr>
          <p:nvPr/>
        </p:nvSpPr>
        <p:spPr bwMode="auto">
          <a:xfrm>
            <a:off x="3000375" y="1916114"/>
            <a:ext cx="5048250" cy="3036887"/>
          </a:xfrm>
          <a:custGeom>
            <a:avLst/>
            <a:gdLst>
              <a:gd name="T0" fmla="*/ 0 w 3180"/>
              <a:gd name="T1" fmla="*/ 0 h 1913"/>
              <a:gd name="T2" fmla="*/ 0 w 3180"/>
              <a:gd name="T3" fmla="*/ 1912 h 1913"/>
              <a:gd name="T4" fmla="*/ 3179 w 3180"/>
              <a:gd name="T5" fmla="*/ 1912 h 1913"/>
              <a:gd name="T6" fmla="*/ 0 60000 65536"/>
              <a:gd name="T7" fmla="*/ 0 60000 65536"/>
              <a:gd name="T8" fmla="*/ 0 60000 65536"/>
              <a:gd name="T9" fmla="*/ 0 w 3180"/>
              <a:gd name="T10" fmla="*/ 0 h 1913"/>
              <a:gd name="T11" fmla="*/ 3180 w 3180"/>
              <a:gd name="T12" fmla="*/ 1913 h 1913"/>
            </a:gdLst>
            <a:ahLst/>
            <a:cxnLst>
              <a:cxn ang="T6">
                <a:pos x="T0" y="T1"/>
              </a:cxn>
              <a:cxn ang="T7">
                <a:pos x="T2" y="T3"/>
              </a:cxn>
              <a:cxn ang="T8">
                <a:pos x="T4" y="T5"/>
              </a:cxn>
            </a:cxnLst>
            <a:rect l="T9" t="T10" r="T11" b="T12"/>
            <a:pathLst>
              <a:path w="3180" h="1913">
                <a:moveTo>
                  <a:pt x="0" y="0"/>
                </a:moveTo>
                <a:lnTo>
                  <a:pt x="0" y="1912"/>
                </a:lnTo>
                <a:lnTo>
                  <a:pt x="3179" y="1912"/>
                </a:lnTo>
              </a:path>
            </a:pathLst>
          </a:custGeom>
          <a:noFill/>
          <a:ln w="50800" cap="rnd">
            <a:solidFill>
              <a:schemeClr val="tx1"/>
            </a:solidFill>
            <a:round/>
            <a:headEnd/>
            <a:tailEnd/>
          </a:ln>
        </p:spPr>
        <p:txBody>
          <a:bodyPr>
            <a:prstTxWarp prst="textNoShape">
              <a:avLst/>
            </a:prstTxWarp>
          </a:bodyPr>
          <a:lstStyle/>
          <a:p>
            <a:endParaRPr lang="en-US"/>
          </a:p>
        </p:txBody>
      </p:sp>
      <p:sp>
        <p:nvSpPr>
          <p:cNvPr id="72708" name="Rectangle 4"/>
          <p:cNvSpPr>
            <a:spLocks noChangeArrowheads="1"/>
          </p:cNvSpPr>
          <p:nvPr/>
        </p:nvSpPr>
        <p:spPr bwMode="auto">
          <a:xfrm>
            <a:off x="1912938" y="2878139"/>
            <a:ext cx="1088438" cy="729687"/>
          </a:xfrm>
          <a:prstGeom prst="rect">
            <a:avLst/>
          </a:prstGeom>
          <a:noFill/>
          <a:ln w="12700">
            <a:noFill/>
            <a:miter lim="800000"/>
            <a:headEnd/>
            <a:tailEnd/>
          </a:ln>
        </p:spPr>
        <p:txBody>
          <a:bodyPr wrap="none" lIns="80962" tIns="41275" rIns="80962" bIns="41275">
            <a:prstTxWarp prst="textNoShape">
              <a:avLst/>
            </a:prstTxWarp>
            <a:spAutoFit/>
          </a:bodyPr>
          <a:lstStyle/>
          <a:p>
            <a:pPr algn="l" defTabSz="804863">
              <a:lnSpc>
                <a:spcPct val="100000"/>
              </a:lnSpc>
            </a:pPr>
            <a:r>
              <a:rPr lang="en-GB" sz="1400" b="1"/>
              <a:t>Packet </a:t>
            </a:r>
            <a:br>
              <a:rPr lang="en-GB" sz="1400" b="1"/>
            </a:br>
            <a:r>
              <a:rPr lang="en-GB" sz="1400" b="1"/>
              <a:t>Discard</a:t>
            </a:r>
          </a:p>
          <a:p>
            <a:pPr algn="l" defTabSz="804863">
              <a:lnSpc>
                <a:spcPct val="100000"/>
              </a:lnSpc>
            </a:pPr>
            <a:r>
              <a:rPr lang="en-GB" sz="1400" b="1"/>
              <a:t>Probability</a:t>
            </a:r>
          </a:p>
        </p:txBody>
      </p:sp>
      <p:sp>
        <p:nvSpPr>
          <p:cNvPr id="72709" name="Rectangle 5"/>
          <p:cNvSpPr>
            <a:spLocks noChangeArrowheads="1"/>
          </p:cNvSpPr>
          <p:nvPr/>
        </p:nvSpPr>
        <p:spPr bwMode="auto">
          <a:xfrm>
            <a:off x="2768601" y="1881189"/>
            <a:ext cx="262891" cy="295595"/>
          </a:xfrm>
          <a:prstGeom prst="rect">
            <a:avLst/>
          </a:prstGeom>
          <a:noFill/>
          <a:ln w="12700">
            <a:noFill/>
            <a:miter lim="800000"/>
            <a:headEnd/>
            <a:tailEnd/>
          </a:ln>
        </p:spPr>
        <p:txBody>
          <a:bodyPr wrap="none" lIns="80962" tIns="39688" rIns="80962" bIns="39688">
            <a:prstTxWarp prst="textNoShape">
              <a:avLst/>
            </a:prstTxWarp>
            <a:spAutoFit/>
          </a:bodyPr>
          <a:lstStyle/>
          <a:p>
            <a:pPr algn="l" defTabSz="701675">
              <a:lnSpc>
                <a:spcPct val="100000"/>
              </a:lnSpc>
            </a:pPr>
            <a:r>
              <a:rPr lang="en-GB" sz="1400" b="1"/>
              <a:t>1</a:t>
            </a:r>
          </a:p>
        </p:txBody>
      </p:sp>
      <p:sp>
        <p:nvSpPr>
          <p:cNvPr id="72710" name="Rectangle 6"/>
          <p:cNvSpPr>
            <a:spLocks noChangeArrowheads="1"/>
          </p:cNvSpPr>
          <p:nvPr/>
        </p:nvSpPr>
        <p:spPr bwMode="auto">
          <a:xfrm>
            <a:off x="8137525" y="4581526"/>
            <a:ext cx="863762" cy="729687"/>
          </a:xfrm>
          <a:prstGeom prst="rect">
            <a:avLst/>
          </a:prstGeom>
          <a:noFill/>
          <a:ln w="12700">
            <a:noFill/>
            <a:miter lim="800000"/>
            <a:headEnd/>
            <a:tailEnd/>
          </a:ln>
        </p:spPr>
        <p:txBody>
          <a:bodyPr wrap="none" lIns="80962" tIns="41275" rIns="80962" bIns="41275">
            <a:prstTxWarp prst="textNoShape">
              <a:avLst/>
            </a:prstTxWarp>
            <a:spAutoFit/>
          </a:bodyPr>
          <a:lstStyle/>
          <a:p>
            <a:pPr algn="l" defTabSz="804863">
              <a:lnSpc>
                <a:spcPct val="100000"/>
              </a:lnSpc>
            </a:pPr>
            <a:r>
              <a:rPr lang="en-GB" sz="1400" b="1"/>
              <a:t>Average</a:t>
            </a:r>
          </a:p>
          <a:p>
            <a:pPr algn="l" defTabSz="804863">
              <a:lnSpc>
                <a:spcPct val="100000"/>
              </a:lnSpc>
            </a:pPr>
            <a:r>
              <a:rPr lang="en-GB" sz="1400" b="1"/>
              <a:t>Queue </a:t>
            </a:r>
          </a:p>
          <a:p>
            <a:pPr algn="l" defTabSz="804863">
              <a:lnSpc>
                <a:spcPct val="100000"/>
              </a:lnSpc>
            </a:pPr>
            <a:r>
              <a:rPr lang="en-GB" sz="1400" b="1"/>
              <a:t>Size</a:t>
            </a:r>
          </a:p>
        </p:txBody>
      </p:sp>
      <p:sp>
        <p:nvSpPr>
          <p:cNvPr id="252935" name="Freeform 7"/>
          <p:cNvSpPr>
            <a:spLocks/>
          </p:cNvSpPr>
          <p:nvPr/>
        </p:nvSpPr>
        <p:spPr bwMode="auto">
          <a:xfrm>
            <a:off x="3000376" y="1849439"/>
            <a:ext cx="2727325" cy="3062287"/>
          </a:xfrm>
          <a:custGeom>
            <a:avLst/>
            <a:gdLst/>
            <a:ahLst/>
            <a:cxnLst>
              <a:cxn ang="0">
                <a:pos x="0" y="1928"/>
              </a:cxn>
              <a:cxn ang="0">
                <a:pos x="946" y="1928"/>
              </a:cxn>
              <a:cxn ang="0">
                <a:pos x="1717" y="1195"/>
              </a:cxn>
              <a:cxn ang="0">
                <a:pos x="1717" y="0"/>
              </a:cxn>
            </a:cxnLst>
            <a:rect l="0" t="0" r="r" b="b"/>
            <a:pathLst>
              <a:path w="1718" h="1929">
                <a:moveTo>
                  <a:pt x="0" y="1928"/>
                </a:moveTo>
                <a:lnTo>
                  <a:pt x="946" y="1928"/>
                </a:lnTo>
                <a:lnTo>
                  <a:pt x="1717" y="1195"/>
                </a:lnTo>
                <a:lnTo>
                  <a:pt x="1717" y="0"/>
                </a:lnTo>
              </a:path>
            </a:pathLst>
          </a:custGeom>
          <a:noFill/>
          <a:ln w="76200" cap="rnd" cmpd="sng">
            <a:solidFill>
              <a:schemeClr val="accent2"/>
            </a:solidFill>
            <a:prstDash val="solid"/>
            <a:round/>
            <a:headEnd type="none" w="med" len="med"/>
            <a:tailEnd type="none" w="med" len="med"/>
          </a:ln>
          <a:effectLst>
            <a:outerShdw dist="17961" dir="2700000" algn="ctr" rotWithShape="0">
              <a:schemeClr val="tx1"/>
            </a:outerShdw>
          </a:effectLst>
        </p:spPr>
        <p:txBody>
          <a:bodyPr/>
          <a:lstStyle/>
          <a:p>
            <a:pPr>
              <a:defRPr/>
            </a:pPr>
            <a:endParaRPr lang="en-US">
              <a:latin typeface="Arial" charset="0"/>
            </a:endParaRPr>
          </a:p>
        </p:txBody>
      </p:sp>
      <p:sp>
        <p:nvSpPr>
          <p:cNvPr id="252936" name="Freeform 8"/>
          <p:cNvSpPr>
            <a:spLocks/>
          </p:cNvSpPr>
          <p:nvPr/>
        </p:nvSpPr>
        <p:spPr bwMode="auto">
          <a:xfrm>
            <a:off x="3000376" y="1865314"/>
            <a:ext cx="4486275" cy="3074987"/>
          </a:xfrm>
          <a:custGeom>
            <a:avLst/>
            <a:gdLst/>
            <a:ahLst/>
            <a:cxnLst>
              <a:cxn ang="0">
                <a:pos x="0" y="1937"/>
              </a:cxn>
              <a:cxn ang="0">
                <a:pos x="2074" y="1937"/>
              </a:cxn>
              <a:cxn ang="0">
                <a:pos x="2824" y="1554"/>
              </a:cxn>
              <a:cxn ang="0">
                <a:pos x="2826" y="0"/>
              </a:cxn>
            </a:cxnLst>
            <a:rect l="0" t="0" r="r" b="b"/>
            <a:pathLst>
              <a:path w="2826" h="1937">
                <a:moveTo>
                  <a:pt x="0" y="1937"/>
                </a:moveTo>
                <a:lnTo>
                  <a:pt x="2074" y="1937"/>
                </a:lnTo>
                <a:lnTo>
                  <a:pt x="2824" y="1554"/>
                </a:lnTo>
                <a:lnTo>
                  <a:pt x="2826" y="0"/>
                </a:lnTo>
              </a:path>
            </a:pathLst>
          </a:custGeom>
          <a:noFill/>
          <a:ln w="76200" cap="rnd" cmpd="sng">
            <a:solidFill>
              <a:schemeClr val="accent1"/>
            </a:solidFill>
            <a:prstDash val="solid"/>
            <a:round/>
            <a:headEnd type="none" w="med" len="med"/>
            <a:tailEnd type="none" w="med" len="med"/>
          </a:ln>
          <a:effectLst>
            <a:outerShdw dist="17961" dir="2700000" algn="ctr" rotWithShape="0">
              <a:schemeClr val="tx1"/>
            </a:outerShdw>
          </a:effectLst>
        </p:spPr>
        <p:txBody>
          <a:bodyPr/>
          <a:lstStyle/>
          <a:p>
            <a:pPr>
              <a:defRPr/>
            </a:pPr>
            <a:endParaRPr lang="en-US">
              <a:latin typeface="Arial" charset="0"/>
            </a:endParaRPr>
          </a:p>
        </p:txBody>
      </p:sp>
      <p:sp>
        <p:nvSpPr>
          <p:cNvPr id="72713" name="Rectangle 9"/>
          <p:cNvSpPr>
            <a:spLocks noChangeArrowheads="1"/>
          </p:cNvSpPr>
          <p:nvPr/>
        </p:nvSpPr>
        <p:spPr bwMode="auto">
          <a:xfrm>
            <a:off x="7550150" y="1081088"/>
            <a:ext cx="1981200" cy="1141412"/>
          </a:xfrm>
          <a:prstGeom prst="rect">
            <a:avLst/>
          </a:prstGeom>
          <a:noFill/>
          <a:ln w="12700">
            <a:noFill/>
            <a:miter lim="800000"/>
            <a:headEnd/>
            <a:tailEnd/>
          </a:ln>
        </p:spPr>
        <p:txBody>
          <a:bodyPr wrap="none" anchor="ctr">
            <a:prstTxWarp prst="textNoShape">
              <a:avLst/>
            </a:prstTxWarp>
          </a:bodyPr>
          <a:lstStyle/>
          <a:p>
            <a:endParaRPr lang="en-US"/>
          </a:p>
        </p:txBody>
      </p:sp>
      <p:sp>
        <p:nvSpPr>
          <p:cNvPr id="72714" name="Line 10"/>
          <p:cNvSpPr>
            <a:spLocks noChangeShapeType="1"/>
          </p:cNvSpPr>
          <p:nvPr/>
        </p:nvSpPr>
        <p:spPr bwMode="auto">
          <a:xfrm>
            <a:off x="5737225" y="3819526"/>
            <a:ext cx="0" cy="1298575"/>
          </a:xfrm>
          <a:prstGeom prst="line">
            <a:avLst/>
          </a:prstGeom>
          <a:noFill/>
          <a:ln w="25400">
            <a:solidFill>
              <a:schemeClr val="tx1"/>
            </a:solidFill>
            <a:prstDash val="sysDot"/>
            <a:round/>
            <a:headEnd/>
            <a:tailEnd/>
          </a:ln>
        </p:spPr>
        <p:txBody>
          <a:bodyPr wrap="none" anchor="ctr">
            <a:prstTxWarp prst="textNoShape">
              <a:avLst/>
            </a:prstTxWarp>
          </a:bodyPr>
          <a:lstStyle/>
          <a:p>
            <a:endParaRPr lang="en-US"/>
          </a:p>
        </p:txBody>
      </p:sp>
      <p:sp>
        <p:nvSpPr>
          <p:cNvPr id="72715" name="Line 11"/>
          <p:cNvSpPr>
            <a:spLocks noChangeShapeType="1"/>
          </p:cNvSpPr>
          <p:nvPr/>
        </p:nvSpPr>
        <p:spPr bwMode="auto">
          <a:xfrm flipH="1">
            <a:off x="7485064" y="3883026"/>
            <a:ext cx="28575" cy="1249363"/>
          </a:xfrm>
          <a:prstGeom prst="line">
            <a:avLst/>
          </a:prstGeom>
          <a:noFill/>
          <a:ln w="25400">
            <a:solidFill>
              <a:schemeClr val="tx1"/>
            </a:solidFill>
            <a:prstDash val="sysDot"/>
            <a:round/>
            <a:headEnd/>
            <a:tailEnd/>
          </a:ln>
        </p:spPr>
        <p:txBody>
          <a:bodyPr wrap="none" anchor="ctr">
            <a:prstTxWarp prst="textNoShape">
              <a:avLst/>
            </a:prstTxWarp>
          </a:bodyPr>
          <a:lstStyle/>
          <a:p>
            <a:endParaRPr lang="en-US"/>
          </a:p>
        </p:txBody>
      </p:sp>
      <p:sp>
        <p:nvSpPr>
          <p:cNvPr id="72716" name="Line 12"/>
          <p:cNvSpPr>
            <a:spLocks noChangeShapeType="1"/>
          </p:cNvSpPr>
          <p:nvPr/>
        </p:nvSpPr>
        <p:spPr bwMode="auto">
          <a:xfrm>
            <a:off x="4500563" y="4949826"/>
            <a:ext cx="0" cy="200025"/>
          </a:xfrm>
          <a:prstGeom prst="line">
            <a:avLst/>
          </a:prstGeom>
          <a:noFill/>
          <a:ln w="50800">
            <a:solidFill>
              <a:schemeClr val="tx1"/>
            </a:solidFill>
            <a:round/>
            <a:headEnd/>
            <a:tailEnd/>
          </a:ln>
        </p:spPr>
        <p:txBody>
          <a:bodyPr wrap="none" anchor="ctr">
            <a:prstTxWarp prst="textNoShape">
              <a:avLst/>
            </a:prstTxWarp>
          </a:bodyPr>
          <a:lstStyle/>
          <a:p>
            <a:endParaRPr lang="en-US"/>
          </a:p>
        </p:txBody>
      </p:sp>
      <p:sp>
        <p:nvSpPr>
          <p:cNvPr id="72717" name="Line 13"/>
          <p:cNvSpPr>
            <a:spLocks noChangeShapeType="1"/>
          </p:cNvSpPr>
          <p:nvPr/>
        </p:nvSpPr>
        <p:spPr bwMode="auto">
          <a:xfrm>
            <a:off x="5727700" y="4967289"/>
            <a:ext cx="0" cy="200025"/>
          </a:xfrm>
          <a:prstGeom prst="line">
            <a:avLst/>
          </a:prstGeom>
          <a:noFill/>
          <a:ln w="50800">
            <a:solidFill>
              <a:schemeClr val="tx1"/>
            </a:solidFill>
            <a:round/>
            <a:headEnd/>
            <a:tailEnd/>
          </a:ln>
        </p:spPr>
        <p:txBody>
          <a:bodyPr wrap="none" anchor="ctr">
            <a:prstTxWarp prst="textNoShape">
              <a:avLst/>
            </a:prstTxWarp>
          </a:bodyPr>
          <a:lstStyle/>
          <a:p>
            <a:endParaRPr lang="en-US"/>
          </a:p>
        </p:txBody>
      </p:sp>
      <p:sp>
        <p:nvSpPr>
          <p:cNvPr id="72718" name="Line 14"/>
          <p:cNvSpPr>
            <a:spLocks noChangeShapeType="1"/>
          </p:cNvSpPr>
          <p:nvPr/>
        </p:nvSpPr>
        <p:spPr bwMode="auto">
          <a:xfrm>
            <a:off x="6305550" y="4972050"/>
            <a:ext cx="6350" cy="611188"/>
          </a:xfrm>
          <a:prstGeom prst="line">
            <a:avLst/>
          </a:prstGeom>
          <a:noFill/>
          <a:ln w="50800">
            <a:solidFill>
              <a:schemeClr val="tx1"/>
            </a:solidFill>
            <a:round/>
            <a:headEnd/>
            <a:tailEnd/>
          </a:ln>
        </p:spPr>
        <p:txBody>
          <a:bodyPr wrap="none" anchor="ctr">
            <a:prstTxWarp prst="textNoShape">
              <a:avLst/>
            </a:prstTxWarp>
          </a:bodyPr>
          <a:lstStyle/>
          <a:p>
            <a:endParaRPr lang="en-US"/>
          </a:p>
        </p:txBody>
      </p:sp>
      <p:sp>
        <p:nvSpPr>
          <p:cNvPr id="72719" name="Rectangle 15"/>
          <p:cNvSpPr>
            <a:spLocks noChangeArrowheads="1"/>
          </p:cNvSpPr>
          <p:nvPr/>
        </p:nvSpPr>
        <p:spPr bwMode="auto">
          <a:xfrm>
            <a:off x="4037234" y="5160963"/>
            <a:ext cx="939359" cy="511038"/>
          </a:xfrm>
          <a:prstGeom prst="rect">
            <a:avLst/>
          </a:prstGeom>
          <a:noFill/>
          <a:ln w="12700">
            <a:noFill/>
            <a:miter lim="800000"/>
            <a:headEnd/>
            <a:tailEnd/>
          </a:ln>
        </p:spPr>
        <p:txBody>
          <a:bodyPr wrap="none" lIns="80962" tIns="39688" rIns="80962" bIns="39688">
            <a:prstTxWarp prst="textNoShape">
              <a:avLst/>
            </a:prstTxWarp>
            <a:spAutoFit/>
          </a:bodyPr>
          <a:lstStyle/>
          <a:p>
            <a:pPr defTabSz="701675">
              <a:lnSpc>
                <a:spcPct val="100000"/>
              </a:lnSpc>
            </a:pPr>
            <a:r>
              <a:rPr lang="en-GB" sz="1400" b="1"/>
              <a:t>Standard</a:t>
            </a:r>
          </a:p>
          <a:p>
            <a:pPr defTabSz="701675">
              <a:lnSpc>
                <a:spcPct val="100000"/>
              </a:lnSpc>
            </a:pPr>
            <a:r>
              <a:rPr lang="en-GB" sz="1400" b="1"/>
              <a:t>Min</a:t>
            </a:r>
          </a:p>
        </p:txBody>
      </p:sp>
      <p:sp>
        <p:nvSpPr>
          <p:cNvPr id="72720" name="Rectangle 16"/>
          <p:cNvSpPr>
            <a:spLocks noChangeArrowheads="1"/>
          </p:cNvSpPr>
          <p:nvPr/>
        </p:nvSpPr>
        <p:spPr bwMode="auto">
          <a:xfrm>
            <a:off x="5265959" y="5160963"/>
            <a:ext cx="939359" cy="511038"/>
          </a:xfrm>
          <a:prstGeom prst="rect">
            <a:avLst/>
          </a:prstGeom>
          <a:noFill/>
          <a:ln w="12700">
            <a:noFill/>
            <a:miter lim="800000"/>
            <a:headEnd/>
            <a:tailEnd/>
          </a:ln>
        </p:spPr>
        <p:txBody>
          <a:bodyPr wrap="none" lIns="80962" tIns="39688" rIns="80962" bIns="39688">
            <a:prstTxWarp prst="textNoShape">
              <a:avLst/>
            </a:prstTxWarp>
            <a:spAutoFit/>
          </a:bodyPr>
          <a:lstStyle/>
          <a:p>
            <a:pPr defTabSz="701675">
              <a:lnSpc>
                <a:spcPct val="100000"/>
              </a:lnSpc>
            </a:pPr>
            <a:r>
              <a:rPr lang="en-GB" sz="1400" b="1"/>
              <a:t>Standard</a:t>
            </a:r>
          </a:p>
          <a:p>
            <a:pPr defTabSz="701675">
              <a:lnSpc>
                <a:spcPct val="100000"/>
              </a:lnSpc>
            </a:pPr>
            <a:r>
              <a:rPr lang="en-GB" sz="1400" b="1"/>
              <a:t>Max</a:t>
            </a:r>
          </a:p>
        </p:txBody>
      </p:sp>
      <p:sp>
        <p:nvSpPr>
          <p:cNvPr id="72721" name="Rectangle 17"/>
          <p:cNvSpPr>
            <a:spLocks noChangeArrowheads="1"/>
          </p:cNvSpPr>
          <p:nvPr/>
        </p:nvSpPr>
        <p:spPr bwMode="auto">
          <a:xfrm>
            <a:off x="5820028" y="5632450"/>
            <a:ext cx="932947" cy="511038"/>
          </a:xfrm>
          <a:prstGeom prst="rect">
            <a:avLst/>
          </a:prstGeom>
          <a:noFill/>
          <a:ln w="12700">
            <a:noFill/>
            <a:miter lim="800000"/>
            <a:headEnd/>
            <a:tailEnd/>
          </a:ln>
        </p:spPr>
        <p:txBody>
          <a:bodyPr wrap="none" lIns="80962" tIns="39688" rIns="80962" bIns="39688">
            <a:prstTxWarp prst="textNoShape">
              <a:avLst/>
            </a:prstTxWarp>
            <a:spAutoFit/>
          </a:bodyPr>
          <a:lstStyle/>
          <a:p>
            <a:pPr defTabSz="701675">
              <a:lnSpc>
                <a:spcPct val="100000"/>
              </a:lnSpc>
            </a:pPr>
            <a:r>
              <a:rPr lang="en-GB" sz="1400" b="1"/>
              <a:t>Premium</a:t>
            </a:r>
          </a:p>
          <a:p>
            <a:pPr defTabSz="701675">
              <a:lnSpc>
                <a:spcPct val="100000"/>
              </a:lnSpc>
            </a:pPr>
            <a:r>
              <a:rPr lang="en-GB" sz="1400" b="1"/>
              <a:t>Min</a:t>
            </a:r>
          </a:p>
        </p:txBody>
      </p:sp>
      <p:sp>
        <p:nvSpPr>
          <p:cNvPr id="72722" name="Rectangle 18"/>
          <p:cNvSpPr>
            <a:spLocks noChangeArrowheads="1"/>
          </p:cNvSpPr>
          <p:nvPr/>
        </p:nvSpPr>
        <p:spPr bwMode="auto">
          <a:xfrm>
            <a:off x="7010653" y="5632450"/>
            <a:ext cx="932947" cy="511038"/>
          </a:xfrm>
          <a:prstGeom prst="rect">
            <a:avLst/>
          </a:prstGeom>
          <a:noFill/>
          <a:ln w="12700">
            <a:noFill/>
            <a:miter lim="800000"/>
            <a:headEnd/>
            <a:tailEnd/>
          </a:ln>
        </p:spPr>
        <p:txBody>
          <a:bodyPr wrap="none" lIns="80962" tIns="39688" rIns="80962" bIns="39688">
            <a:prstTxWarp prst="textNoShape">
              <a:avLst/>
            </a:prstTxWarp>
            <a:spAutoFit/>
          </a:bodyPr>
          <a:lstStyle/>
          <a:p>
            <a:pPr defTabSz="701675">
              <a:lnSpc>
                <a:spcPct val="100000"/>
              </a:lnSpc>
            </a:pPr>
            <a:r>
              <a:rPr lang="en-GB" sz="1400" b="1"/>
              <a:t>Premium</a:t>
            </a:r>
          </a:p>
          <a:p>
            <a:pPr defTabSz="701675">
              <a:lnSpc>
                <a:spcPct val="100000"/>
              </a:lnSpc>
            </a:pPr>
            <a:r>
              <a:rPr lang="en-GB" sz="1400" b="1"/>
              <a:t>Max</a:t>
            </a:r>
          </a:p>
        </p:txBody>
      </p:sp>
      <p:sp>
        <p:nvSpPr>
          <p:cNvPr id="72723" name="Rectangle 19"/>
          <p:cNvSpPr>
            <a:spLocks noChangeArrowheads="1"/>
          </p:cNvSpPr>
          <p:nvPr/>
        </p:nvSpPr>
        <p:spPr bwMode="auto">
          <a:xfrm>
            <a:off x="4583114" y="2878139"/>
            <a:ext cx="939359" cy="729687"/>
          </a:xfrm>
          <a:prstGeom prst="rect">
            <a:avLst/>
          </a:prstGeom>
          <a:noFill/>
          <a:ln w="12700">
            <a:noFill/>
            <a:miter lim="800000"/>
            <a:headEnd/>
            <a:tailEnd/>
          </a:ln>
        </p:spPr>
        <p:txBody>
          <a:bodyPr wrap="none" lIns="80962" tIns="41275" rIns="80962" bIns="41275">
            <a:prstTxWarp prst="textNoShape">
              <a:avLst/>
            </a:prstTxWarp>
            <a:spAutoFit/>
          </a:bodyPr>
          <a:lstStyle/>
          <a:p>
            <a:pPr marL="100013" indent="-100013" algn="l" defTabSz="804863">
              <a:lnSpc>
                <a:spcPct val="100000"/>
              </a:lnSpc>
            </a:pPr>
            <a:r>
              <a:rPr lang="en-GB" sz="1400" b="1"/>
              <a:t>Standard</a:t>
            </a:r>
          </a:p>
          <a:p>
            <a:pPr marL="100013" indent="-100013" algn="l" defTabSz="804863">
              <a:lnSpc>
                <a:spcPct val="100000"/>
              </a:lnSpc>
            </a:pPr>
            <a:r>
              <a:rPr lang="en-GB" sz="1400" b="1"/>
              <a:t>Service</a:t>
            </a:r>
          </a:p>
          <a:p>
            <a:pPr marL="100013" indent="-100013" algn="l" defTabSz="804863">
              <a:lnSpc>
                <a:spcPct val="100000"/>
              </a:lnSpc>
            </a:pPr>
            <a:r>
              <a:rPr lang="en-GB" sz="1400" b="1"/>
              <a:t>Profile</a:t>
            </a:r>
          </a:p>
        </p:txBody>
      </p:sp>
      <p:sp>
        <p:nvSpPr>
          <p:cNvPr id="72724" name="Arc 20"/>
          <p:cNvSpPr>
            <a:spLocks/>
          </p:cNvSpPr>
          <p:nvPr/>
        </p:nvSpPr>
        <p:spPr bwMode="auto">
          <a:xfrm rot="3060000">
            <a:off x="5273676" y="3409951"/>
            <a:ext cx="411162" cy="350837"/>
          </a:xfrm>
          <a:custGeom>
            <a:avLst/>
            <a:gdLst>
              <a:gd name="T0" fmla="*/ 0 w 41111"/>
              <a:gd name="T1" fmla="*/ 213377 h 21600"/>
              <a:gd name="T2" fmla="*/ 411162 w 41111"/>
              <a:gd name="T3" fmla="*/ 286842 h 21600"/>
              <a:gd name="T4" fmla="*/ 198755 w 41111"/>
              <a:gd name="T5" fmla="*/ 350837 h 21600"/>
              <a:gd name="T6" fmla="*/ 0 60000 65536"/>
              <a:gd name="T7" fmla="*/ 0 60000 65536"/>
              <a:gd name="T8" fmla="*/ 0 60000 65536"/>
              <a:gd name="T9" fmla="*/ 0 w 41111"/>
              <a:gd name="T10" fmla="*/ 0 h 21600"/>
              <a:gd name="T11" fmla="*/ 41111 w 41111"/>
              <a:gd name="T12" fmla="*/ 21600 h 21600"/>
            </a:gdLst>
            <a:ahLst/>
            <a:cxnLst>
              <a:cxn ang="T6">
                <a:pos x="T0" y="T1"/>
              </a:cxn>
              <a:cxn ang="T7">
                <a:pos x="T2" y="T3"/>
              </a:cxn>
              <a:cxn ang="T8">
                <a:pos x="T4" y="T5"/>
              </a:cxn>
            </a:cxnLst>
            <a:rect l="T9" t="T10" r="T11" b="T12"/>
            <a:pathLst>
              <a:path w="41111" h="21600" fill="none" extrusionOk="0">
                <a:moveTo>
                  <a:pt x="-1" y="13136"/>
                </a:moveTo>
                <a:cubicBezTo>
                  <a:pt x="3392" y="5170"/>
                  <a:pt x="11214" y="-1"/>
                  <a:pt x="19873" y="0"/>
                </a:cubicBezTo>
                <a:cubicBezTo>
                  <a:pt x="30282" y="0"/>
                  <a:pt x="39211" y="7424"/>
                  <a:pt x="41110" y="17660"/>
                </a:cubicBezTo>
              </a:path>
              <a:path w="41111" h="21600" stroke="0" extrusionOk="0">
                <a:moveTo>
                  <a:pt x="-1" y="13136"/>
                </a:moveTo>
                <a:cubicBezTo>
                  <a:pt x="3392" y="5170"/>
                  <a:pt x="11214" y="-1"/>
                  <a:pt x="19873" y="0"/>
                </a:cubicBezTo>
                <a:cubicBezTo>
                  <a:pt x="30282" y="0"/>
                  <a:pt x="39211" y="7424"/>
                  <a:pt x="41110" y="17660"/>
                </a:cubicBezTo>
                <a:lnTo>
                  <a:pt x="19873" y="21600"/>
                </a:lnTo>
                <a:close/>
              </a:path>
            </a:pathLst>
          </a:custGeom>
          <a:noFill/>
          <a:ln w="25400" cap="rnd">
            <a:solidFill>
              <a:schemeClr val="tx1"/>
            </a:solidFill>
            <a:round/>
            <a:headEnd/>
            <a:tailEnd type="triangle" w="med" len="med"/>
          </a:ln>
        </p:spPr>
        <p:txBody>
          <a:bodyPr wrap="none" anchor="ctr">
            <a:prstTxWarp prst="textNoShape">
              <a:avLst/>
            </a:prstTxWarp>
          </a:bodyPr>
          <a:lstStyle/>
          <a:p>
            <a:endParaRPr lang="en-US"/>
          </a:p>
        </p:txBody>
      </p:sp>
      <p:sp>
        <p:nvSpPr>
          <p:cNvPr id="72725" name="Rectangle 21"/>
          <p:cNvSpPr>
            <a:spLocks noChangeArrowheads="1"/>
          </p:cNvSpPr>
          <p:nvPr/>
        </p:nvSpPr>
        <p:spPr bwMode="auto">
          <a:xfrm>
            <a:off x="7651751" y="3433764"/>
            <a:ext cx="932947" cy="729687"/>
          </a:xfrm>
          <a:prstGeom prst="rect">
            <a:avLst/>
          </a:prstGeom>
          <a:noFill/>
          <a:ln w="12700">
            <a:noFill/>
            <a:miter lim="800000"/>
            <a:headEnd/>
            <a:tailEnd/>
          </a:ln>
        </p:spPr>
        <p:txBody>
          <a:bodyPr wrap="none" lIns="80962" tIns="41275" rIns="80962" bIns="41275">
            <a:prstTxWarp prst="textNoShape">
              <a:avLst/>
            </a:prstTxWarp>
            <a:spAutoFit/>
          </a:bodyPr>
          <a:lstStyle/>
          <a:p>
            <a:pPr marL="100013" indent="-100013" algn="l" defTabSz="804863">
              <a:lnSpc>
                <a:spcPct val="100000"/>
              </a:lnSpc>
            </a:pPr>
            <a:r>
              <a:rPr lang="en-GB" sz="1400" b="1"/>
              <a:t>Premium</a:t>
            </a:r>
          </a:p>
          <a:p>
            <a:pPr marL="100013" indent="-100013" algn="l" defTabSz="804863">
              <a:lnSpc>
                <a:spcPct val="100000"/>
              </a:lnSpc>
            </a:pPr>
            <a:r>
              <a:rPr lang="en-GB" sz="1400" b="1"/>
              <a:t>Service</a:t>
            </a:r>
          </a:p>
          <a:p>
            <a:pPr marL="100013" indent="-100013" algn="l" defTabSz="804863">
              <a:lnSpc>
                <a:spcPct val="100000"/>
              </a:lnSpc>
            </a:pPr>
            <a:r>
              <a:rPr lang="en-GB" sz="1400" b="1"/>
              <a:t>Profile</a:t>
            </a:r>
          </a:p>
        </p:txBody>
      </p:sp>
      <p:sp>
        <p:nvSpPr>
          <p:cNvPr id="72726" name="Arc 22"/>
          <p:cNvSpPr>
            <a:spLocks/>
          </p:cNvSpPr>
          <p:nvPr/>
        </p:nvSpPr>
        <p:spPr bwMode="auto">
          <a:xfrm rot="10740000">
            <a:off x="7345363" y="4152900"/>
            <a:ext cx="673100" cy="376238"/>
          </a:xfrm>
          <a:custGeom>
            <a:avLst/>
            <a:gdLst>
              <a:gd name="T0" fmla="*/ 0 w 42273"/>
              <a:gd name="T1" fmla="*/ 289477 h 21600"/>
              <a:gd name="T2" fmla="*/ 673100 w 42273"/>
              <a:gd name="T3" fmla="*/ 309229 h 21600"/>
              <a:gd name="T4" fmla="*/ 334663 w 42273"/>
              <a:gd name="T5" fmla="*/ 376238 h 21600"/>
              <a:gd name="T6" fmla="*/ 0 60000 65536"/>
              <a:gd name="T7" fmla="*/ 0 60000 65536"/>
              <a:gd name="T8" fmla="*/ 0 60000 65536"/>
              <a:gd name="T9" fmla="*/ 0 w 42273"/>
              <a:gd name="T10" fmla="*/ 0 h 21600"/>
              <a:gd name="T11" fmla="*/ 42273 w 42273"/>
              <a:gd name="T12" fmla="*/ 21600 h 21600"/>
            </a:gdLst>
            <a:ahLst/>
            <a:cxnLst>
              <a:cxn ang="T6">
                <a:pos x="T0" y="T1"/>
              </a:cxn>
              <a:cxn ang="T7">
                <a:pos x="T2" y="T3"/>
              </a:cxn>
              <a:cxn ang="T8">
                <a:pos x="T4" y="T5"/>
              </a:cxn>
            </a:cxnLst>
            <a:rect l="T9" t="T10" r="T11" b="T12"/>
            <a:pathLst>
              <a:path w="42273" h="21600" fill="none" extrusionOk="0">
                <a:moveTo>
                  <a:pt x="0" y="16619"/>
                </a:moveTo>
                <a:cubicBezTo>
                  <a:pt x="2308" y="6878"/>
                  <a:pt x="11007" y="-1"/>
                  <a:pt x="21018" y="0"/>
                </a:cubicBezTo>
                <a:cubicBezTo>
                  <a:pt x="31463" y="0"/>
                  <a:pt x="40412" y="7474"/>
                  <a:pt x="42272" y="17753"/>
                </a:cubicBezTo>
              </a:path>
              <a:path w="42273" h="21600" stroke="0" extrusionOk="0">
                <a:moveTo>
                  <a:pt x="0" y="16619"/>
                </a:moveTo>
                <a:cubicBezTo>
                  <a:pt x="2308" y="6878"/>
                  <a:pt x="11007" y="-1"/>
                  <a:pt x="21018" y="0"/>
                </a:cubicBezTo>
                <a:cubicBezTo>
                  <a:pt x="31463" y="0"/>
                  <a:pt x="40412" y="7474"/>
                  <a:pt x="42272" y="17753"/>
                </a:cubicBezTo>
                <a:lnTo>
                  <a:pt x="21018" y="21600"/>
                </a:lnTo>
                <a:close/>
              </a:path>
            </a:pathLst>
          </a:custGeom>
          <a:noFill/>
          <a:ln w="25400" cap="rnd">
            <a:solidFill>
              <a:schemeClr val="tx1"/>
            </a:solidFill>
            <a:round/>
            <a:headEnd/>
            <a:tailEnd type="triangle" w="med" len="med"/>
          </a:ln>
        </p:spPr>
        <p:txBody>
          <a:bodyPr wrap="none" anchor="ctr">
            <a:prstTxWarp prst="textNoShape">
              <a:avLst/>
            </a:prstTxWarp>
          </a:bodyPr>
          <a:lstStyle/>
          <a:p>
            <a:endParaRPr lang="en-US"/>
          </a:p>
        </p:txBody>
      </p:sp>
      <p:sp>
        <p:nvSpPr>
          <p:cNvPr id="72727" name="Rectangle 23"/>
          <p:cNvSpPr>
            <a:spLocks noChangeArrowheads="1"/>
          </p:cNvSpPr>
          <p:nvPr/>
        </p:nvSpPr>
        <p:spPr bwMode="auto">
          <a:xfrm>
            <a:off x="5942014" y="3648076"/>
            <a:ext cx="1077217" cy="295595"/>
          </a:xfrm>
          <a:prstGeom prst="rect">
            <a:avLst/>
          </a:prstGeom>
          <a:noFill/>
          <a:ln w="12700">
            <a:noFill/>
            <a:miter lim="800000"/>
            <a:headEnd/>
            <a:tailEnd/>
          </a:ln>
        </p:spPr>
        <p:txBody>
          <a:bodyPr wrap="none" lIns="80962" tIns="39688" rIns="80962" bIns="39688">
            <a:prstTxWarp prst="textNoShape">
              <a:avLst/>
            </a:prstTxWarp>
            <a:spAutoFit/>
          </a:bodyPr>
          <a:lstStyle/>
          <a:p>
            <a:pPr algn="l" defTabSz="701675">
              <a:lnSpc>
                <a:spcPct val="100000"/>
              </a:lnSpc>
            </a:pPr>
            <a:r>
              <a:rPr lang="en-GB" sz="1400" b="1"/>
              <a:t>Adjustable</a:t>
            </a:r>
          </a:p>
        </p:txBody>
      </p:sp>
      <p:sp>
        <p:nvSpPr>
          <p:cNvPr id="252952" name="Line 24"/>
          <p:cNvSpPr>
            <a:spLocks noChangeShapeType="1"/>
          </p:cNvSpPr>
          <p:nvPr/>
        </p:nvSpPr>
        <p:spPr bwMode="auto">
          <a:xfrm flipH="1">
            <a:off x="5438776" y="3937000"/>
            <a:ext cx="950913" cy="254000"/>
          </a:xfrm>
          <a:prstGeom prst="line">
            <a:avLst/>
          </a:prstGeom>
          <a:noFill/>
          <a:ln w="25400">
            <a:solidFill>
              <a:schemeClr val="accent2"/>
            </a:solidFill>
            <a:round/>
            <a:headEnd/>
            <a:tailEnd type="triangle" w="med" len="med"/>
          </a:ln>
          <a:effectLst>
            <a:outerShdw dist="17961" dir="2700000" algn="ctr" rotWithShape="0">
              <a:schemeClr val="tx1"/>
            </a:outerShdw>
          </a:effectLst>
        </p:spPr>
        <p:txBody>
          <a:bodyPr wrap="none" anchor="ctr"/>
          <a:lstStyle/>
          <a:p>
            <a:pPr>
              <a:defRPr/>
            </a:pPr>
            <a:endParaRPr lang="en-US">
              <a:latin typeface="Arial" charset="0"/>
            </a:endParaRPr>
          </a:p>
        </p:txBody>
      </p:sp>
      <p:sp>
        <p:nvSpPr>
          <p:cNvPr id="252953" name="Line 25"/>
          <p:cNvSpPr>
            <a:spLocks noChangeShapeType="1"/>
          </p:cNvSpPr>
          <p:nvPr/>
        </p:nvSpPr>
        <p:spPr bwMode="auto">
          <a:xfrm>
            <a:off x="6402388" y="3951289"/>
            <a:ext cx="354012" cy="357187"/>
          </a:xfrm>
          <a:prstGeom prst="line">
            <a:avLst/>
          </a:prstGeom>
          <a:noFill/>
          <a:ln w="25400">
            <a:solidFill>
              <a:schemeClr val="accent2"/>
            </a:solidFill>
            <a:round/>
            <a:headEnd/>
            <a:tailEnd type="triangle" w="med" len="med"/>
          </a:ln>
          <a:effectLst>
            <a:outerShdw dist="17961" dir="2700000" algn="ctr" rotWithShape="0">
              <a:schemeClr val="tx1"/>
            </a:outerShdw>
          </a:effectLst>
        </p:spPr>
        <p:txBody>
          <a:bodyPr wrap="none" anchor="ctr"/>
          <a:lstStyle/>
          <a:p>
            <a:pPr>
              <a:defRPr/>
            </a:pPr>
            <a:endParaRPr lang="en-US">
              <a:latin typeface="Arial" charset="0"/>
            </a:endParaRPr>
          </a:p>
        </p:txBody>
      </p:sp>
      <p:sp>
        <p:nvSpPr>
          <p:cNvPr id="72730" name="Line 26"/>
          <p:cNvSpPr>
            <a:spLocks noChangeShapeType="1"/>
          </p:cNvSpPr>
          <p:nvPr/>
        </p:nvSpPr>
        <p:spPr bwMode="auto">
          <a:xfrm>
            <a:off x="7489825" y="1822450"/>
            <a:ext cx="914400" cy="0"/>
          </a:xfrm>
          <a:prstGeom prst="line">
            <a:avLst/>
          </a:prstGeom>
          <a:noFill/>
          <a:ln w="76200">
            <a:solidFill>
              <a:schemeClr val="accent1"/>
            </a:solidFill>
            <a:round/>
            <a:headEnd type="none" w="sm" len="sm"/>
            <a:tailEnd type="none" w="sm" len="sm"/>
          </a:ln>
        </p:spPr>
        <p:txBody>
          <a:bodyPr wrap="none" anchor="ctr">
            <a:prstTxWarp prst="textNoShape">
              <a:avLst/>
            </a:prstTxWarp>
          </a:bodyPr>
          <a:lstStyle/>
          <a:p>
            <a:endParaRPr lang="en-US"/>
          </a:p>
        </p:txBody>
      </p:sp>
      <p:sp>
        <p:nvSpPr>
          <p:cNvPr id="72731" name="Line 27"/>
          <p:cNvSpPr>
            <a:spLocks noChangeShapeType="1"/>
          </p:cNvSpPr>
          <p:nvPr/>
        </p:nvSpPr>
        <p:spPr bwMode="auto">
          <a:xfrm>
            <a:off x="7489825" y="4946650"/>
            <a:ext cx="6350" cy="611188"/>
          </a:xfrm>
          <a:prstGeom prst="line">
            <a:avLst/>
          </a:prstGeom>
          <a:noFill/>
          <a:ln w="50800">
            <a:solidFill>
              <a:schemeClr val="tx1"/>
            </a:solidFill>
            <a:round/>
            <a:headEnd/>
            <a:tailEnd/>
          </a:ln>
        </p:spPr>
        <p:txBody>
          <a:bodyPr wrap="none" anchor="ctr">
            <a:prstTxWarp prst="textNoShape">
              <a:avLst/>
            </a:prstTxWarp>
          </a:bodyPr>
          <a:lstStyle/>
          <a:p>
            <a:endParaRPr lang="en-US"/>
          </a:p>
        </p:txBody>
      </p:sp>
    </p:spTree>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730" name="Group 2"/>
          <p:cNvGrpSpPr>
            <a:grpSpLocks/>
          </p:cNvGrpSpPr>
          <p:nvPr/>
        </p:nvGrpSpPr>
        <p:grpSpPr bwMode="auto">
          <a:xfrm>
            <a:off x="2566989" y="3500438"/>
            <a:ext cx="7208837" cy="2259012"/>
            <a:chOff x="384" y="1776"/>
            <a:chExt cx="5184" cy="1440"/>
          </a:xfrm>
        </p:grpSpPr>
        <p:pic>
          <p:nvPicPr>
            <p:cNvPr id="73742" name="Picture 3" descr="g2"/>
            <p:cNvPicPr>
              <a:picLocks noChangeAspect="1" noChangeArrowheads="1"/>
            </p:cNvPicPr>
            <p:nvPr/>
          </p:nvPicPr>
          <p:blipFill>
            <a:blip r:embed="rId2"/>
            <a:srcRect/>
            <a:stretch>
              <a:fillRect/>
            </a:stretch>
          </p:blipFill>
          <p:spPr bwMode="auto">
            <a:xfrm>
              <a:off x="480" y="1776"/>
              <a:ext cx="4502" cy="1393"/>
            </a:xfrm>
            <a:prstGeom prst="rect">
              <a:avLst/>
            </a:prstGeom>
            <a:noFill/>
            <a:ln w="9525">
              <a:noFill/>
              <a:miter lim="800000"/>
              <a:headEnd/>
              <a:tailEnd/>
            </a:ln>
          </p:spPr>
        </p:pic>
        <p:sp>
          <p:nvSpPr>
            <p:cNvPr id="73743" name="Rectangle 4"/>
            <p:cNvSpPr>
              <a:spLocks noChangeArrowheads="1"/>
            </p:cNvSpPr>
            <p:nvPr/>
          </p:nvSpPr>
          <p:spPr bwMode="auto">
            <a:xfrm>
              <a:off x="384" y="3072"/>
              <a:ext cx="5184" cy="144"/>
            </a:xfrm>
            <a:prstGeom prst="rect">
              <a:avLst/>
            </a:prstGeom>
            <a:solidFill>
              <a:schemeClr val="bg1"/>
            </a:solidFill>
            <a:ln w="9525">
              <a:solidFill>
                <a:schemeClr val="bg1"/>
              </a:solidFill>
              <a:miter lim="800000"/>
              <a:headEnd type="none" w="sm" len="sm"/>
              <a:tailEnd type="none" w="sm" len="sm"/>
            </a:ln>
          </p:spPr>
          <p:txBody>
            <a:bodyPr wrap="none" anchor="ctr">
              <a:prstTxWarp prst="textNoShape">
                <a:avLst/>
              </a:prstTxWarp>
            </a:bodyPr>
            <a:lstStyle/>
            <a:p>
              <a:endParaRPr lang="en-US"/>
            </a:p>
          </p:txBody>
        </p:sp>
      </p:grpSp>
      <p:sp>
        <p:nvSpPr>
          <p:cNvPr id="73731" name="Text Box 5"/>
          <p:cNvSpPr txBox="1">
            <a:spLocks noChangeArrowheads="1"/>
          </p:cNvSpPr>
          <p:nvPr/>
        </p:nvSpPr>
        <p:spPr bwMode="auto">
          <a:xfrm>
            <a:off x="2057401" y="1562101"/>
            <a:ext cx="7999413" cy="815975"/>
          </a:xfrm>
          <a:prstGeom prst="rect">
            <a:avLst/>
          </a:prstGeom>
          <a:noFill/>
          <a:ln w="9525">
            <a:noFill/>
            <a:miter lim="800000"/>
            <a:headEnd type="none" w="sm" len="sm"/>
            <a:tailEnd type="none" w="sm" len="sm"/>
          </a:ln>
        </p:spPr>
        <p:txBody>
          <a:bodyPr lIns="84189" tIns="42094" rIns="84189" bIns="42094">
            <a:prstTxWarp prst="textNoShape">
              <a:avLst/>
            </a:prstTxWarp>
            <a:spAutoFit/>
          </a:bodyPr>
          <a:lstStyle/>
          <a:p>
            <a:pPr algn="l" defTabSz="841375">
              <a:lnSpc>
                <a:spcPct val="100000"/>
              </a:lnSpc>
            </a:pPr>
            <a:r>
              <a:rPr lang="en-US"/>
              <a:t>Data from a burst E1 (2.0 Mbps) courtesy of Sean Doran and Van Jacobson</a:t>
            </a:r>
          </a:p>
        </p:txBody>
      </p:sp>
      <p:sp>
        <p:nvSpPr>
          <p:cNvPr id="73732" name="Text Box 6"/>
          <p:cNvSpPr txBox="1">
            <a:spLocks noChangeArrowheads="1"/>
          </p:cNvSpPr>
          <p:nvPr/>
        </p:nvSpPr>
        <p:spPr bwMode="auto">
          <a:xfrm>
            <a:off x="2063750" y="2420938"/>
            <a:ext cx="8077200" cy="360362"/>
          </a:xfrm>
          <a:prstGeom prst="rect">
            <a:avLst/>
          </a:prstGeom>
          <a:noFill/>
          <a:ln w="9525">
            <a:noFill/>
            <a:miter lim="800000"/>
            <a:headEnd type="none" w="sm" len="sm"/>
            <a:tailEnd type="none" w="sm" len="sm"/>
          </a:ln>
        </p:spPr>
        <p:txBody>
          <a:bodyPr lIns="84189" tIns="42094" rIns="84189" bIns="42094">
            <a:prstTxWarp prst="textNoShape">
              <a:avLst/>
            </a:prstTxWarp>
            <a:spAutoFit/>
          </a:bodyPr>
          <a:lstStyle/>
          <a:p>
            <a:pPr algn="l" defTabSz="841375">
              <a:lnSpc>
                <a:spcPct val="100000"/>
              </a:lnSpc>
              <a:spcBef>
                <a:spcPct val="50000"/>
              </a:spcBef>
            </a:pPr>
            <a:r>
              <a:rPr lang="en-US" sz="1800" b="1" i="1"/>
              <a:t>RED was turned on Friday at 10:00 am.  Link utilization goes up to 99%</a:t>
            </a:r>
          </a:p>
        </p:txBody>
      </p:sp>
      <p:sp>
        <p:nvSpPr>
          <p:cNvPr id="73733" name="Text Box 7"/>
          <p:cNvSpPr txBox="1">
            <a:spLocks noChangeArrowheads="1"/>
          </p:cNvSpPr>
          <p:nvPr/>
        </p:nvSpPr>
        <p:spPr bwMode="auto">
          <a:xfrm>
            <a:off x="7032626" y="5589589"/>
            <a:ext cx="747103" cy="315843"/>
          </a:xfrm>
          <a:prstGeom prst="rect">
            <a:avLst/>
          </a:prstGeom>
          <a:noFill/>
          <a:ln w="9525">
            <a:noFill/>
            <a:miter lim="800000"/>
            <a:headEnd type="none" w="sm" len="sm"/>
            <a:tailEnd type="none" w="sm" len="sm"/>
          </a:ln>
        </p:spPr>
        <p:txBody>
          <a:bodyPr wrap="none" lIns="84189" tIns="42094" rIns="84189" bIns="42094">
            <a:prstTxWarp prst="textNoShape">
              <a:avLst/>
            </a:prstTxWarp>
            <a:spAutoFit/>
          </a:bodyPr>
          <a:lstStyle/>
          <a:p>
            <a:pPr algn="l" defTabSz="841375">
              <a:lnSpc>
                <a:spcPct val="100000"/>
              </a:lnSpc>
            </a:pPr>
            <a:r>
              <a:rPr lang="en-US" sz="1500" b="1"/>
              <a:t>Friday</a:t>
            </a:r>
          </a:p>
        </p:txBody>
      </p:sp>
      <p:sp>
        <p:nvSpPr>
          <p:cNvPr id="73734" name="Text Box 8"/>
          <p:cNvSpPr txBox="1">
            <a:spLocks noChangeArrowheads="1"/>
          </p:cNvSpPr>
          <p:nvPr/>
        </p:nvSpPr>
        <p:spPr bwMode="auto">
          <a:xfrm>
            <a:off x="4591050" y="5589589"/>
            <a:ext cx="1035644" cy="315843"/>
          </a:xfrm>
          <a:prstGeom prst="rect">
            <a:avLst/>
          </a:prstGeom>
          <a:noFill/>
          <a:ln w="9525">
            <a:noFill/>
            <a:miter lim="800000"/>
            <a:headEnd type="none" w="sm" len="sm"/>
            <a:tailEnd type="none" w="sm" len="sm"/>
          </a:ln>
        </p:spPr>
        <p:txBody>
          <a:bodyPr wrap="none" lIns="84189" tIns="42094" rIns="84189" bIns="42094">
            <a:prstTxWarp prst="textNoShape">
              <a:avLst/>
            </a:prstTxWarp>
            <a:spAutoFit/>
          </a:bodyPr>
          <a:lstStyle/>
          <a:p>
            <a:pPr algn="l" defTabSz="841375">
              <a:lnSpc>
                <a:spcPct val="100000"/>
              </a:lnSpc>
            </a:pPr>
            <a:r>
              <a:rPr lang="en-US" sz="1500" b="1"/>
              <a:t>Thursday</a:t>
            </a:r>
          </a:p>
        </p:txBody>
      </p:sp>
      <p:sp>
        <p:nvSpPr>
          <p:cNvPr id="73735" name="Line 9"/>
          <p:cNvSpPr>
            <a:spLocks noChangeShapeType="1"/>
          </p:cNvSpPr>
          <p:nvPr/>
        </p:nvSpPr>
        <p:spPr bwMode="auto">
          <a:xfrm>
            <a:off x="6259513" y="5695951"/>
            <a:ext cx="0" cy="227013"/>
          </a:xfrm>
          <a:prstGeom prst="line">
            <a:avLst/>
          </a:prstGeom>
          <a:noFill/>
          <a:ln w="9525">
            <a:solidFill>
              <a:schemeClr val="tx1"/>
            </a:solidFill>
            <a:round/>
            <a:headEnd type="none" w="sm" len="sm"/>
            <a:tailEnd type="none" w="sm" len="sm"/>
          </a:ln>
        </p:spPr>
        <p:txBody>
          <a:bodyPr wrap="none" anchor="ctr">
            <a:prstTxWarp prst="textNoShape">
              <a:avLst/>
            </a:prstTxWarp>
          </a:bodyPr>
          <a:lstStyle/>
          <a:p>
            <a:endParaRPr lang="en-US"/>
          </a:p>
        </p:txBody>
      </p:sp>
      <p:sp>
        <p:nvSpPr>
          <p:cNvPr id="73736" name="Line 10"/>
          <p:cNvSpPr>
            <a:spLocks noChangeShapeType="1"/>
          </p:cNvSpPr>
          <p:nvPr/>
        </p:nvSpPr>
        <p:spPr bwMode="auto">
          <a:xfrm>
            <a:off x="5592764" y="5772150"/>
            <a:ext cx="600075" cy="0"/>
          </a:xfrm>
          <a:prstGeom prst="line">
            <a:avLst/>
          </a:prstGeom>
          <a:noFill/>
          <a:ln w="9525">
            <a:solidFill>
              <a:schemeClr val="tx1"/>
            </a:solidFill>
            <a:round/>
            <a:headEnd type="none" w="sm" len="sm"/>
            <a:tailEnd type="triangle" w="sm" len="sm"/>
          </a:ln>
        </p:spPr>
        <p:txBody>
          <a:bodyPr wrap="none" anchor="ctr">
            <a:prstTxWarp prst="textNoShape">
              <a:avLst/>
            </a:prstTxWarp>
          </a:bodyPr>
          <a:lstStyle/>
          <a:p>
            <a:endParaRPr lang="en-US"/>
          </a:p>
        </p:txBody>
      </p:sp>
      <p:sp>
        <p:nvSpPr>
          <p:cNvPr id="73737" name="Line 11"/>
          <p:cNvSpPr>
            <a:spLocks noChangeShapeType="1"/>
          </p:cNvSpPr>
          <p:nvPr/>
        </p:nvSpPr>
        <p:spPr bwMode="auto">
          <a:xfrm>
            <a:off x="7727951" y="5772150"/>
            <a:ext cx="600075" cy="0"/>
          </a:xfrm>
          <a:prstGeom prst="line">
            <a:avLst/>
          </a:prstGeom>
          <a:noFill/>
          <a:ln w="9525">
            <a:solidFill>
              <a:schemeClr val="tx1"/>
            </a:solidFill>
            <a:round/>
            <a:headEnd type="none" w="sm" len="sm"/>
            <a:tailEnd type="triangle" w="sm" len="sm"/>
          </a:ln>
        </p:spPr>
        <p:txBody>
          <a:bodyPr wrap="none" anchor="ctr">
            <a:prstTxWarp prst="textNoShape">
              <a:avLst/>
            </a:prstTxWarp>
          </a:bodyPr>
          <a:lstStyle/>
          <a:p>
            <a:endParaRPr lang="en-US"/>
          </a:p>
        </p:txBody>
      </p:sp>
      <p:sp>
        <p:nvSpPr>
          <p:cNvPr id="73738" name="Line 12"/>
          <p:cNvSpPr>
            <a:spLocks noChangeShapeType="1"/>
          </p:cNvSpPr>
          <p:nvPr/>
        </p:nvSpPr>
        <p:spPr bwMode="auto">
          <a:xfrm flipH="1">
            <a:off x="6326188" y="5772150"/>
            <a:ext cx="735012" cy="0"/>
          </a:xfrm>
          <a:prstGeom prst="line">
            <a:avLst/>
          </a:prstGeom>
          <a:noFill/>
          <a:ln w="9525">
            <a:solidFill>
              <a:schemeClr val="tx1"/>
            </a:solidFill>
            <a:round/>
            <a:headEnd type="none" w="sm" len="sm"/>
            <a:tailEnd type="triangle" w="sm" len="sm"/>
          </a:ln>
        </p:spPr>
        <p:txBody>
          <a:bodyPr wrap="none" anchor="ctr">
            <a:prstTxWarp prst="textNoShape">
              <a:avLst/>
            </a:prstTxWarp>
          </a:bodyPr>
          <a:lstStyle/>
          <a:p>
            <a:endParaRPr lang="en-US"/>
          </a:p>
        </p:txBody>
      </p:sp>
      <p:sp>
        <p:nvSpPr>
          <p:cNvPr id="73739" name="Line 13"/>
          <p:cNvSpPr>
            <a:spLocks noChangeShapeType="1"/>
          </p:cNvSpPr>
          <p:nvPr/>
        </p:nvSpPr>
        <p:spPr bwMode="auto">
          <a:xfrm flipH="1">
            <a:off x="3856038" y="5772150"/>
            <a:ext cx="735012" cy="0"/>
          </a:xfrm>
          <a:prstGeom prst="line">
            <a:avLst/>
          </a:prstGeom>
          <a:noFill/>
          <a:ln w="9525">
            <a:solidFill>
              <a:schemeClr val="tx1"/>
            </a:solidFill>
            <a:round/>
            <a:headEnd type="none" w="sm" len="sm"/>
            <a:tailEnd type="triangle" w="sm" len="sm"/>
          </a:ln>
        </p:spPr>
        <p:txBody>
          <a:bodyPr wrap="none" anchor="ctr">
            <a:prstTxWarp prst="textNoShape">
              <a:avLst/>
            </a:prstTxWarp>
          </a:bodyPr>
          <a:lstStyle/>
          <a:p>
            <a:endParaRPr lang="en-US"/>
          </a:p>
        </p:txBody>
      </p:sp>
      <p:sp>
        <p:nvSpPr>
          <p:cNvPr id="256014" name="Line 14"/>
          <p:cNvSpPr>
            <a:spLocks noChangeShapeType="1"/>
          </p:cNvSpPr>
          <p:nvPr/>
        </p:nvSpPr>
        <p:spPr bwMode="auto">
          <a:xfrm flipV="1">
            <a:off x="7672388" y="2814638"/>
            <a:ext cx="0" cy="754062"/>
          </a:xfrm>
          <a:prstGeom prst="line">
            <a:avLst/>
          </a:prstGeom>
          <a:noFill/>
          <a:ln w="38100">
            <a:solidFill>
              <a:srgbClr val="669900"/>
            </a:solidFill>
            <a:round/>
            <a:headEnd type="stealth" w="lg" len="lg"/>
            <a:tailEnd type="none" w="sm" len="sm"/>
          </a:ln>
          <a:effectLst>
            <a:outerShdw dist="35921" dir="2700000" algn="ctr" rotWithShape="0">
              <a:schemeClr val="tx1"/>
            </a:outerShdw>
          </a:effectLst>
        </p:spPr>
        <p:txBody>
          <a:bodyPr wrap="none" anchor="ctr"/>
          <a:lstStyle/>
          <a:p>
            <a:pPr>
              <a:defRPr/>
            </a:pPr>
            <a:endParaRPr lang="en-US">
              <a:latin typeface="Arial" charset="0"/>
            </a:endParaRPr>
          </a:p>
        </p:txBody>
      </p:sp>
      <p:sp>
        <p:nvSpPr>
          <p:cNvPr id="73741" name="Rectangle 15"/>
          <p:cNvSpPr>
            <a:spLocks noChangeArrowheads="1"/>
          </p:cNvSpPr>
          <p:nvPr/>
        </p:nvSpPr>
        <p:spPr bwMode="auto">
          <a:xfrm>
            <a:off x="1981201" y="404813"/>
            <a:ext cx="6778625" cy="576262"/>
          </a:xfrm>
          <a:prstGeom prst="rect">
            <a:avLst/>
          </a:prstGeom>
          <a:noFill/>
          <a:ln w="9525">
            <a:noFill/>
            <a:miter lim="800000"/>
            <a:headEnd/>
            <a:tailEnd/>
          </a:ln>
        </p:spPr>
        <p:txBody>
          <a:bodyPr lIns="73016" tIns="36507" rIns="73016" bIns="36507" anchor="ctr">
            <a:prstTxWarp prst="textNoShape">
              <a:avLst/>
            </a:prstTxWarp>
          </a:bodyPr>
          <a:lstStyle/>
          <a:p>
            <a:pPr algn="l" defTabSz="814388"/>
            <a:r>
              <a:rPr lang="en-US" sz="3200" b="1">
                <a:solidFill>
                  <a:srgbClr val="669900"/>
                </a:solidFill>
              </a:rPr>
              <a:t>Benefits of RED</a:t>
            </a:r>
            <a:endParaRPr lang="en-GB" sz="3200" b="1">
              <a:solidFill>
                <a:srgbClr val="669900"/>
              </a:solidFill>
            </a:endParaRPr>
          </a:p>
        </p:txBody>
      </p:sp>
    </p:spTree>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a:solidFill>
                  <a:srgbClr val="669900"/>
                </a:solidFill>
              </a:rPr>
              <a:t>Review questions</a:t>
            </a:r>
          </a:p>
        </p:txBody>
      </p:sp>
      <p:sp>
        <p:nvSpPr>
          <p:cNvPr id="269315" name="Rectangle 3"/>
          <p:cNvSpPr>
            <a:spLocks noGrp="1" noChangeArrowheads="1"/>
          </p:cNvSpPr>
          <p:nvPr>
            <p:ph idx="1"/>
          </p:nvPr>
        </p:nvSpPr>
        <p:spPr/>
        <p:txBody>
          <a:bodyPr/>
          <a:lstStyle/>
          <a:p>
            <a:r>
              <a:rPr lang="en-US"/>
              <a:t>What is the difference between RED and WRED ?</a:t>
            </a:r>
          </a:p>
          <a:p>
            <a:r>
              <a:rPr lang="en-US"/>
              <a:t>Which traffic type gets the most benefit from Random Dropping ?</a:t>
            </a:r>
          </a:p>
          <a:p>
            <a:r>
              <a:rPr lang="en-US"/>
              <a:t>If you have configured WRED and still see tail drops, which parameters could you adjust to prevent them ?</a:t>
            </a:r>
          </a:p>
          <a:p>
            <a:r>
              <a:rPr lang="en-US"/>
              <a:t>How would you adjust them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9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9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9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93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a:t>Segue Slide</a:t>
            </a:r>
          </a:p>
        </p:txBody>
      </p:sp>
      <p:sp>
        <p:nvSpPr>
          <p:cNvPr id="75779" name="Rectangle 3"/>
          <p:cNvSpPr>
            <a:spLocks noGrp="1" noChangeArrowheads="1"/>
          </p:cNvSpPr>
          <p:nvPr>
            <p:ph idx="1"/>
          </p:nvPr>
        </p:nvSpPr>
        <p:spPr/>
        <p:txBody>
          <a:bodyPr/>
          <a:lstStyle/>
          <a:p>
            <a:r>
              <a:rPr lang="en-US"/>
              <a:t>Subtitle</a:t>
            </a:r>
          </a:p>
        </p:txBody>
      </p:sp>
      <p:sp>
        <p:nvSpPr>
          <p:cNvPr id="75784" name="Rectangle 6"/>
          <p:cNvSpPr>
            <a:spLocks noChangeArrowheads="1"/>
          </p:cNvSpPr>
          <p:nvPr/>
        </p:nvSpPr>
        <p:spPr bwMode="auto">
          <a:xfrm>
            <a:off x="1524000" y="1277445"/>
            <a:ext cx="5029200" cy="415323"/>
          </a:xfrm>
          <a:prstGeom prst="rect">
            <a:avLst/>
          </a:prstGeom>
          <a:solidFill>
            <a:srgbClr val="015F85"/>
          </a:solidFill>
          <a:ln w="9525">
            <a:noFill/>
            <a:miter lim="800000"/>
            <a:headEnd/>
            <a:tailEnd/>
          </a:ln>
        </p:spPr>
        <p:txBody>
          <a:bodyPr lIns="82124" tIns="41061" rIns="82124" bIns="41061" anchor="ctr">
            <a:prstTxWarp prst="textNoShape">
              <a:avLst/>
            </a:prstTxWarp>
            <a:spAutoFit/>
          </a:bodyPr>
          <a:lstStyle/>
          <a:p>
            <a:endParaRPr lang="en-US"/>
          </a:p>
        </p:txBody>
      </p:sp>
      <p:sp>
        <p:nvSpPr>
          <p:cNvPr id="75781" name="Rectangle 7"/>
          <p:cNvSpPr>
            <a:spLocks noChangeArrowheads="1"/>
          </p:cNvSpPr>
          <p:nvPr/>
        </p:nvSpPr>
        <p:spPr bwMode="auto">
          <a:xfrm>
            <a:off x="2146301" y="935038"/>
            <a:ext cx="6397625" cy="838200"/>
          </a:xfrm>
          <a:prstGeom prst="rect">
            <a:avLst/>
          </a:prstGeom>
          <a:noFill/>
          <a:ln w="9525">
            <a:noFill/>
            <a:miter lim="800000"/>
            <a:headEnd/>
            <a:tailEnd/>
          </a:ln>
        </p:spPr>
        <p:txBody>
          <a:bodyPr lIns="82124" tIns="41061" rIns="82124" bIns="41061" anchor="b">
            <a:prstTxWarp prst="textNoShape">
              <a:avLst/>
            </a:prstTxWarp>
          </a:bodyPr>
          <a:lstStyle/>
          <a:p>
            <a:pPr algn="l" defTabSz="814388" eaLnBrk="1" hangingPunct="1"/>
            <a:r>
              <a:rPr lang="en-US" sz="3200" b="1">
                <a:solidFill>
                  <a:schemeClr val="bg1"/>
                </a:solidFill>
              </a:rPr>
              <a:t>Troubleshooting</a:t>
            </a:r>
          </a:p>
        </p:txBody>
      </p:sp>
      <p:sp>
        <p:nvSpPr>
          <p:cNvPr id="75782" name="Text Box 8"/>
          <p:cNvSpPr txBox="1">
            <a:spLocks noChangeArrowheads="1"/>
          </p:cNvSpPr>
          <p:nvPr/>
        </p:nvSpPr>
        <p:spPr bwMode="auto">
          <a:xfrm>
            <a:off x="2636838" y="4346576"/>
            <a:ext cx="6618580" cy="415323"/>
          </a:xfrm>
          <a:prstGeom prst="rect">
            <a:avLst/>
          </a:prstGeom>
          <a:noFill/>
          <a:ln w="9525">
            <a:noFill/>
            <a:miter lim="800000"/>
            <a:headEnd/>
            <a:tailEnd/>
          </a:ln>
        </p:spPr>
        <p:txBody>
          <a:bodyPr wrap="none" lIns="82124" tIns="41061" rIns="82124" bIns="41061">
            <a:prstTxWarp prst="textNoShape">
              <a:avLst/>
            </a:prstTxWarp>
            <a:spAutoFit/>
          </a:bodyPr>
          <a:lstStyle/>
          <a:p>
            <a:pPr algn="l" defTabSz="814388"/>
            <a:r>
              <a:rPr lang="en-US"/>
              <a:t>AKA “How to read a </a:t>
            </a:r>
            <a:r>
              <a:rPr lang="en-US">
                <a:solidFill>
                  <a:schemeClr val="tx2"/>
                </a:solidFill>
              </a:rPr>
              <a:t>show policy-map interface</a:t>
            </a:r>
            <a:r>
              <a:rPr lang="en-US"/>
              <a:t>”</a:t>
            </a:r>
          </a:p>
        </p:txBody>
      </p:sp>
      <p:pic>
        <p:nvPicPr>
          <p:cNvPr id="9" name="Picture 11" descr="Bob-the-bouncer"/>
          <p:cNvPicPr>
            <a:picLocks noChangeAspect="1" noChangeArrowheads="1"/>
          </p:cNvPicPr>
          <p:nvPr/>
        </p:nvPicPr>
        <p:blipFill>
          <a:blip r:embed="rId2"/>
          <a:srcRect/>
          <a:stretch>
            <a:fillRect/>
          </a:stretch>
        </p:blipFill>
        <p:spPr bwMode="auto">
          <a:xfrm>
            <a:off x="7607955" y="453388"/>
            <a:ext cx="1566862" cy="2160587"/>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out)">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idx="1"/>
          </p:nvPr>
        </p:nvSpPr>
        <p:spPr>
          <a:xfrm>
            <a:off x="1524001" y="404813"/>
            <a:ext cx="8964613" cy="6119812"/>
          </a:xfrm>
        </p:spPr>
        <p:txBody>
          <a:bodyPr>
            <a:normAutofit lnSpcReduction="10000"/>
          </a:bodyPr>
          <a:lstStyle/>
          <a:p>
            <a:pPr>
              <a:lnSpc>
                <a:spcPct val="30000"/>
              </a:lnSpc>
              <a:buFont typeface="Wingdings" pitchFamily="1" charset="2"/>
              <a:buNone/>
            </a:pPr>
            <a:r>
              <a:rPr lang="en-US" sz="1500" b="1">
                <a:latin typeface="Courier New" pitchFamily="1" charset="0"/>
              </a:rPr>
              <a:t>show policy-map interface</a:t>
            </a:r>
          </a:p>
          <a:p>
            <a:pPr>
              <a:lnSpc>
                <a:spcPct val="30000"/>
              </a:lnSpc>
              <a:buFont typeface="Wingdings" pitchFamily="1" charset="2"/>
              <a:buNone/>
            </a:pPr>
            <a:r>
              <a:rPr lang="en-US" sz="1500" b="1">
                <a:latin typeface="Courier New" pitchFamily="1" charset="0"/>
              </a:rPr>
              <a:t> Ethernet0/0</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latin typeface="Courier New" pitchFamily="1" charset="0"/>
              </a:rPr>
              <a:t>  Service-policy output: parent</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Class-map: class-default (match-any</a:t>
            </a:r>
            <a:r>
              <a:rPr lang="en-US" sz="1500" b="1">
                <a:latin typeface="Courier New" pitchFamily="1" charset="0"/>
              </a:rPr>
              <a:t>)</a:t>
            </a:r>
          </a:p>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4983</a:t>
            </a:r>
            <a:r>
              <a:rPr lang="en-US" sz="1500" b="1">
                <a:latin typeface="Courier New" pitchFamily="1" charset="0"/>
              </a:rPr>
              <a:t> packets, </a:t>
            </a:r>
            <a:r>
              <a:rPr lang="en-US" sz="1500" b="1">
                <a:solidFill>
                  <a:srgbClr val="FF3399"/>
                </a:solidFill>
                <a:latin typeface="Courier New" pitchFamily="1" charset="0"/>
              </a:rPr>
              <a:t>240814</a:t>
            </a:r>
            <a:r>
              <a:rPr lang="en-US" sz="1500" b="1">
                <a:latin typeface="Courier New" pitchFamily="1" charset="0"/>
              </a:rPr>
              <a:t> bytes</a:t>
            </a:r>
          </a:p>
          <a:p>
            <a:pPr>
              <a:lnSpc>
                <a:spcPct val="30000"/>
              </a:lnSpc>
              <a:buFont typeface="Wingdings" pitchFamily="1" charset="2"/>
              <a:buNone/>
            </a:pPr>
            <a:r>
              <a:rPr lang="en-US" sz="1500" b="1">
                <a:latin typeface="Courier New" pitchFamily="1" charset="0"/>
              </a:rPr>
              <a:t>      5 minute offered rate 230 bps, drop rate 0 bps</a:t>
            </a:r>
          </a:p>
          <a:p>
            <a:pPr>
              <a:lnSpc>
                <a:spcPct val="30000"/>
              </a:lnSpc>
              <a:buFont typeface="Wingdings" pitchFamily="1" charset="2"/>
              <a:buNone/>
            </a:pPr>
            <a:r>
              <a:rPr lang="en-US" sz="1500" b="1">
                <a:solidFill>
                  <a:srgbClr val="FF3399"/>
                </a:solidFill>
                <a:latin typeface="Courier New" pitchFamily="1" charset="0"/>
              </a:rPr>
              <a:t>      Match: any</a:t>
            </a:r>
          </a:p>
          <a:p>
            <a:pPr>
              <a:lnSpc>
                <a:spcPct val="30000"/>
              </a:lnSpc>
              <a:buFont typeface="Wingdings" pitchFamily="1" charset="2"/>
              <a:buNone/>
            </a:pPr>
            <a:r>
              <a:rPr lang="en-US" sz="1500" b="1">
                <a:latin typeface="Courier New" pitchFamily="1" charset="0"/>
              </a:rPr>
              <a:t>      </a:t>
            </a:r>
            <a:r>
              <a:rPr lang="en-US" sz="1500" b="1">
                <a:solidFill>
                  <a:schemeClr val="tx2"/>
                </a:solidFill>
                <a:latin typeface="Courier New" pitchFamily="1" charset="0"/>
              </a:rPr>
              <a:t>Traffic Shaping</a:t>
            </a:r>
          </a:p>
          <a:p>
            <a:pPr>
              <a:lnSpc>
                <a:spcPct val="30000"/>
              </a:lnSpc>
              <a:buFont typeface="Wingdings" pitchFamily="1" charset="2"/>
              <a:buNone/>
            </a:pPr>
            <a:r>
              <a:rPr lang="en-US" sz="1500" b="1">
                <a:latin typeface="Courier New" pitchFamily="1" charset="0"/>
              </a:rPr>
              <a:t>           </a:t>
            </a:r>
            <a:r>
              <a:rPr lang="en-US" sz="1500" b="1">
                <a:solidFill>
                  <a:schemeClr val="tx2"/>
                </a:solidFill>
                <a:latin typeface="Courier New" pitchFamily="1" charset="0"/>
              </a:rPr>
              <a:t>Target/Average   Byte   Sustain   Excess    Interval  Increment</a:t>
            </a:r>
          </a:p>
          <a:p>
            <a:pPr>
              <a:lnSpc>
                <a:spcPct val="30000"/>
              </a:lnSpc>
              <a:buFont typeface="Wingdings" pitchFamily="1" charset="2"/>
              <a:buNone/>
            </a:pPr>
            <a:r>
              <a:rPr lang="en-US" sz="1500" b="1">
                <a:solidFill>
                  <a:schemeClr val="tx2"/>
                </a:solidFill>
                <a:latin typeface="Courier New" pitchFamily="1" charset="0"/>
              </a:rPr>
              <a:t>             Rate           Limit  bits/int  bits/int  (ms)      (bytes)</a:t>
            </a:r>
          </a:p>
          <a:p>
            <a:pPr>
              <a:lnSpc>
                <a:spcPct val="30000"/>
              </a:lnSpc>
              <a:buFont typeface="Wingdings" pitchFamily="1" charset="2"/>
              <a:buNone/>
            </a:pPr>
            <a:r>
              <a:rPr lang="en-US" sz="1500" b="1">
                <a:solidFill>
                  <a:schemeClr val="tx2"/>
                </a:solidFill>
                <a:latin typeface="Courier New" pitchFamily="1" charset="0"/>
              </a:rPr>
              <a:t>          4000000/4000000   25000  100000    100000    25        12500</a:t>
            </a:r>
          </a:p>
          <a:p>
            <a:pPr>
              <a:lnSpc>
                <a:spcPct val="30000"/>
              </a:lnSpc>
              <a:buFont typeface="Wingdings" pitchFamily="1" charset="2"/>
              <a:buNone/>
            </a:pPr>
            <a:endParaRPr lang="en-US" sz="1500" b="1">
              <a:solidFill>
                <a:schemeClr val="tx2"/>
              </a:solidFill>
              <a:latin typeface="Courier New" pitchFamily="1" charset="0"/>
            </a:endParaRPr>
          </a:p>
          <a:p>
            <a:pPr>
              <a:lnSpc>
                <a:spcPct val="30000"/>
              </a:lnSpc>
              <a:buFont typeface="Wingdings" pitchFamily="1" charset="2"/>
              <a:buNone/>
            </a:pPr>
            <a:r>
              <a:rPr lang="en-US" sz="1500" b="1">
                <a:solidFill>
                  <a:schemeClr val="tx2"/>
                </a:solidFill>
                <a:latin typeface="Courier New" pitchFamily="1" charset="0"/>
              </a:rPr>
              <a:t>        Adapt  Queue     Packets   Bytes     Packets   Bytes     Shaping</a:t>
            </a:r>
          </a:p>
          <a:p>
            <a:pPr>
              <a:lnSpc>
                <a:spcPct val="30000"/>
              </a:lnSpc>
              <a:buFont typeface="Wingdings" pitchFamily="1" charset="2"/>
              <a:buNone/>
            </a:pPr>
            <a:r>
              <a:rPr lang="en-US" sz="1500" b="1">
                <a:solidFill>
                  <a:schemeClr val="tx2"/>
                </a:solidFill>
                <a:latin typeface="Courier New" pitchFamily="1" charset="0"/>
              </a:rPr>
              <a:t>        Active Depth                         Delayed   Delayed   Active</a:t>
            </a:r>
          </a:p>
          <a:p>
            <a:pPr>
              <a:lnSpc>
                <a:spcPct val="30000"/>
              </a:lnSpc>
              <a:buFont typeface="Wingdings" pitchFamily="1" charset="2"/>
              <a:buNone/>
            </a:pPr>
            <a:r>
              <a:rPr lang="en-US" sz="1500" b="1">
                <a:solidFill>
                  <a:schemeClr val="tx2"/>
                </a:solidFill>
                <a:latin typeface="Courier New" pitchFamily="1" charset="0"/>
              </a:rPr>
              <a:t>        -      0         4983     240814       2         497         no</a:t>
            </a:r>
          </a:p>
          <a:p>
            <a:pPr>
              <a:lnSpc>
                <a:spcPct val="30000"/>
              </a:lnSpc>
              <a:buFont typeface="Wingdings" pitchFamily="1" charset="2"/>
              <a:buNone/>
            </a:pPr>
            <a:endParaRPr lang="en-US" sz="1500" b="1">
              <a:solidFill>
                <a:schemeClr val="tx2"/>
              </a:solidFill>
              <a:latin typeface="Courier New" pitchFamily="1" charset="0"/>
            </a:endParaRPr>
          </a:p>
          <a:p>
            <a:pPr>
              <a:lnSpc>
                <a:spcPct val="30000"/>
              </a:lnSpc>
              <a:buFont typeface="Wingdings" pitchFamily="1" charset="2"/>
              <a:buNone/>
            </a:pPr>
            <a:r>
              <a:rPr lang="en-US" sz="1500" b="1">
                <a:latin typeface="Courier New" pitchFamily="1" charset="0"/>
              </a:rPr>
              <a:t>      Service-policy : child</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solidFill>
                  <a:srgbClr val="FF3399"/>
                </a:solidFill>
                <a:latin typeface="Courier New" pitchFamily="1" charset="0"/>
              </a:rPr>
              <a:t>        Class-map: one (match-all)</a:t>
            </a:r>
          </a:p>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575</a:t>
            </a:r>
            <a:r>
              <a:rPr lang="en-US" sz="1500" b="1">
                <a:latin typeface="Courier New" pitchFamily="1" charset="0"/>
              </a:rPr>
              <a:t> packets, </a:t>
            </a:r>
            <a:r>
              <a:rPr lang="en-US" sz="1500" b="1">
                <a:solidFill>
                  <a:srgbClr val="FF3399"/>
                </a:solidFill>
                <a:latin typeface="Courier New" pitchFamily="1" charset="0"/>
              </a:rPr>
              <a:t>10435</a:t>
            </a:r>
            <a:r>
              <a:rPr lang="en-US" sz="1500" b="1">
                <a:latin typeface="Courier New" pitchFamily="1" charset="0"/>
              </a:rPr>
              <a:t> bytes</a:t>
            </a:r>
          </a:p>
          <a:p>
            <a:pPr>
              <a:lnSpc>
                <a:spcPct val="30000"/>
              </a:lnSpc>
              <a:buFont typeface="Wingdings" pitchFamily="1" charset="2"/>
              <a:buNone/>
            </a:pPr>
            <a:r>
              <a:rPr lang="en-US" sz="1500" b="1">
                <a:latin typeface="Courier New" pitchFamily="1" charset="0"/>
              </a:rPr>
              <a:t>          5 minute offered rate 0 bps, drop rate 0 bps</a:t>
            </a:r>
          </a:p>
          <a:p>
            <a:pPr>
              <a:lnSpc>
                <a:spcPct val="30000"/>
              </a:lnSpc>
              <a:buFont typeface="Wingdings" pitchFamily="1" charset="2"/>
              <a:buNone/>
            </a:pPr>
            <a:r>
              <a:rPr lang="en-US" sz="1500" b="1">
                <a:solidFill>
                  <a:srgbClr val="FF3399"/>
                </a:solidFill>
                <a:latin typeface="Courier New" pitchFamily="1" charset="0"/>
              </a:rPr>
              <a:t>          Match: ip precedence 5</a:t>
            </a:r>
          </a:p>
          <a:p>
            <a:pPr>
              <a:lnSpc>
                <a:spcPct val="30000"/>
              </a:lnSpc>
              <a:buFont typeface="Wingdings" pitchFamily="1" charset="2"/>
              <a:buNone/>
            </a:pPr>
            <a:r>
              <a:rPr lang="en-US" sz="1500" b="1">
                <a:solidFill>
                  <a:srgbClr val="FF3399"/>
                </a:solidFill>
                <a:latin typeface="Courier New" pitchFamily="1" charset="0"/>
              </a:rPr>
              <a:t>          Match:  dscp default (0)</a:t>
            </a:r>
          </a:p>
          <a:p>
            <a:pPr>
              <a:lnSpc>
                <a:spcPct val="30000"/>
              </a:lnSpc>
              <a:buFont typeface="Wingdings" pitchFamily="1" charset="2"/>
              <a:buNone/>
            </a:pPr>
            <a:r>
              <a:rPr lang="en-US" sz="1500" b="1">
                <a:latin typeface="Courier New" pitchFamily="1" charset="0"/>
              </a:rPr>
              <a:t>          Queueing</a:t>
            </a:r>
          </a:p>
          <a:p>
            <a:pPr>
              <a:lnSpc>
                <a:spcPct val="30000"/>
              </a:lnSpc>
              <a:buFont typeface="Wingdings" pitchFamily="1" charset="2"/>
              <a:buNone/>
            </a:pPr>
            <a:r>
              <a:rPr lang="en-US" sz="1500" b="1">
                <a:latin typeface="Courier New" pitchFamily="1" charset="0"/>
              </a:rPr>
              <a:t>            </a:t>
            </a:r>
            <a:r>
              <a:rPr lang="en-US" sz="1500" b="1">
                <a:solidFill>
                  <a:schemeClr val="folHlink"/>
                </a:solidFill>
                <a:latin typeface="Courier New" pitchFamily="1" charset="0"/>
              </a:rPr>
              <a:t>Strict Priority</a:t>
            </a:r>
          </a:p>
          <a:p>
            <a:pPr>
              <a:lnSpc>
                <a:spcPct val="30000"/>
              </a:lnSpc>
              <a:buFont typeface="Wingdings" pitchFamily="1" charset="2"/>
              <a:buNone/>
            </a:pPr>
            <a:r>
              <a:rPr lang="en-US" sz="1500" b="1">
                <a:latin typeface="Courier New" pitchFamily="1" charset="0"/>
              </a:rPr>
              <a:t>            Output Queue: Conversation 136</a:t>
            </a:r>
          </a:p>
          <a:p>
            <a:pPr>
              <a:lnSpc>
                <a:spcPct val="30000"/>
              </a:lnSpc>
              <a:buFont typeface="Wingdings" pitchFamily="1" charset="2"/>
              <a:buNone/>
            </a:pPr>
            <a:r>
              <a:rPr lang="en-US" sz="1500" b="1">
                <a:latin typeface="Courier New" pitchFamily="1" charset="0"/>
              </a:rPr>
              <a:t>            </a:t>
            </a:r>
            <a:r>
              <a:rPr lang="en-US" sz="1500" b="1">
                <a:solidFill>
                  <a:schemeClr val="folHlink"/>
                </a:solidFill>
                <a:latin typeface="Courier New" pitchFamily="1" charset="0"/>
              </a:rPr>
              <a:t>Bandwidth 256</a:t>
            </a:r>
            <a:r>
              <a:rPr lang="en-US" sz="1500" b="1">
                <a:latin typeface="Courier New" pitchFamily="1" charset="0"/>
              </a:rPr>
              <a:t> (kbps) Burst </a:t>
            </a:r>
            <a:r>
              <a:rPr lang="en-US" sz="1500" b="1">
                <a:solidFill>
                  <a:schemeClr val="accent2"/>
                </a:solidFill>
                <a:latin typeface="Courier New" pitchFamily="1" charset="0"/>
              </a:rPr>
              <a:t>6400</a:t>
            </a:r>
            <a:r>
              <a:rPr lang="en-US" sz="1500" b="1">
                <a:latin typeface="Courier New" pitchFamily="1" charset="0"/>
              </a:rPr>
              <a:t> (Bytes)</a:t>
            </a:r>
          </a:p>
          <a:p>
            <a:pPr>
              <a:lnSpc>
                <a:spcPct val="30000"/>
              </a:lnSpc>
              <a:buFont typeface="Wingdings" pitchFamily="1" charset="2"/>
              <a:buNone/>
            </a:pPr>
            <a:r>
              <a:rPr lang="en-US" sz="1500" b="1">
                <a:latin typeface="Courier New" pitchFamily="1" charset="0"/>
              </a:rPr>
              <a:t>            (pkts matched/bytes matched) </a:t>
            </a:r>
            <a:r>
              <a:rPr lang="en-US" sz="1500" b="1">
                <a:solidFill>
                  <a:schemeClr val="folHlink"/>
                </a:solidFill>
                <a:latin typeface="Courier New" pitchFamily="1" charset="0"/>
              </a:rPr>
              <a:t>0/0</a:t>
            </a:r>
          </a:p>
          <a:p>
            <a:pPr>
              <a:lnSpc>
                <a:spcPct val="30000"/>
              </a:lnSpc>
              <a:buFont typeface="Wingdings" pitchFamily="1" charset="2"/>
              <a:buNone/>
            </a:pPr>
            <a:r>
              <a:rPr lang="en-US" sz="1500" b="1">
                <a:latin typeface="Courier New" pitchFamily="1" charset="0"/>
              </a:rPr>
              <a:t>            (total drops/bytes drops) </a:t>
            </a:r>
            <a:r>
              <a:rPr lang="en-US" sz="1500" b="1">
                <a:solidFill>
                  <a:schemeClr val="folHlink"/>
                </a:solidFill>
                <a:latin typeface="Courier New" pitchFamily="1" charset="0"/>
              </a:rPr>
              <a:t>0/0</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latin typeface="Courier New" pitchFamily="1" charset="0"/>
              </a:rPr>
              <a:t>        </a:t>
            </a: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idx="1"/>
          </p:nvPr>
        </p:nvSpPr>
        <p:spPr>
          <a:xfrm>
            <a:off x="1271587" y="477838"/>
            <a:ext cx="9432926" cy="6335712"/>
          </a:xfrm>
        </p:spPr>
        <p:txBody>
          <a:bodyPr/>
          <a:lstStyle/>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Class-map: two (match-all)</a:t>
            </a:r>
          </a:p>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254 packets, 16743 bytes</a:t>
            </a:r>
          </a:p>
          <a:p>
            <a:pPr>
              <a:lnSpc>
                <a:spcPct val="30000"/>
              </a:lnSpc>
              <a:buFont typeface="Wingdings" pitchFamily="1" charset="2"/>
              <a:buNone/>
            </a:pPr>
            <a:r>
              <a:rPr lang="en-US" sz="1500" b="1">
                <a:latin typeface="Courier New" pitchFamily="1" charset="0"/>
              </a:rPr>
              <a:t>          5 minute offered rate 2000 bps, drop rate 0 bps</a:t>
            </a:r>
          </a:p>
          <a:p>
            <a:pPr>
              <a:lnSpc>
                <a:spcPct val="30000"/>
              </a:lnSpc>
              <a:buFont typeface="Wingdings" pitchFamily="1" charset="2"/>
              <a:buNone/>
            </a:pPr>
            <a:r>
              <a:rPr lang="en-US" sz="1500" b="1">
                <a:solidFill>
                  <a:srgbClr val="FF3399"/>
                </a:solidFill>
                <a:latin typeface="Courier New" pitchFamily="1" charset="0"/>
              </a:rPr>
              <a:t>          Match: any</a:t>
            </a:r>
          </a:p>
          <a:p>
            <a:pPr>
              <a:lnSpc>
                <a:spcPct val="30000"/>
              </a:lnSpc>
              <a:buFont typeface="Wingdings" pitchFamily="1" charset="2"/>
              <a:buNone/>
            </a:pPr>
            <a:r>
              <a:rPr lang="en-US" sz="1500" b="1">
                <a:solidFill>
                  <a:srgbClr val="FF3399"/>
                </a:solidFill>
                <a:latin typeface="Courier New" pitchFamily="1" charset="0"/>
              </a:rPr>
              <a:t>          Match:  dscp 1</a:t>
            </a:r>
          </a:p>
          <a:p>
            <a:pPr>
              <a:lnSpc>
                <a:spcPct val="30000"/>
              </a:lnSpc>
              <a:buFont typeface="Wingdings" pitchFamily="1" charset="2"/>
              <a:buNone/>
            </a:pPr>
            <a:r>
              <a:rPr lang="en-US" sz="1500" b="1">
                <a:latin typeface="Courier New" pitchFamily="1" charset="0"/>
              </a:rPr>
              <a:t>          Queueing</a:t>
            </a:r>
          </a:p>
          <a:p>
            <a:pPr>
              <a:lnSpc>
                <a:spcPct val="30000"/>
              </a:lnSpc>
              <a:buFont typeface="Wingdings" pitchFamily="1" charset="2"/>
              <a:buNone/>
            </a:pPr>
            <a:r>
              <a:rPr lang="en-US" sz="1500" b="1">
                <a:latin typeface="Courier New" pitchFamily="1" charset="0"/>
              </a:rPr>
              <a:t>            Output Queue: Conversation 137</a:t>
            </a:r>
          </a:p>
          <a:p>
            <a:pPr>
              <a:lnSpc>
                <a:spcPct val="30000"/>
              </a:lnSpc>
              <a:buFont typeface="Wingdings" pitchFamily="1" charset="2"/>
              <a:buNone/>
            </a:pPr>
            <a:r>
              <a:rPr lang="en-US" sz="1500" b="1">
                <a:latin typeface="Courier New" pitchFamily="1" charset="0"/>
              </a:rPr>
              <a:t>            </a:t>
            </a:r>
            <a:r>
              <a:rPr lang="en-US" sz="1500" b="1">
                <a:solidFill>
                  <a:schemeClr val="folHlink"/>
                </a:solidFill>
                <a:latin typeface="Courier New" pitchFamily="1" charset="0"/>
              </a:rPr>
              <a:t>Bandwidth</a:t>
            </a:r>
            <a:r>
              <a:rPr lang="en-US" sz="1500" b="1">
                <a:latin typeface="Courier New" pitchFamily="1" charset="0"/>
              </a:rPr>
              <a:t> </a:t>
            </a:r>
            <a:r>
              <a:rPr lang="en-US" sz="1500" b="1">
                <a:solidFill>
                  <a:schemeClr val="folHlink"/>
                </a:solidFill>
                <a:latin typeface="Courier New" pitchFamily="1" charset="0"/>
              </a:rPr>
              <a:t>512</a:t>
            </a:r>
            <a:r>
              <a:rPr lang="en-US" sz="1500" b="1">
                <a:latin typeface="Courier New" pitchFamily="1" charset="0"/>
              </a:rPr>
              <a:t> (kbps) Max Threshold </a:t>
            </a:r>
            <a:r>
              <a:rPr lang="en-US" sz="1500" b="1">
                <a:solidFill>
                  <a:schemeClr val="folHlink"/>
                </a:solidFill>
                <a:latin typeface="Courier New" pitchFamily="1" charset="0"/>
              </a:rPr>
              <a:t>64</a:t>
            </a:r>
            <a:r>
              <a:rPr lang="en-US" sz="1500" b="1">
                <a:latin typeface="Courier New" pitchFamily="1" charset="0"/>
              </a:rPr>
              <a:t> (packets)</a:t>
            </a:r>
          </a:p>
          <a:p>
            <a:pPr>
              <a:lnSpc>
                <a:spcPct val="30000"/>
              </a:lnSpc>
              <a:buFont typeface="Wingdings" pitchFamily="1" charset="2"/>
              <a:buNone/>
            </a:pPr>
            <a:r>
              <a:rPr lang="en-US" sz="1500" b="1">
                <a:latin typeface="Courier New" pitchFamily="1" charset="0"/>
              </a:rPr>
              <a:t>            (pkts matched/bytes matched) </a:t>
            </a:r>
            <a:r>
              <a:rPr lang="en-US" sz="1500" b="1">
                <a:solidFill>
                  <a:schemeClr val="folHlink"/>
                </a:solidFill>
                <a:latin typeface="Courier New" pitchFamily="1" charset="0"/>
              </a:rPr>
              <a:t>2/487</a:t>
            </a:r>
          </a:p>
          <a:p>
            <a:pPr>
              <a:lnSpc>
                <a:spcPct val="30000"/>
              </a:lnSpc>
              <a:buFont typeface="Wingdings" pitchFamily="1" charset="2"/>
              <a:buNone/>
            </a:pPr>
            <a:r>
              <a:rPr lang="en-US" sz="1500" b="1">
                <a:latin typeface="Courier New" pitchFamily="1" charset="0"/>
              </a:rPr>
              <a:t>        (depth/total drops/no-buffer drops) </a:t>
            </a:r>
            <a:r>
              <a:rPr lang="en-US" sz="1500" b="1">
                <a:solidFill>
                  <a:schemeClr val="folHlink"/>
                </a:solidFill>
                <a:latin typeface="Courier New" pitchFamily="1" charset="0"/>
              </a:rPr>
              <a:t>0/0</a:t>
            </a:r>
            <a:r>
              <a:rPr lang="en-US" sz="1500" b="1">
                <a:latin typeface="Courier New" pitchFamily="1" charset="0"/>
              </a:rPr>
              <a:t>/0</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solidFill>
                  <a:srgbClr val="FF3399"/>
                </a:solidFill>
                <a:latin typeface="Courier New" pitchFamily="1" charset="0"/>
              </a:rPr>
              <a:t>        Class-map: class-default (match-any)</a:t>
            </a:r>
          </a:p>
          <a:p>
            <a:pPr>
              <a:lnSpc>
                <a:spcPct val="30000"/>
              </a:lnSpc>
              <a:buFont typeface="Wingdings" pitchFamily="1" charset="2"/>
              <a:buNone/>
            </a:pPr>
            <a:r>
              <a:rPr lang="en-US" sz="1500" b="1">
                <a:latin typeface="Courier New" pitchFamily="1" charset="0"/>
              </a:rPr>
              <a:t>          </a:t>
            </a:r>
            <a:r>
              <a:rPr lang="en-US" sz="1500" b="1">
                <a:solidFill>
                  <a:srgbClr val="FF3399"/>
                </a:solidFill>
                <a:latin typeface="Courier New" pitchFamily="1" charset="0"/>
              </a:rPr>
              <a:t>15 packets, 60 bytes</a:t>
            </a:r>
          </a:p>
          <a:p>
            <a:pPr>
              <a:lnSpc>
                <a:spcPct val="30000"/>
              </a:lnSpc>
              <a:buFont typeface="Wingdings" pitchFamily="1" charset="2"/>
              <a:buNone/>
            </a:pPr>
            <a:r>
              <a:rPr lang="en-US" sz="1500" b="1">
                <a:latin typeface="Courier New" pitchFamily="1" charset="0"/>
              </a:rPr>
              <a:t>          5 minute offered rate 0 bps, drop rate 0 bps</a:t>
            </a:r>
          </a:p>
          <a:p>
            <a:pPr>
              <a:lnSpc>
                <a:spcPct val="30000"/>
              </a:lnSpc>
              <a:buFont typeface="Wingdings" pitchFamily="1" charset="2"/>
              <a:buNone/>
            </a:pPr>
            <a:r>
              <a:rPr lang="en-US" sz="1500" b="1">
                <a:latin typeface="Courier New" pitchFamily="1" charset="0"/>
              </a:rPr>
              <a:t>          Match: any</a:t>
            </a:r>
          </a:p>
          <a:p>
            <a:pPr>
              <a:lnSpc>
                <a:spcPct val="30000"/>
              </a:lnSpc>
              <a:buFont typeface="Wingdings" pitchFamily="1" charset="2"/>
              <a:buNone/>
            </a:pPr>
            <a:r>
              <a:rPr lang="en-US" sz="1500" b="1">
                <a:latin typeface="Courier New" pitchFamily="1" charset="0"/>
              </a:rPr>
              <a:t>          Queueing</a:t>
            </a:r>
          </a:p>
          <a:p>
            <a:pPr>
              <a:lnSpc>
                <a:spcPct val="30000"/>
              </a:lnSpc>
              <a:buFont typeface="Wingdings" pitchFamily="1" charset="2"/>
              <a:buNone/>
            </a:pPr>
            <a:r>
              <a:rPr lang="en-US" sz="1500" b="1">
                <a:latin typeface="Courier New" pitchFamily="1" charset="0"/>
              </a:rPr>
              <a:t>            </a:t>
            </a:r>
            <a:r>
              <a:rPr lang="en-US" sz="1500" b="1">
                <a:solidFill>
                  <a:schemeClr val="folHlink"/>
                </a:solidFill>
                <a:latin typeface="Courier New" pitchFamily="1" charset="0"/>
              </a:rPr>
              <a:t>Flow Based Fair Queueing</a:t>
            </a:r>
          </a:p>
          <a:p>
            <a:pPr>
              <a:lnSpc>
                <a:spcPct val="30000"/>
              </a:lnSpc>
              <a:buFont typeface="Wingdings" pitchFamily="1" charset="2"/>
              <a:buNone/>
            </a:pPr>
            <a:r>
              <a:rPr lang="en-US" sz="1500" b="1">
                <a:latin typeface="Courier New" pitchFamily="1" charset="0"/>
              </a:rPr>
              <a:t>            Maximum Number of Hashed Queues 128</a:t>
            </a:r>
          </a:p>
          <a:p>
            <a:pPr>
              <a:lnSpc>
                <a:spcPct val="30000"/>
              </a:lnSpc>
              <a:buFont typeface="Wingdings" pitchFamily="1" charset="2"/>
              <a:buNone/>
            </a:pPr>
            <a:r>
              <a:rPr lang="en-US" sz="1500" b="1">
                <a:latin typeface="Courier New" pitchFamily="1" charset="0"/>
              </a:rPr>
              <a:t>        (total queued/total drops/no-buffer drops) </a:t>
            </a:r>
            <a:r>
              <a:rPr lang="en-US" sz="1500" b="1">
                <a:solidFill>
                  <a:schemeClr val="folHlink"/>
                </a:solidFill>
                <a:latin typeface="Courier New" pitchFamily="1" charset="0"/>
              </a:rPr>
              <a:t>0/0</a:t>
            </a:r>
            <a:r>
              <a:rPr lang="en-US" sz="1500" b="1">
                <a:latin typeface="Courier New" pitchFamily="1" charset="0"/>
              </a:rPr>
              <a:t>/0</a:t>
            </a:r>
          </a:p>
          <a:p>
            <a:pPr>
              <a:lnSpc>
                <a:spcPct val="30000"/>
              </a:lnSpc>
              <a:buFont typeface="Wingdings" pitchFamily="1" charset="2"/>
              <a:buNone/>
            </a:pPr>
            <a:r>
              <a:rPr lang="en-US" sz="1500" b="1">
                <a:latin typeface="Courier New" pitchFamily="1" charset="0"/>
              </a:rPr>
              <a:t>             exponential weight: 9</a:t>
            </a:r>
          </a:p>
          <a:p>
            <a:pPr>
              <a:lnSpc>
                <a:spcPct val="30000"/>
              </a:lnSpc>
              <a:buFont typeface="Wingdings" pitchFamily="1" charset="2"/>
              <a:buNone/>
            </a:pPr>
            <a:endParaRPr lang="en-US" sz="1500" b="1">
              <a:latin typeface="Courier New" pitchFamily="1" charset="0"/>
            </a:endParaRPr>
          </a:p>
          <a:p>
            <a:pPr>
              <a:lnSpc>
                <a:spcPct val="30000"/>
              </a:lnSpc>
              <a:buFont typeface="Wingdings" pitchFamily="1" charset="2"/>
              <a:buNone/>
            </a:pPr>
            <a:r>
              <a:rPr lang="en-US" sz="1500" b="1">
                <a:latin typeface="Courier New" pitchFamily="1" charset="0"/>
              </a:rPr>
              <a:t>  class    Transmitted      Random drop      Tail drop    Minimum Maximum  Mark</a:t>
            </a:r>
          </a:p>
          <a:p>
            <a:pPr>
              <a:lnSpc>
                <a:spcPct val="30000"/>
              </a:lnSpc>
              <a:buFont typeface="Wingdings" pitchFamily="1" charset="2"/>
              <a:buNone/>
            </a:pPr>
            <a:r>
              <a:rPr lang="en-US" sz="1500" b="1">
                <a:latin typeface="Courier New" pitchFamily="1" charset="0"/>
              </a:rPr>
              <a:t>           pkts/bytes       pkts/bytes       pkts/bytes    thresh  thresh  prob</a:t>
            </a:r>
          </a:p>
          <a:p>
            <a:pPr>
              <a:lnSpc>
                <a:spcPct val="30000"/>
              </a:lnSpc>
              <a:buFont typeface="Wingdings" pitchFamily="1" charset="2"/>
              <a:buNone/>
            </a:pPr>
            <a:r>
              <a:rPr lang="en-US" sz="1500" b="1">
                <a:latin typeface="Courier New" pitchFamily="1" charset="0"/>
              </a:rPr>
              <a:t>      </a:t>
            </a:r>
            <a:r>
              <a:rPr lang="en-US" sz="1500" b="1">
                <a:solidFill>
                  <a:srgbClr val="669900"/>
                </a:solidFill>
                <a:latin typeface="Courier New" pitchFamily="1" charset="0"/>
              </a:rPr>
              <a:t>0       15/1452             0/0              0/0           20      40  1/10</a:t>
            </a:r>
          </a:p>
          <a:p>
            <a:pPr>
              <a:lnSpc>
                <a:spcPct val="30000"/>
              </a:lnSpc>
              <a:buFont typeface="Wingdings" pitchFamily="1" charset="2"/>
              <a:buNone/>
            </a:pPr>
            <a:r>
              <a:rPr lang="en-US" sz="1500" b="1">
                <a:solidFill>
                  <a:srgbClr val="669900"/>
                </a:solidFill>
                <a:latin typeface="Courier New" pitchFamily="1" charset="0"/>
              </a:rPr>
              <a:t>      1       0/0               0/0              0/0           22      40  1/10</a:t>
            </a:r>
          </a:p>
          <a:p>
            <a:pPr>
              <a:lnSpc>
                <a:spcPct val="30000"/>
              </a:lnSpc>
              <a:buFont typeface="Wingdings" pitchFamily="1" charset="2"/>
              <a:buNone/>
            </a:pPr>
            <a:r>
              <a:rPr lang="en-US" sz="1500" b="1">
                <a:solidFill>
                  <a:srgbClr val="669900"/>
                </a:solidFill>
                <a:latin typeface="Courier New" pitchFamily="1" charset="0"/>
              </a:rPr>
              <a:t>      2       0/0               0/0              0/0           24      40  1/10</a:t>
            </a:r>
          </a:p>
          <a:p>
            <a:pPr>
              <a:lnSpc>
                <a:spcPct val="30000"/>
              </a:lnSpc>
              <a:buFont typeface="Wingdings" pitchFamily="1" charset="2"/>
              <a:buNone/>
            </a:pPr>
            <a:r>
              <a:rPr lang="en-US" sz="1500" b="1">
                <a:solidFill>
                  <a:srgbClr val="669900"/>
                </a:solidFill>
                <a:latin typeface="Courier New" pitchFamily="1" charset="0"/>
              </a:rPr>
              <a:t>      3       0/0               0/0              0/0           26      40  1/10</a:t>
            </a:r>
          </a:p>
          <a:p>
            <a:pPr>
              <a:lnSpc>
                <a:spcPct val="30000"/>
              </a:lnSpc>
              <a:buFont typeface="Wingdings" pitchFamily="1" charset="2"/>
              <a:buNone/>
            </a:pPr>
            <a:r>
              <a:rPr lang="en-US" sz="1500" b="1">
                <a:solidFill>
                  <a:srgbClr val="669900"/>
                </a:solidFill>
                <a:latin typeface="Courier New" pitchFamily="1" charset="0"/>
              </a:rPr>
              <a:t>      4       0/0               0/0              0/0           28      40  1/10</a:t>
            </a:r>
          </a:p>
          <a:p>
            <a:pPr>
              <a:lnSpc>
                <a:spcPct val="30000"/>
              </a:lnSpc>
              <a:buFont typeface="Wingdings" pitchFamily="1" charset="2"/>
              <a:buNone/>
            </a:pPr>
            <a:r>
              <a:rPr lang="en-US" sz="1500" b="1">
                <a:solidFill>
                  <a:srgbClr val="669900"/>
                </a:solidFill>
                <a:latin typeface="Courier New" pitchFamily="1" charset="0"/>
              </a:rPr>
              <a:t>      5       0/0               0/0              0/0           30      40  1/10</a:t>
            </a:r>
          </a:p>
          <a:p>
            <a:pPr>
              <a:lnSpc>
                <a:spcPct val="30000"/>
              </a:lnSpc>
              <a:buFont typeface="Wingdings" pitchFamily="1" charset="2"/>
              <a:buNone/>
            </a:pPr>
            <a:r>
              <a:rPr lang="en-US" sz="1500" b="1">
                <a:solidFill>
                  <a:srgbClr val="669900"/>
                </a:solidFill>
                <a:latin typeface="Courier New" pitchFamily="1" charset="0"/>
              </a:rPr>
              <a:t>      6       0/0               0/0              0/0           32      40  1/10</a:t>
            </a:r>
          </a:p>
          <a:p>
            <a:pPr>
              <a:lnSpc>
                <a:spcPct val="30000"/>
              </a:lnSpc>
              <a:buFont typeface="Wingdings" pitchFamily="1" charset="2"/>
              <a:buNone/>
            </a:pPr>
            <a:r>
              <a:rPr lang="en-US" sz="1500" b="1">
                <a:solidFill>
                  <a:srgbClr val="669900"/>
                </a:solidFill>
                <a:latin typeface="Courier New" pitchFamily="1" charset="0"/>
              </a:rPr>
              <a:t>      7       0/0               0/0              0/0           34      40  1/10</a:t>
            </a:r>
          </a:p>
          <a:p>
            <a:pPr>
              <a:lnSpc>
                <a:spcPct val="30000"/>
              </a:lnSpc>
              <a:buFont typeface="Wingdings" pitchFamily="1" charset="2"/>
              <a:buNone/>
            </a:pPr>
            <a:r>
              <a:rPr lang="en-US" sz="1500" b="1">
                <a:solidFill>
                  <a:srgbClr val="669900"/>
                </a:solidFill>
                <a:latin typeface="Courier New" pitchFamily="1" charset="0"/>
              </a:rPr>
              <a:t>   rsvp       0/0               0/0              0/0           36      40  1/10</a:t>
            </a:r>
          </a:p>
          <a:p>
            <a:pPr>
              <a:lnSpc>
                <a:spcPct val="30000"/>
              </a:lnSpc>
              <a:buFont typeface="Wingdings" pitchFamily="1" charset="2"/>
              <a:buNone/>
            </a:pPr>
            <a:endParaRPr lang="en-US" sz="1500" b="1">
              <a:solidFill>
                <a:srgbClr val="669900"/>
              </a:solidFill>
              <a:latin typeface="Courier New" pitchFamily="1" charset="0"/>
            </a:endParaRPr>
          </a:p>
          <a:p>
            <a:pPr>
              <a:lnSpc>
                <a:spcPct val="30000"/>
              </a:lnSpc>
              <a:buFont typeface="Wingdings" pitchFamily="1" charset="2"/>
              <a:buNone/>
            </a:pPr>
            <a:endParaRPr lang="en-US" sz="1500" b="1">
              <a:latin typeface="Courier New" pitchFamily="1" charset="0"/>
            </a:endParaRPr>
          </a:p>
          <a:p>
            <a:pPr>
              <a:lnSpc>
                <a:spcPct val="75000"/>
              </a:lnSpc>
              <a:buFont typeface="Wingdings" pitchFamily="1" charset="2"/>
              <a:buNone/>
            </a:pPr>
            <a:endParaRPr lang="en-US" sz="1500" b="1">
              <a:latin typeface="Courier New" pitchFamily="1" charset="0"/>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pPr eaLnBrk="1" hangingPunct="1"/>
            <a:r>
              <a:rPr lang="en-US"/>
              <a:t>Case studies</a:t>
            </a:r>
          </a:p>
        </p:txBody>
      </p:sp>
      <p:sp>
        <p:nvSpPr>
          <p:cNvPr id="78851" name="Content Placeholder 2"/>
          <p:cNvSpPr>
            <a:spLocks noGrp="1"/>
          </p:cNvSpPr>
          <p:nvPr>
            <p:ph idx="1"/>
          </p:nvPr>
        </p:nvSpPr>
        <p:spPr/>
        <p:txBody>
          <a:bodyPr/>
          <a:lstStyle/>
          <a:p>
            <a:r>
              <a:rPr lang="en-US"/>
              <a:t>These are more or less common QoS issues as reported by our customers.</a:t>
            </a:r>
          </a:p>
          <a:p>
            <a:r>
              <a:rPr lang="en-US"/>
              <a:t>Goal of the training it to force you to *think* about the possible causes using what we just learned today.</a:t>
            </a: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pPr eaLnBrk="1" hangingPunct="1"/>
            <a:r>
              <a:rPr lang="en-US"/>
              <a:t>Case study #1: Drops in show interface</a:t>
            </a:r>
          </a:p>
        </p:txBody>
      </p:sp>
      <p:sp>
        <p:nvSpPr>
          <p:cNvPr id="3" name="Content Placeholder 2"/>
          <p:cNvSpPr>
            <a:spLocks noGrp="1"/>
          </p:cNvSpPr>
          <p:nvPr>
            <p:ph idx="1"/>
          </p:nvPr>
        </p:nvSpPr>
        <p:spPr>
          <a:xfrm>
            <a:off x="2179639" y="1285876"/>
            <a:ext cx="7940675" cy="4786313"/>
          </a:xfrm>
        </p:spPr>
        <p:txBody>
          <a:bodyPr/>
          <a:lstStyle/>
          <a:p>
            <a:pPr>
              <a:buFont typeface="Wingdings" pitchFamily="1" charset="2"/>
              <a:buNone/>
            </a:pPr>
            <a:r>
              <a:rPr lang="en-US" i="1">
                <a:solidFill>
                  <a:srgbClr val="C00000"/>
                </a:solidFill>
              </a:rPr>
              <a:t>‘my QoS is not working.  I see drops in show int but nothing in show policy-map int’</a:t>
            </a:r>
          </a:p>
          <a:p>
            <a:pPr>
              <a:lnSpc>
                <a:spcPct val="100000"/>
              </a:lnSpc>
              <a:spcBef>
                <a:spcPts val="600"/>
              </a:spcBef>
              <a:buNone/>
            </a:pPr>
            <a:endParaRPr lang="en-US" i="1">
              <a:solidFill>
                <a:srgbClr val="C00000"/>
              </a:solidFill>
            </a:endParaRPr>
          </a:p>
          <a:p>
            <a:pPr>
              <a:lnSpc>
                <a:spcPct val="100000"/>
              </a:lnSpc>
              <a:spcBef>
                <a:spcPts val="600"/>
              </a:spcBef>
              <a:buNone/>
            </a:pPr>
            <a:r>
              <a:rPr lang="en-US" sz="1800"/>
              <a:t>Ethernet1/0 is up, line protocol is up (…)</a:t>
            </a:r>
          </a:p>
          <a:p>
            <a:pPr>
              <a:lnSpc>
                <a:spcPct val="100000"/>
              </a:lnSpc>
              <a:spcBef>
                <a:spcPts val="600"/>
              </a:spcBef>
              <a:buNone/>
            </a:pPr>
            <a:r>
              <a:rPr lang="en-US" sz="1800"/>
              <a:t>	 Input queue: 0/75/0/0 (size/max/drops/flushes); Total output drops: </a:t>
            </a:r>
            <a:r>
              <a:rPr lang="en-US" sz="1800" b="1"/>
              <a:t>2945</a:t>
            </a:r>
          </a:p>
          <a:p>
            <a:pPr>
              <a:lnSpc>
                <a:spcPct val="100000"/>
              </a:lnSpc>
              <a:spcBef>
                <a:spcPts val="600"/>
              </a:spcBef>
              <a:buNone/>
            </a:pPr>
            <a:endParaRPr lang="en-US" sz="1800" b="1"/>
          </a:p>
          <a:p>
            <a:pPr>
              <a:lnSpc>
                <a:spcPct val="100000"/>
              </a:lnSpc>
              <a:spcBef>
                <a:spcPts val="600"/>
              </a:spcBef>
              <a:buNone/>
            </a:pPr>
            <a:r>
              <a:rPr lang="en-US"/>
              <a:t>Possible causes</a:t>
            </a:r>
          </a:p>
          <a:p>
            <a:pPr>
              <a:lnSpc>
                <a:spcPct val="100000"/>
              </a:lnSpc>
              <a:spcBef>
                <a:spcPts val="600"/>
              </a:spcBef>
              <a:buFont typeface="Wingdings" pitchFamily="1" charset="2"/>
              <a:buAutoNum type="arabicPeriod"/>
            </a:pPr>
            <a:r>
              <a:rPr lang="en-US" sz="1900"/>
              <a:t>QoS is not applied correctly =&gt; verify </a:t>
            </a:r>
            <a:r>
              <a:rPr lang="en-US" sz="1900">
                <a:solidFill>
                  <a:srgbClr val="0070C0"/>
                </a:solidFill>
              </a:rPr>
              <a:t>classification</a:t>
            </a:r>
            <a:r>
              <a:rPr lang="en-US" sz="1900"/>
              <a:t> counters</a:t>
            </a:r>
          </a:p>
          <a:p>
            <a:pPr>
              <a:lnSpc>
                <a:spcPct val="100000"/>
              </a:lnSpc>
              <a:spcBef>
                <a:spcPts val="600"/>
              </a:spcBef>
              <a:buFont typeface="Wingdings" pitchFamily="1" charset="2"/>
              <a:buAutoNum type="arabicPeriod"/>
            </a:pPr>
            <a:r>
              <a:rPr lang="en-US" sz="1900"/>
              <a:t>Drops are not occurring at queuing level =&gt; verify </a:t>
            </a:r>
            <a:r>
              <a:rPr lang="en-US" sz="1900">
                <a:solidFill>
                  <a:srgbClr val="0070C0"/>
                </a:solidFill>
              </a:rPr>
              <a:t>hardware</a:t>
            </a:r>
            <a:r>
              <a:rPr lang="en-US" sz="1900"/>
              <a:t> counters</a:t>
            </a:r>
          </a:p>
          <a:p>
            <a:pPr>
              <a:lnSpc>
                <a:spcPct val="100000"/>
              </a:lnSpc>
              <a:spcBef>
                <a:spcPts val="600"/>
              </a:spcBef>
              <a:buFont typeface="Wingdings" pitchFamily="1" charset="2"/>
              <a:buAutoNum type="arabicPeriod"/>
            </a:pPr>
            <a:r>
              <a:rPr lang="en-US" sz="1900"/>
              <a:t>Interface is not aware it is congested =&gt; verify shaper if any</a:t>
            </a:r>
          </a:p>
          <a:p>
            <a:pPr marL="679450" lvl="1" indent="-342900">
              <a:lnSpc>
                <a:spcPct val="100000"/>
              </a:lnSpc>
              <a:spcBef>
                <a:spcPts val="600"/>
              </a:spcBef>
            </a:pPr>
            <a:r>
              <a:rPr lang="en-US" sz="1800"/>
              <a:t>	Are we shaping </a:t>
            </a:r>
            <a:r>
              <a:rPr lang="en-US" sz="1800">
                <a:solidFill>
                  <a:srgbClr val="0070C0"/>
                </a:solidFill>
              </a:rPr>
              <a:t>higher </a:t>
            </a:r>
            <a:r>
              <a:rPr lang="en-US" sz="1800"/>
              <a:t>than the interface bandwidth ?</a:t>
            </a:r>
          </a:p>
          <a:p>
            <a:pPr marL="679450" lvl="1" indent="-342900">
              <a:lnSpc>
                <a:spcPct val="100000"/>
              </a:lnSpc>
              <a:spcBef>
                <a:spcPts val="600"/>
              </a:spcBef>
            </a:pPr>
            <a:r>
              <a:rPr lang="en-US" sz="1800"/>
              <a:t>	Is our </a:t>
            </a:r>
            <a:r>
              <a:rPr lang="en-US" sz="1800">
                <a:solidFill>
                  <a:srgbClr val="0070C0"/>
                </a:solidFill>
              </a:rPr>
              <a:t>overhead</a:t>
            </a:r>
            <a:r>
              <a:rPr lang="en-US" sz="1800"/>
              <a:t> accounted for ?</a:t>
            </a:r>
          </a:p>
          <a:p>
            <a:pPr>
              <a:lnSpc>
                <a:spcPct val="100000"/>
              </a:lnSpc>
              <a:spcBef>
                <a:spcPts val="600"/>
              </a:spcBef>
              <a:buNone/>
            </a:pPr>
            <a:endParaRPr lang="en-US" sz="1800">
              <a:solidFill>
                <a:srgbClr val="C00000"/>
              </a:solidFill>
            </a:endParaRPr>
          </a:p>
          <a:p>
            <a:pPr>
              <a:lnSpc>
                <a:spcPct val="100000"/>
              </a:lnSpc>
              <a:spcBef>
                <a:spcPts val="600"/>
              </a:spcBef>
              <a:buNone/>
            </a:pPr>
            <a:endParaRPr lang="en-US" sz="1800">
              <a:solidFill>
                <a:srgbClr val="C00000"/>
              </a:solidFill>
            </a:endParaRPr>
          </a:p>
          <a:p>
            <a:pPr>
              <a:lnSpc>
                <a:spcPct val="100000"/>
              </a:lnSpc>
              <a:spcBef>
                <a:spcPts val="600"/>
              </a:spcBef>
              <a:buNone/>
            </a:pPr>
            <a:endParaRPr lang="en-US" sz="18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pPr eaLnBrk="1" hangingPunct="1"/>
            <a:r>
              <a:rPr lang="en-US"/>
              <a:t>Case study #2: Jitter or delay</a:t>
            </a:r>
          </a:p>
        </p:txBody>
      </p:sp>
      <p:sp>
        <p:nvSpPr>
          <p:cNvPr id="3" name="Content Placeholder 2"/>
          <p:cNvSpPr>
            <a:spLocks noGrp="1"/>
          </p:cNvSpPr>
          <p:nvPr>
            <p:ph idx="1"/>
          </p:nvPr>
        </p:nvSpPr>
        <p:spPr>
          <a:xfrm>
            <a:off x="838200" y="1285875"/>
            <a:ext cx="10802415" cy="5429250"/>
          </a:xfrm>
        </p:spPr>
        <p:txBody>
          <a:bodyPr/>
          <a:lstStyle/>
          <a:p>
            <a:pPr>
              <a:buFont typeface="Wingdings" pitchFamily="1" charset="2"/>
              <a:buNone/>
            </a:pPr>
            <a:r>
              <a:rPr lang="en-US" i="1" dirty="0">
                <a:solidFill>
                  <a:srgbClr val="C00000"/>
                </a:solidFill>
              </a:rPr>
              <a:t>‘voice quality is bad, measurement shows high delay and/or jitter on the link’</a:t>
            </a:r>
          </a:p>
          <a:p>
            <a:pPr>
              <a:lnSpc>
                <a:spcPct val="100000"/>
              </a:lnSpc>
              <a:spcBef>
                <a:spcPts val="600"/>
              </a:spcBef>
              <a:buNone/>
            </a:pPr>
            <a:r>
              <a:rPr lang="en-US" dirty="0"/>
              <a:t>It’s important, if you or your customer believes it’s </a:t>
            </a:r>
            <a:r>
              <a:rPr lang="en-US" dirty="0" err="1"/>
              <a:t>QoS</a:t>
            </a:r>
            <a:r>
              <a:rPr lang="en-US" dirty="0"/>
              <a:t> related, to isolate the node where delay occurs.</a:t>
            </a:r>
          </a:p>
          <a:p>
            <a:pPr>
              <a:lnSpc>
                <a:spcPct val="100000"/>
              </a:lnSpc>
              <a:spcBef>
                <a:spcPts val="600"/>
              </a:spcBef>
              <a:buNone/>
            </a:pPr>
            <a:endParaRPr lang="en-US" dirty="0"/>
          </a:p>
          <a:p>
            <a:pPr>
              <a:lnSpc>
                <a:spcPct val="100000"/>
              </a:lnSpc>
              <a:spcBef>
                <a:spcPts val="600"/>
              </a:spcBef>
              <a:buNone/>
            </a:pPr>
            <a:r>
              <a:rPr lang="en-US" dirty="0"/>
              <a:t>Possible causes</a:t>
            </a:r>
          </a:p>
          <a:p>
            <a:pPr>
              <a:lnSpc>
                <a:spcPct val="100000"/>
              </a:lnSpc>
              <a:spcBef>
                <a:spcPts val="600"/>
              </a:spcBef>
              <a:buFont typeface="Wingdings" pitchFamily="1" charset="2"/>
              <a:buAutoNum type="arabicPeriod"/>
            </a:pPr>
            <a:r>
              <a:rPr lang="en-US" sz="1900" dirty="0"/>
              <a:t>Queuing is the number one cause.  The longer the queue, the higher the delay, and the higher the risk of jitter.</a:t>
            </a:r>
          </a:p>
          <a:p>
            <a:pPr>
              <a:lnSpc>
                <a:spcPct val="100000"/>
              </a:lnSpc>
              <a:spcBef>
                <a:spcPts val="600"/>
              </a:spcBef>
              <a:buFont typeface="Wingdings" pitchFamily="1" charset="2"/>
              <a:buAutoNum type="arabicPeriod"/>
            </a:pPr>
            <a:r>
              <a:rPr lang="en-US" sz="1900" dirty="0"/>
              <a:t>Is the priority traffic hitting a priority class ?  If not, it HAS to, bandwidth classes provide NO guarantee of delay.</a:t>
            </a:r>
          </a:p>
          <a:p>
            <a:pPr>
              <a:lnSpc>
                <a:spcPct val="100000"/>
              </a:lnSpc>
              <a:spcBef>
                <a:spcPts val="600"/>
              </a:spcBef>
              <a:buFont typeface="Wingdings" pitchFamily="1" charset="2"/>
              <a:buAutoNum type="arabicPeriod"/>
            </a:pPr>
            <a:r>
              <a:rPr lang="en-US" sz="1900" dirty="0"/>
              <a:t>Is the priority ‘propagated’ ?  Are packets treated as priority all the way down to the </a:t>
            </a:r>
            <a:r>
              <a:rPr lang="en-US" sz="1900" dirty="0" err="1"/>
              <a:t>tx</a:t>
            </a:r>
            <a:r>
              <a:rPr lang="en-US" sz="1900" dirty="0"/>
              <a:t>-ring</a:t>
            </a:r>
          </a:p>
          <a:p>
            <a:pPr>
              <a:lnSpc>
                <a:spcPct val="100000"/>
              </a:lnSpc>
              <a:spcBef>
                <a:spcPts val="600"/>
              </a:spcBef>
              <a:buFont typeface="Wingdings" pitchFamily="1" charset="2"/>
              <a:buAutoNum type="arabicPeriod"/>
            </a:pPr>
            <a:r>
              <a:rPr lang="en-US" sz="1900" dirty="0"/>
              <a:t>Is the </a:t>
            </a:r>
            <a:r>
              <a:rPr lang="en-US" sz="1900" dirty="0" err="1"/>
              <a:t>tx</a:t>
            </a:r>
            <a:r>
              <a:rPr lang="en-US" sz="1900" dirty="0"/>
              <a:t>-ring limited ?  Large (default) </a:t>
            </a:r>
            <a:r>
              <a:rPr lang="en-US" sz="1900" dirty="0" err="1"/>
              <a:t>tx</a:t>
            </a:r>
            <a:r>
              <a:rPr lang="en-US" sz="1900" dirty="0"/>
              <a:t>-ring value voids the priority class. Same thing can be said of </a:t>
            </a:r>
            <a:r>
              <a:rPr lang="en-US" sz="1900" dirty="0" err="1"/>
              <a:t>of</a:t>
            </a:r>
            <a:r>
              <a:rPr lang="en-US" sz="1900" dirty="0"/>
              <a:t> shaper with large burst/</a:t>
            </a:r>
            <a:r>
              <a:rPr lang="en-US" sz="1900" dirty="0" err="1"/>
              <a:t>tc</a:t>
            </a:r>
            <a:r>
              <a:rPr lang="en-US" sz="1900" dirty="0"/>
              <a:t>.</a:t>
            </a:r>
          </a:p>
          <a:p>
            <a:pPr>
              <a:lnSpc>
                <a:spcPct val="100000"/>
              </a:lnSpc>
              <a:spcBef>
                <a:spcPts val="600"/>
              </a:spcBef>
              <a:buNone/>
            </a:pPr>
            <a:endParaRPr lang="en-US" sz="1800" dirty="0">
              <a:solidFill>
                <a:srgbClr val="C00000"/>
              </a:solidFill>
            </a:endParaRPr>
          </a:p>
          <a:p>
            <a:pPr>
              <a:lnSpc>
                <a:spcPct val="100000"/>
              </a:lnSpc>
              <a:spcBef>
                <a:spcPts val="600"/>
              </a:spcBef>
              <a:buNone/>
            </a:pPr>
            <a:endParaRPr lang="en-US" sz="1800" dirty="0">
              <a:solidFill>
                <a:srgbClr val="C00000"/>
              </a:solidFill>
            </a:endParaRPr>
          </a:p>
          <a:p>
            <a:pPr>
              <a:lnSpc>
                <a:spcPct val="100000"/>
              </a:lnSpc>
              <a:spcBef>
                <a:spcPts val="600"/>
              </a:spcBef>
              <a:buNone/>
            </a:pPr>
            <a:endParaRPr lang="en-US" sz="18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pPr eaLnBrk="1" hangingPunct="1"/>
            <a:r>
              <a:rPr lang="en-US"/>
              <a:t>Case study #3: Class-default drops</a:t>
            </a:r>
          </a:p>
        </p:txBody>
      </p:sp>
      <p:sp>
        <p:nvSpPr>
          <p:cNvPr id="3" name="Content Placeholder 2"/>
          <p:cNvSpPr>
            <a:spLocks noGrp="1"/>
          </p:cNvSpPr>
          <p:nvPr>
            <p:ph idx="1"/>
          </p:nvPr>
        </p:nvSpPr>
        <p:spPr>
          <a:xfrm>
            <a:off x="2179639" y="1285876"/>
            <a:ext cx="7940675" cy="4786313"/>
          </a:xfrm>
        </p:spPr>
        <p:txBody>
          <a:bodyPr>
            <a:normAutofit lnSpcReduction="10000"/>
          </a:bodyPr>
          <a:lstStyle/>
          <a:p>
            <a:pPr>
              <a:buFont typeface="Wingdings" pitchFamily="1" charset="2"/>
              <a:buNone/>
            </a:pPr>
            <a:r>
              <a:rPr lang="en-US" i="1">
                <a:solidFill>
                  <a:srgbClr val="C00000"/>
                </a:solidFill>
              </a:rPr>
              <a:t>‘I’m running lab tests, class-default is dropping way to soon, other classes are taking its bandwidth’</a:t>
            </a:r>
          </a:p>
          <a:p>
            <a:pPr>
              <a:lnSpc>
                <a:spcPct val="100000"/>
              </a:lnSpc>
              <a:spcBef>
                <a:spcPts val="600"/>
              </a:spcBef>
              <a:buNone/>
            </a:pPr>
            <a:endParaRPr lang="en-US" i="1">
              <a:solidFill>
                <a:srgbClr val="C00000"/>
              </a:solidFill>
            </a:endParaRPr>
          </a:p>
          <a:p>
            <a:pPr>
              <a:lnSpc>
                <a:spcPct val="100000"/>
              </a:lnSpc>
              <a:spcBef>
                <a:spcPts val="600"/>
              </a:spcBef>
              <a:buNone/>
            </a:pPr>
            <a:r>
              <a:rPr lang="en-US"/>
              <a:t>Show policy-map int will show class GOLD (30%) using 49.9%, class SILVER (30%) using 49.9% and class-default only gets 0.2%.</a:t>
            </a:r>
          </a:p>
          <a:p>
            <a:pPr>
              <a:lnSpc>
                <a:spcPct val="100000"/>
              </a:lnSpc>
              <a:spcBef>
                <a:spcPts val="600"/>
              </a:spcBef>
              <a:buNone/>
            </a:pPr>
            <a:endParaRPr lang="en-US" sz="1800" b="1"/>
          </a:p>
          <a:p>
            <a:pPr>
              <a:lnSpc>
                <a:spcPct val="100000"/>
              </a:lnSpc>
              <a:spcBef>
                <a:spcPts val="600"/>
              </a:spcBef>
              <a:buNone/>
            </a:pPr>
            <a:r>
              <a:rPr lang="en-US"/>
              <a:t>Possible cause</a:t>
            </a:r>
          </a:p>
          <a:p>
            <a:pPr>
              <a:lnSpc>
                <a:spcPct val="100000"/>
              </a:lnSpc>
              <a:spcBef>
                <a:spcPts val="600"/>
              </a:spcBef>
              <a:buFont typeface="Wingdings" pitchFamily="1" charset="2"/>
              <a:buAutoNum type="arabicPeriod"/>
            </a:pPr>
            <a:r>
              <a:rPr lang="en-US" sz="2000">
                <a:solidFill>
                  <a:schemeClr val="tx2"/>
                </a:solidFill>
              </a:rPr>
              <a:t>Fair-queue</a:t>
            </a:r>
            <a:r>
              <a:rPr lang="en-US" sz="2000"/>
              <a:t> is used in the class-default, and test only send on data stream.</a:t>
            </a:r>
          </a:p>
          <a:p>
            <a:pPr>
              <a:lnSpc>
                <a:spcPct val="100000"/>
              </a:lnSpc>
              <a:spcBef>
                <a:spcPts val="600"/>
              </a:spcBef>
              <a:buFont typeface="Wingdings" pitchFamily="1" charset="2"/>
              <a:buAutoNum type="arabicPeriod"/>
            </a:pPr>
            <a:r>
              <a:rPr lang="en-US" sz="2000"/>
              <a:t>Class-default is using one of it’s 256 queues, with high weight, competing with GOLD and SILVER.</a:t>
            </a:r>
          </a:p>
          <a:p>
            <a:pPr>
              <a:lnSpc>
                <a:spcPct val="100000"/>
              </a:lnSpc>
              <a:spcBef>
                <a:spcPts val="600"/>
              </a:spcBef>
              <a:buFont typeface="Wingdings" pitchFamily="1" charset="2"/>
              <a:buAutoNum type="arabicPeriod"/>
            </a:pPr>
            <a:endParaRPr lang="en-US"/>
          </a:p>
          <a:p>
            <a:pPr>
              <a:lnSpc>
                <a:spcPct val="100000"/>
              </a:lnSpc>
              <a:spcBef>
                <a:spcPts val="600"/>
              </a:spcBef>
              <a:buFont typeface="Wingdings" pitchFamily="1" charset="2"/>
              <a:buAutoNum type="arabicPeriod"/>
            </a:pPr>
            <a:endParaRPr lang="en-US"/>
          </a:p>
          <a:p>
            <a:pPr>
              <a:lnSpc>
                <a:spcPct val="100000"/>
              </a:lnSpc>
              <a:spcBef>
                <a:spcPts val="600"/>
              </a:spcBef>
              <a:buNone/>
            </a:pPr>
            <a:endParaRPr lang="en-US" sz="1800">
              <a:solidFill>
                <a:srgbClr val="C00000"/>
              </a:solidFill>
            </a:endParaRPr>
          </a:p>
          <a:p>
            <a:pPr>
              <a:lnSpc>
                <a:spcPct val="100000"/>
              </a:lnSpc>
              <a:spcBef>
                <a:spcPts val="600"/>
              </a:spcBef>
              <a:buNone/>
            </a:pPr>
            <a:endParaRPr lang="en-US" sz="1800">
              <a:solidFill>
                <a:srgbClr val="C00000"/>
              </a:solidFill>
            </a:endParaRPr>
          </a:p>
          <a:p>
            <a:pPr>
              <a:lnSpc>
                <a:spcPct val="100000"/>
              </a:lnSpc>
              <a:spcBef>
                <a:spcPts val="600"/>
              </a:spcBef>
              <a:buNone/>
            </a:pPr>
            <a:endParaRPr lang="en-US" sz="18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pPr eaLnBrk="1" hangingPunct="1"/>
            <a:r>
              <a:rPr lang="en-US"/>
              <a:t>Case study #4: Hierarchical policers</a:t>
            </a:r>
          </a:p>
        </p:txBody>
      </p:sp>
      <p:sp>
        <p:nvSpPr>
          <p:cNvPr id="3" name="Content Placeholder 2"/>
          <p:cNvSpPr>
            <a:spLocks noGrp="1"/>
          </p:cNvSpPr>
          <p:nvPr>
            <p:ph idx="1"/>
          </p:nvPr>
        </p:nvSpPr>
        <p:spPr>
          <a:xfrm>
            <a:off x="2179639" y="1285875"/>
            <a:ext cx="7940675" cy="5429250"/>
          </a:xfrm>
        </p:spPr>
        <p:txBody>
          <a:bodyPr/>
          <a:lstStyle/>
          <a:p>
            <a:pPr>
              <a:buFont typeface="Wingdings" pitchFamily="1" charset="2"/>
              <a:buNone/>
            </a:pPr>
            <a:r>
              <a:rPr lang="en-US" i="1">
                <a:solidFill>
                  <a:srgbClr val="C00000"/>
                </a:solidFill>
              </a:rPr>
              <a:t>‘I’m using a policer in child and parent.  Some packets are dropped outside of show policy-map interface’</a:t>
            </a:r>
          </a:p>
          <a:p>
            <a:pPr>
              <a:lnSpc>
                <a:spcPct val="100000"/>
              </a:lnSpc>
              <a:spcBef>
                <a:spcPts val="600"/>
              </a:spcBef>
              <a:buNone/>
            </a:pPr>
            <a:r>
              <a:rPr lang="en-US" sz="1200">
                <a:latin typeface="Courier New" pitchFamily="1" charset="0"/>
                <a:ea typeface="Courier New" pitchFamily="1" charset="0"/>
                <a:cs typeface="Courier New" pitchFamily="1" charset="0"/>
              </a:rPr>
              <a:t>  Service-policy input: PARENT</a:t>
            </a:r>
          </a:p>
          <a:p>
            <a:pPr>
              <a:lnSpc>
                <a:spcPct val="100000"/>
              </a:lnSpc>
              <a:spcBef>
                <a:spcPts val="600"/>
              </a:spcBef>
              <a:buNone/>
            </a:pPr>
            <a:r>
              <a:rPr lang="en-US" sz="1200">
                <a:latin typeface="Courier New" pitchFamily="1" charset="0"/>
                <a:ea typeface="Courier New" pitchFamily="1" charset="0"/>
                <a:cs typeface="Courier New" pitchFamily="1" charset="0"/>
              </a:rPr>
              <a:t>    Class-map: class-default (match-any)</a:t>
            </a:r>
          </a:p>
          <a:p>
            <a:pPr>
              <a:lnSpc>
                <a:spcPct val="100000"/>
              </a:lnSpc>
              <a:spcBef>
                <a:spcPts val="600"/>
              </a:spcBef>
              <a:buNone/>
            </a:pPr>
            <a:r>
              <a:rPr lang="en-US" sz="1200">
                <a:latin typeface="Courier New" pitchFamily="1" charset="0"/>
                <a:ea typeface="Courier New" pitchFamily="1" charset="0"/>
                <a:cs typeface="Courier New" pitchFamily="1" charset="0"/>
              </a:rPr>
              <a:t>      506756 packets, 62837744 bytes</a:t>
            </a:r>
          </a:p>
          <a:p>
            <a:pPr>
              <a:lnSpc>
                <a:spcPct val="100000"/>
              </a:lnSpc>
              <a:spcBef>
                <a:spcPts val="600"/>
              </a:spcBef>
              <a:buNone/>
            </a:pPr>
            <a:r>
              <a:rPr lang="en-US" sz="1200">
                <a:latin typeface="Courier New" pitchFamily="1" charset="0"/>
                <a:ea typeface="Courier New" pitchFamily="1" charset="0"/>
                <a:cs typeface="Courier New" pitchFamily="1" charset="0"/>
              </a:rPr>
              <a:t>        conformed 304414 packets, violated 200304 packets</a:t>
            </a:r>
          </a:p>
          <a:p>
            <a:pPr>
              <a:lnSpc>
                <a:spcPct val="100000"/>
              </a:lnSpc>
              <a:spcBef>
                <a:spcPts val="600"/>
              </a:spcBef>
              <a:buNone/>
            </a:pPr>
            <a:endParaRPr lang="en-US" sz="1200">
              <a:latin typeface="Courier New" pitchFamily="1" charset="0"/>
              <a:ea typeface="Courier New" pitchFamily="1" charset="0"/>
              <a:cs typeface="Courier New" pitchFamily="1" charset="0"/>
            </a:endParaRPr>
          </a:p>
          <a:p>
            <a:pPr>
              <a:lnSpc>
                <a:spcPct val="100000"/>
              </a:lnSpc>
              <a:spcBef>
                <a:spcPts val="600"/>
              </a:spcBef>
              <a:buNone/>
            </a:pPr>
            <a:r>
              <a:rPr lang="en-US" sz="1200">
                <a:latin typeface="Courier New" pitchFamily="1" charset="0"/>
                <a:ea typeface="Courier New" pitchFamily="1" charset="0"/>
                <a:cs typeface="Courier New" pitchFamily="1" charset="0"/>
              </a:rPr>
              <a:t>      Service-policy : CHILD</a:t>
            </a:r>
          </a:p>
          <a:p>
            <a:pPr>
              <a:lnSpc>
                <a:spcPct val="100000"/>
              </a:lnSpc>
              <a:spcBef>
                <a:spcPts val="600"/>
              </a:spcBef>
              <a:buNone/>
            </a:pPr>
            <a:r>
              <a:rPr lang="en-US" sz="1200">
                <a:latin typeface="Courier New" pitchFamily="1" charset="0"/>
                <a:ea typeface="Courier New" pitchFamily="1" charset="0"/>
                <a:cs typeface="Courier New" pitchFamily="1" charset="0"/>
              </a:rPr>
              <a:t>        Class-map: Realtime-In (match-any)</a:t>
            </a:r>
          </a:p>
          <a:p>
            <a:pPr>
              <a:lnSpc>
                <a:spcPct val="100000"/>
              </a:lnSpc>
              <a:spcBef>
                <a:spcPts val="600"/>
              </a:spcBef>
              <a:buNone/>
            </a:pPr>
            <a:r>
              <a:rPr lang="en-US" sz="1200">
                <a:latin typeface="Courier New" pitchFamily="1" charset="0"/>
                <a:ea typeface="Courier New" pitchFamily="1" charset="0"/>
                <a:cs typeface="Courier New" pitchFamily="1" charset="0"/>
              </a:rPr>
              <a:t>          </a:t>
            </a:r>
            <a:r>
              <a:rPr lang="en-US" sz="1200" b="1">
                <a:solidFill>
                  <a:srgbClr val="C00000"/>
                </a:solidFill>
                <a:latin typeface="Courier New" pitchFamily="1" charset="0"/>
                <a:ea typeface="Courier New" pitchFamily="1" charset="0"/>
                <a:cs typeface="Courier New" pitchFamily="1" charset="0"/>
              </a:rPr>
              <a:t>253378</a:t>
            </a:r>
            <a:r>
              <a:rPr lang="en-US" sz="1200">
                <a:latin typeface="Courier New" pitchFamily="1" charset="0"/>
                <a:ea typeface="Courier New" pitchFamily="1" charset="0"/>
                <a:cs typeface="Courier New" pitchFamily="1" charset="0"/>
              </a:rPr>
              <a:t> packets, 31418872 bytes</a:t>
            </a:r>
          </a:p>
          <a:p>
            <a:pPr>
              <a:lnSpc>
                <a:spcPct val="100000"/>
              </a:lnSpc>
              <a:spcBef>
                <a:spcPts val="600"/>
              </a:spcBef>
              <a:buNone/>
            </a:pPr>
            <a:r>
              <a:rPr lang="en-US" sz="1200">
                <a:latin typeface="Courier New" pitchFamily="1" charset="0"/>
                <a:ea typeface="Courier New" pitchFamily="1" charset="0"/>
                <a:cs typeface="Courier New" pitchFamily="1" charset="0"/>
              </a:rPr>
              <a:t>            conformed </a:t>
            </a:r>
            <a:r>
              <a:rPr lang="en-US" sz="1200" b="1">
                <a:solidFill>
                  <a:srgbClr val="C00000"/>
                </a:solidFill>
                <a:latin typeface="Courier New" pitchFamily="1" charset="0"/>
                <a:ea typeface="Courier New" pitchFamily="1" charset="0"/>
                <a:cs typeface="Courier New" pitchFamily="1" charset="0"/>
              </a:rPr>
              <a:t>60987</a:t>
            </a:r>
            <a:r>
              <a:rPr lang="en-US" sz="1200">
                <a:latin typeface="Courier New" pitchFamily="1" charset="0"/>
                <a:ea typeface="Courier New" pitchFamily="1" charset="0"/>
                <a:cs typeface="Courier New" pitchFamily="1" charset="0"/>
              </a:rPr>
              <a:t> packets, violated </a:t>
            </a:r>
            <a:r>
              <a:rPr lang="en-US" sz="1200" b="1">
                <a:solidFill>
                  <a:srgbClr val="C00000"/>
                </a:solidFill>
                <a:latin typeface="Courier New" pitchFamily="1" charset="0"/>
                <a:ea typeface="Courier New" pitchFamily="1" charset="0"/>
                <a:cs typeface="Courier New" pitchFamily="1" charset="0"/>
              </a:rPr>
              <a:t>92239</a:t>
            </a:r>
            <a:r>
              <a:rPr lang="en-US" sz="1200">
                <a:latin typeface="Courier New" pitchFamily="1" charset="0"/>
                <a:ea typeface="Courier New" pitchFamily="1" charset="0"/>
                <a:cs typeface="Courier New" pitchFamily="1" charset="0"/>
              </a:rPr>
              <a:t> packets</a:t>
            </a:r>
          </a:p>
          <a:p>
            <a:pPr>
              <a:lnSpc>
                <a:spcPct val="100000"/>
              </a:lnSpc>
              <a:spcBef>
                <a:spcPts val="600"/>
              </a:spcBef>
              <a:buNone/>
            </a:pPr>
            <a:endParaRPr lang="en-US" sz="1200">
              <a:latin typeface="Courier New" pitchFamily="1" charset="0"/>
              <a:ea typeface="Courier New" pitchFamily="1" charset="0"/>
              <a:cs typeface="Courier New" pitchFamily="1" charset="0"/>
            </a:endParaRPr>
          </a:p>
          <a:p>
            <a:pPr>
              <a:lnSpc>
                <a:spcPct val="100000"/>
              </a:lnSpc>
              <a:spcBef>
                <a:spcPts val="600"/>
              </a:spcBef>
              <a:buNone/>
            </a:pPr>
            <a:r>
              <a:rPr lang="en-US" sz="1200">
                <a:latin typeface="Courier New" pitchFamily="1" charset="0"/>
                <a:ea typeface="Courier New" pitchFamily="1" charset="0"/>
                <a:cs typeface="Courier New" pitchFamily="1" charset="0"/>
              </a:rPr>
              <a:t>        Class-map: class-default (match-any)</a:t>
            </a:r>
          </a:p>
          <a:p>
            <a:pPr>
              <a:lnSpc>
                <a:spcPct val="100000"/>
              </a:lnSpc>
              <a:spcBef>
                <a:spcPts val="600"/>
              </a:spcBef>
              <a:buNone/>
            </a:pPr>
            <a:r>
              <a:rPr lang="en-US" sz="1200">
                <a:latin typeface="Courier New" pitchFamily="1" charset="0"/>
                <a:ea typeface="Courier New" pitchFamily="1" charset="0"/>
                <a:cs typeface="Courier New" pitchFamily="1" charset="0"/>
              </a:rPr>
              <a:t>          253378 packets, 31418872 bytes</a:t>
            </a:r>
          </a:p>
          <a:p>
            <a:pPr>
              <a:lnSpc>
                <a:spcPct val="100000"/>
              </a:lnSpc>
              <a:spcBef>
                <a:spcPts val="600"/>
              </a:spcBef>
              <a:buNone/>
            </a:pPr>
            <a:r>
              <a:rPr lang="en-US" sz="1200">
                <a:latin typeface="Courier New" pitchFamily="1" charset="0"/>
                <a:ea typeface="Courier New" pitchFamily="1" charset="0"/>
                <a:cs typeface="Courier New" pitchFamily="1" charset="0"/>
              </a:rPr>
              <a:t>          5 minute offered rate 81000 bps, drop rate 0 bps</a:t>
            </a:r>
          </a:p>
          <a:p>
            <a:pPr>
              <a:lnSpc>
                <a:spcPct val="100000"/>
              </a:lnSpc>
              <a:spcBef>
                <a:spcPts val="600"/>
              </a:spcBef>
              <a:buNone/>
            </a:pPr>
            <a:endParaRPr lang="en-US" sz="1200">
              <a:latin typeface="Courier New" pitchFamily="1" charset="0"/>
              <a:ea typeface="Courier New" pitchFamily="1" charset="0"/>
              <a:cs typeface="Courier New" pitchFamily="1" charset="0"/>
            </a:endParaRPr>
          </a:p>
          <a:p>
            <a:pPr>
              <a:lnSpc>
                <a:spcPct val="100000"/>
              </a:lnSpc>
              <a:spcBef>
                <a:spcPts val="600"/>
              </a:spcBef>
              <a:buNone/>
            </a:pPr>
            <a:r>
              <a:rPr lang="en-US"/>
              <a:t>Possible causes</a:t>
            </a:r>
          </a:p>
          <a:p>
            <a:pPr>
              <a:lnSpc>
                <a:spcPct val="100000"/>
              </a:lnSpc>
              <a:spcBef>
                <a:spcPts val="600"/>
              </a:spcBef>
              <a:buFont typeface="Wingdings" pitchFamily="1" charset="2"/>
              <a:buAutoNum type="arabicPeriod"/>
            </a:pPr>
            <a:r>
              <a:rPr lang="en-US" sz="1900"/>
              <a:t>Order of operation is the key here.  What occurs first ?</a:t>
            </a:r>
          </a:p>
          <a:p>
            <a:pPr>
              <a:lnSpc>
                <a:spcPct val="100000"/>
              </a:lnSpc>
              <a:spcBef>
                <a:spcPts val="600"/>
              </a:spcBef>
              <a:buNone/>
            </a:pPr>
            <a:endParaRPr lang="en-US" sz="1800">
              <a:solidFill>
                <a:srgbClr val="C00000"/>
              </a:solidFill>
            </a:endParaRPr>
          </a:p>
          <a:p>
            <a:pPr>
              <a:lnSpc>
                <a:spcPct val="100000"/>
              </a:lnSpc>
              <a:spcBef>
                <a:spcPts val="600"/>
              </a:spcBef>
              <a:buNone/>
            </a:pPr>
            <a:endParaRPr lang="en-US" sz="1800">
              <a:solidFill>
                <a:srgbClr val="C00000"/>
              </a:solidFill>
            </a:endParaRPr>
          </a:p>
          <a:p>
            <a:pPr>
              <a:lnSpc>
                <a:spcPct val="100000"/>
              </a:lnSpc>
              <a:spcBef>
                <a:spcPts val="600"/>
              </a:spcBef>
              <a:buNone/>
            </a:pPr>
            <a:endParaRPr lang="en-US" sz="18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pPr eaLnBrk="1" hangingPunct="1"/>
            <a:r>
              <a:rPr lang="en-US"/>
              <a:t>Case study #5: QoS on GigabitEthernet</a:t>
            </a:r>
          </a:p>
        </p:txBody>
      </p:sp>
      <p:sp>
        <p:nvSpPr>
          <p:cNvPr id="3" name="Content Placeholder 2"/>
          <p:cNvSpPr>
            <a:spLocks noGrp="1"/>
          </p:cNvSpPr>
          <p:nvPr>
            <p:ph idx="1"/>
          </p:nvPr>
        </p:nvSpPr>
        <p:spPr>
          <a:xfrm>
            <a:off x="2179639" y="1285875"/>
            <a:ext cx="7940675" cy="5429250"/>
          </a:xfrm>
        </p:spPr>
        <p:txBody>
          <a:bodyPr>
            <a:normAutofit lnSpcReduction="10000"/>
          </a:bodyPr>
          <a:lstStyle/>
          <a:p>
            <a:pPr>
              <a:buFont typeface="Wingdings" pitchFamily="1" charset="2"/>
              <a:buNone/>
            </a:pPr>
            <a:r>
              <a:rPr lang="en-US" i="1">
                <a:solidFill>
                  <a:srgbClr val="C00000"/>
                </a:solidFill>
              </a:rPr>
              <a:t>‘Using an output policy on my GigE, my classes are not receiving the bandwidth I configured’</a:t>
            </a:r>
          </a:p>
          <a:p>
            <a:pPr>
              <a:lnSpc>
                <a:spcPct val="100000"/>
              </a:lnSpc>
              <a:spcBef>
                <a:spcPts val="300"/>
              </a:spcBef>
              <a:buNone/>
            </a:pPr>
            <a:r>
              <a:rPr lang="en-US" sz="1400">
                <a:latin typeface="Courier New" pitchFamily="1" charset="0"/>
                <a:ea typeface="Courier New" pitchFamily="1" charset="0"/>
                <a:cs typeface="Courier New" pitchFamily="1" charset="0"/>
              </a:rPr>
              <a:t>sh policy-map int | i depth</a:t>
            </a:r>
          </a:p>
          <a:p>
            <a:pPr>
              <a:lnSpc>
                <a:spcPct val="100000"/>
              </a:lnSpc>
              <a:spcBef>
                <a:spcPts val="300"/>
              </a:spcBef>
              <a:buNone/>
            </a:pPr>
            <a:r>
              <a:rPr lang="en-US" sz="1400">
                <a:latin typeface="Courier New" pitchFamily="1" charset="0"/>
                <a:ea typeface="Courier New" pitchFamily="1" charset="0"/>
                <a:cs typeface="Courier New" pitchFamily="1" charset="0"/>
              </a:rPr>
              <a:t>        (depth/total drops/no-buffer drops) 0/3587/0</a:t>
            </a:r>
          </a:p>
          <a:p>
            <a:pPr>
              <a:lnSpc>
                <a:spcPct val="100000"/>
              </a:lnSpc>
              <a:spcBef>
                <a:spcPts val="300"/>
              </a:spcBef>
              <a:buNone/>
            </a:pPr>
            <a:r>
              <a:rPr lang="en-US" sz="1400">
                <a:latin typeface="Courier New" pitchFamily="1" charset="0"/>
                <a:ea typeface="Courier New" pitchFamily="1" charset="0"/>
                <a:cs typeface="Courier New" pitchFamily="1" charset="0"/>
              </a:rPr>
              <a:t>sh policy-map int | i depth</a:t>
            </a:r>
          </a:p>
          <a:p>
            <a:pPr>
              <a:lnSpc>
                <a:spcPct val="100000"/>
              </a:lnSpc>
              <a:spcBef>
                <a:spcPts val="300"/>
              </a:spcBef>
              <a:buNone/>
            </a:pPr>
            <a:r>
              <a:rPr lang="en-US" sz="1400">
                <a:latin typeface="Courier New" pitchFamily="1" charset="0"/>
                <a:ea typeface="Courier New" pitchFamily="1" charset="0"/>
                <a:cs typeface="Courier New" pitchFamily="1" charset="0"/>
              </a:rPr>
              <a:t>        (depth/total drops/no-buffer drops) 61/4244/0</a:t>
            </a:r>
          </a:p>
          <a:p>
            <a:pPr>
              <a:lnSpc>
                <a:spcPct val="100000"/>
              </a:lnSpc>
              <a:spcBef>
                <a:spcPts val="300"/>
              </a:spcBef>
              <a:buNone/>
            </a:pPr>
            <a:r>
              <a:rPr lang="en-US" sz="1400">
                <a:latin typeface="Courier New" pitchFamily="1" charset="0"/>
                <a:ea typeface="Courier New" pitchFamily="1" charset="0"/>
                <a:cs typeface="Courier New" pitchFamily="1" charset="0"/>
              </a:rPr>
              <a:t>sh policy-map int | i depth</a:t>
            </a:r>
          </a:p>
          <a:p>
            <a:pPr>
              <a:lnSpc>
                <a:spcPct val="100000"/>
              </a:lnSpc>
              <a:spcBef>
                <a:spcPts val="300"/>
              </a:spcBef>
              <a:buNone/>
            </a:pPr>
            <a:r>
              <a:rPr lang="en-US" sz="1400">
                <a:latin typeface="Courier New" pitchFamily="1" charset="0"/>
                <a:ea typeface="Courier New" pitchFamily="1" charset="0"/>
                <a:cs typeface="Courier New" pitchFamily="1" charset="0"/>
              </a:rPr>
              <a:t>        (depth/total drops/no-buffer drops) 0/5167/0</a:t>
            </a:r>
          </a:p>
          <a:p>
            <a:pPr>
              <a:lnSpc>
                <a:spcPct val="100000"/>
              </a:lnSpc>
              <a:spcBef>
                <a:spcPts val="300"/>
              </a:spcBef>
              <a:buNone/>
            </a:pPr>
            <a:r>
              <a:rPr lang="en-US" sz="1400">
                <a:latin typeface="Courier New" pitchFamily="1" charset="0"/>
                <a:ea typeface="Courier New" pitchFamily="1" charset="0"/>
                <a:cs typeface="Courier New" pitchFamily="1" charset="0"/>
              </a:rPr>
              <a:t>sh policy-map int | i depth</a:t>
            </a:r>
          </a:p>
          <a:p>
            <a:pPr>
              <a:lnSpc>
                <a:spcPct val="100000"/>
              </a:lnSpc>
              <a:spcBef>
                <a:spcPts val="300"/>
              </a:spcBef>
              <a:buNone/>
            </a:pPr>
            <a:r>
              <a:rPr lang="en-US" sz="1400">
                <a:latin typeface="Courier New" pitchFamily="1" charset="0"/>
                <a:ea typeface="Courier New" pitchFamily="1" charset="0"/>
                <a:cs typeface="Courier New" pitchFamily="1" charset="0"/>
              </a:rPr>
              <a:t>        (depth/total drops/no-buffer drops) 0/6004/0</a:t>
            </a:r>
          </a:p>
          <a:p>
            <a:pPr>
              <a:lnSpc>
                <a:spcPct val="100000"/>
              </a:lnSpc>
              <a:spcBef>
                <a:spcPts val="300"/>
              </a:spcBef>
              <a:buNone/>
            </a:pPr>
            <a:r>
              <a:rPr lang="en-US" sz="1400">
                <a:latin typeface="Courier New" pitchFamily="1" charset="0"/>
                <a:ea typeface="Courier New" pitchFamily="1" charset="0"/>
                <a:cs typeface="Courier New" pitchFamily="1" charset="0"/>
              </a:rPr>
              <a:t>sh policy-map int | i depth</a:t>
            </a:r>
          </a:p>
          <a:p>
            <a:pPr>
              <a:lnSpc>
                <a:spcPct val="100000"/>
              </a:lnSpc>
              <a:spcBef>
                <a:spcPts val="300"/>
              </a:spcBef>
              <a:buNone/>
            </a:pPr>
            <a:r>
              <a:rPr lang="en-US" sz="1400">
                <a:latin typeface="Courier New" pitchFamily="1" charset="0"/>
                <a:ea typeface="Courier New" pitchFamily="1" charset="0"/>
                <a:cs typeface="Courier New" pitchFamily="1" charset="0"/>
              </a:rPr>
              <a:t>        (depth/total drops/no-buffer drops) 0/7251/0</a:t>
            </a:r>
          </a:p>
          <a:p>
            <a:pPr>
              <a:lnSpc>
                <a:spcPct val="100000"/>
              </a:lnSpc>
              <a:spcBef>
                <a:spcPts val="300"/>
              </a:spcBef>
              <a:buNone/>
            </a:pPr>
            <a:r>
              <a:rPr lang="en-US" sz="1400">
                <a:latin typeface="Courier New" pitchFamily="1" charset="0"/>
                <a:ea typeface="Courier New" pitchFamily="1" charset="0"/>
                <a:cs typeface="Courier New" pitchFamily="1" charset="0"/>
              </a:rPr>
              <a:t>sh policy-map int | i depth</a:t>
            </a:r>
          </a:p>
          <a:p>
            <a:pPr>
              <a:lnSpc>
                <a:spcPct val="100000"/>
              </a:lnSpc>
              <a:spcBef>
                <a:spcPts val="300"/>
              </a:spcBef>
              <a:buNone/>
            </a:pPr>
            <a:r>
              <a:rPr lang="en-US" sz="1400">
                <a:latin typeface="Courier New" pitchFamily="1" charset="0"/>
                <a:ea typeface="Courier New" pitchFamily="1" charset="0"/>
                <a:cs typeface="Courier New" pitchFamily="1" charset="0"/>
              </a:rPr>
              <a:t>        (depth/total drops/no-buffer drops) 27/8274/0</a:t>
            </a:r>
          </a:p>
          <a:p>
            <a:pPr>
              <a:lnSpc>
                <a:spcPct val="100000"/>
              </a:lnSpc>
              <a:spcBef>
                <a:spcPts val="600"/>
              </a:spcBef>
              <a:buNone/>
            </a:pPr>
            <a:r>
              <a:rPr lang="en-US"/>
              <a:t>Possible causes</a:t>
            </a:r>
          </a:p>
          <a:p>
            <a:pPr>
              <a:lnSpc>
                <a:spcPct val="100000"/>
              </a:lnSpc>
              <a:spcBef>
                <a:spcPts val="600"/>
              </a:spcBef>
              <a:buFont typeface="Wingdings" pitchFamily="1" charset="2"/>
              <a:buAutoNum type="arabicPeriod"/>
            </a:pPr>
            <a:r>
              <a:rPr lang="en-US" sz="1900"/>
              <a:t>Drops are occurring on input due to resources limitations</a:t>
            </a:r>
          </a:p>
          <a:p>
            <a:pPr>
              <a:lnSpc>
                <a:spcPct val="100000"/>
              </a:lnSpc>
              <a:spcBef>
                <a:spcPts val="600"/>
              </a:spcBef>
              <a:buFont typeface="Wingdings" pitchFamily="1" charset="2"/>
              <a:buAutoNum type="arabicPeriod"/>
            </a:pPr>
            <a:r>
              <a:rPr lang="en-US" sz="1900"/>
              <a:t>Output queues are too small and classes are ‘starving’:</a:t>
            </a:r>
          </a:p>
          <a:p>
            <a:pPr marL="679450" lvl="1" indent="-342900">
              <a:lnSpc>
                <a:spcPct val="100000"/>
              </a:lnSpc>
              <a:spcBef>
                <a:spcPts val="600"/>
              </a:spcBef>
            </a:pPr>
            <a:r>
              <a:rPr lang="en-US" sz="1100"/>
              <a:t>	</a:t>
            </a:r>
            <a:r>
              <a:rPr lang="en-US" sz="1900"/>
              <a:t>Tune your queue limits.</a:t>
            </a:r>
          </a:p>
          <a:p>
            <a:pPr>
              <a:lnSpc>
                <a:spcPct val="100000"/>
              </a:lnSpc>
              <a:spcBef>
                <a:spcPts val="600"/>
              </a:spcBef>
              <a:buNone/>
            </a:pPr>
            <a:endParaRPr lang="en-US" sz="1800">
              <a:solidFill>
                <a:srgbClr val="C00000"/>
              </a:solidFill>
            </a:endParaRPr>
          </a:p>
          <a:p>
            <a:pPr>
              <a:lnSpc>
                <a:spcPct val="100000"/>
              </a:lnSpc>
              <a:spcBef>
                <a:spcPts val="600"/>
              </a:spcBef>
              <a:buNone/>
            </a:pPr>
            <a:endParaRPr lang="en-US" sz="1800">
              <a:solidFill>
                <a:srgbClr val="C00000"/>
              </a:solidFill>
            </a:endParaRPr>
          </a:p>
          <a:p>
            <a:pPr>
              <a:lnSpc>
                <a:spcPct val="100000"/>
              </a:lnSpc>
              <a:spcBef>
                <a:spcPts val="600"/>
              </a:spcBef>
              <a:buNone/>
            </a:pPr>
            <a:endParaRPr lang="en-US" sz="18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4" end="1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5" end="1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en-US"/>
              <a:t>Revision</a:t>
            </a:r>
          </a:p>
        </p:txBody>
      </p:sp>
      <p:sp>
        <p:nvSpPr>
          <p:cNvPr id="84995" name="Rectangle 3"/>
          <p:cNvSpPr>
            <a:spLocks noGrp="1" noChangeArrowheads="1"/>
          </p:cNvSpPr>
          <p:nvPr>
            <p:ph idx="1"/>
          </p:nvPr>
        </p:nvSpPr>
        <p:spPr/>
        <p:txBody>
          <a:bodyPr/>
          <a:lstStyle/>
          <a:p>
            <a:r>
              <a:rPr lang="en-US"/>
              <a:t>Approved by Aleksandar Vidakovic (TAC Expert)</a:t>
            </a:r>
          </a:p>
          <a:p>
            <a:r>
              <a:rPr lang="en-US"/>
              <a:t>Last revision: October 26</a:t>
            </a:r>
            <a:r>
              <a:rPr lang="en-US" baseline="30000"/>
              <a:t>th</a:t>
            </a:r>
            <a:r>
              <a:rPr lang="en-US"/>
              <a:t> 2008</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isco">
  <a:themeElements>
    <a:clrScheme name="Cisco 1">
      <a:dk1>
        <a:srgbClr val="000000"/>
      </a:dk1>
      <a:lt1>
        <a:srgbClr val="FFFFFF"/>
      </a:lt1>
      <a:dk2>
        <a:srgbClr val="0183B7"/>
      </a:dk2>
      <a:lt2>
        <a:srgbClr val="8E8E95"/>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Cisc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Cisco 1">
        <a:dk1>
          <a:srgbClr val="000000"/>
        </a:dk1>
        <a:lt1>
          <a:srgbClr val="FFFFFF"/>
        </a:lt1>
        <a:dk2>
          <a:srgbClr val="0183B7"/>
        </a:dk2>
        <a:lt2>
          <a:srgbClr val="8E8E95"/>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Cisco IOS Overview</Template>
  <TotalTime>21227</TotalTime>
  <Words>11933</Words>
  <Application>Microsoft Office PowerPoint</Application>
  <PresentationFormat>Widescreen</PresentationFormat>
  <Paragraphs>2092</Paragraphs>
  <Slides>139</Slides>
  <Notes>81</Notes>
  <HiddenSlides>2</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139</vt:i4>
      </vt:variant>
    </vt:vector>
  </HeadingPairs>
  <TitlesOfParts>
    <vt:vector size="152" baseType="lpstr">
      <vt:lpstr>맑은 고딕</vt:lpstr>
      <vt:lpstr>ＭＳ Ｐゴシック</vt:lpstr>
      <vt:lpstr>Arial</vt:lpstr>
      <vt:lpstr>Calibri</vt:lpstr>
      <vt:lpstr>Calibri Light</vt:lpstr>
      <vt:lpstr>Courier New</vt:lpstr>
      <vt:lpstr>Helvetica</vt:lpstr>
      <vt:lpstr>Lucida Handwriting</vt:lpstr>
      <vt:lpstr>Symbol</vt:lpstr>
      <vt:lpstr>Times New Roman</vt:lpstr>
      <vt:lpstr>Wingdings</vt:lpstr>
      <vt:lpstr>Cisco</vt:lpstr>
      <vt:lpstr>Office Theme</vt:lpstr>
      <vt:lpstr>PowerPoint Presentation</vt:lpstr>
      <vt:lpstr>What is Quality of Service</vt:lpstr>
      <vt:lpstr>Why do we need them ?</vt:lpstr>
      <vt:lpstr>PowerPoint Presentation</vt:lpstr>
      <vt:lpstr>PowerPoint Presentation</vt:lpstr>
      <vt:lpstr>PowerPoint Presentation</vt:lpstr>
      <vt:lpstr>PowerPoint Presentation</vt:lpstr>
      <vt:lpstr>QoS Service Models</vt:lpstr>
      <vt:lpstr>QoS Model #1: Best Effort</vt:lpstr>
      <vt:lpstr>QoS Model #2: Integrated Services</vt:lpstr>
      <vt:lpstr>QoS Model #3: Differentiated Services</vt:lpstr>
      <vt:lpstr>DiffServ Architecture</vt:lpstr>
      <vt:lpstr>DiffServ Architecture</vt:lpstr>
      <vt:lpstr>Per Hop Behavior</vt:lpstr>
      <vt:lpstr>IP Precedence Field</vt:lpstr>
      <vt:lpstr>DiffServ Code Points (DSCP) values</vt:lpstr>
      <vt:lpstr>Per Hop Behavior</vt:lpstr>
      <vt:lpstr>Per Hop Behavior</vt:lpstr>
      <vt:lpstr>Per Hop Behavior</vt:lpstr>
      <vt:lpstr>Review Questions</vt:lpstr>
      <vt:lpstr>References</vt:lpstr>
      <vt:lpstr>MQC</vt:lpstr>
      <vt:lpstr>What is MQC</vt:lpstr>
      <vt:lpstr>Why was MQC developed ?</vt:lpstr>
      <vt:lpstr>How MQC Works: 3 Steps</vt:lpstr>
      <vt:lpstr>MQC: Step 1 – Class-map</vt:lpstr>
      <vt:lpstr>MQC: Step 2 – Policy-map</vt:lpstr>
      <vt:lpstr>MQC: Step 3 – Service-policy</vt:lpstr>
      <vt:lpstr>MQC: Step 3 – Multiple policies</vt:lpstr>
      <vt:lpstr>MQC: Hierarchical Policies</vt:lpstr>
      <vt:lpstr>Review Questions</vt:lpstr>
      <vt:lpstr>Lab 1: MQC</vt:lpstr>
      <vt:lpstr>Classification</vt:lpstr>
      <vt:lpstr>Classification</vt:lpstr>
      <vt:lpstr>Classification options</vt:lpstr>
      <vt:lpstr>Classification options (2)</vt:lpstr>
      <vt:lpstr>Classification options: NBAR</vt:lpstr>
      <vt:lpstr>NBAR: Supported Protocols</vt:lpstr>
      <vt:lpstr>NBAR Example: HTTP Classification</vt:lpstr>
      <vt:lpstr>Common Classification</vt:lpstr>
      <vt:lpstr>Classification with Tunnels</vt:lpstr>
      <vt:lpstr>Classification with Tunnels</vt:lpstr>
      <vt:lpstr>Classification with Tunnels</vt:lpstr>
      <vt:lpstr>Classification with Tunnels</vt:lpstr>
      <vt:lpstr>Classification: Order of Operation</vt:lpstr>
      <vt:lpstr>Classification: Order of Operation</vt:lpstr>
      <vt:lpstr>Classification: Order of Operation</vt:lpstr>
      <vt:lpstr>Classification: Associated counters</vt:lpstr>
      <vt:lpstr>Classification: Review Questions</vt:lpstr>
      <vt:lpstr>Marking</vt:lpstr>
      <vt:lpstr>Marking: What and Why</vt:lpstr>
      <vt:lpstr>Marking: How it works</vt:lpstr>
      <vt:lpstr>Marking: What can be marked</vt:lpstr>
      <vt:lpstr>Marking: CAR (pre-MQC)</vt:lpstr>
      <vt:lpstr>Marking: Class-Based Policing</vt:lpstr>
      <vt:lpstr>Marking: Class-based Marking</vt:lpstr>
      <vt:lpstr>Packet Marking Notes</vt:lpstr>
      <vt:lpstr>Marking: Review questions</vt:lpstr>
      <vt:lpstr>Queuing and Scheduling</vt:lpstr>
      <vt:lpstr>PowerPoint Presentation</vt:lpstr>
      <vt:lpstr>Definitions</vt:lpstr>
      <vt:lpstr>TxQ – How to see it ?</vt:lpstr>
      <vt:lpstr>Queuing and Dropping</vt:lpstr>
      <vt:lpstr>Queuing and Scheduling algorithm</vt:lpstr>
      <vt:lpstr>FIFO queuing</vt:lpstr>
      <vt:lpstr>Priority queuing (PQ)</vt:lpstr>
      <vt:lpstr>Custom Queuing (CQ)</vt:lpstr>
      <vt:lpstr>PowerPoint Presentation</vt:lpstr>
      <vt:lpstr>Fair-Queuing</vt:lpstr>
      <vt:lpstr>Example</vt:lpstr>
      <vt:lpstr>PowerPoint Presentation</vt:lpstr>
      <vt:lpstr>Checking Weight</vt:lpstr>
      <vt:lpstr>PowerPoint Presentation</vt:lpstr>
      <vt:lpstr>WFQ: Per-Flow Sub queue</vt:lpstr>
      <vt:lpstr>Finish Time</vt:lpstr>
      <vt:lpstr>Weighted Fair Queuing</vt:lpstr>
      <vt:lpstr>Computing Finish Time (FT)</vt:lpstr>
      <vt:lpstr>PowerPoint Presentation</vt:lpstr>
      <vt:lpstr>PowerPoint Presentation</vt:lpstr>
      <vt:lpstr>PowerPoint Presentation</vt:lpstr>
      <vt:lpstr>PowerPoint Presentation</vt:lpstr>
      <vt:lpstr>PowerPoint Presentation</vt:lpstr>
      <vt:lpstr>Review Questions</vt:lpstr>
      <vt:lpstr>Class-Based WFQ</vt:lpstr>
      <vt:lpstr>Example of CBWFQ computation</vt:lpstr>
      <vt:lpstr>CBWFQ Configuration</vt:lpstr>
      <vt:lpstr>Bandwidth allocation</vt:lpstr>
      <vt:lpstr>PowerPoint Presentation</vt:lpstr>
      <vt:lpstr>Available Bandwidth</vt:lpstr>
      <vt:lpstr>How Is Unused Bandwidth Allocated?</vt:lpstr>
      <vt:lpstr>CBWFQ: The bandwidth command</vt:lpstr>
      <vt:lpstr>CBWFQ: The Queue-limit command</vt:lpstr>
      <vt:lpstr>Review Questions</vt:lpstr>
      <vt:lpstr>Low Latency Queuing (PQCBWFQ)</vt:lpstr>
      <vt:lpstr>Low Latency Queuing (PQCBWFQ)</vt:lpstr>
      <vt:lpstr>CBWFQ vs LLQ</vt:lpstr>
      <vt:lpstr>Bandwidth vs Priority</vt:lpstr>
      <vt:lpstr>LLQ: The priority command</vt:lpstr>
      <vt:lpstr>Review questions</vt:lpstr>
      <vt:lpstr>Policing and  Shaping</vt:lpstr>
      <vt:lpstr>Policing and Shaping</vt:lpstr>
      <vt:lpstr>Metering: the Token Bucket</vt:lpstr>
      <vt:lpstr>Token Bucket</vt:lpstr>
      <vt:lpstr>Shaping</vt:lpstr>
      <vt:lpstr>Shaping parameters</vt:lpstr>
      <vt:lpstr>Example</vt:lpstr>
      <vt:lpstr>Shaping: Selecting Bc and Tc</vt:lpstr>
      <vt:lpstr>Generic Traffic Shaping (pre-MQC)</vt:lpstr>
      <vt:lpstr>Class-based Traffic Shaping</vt:lpstr>
      <vt:lpstr>Class-Based Shaper: CLI</vt:lpstr>
      <vt:lpstr>Class-Based Shaper: CLI</vt:lpstr>
      <vt:lpstr>Class-based Shaper: Interactions</vt:lpstr>
      <vt:lpstr>Class-Based Shaper: Hierarchical</vt:lpstr>
      <vt:lpstr>Policing with CAR (pre-MQC)</vt:lpstr>
      <vt:lpstr>Policing with CAR</vt:lpstr>
      <vt:lpstr>Class-Based Policing</vt:lpstr>
      <vt:lpstr>Class-Based Policing: Options</vt:lpstr>
      <vt:lpstr>Single rate, Dual Bucket, Three-Color Marker</vt:lpstr>
      <vt:lpstr>Class-Based Policing: Options</vt:lpstr>
      <vt:lpstr>Dual Rate, Dual Bucket, Three-color Marker</vt:lpstr>
      <vt:lpstr>Dropping</vt:lpstr>
      <vt:lpstr>WRED: What and Why</vt:lpstr>
      <vt:lpstr>PowerPoint Presentation</vt:lpstr>
      <vt:lpstr>RED, WRED, Operation modes</vt:lpstr>
      <vt:lpstr>WRED Parameters</vt:lpstr>
      <vt:lpstr>Configuring WRED</vt:lpstr>
      <vt:lpstr>PowerPoint Presentation</vt:lpstr>
      <vt:lpstr>PowerPoint Presentation</vt:lpstr>
      <vt:lpstr>Review questions</vt:lpstr>
      <vt:lpstr>Segue Slide</vt:lpstr>
      <vt:lpstr>PowerPoint Presentation</vt:lpstr>
      <vt:lpstr>PowerPoint Presentation</vt:lpstr>
      <vt:lpstr>Case studies</vt:lpstr>
      <vt:lpstr>Case study #1: Drops in show interface</vt:lpstr>
      <vt:lpstr>Case study #2: Jitter or delay</vt:lpstr>
      <vt:lpstr>Case study #3: Class-default drops</vt:lpstr>
      <vt:lpstr>Case study #4: Hierarchical policers</vt:lpstr>
      <vt:lpstr>Case study #5: QoS on GigabitEthernet</vt:lpstr>
      <vt:lpstr>Revision</vt:lpstr>
    </vt:vector>
  </TitlesOfParts>
  <Company>Cisco Systems,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QoS Mechanisms</dc:title>
  <dc:creator>mdebraba</dc:creator>
  <cp:lastModifiedBy>Gde</cp:lastModifiedBy>
  <cp:revision>476</cp:revision>
  <dcterms:created xsi:type="dcterms:W3CDTF">2012-06-12T22:22:20Z</dcterms:created>
  <dcterms:modified xsi:type="dcterms:W3CDTF">2026-05-05T09:00:00Z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V.Tracking">
    <vt:lpwstr>true</vt:lpwstr>
  </property>
  <property fmtid="{D5CDD505-2E9C-101B-9397-08002B2CF9AE}" pid="3" name="DV.DocumentId">
    <vt:lpwstr>Bsc0790SRS03FErLmd24bH</vt:lpwstr>
  </property>
  <property fmtid="{D5CDD505-2E9C-101B-9397-08002B2CF9AE}" pid="4" name="DV.VersionId">
    <vt:lpwstr>g2ImI0G4ALHBUi9ZuMHeQp</vt:lpwstr>
  </property>
  <property fmtid="{D5CDD505-2E9C-101B-9397-08002B2CF9AE}" pid="5" name="DV.MergeIncapabilityFlags">
    <vt:i4>0</vt:i4>
  </property>
</Properties>
</file>