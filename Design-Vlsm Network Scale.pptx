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9" r:id="rId1"/>
  </p:sldMasterIdLst>
  <p:notesMasterIdLst>
    <p:notesMasterId r:id="rId27"/>
  </p:notesMasterIdLst>
  <p:sldIdLst>
    <p:sldId id="376" r:id="rId2"/>
    <p:sldId id="347" r:id="rId3"/>
    <p:sldId id="348" r:id="rId4"/>
    <p:sldId id="358" r:id="rId5"/>
    <p:sldId id="354" r:id="rId6"/>
    <p:sldId id="362" r:id="rId7"/>
    <p:sldId id="355" r:id="rId8"/>
    <p:sldId id="356" r:id="rId9"/>
    <p:sldId id="357" r:id="rId10"/>
    <p:sldId id="363" r:id="rId11"/>
    <p:sldId id="349" r:id="rId12"/>
    <p:sldId id="365" r:id="rId13"/>
    <p:sldId id="366" r:id="rId14"/>
    <p:sldId id="367" r:id="rId15"/>
    <p:sldId id="368" r:id="rId16"/>
    <p:sldId id="350" r:id="rId17"/>
    <p:sldId id="351" r:id="rId18"/>
    <p:sldId id="352" r:id="rId19"/>
    <p:sldId id="369" r:id="rId20"/>
    <p:sldId id="370" r:id="rId21"/>
    <p:sldId id="371" r:id="rId22"/>
    <p:sldId id="372" r:id="rId23"/>
    <p:sldId id="373" r:id="rId24"/>
    <p:sldId id="374" r:id="rId25"/>
    <p:sldId id="375" r:id="rId26"/>
  </p:sldIdLst>
  <p:sldSz cx="9144000" cy="5143500" type="screen16x9"/>
  <p:notesSz cx="6858000" cy="9144000"/>
  <p:embeddedFontLst>
    <p:embeddedFont>
      <p:font typeface="Bahnschrift SemiLight Condensed" panose="020B0502040204020203" pitchFamily="34" charset="0"/>
      <p:regular r:id="rId28"/>
    </p:embeddedFont>
    <p:embeddedFont>
      <p:font typeface="Overpass" panose="020B0604020202020204" charset="0"/>
      <p:regular r:id="rId29"/>
      <p:bold r:id="rId30"/>
      <p:italic r:id="rId31"/>
      <p:boldItalic r:id="rId32"/>
    </p:embeddedFont>
    <p:embeddedFont>
      <p:font typeface="맑은 고딕" panose="020B0503020000020004" pitchFamily="34" charset="-127"/>
      <p:regular r:id="rId33"/>
      <p:bold r:id="rId34"/>
    </p:embeddedFont>
    <p:embeddedFont>
      <p:font typeface="Bebas Neue" panose="020B0604020202020204" charset="0"/>
      <p:regular r:id="rId35"/>
    </p:embeddedFont>
    <p:embeddedFont>
      <p:font typeface="Overpass Light"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D73AC1-B103-4C89-B5A6-36388A9374AA}">
  <a:tblStyle styleId="{95D73AC1-B103-4C89-B5A6-36388A9374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56" autoAdjust="0"/>
    <p:restoredTop sz="91399" autoAdjust="0"/>
  </p:normalViewPr>
  <p:slideViewPr>
    <p:cSldViewPr snapToGrid="0">
      <p:cViewPr varScale="1">
        <p:scale>
          <a:sx n="139" d="100"/>
          <a:sy n="139" d="100"/>
        </p:scale>
        <p:origin x="798" y="12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SG" sz="1100" dirty="0"/>
              <a:t>Commands of R2:</a:t>
            </a:r>
          </a:p>
          <a:p>
            <a:pPr marL="158750" indent="0">
              <a:buNone/>
            </a:pPr>
            <a:r>
              <a:rPr lang="en-SG" sz="1100" dirty="0"/>
              <a:t>int g0/0</a:t>
            </a:r>
          </a:p>
          <a:p>
            <a:pPr marL="158750" indent="0">
              <a:buNone/>
            </a:pPr>
            <a:r>
              <a:rPr lang="en-SG" sz="1100" dirty="0"/>
              <a:t>standby version 2</a:t>
            </a:r>
          </a:p>
          <a:p>
            <a:pPr marL="158750" indent="0">
              <a:buNone/>
            </a:pPr>
            <a:r>
              <a:rPr lang="en-SG" sz="1100" dirty="0"/>
              <a:t>standby 1 ip 193.75.14.126</a:t>
            </a:r>
          </a:p>
          <a:p>
            <a:pPr marL="158750" indent="0">
              <a:buNone/>
            </a:pPr>
            <a:r>
              <a:rPr lang="en-SG" sz="1100" dirty="0"/>
              <a:t>standby 1 priority 150</a:t>
            </a:r>
          </a:p>
          <a:p>
            <a:pPr marL="158750" indent="0">
              <a:buNone/>
            </a:pPr>
            <a:r>
              <a:rPr lang="en-SG" sz="1100" dirty="0"/>
              <a:t>standby 1 preempt</a:t>
            </a:r>
          </a:p>
          <a:p>
            <a:pPr marL="158750" indent="0">
              <a:buNone/>
            </a:pPr>
            <a:r>
              <a:rPr lang="en-SG" sz="1100" dirty="0"/>
              <a:t>int g0/1</a:t>
            </a:r>
          </a:p>
          <a:p>
            <a:pPr marL="158750" indent="0">
              <a:buNone/>
            </a:pPr>
            <a:r>
              <a:rPr lang="en-SG" sz="1100" dirty="0"/>
              <a:t>standby version 2</a:t>
            </a:r>
          </a:p>
          <a:p>
            <a:pPr marL="158750" indent="0">
              <a:buNone/>
            </a:pPr>
            <a:r>
              <a:rPr lang="en-SG" sz="1100" dirty="0"/>
              <a:t>standby 2 ip 193.75.14.134</a:t>
            </a:r>
          </a:p>
          <a:p>
            <a:pPr marL="158750" indent="0">
              <a:buNone/>
            </a:pPr>
            <a:r>
              <a:rPr lang="en-SG" sz="1100" dirty="0"/>
              <a:t>standby 2 priority 150</a:t>
            </a:r>
          </a:p>
          <a:p>
            <a:pPr marL="158750" indent="0">
              <a:buNone/>
            </a:pPr>
            <a:r>
              <a:rPr lang="en-SG" sz="1100" dirty="0"/>
              <a:t>standby 2 preempt</a:t>
            </a:r>
          </a:p>
          <a:p>
            <a:pPr marL="158750" indent="0">
              <a:buNone/>
            </a:pPr>
            <a:endParaRPr lang="en-SG" sz="1100" dirty="0"/>
          </a:p>
          <a:p>
            <a:pPr marL="158750" indent="0">
              <a:buNone/>
            </a:pPr>
            <a:r>
              <a:rPr lang="en-SG" sz="1100" dirty="0"/>
              <a:t>Commands of R7:</a:t>
            </a:r>
          </a:p>
          <a:p>
            <a:pPr marL="158750" indent="0">
              <a:buNone/>
            </a:pPr>
            <a:r>
              <a:rPr lang="en-SG" sz="1100" dirty="0"/>
              <a:t>int g0/0</a:t>
            </a:r>
          </a:p>
          <a:p>
            <a:pPr marL="158750" indent="0">
              <a:buNone/>
            </a:pPr>
            <a:r>
              <a:rPr lang="en-SG" sz="1100" dirty="0"/>
              <a:t>standby version 2</a:t>
            </a:r>
          </a:p>
          <a:p>
            <a:pPr marL="158750" indent="0">
              <a:buNone/>
            </a:pPr>
            <a:r>
              <a:rPr lang="en-SG" sz="1100" dirty="0"/>
              <a:t>standby 1 ip 193.75.14.126</a:t>
            </a:r>
          </a:p>
          <a:p>
            <a:pPr marL="158750" indent="0">
              <a:buNone/>
            </a:pPr>
            <a:r>
              <a:rPr lang="en-SG" sz="1100" dirty="0"/>
              <a:t>int g0/1</a:t>
            </a:r>
          </a:p>
          <a:p>
            <a:pPr marL="158750" indent="0">
              <a:buNone/>
            </a:pPr>
            <a:r>
              <a:rPr lang="en-SG" sz="1100" dirty="0"/>
              <a:t>standby version 2</a:t>
            </a:r>
          </a:p>
          <a:p>
            <a:pPr marL="158750" indent="0">
              <a:buNone/>
            </a:pPr>
            <a:r>
              <a:rPr lang="en-SG" sz="1100" dirty="0"/>
              <a:t>standby 2 ip 193.75.14.134</a:t>
            </a:r>
          </a:p>
          <a:p>
            <a:pPr marL="158750" indent="0">
              <a:buNone/>
            </a:pPr>
            <a:endParaRPr lang="en-SG" dirty="0"/>
          </a:p>
        </p:txBody>
      </p:sp>
    </p:spTree>
    <p:extLst>
      <p:ext uri="{BB962C8B-B14F-4D97-AF65-F5344CB8AC3E}">
        <p14:creationId xmlns:p14="http://schemas.microsoft.com/office/powerpoint/2010/main" val="1778400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SG" sz="1100" dirty="0"/>
              <a:t>https://www.router-switch.com/cisco2911-k9-p-156.html</a:t>
            </a:r>
          </a:p>
          <a:p>
            <a:pPr marL="158750" indent="0">
              <a:buNone/>
            </a:pPr>
            <a:r>
              <a:rPr lang="en-SG" sz="1100" dirty="0"/>
              <a:t>https://www.router-switch.com/hwic-2t-p-1105.html</a:t>
            </a:r>
          </a:p>
          <a:p>
            <a:pPr marL="158750" indent="0">
              <a:buNone/>
            </a:pPr>
            <a:r>
              <a:rPr lang="en-SG" sz="1100" dirty="0"/>
              <a:t>https://www.router-switch.com/ws-c2960-24lt-l-p-436.html</a:t>
            </a:r>
          </a:p>
          <a:p>
            <a:pPr marL="158750" indent="0">
              <a:buNone/>
            </a:pPr>
            <a:r>
              <a:rPr lang="en-SG" sz="1100" dirty="0"/>
              <a:t>https://www.router-switch.com/ws-c2960-48tc-l-p-434.html</a:t>
            </a:r>
          </a:p>
          <a:p>
            <a:pPr marL="158750" indent="0">
              <a:buNone/>
            </a:pPr>
            <a:r>
              <a:rPr lang="en-SG" sz="1100" dirty="0"/>
              <a:t>https://sg.rs-online.com/web/p/ethernet-cable/0557032</a:t>
            </a:r>
          </a:p>
          <a:p>
            <a:pPr marL="158750" indent="0">
              <a:buNone/>
            </a:pPr>
            <a:r>
              <a:rPr lang="en-SG" sz="1100" dirty="0"/>
              <a:t>https://www.router-switch.com/cab-ss-2626x-3-p-5680.html</a:t>
            </a:r>
          </a:p>
          <a:p>
            <a:pPr marL="158750" indent="0">
              <a:buNone/>
            </a:pPr>
            <a:endParaRPr lang="en-SG" dirty="0"/>
          </a:p>
        </p:txBody>
      </p:sp>
    </p:spTree>
    <p:extLst>
      <p:ext uri="{BB962C8B-B14F-4D97-AF65-F5344CB8AC3E}">
        <p14:creationId xmlns:p14="http://schemas.microsoft.com/office/powerpoint/2010/main" val="3380215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subTitle" idx="1"/>
          </p:nvPr>
        </p:nvSpPr>
        <p:spPr>
          <a:xfrm>
            <a:off x="4863950" y="22696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43" name="Google Shape;43;p7"/>
          <p:cNvSpPr txBox="1">
            <a:spLocks noGrp="1"/>
          </p:cNvSpPr>
          <p:nvPr>
            <p:ph type="title"/>
          </p:nvPr>
        </p:nvSpPr>
        <p:spPr>
          <a:xfrm>
            <a:off x="4863950" y="1696950"/>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7"/>
          <p:cNvSpPr/>
          <p:nvPr/>
        </p:nvSpPr>
        <p:spPr>
          <a:xfrm>
            <a:off x="101550" y="106200"/>
            <a:ext cx="8940900" cy="49311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6815230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4300"/>
              <a:buFont typeface="Bebas Neue"/>
              <a:buNone/>
              <a:defRPr sz="4300" b="1">
                <a:solidFill>
                  <a:schemeClr val="dk1"/>
                </a:solidFill>
                <a:latin typeface="Bebas Neue"/>
                <a:ea typeface="Bebas Neue"/>
                <a:cs typeface="Bebas Neue"/>
                <a:sym typeface="Bebas Neu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6234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verpass"/>
              <a:buChar char="●"/>
              <a:defRPr sz="1800">
                <a:solidFill>
                  <a:schemeClr val="dk1"/>
                </a:solidFill>
                <a:latin typeface="Overpass"/>
                <a:ea typeface="Overpass"/>
                <a:cs typeface="Overpass"/>
                <a:sym typeface="Overpass"/>
              </a:defRPr>
            </a:lvl1pPr>
            <a:lvl2pPr marL="914400" lvl="1"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2pPr>
            <a:lvl3pPr marL="1371600" lvl="2"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3pPr>
            <a:lvl4pPr marL="1828800" lvl="3"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4pPr>
            <a:lvl5pPr marL="2286000" lvl="4"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5pPr>
            <a:lvl6pPr marL="2743200" lvl="5"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6pPr>
            <a:lvl7pPr marL="3200400" lvl="6"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7pPr>
            <a:lvl8pPr marL="3657600" lvl="7" indent="-317500">
              <a:lnSpc>
                <a:spcPct val="115000"/>
              </a:lnSpc>
              <a:spcBef>
                <a:spcPts val="1600"/>
              </a:spcBef>
              <a:spcAft>
                <a:spcPts val="0"/>
              </a:spcAft>
              <a:buClr>
                <a:schemeClr val="dk1"/>
              </a:buClr>
              <a:buSzPts val="1400"/>
              <a:buFont typeface="Overpass"/>
              <a:buChar char="○"/>
              <a:defRPr>
                <a:solidFill>
                  <a:schemeClr val="dk1"/>
                </a:solidFill>
                <a:latin typeface="Overpass"/>
                <a:ea typeface="Overpass"/>
                <a:cs typeface="Overpass"/>
                <a:sym typeface="Overpass"/>
              </a:defRPr>
            </a:lvl8pPr>
            <a:lvl9pPr marL="4114800" lvl="8" indent="-317500">
              <a:lnSpc>
                <a:spcPct val="115000"/>
              </a:lnSpc>
              <a:spcBef>
                <a:spcPts val="1600"/>
              </a:spcBef>
              <a:spcAft>
                <a:spcPts val="1600"/>
              </a:spcAft>
              <a:buClr>
                <a:schemeClr val="dk1"/>
              </a:buClr>
              <a:buSzPts val="1400"/>
              <a:buFont typeface="Overpass"/>
              <a:buChar char="■"/>
              <a:defRPr>
                <a:solidFill>
                  <a:schemeClr val="dk1"/>
                </a:solidFill>
                <a:latin typeface="Overpass"/>
                <a:ea typeface="Overpass"/>
                <a:cs typeface="Overpass"/>
                <a:sym typeface="Overpass"/>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8" r:id="rId2"/>
    <p:sldLayoutId id="2147483710" r:id="rId3"/>
  </p:sldLayoutIdLst>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34717" y="411875"/>
            <a:ext cx="1485476" cy="946757"/>
          </a:xfrm>
          <a:prstGeom prst="rect">
            <a:avLst/>
          </a:prstGeom>
        </p:spPr>
      </p:pic>
      <p:pic>
        <p:nvPicPr>
          <p:cNvPr id="30" name="Picture 29"/>
          <p:cNvPicPr>
            <a:picLocks noChangeAspect="1"/>
          </p:cNvPicPr>
          <p:nvPr/>
        </p:nvPicPr>
        <p:blipFill rotWithShape="1">
          <a:blip r:embed="rId3"/>
          <a:srcRect l="8646" t="12924" r="16013" b="9596"/>
          <a:stretch/>
        </p:blipFill>
        <p:spPr>
          <a:xfrm>
            <a:off x="261669" y="1708608"/>
            <a:ext cx="907401" cy="933163"/>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358741" y="2178336"/>
            <a:ext cx="764069" cy="242958"/>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229553" y="119770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93845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91939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94229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6"/>
          <a:stretch>
            <a:fillRect/>
          </a:stretch>
        </p:blipFill>
        <p:spPr>
          <a:xfrm>
            <a:off x="1117269" y="1026690"/>
            <a:ext cx="146662" cy="209056"/>
          </a:xfrm>
          <a:prstGeom prst="rect">
            <a:avLst/>
          </a:prstGeom>
        </p:spPr>
      </p:pic>
      <p:pic>
        <p:nvPicPr>
          <p:cNvPr id="19" name="Picture 18"/>
          <p:cNvPicPr>
            <a:picLocks noChangeAspect="1"/>
          </p:cNvPicPr>
          <p:nvPr/>
        </p:nvPicPr>
        <p:blipFill>
          <a:blip r:embed="rId7"/>
          <a:stretch>
            <a:fillRect/>
          </a:stretch>
        </p:blipFill>
        <p:spPr>
          <a:xfrm>
            <a:off x="696723" y="1010339"/>
            <a:ext cx="201668" cy="191584"/>
          </a:xfrm>
          <a:prstGeom prst="rect">
            <a:avLst/>
          </a:prstGeom>
        </p:spPr>
      </p:pic>
      <p:pic>
        <p:nvPicPr>
          <p:cNvPr id="20" name="Picture 19"/>
          <p:cNvPicPr>
            <a:picLocks noChangeAspect="1"/>
          </p:cNvPicPr>
          <p:nvPr/>
        </p:nvPicPr>
        <p:blipFill>
          <a:blip r:embed="rId8"/>
          <a:stretch>
            <a:fillRect/>
          </a:stretch>
        </p:blipFill>
        <p:spPr>
          <a:xfrm>
            <a:off x="501437" y="103505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09239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4802868" y="325845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4" name="Rectangle 23"/>
          <p:cNvSpPr/>
          <p:nvPr/>
        </p:nvSpPr>
        <p:spPr>
          <a:xfrm>
            <a:off x="7144531" y="4454759"/>
            <a:ext cx="1865873" cy="184666"/>
          </a:xfrm>
          <a:prstGeom prst="rect">
            <a:avLst/>
          </a:prstGeom>
        </p:spPr>
        <p:txBody>
          <a:bodyPr wrap="square">
            <a:spAutoFit/>
          </a:bodyPr>
          <a:lstStyle/>
          <a:p>
            <a:r>
              <a:rPr lang="en-US" sz="600" dirty="0"/>
              <a:t>https://www.youtube.com/@AmelOline/videos</a:t>
            </a:r>
          </a:p>
        </p:txBody>
      </p:sp>
      <p:sp>
        <p:nvSpPr>
          <p:cNvPr id="25" name="Rectangle 24"/>
          <p:cNvSpPr/>
          <p:nvPr/>
        </p:nvSpPr>
        <p:spPr>
          <a:xfrm>
            <a:off x="7736428" y="4350885"/>
            <a:ext cx="1158923" cy="184666"/>
          </a:xfrm>
          <a:prstGeom prst="rect">
            <a:avLst/>
          </a:prstGeom>
        </p:spPr>
        <p:txBody>
          <a:bodyPr wrap="square">
            <a:spAutoFit/>
          </a:bodyPr>
          <a:lstStyle/>
          <a:p>
            <a:r>
              <a:rPr lang="en-US" sz="600" dirty="0"/>
              <a:t>https://github.com/siagianp</a:t>
            </a:r>
          </a:p>
        </p:txBody>
      </p:sp>
      <p:sp>
        <p:nvSpPr>
          <p:cNvPr id="26" name="Rectangle 25"/>
          <p:cNvSpPr/>
          <p:nvPr/>
        </p:nvSpPr>
        <p:spPr>
          <a:xfrm>
            <a:off x="6450302" y="4558634"/>
            <a:ext cx="2617882" cy="184666"/>
          </a:xfrm>
          <a:prstGeom prst="rect">
            <a:avLst/>
          </a:prstGeom>
        </p:spPr>
        <p:txBody>
          <a:bodyPr wrap="square">
            <a:spAutoFit/>
          </a:bodyPr>
          <a:lstStyle/>
          <a:p>
            <a:r>
              <a:rPr lang="en-US" sz="600" dirty="0"/>
              <a:t>https://github.com/amelcharolinesgn2/IoT_simulator-mqtt-NodeRed</a:t>
            </a:r>
          </a:p>
        </p:txBody>
      </p:sp>
      <p:sp>
        <p:nvSpPr>
          <p:cNvPr id="27" name="Rectangle 26"/>
          <p:cNvSpPr/>
          <p:nvPr/>
        </p:nvSpPr>
        <p:spPr>
          <a:xfrm>
            <a:off x="6756332" y="4662508"/>
            <a:ext cx="2311852" cy="184666"/>
          </a:xfrm>
          <a:prstGeom prst="rect">
            <a:avLst/>
          </a:prstGeom>
        </p:spPr>
        <p:txBody>
          <a:bodyPr wrap="square">
            <a:spAutoFit/>
          </a:bodyPr>
          <a:lstStyle/>
          <a:p>
            <a:r>
              <a:rPr lang="en-US" sz="600" dirty="0"/>
              <a:t>https://github.com/amelcharolinesgn2/Cloud-Infrastructures</a:t>
            </a:r>
          </a:p>
        </p:txBody>
      </p:sp>
      <p:sp>
        <p:nvSpPr>
          <p:cNvPr id="29" name="Rectangle 28"/>
          <p:cNvSpPr/>
          <p:nvPr/>
        </p:nvSpPr>
        <p:spPr>
          <a:xfrm>
            <a:off x="6377950" y="4749070"/>
            <a:ext cx="2766050" cy="184666"/>
          </a:xfrm>
          <a:prstGeom prst="rect">
            <a:avLst/>
          </a:prstGeom>
        </p:spPr>
        <p:txBody>
          <a:bodyPr wrap="square">
            <a:spAutoFit/>
          </a:bodyPr>
          <a:lstStyle/>
          <a:p>
            <a:r>
              <a:rPr lang="en-US" sz="600" dirty="0"/>
              <a:t>https://github.com/amelcharolinesgn2/ClouD-Infrastructure-SISKA-2025</a:t>
            </a:r>
          </a:p>
        </p:txBody>
      </p:sp>
      <p:sp>
        <p:nvSpPr>
          <p:cNvPr id="32" name="Rectangle 31"/>
          <p:cNvSpPr/>
          <p:nvPr/>
        </p:nvSpPr>
        <p:spPr>
          <a:xfrm>
            <a:off x="6236701" y="4847209"/>
            <a:ext cx="2831483" cy="184666"/>
          </a:xfrm>
          <a:prstGeom prst="rect">
            <a:avLst/>
          </a:prstGeom>
        </p:spPr>
        <p:txBody>
          <a:bodyPr wrap="square">
            <a:spAutoFit/>
          </a:bodyPr>
          <a:lstStyle/>
          <a:p>
            <a:r>
              <a:rPr lang="en-US" sz="600" dirty="0"/>
              <a:t>https://github.com/amelcharolinesgn2/Gyroscope-Sensor-Data-Accelerometer</a:t>
            </a:r>
          </a:p>
        </p:txBody>
      </p:sp>
      <p:sp>
        <p:nvSpPr>
          <p:cNvPr id="33" name="Title 2">
            <a:extLst>
              <a:ext uri="{FF2B5EF4-FFF2-40B4-BE49-F238E27FC236}">
                <a16:creationId xmlns:a16="http://schemas.microsoft.com/office/drawing/2014/main" id="{A580402E-87C3-AC75-6BA2-9DC78212AB3E}"/>
              </a:ext>
            </a:extLst>
          </p:cNvPr>
          <p:cNvSpPr>
            <a:spLocks noGrp="1"/>
          </p:cNvSpPr>
          <p:nvPr>
            <p:ph type="title"/>
          </p:nvPr>
        </p:nvSpPr>
        <p:spPr>
          <a:xfrm>
            <a:off x="1423164" y="1268565"/>
            <a:ext cx="7536747" cy="1936266"/>
          </a:xfrm>
          <a:solidFill>
            <a:srgbClr val="00B050"/>
          </a:solidFill>
        </p:spPr>
        <p:txBody>
          <a:bodyPr/>
          <a:lstStyle/>
          <a:p>
            <a:pPr algn="ctr"/>
            <a:r>
              <a:rPr lang="en-SG" sz="6000" dirty="0" smtClean="0"/>
              <a:t>Design </a:t>
            </a:r>
            <a:r>
              <a:rPr lang="en-SG" sz="6000" dirty="0" smtClean="0"/>
              <a:t>: </a:t>
            </a:r>
            <a:r>
              <a:rPr lang="en-SG" sz="6000" dirty="0" err="1" smtClean="0"/>
              <a:t>Vlsm</a:t>
            </a:r>
            <a:r>
              <a:rPr lang="en-SG" sz="6000" dirty="0" smtClean="0"/>
              <a:t> Network Scale</a:t>
            </a:r>
            <a:br>
              <a:rPr lang="en-SG" sz="6000" dirty="0" smtClean="0"/>
            </a:br>
            <a:r>
              <a:rPr lang="en-SG" sz="6000" dirty="0" smtClean="0"/>
              <a:t>For PT.ABC</a:t>
            </a:r>
            <a:r>
              <a:rPr lang="en-SG" sz="6000" dirty="0"/>
              <a:t/>
            </a:r>
            <a:br>
              <a:rPr lang="en-SG" sz="6000" dirty="0"/>
            </a:br>
            <a:endParaRPr lang="en-SG" sz="6000" dirty="0"/>
          </a:p>
        </p:txBody>
      </p:sp>
      <p:sp>
        <p:nvSpPr>
          <p:cNvPr id="3" name="Rectangle 2"/>
          <p:cNvSpPr/>
          <p:nvPr/>
        </p:nvSpPr>
        <p:spPr>
          <a:xfrm>
            <a:off x="1423164" y="3166046"/>
            <a:ext cx="4578497" cy="523220"/>
          </a:xfrm>
          <a:prstGeom prst="rect">
            <a:avLst/>
          </a:prstGeom>
        </p:spPr>
        <p:txBody>
          <a:bodyPr wrap="none">
            <a:spAutoFit/>
          </a:bodyPr>
          <a:lstStyle/>
          <a:p>
            <a:r>
              <a:rPr lang="nb-NO" sz="2800" dirty="0">
                <a:latin typeface="Bahnschrift SemiLight Condensed" panose="020B0502040204020203" pitchFamily="34" charset="0"/>
              </a:rPr>
              <a:t>Variable Length Subnet Mask (</a:t>
            </a:r>
            <a:r>
              <a:rPr lang="nb-NO" sz="2800" dirty="0" smtClean="0">
                <a:latin typeface="Bahnschrift SemiLight Condensed" panose="020B0502040204020203" pitchFamily="34" charset="0"/>
              </a:rPr>
              <a:t>VLSM)</a:t>
            </a:r>
            <a:r>
              <a:rPr lang="en-SG" sz="2800" dirty="0" smtClean="0">
                <a:latin typeface="Bahnschrift SemiLight Condensed" panose="020B0502040204020203" pitchFamily="34" charset="0"/>
              </a:rPr>
              <a:t> </a:t>
            </a:r>
            <a:endParaRPr lang="en-US" sz="2800" dirty="0">
              <a:latin typeface="Bahnschrift SemiLight Condensed" panose="020B0502040204020203" pitchFamily="34" charset="0"/>
            </a:endParaRPr>
          </a:p>
        </p:txBody>
      </p:sp>
    </p:spTree>
    <p:extLst>
      <p:ext uri="{BB962C8B-B14F-4D97-AF65-F5344CB8AC3E}">
        <p14:creationId xmlns:p14="http://schemas.microsoft.com/office/powerpoint/2010/main" val="11280468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Logical diagram</a:t>
            </a:r>
          </a:p>
        </p:txBody>
      </p:sp>
      <p:pic>
        <p:nvPicPr>
          <p:cNvPr id="11" name="Picture 10">
            <a:extLst>
              <a:ext uri="{FF2B5EF4-FFF2-40B4-BE49-F238E27FC236}">
                <a16:creationId xmlns:a16="http://schemas.microsoft.com/office/drawing/2014/main" id="{86B250AE-4FB2-113E-1FA7-8FA7388C50BB}"/>
              </a:ext>
            </a:extLst>
          </p:cNvPr>
          <p:cNvPicPr>
            <a:picLocks noChangeAspect="1"/>
          </p:cNvPicPr>
          <p:nvPr/>
        </p:nvPicPr>
        <p:blipFill>
          <a:blip r:embed="rId2"/>
          <a:stretch>
            <a:fillRect/>
          </a:stretch>
        </p:blipFill>
        <p:spPr>
          <a:xfrm>
            <a:off x="1612831" y="743712"/>
            <a:ext cx="5918337" cy="4277226"/>
          </a:xfrm>
          <a:prstGeom prst="rect">
            <a:avLst/>
          </a:prstGeom>
        </p:spPr>
      </p:pic>
    </p:spTree>
    <p:extLst>
      <p:ext uri="{BB962C8B-B14F-4D97-AF65-F5344CB8AC3E}">
        <p14:creationId xmlns:p14="http://schemas.microsoft.com/office/powerpoint/2010/main" val="7932761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vlsm Table</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3062826371"/>
              </p:ext>
            </p:extLst>
          </p:nvPr>
        </p:nvGraphicFramePr>
        <p:xfrm>
          <a:off x="161925" y="1767840"/>
          <a:ext cx="8820150" cy="3114040"/>
        </p:xfrm>
        <a:graphic>
          <a:graphicData uri="http://schemas.openxmlformats.org/drawingml/2006/table">
            <a:tbl>
              <a:tblPr firstRow="1" bandRow="1">
                <a:tableStyleId>{ED083AE6-46FA-4A59-8FB0-9F97EB10719F}</a:tableStyleId>
              </a:tblPr>
              <a:tblGrid>
                <a:gridCol w="1386459">
                  <a:extLst>
                    <a:ext uri="{9D8B030D-6E8A-4147-A177-3AD203B41FA5}">
                      <a16:colId xmlns:a16="http://schemas.microsoft.com/office/drawing/2014/main" val="2576075905"/>
                    </a:ext>
                  </a:extLst>
                </a:gridCol>
                <a:gridCol w="1719072">
                  <a:extLst>
                    <a:ext uri="{9D8B030D-6E8A-4147-A177-3AD203B41FA5}">
                      <a16:colId xmlns:a16="http://schemas.microsoft.com/office/drawing/2014/main" val="580063178"/>
                    </a:ext>
                  </a:extLst>
                </a:gridCol>
                <a:gridCol w="1804416">
                  <a:extLst>
                    <a:ext uri="{9D8B030D-6E8A-4147-A177-3AD203B41FA5}">
                      <a16:colId xmlns:a16="http://schemas.microsoft.com/office/drawing/2014/main" val="4100886750"/>
                    </a:ext>
                  </a:extLst>
                </a:gridCol>
                <a:gridCol w="1377696">
                  <a:extLst>
                    <a:ext uri="{9D8B030D-6E8A-4147-A177-3AD203B41FA5}">
                      <a16:colId xmlns:a16="http://schemas.microsoft.com/office/drawing/2014/main" val="3374195220"/>
                    </a:ext>
                  </a:extLst>
                </a:gridCol>
                <a:gridCol w="2532507">
                  <a:extLst>
                    <a:ext uri="{9D8B030D-6E8A-4147-A177-3AD203B41FA5}">
                      <a16:colId xmlns:a16="http://schemas.microsoft.com/office/drawing/2014/main" val="535616281"/>
                    </a:ext>
                  </a:extLst>
                </a:gridCol>
              </a:tblGrid>
              <a:tr h="370840">
                <a:tc>
                  <a:txBody>
                    <a:bodyPr/>
                    <a:lstStyle/>
                    <a:p>
                      <a:pPr algn="ctr"/>
                      <a:r>
                        <a:rPr lang="en-SG" b="1" dirty="0"/>
                        <a:t>Host Address Required</a:t>
                      </a:r>
                      <a:endParaRPr lang="en-SG" b="1" dirty="0">
                        <a:latin typeface="Overpass" panose="020B0604020202020204" charset="0"/>
                      </a:endParaRPr>
                    </a:p>
                  </a:txBody>
                  <a:tcPr/>
                </a:tc>
                <a:tc>
                  <a:txBody>
                    <a:bodyPr/>
                    <a:lstStyle/>
                    <a:p>
                      <a:pPr algn="ctr"/>
                      <a:r>
                        <a:rPr lang="en-SG" b="1" dirty="0"/>
                        <a:t>Network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tc>
                  <a:txBody>
                    <a:bodyPr/>
                    <a:lstStyle/>
                    <a:p>
                      <a:pPr algn="ctr"/>
                      <a:r>
                        <a:rPr lang="en-SG" b="1" dirty="0"/>
                        <a:t>Max Possible Host</a:t>
                      </a:r>
                      <a:endParaRPr lang="en-SG" b="1" dirty="0">
                        <a:latin typeface="Overpass" panose="020B0604020202020204" charset="0"/>
                      </a:endParaRPr>
                    </a:p>
                  </a:txBody>
                  <a:tcPr/>
                </a:tc>
                <a:tc>
                  <a:txBody>
                    <a:bodyPr/>
                    <a:lstStyle/>
                    <a:p>
                      <a:pPr algn="ctr"/>
                      <a:r>
                        <a:rPr lang="en-SG" b="1" dirty="0"/>
                        <a:t>Network Name</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50</a:t>
                      </a:r>
                      <a:endParaRPr lang="en-SG" dirty="0">
                        <a:latin typeface="Overpass" panose="020B0604020202020204" charset="0"/>
                      </a:endParaRPr>
                    </a:p>
                  </a:txBody>
                  <a:tcPr/>
                </a:tc>
                <a:tc>
                  <a:txBody>
                    <a:bodyPr/>
                    <a:lstStyle/>
                    <a:p>
                      <a:pPr algn="ctr"/>
                      <a:r>
                        <a:rPr lang="en-SG" dirty="0"/>
                        <a:t>193.75.14.0</a:t>
                      </a:r>
                      <a:endParaRPr lang="en-SG" dirty="0">
                        <a:latin typeface="Overpass" panose="020B0604020202020204" charset="0"/>
                      </a:endParaRPr>
                    </a:p>
                  </a:txBody>
                  <a:tcPr/>
                </a:tc>
                <a:tc>
                  <a:txBody>
                    <a:bodyPr/>
                    <a:lstStyle/>
                    <a:p>
                      <a:pPr algn="ctr"/>
                      <a:r>
                        <a:rPr lang="en-SG" dirty="0"/>
                        <a:t>255.255.255.192</a:t>
                      </a:r>
                      <a:endParaRPr lang="en-SG" dirty="0">
                        <a:latin typeface="Overpass" panose="020B0604020202020204" charset="0"/>
                      </a:endParaRPr>
                    </a:p>
                  </a:txBody>
                  <a:tcPr/>
                </a:tc>
                <a:tc>
                  <a:txBody>
                    <a:bodyPr/>
                    <a:lstStyle/>
                    <a:p>
                      <a:pPr algn="ctr"/>
                      <a:r>
                        <a:rPr lang="en-SG" dirty="0"/>
                        <a:t>62</a:t>
                      </a:r>
                      <a:endParaRPr lang="en-SG" dirty="0">
                        <a:latin typeface="Overpass" panose="020B0604020202020204" charset="0"/>
                      </a:endParaRPr>
                    </a:p>
                  </a:txBody>
                  <a:tcPr/>
                </a:tc>
                <a:tc>
                  <a:txBody>
                    <a:bodyPr/>
                    <a:lstStyle/>
                    <a:p>
                      <a:pPr algn="ctr"/>
                      <a:r>
                        <a:rPr lang="en-SG" dirty="0"/>
                        <a:t>Administration Department</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19</a:t>
                      </a:r>
                      <a:endParaRPr lang="en-SG" dirty="0">
                        <a:latin typeface="Overpass" panose="020B0604020202020204" charset="0"/>
                      </a:endParaRPr>
                    </a:p>
                  </a:txBody>
                  <a:tcPr/>
                </a:tc>
                <a:tc>
                  <a:txBody>
                    <a:bodyPr/>
                    <a:lstStyle/>
                    <a:p>
                      <a:pPr algn="ctr"/>
                      <a:r>
                        <a:rPr lang="en-SG" dirty="0"/>
                        <a:t>193.75.14.64</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255.255.255.224</a:t>
                      </a:r>
                      <a:endParaRPr lang="en-SG" dirty="0">
                        <a:latin typeface="Overpass" panose="020B0604020202020204" charset="0"/>
                      </a:endParaRPr>
                    </a:p>
                  </a:txBody>
                  <a:tcPr/>
                </a:tc>
                <a:tc>
                  <a:txBody>
                    <a:bodyPr/>
                    <a:lstStyle/>
                    <a:p>
                      <a:pPr algn="ctr"/>
                      <a:r>
                        <a:rPr lang="en-SG" dirty="0"/>
                        <a:t>30</a:t>
                      </a:r>
                      <a:endParaRPr lang="en-SG" dirty="0">
                        <a:latin typeface="Overpass" panose="020B0604020202020204" charset="0"/>
                      </a:endParaRPr>
                    </a:p>
                  </a:txBody>
                  <a:tcPr/>
                </a:tc>
                <a:tc>
                  <a:txBody>
                    <a:bodyPr/>
                    <a:lstStyle/>
                    <a:p>
                      <a:pPr algn="ctr"/>
                      <a:r>
                        <a:rPr lang="en-SG" dirty="0"/>
                        <a:t>Sale Office</a:t>
                      </a:r>
                      <a:endParaRPr lang="en-SG" dirty="0">
                        <a:latin typeface="Overpass" panose="020B0604020202020204" charset="0"/>
                      </a:endParaRPr>
                    </a:p>
                  </a:txBody>
                  <a:tcPr/>
                </a:tc>
                <a:extLst>
                  <a:ext uri="{0D108BD9-81ED-4DB2-BD59-A6C34878D82A}">
                    <a16:rowId xmlns:a16="http://schemas.microsoft.com/office/drawing/2014/main" val="2539257960"/>
                  </a:ext>
                </a:extLst>
              </a:tr>
              <a:tr h="370840">
                <a:tc>
                  <a:txBody>
                    <a:bodyPr/>
                    <a:lstStyle/>
                    <a:p>
                      <a:pPr algn="ctr"/>
                      <a:r>
                        <a:rPr lang="en-SG" dirty="0"/>
                        <a:t>11</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193.75.14.96</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255.255.255.240</a:t>
                      </a:r>
                      <a:endParaRPr lang="en-SG" dirty="0">
                        <a:latin typeface="Overpass" panose="020B0604020202020204" charset="0"/>
                      </a:endParaRPr>
                    </a:p>
                  </a:txBody>
                  <a:tcPr/>
                </a:tc>
                <a:tc>
                  <a:txBody>
                    <a:bodyPr/>
                    <a:lstStyle/>
                    <a:p>
                      <a:pPr algn="ctr"/>
                      <a:r>
                        <a:rPr lang="en-SG" dirty="0"/>
                        <a:t>14</a:t>
                      </a:r>
                      <a:endParaRPr lang="en-SG" dirty="0">
                        <a:latin typeface="Overpass" panose="020B0604020202020204" charset="0"/>
                      </a:endParaRPr>
                    </a:p>
                  </a:txBody>
                  <a:tcPr/>
                </a:tc>
                <a:tc>
                  <a:txBody>
                    <a:bodyPr/>
                    <a:lstStyle/>
                    <a:p>
                      <a:pPr algn="ctr"/>
                      <a:r>
                        <a:rPr lang="en-SG" dirty="0"/>
                        <a:t>Engineering Office</a:t>
                      </a:r>
                      <a:endParaRPr lang="en-SG" dirty="0">
                        <a:latin typeface="Overpass" panose="020B0604020202020204" charset="0"/>
                      </a:endParaRPr>
                    </a:p>
                  </a:txBody>
                  <a:tcPr/>
                </a:tc>
                <a:extLst>
                  <a:ext uri="{0D108BD9-81ED-4DB2-BD59-A6C34878D82A}">
                    <a16:rowId xmlns:a16="http://schemas.microsoft.com/office/drawing/2014/main" val="881600456"/>
                  </a:ext>
                </a:extLst>
              </a:tr>
              <a:tr h="370840">
                <a:tc>
                  <a:txBody>
                    <a:bodyPr/>
                    <a:lstStyle/>
                    <a:p>
                      <a:pPr algn="ctr"/>
                      <a:r>
                        <a:rPr lang="en-SG" dirty="0"/>
                        <a:t>9</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193.75.14.112</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255.255.255.240</a:t>
                      </a:r>
                      <a:endParaRPr lang="en-SG" dirty="0">
                        <a:latin typeface="Overpass" panose="020B0604020202020204" charset="0"/>
                      </a:endParaRPr>
                    </a:p>
                  </a:txBody>
                  <a:tcPr/>
                </a:tc>
                <a:tc>
                  <a:txBody>
                    <a:bodyPr/>
                    <a:lstStyle/>
                    <a:p>
                      <a:pPr algn="ctr"/>
                      <a:r>
                        <a:rPr lang="en-SG" dirty="0"/>
                        <a:t>14</a:t>
                      </a:r>
                      <a:endParaRPr lang="en-SG" dirty="0">
                        <a:latin typeface="Overpass" panose="020B0604020202020204" charset="0"/>
                      </a:endParaRPr>
                    </a:p>
                  </a:txBody>
                  <a:tcPr/>
                </a:tc>
                <a:tc>
                  <a:txBody>
                    <a:bodyPr/>
                    <a:lstStyle/>
                    <a:p>
                      <a:pPr algn="ctr"/>
                      <a:r>
                        <a:rPr lang="en-SG" dirty="0"/>
                        <a:t>Servers</a:t>
                      </a:r>
                      <a:endParaRPr lang="en-SG" dirty="0">
                        <a:latin typeface="Overpass" panose="020B0604020202020204" charset="0"/>
                      </a:endParaRPr>
                    </a:p>
                  </a:txBody>
                  <a:tcPr/>
                </a:tc>
                <a:extLst>
                  <a:ext uri="{0D108BD9-81ED-4DB2-BD59-A6C34878D82A}">
                    <a16:rowId xmlns:a16="http://schemas.microsoft.com/office/drawing/2014/main" val="1798893746"/>
                  </a:ext>
                </a:extLst>
              </a:tr>
              <a:tr h="370840">
                <a:tc>
                  <a:txBody>
                    <a:bodyPr/>
                    <a:lstStyle/>
                    <a:p>
                      <a:pPr algn="ctr"/>
                      <a:r>
                        <a:rPr lang="en-SG" dirty="0"/>
                        <a:t>5</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193.75.14.128</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255.255.255.248</a:t>
                      </a:r>
                      <a:endParaRPr lang="en-SG" dirty="0">
                        <a:latin typeface="Overpass" panose="020B0604020202020204" charset="0"/>
                      </a:endParaRPr>
                    </a:p>
                  </a:txBody>
                  <a:tcPr/>
                </a:tc>
                <a:tc>
                  <a:txBody>
                    <a:bodyPr/>
                    <a:lstStyle/>
                    <a:p>
                      <a:pPr algn="ctr"/>
                      <a:r>
                        <a:rPr lang="en-SG" dirty="0"/>
                        <a:t>6</a:t>
                      </a:r>
                      <a:endParaRPr lang="en-SG" dirty="0">
                        <a:latin typeface="Overpass" panose="020B0604020202020204" charset="0"/>
                      </a:endParaRPr>
                    </a:p>
                  </a:txBody>
                  <a:tcPr/>
                </a:tc>
                <a:tc>
                  <a:txBody>
                    <a:bodyPr/>
                    <a:lstStyle/>
                    <a:p>
                      <a:pPr algn="ctr"/>
                      <a:r>
                        <a:rPr lang="en-SG" dirty="0"/>
                        <a:t>Routers Link</a:t>
                      </a:r>
                      <a:endParaRPr lang="en-SG" dirty="0">
                        <a:latin typeface="Overpass" panose="020B0604020202020204" charset="0"/>
                      </a:endParaRPr>
                    </a:p>
                  </a:txBody>
                  <a:tcPr/>
                </a:tc>
                <a:extLst>
                  <a:ext uri="{0D108BD9-81ED-4DB2-BD59-A6C34878D82A}">
                    <a16:rowId xmlns:a16="http://schemas.microsoft.com/office/drawing/2014/main" val="736670405"/>
                  </a:ext>
                </a:extLst>
              </a:tr>
              <a:tr h="370840">
                <a:tc>
                  <a:txBody>
                    <a:bodyPr/>
                    <a:lstStyle/>
                    <a:p>
                      <a:pPr algn="ctr"/>
                      <a:r>
                        <a:rPr lang="en-SG" dirty="0"/>
                        <a:t>2</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193.75.14.136</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255.255.255.252</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dirty="0"/>
                        <a:t>R3 and R4</a:t>
                      </a:r>
                      <a:endParaRPr lang="en-SG" dirty="0">
                        <a:latin typeface="Overpass" panose="020B0604020202020204" charset="0"/>
                      </a:endParaRPr>
                    </a:p>
                  </a:txBody>
                  <a:tcPr/>
                </a:tc>
                <a:extLst>
                  <a:ext uri="{0D108BD9-81ED-4DB2-BD59-A6C34878D82A}">
                    <a16:rowId xmlns:a16="http://schemas.microsoft.com/office/drawing/2014/main" val="4127764834"/>
                  </a:ext>
                </a:extLst>
              </a:tr>
              <a:tr h="370840">
                <a:tc>
                  <a:txBody>
                    <a:bodyPr/>
                    <a:lstStyle/>
                    <a:p>
                      <a:pPr algn="ctr"/>
                      <a:r>
                        <a:rPr lang="en-SG" dirty="0"/>
                        <a:t>2</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193.75.14.140</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255.255.255.252</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dirty="0"/>
                        <a:t>R4 and R6</a:t>
                      </a:r>
                      <a:endParaRPr lang="en-SG" dirty="0">
                        <a:latin typeface="Overpass" panose="020B0604020202020204" charset="0"/>
                      </a:endParaRPr>
                    </a:p>
                  </a:txBody>
                  <a:tcPr/>
                </a:tc>
                <a:extLst>
                  <a:ext uri="{0D108BD9-81ED-4DB2-BD59-A6C34878D82A}">
                    <a16:rowId xmlns:a16="http://schemas.microsoft.com/office/drawing/2014/main" val="1575568384"/>
                  </a:ext>
                </a:extLst>
              </a:tr>
            </a:tbl>
          </a:graphicData>
        </a:graphic>
      </p:graphicFrame>
      <p:sp>
        <p:nvSpPr>
          <p:cNvPr id="6" name="TextBox 5">
            <a:extLst>
              <a:ext uri="{FF2B5EF4-FFF2-40B4-BE49-F238E27FC236}">
                <a16:creationId xmlns:a16="http://schemas.microsoft.com/office/drawing/2014/main" id="{9F13CCFE-65D1-EA72-99FF-BB3F4FE6A221}"/>
              </a:ext>
            </a:extLst>
          </p:cNvPr>
          <p:cNvSpPr txBox="1"/>
          <p:nvPr/>
        </p:nvSpPr>
        <p:spPr>
          <a:xfrm>
            <a:off x="161925" y="739246"/>
            <a:ext cx="8820150" cy="923330"/>
          </a:xfrm>
          <a:prstGeom prst="rect">
            <a:avLst/>
          </a:prstGeom>
          <a:noFill/>
        </p:spPr>
        <p:txBody>
          <a:bodyPr wrap="square" rtlCol="0">
            <a:spAutoFit/>
          </a:bodyPr>
          <a:lstStyle/>
          <a:p>
            <a:r>
              <a:rPr lang="en-SG" sz="1800" dirty="0">
                <a:latin typeface="+mj-lt"/>
              </a:rPr>
              <a:t>Host Address Required for Employees is multiplied by 2 because company expect </a:t>
            </a:r>
            <a:r>
              <a:rPr lang="en-US" sz="1800" dirty="0">
                <a:latin typeface="+mj-lt"/>
              </a:rPr>
              <a:t>100% growth. Additional IP is also required for router interface connecting to employees and servers. Furthermore, HSRP required additional IP addresses.</a:t>
            </a:r>
            <a:endParaRPr lang="en-SG" sz="1800" dirty="0">
              <a:latin typeface="+mj-lt"/>
            </a:endParaRPr>
          </a:p>
        </p:txBody>
      </p:sp>
    </p:spTree>
    <p:extLst>
      <p:ext uri="{BB962C8B-B14F-4D97-AF65-F5344CB8AC3E}">
        <p14:creationId xmlns:p14="http://schemas.microsoft.com/office/powerpoint/2010/main" val="21524489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ISP and hsrp Table</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549209729"/>
              </p:ext>
            </p:extLst>
          </p:nvPr>
        </p:nvGraphicFramePr>
        <p:xfrm>
          <a:off x="161925" y="1555750"/>
          <a:ext cx="8820150" cy="1259840"/>
        </p:xfrm>
        <a:graphic>
          <a:graphicData uri="http://schemas.openxmlformats.org/drawingml/2006/table">
            <a:tbl>
              <a:tblPr firstRow="1" bandRow="1">
                <a:tableStyleId>{ED083AE6-46FA-4A59-8FB0-9F97EB10719F}</a:tableStyleId>
              </a:tblPr>
              <a:tblGrid>
                <a:gridCol w="1386459">
                  <a:extLst>
                    <a:ext uri="{9D8B030D-6E8A-4147-A177-3AD203B41FA5}">
                      <a16:colId xmlns:a16="http://schemas.microsoft.com/office/drawing/2014/main" val="2576075905"/>
                    </a:ext>
                  </a:extLst>
                </a:gridCol>
                <a:gridCol w="1719072">
                  <a:extLst>
                    <a:ext uri="{9D8B030D-6E8A-4147-A177-3AD203B41FA5}">
                      <a16:colId xmlns:a16="http://schemas.microsoft.com/office/drawing/2014/main" val="580063178"/>
                    </a:ext>
                  </a:extLst>
                </a:gridCol>
                <a:gridCol w="1804416">
                  <a:extLst>
                    <a:ext uri="{9D8B030D-6E8A-4147-A177-3AD203B41FA5}">
                      <a16:colId xmlns:a16="http://schemas.microsoft.com/office/drawing/2014/main" val="4100886750"/>
                    </a:ext>
                  </a:extLst>
                </a:gridCol>
                <a:gridCol w="1377696">
                  <a:extLst>
                    <a:ext uri="{9D8B030D-6E8A-4147-A177-3AD203B41FA5}">
                      <a16:colId xmlns:a16="http://schemas.microsoft.com/office/drawing/2014/main" val="3374195220"/>
                    </a:ext>
                  </a:extLst>
                </a:gridCol>
                <a:gridCol w="2532507">
                  <a:extLst>
                    <a:ext uri="{9D8B030D-6E8A-4147-A177-3AD203B41FA5}">
                      <a16:colId xmlns:a16="http://schemas.microsoft.com/office/drawing/2014/main" val="535616281"/>
                    </a:ext>
                  </a:extLst>
                </a:gridCol>
              </a:tblGrid>
              <a:tr h="370840">
                <a:tc>
                  <a:txBody>
                    <a:bodyPr/>
                    <a:lstStyle/>
                    <a:p>
                      <a:pPr algn="ctr"/>
                      <a:r>
                        <a:rPr lang="en-SG" b="1" dirty="0"/>
                        <a:t>Host Address Required</a:t>
                      </a:r>
                      <a:endParaRPr lang="en-SG" b="1" dirty="0">
                        <a:latin typeface="Overpass" panose="020B0604020202020204" charset="0"/>
                      </a:endParaRPr>
                    </a:p>
                  </a:txBody>
                  <a:tcPr/>
                </a:tc>
                <a:tc>
                  <a:txBody>
                    <a:bodyPr/>
                    <a:lstStyle/>
                    <a:p>
                      <a:pPr algn="ctr"/>
                      <a:r>
                        <a:rPr lang="en-SG" b="1" dirty="0"/>
                        <a:t>Network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tc>
                  <a:txBody>
                    <a:bodyPr/>
                    <a:lstStyle/>
                    <a:p>
                      <a:pPr algn="ctr"/>
                      <a:r>
                        <a:rPr lang="en-SG" b="1" dirty="0"/>
                        <a:t>Max Possible Host</a:t>
                      </a:r>
                      <a:endParaRPr lang="en-SG" b="1" dirty="0">
                        <a:latin typeface="Overpass" panose="020B0604020202020204" charset="0"/>
                      </a:endParaRPr>
                    </a:p>
                  </a:txBody>
                  <a:tcPr/>
                </a:tc>
                <a:tc>
                  <a:txBody>
                    <a:bodyPr/>
                    <a:lstStyle/>
                    <a:p>
                      <a:pPr algn="ctr"/>
                      <a:r>
                        <a:rPr lang="en-SG" b="1" dirty="0"/>
                        <a:t>Network Name</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2</a:t>
                      </a:r>
                      <a:endParaRPr lang="en-SG" dirty="0">
                        <a:latin typeface="Overpass" panose="020B0604020202020204" charset="0"/>
                      </a:endParaRPr>
                    </a:p>
                  </a:txBody>
                  <a:tcPr/>
                </a:tc>
                <a:tc>
                  <a:txBody>
                    <a:bodyPr/>
                    <a:lstStyle/>
                    <a:p>
                      <a:pPr algn="ctr"/>
                      <a:r>
                        <a:rPr lang="en-SG" dirty="0"/>
                        <a:t>220.220.114.0</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255.255.255.252</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dirty="0"/>
                        <a:t>ISP Link 1</a:t>
                      </a:r>
                      <a:endParaRPr lang="en-SG" dirty="0">
                        <a:latin typeface="Overpass" panose="020B0604020202020204" charset="0"/>
                      </a:endParaRPr>
                    </a:p>
                  </a:txBody>
                  <a:tcPr/>
                </a:tc>
                <a:extLst>
                  <a:ext uri="{0D108BD9-81ED-4DB2-BD59-A6C34878D82A}">
                    <a16:rowId xmlns:a16="http://schemas.microsoft.com/office/drawing/2014/main" val="3869257328"/>
                  </a:ext>
                </a:extLst>
              </a:tr>
              <a:tr h="370840">
                <a:tc>
                  <a:txBody>
                    <a:bodyPr/>
                    <a:lstStyle/>
                    <a:p>
                      <a:pPr algn="ctr"/>
                      <a:r>
                        <a:rPr lang="en-SG" dirty="0"/>
                        <a:t>2</a:t>
                      </a:r>
                      <a:endParaRPr lang="en-SG" dirty="0">
                        <a:latin typeface="Overpass" panose="020B0604020202020204" charset="0"/>
                      </a:endParaRPr>
                    </a:p>
                  </a:txBody>
                  <a:tcPr/>
                </a:tc>
                <a:tc>
                  <a:txBody>
                    <a:bodyPr/>
                    <a:lstStyle/>
                    <a:p>
                      <a:pPr algn="ctr"/>
                      <a:r>
                        <a:rPr lang="en-SG" dirty="0"/>
                        <a:t>220.220.114.4</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255.255.255.252</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dirty="0"/>
                        <a:t>ISP Link 2</a:t>
                      </a:r>
                      <a:endParaRPr lang="en-SG" dirty="0">
                        <a:latin typeface="Overpass" panose="020B0604020202020204" charset="0"/>
                      </a:endParaRPr>
                    </a:p>
                  </a:txBody>
                  <a:tcPr/>
                </a:tc>
                <a:extLst>
                  <a:ext uri="{0D108BD9-81ED-4DB2-BD59-A6C34878D82A}">
                    <a16:rowId xmlns:a16="http://schemas.microsoft.com/office/drawing/2014/main" val="809928065"/>
                  </a:ext>
                </a:extLst>
              </a:tr>
            </a:tbl>
          </a:graphicData>
        </a:graphic>
      </p:graphicFrame>
      <p:sp>
        <p:nvSpPr>
          <p:cNvPr id="3" name="TextBox 2">
            <a:extLst>
              <a:ext uri="{FF2B5EF4-FFF2-40B4-BE49-F238E27FC236}">
                <a16:creationId xmlns:a16="http://schemas.microsoft.com/office/drawing/2014/main" id="{DB658310-E649-04ED-5CAC-C2AD661E9952}"/>
              </a:ext>
            </a:extLst>
          </p:cNvPr>
          <p:cNvSpPr txBox="1"/>
          <p:nvPr/>
        </p:nvSpPr>
        <p:spPr>
          <a:xfrm>
            <a:off x="161925" y="739246"/>
            <a:ext cx="8820150" cy="646331"/>
          </a:xfrm>
          <a:prstGeom prst="rect">
            <a:avLst/>
          </a:prstGeom>
          <a:noFill/>
        </p:spPr>
        <p:txBody>
          <a:bodyPr wrap="square" rtlCol="0">
            <a:spAutoFit/>
          </a:bodyPr>
          <a:lstStyle/>
          <a:p>
            <a:r>
              <a:rPr lang="en-SG" sz="1800" dirty="0">
                <a:latin typeface="+mj-lt"/>
              </a:rPr>
              <a:t>To </a:t>
            </a:r>
            <a:r>
              <a:rPr lang="en-US" sz="1800" dirty="0">
                <a:latin typeface="+mj-lt"/>
              </a:rPr>
              <a:t>ensure network redundancy for Internet Service Provider (ISP) an additional Router R7 is added, ISP Link 2 is for Router R7. </a:t>
            </a:r>
            <a:endParaRPr lang="en-SG" sz="1800" dirty="0">
              <a:latin typeface="+mj-lt"/>
            </a:endParaRPr>
          </a:p>
        </p:txBody>
      </p:sp>
      <p:graphicFrame>
        <p:nvGraphicFramePr>
          <p:cNvPr id="2" name="Table 1">
            <a:extLst>
              <a:ext uri="{FF2B5EF4-FFF2-40B4-BE49-F238E27FC236}">
                <a16:creationId xmlns:a16="http://schemas.microsoft.com/office/drawing/2014/main" id="{07CEF6A5-F99E-0763-C39C-B6ACAC6C90A2}"/>
              </a:ext>
            </a:extLst>
          </p:cNvPr>
          <p:cNvGraphicFramePr>
            <a:graphicFrameLocks noGrp="1"/>
          </p:cNvGraphicFramePr>
          <p:nvPr>
            <p:extLst>
              <p:ext uri="{D42A27DB-BD31-4B8C-83A1-F6EECF244321}">
                <p14:modId xmlns:p14="http://schemas.microsoft.com/office/powerpoint/2010/main" val="2879309457"/>
              </p:ext>
            </p:extLst>
          </p:nvPr>
        </p:nvGraphicFramePr>
        <p:xfrm>
          <a:off x="1051425" y="3291734"/>
          <a:ext cx="7041149" cy="1259840"/>
        </p:xfrm>
        <a:graphic>
          <a:graphicData uri="http://schemas.openxmlformats.org/drawingml/2006/table">
            <a:tbl>
              <a:tblPr firstRow="1" bandRow="1">
                <a:tableStyleId>{ED083AE6-46FA-4A59-8FB0-9F97EB10719F}</a:tableStyleId>
              </a:tblPr>
              <a:tblGrid>
                <a:gridCol w="1249680">
                  <a:extLst>
                    <a:ext uri="{9D8B030D-6E8A-4147-A177-3AD203B41FA5}">
                      <a16:colId xmlns:a16="http://schemas.microsoft.com/office/drawing/2014/main" val="3096894593"/>
                    </a:ext>
                  </a:extLst>
                </a:gridCol>
                <a:gridCol w="863917">
                  <a:extLst>
                    <a:ext uri="{9D8B030D-6E8A-4147-A177-3AD203B41FA5}">
                      <a16:colId xmlns:a16="http://schemas.microsoft.com/office/drawing/2014/main" val="1888015971"/>
                    </a:ext>
                  </a:extLst>
                </a:gridCol>
                <a:gridCol w="2463776">
                  <a:extLst>
                    <a:ext uri="{9D8B030D-6E8A-4147-A177-3AD203B41FA5}">
                      <a16:colId xmlns:a16="http://schemas.microsoft.com/office/drawing/2014/main" val="629636095"/>
                    </a:ext>
                  </a:extLst>
                </a:gridCol>
                <a:gridCol w="2463776">
                  <a:extLst>
                    <a:ext uri="{9D8B030D-6E8A-4147-A177-3AD203B41FA5}">
                      <a16:colId xmlns:a16="http://schemas.microsoft.com/office/drawing/2014/main" val="1592667727"/>
                    </a:ext>
                  </a:extLst>
                </a:gridCol>
              </a:tblGrid>
              <a:tr h="370840">
                <a:tc>
                  <a:txBody>
                    <a:bodyPr/>
                    <a:lstStyle/>
                    <a:p>
                      <a:pPr algn="ctr"/>
                      <a:r>
                        <a:rPr lang="en-SG" b="1" dirty="0"/>
                        <a:t>HSRP Group</a:t>
                      </a:r>
                      <a:endParaRPr lang="en-SG" b="1" dirty="0">
                        <a:latin typeface="Overpass" panose="020B0604020202020204" charset="0"/>
                      </a:endParaRPr>
                    </a:p>
                  </a:txBody>
                  <a:tcPr/>
                </a:tc>
                <a:tc>
                  <a:txBody>
                    <a:bodyPr/>
                    <a:lstStyle/>
                    <a:p>
                      <a:pPr algn="ctr"/>
                      <a:r>
                        <a:rPr lang="en-SG" b="1" dirty="0"/>
                        <a:t>Version</a:t>
                      </a:r>
                      <a:endParaRPr lang="en-SG" b="1" dirty="0">
                        <a:latin typeface="Overpass" panose="020B0604020202020204" charset="0"/>
                      </a:endParaRPr>
                    </a:p>
                  </a:txBody>
                  <a:tcPr/>
                </a:tc>
                <a:tc>
                  <a:txBody>
                    <a:bodyPr/>
                    <a:lstStyle/>
                    <a:p>
                      <a:pPr algn="ctr"/>
                      <a:r>
                        <a:rPr lang="en-SG" b="1" dirty="0"/>
                        <a:t>Virtual IP</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extLst>
                  <a:ext uri="{0D108BD9-81ED-4DB2-BD59-A6C34878D82A}">
                    <a16:rowId xmlns:a16="http://schemas.microsoft.com/office/drawing/2014/main" val="1593468827"/>
                  </a:ext>
                </a:extLst>
              </a:tr>
              <a:tr h="370840">
                <a:tc>
                  <a:txBody>
                    <a:bodyPr/>
                    <a:lstStyle/>
                    <a:p>
                      <a:pPr algn="ctr"/>
                      <a:r>
                        <a:rPr lang="en-SG" dirty="0"/>
                        <a:t>standby 1</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dirty="0"/>
                        <a:t>193.75.14.126</a:t>
                      </a:r>
                      <a:endParaRPr lang="en-SG" dirty="0">
                        <a:latin typeface="Overpass" panose="020B0604020202020204" charset="0"/>
                      </a:endParaRPr>
                    </a:p>
                  </a:txBody>
                  <a:tcPr/>
                </a:tc>
                <a:tc>
                  <a:txBody>
                    <a:bodyPr/>
                    <a:lstStyle/>
                    <a:p>
                      <a:pPr algn="ctr"/>
                      <a:r>
                        <a:rPr lang="en-SG" dirty="0"/>
                        <a:t>Connecting to Servers</a:t>
                      </a:r>
                      <a:endParaRPr lang="en-SG" dirty="0">
                        <a:latin typeface="Overpass" panose="020B0604020202020204" charset="0"/>
                      </a:endParaRPr>
                    </a:p>
                  </a:txBody>
                  <a:tcPr/>
                </a:tc>
                <a:extLst>
                  <a:ext uri="{0D108BD9-81ED-4DB2-BD59-A6C34878D82A}">
                    <a16:rowId xmlns:a16="http://schemas.microsoft.com/office/drawing/2014/main" val="4226988910"/>
                  </a:ext>
                </a:extLst>
              </a:tr>
              <a:tr h="370840">
                <a:tc>
                  <a:txBody>
                    <a:bodyPr/>
                    <a:lstStyle/>
                    <a:p>
                      <a:pPr algn="ctr"/>
                      <a:r>
                        <a:rPr lang="en-SG" dirty="0"/>
                        <a:t>standby 2</a:t>
                      </a:r>
                      <a:endParaRPr lang="en-SG" dirty="0">
                        <a:latin typeface="Overpass" panose="020B0604020202020204" charset="0"/>
                      </a:endParaRPr>
                    </a:p>
                  </a:txBody>
                  <a:tcPr/>
                </a:tc>
                <a:tc>
                  <a:txBody>
                    <a:bodyPr/>
                    <a:lstStyle/>
                    <a:p>
                      <a:pPr algn="ctr"/>
                      <a:r>
                        <a:rPr lang="en-SG" dirty="0"/>
                        <a:t>2</a:t>
                      </a:r>
                      <a:endParaRPr lang="en-SG" dirty="0">
                        <a:latin typeface="Overpass" panose="020B0604020202020204" charset="0"/>
                      </a:endParaRPr>
                    </a:p>
                  </a:txBody>
                  <a:tcPr/>
                </a:tc>
                <a:tc>
                  <a:txBody>
                    <a:bodyPr/>
                    <a:lstStyle/>
                    <a:p>
                      <a:pPr algn="ctr"/>
                      <a:r>
                        <a:rPr lang="en-SG" sz="1400" b="0" u="none" strike="noStrike" cap="none" dirty="0">
                          <a:solidFill>
                            <a:srgbClr val="000000"/>
                          </a:solidFill>
                          <a:effectLst/>
                          <a:sym typeface="Arial"/>
                        </a:rPr>
                        <a:t>193.75.14.134</a:t>
                      </a:r>
                      <a:endParaRPr lang="en-SG" dirty="0">
                        <a:latin typeface="Overpass" panose="020B0604020202020204" charset="0"/>
                      </a:endParaRPr>
                    </a:p>
                  </a:txBody>
                  <a:tcPr/>
                </a:tc>
                <a:tc>
                  <a:txBody>
                    <a:bodyPr/>
                    <a:lstStyle/>
                    <a:p>
                      <a:pPr algn="ctr"/>
                      <a:r>
                        <a:rPr lang="en-SG" dirty="0"/>
                        <a:t>Connecting to Routers Link</a:t>
                      </a:r>
                      <a:endParaRPr lang="en-SG" dirty="0">
                        <a:latin typeface="Overpass" panose="020B0604020202020204" charset="0"/>
                      </a:endParaRPr>
                    </a:p>
                  </a:txBody>
                  <a:tcPr/>
                </a:tc>
                <a:extLst>
                  <a:ext uri="{0D108BD9-81ED-4DB2-BD59-A6C34878D82A}">
                    <a16:rowId xmlns:a16="http://schemas.microsoft.com/office/drawing/2014/main" val="2893900316"/>
                  </a:ext>
                </a:extLst>
              </a:tr>
            </a:tbl>
          </a:graphicData>
        </a:graphic>
      </p:graphicFrame>
    </p:spTree>
    <p:extLst>
      <p:ext uri="{BB962C8B-B14F-4D97-AF65-F5344CB8AC3E}">
        <p14:creationId xmlns:p14="http://schemas.microsoft.com/office/powerpoint/2010/main" val="39157687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3417086668"/>
              </p:ext>
            </p:extLst>
          </p:nvPr>
        </p:nvGraphicFramePr>
        <p:xfrm>
          <a:off x="237743" y="1830070"/>
          <a:ext cx="8668513" cy="1483360"/>
        </p:xfrm>
        <a:graphic>
          <a:graphicData uri="http://schemas.openxmlformats.org/drawingml/2006/table">
            <a:tbl>
              <a:tblPr firstRow="1" bandRow="1">
                <a:tableStyleId>{ED083AE6-46FA-4A59-8FB0-9F97EB10719F}</a:tableStyleId>
              </a:tblPr>
              <a:tblGrid>
                <a:gridCol w="1001186">
                  <a:extLst>
                    <a:ext uri="{9D8B030D-6E8A-4147-A177-3AD203B41FA5}">
                      <a16:colId xmlns:a16="http://schemas.microsoft.com/office/drawing/2014/main" val="2576075905"/>
                    </a:ext>
                  </a:extLst>
                </a:gridCol>
                <a:gridCol w="1357967">
                  <a:extLst>
                    <a:ext uri="{9D8B030D-6E8A-4147-A177-3AD203B41FA5}">
                      <a16:colId xmlns:a16="http://schemas.microsoft.com/office/drawing/2014/main" val="580063178"/>
                    </a:ext>
                  </a:extLst>
                </a:gridCol>
                <a:gridCol w="1274389">
                  <a:extLst>
                    <a:ext uri="{9D8B030D-6E8A-4147-A177-3AD203B41FA5}">
                      <a16:colId xmlns:a16="http://schemas.microsoft.com/office/drawing/2014/main" val="4100886750"/>
                    </a:ext>
                  </a:extLst>
                </a:gridCol>
                <a:gridCol w="1285931">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Internet             Router Name: R1</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s0/0/0</a:t>
                      </a:r>
                      <a:endParaRPr lang="en-SG" dirty="0">
                        <a:latin typeface="Overpass" panose="020B0604020202020204" charset="0"/>
                      </a:endParaRPr>
                    </a:p>
                  </a:txBody>
                  <a:tcPr/>
                </a:tc>
                <a:tc>
                  <a:txBody>
                    <a:bodyPr/>
                    <a:lstStyle/>
                    <a:p>
                      <a:pPr algn="ctr"/>
                      <a:r>
                        <a:rPr lang="en-SG" dirty="0"/>
                        <a:t>R1 to R2</a:t>
                      </a:r>
                      <a:endParaRPr lang="en-SG" dirty="0">
                        <a:latin typeface="Overpass" panose="020B0604020202020204" charset="0"/>
                      </a:endParaRPr>
                    </a:p>
                  </a:txBody>
                  <a:tcPr/>
                </a:tc>
                <a:tc>
                  <a:txBody>
                    <a:bodyPr/>
                    <a:lstStyle/>
                    <a:p>
                      <a:pPr algn="ctr"/>
                      <a:r>
                        <a:rPr lang="en-SG" dirty="0"/>
                        <a:t>DCE 64000</a:t>
                      </a:r>
                      <a:endParaRPr lang="en-SG" dirty="0">
                        <a:latin typeface="Overpass" panose="020B0604020202020204" charset="0"/>
                      </a:endParaRPr>
                    </a:p>
                  </a:txBody>
                  <a:tcPr/>
                </a:tc>
                <a:tc>
                  <a:txBody>
                    <a:bodyPr/>
                    <a:lstStyle/>
                    <a:p>
                      <a:pPr algn="ctr"/>
                      <a:r>
                        <a:rPr lang="en-SG" dirty="0"/>
                        <a:t>ISP Link 1</a:t>
                      </a:r>
                      <a:endParaRPr lang="en-SG" dirty="0">
                        <a:latin typeface="Overpass" panose="020B0604020202020204" charset="0"/>
                      </a:endParaRPr>
                    </a:p>
                  </a:txBody>
                  <a:tcPr/>
                </a:tc>
                <a:tc>
                  <a:txBody>
                    <a:bodyPr/>
                    <a:lstStyle/>
                    <a:p>
                      <a:pPr algn="ctr"/>
                      <a:r>
                        <a:rPr lang="en-SG" dirty="0"/>
                        <a:t>220.220.114.1</a:t>
                      </a:r>
                      <a:endParaRPr lang="en-SG" dirty="0">
                        <a:latin typeface="Overpass" panose="020B0604020202020204" charset="0"/>
                      </a:endParaRPr>
                    </a:p>
                  </a:txBody>
                  <a:tcPr/>
                </a:tc>
                <a:tc>
                  <a:txBody>
                    <a:bodyPr/>
                    <a:lstStyle/>
                    <a:p>
                      <a:pPr algn="ctr"/>
                      <a:r>
                        <a:rPr lang="en-SG" dirty="0"/>
                        <a:t>255.255.255.252</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s0/0/1</a:t>
                      </a:r>
                      <a:endParaRPr lang="en-SG" dirty="0">
                        <a:latin typeface="Overpass" panose="020B0604020202020204" charset="0"/>
                      </a:endParaRPr>
                    </a:p>
                  </a:txBody>
                  <a:tcPr/>
                </a:tc>
                <a:tc>
                  <a:txBody>
                    <a:bodyPr/>
                    <a:lstStyle/>
                    <a:p>
                      <a:pPr algn="ctr"/>
                      <a:r>
                        <a:rPr lang="en-SG" dirty="0"/>
                        <a:t>R1 to R7</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DCE 64000</a:t>
                      </a:r>
                      <a:endParaRPr lang="en-SG" dirty="0">
                        <a:latin typeface="Overpass" panose="020B0604020202020204" charset="0"/>
                      </a:endParaRPr>
                    </a:p>
                  </a:txBody>
                  <a:tcPr/>
                </a:tc>
                <a:tc>
                  <a:txBody>
                    <a:bodyPr/>
                    <a:lstStyle/>
                    <a:p>
                      <a:pPr algn="ctr"/>
                      <a:r>
                        <a:rPr lang="en-SG" dirty="0"/>
                        <a:t>ISP Link 2</a:t>
                      </a:r>
                      <a:endParaRPr lang="en-SG" dirty="0">
                        <a:latin typeface="Overpass" panose="020B0604020202020204" charset="0"/>
                      </a:endParaRPr>
                    </a:p>
                  </a:txBody>
                  <a:tcPr/>
                </a:tc>
                <a:tc>
                  <a:txBody>
                    <a:bodyPr/>
                    <a:lstStyle/>
                    <a:p>
                      <a:pPr algn="ctr"/>
                      <a:r>
                        <a:rPr lang="en-SG" dirty="0"/>
                        <a:t>220.220.114.5</a:t>
                      </a:r>
                      <a:endParaRPr lang="en-SG" dirty="0">
                        <a:latin typeface="Overpass" panose="020B0604020202020204" charset="0"/>
                      </a:endParaRPr>
                    </a:p>
                  </a:txBody>
                  <a:tcPr/>
                </a:tc>
                <a:tc>
                  <a:txBody>
                    <a:bodyPr/>
                    <a:lstStyle/>
                    <a:p>
                      <a:pPr algn="ctr"/>
                      <a:r>
                        <a:rPr lang="en-SG" dirty="0"/>
                        <a:t>255.255.255.252</a:t>
                      </a:r>
                      <a:endParaRPr lang="en-SG" dirty="0">
                        <a:latin typeface="Overpass" panose="020B0604020202020204" charset="0"/>
                      </a:endParaRPr>
                    </a:p>
                  </a:txBody>
                  <a:tcPr/>
                </a:tc>
                <a:extLst>
                  <a:ext uri="{0D108BD9-81ED-4DB2-BD59-A6C34878D82A}">
                    <a16:rowId xmlns:a16="http://schemas.microsoft.com/office/drawing/2014/main" val="2539257960"/>
                  </a:ext>
                </a:extLst>
              </a:tr>
            </a:tbl>
          </a:graphicData>
        </a:graphic>
      </p:graphicFrame>
    </p:spTree>
    <p:extLst>
      <p:ext uri="{BB962C8B-B14F-4D97-AF65-F5344CB8AC3E}">
        <p14:creationId xmlns:p14="http://schemas.microsoft.com/office/powerpoint/2010/main" val="38152498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6" name="Table 5">
            <a:extLst>
              <a:ext uri="{FF2B5EF4-FFF2-40B4-BE49-F238E27FC236}">
                <a16:creationId xmlns:a16="http://schemas.microsoft.com/office/drawing/2014/main" id="{A7AB7CD9-D7CC-9C70-CF64-9A7C50357A27}"/>
              </a:ext>
            </a:extLst>
          </p:cNvPr>
          <p:cNvGraphicFramePr>
            <a:graphicFrameLocks noGrp="1"/>
          </p:cNvGraphicFramePr>
          <p:nvPr>
            <p:extLst>
              <p:ext uri="{D42A27DB-BD31-4B8C-83A1-F6EECF244321}">
                <p14:modId xmlns:p14="http://schemas.microsoft.com/office/powerpoint/2010/main" val="2584950953"/>
              </p:ext>
            </p:extLst>
          </p:nvPr>
        </p:nvGraphicFramePr>
        <p:xfrm>
          <a:off x="237743" y="902970"/>
          <a:ext cx="8668513" cy="3337560"/>
        </p:xfrm>
        <a:graphic>
          <a:graphicData uri="http://schemas.openxmlformats.org/drawingml/2006/table">
            <a:tbl>
              <a:tblPr firstRow="1" bandRow="1">
                <a:tableStyleId>{ED083AE6-46FA-4A59-8FB0-9F97EB10719F}</a:tableStyleId>
              </a:tblPr>
              <a:tblGrid>
                <a:gridCol w="1181983">
                  <a:extLst>
                    <a:ext uri="{9D8B030D-6E8A-4147-A177-3AD203B41FA5}">
                      <a16:colId xmlns:a16="http://schemas.microsoft.com/office/drawing/2014/main" val="2576075905"/>
                    </a:ext>
                  </a:extLst>
                </a:gridCol>
                <a:gridCol w="1383632">
                  <a:extLst>
                    <a:ext uri="{9D8B030D-6E8A-4147-A177-3AD203B41FA5}">
                      <a16:colId xmlns:a16="http://schemas.microsoft.com/office/drawing/2014/main" val="580063178"/>
                    </a:ext>
                  </a:extLst>
                </a:gridCol>
                <a:gridCol w="1067927">
                  <a:extLst>
                    <a:ext uri="{9D8B030D-6E8A-4147-A177-3AD203B41FA5}">
                      <a16:colId xmlns:a16="http://schemas.microsoft.com/office/drawing/2014/main" val="4100886750"/>
                    </a:ext>
                  </a:extLst>
                </a:gridCol>
                <a:gridCol w="1285931">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Main Building             Router Name: R2</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s0/0/0</a:t>
                      </a:r>
                      <a:endParaRPr lang="en-SG" dirty="0">
                        <a:latin typeface="Overpass" panose="020B0604020202020204" charset="0"/>
                      </a:endParaRPr>
                    </a:p>
                  </a:txBody>
                  <a:tcPr/>
                </a:tc>
                <a:tc>
                  <a:txBody>
                    <a:bodyPr/>
                    <a:lstStyle/>
                    <a:p>
                      <a:pPr algn="ctr"/>
                      <a:r>
                        <a:rPr lang="en-SG" dirty="0"/>
                        <a:t>R2 to R1</a:t>
                      </a:r>
                      <a:endParaRPr lang="en-SG" dirty="0">
                        <a:latin typeface="Overpass" panose="020B0604020202020204" charset="0"/>
                      </a:endParaRPr>
                    </a:p>
                  </a:txBody>
                  <a:tcPr/>
                </a:tc>
                <a:tc>
                  <a:txBody>
                    <a:bodyPr/>
                    <a:lstStyle/>
                    <a:p>
                      <a:pPr algn="ctr"/>
                      <a:r>
                        <a:rPr lang="en-SG" dirty="0"/>
                        <a:t>-</a:t>
                      </a:r>
                      <a:endParaRPr lang="en-SG" dirty="0">
                        <a:latin typeface="Overpass" panose="020B0604020202020204" charset="0"/>
                      </a:endParaRPr>
                    </a:p>
                  </a:txBody>
                  <a:tcPr/>
                </a:tc>
                <a:tc>
                  <a:txBody>
                    <a:bodyPr/>
                    <a:lstStyle/>
                    <a:p>
                      <a:pPr algn="ctr"/>
                      <a:r>
                        <a:rPr lang="en-SG" dirty="0"/>
                        <a:t>ISP Link 1</a:t>
                      </a:r>
                      <a:endParaRPr lang="en-SG" dirty="0">
                        <a:latin typeface="Overpass" panose="020B0604020202020204" charset="0"/>
                      </a:endParaRPr>
                    </a:p>
                  </a:txBody>
                  <a:tcPr/>
                </a:tc>
                <a:tc>
                  <a:txBody>
                    <a:bodyPr/>
                    <a:lstStyle/>
                    <a:p>
                      <a:pPr algn="ctr"/>
                      <a:r>
                        <a:rPr lang="en-SG" dirty="0"/>
                        <a:t>220.220.114.2</a:t>
                      </a:r>
                      <a:endParaRPr lang="en-SG" dirty="0">
                        <a:latin typeface="Overpass" panose="020B0604020202020204" charset="0"/>
                      </a:endParaRPr>
                    </a:p>
                  </a:txBody>
                  <a:tcPr/>
                </a:tc>
                <a:tc>
                  <a:txBody>
                    <a:bodyPr/>
                    <a:lstStyle/>
                    <a:p>
                      <a:pPr algn="ctr"/>
                      <a:r>
                        <a:rPr lang="en-SG" dirty="0"/>
                        <a:t>255.255.255.252</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dirty="0"/>
                        <a:t>R2 to Servers</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dirty="0"/>
                        <a:t>Servers</a:t>
                      </a:r>
                      <a:endParaRPr lang="en-SG" dirty="0">
                        <a:latin typeface="Overpass" panose="020B0604020202020204" charset="0"/>
                      </a:endParaRPr>
                    </a:p>
                  </a:txBody>
                  <a:tcPr/>
                </a:tc>
                <a:tc>
                  <a:txBody>
                    <a:bodyPr/>
                    <a:lstStyle/>
                    <a:p>
                      <a:pPr algn="ctr"/>
                      <a:r>
                        <a:rPr lang="en-SG" dirty="0"/>
                        <a:t>193.75.14.113</a:t>
                      </a:r>
                      <a:endParaRPr lang="en-SG" dirty="0">
                        <a:latin typeface="Overpass" panose="020B0604020202020204" charset="0"/>
                      </a:endParaRPr>
                    </a:p>
                  </a:txBody>
                  <a:tcPr/>
                </a:tc>
                <a:tc>
                  <a:txBody>
                    <a:bodyPr/>
                    <a:lstStyle/>
                    <a:p>
                      <a:pPr algn="ctr"/>
                      <a:r>
                        <a:rPr lang="en-SG" dirty="0"/>
                        <a:t>255.255.255.240</a:t>
                      </a:r>
                      <a:endParaRPr lang="en-SG" dirty="0">
                        <a:latin typeface="Overpass" panose="020B0604020202020204" charset="0"/>
                      </a:endParaRPr>
                    </a:p>
                  </a:txBody>
                  <a:tcPr/>
                </a:tc>
                <a:extLst>
                  <a:ext uri="{0D108BD9-81ED-4DB2-BD59-A6C34878D82A}">
                    <a16:rowId xmlns:a16="http://schemas.microsoft.com/office/drawing/2014/main" val="2539257960"/>
                  </a:ext>
                </a:extLst>
              </a:tr>
              <a:tr h="370840">
                <a:tc>
                  <a:txBody>
                    <a:bodyPr/>
                    <a:lstStyle/>
                    <a:p>
                      <a:pPr algn="ctr"/>
                      <a:r>
                        <a:rPr lang="en-SG" dirty="0"/>
                        <a:t>g0/1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R2 to Routers</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Routers Link</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193.75.14.129</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255.255.255.248</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745769"/>
                  </a:ext>
                </a:extLst>
              </a:tr>
              <a:tr h="370840">
                <a:tc>
                  <a:txBody>
                    <a:bodyPr/>
                    <a:lstStyle/>
                    <a:p>
                      <a:pPr algn="ctr"/>
                      <a:r>
                        <a:rPr lang="en-SG" dirty="0"/>
                        <a:t>f0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Web Server</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Servers</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193.75.14.115</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255.255.255.240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74197704"/>
                  </a:ext>
                </a:extLst>
              </a:tr>
              <a:tr h="370840">
                <a:tc>
                  <a:txBody>
                    <a:bodyPr/>
                    <a:lstStyle/>
                    <a:p>
                      <a:pPr algn="ctr"/>
                      <a:r>
                        <a:rPr lang="en-SG" dirty="0"/>
                        <a:t>f0</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File Server</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Servers</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193.75.14.116</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dirty="0"/>
                        <a:t>255.255.255.240</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842965"/>
                  </a:ext>
                </a:extLst>
              </a:tr>
              <a:tr h="370840">
                <a:tc>
                  <a:txBody>
                    <a:bodyPr/>
                    <a:lstStyle/>
                    <a:p>
                      <a:pPr algn="ctr"/>
                      <a:r>
                        <a:rPr lang="en-SG" dirty="0"/>
                        <a:t>standby 1</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Servers</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Servers</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193.75.14.126</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255.255.255.240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9324952"/>
                  </a:ext>
                </a:extLst>
              </a:tr>
              <a:tr h="370840">
                <a:tc>
                  <a:txBody>
                    <a:bodyPr/>
                    <a:lstStyle/>
                    <a:p>
                      <a:pPr algn="ctr"/>
                      <a:r>
                        <a:rPr lang="en-SG" dirty="0"/>
                        <a:t>standby 2</a:t>
                      </a:r>
                      <a:endParaRPr lang="en-SG" dirty="0">
                        <a:latin typeface="Overpass" panose="020B0604020202020204" charset="0"/>
                      </a:endParaRPr>
                    </a:p>
                  </a:txBody>
                  <a:tcPr/>
                </a:tc>
                <a:tc>
                  <a:txBody>
                    <a:bodyPr/>
                    <a:lstStyle/>
                    <a:p>
                      <a:pPr algn="ctr"/>
                      <a:r>
                        <a:rPr lang="en-SG" dirty="0"/>
                        <a:t>Routers Link</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dirty="0"/>
                        <a:t>Routers Link</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193.75.14.134</a:t>
                      </a:r>
                      <a:endParaRPr lang="en-SG" dirty="0">
                        <a:latin typeface="Overpass" panose="020B0604020202020204" charset="0"/>
                      </a:endParaRPr>
                    </a:p>
                  </a:txBody>
                  <a:tcPr/>
                </a:tc>
                <a:tc>
                  <a:txBody>
                    <a:bodyPr/>
                    <a:lstStyle/>
                    <a:p>
                      <a:pPr algn="ctr"/>
                      <a:r>
                        <a:rPr lang="en-SG" dirty="0"/>
                        <a:t>255.255.255.248</a:t>
                      </a:r>
                      <a:endParaRPr lang="en-SG" dirty="0">
                        <a:latin typeface="Overpass" panose="020B0604020202020204" charset="0"/>
                      </a:endParaRPr>
                    </a:p>
                  </a:txBody>
                  <a:tcPr/>
                </a:tc>
                <a:extLst>
                  <a:ext uri="{0D108BD9-81ED-4DB2-BD59-A6C34878D82A}">
                    <a16:rowId xmlns:a16="http://schemas.microsoft.com/office/drawing/2014/main" val="1161251241"/>
                  </a:ext>
                </a:extLst>
              </a:tr>
            </a:tbl>
          </a:graphicData>
        </a:graphic>
      </p:graphicFrame>
    </p:spTree>
    <p:extLst>
      <p:ext uri="{BB962C8B-B14F-4D97-AF65-F5344CB8AC3E}">
        <p14:creationId xmlns:p14="http://schemas.microsoft.com/office/powerpoint/2010/main" val="17987859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375942051"/>
              </p:ext>
            </p:extLst>
          </p:nvPr>
        </p:nvGraphicFramePr>
        <p:xfrm>
          <a:off x="237742" y="768096"/>
          <a:ext cx="8668513" cy="1483360"/>
        </p:xfrm>
        <a:graphic>
          <a:graphicData uri="http://schemas.openxmlformats.org/drawingml/2006/table">
            <a:tbl>
              <a:tblPr firstRow="1" bandRow="1">
                <a:tableStyleId>{ED083AE6-46FA-4A59-8FB0-9F97EB10719F}</a:tableStyleId>
              </a:tblPr>
              <a:tblGrid>
                <a:gridCol w="1001186">
                  <a:extLst>
                    <a:ext uri="{9D8B030D-6E8A-4147-A177-3AD203B41FA5}">
                      <a16:colId xmlns:a16="http://schemas.microsoft.com/office/drawing/2014/main" val="2576075905"/>
                    </a:ext>
                  </a:extLst>
                </a:gridCol>
                <a:gridCol w="1357967">
                  <a:extLst>
                    <a:ext uri="{9D8B030D-6E8A-4147-A177-3AD203B41FA5}">
                      <a16:colId xmlns:a16="http://schemas.microsoft.com/office/drawing/2014/main" val="580063178"/>
                    </a:ext>
                  </a:extLst>
                </a:gridCol>
                <a:gridCol w="1274389">
                  <a:extLst>
                    <a:ext uri="{9D8B030D-6E8A-4147-A177-3AD203B41FA5}">
                      <a16:colId xmlns:a16="http://schemas.microsoft.com/office/drawing/2014/main" val="4100886750"/>
                    </a:ext>
                  </a:extLst>
                </a:gridCol>
                <a:gridCol w="1285931">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Main Building             Router Name: R3</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dirty="0"/>
                        <a:t>R3 to Routers</a:t>
                      </a:r>
                      <a:endParaRPr lang="en-SG" dirty="0">
                        <a:latin typeface="Overpass" panose="020B0604020202020204" charset="0"/>
                      </a:endParaRPr>
                    </a:p>
                  </a:txBody>
                  <a:tcPr/>
                </a:tc>
                <a:tc>
                  <a:txBody>
                    <a:bodyPr/>
                    <a:lstStyle/>
                    <a:p>
                      <a:pPr algn="ct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Routers Link</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193.75.14.130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255.255.255.248</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s0/0/0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R3 to R4</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sz="1400" b="0" u="none" strike="noStrike" cap="none" dirty="0">
                          <a:solidFill>
                            <a:schemeClr val="tx1"/>
                          </a:solidFill>
                          <a:effectLst/>
                          <a:sym typeface="Arial"/>
                        </a:rPr>
                        <a:t>DCE 64000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R3 and R4</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193.75.14.137</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255.255.255.252</a:t>
                      </a:r>
                      <a:endParaRPr lang="en-SG" dirty="0">
                        <a:latin typeface="Overpass" panose="020B0604020202020204" charset="0"/>
                      </a:endParaRPr>
                    </a:p>
                  </a:txBody>
                  <a:tcPr/>
                </a:tc>
                <a:extLst>
                  <a:ext uri="{0D108BD9-81ED-4DB2-BD59-A6C34878D82A}">
                    <a16:rowId xmlns:a16="http://schemas.microsoft.com/office/drawing/2014/main" val="2539257960"/>
                  </a:ext>
                </a:extLst>
              </a:tr>
            </a:tbl>
          </a:graphicData>
        </a:graphic>
      </p:graphicFrame>
      <p:graphicFrame>
        <p:nvGraphicFramePr>
          <p:cNvPr id="6" name="Table 5">
            <a:extLst>
              <a:ext uri="{FF2B5EF4-FFF2-40B4-BE49-F238E27FC236}">
                <a16:creationId xmlns:a16="http://schemas.microsoft.com/office/drawing/2014/main" id="{A7AB7CD9-D7CC-9C70-CF64-9A7C50357A27}"/>
              </a:ext>
            </a:extLst>
          </p:cNvPr>
          <p:cNvGraphicFramePr>
            <a:graphicFrameLocks noGrp="1"/>
          </p:cNvGraphicFramePr>
          <p:nvPr>
            <p:extLst>
              <p:ext uri="{D42A27DB-BD31-4B8C-83A1-F6EECF244321}">
                <p14:modId xmlns:p14="http://schemas.microsoft.com/office/powerpoint/2010/main" val="524883326"/>
              </p:ext>
            </p:extLst>
          </p:nvPr>
        </p:nvGraphicFramePr>
        <p:xfrm>
          <a:off x="237742" y="2571750"/>
          <a:ext cx="8668513" cy="2372360"/>
        </p:xfrm>
        <a:graphic>
          <a:graphicData uri="http://schemas.openxmlformats.org/drawingml/2006/table">
            <a:tbl>
              <a:tblPr firstRow="1" bandRow="1">
                <a:tableStyleId>{ED083AE6-46FA-4A59-8FB0-9F97EB10719F}</a:tableStyleId>
              </a:tblPr>
              <a:tblGrid>
                <a:gridCol w="1001186">
                  <a:extLst>
                    <a:ext uri="{9D8B030D-6E8A-4147-A177-3AD203B41FA5}">
                      <a16:colId xmlns:a16="http://schemas.microsoft.com/office/drawing/2014/main" val="2576075905"/>
                    </a:ext>
                  </a:extLst>
                </a:gridCol>
                <a:gridCol w="1357967">
                  <a:extLst>
                    <a:ext uri="{9D8B030D-6E8A-4147-A177-3AD203B41FA5}">
                      <a16:colId xmlns:a16="http://schemas.microsoft.com/office/drawing/2014/main" val="580063178"/>
                    </a:ext>
                  </a:extLst>
                </a:gridCol>
                <a:gridCol w="1274389">
                  <a:extLst>
                    <a:ext uri="{9D8B030D-6E8A-4147-A177-3AD203B41FA5}">
                      <a16:colId xmlns:a16="http://schemas.microsoft.com/office/drawing/2014/main" val="4100886750"/>
                    </a:ext>
                  </a:extLst>
                </a:gridCol>
                <a:gridCol w="1285931">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Main Building             Router Name: R4</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s0/0/0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R4 to R3 </a:t>
                      </a:r>
                      <a:endParaRPr lang="en-SG" dirty="0">
                        <a:latin typeface="Overpass" panose="020B0604020202020204" charset="0"/>
                      </a:endParaRPr>
                    </a:p>
                  </a:txBody>
                  <a:tcPr/>
                </a:tc>
                <a:tc>
                  <a:txBody>
                    <a:bodyPr/>
                    <a:lstStyle/>
                    <a:p>
                      <a:pPr algn="ctr"/>
                      <a:r>
                        <a:rPr lang="en-SG" dirty="0"/>
                        <a:t>DCE 64000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R3 and R4 </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193.75.14.138</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255.255.255.252</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R4 to Sales Office</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Sales Office</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193.75.14.65</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255.255.255.224</a:t>
                      </a:r>
                      <a:endParaRPr lang="en-SG" dirty="0">
                        <a:latin typeface="Overpass" panose="020B0604020202020204" charset="0"/>
                      </a:endParaRPr>
                    </a:p>
                  </a:txBody>
                  <a:tcPr/>
                </a:tc>
                <a:extLst>
                  <a:ext uri="{0D108BD9-81ED-4DB2-BD59-A6C34878D82A}">
                    <a16:rowId xmlns:a16="http://schemas.microsoft.com/office/drawing/2014/main" val="2539257960"/>
                  </a:ext>
                </a:extLst>
              </a:tr>
              <a:tr h="370840">
                <a:tc>
                  <a:txBody>
                    <a:bodyPr/>
                    <a:lstStyle/>
                    <a:p>
                      <a:pPr algn="ctr"/>
                      <a:r>
                        <a:rPr lang="en-SG" dirty="0"/>
                        <a:t>g0/1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R4 to R6</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R4 and R6</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193.75.14.141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255.255.255.252</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745769"/>
                  </a:ext>
                </a:extLst>
              </a:tr>
              <a:tr h="370840">
                <a:tc>
                  <a:txBody>
                    <a:bodyPr/>
                    <a:lstStyle/>
                    <a:p>
                      <a:pPr algn="ctr"/>
                      <a:r>
                        <a:rPr lang="en-SG" dirty="0"/>
                        <a:t>f0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Sale1</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Sales Office</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193.75.14.66</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255.255.255.224</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74197704"/>
                  </a:ext>
                </a:extLst>
              </a:tr>
            </a:tbl>
          </a:graphicData>
        </a:graphic>
      </p:graphicFrame>
    </p:spTree>
    <p:extLst>
      <p:ext uri="{BB962C8B-B14F-4D97-AF65-F5344CB8AC3E}">
        <p14:creationId xmlns:p14="http://schemas.microsoft.com/office/powerpoint/2010/main" val="231353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4029042272"/>
              </p:ext>
            </p:extLst>
          </p:nvPr>
        </p:nvGraphicFramePr>
        <p:xfrm>
          <a:off x="237741" y="743712"/>
          <a:ext cx="8668513" cy="2880360"/>
        </p:xfrm>
        <a:graphic>
          <a:graphicData uri="http://schemas.openxmlformats.org/drawingml/2006/table">
            <a:tbl>
              <a:tblPr firstRow="1" bandRow="1">
                <a:tableStyleId>{ED083AE6-46FA-4A59-8FB0-9F97EB10719F}</a:tableStyleId>
              </a:tblPr>
              <a:tblGrid>
                <a:gridCol w="950979">
                  <a:extLst>
                    <a:ext uri="{9D8B030D-6E8A-4147-A177-3AD203B41FA5}">
                      <a16:colId xmlns:a16="http://schemas.microsoft.com/office/drawing/2014/main" val="2576075905"/>
                    </a:ext>
                  </a:extLst>
                </a:gridCol>
                <a:gridCol w="1361440">
                  <a:extLst>
                    <a:ext uri="{9D8B030D-6E8A-4147-A177-3AD203B41FA5}">
                      <a16:colId xmlns:a16="http://schemas.microsoft.com/office/drawing/2014/main" val="580063178"/>
                    </a:ext>
                  </a:extLst>
                </a:gridCol>
                <a:gridCol w="1192784">
                  <a:extLst>
                    <a:ext uri="{9D8B030D-6E8A-4147-A177-3AD203B41FA5}">
                      <a16:colId xmlns:a16="http://schemas.microsoft.com/office/drawing/2014/main" val="4100886750"/>
                    </a:ext>
                  </a:extLst>
                </a:gridCol>
                <a:gridCol w="1414270">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Administration Office             Router Name: R5</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R5 to Routers</a:t>
                      </a:r>
                      <a:endParaRPr lang="en-SG" dirty="0">
                        <a:latin typeface="Overpass" panose="020B0604020202020204" charset="0"/>
                      </a:endParaRPr>
                    </a:p>
                  </a:txBody>
                  <a:tcPr/>
                </a:tc>
                <a:tc>
                  <a:txBody>
                    <a:bodyPr/>
                    <a:lstStyle/>
                    <a:p>
                      <a:pPr algn="ct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Routers Link</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193.75.14.131</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255.255.255.248</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g0/1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R5 to Administration Department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Administration Department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193.75.14.1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255.255.255.192</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9257960"/>
                  </a:ext>
                </a:extLst>
              </a:tr>
              <a:tr h="370840">
                <a:tc>
                  <a:txBody>
                    <a:bodyPr/>
                    <a:lstStyle/>
                    <a:p>
                      <a:pPr algn="ctr"/>
                      <a:r>
                        <a:rPr lang="en-SG" dirty="0"/>
                        <a:t>f0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Admin1</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Administration Department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193.75.14.2</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255.255.255.192</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30012895"/>
                  </a:ext>
                </a:extLst>
              </a:tr>
              <a:tr h="370840">
                <a:tc>
                  <a:txBody>
                    <a:bodyPr/>
                    <a:lstStyle/>
                    <a:p>
                      <a:pPr algn="ctr"/>
                      <a:r>
                        <a:rPr lang="en-SG" dirty="0"/>
                        <a:t>f0</a:t>
                      </a:r>
                      <a:endParaRPr lang="en-SG" dirty="0">
                        <a:latin typeface="Overpass" panose="020B0604020202020204" charset="0"/>
                      </a:endParaRPr>
                    </a:p>
                  </a:txBody>
                  <a:tcPr/>
                </a:tc>
                <a:tc>
                  <a:txBody>
                    <a:bodyPr/>
                    <a:lstStyle/>
                    <a:p>
                      <a:pPr algn="ctr"/>
                      <a:r>
                        <a:rPr lang="en-SG" dirty="0"/>
                        <a:t>Admin2</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Administration Department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193.75.14.3</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255.255.255.192</a:t>
                      </a:r>
                      <a:endParaRPr lang="en-SG" dirty="0">
                        <a:latin typeface="Overpass" panose="020B0604020202020204" charset="0"/>
                      </a:endParaRPr>
                    </a:p>
                  </a:txBody>
                  <a:tcPr/>
                </a:tc>
                <a:extLst>
                  <a:ext uri="{0D108BD9-81ED-4DB2-BD59-A6C34878D82A}">
                    <a16:rowId xmlns:a16="http://schemas.microsoft.com/office/drawing/2014/main" val="2275816326"/>
                  </a:ext>
                </a:extLst>
              </a:tr>
            </a:tbl>
          </a:graphicData>
        </a:graphic>
      </p:graphicFrame>
    </p:spTree>
    <p:extLst>
      <p:ext uri="{BB962C8B-B14F-4D97-AF65-F5344CB8AC3E}">
        <p14:creationId xmlns:p14="http://schemas.microsoft.com/office/powerpoint/2010/main" val="39269406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4" name="Table 3">
            <a:extLst>
              <a:ext uri="{FF2B5EF4-FFF2-40B4-BE49-F238E27FC236}">
                <a16:creationId xmlns:a16="http://schemas.microsoft.com/office/drawing/2014/main" id="{2B0DD3D1-9FE7-D83C-23F5-F69AE94C1350}"/>
              </a:ext>
            </a:extLst>
          </p:cNvPr>
          <p:cNvGraphicFramePr>
            <a:graphicFrameLocks noGrp="1"/>
          </p:cNvGraphicFramePr>
          <p:nvPr>
            <p:extLst>
              <p:ext uri="{D42A27DB-BD31-4B8C-83A1-F6EECF244321}">
                <p14:modId xmlns:p14="http://schemas.microsoft.com/office/powerpoint/2010/main" val="1573383818"/>
              </p:ext>
            </p:extLst>
          </p:nvPr>
        </p:nvGraphicFramePr>
        <p:xfrm>
          <a:off x="237743" y="1497330"/>
          <a:ext cx="8668513" cy="2148840"/>
        </p:xfrm>
        <a:graphic>
          <a:graphicData uri="http://schemas.openxmlformats.org/drawingml/2006/table">
            <a:tbl>
              <a:tblPr firstRow="1" bandRow="1">
                <a:tableStyleId>{ED083AE6-46FA-4A59-8FB0-9F97EB10719F}</a:tableStyleId>
              </a:tblPr>
              <a:tblGrid>
                <a:gridCol w="1001186">
                  <a:extLst>
                    <a:ext uri="{9D8B030D-6E8A-4147-A177-3AD203B41FA5}">
                      <a16:colId xmlns:a16="http://schemas.microsoft.com/office/drawing/2014/main" val="2576075905"/>
                    </a:ext>
                  </a:extLst>
                </a:gridCol>
                <a:gridCol w="1674963">
                  <a:extLst>
                    <a:ext uri="{9D8B030D-6E8A-4147-A177-3AD203B41FA5}">
                      <a16:colId xmlns:a16="http://schemas.microsoft.com/office/drawing/2014/main" val="580063178"/>
                    </a:ext>
                  </a:extLst>
                </a:gridCol>
                <a:gridCol w="1085088">
                  <a:extLst>
                    <a:ext uri="{9D8B030D-6E8A-4147-A177-3AD203B41FA5}">
                      <a16:colId xmlns:a16="http://schemas.microsoft.com/office/drawing/2014/main" val="4100886750"/>
                    </a:ext>
                  </a:extLst>
                </a:gridCol>
                <a:gridCol w="1158236">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Engineering Office             Router Name: R6</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R6 to R4</a:t>
                      </a:r>
                      <a:endParaRPr lang="en-SG" dirty="0">
                        <a:latin typeface="Overpass" panose="020B0604020202020204" charset="0"/>
                      </a:endParaRPr>
                    </a:p>
                  </a:txBody>
                  <a:tcPr/>
                </a:tc>
                <a:tc>
                  <a:txBody>
                    <a:bodyPr/>
                    <a:lstStyle/>
                    <a:p>
                      <a:pPr algn="ct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R4 and R6</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193.75.14.142</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255.255.255.252</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g0/1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R6 to Engineering Office</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Engineering Office</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193.75.14.97</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255.255.255.240</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9257960"/>
                  </a:ext>
                </a:extLst>
              </a:tr>
              <a:tr h="370840">
                <a:tc>
                  <a:txBody>
                    <a:bodyPr/>
                    <a:lstStyle/>
                    <a:p>
                      <a:pPr algn="ctr"/>
                      <a:r>
                        <a:rPr lang="en-SG" dirty="0"/>
                        <a:t>f0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Engineer1</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Engineering Office</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193.75.14.98</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sz="1400" b="0" u="none" strike="noStrike" cap="none" dirty="0">
                          <a:solidFill>
                            <a:schemeClr val="tx1"/>
                          </a:solidFill>
                          <a:effectLst/>
                          <a:sym typeface="Arial"/>
                        </a:rPr>
                        <a:t>255.255.255.240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16384153"/>
                  </a:ext>
                </a:extLst>
              </a:tr>
            </a:tbl>
          </a:graphicData>
        </a:graphic>
      </p:graphicFrame>
    </p:spTree>
    <p:extLst>
      <p:ext uri="{BB962C8B-B14F-4D97-AF65-F5344CB8AC3E}">
        <p14:creationId xmlns:p14="http://schemas.microsoft.com/office/powerpoint/2010/main" val="10462026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Ip addressing – router interfaces</a:t>
            </a:r>
          </a:p>
        </p:txBody>
      </p:sp>
      <p:graphicFrame>
        <p:nvGraphicFramePr>
          <p:cNvPr id="6" name="Table 5">
            <a:extLst>
              <a:ext uri="{FF2B5EF4-FFF2-40B4-BE49-F238E27FC236}">
                <a16:creationId xmlns:a16="http://schemas.microsoft.com/office/drawing/2014/main" id="{A7AB7CD9-D7CC-9C70-CF64-9A7C50357A27}"/>
              </a:ext>
            </a:extLst>
          </p:cNvPr>
          <p:cNvGraphicFramePr>
            <a:graphicFrameLocks noGrp="1"/>
          </p:cNvGraphicFramePr>
          <p:nvPr>
            <p:extLst>
              <p:ext uri="{D42A27DB-BD31-4B8C-83A1-F6EECF244321}">
                <p14:modId xmlns:p14="http://schemas.microsoft.com/office/powerpoint/2010/main" val="3184530214"/>
              </p:ext>
            </p:extLst>
          </p:nvPr>
        </p:nvGraphicFramePr>
        <p:xfrm>
          <a:off x="237743" y="1273810"/>
          <a:ext cx="8668513" cy="2595880"/>
        </p:xfrm>
        <a:graphic>
          <a:graphicData uri="http://schemas.openxmlformats.org/drawingml/2006/table">
            <a:tbl>
              <a:tblPr firstRow="1" bandRow="1">
                <a:tableStyleId>{ED083AE6-46FA-4A59-8FB0-9F97EB10719F}</a:tableStyleId>
              </a:tblPr>
              <a:tblGrid>
                <a:gridCol w="1001186">
                  <a:extLst>
                    <a:ext uri="{9D8B030D-6E8A-4147-A177-3AD203B41FA5}">
                      <a16:colId xmlns:a16="http://schemas.microsoft.com/office/drawing/2014/main" val="2576075905"/>
                    </a:ext>
                  </a:extLst>
                </a:gridCol>
                <a:gridCol w="1357967">
                  <a:extLst>
                    <a:ext uri="{9D8B030D-6E8A-4147-A177-3AD203B41FA5}">
                      <a16:colId xmlns:a16="http://schemas.microsoft.com/office/drawing/2014/main" val="580063178"/>
                    </a:ext>
                  </a:extLst>
                </a:gridCol>
                <a:gridCol w="1274389">
                  <a:extLst>
                    <a:ext uri="{9D8B030D-6E8A-4147-A177-3AD203B41FA5}">
                      <a16:colId xmlns:a16="http://schemas.microsoft.com/office/drawing/2014/main" val="4100886750"/>
                    </a:ext>
                  </a:extLst>
                </a:gridCol>
                <a:gridCol w="1285931">
                  <a:extLst>
                    <a:ext uri="{9D8B030D-6E8A-4147-A177-3AD203B41FA5}">
                      <a16:colId xmlns:a16="http://schemas.microsoft.com/office/drawing/2014/main" val="3374195220"/>
                    </a:ext>
                  </a:extLst>
                </a:gridCol>
                <a:gridCol w="1877568">
                  <a:extLst>
                    <a:ext uri="{9D8B030D-6E8A-4147-A177-3AD203B41FA5}">
                      <a16:colId xmlns:a16="http://schemas.microsoft.com/office/drawing/2014/main" val="535616281"/>
                    </a:ext>
                  </a:extLst>
                </a:gridCol>
                <a:gridCol w="1871472">
                  <a:extLst>
                    <a:ext uri="{9D8B030D-6E8A-4147-A177-3AD203B41FA5}">
                      <a16:colId xmlns:a16="http://schemas.microsoft.com/office/drawing/2014/main" val="3862676280"/>
                    </a:ext>
                  </a:extLst>
                </a:gridCol>
              </a:tblGrid>
              <a:tr h="370840">
                <a:tc gridSpan="6">
                  <a:txBody>
                    <a:bodyPr/>
                    <a:lstStyle/>
                    <a:p>
                      <a:pPr algn="ctr"/>
                      <a:r>
                        <a:rPr lang="en-SG" b="1" dirty="0"/>
                        <a:t>Location: Main Building             Router Name: R7</a:t>
                      </a:r>
                      <a:endParaRPr lang="en-SG" b="1" dirty="0">
                        <a:latin typeface="Overpass" panose="020B0604020202020204" charset="0"/>
                      </a:endParaRPr>
                    </a:p>
                  </a:txBody>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b="1"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78603"/>
                  </a:ext>
                </a:extLst>
              </a:tr>
              <a:tr h="370840">
                <a:tc>
                  <a:txBody>
                    <a:bodyPr/>
                    <a:lstStyle/>
                    <a:p>
                      <a:pPr algn="ctr"/>
                      <a:r>
                        <a:rPr lang="en-SG" b="1" dirty="0"/>
                        <a:t>Interface</a:t>
                      </a:r>
                      <a:endParaRPr lang="en-SG" b="1" dirty="0">
                        <a:latin typeface="Overpass" panose="020B0604020202020204" charset="0"/>
                      </a:endParaRPr>
                    </a:p>
                  </a:txBody>
                  <a:tcPr/>
                </a:tc>
                <a:tc>
                  <a:txBody>
                    <a:bodyPr/>
                    <a:lstStyle/>
                    <a:p>
                      <a:pPr algn="ctr"/>
                      <a:r>
                        <a:rPr lang="en-SG" b="1" dirty="0"/>
                        <a:t>Description</a:t>
                      </a:r>
                      <a:endParaRPr lang="en-SG" b="1" dirty="0">
                        <a:latin typeface="Overpass" panose="020B0604020202020204" charset="0"/>
                      </a:endParaRPr>
                    </a:p>
                  </a:txBody>
                  <a:tcPr/>
                </a:tc>
                <a:tc>
                  <a:txBody>
                    <a:bodyPr/>
                    <a:lstStyle/>
                    <a:p>
                      <a:pPr algn="ctr"/>
                      <a:r>
                        <a:rPr lang="en-SG" b="1" dirty="0"/>
                        <a:t>DTE/DCE</a:t>
                      </a:r>
                      <a:endParaRPr lang="en-SG" b="1" dirty="0">
                        <a:latin typeface="Overpass" panose="020B0604020202020204" charset="0"/>
                      </a:endParaRPr>
                    </a:p>
                  </a:txBody>
                  <a:tcPr/>
                </a:tc>
                <a:tc>
                  <a:txBody>
                    <a:bodyPr/>
                    <a:lstStyle/>
                    <a:p>
                      <a:pPr algn="ctr"/>
                      <a:r>
                        <a:rPr lang="en-SG" b="1" dirty="0"/>
                        <a:t>Network</a:t>
                      </a:r>
                      <a:endParaRPr lang="en-SG" b="1" dirty="0">
                        <a:latin typeface="Overpass" panose="020B0604020202020204" charset="0"/>
                      </a:endParaRPr>
                    </a:p>
                  </a:txBody>
                  <a:tcPr/>
                </a:tc>
                <a:tc>
                  <a:txBody>
                    <a:bodyPr/>
                    <a:lstStyle/>
                    <a:p>
                      <a:pPr algn="ctr"/>
                      <a:r>
                        <a:rPr lang="en-SG" b="1" dirty="0"/>
                        <a:t>Interface Address</a:t>
                      </a:r>
                      <a:endParaRPr lang="en-SG" b="1" dirty="0">
                        <a:latin typeface="Overpass" panose="020B0604020202020204" charset="0"/>
                      </a:endParaRPr>
                    </a:p>
                  </a:txBody>
                  <a:tcPr/>
                </a:tc>
                <a:tc>
                  <a:txBody>
                    <a:bodyPr/>
                    <a:lstStyle/>
                    <a:p>
                      <a:pPr algn="ctr"/>
                      <a:r>
                        <a:rPr lang="en-SG" b="1" dirty="0"/>
                        <a:t>Subnet Mask</a:t>
                      </a:r>
                      <a:endParaRPr lang="en-SG" b="1" dirty="0">
                        <a:latin typeface="Overpass" panose="020B0604020202020204" charset="0"/>
                      </a:endParaRPr>
                    </a:p>
                  </a:txBody>
                  <a:tcPr/>
                </a:tc>
                <a:extLst>
                  <a:ext uri="{0D108BD9-81ED-4DB2-BD59-A6C34878D82A}">
                    <a16:rowId xmlns:a16="http://schemas.microsoft.com/office/drawing/2014/main" val="1696508731"/>
                  </a:ext>
                </a:extLst>
              </a:tr>
              <a:tr h="370840">
                <a:tc>
                  <a:txBody>
                    <a:bodyPr/>
                    <a:lstStyle/>
                    <a:p>
                      <a:pPr algn="ctr"/>
                      <a:r>
                        <a:rPr lang="en-SG" dirty="0"/>
                        <a:t>s0/0/0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R7 to R1</a:t>
                      </a:r>
                      <a:endParaRPr lang="en-SG" dirty="0">
                        <a:latin typeface="Overpass" panose="020B0604020202020204" charset="0"/>
                      </a:endParaRPr>
                    </a:p>
                  </a:txBody>
                  <a:tcPr/>
                </a:tc>
                <a:tc>
                  <a:txBody>
                    <a:bodyPr/>
                    <a:lstStyle/>
                    <a:p>
                      <a:pPr algn="ct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ISP Link2</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220.220.114.6</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255.255.255.252</a:t>
                      </a:r>
                      <a:endParaRPr lang="en-SG" dirty="0">
                        <a:latin typeface="Overpass" panose="020B0604020202020204" charset="0"/>
                      </a:endParaRPr>
                    </a:p>
                  </a:txBody>
                  <a:tcPr/>
                </a:tc>
                <a:extLst>
                  <a:ext uri="{0D108BD9-81ED-4DB2-BD59-A6C34878D82A}">
                    <a16:rowId xmlns:a16="http://schemas.microsoft.com/office/drawing/2014/main" val="736534105"/>
                  </a:ext>
                </a:extLst>
              </a:tr>
              <a:tr h="370840">
                <a:tc>
                  <a:txBody>
                    <a:bodyPr/>
                    <a:lstStyle/>
                    <a:p>
                      <a:pPr algn="ctr"/>
                      <a:r>
                        <a:rPr lang="en-SG" dirty="0"/>
                        <a:t>g0/0</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R7 to Servers</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Servers</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193.75.14.114</a:t>
                      </a:r>
                      <a:endParaRPr lang="en-SG" dirty="0">
                        <a:latin typeface="Overpass" panose="020B0604020202020204" charset="0"/>
                      </a:endParaRPr>
                    </a:p>
                  </a:txBody>
                  <a:tcPr/>
                </a:tc>
                <a:tc>
                  <a:txBody>
                    <a:bodyPr/>
                    <a:lstStyle/>
                    <a:p>
                      <a:pPr algn="ctr"/>
                      <a:r>
                        <a:rPr lang="en-SG" sz="1400" b="0" u="none" strike="noStrike" cap="none" dirty="0">
                          <a:solidFill>
                            <a:schemeClr val="tx1"/>
                          </a:solidFill>
                          <a:effectLst/>
                          <a:sym typeface="Arial"/>
                        </a:rPr>
                        <a:t>255.255.255.240</a:t>
                      </a:r>
                      <a:endParaRPr lang="en-SG" dirty="0">
                        <a:latin typeface="Overpass" panose="020B0604020202020204" charset="0"/>
                      </a:endParaRPr>
                    </a:p>
                  </a:txBody>
                  <a:tcPr/>
                </a:tc>
                <a:extLst>
                  <a:ext uri="{0D108BD9-81ED-4DB2-BD59-A6C34878D82A}">
                    <a16:rowId xmlns:a16="http://schemas.microsoft.com/office/drawing/2014/main" val="2539257960"/>
                  </a:ext>
                </a:extLst>
              </a:tr>
              <a:tr h="370840">
                <a:tc>
                  <a:txBody>
                    <a:bodyPr/>
                    <a:lstStyle/>
                    <a:p>
                      <a:pPr algn="ctr"/>
                      <a:r>
                        <a:rPr lang="en-SG" dirty="0"/>
                        <a:t>g0/1</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R7 to Routers</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Routers Link</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193.75.14.132</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tc>
                  <a:txBody>
                    <a:bodyPr/>
                    <a:lstStyle/>
                    <a:p>
                      <a:pPr algn="ctr"/>
                      <a:r>
                        <a:rPr lang="en-SG" sz="1400" b="0" u="none" strike="noStrike" cap="none" dirty="0">
                          <a:solidFill>
                            <a:schemeClr val="tx1"/>
                          </a:solidFill>
                          <a:effectLst/>
                          <a:sym typeface="Arial"/>
                        </a:rPr>
                        <a:t>255.255.255.248</a:t>
                      </a:r>
                      <a:endParaRPr lang="en-SG" dirty="0">
                        <a:latin typeface="Overpass" panose="020B0604020202020204" charset="0"/>
                      </a:endParaRPr>
                    </a:p>
                  </a:txBody>
                  <a:tcP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745769"/>
                  </a:ext>
                </a:extLst>
              </a:tr>
              <a:tr h="370840">
                <a:tc>
                  <a:txBody>
                    <a:bodyPr/>
                    <a:lstStyle/>
                    <a:p>
                      <a:pPr algn="ctr"/>
                      <a:r>
                        <a:rPr lang="en-SG" dirty="0"/>
                        <a:t>standby 1</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Servers</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Servers</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193.75.14.126</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tc>
                  <a:txBody>
                    <a:bodyPr/>
                    <a:lstStyle/>
                    <a:p>
                      <a:pPr algn="ctr"/>
                      <a:r>
                        <a:rPr lang="en-SG" dirty="0"/>
                        <a:t>255.255.255.240</a:t>
                      </a:r>
                      <a:endParaRPr lang="en-SG" dirty="0">
                        <a:latin typeface="Overpass" panose="020B0604020202020204" charset="0"/>
                      </a:endParaRPr>
                    </a:p>
                  </a:txBody>
                  <a:tcP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37057890"/>
                  </a:ext>
                </a:extLst>
              </a:tr>
              <a:tr h="370840">
                <a:tc>
                  <a:txBody>
                    <a:bodyPr/>
                    <a:lstStyle/>
                    <a:p>
                      <a:pPr algn="ctr"/>
                      <a:r>
                        <a:rPr lang="en-SG" dirty="0"/>
                        <a:t>standby 2</a:t>
                      </a:r>
                      <a:endParaRPr lang="en-SG" dirty="0">
                        <a:latin typeface="Overpass" panose="020B0604020202020204" charset="0"/>
                      </a:endParaRPr>
                    </a:p>
                  </a:txBody>
                  <a:tcPr/>
                </a:tc>
                <a:tc>
                  <a:txBody>
                    <a:bodyPr/>
                    <a:lstStyle/>
                    <a:p>
                      <a:pPr algn="ctr"/>
                      <a:r>
                        <a:rPr lang="en-SG" dirty="0"/>
                        <a:t>Routers Link</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a:t>
                      </a:r>
                      <a:endParaRPr lang="en-SG" dirty="0">
                        <a:latin typeface="Overpass" panose="020B0604020202020204" charset="0"/>
                      </a:endParaRPr>
                    </a:p>
                  </a:txBody>
                  <a:tcPr/>
                </a:tc>
                <a:tc>
                  <a:txBody>
                    <a:bodyPr/>
                    <a:lstStyle/>
                    <a:p>
                      <a:pPr algn="ctr"/>
                      <a:r>
                        <a:rPr lang="en-SG" dirty="0"/>
                        <a:t>Routers Link</a:t>
                      </a:r>
                      <a:endParaRPr lang="en-SG" dirty="0">
                        <a:latin typeface="Overpass" panose="020B06040202020202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dirty="0"/>
                        <a:t>193.75.14.134</a:t>
                      </a:r>
                      <a:endParaRPr lang="en-SG" dirty="0">
                        <a:latin typeface="Overpass" panose="020B0604020202020204" charset="0"/>
                      </a:endParaRPr>
                    </a:p>
                  </a:txBody>
                  <a:tcPr/>
                </a:tc>
                <a:tc>
                  <a:txBody>
                    <a:bodyPr/>
                    <a:lstStyle/>
                    <a:p>
                      <a:pPr algn="ctr"/>
                      <a:r>
                        <a:rPr lang="en-SG" dirty="0"/>
                        <a:t>255.255.255.248</a:t>
                      </a:r>
                      <a:endParaRPr lang="en-SG" dirty="0">
                        <a:latin typeface="Overpass" panose="020B0604020202020204" charset="0"/>
                      </a:endParaRPr>
                    </a:p>
                  </a:txBody>
                  <a:tcPr/>
                </a:tc>
                <a:extLst>
                  <a:ext uri="{0D108BD9-81ED-4DB2-BD59-A6C34878D82A}">
                    <a16:rowId xmlns:a16="http://schemas.microsoft.com/office/drawing/2014/main" val="3048015416"/>
                  </a:ext>
                </a:extLst>
              </a:tr>
            </a:tbl>
          </a:graphicData>
        </a:graphic>
      </p:graphicFrame>
    </p:spTree>
    <p:extLst>
      <p:ext uri="{BB962C8B-B14F-4D97-AF65-F5344CB8AC3E}">
        <p14:creationId xmlns:p14="http://schemas.microsoft.com/office/powerpoint/2010/main" val="42179648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Details of Router configurations</a:t>
            </a:r>
          </a:p>
        </p:txBody>
      </p:sp>
      <p:graphicFrame>
        <p:nvGraphicFramePr>
          <p:cNvPr id="20" name="Table 19">
            <a:extLst>
              <a:ext uri="{FF2B5EF4-FFF2-40B4-BE49-F238E27FC236}">
                <a16:creationId xmlns:a16="http://schemas.microsoft.com/office/drawing/2014/main" id="{C2EEA6BC-ED72-9EA4-5C2D-FE22F9DDFA47}"/>
              </a:ext>
            </a:extLst>
          </p:cNvPr>
          <p:cNvGraphicFramePr>
            <a:graphicFrameLocks noGrp="1"/>
          </p:cNvGraphicFramePr>
          <p:nvPr>
            <p:extLst>
              <p:ext uri="{D42A27DB-BD31-4B8C-83A1-F6EECF244321}">
                <p14:modId xmlns:p14="http://schemas.microsoft.com/office/powerpoint/2010/main" val="3752376080"/>
              </p:ext>
            </p:extLst>
          </p:nvPr>
        </p:nvGraphicFramePr>
        <p:xfrm>
          <a:off x="209598" y="743712"/>
          <a:ext cx="8785129" cy="4028440"/>
        </p:xfrm>
        <a:graphic>
          <a:graphicData uri="http://schemas.openxmlformats.org/drawingml/2006/table">
            <a:tbl>
              <a:tblPr firstRow="1" bandRow="1">
                <a:tableStyleId>{95D73AC1-B103-4C89-B5A6-36388A9374AA}</a:tableStyleId>
              </a:tblPr>
              <a:tblGrid>
                <a:gridCol w="2533602">
                  <a:extLst>
                    <a:ext uri="{9D8B030D-6E8A-4147-A177-3AD203B41FA5}">
                      <a16:colId xmlns:a16="http://schemas.microsoft.com/office/drawing/2014/main" val="23383687"/>
                    </a:ext>
                  </a:extLst>
                </a:gridCol>
                <a:gridCol w="3545205">
                  <a:extLst>
                    <a:ext uri="{9D8B030D-6E8A-4147-A177-3AD203B41FA5}">
                      <a16:colId xmlns:a16="http://schemas.microsoft.com/office/drawing/2014/main" val="4227957280"/>
                    </a:ext>
                  </a:extLst>
                </a:gridCol>
                <a:gridCol w="2706322">
                  <a:extLst>
                    <a:ext uri="{9D8B030D-6E8A-4147-A177-3AD203B41FA5}">
                      <a16:colId xmlns:a16="http://schemas.microsoft.com/office/drawing/2014/main" val="2526171130"/>
                    </a:ext>
                  </a:extLst>
                </a:gridCol>
              </a:tblGrid>
              <a:tr h="370840">
                <a:tc>
                  <a:txBody>
                    <a:bodyPr/>
                    <a:lstStyle/>
                    <a:p>
                      <a:pPr algn="ctr"/>
                      <a:r>
                        <a:rPr lang="en-SG" sz="1200" b="1" dirty="0">
                          <a:latin typeface="+mj-lt"/>
                        </a:rPr>
                        <a:t>Configurations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200" b="1" dirty="0">
                          <a:latin typeface="+mj-lt"/>
                        </a:rPr>
                        <a:t>Commands Used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200" b="1" dirty="0">
                          <a:latin typeface="+mj-lt"/>
                        </a:rPr>
                        <a:t>Screenshots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2620564"/>
                  </a:ext>
                </a:extLst>
              </a:tr>
              <a:tr h="0">
                <a:tc>
                  <a:txBody>
                    <a:bodyPr/>
                    <a:lstStyle/>
                    <a:p>
                      <a:r>
                        <a:rPr lang="en-SG" sz="1200" dirty="0">
                          <a:latin typeface="+mj-lt"/>
                        </a:rPr>
                        <a:t>Appropriate hostnames for all routers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SG" sz="1200" dirty="0">
                          <a:latin typeface="+mj-lt"/>
                        </a:rPr>
                        <a:t>hostname R2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3315221"/>
                  </a:ext>
                </a:extLst>
              </a:tr>
              <a:tr h="0">
                <a:tc>
                  <a:txBody>
                    <a:bodyPr/>
                    <a:lstStyle/>
                    <a:p>
                      <a:r>
                        <a:rPr lang="en-SG" sz="1200" dirty="0">
                          <a:latin typeface="+mj-lt"/>
                        </a:rPr>
                        <a:t>Banner Motd to show a message right before you login.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b="0" i="0" u="none" strike="noStrike" cap="none" dirty="0">
                          <a:solidFill>
                            <a:srgbClr val="000000"/>
                          </a:solidFill>
                          <a:effectLst/>
                          <a:latin typeface="+mj-lt"/>
                          <a:ea typeface="Arial"/>
                          <a:cs typeface="Arial"/>
                          <a:sym typeface="Arial"/>
                        </a:rPr>
                        <a:t>banner motd $Unauthorize access is prohibited$</a:t>
                      </a:r>
                    </a:p>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281131"/>
                  </a:ext>
                </a:extLst>
              </a:tr>
              <a:tr h="0">
                <a:tc>
                  <a:txBody>
                    <a:bodyPr/>
                    <a:lstStyle/>
                    <a:p>
                      <a:r>
                        <a:rPr lang="en-SG" sz="1200" dirty="0">
                          <a:latin typeface="+mj-lt"/>
                        </a:rPr>
                        <a:t>Password with encryption on all routers to prevent malicious actors.</a:t>
                      </a:r>
                    </a:p>
                    <a:p>
                      <a:endParaRPr lang="en-SG" sz="1200" dirty="0">
                        <a:latin typeface="+mj-lt"/>
                      </a:endParaRPr>
                    </a:p>
                    <a:p>
                      <a:r>
                        <a:rPr lang="en-US" sz="1200" dirty="0">
                          <a:effectLst/>
                          <a:latin typeface="+mj-lt"/>
                        </a:rPr>
                        <a:t>Console: ABC</a:t>
                      </a:r>
                    </a:p>
                    <a:p>
                      <a:r>
                        <a:rPr lang="en-US" sz="1200" dirty="0">
                          <a:effectLst/>
                          <a:latin typeface="+mj-lt"/>
                        </a:rPr>
                        <a:t>Privileged EXEC: Admin</a:t>
                      </a:r>
                      <a:r>
                        <a:rPr lang="en-SG" sz="1200" dirty="0">
                          <a:latin typeface="+mj-lt"/>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SG" sz="1200" dirty="0">
                          <a:latin typeface="+mj-lt"/>
                        </a:rPr>
                        <a:t>service password-encryption</a:t>
                      </a:r>
                    </a:p>
                    <a:p>
                      <a:r>
                        <a:rPr lang="en-SG" sz="1200" dirty="0">
                          <a:latin typeface="+mj-lt"/>
                        </a:rPr>
                        <a:t>enable secret Admin</a:t>
                      </a:r>
                    </a:p>
                    <a:p>
                      <a:r>
                        <a:rPr lang="en-SG" sz="1200" dirty="0">
                          <a:latin typeface="+mj-lt"/>
                        </a:rPr>
                        <a:t>line console 0</a:t>
                      </a:r>
                    </a:p>
                    <a:p>
                      <a:r>
                        <a:rPr lang="en-SG" sz="1200" dirty="0">
                          <a:latin typeface="+mj-lt"/>
                        </a:rPr>
                        <a:t>password ABC</a:t>
                      </a:r>
                    </a:p>
                    <a:p>
                      <a:r>
                        <a:rPr lang="en-SG" sz="1200" dirty="0">
                          <a:latin typeface="+mj-lt"/>
                        </a:rPr>
                        <a:t>login</a:t>
                      </a:r>
                    </a:p>
                    <a:p>
                      <a:r>
                        <a:rPr lang="en-SG" sz="1200" dirty="0">
                          <a:latin typeface="+mj-lt"/>
                        </a:rPr>
                        <a:t>line </a:t>
                      </a:r>
                      <a:r>
                        <a:rPr lang="en-SG" sz="1200" dirty="0" err="1">
                          <a:latin typeface="+mj-lt"/>
                        </a:rPr>
                        <a:t>vty</a:t>
                      </a:r>
                      <a:r>
                        <a:rPr lang="en-SG" sz="1200" dirty="0">
                          <a:latin typeface="+mj-lt"/>
                        </a:rPr>
                        <a:t> 0 15</a:t>
                      </a:r>
                    </a:p>
                    <a:p>
                      <a:r>
                        <a:rPr lang="en-SG" sz="1200" dirty="0">
                          <a:latin typeface="+mj-lt"/>
                        </a:rPr>
                        <a:t>password ABC</a:t>
                      </a:r>
                    </a:p>
                    <a:p>
                      <a:r>
                        <a:rPr lang="en-SG" sz="1200" dirty="0">
                          <a:latin typeface="+mj-lt"/>
                        </a:rPr>
                        <a:t>login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383900"/>
                  </a:ext>
                </a:extLst>
              </a:tr>
              <a:tr h="0">
                <a:tc>
                  <a:txBody>
                    <a:bodyPr/>
                    <a:lstStyle/>
                    <a:p>
                      <a:r>
                        <a:rPr lang="en-SG" sz="1200" dirty="0">
                          <a:latin typeface="+mj-lt"/>
                        </a:rPr>
                        <a:t>Clock Rate 64000 for serial interface where applicable</a:t>
                      </a:r>
                    </a:p>
                    <a:p>
                      <a:pPr marL="171450" indent="-171450">
                        <a:buFont typeface="Arial" panose="020B0604020202020204" pitchFamily="34" charset="0"/>
                        <a:buChar char="•"/>
                      </a:pPr>
                      <a:r>
                        <a:rPr lang="en-SG" sz="1200" dirty="0">
                          <a:latin typeface="+mj-lt"/>
                        </a:rPr>
                        <a:t>Between R3 and R4</a:t>
                      </a:r>
                    </a:p>
                    <a:p>
                      <a:pPr marL="171450" indent="-171450">
                        <a:buFont typeface="Arial" panose="020B0604020202020204" pitchFamily="34" charset="0"/>
                        <a:buChar char="•"/>
                      </a:pPr>
                      <a:r>
                        <a:rPr lang="en-SG" sz="1200" dirty="0">
                          <a:latin typeface="+mj-lt"/>
                        </a:rPr>
                        <a:t>Between R1 and R2</a:t>
                      </a:r>
                    </a:p>
                    <a:p>
                      <a:pPr marL="171450" indent="-171450">
                        <a:buFont typeface="Arial" panose="020B0604020202020204" pitchFamily="34" charset="0"/>
                        <a:buChar char="•"/>
                      </a:pPr>
                      <a:r>
                        <a:rPr lang="en-SG" sz="1200" dirty="0">
                          <a:latin typeface="+mj-lt"/>
                        </a:rPr>
                        <a:t>Between R1 and R7</a:t>
                      </a:r>
                    </a:p>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SG" sz="1200" dirty="0">
                          <a:latin typeface="+mj-lt"/>
                        </a:rPr>
                        <a:t>interface s0/0/0</a:t>
                      </a:r>
                    </a:p>
                    <a:p>
                      <a:r>
                        <a:rPr lang="en-SG" sz="1200" dirty="0">
                          <a:latin typeface="+mj-lt"/>
                        </a:rPr>
                        <a:t>clock rate 64000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0933201"/>
                  </a:ext>
                </a:extLst>
              </a:tr>
            </a:tbl>
          </a:graphicData>
        </a:graphic>
      </p:graphicFrame>
      <p:pic>
        <p:nvPicPr>
          <p:cNvPr id="7" name="Picture 6">
            <a:extLst>
              <a:ext uri="{FF2B5EF4-FFF2-40B4-BE49-F238E27FC236}">
                <a16:creationId xmlns:a16="http://schemas.microsoft.com/office/drawing/2014/main" id="{DD27E4F2-F9C4-295D-1F4C-82D537D45857}"/>
              </a:ext>
            </a:extLst>
          </p:cNvPr>
          <p:cNvPicPr>
            <a:picLocks noChangeAspect="1"/>
          </p:cNvPicPr>
          <p:nvPr/>
        </p:nvPicPr>
        <p:blipFill>
          <a:blip r:embed="rId2"/>
          <a:stretch>
            <a:fillRect/>
          </a:stretch>
        </p:blipFill>
        <p:spPr>
          <a:xfrm>
            <a:off x="6352686" y="1228577"/>
            <a:ext cx="2619280" cy="725932"/>
          </a:xfrm>
          <a:prstGeom prst="rect">
            <a:avLst/>
          </a:prstGeom>
        </p:spPr>
      </p:pic>
      <p:pic>
        <p:nvPicPr>
          <p:cNvPr id="10" name="Picture 9">
            <a:extLst>
              <a:ext uri="{FF2B5EF4-FFF2-40B4-BE49-F238E27FC236}">
                <a16:creationId xmlns:a16="http://schemas.microsoft.com/office/drawing/2014/main" id="{4F2B4357-4083-49A4-DFC5-A557DE9995E8}"/>
              </a:ext>
            </a:extLst>
          </p:cNvPr>
          <p:cNvPicPr>
            <a:picLocks noChangeAspect="1"/>
          </p:cNvPicPr>
          <p:nvPr/>
        </p:nvPicPr>
        <p:blipFill>
          <a:blip r:embed="rId3"/>
          <a:stretch>
            <a:fillRect/>
          </a:stretch>
        </p:blipFill>
        <p:spPr>
          <a:xfrm>
            <a:off x="6340165" y="2158703"/>
            <a:ext cx="2644323" cy="1319191"/>
          </a:xfrm>
          <a:prstGeom prst="rect">
            <a:avLst/>
          </a:prstGeom>
        </p:spPr>
      </p:pic>
      <p:pic>
        <p:nvPicPr>
          <p:cNvPr id="12" name="Picture 11">
            <a:extLst>
              <a:ext uri="{FF2B5EF4-FFF2-40B4-BE49-F238E27FC236}">
                <a16:creationId xmlns:a16="http://schemas.microsoft.com/office/drawing/2014/main" id="{19D38502-745D-D1A6-D48E-266FF9044297}"/>
              </a:ext>
            </a:extLst>
          </p:cNvPr>
          <p:cNvPicPr>
            <a:picLocks noChangeAspect="1"/>
          </p:cNvPicPr>
          <p:nvPr/>
        </p:nvPicPr>
        <p:blipFill>
          <a:blip r:embed="rId4"/>
          <a:stretch>
            <a:fillRect/>
          </a:stretch>
        </p:blipFill>
        <p:spPr>
          <a:xfrm>
            <a:off x="6326491" y="3799840"/>
            <a:ext cx="2645476" cy="619282"/>
          </a:xfrm>
          <a:prstGeom prst="rect">
            <a:avLst/>
          </a:prstGeom>
        </p:spPr>
      </p:pic>
    </p:spTree>
    <p:extLst>
      <p:ext uri="{BB962C8B-B14F-4D97-AF65-F5344CB8AC3E}">
        <p14:creationId xmlns:p14="http://schemas.microsoft.com/office/powerpoint/2010/main" val="3622418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Details of Router configurations</a:t>
            </a:r>
          </a:p>
        </p:txBody>
      </p:sp>
      <p:graphicFrame>
        <p:nvGraphicFramePr>
          <p:cNvPr id="20" name="Table 19">
            <a:extLst>
              <a:ext uri="{FF2B5EF4-FFF2-40B4-BE49-F238E27FC236}">
                <a16:creationId xmlns:a16="http://schemas.microsoft.com/office/drawing/2014/main" id="{C2EEA6BC-ED72-9EA4-5C2D-FE22F9DDFA47}"/>
              </a:ext>
            </a:extLst>
          </p:cNvPr>
          <p:cNvGraphicFramePr>
            <a:graphicFrameLocks noGrp="1"/>
          </p:cNvGraphicFramePr>
          <p:nvPr>
            <p:extLst>
              <p:ext uri="{D42A27DB-BD31-4B8C-83A1-F6EECF244321}">
                <p14:modId xmlns:p14="http://schemas.microsoft.com/office/powerpoint/2010/main" val="1098492112"/>
              </p:ext>
            </p:extLst>
          </p:nvPr>
        </p:nvGraphicFramePr>
        <p:xfrm>
          <a:off x="209598" y="743712"/>
          <a:ext cx="8785129" cy="3525520"/>
        </p:xfrm>
        <a:graphic>
          <a:graphicData uri="http://schemas.openxmlformats.org/drawingml/2006/table">
            <a:tbl>
              <a:tblPr firstRow="1" bandRow="1">
                <a:tableStyleId>{95D73AC1-B103-4C89-B5A6-36388A9374AA}</a:tableStyleId>
              </a:tblPr>
              <a:tblGrid>
                <a:gridCol w="2533602">
                  <a:extLst>
                    <a:ext uri="{9D8B030D-6E8A-4147-A177-3AD203B41FA5}">
                      <a16:colId xmlns:a16="http://schemas.microsoft.com/office/drawing/2014/main" val="23383687"/>
                    </a:ext>
                  </a:extLst>
                </a:gridCol>
                <a:gridCol w="3545205">
                  <a:extLst>
                    <a:ext uri="{9D8B030D-6E8A-4147-A177-3AD203B41FA5}">
                      <a16:colId xmlns:a16="http://schemas.microsoft.com/office/drawing/2014/main" val="4227957280"/>
                    </a:ext>
                  </a:extLst>
                </a:gridCol>
                <a:gridCol w="2706322">
                  <a:extLst>
                    <a:ext uri="{9D8B030D-6E8A-4147-A177-3AD203B41FA5}">
                      <a16:colId xmlns:a16="http://schemas.microsoft.com/office/drawing/2014/main" val="2526171130"/>
                    </a:ext>
                  </a:extLst>
                </a:gridCol>
              </a:tblGrid>
              <a:tr h="370840">
                <a:tc>
                  <a:txBody>
                    <a:bodyPr/>
                    <a:lstStyle/>
                    <a:p>
                      <a:pPr algn="ctr"/>
                      <a:r>
                        <a:rPr lang="en-SG" sz="1200" b="1" dirty="0">
                          <a:latin typeface="+mj-lt"/>
                        </a:rPr>
                        <a:t>Configurations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200" b="1" dirty="0">
                          <a:latin typeface="+mj-lt"/>
                        </a:rPr>
                        <a:t>Commands Used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200" b="1" dirty="0">
                          <a:latin typeface="+mj-lt"/>
                        </a:rPr>
                        <a:t>Screenshots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2620564"/>
                  </a:ext>
                </a:extLst>
              </a:tr>
              <a:tr h="0">
                <a:tc>
                  <a:txBody>
                    <a:bodyPr/>
                    <a:lstStyle/>
                    <a:p>
                      <a:r>
                        <a:rPr lang="en-SG" sz="1200" dirty="0">
                          <a:latin typeface="+mj-lt"/>
                        </a:rPr>
                        <a:t>Static route between R1 and R2, R1 and R7.</a:t>
                      </a:r>
                    </a:p>
                    <a:p>
                      <a:r>
                        <a:rPr lang="en-SG" sz="1200" dirty="0">
                          <a:latin typeface="+mj-lt"/>
                        </a:rPr>
                        <a:t>R1 is acting as the Internet Service Provider.</a:t>
                      </a:r>
                    </a:p>
                    <a:p>
                      <a:endParaRPr lang="en-SG" sz="1200" dirty="0">
                        <a:latin typeface="+mj-lt"/>
                      </a:endParaRPr>
                    </a:p>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SG" sz="1200" dirty="0">
                          <a:latin typeface="+mj-lt"/>
                        </a:rPr>
                        <a:t>R1(config)#ip route 0.0.0.0 0.0.0.0 220.220.114.2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dirty="0">
                          <a:latin typeface="+mj-lt"/>
                        </a:rPr>
                        <a:t>R1(config)#ip route 0.0.0.0 0.0.0.0 220.220.114.6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dirty="0">
                          <a:latin typeface="+mj-lt"/>
                        </a:rPr>
                        <a:t>R2(config)#ip route 0.0.0.0 0.0.0.0 s0/0/0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dirty="0">
                          <a:latin typeface="+mj-lt"/>
                        </a:rPr>
                        <a:t>R7(config)#ip route 0.0.0.0 0.0.0.0 s0/0/0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3315221"/>
                  </a:ext>
                </a:extLst>
              </a:tr>
              <a:tr h="0">
                <a:tc>
                  <a:txBody>
                    <a:bodyPr/>
                    <a:lstStyle/>
                    <a:p>
                      <a:r>
                        <a:rPr lang="en-SG" sz="1200" b="0" i="0" u="none" strike="noStrike" cap="none" dirty="0">
                          <a:solidFill>
                            <a:srgbClr val="000000"/>
                          </a:solidFill>
                          <a:effectLst/>
                          <a:latin typeface="+mj-lt"/>
                          <a:ea typeface="Arial"/>
                          <a:cs typeface="Arial"/>
                          <a:sym typeface="Arial"/>
                        </a:rPr>
                        <a:t>Disable routing updates to appropriate devices</a:t>
                      </a:r>
                    </a:p>
                    <a:p>
                      <a:pPr marL="171450" indent="-171450">
                        <a:buFont typeface="Arial" panose="020B0604020202020204" pitchFamily="34" charset="0"/>
                        <a:buChar char="•"/>
                      </a:pPr>
                      <a:r>
                        <a:rPr lang="en-SG" sz="1100" dirty="0">
                          <a:latin typeface="+mj-lt"/>
                        </a:rPr>
                        <a:t>To all end devices only, only routers need other router routing updates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b="0" i="0" u="none" strike="noStrike" cap="none" dirty="0">
                          <a:solidFill>
                            <a:srgbClr val="000000"/>
                          </a:solidFill>
                          <a:effectLst/>
                          <a:latin typeface="Arial"/>
                          <a:ea typeface="Arial"/>
                          <a:cs typeface="Arial"/>
                          <a:sym typeface="Arial"/>
                        </a:rPr>
                        <a:t>router ospf 64</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200" b="0" i="0" u="none" strike="noStrike" cap="none" dirty="0">
                          <a:solidFill>
                            <a:srgbClr val="000000"/>
                          </a:solidFill>
                          <a:effectLst/>
                          <a:latin typeface="Arial"/>
                          <a:ea typeface="Arial"/>
                          <a:cs typeface="Arial"/>
                          <a:sym typeface="Arial"/>
                        </a:rPr>
                        <a:t>passive-interface g0/1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281131"/>
                  </a:ext>
                </a:extLst>
              </a:tr>
              <a:tr h="0">
                <a:tc>
                  <a:txBody>
                    <a:bodyPr/>
                    <a:lstStyle/>
                    <a:p>
                      <a:r>
                        <a:rPr lang="en-SG" sz="1200" b="0" i="0" u="none" strike="noStrike" cap="none" dirty="0">
                          <a:solidFill>
                            <a:srgbClr val="000000"/>
                          </a:solidFill>
                          <a:effectLst/>
                          <a:latin typeface="Arial"/>
                          <a:ea typeface="Arial"/>
                          <a:cs typeface="Arial"/>
                          <a:sym typeface="Arial"/>
                        </a:rPr>
                        <a:t>Hello and Dead time interval for Serial interface to be updated to 20 seconds and 80 seconds respectively.</a:t>
                      </a:r>
                    </a:p>
                    <a:p>
                      <a:pPr marL="171450" indent="-171450">
                        <a:buFont typeface="Arial" panose="020B0604020202020204" pitchFamily="34" charset="0"/>
                        <a:buChar char="•"/>
                      </a:pPr>
                      <a:r>
                        <a:rPr lang="en-SG" sz="1200" dirty="0">
                          <a:latin typeface="+mj-lt"/>
                        </a:rPr>
                        <a:t>Only between R3 and R4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SG" sz="1200" b="0" i="0" u="none" strike="noStrike" cap="none" dirty="0">
                          <a:solidFill>
                            <a:srgbClr val="000000"/>
                          </a:solidFill>
                          <a:effectLst/>
                          <a:latin typeface="Arial"/>
                          <a:ea typeface="Arial"/>
                          <a:cs typeface="Arial"/>
                          <a:sym typeface="Arial"/>
                        </a:rPr>
                        <a:t>interface s0/0/0</a:t>
                      </a:r>
                    </a:p>
                    <a:p>
                      <a:r>
                        <a:rPr lang="en-SG" sz="1200" b="0" i="0" u="none" strike="noStrike" cap="none" dirty="0">
                          <a:solidFill>
                            <a:srgbClr val="000000"/>
                          </a:solidFill>
                          <a:effectLst/>
                          <a:latin typeface="Arial"/>
                          <a:ea typeface="Arial"/>
                          <a:cs typeface="Arial"/>
                          <a:sym typeface="Arial"/>
                        </a:rPr>
                        <a:t>ip ospf hello-interval 20</a:t>
                      </a:r>
                    </a:p>
                    <a:p>
                      <a:r>
                        <a:rPr lang="en-SG" sz="1200" b="0" i="0" u="none" strike="noStrike" cap="none" dirty="0">
                          <a:solidFill>
                            <a:srgbClr val="000000"/>
                          </a:solidFill>
                          <a:effectLst/>
                          <a:latin typeface="Arial"/>
                          <a:ea typeface="Arial"/>
                          <a:cs typeface="Arial"/>
                          <a:sym typeface="Arial"/>
                        </a:rPr>
                        <a:t>ip ospf dead-interval 80</a:t>
                      </a:r>
                      <a:endParaRPr lang="en-SG" sz="11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SG" sz="1200" dirty="0">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383900"/>
                  </a:ext>
                </a:extLst>
              </a:tr>
            </a:tbl>
          </a:graphicData>
        </a:graphic>
      </p:graphicFrame>
      <p:pic>
        <p:nvPicPr>
          <p:cNvPr id="5" name="Picture 4">
            <a:extLst>
              <a:ext uri="{FF2B5EF4-FFF2-40B4-BE49-F238E27FC236}">
                <a16:creationId xmlns:a16="http://schemas.microsoft.com/office/drawing/2014/main" id="{0F79B207-688A-7E23-AAA2-8622043AA9E6}"/>
              </a:ext>
            </a:extLst>
          </p:cNvPr>
          <p:cNvPicPr>
            <a:picLocks noChangeAspect="1"/>
          </p:cNvPicPr>
          <p:nvPr/>
        </p:nvPicPr>
        <p:blipFill>
          <a:blip r:embed="rId2"/>
          <a:stretch>
            <a:fillRect/>
          </a:stretch>
        </p:blipFill>
        <p:spPr>
          <a:xfrm>
            <a:off x="6306629" y="1138575"/>
            <a:ext cx="2665921" cy="358699"/>
          </a:xfrm>
          <a:prstGeom prst="rect">
            <a:avLst/>
          </a:prstGeom>
        </p:spPr>
      </p:pic>
      <p:pic>
        <p:nvPicPr>
          <p:cNvPr id="8" name="Picture 7">
            <a:extLst>
              <a:ext uri="{FF2B5EF4-FFF2-40B4-BE49-F238E27FC236}">
                <a16:creationId xmlns:a16="http://schemas.microsoft.com/office/drawing/2014/main" id="{CCA1A8CB-CCDD-C805-C1A4-E46B077D4976}"/>
              </a:ext>
            </a:extLst>
          </p:cNvPr>
          <p:cNvPicPr>
            <a:picLocks noChangeAspect="1"/>
          </p:cNvPicPr>
          <p:nvPr/>
        </p:nvPicPr>
        <p:blipFill>
          <a:blip r:embed="rId3"/>
          <a:stretch>
            <a:fillRect/>
          </a:stretch>
        </p:blipFill>
        <p:spPr>
          <a:xfrm>
            <a:off x="6306630" y="1497274"/>
            <a:ext cx="2665920" cy="345358"/>
          </a:xfrm>
          <a:prstGeom prst="rect">
            <a:avLst/>
          </a:prstGeom>
        </p:spPr>
      </p:pic>
      <p:pic>
        <p:nvPicPr>
          <p:cNvPr id="11" name="Picture 10">
            <a:extLst>
              <a:ext uri="{FF2B5EF4-FFF2-40B4-BE49-F238E27FC236}">
                <a16:creationId xmlns:a16="http://schemas.microsoft.com/office/drawing/2014/main" id="{A0C342C9-EF5E-E3E1-E792-94358C9E76EE}"/>
              </a:ext>
            </a:extLst>
          </p:cNvPr>
          <p:cNvPicPr>
            <a:picLocks noChangeAspect="1"/>
          </p:cNvPicPr>
          <p:nvPr/>
        </p:nvPicPr>
        <p:blipFill>
          <a:blip r:embed="rId4"/>
          <a:stretch>
            <a:fillRect/>
          </a:stretch>
        </p:blipFill>
        <p:spPr>
          <a:xfrm>
            <a:off x="6306630" y="1874837"/>
            <a:ext cx="2665920" cy="254185"/>
          </a:xfrm>
          <a:prstGeom prst="rect">
            <a:avLst/>
          </a:prstGeom>
        </p:spPr>
      </p:pic>
      <p:pic>
        <p:nvPicPr>
          <p:cNvPr id="15" name="Picture 14">
            <a:extLst>
              <a:ext uri="{FF2B5EF4-FFF2-40B4-BE49-F238E27FC236}">
                <a16:creationId xmlns:a16="http://schemas.microsoft.com/office/drawing/2014/main" id="{7238A160-497A-9497-FA01-2399E3FD18FF}"/>
              </a:ext>
            </a:extLst>
          </p:cNvPr>
          <p:cNvPicPr>
            <a:picLocks noChangeAspect="1"/>
          </p:cNvPicPr>
          <p:nvPr/>
        </p:nvPicPr>
        <p:blipFill>
          <a:blip r:embed="rId5"/>
          <a:stretch>
            <a:fillRect/>
          </a:stretch>
        </p:blipFill>
        <p:spPr>
          <a:xfrm>
            <a:off x="6306629" y="2316793"/>
            <a:ext cx="2665920" cy="367400"/>
          </a:xfrm>
          <a:prstGeom prst="rect">
            <a:avLst/>
          </a:prstGeom>
        </p:spPr>
      </p:pic>
      <p:pic>
        <p:nvPicPr>
          <p:cNvPr id="17" name="Picture 16">
            <a:extLst>
              <a:ext uri="{FF2B5EF4-FFF2-40B4-BE49-F238E27FC236}">
                <a16:creationId xmlns:a16="http://schemas.microsoft.com/office/drawing/2014/main" id="{5999429E-04D2-10EF-A1E0-C19A4CA332AC}"/>
              </a:ext>
            </a:extLst>
          </p:cNvPr>
          <p:cNvPicPr>
            <a:picLocks noChangeAspect="1"/>
          </p:cNvPicPr>
          <p:nvPr/>
        </p:nvPicPr>
        <p:blipFill>
          <a:blip r:embed="rId6"/>
          <a:stretch>
            <a:fillRect/>
          </a:stretch>
        </p:blipFill>
        <p:spPr>
          <a:xfrm>
            <a:off x="6306629" y="3315915"/>
            <a:ext cx="2665920" cy="428721"/>
          </a:xfrm>
          <a:prstGeom prst="rect">
            <a:avLst/>
          </a:prstGeom>
        </p:spPr>
      </p:pic>
      <p:pic>
        <p:nvPicPr>
          <p:cNvPr id="19" name="Picture 18">
            <a:extLst>
              <a:ext uri="{FF2B5EF4-FFF2-40B4-BE49-F238E27FC236}">
                <a16:creationId xmlns:a16="http://schemas.microsoft.com/office/drawing/2014/main" id="{7DCDBEA8-337C-8EDB-4F44-3024FF8CC36A}"/>
              </a:ext>
            </a:extLst>
          </p:cNvPr>
          <p:cNvPicPr>
            <a:picLocks noChangeAspect="1"/>
          </p:cNvPicPr>
          <p:nvPr/>
        </p:nvPicPr>
        <p:blipFill>
          <a:blip r:embed="rId7"/>
          <a:stretch>
            <a:fillRect/>
          </a:stretch>
        </p:blipFill>
        <p:spPr>
          <a:xfrm>
            <a:off x="6306628" y="3775566"/>
            <a:ext cx="2665919" cy="399434"/>
          </a:xfrm>
          <a:prstGeom prst="rect">
            <a:avLst/>
          </a:prstGeom>
        </p:spPr>
      </p:pic>
    </p:spTree>
    <p:extLst>
      <p:ext uri="{BB962C8B-B14F-4D97-AF65-F5344CB8AC3E}">
        <p14:creationId xmlns:p14="http://schemas.microsoft.com/office/powerpoint/2010/main" val="3101798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Details of OSPF implementation</a:t>
            </a:r>
          </a:p>
        </p:txBody>
      </p:sp>
      <p:sp>
        <p:nvSpPr>
          <p:cNvPr id="5" name="TextBox 4">
            <a:extLst>
              <a:ext uri="{FF2B5EF4-FFF2-40B4-BE49-F238E27FC236}">
                <a16:creationId xmlns:a16="http://schemas.microsoft.com/office/drawing/2014/main" id="{AC0D00D3-635E-68D4-9D5A-F1FD9538D023}"/>
              </a:ext>
            </a:extLst>
          </p:cNvPr>
          <p:cNvSpPr txBox="1"/>
          <p:nvPr/>
        </p:nvSpPr>
        <p:spPr>
          <a:xfrm>
            <a:off x="109398" y="743712"/>
            <a:ext cx="8925201" cy="646331"/>
          </a:xfrm>
          <a:prstGeom prst="rect">
            <a:avLst/>
          </a:prstGeom>
          <a:noFill/>
        </p:spPr>
        <p:txBody>
          <a:bodyPr wrap="square">
            <a:spAutoFit/>
          </a:bodyPr>
          <a:lstStyle/>
          <a:p>
            <a:r>
              <a:rPr lang="en-US" sz="1200" dirty="0"/>
              <a:t>Open Shortest Path First is routing protocol that help packets deliver by selecting the shortest network path to their destination.</a:t>
            </a:r>
          </a:p>
          <a:p>
            <a:r>
              <a:rPr lang="en-US" sz="1200" dirty="0"/>
              <a:t>We could test this using tracert command, below we are using Sale1 PC tracert to Web Server IP address. Tracert command can trace route to destination and show us the network path it taken.</a:t>
            </a:r>
          </a:p>
        </p:txBody>
      </p:sp>
      <p:pic>
        <p:nvPicPr>
          <p:cNvPr id="46" name="Picture 45">
            <a:extLst>
              <a:ext uri="{FF2B5EF4-FFF2-40B4-BE49-F238E27FC236}">
                <a16:creationId xmlns:a16="http://schemas.microsoft.com/office/drawing/2014/main" id="{AF64F025-0EBC-1942-8923-366C7F9CD790}"/>
              </a:ext>
            </a:extLst>
          </p:cNvPr>
          <p:cNvPicPr>
            <a:picLocks noChangeAspect="1"/>
          </p:cNvPicPr>
          <p:nvPr/>
        </p:nvPicPr>
        <p:blipFill>
          <a:blip r:embed="rId2"/>
          <a:stretch>
            <a:fillRect/>
          </a:stretch>
        </p:blipFill>
        <p:spPr>
          <a:xfrm>
            <a:off x="130856" y="1375434"/>
            <a:ext cx="8882283" cy="3572435"/>
          </a:xfrm>
          <a:prstGeom prst="rect">
            <a:avLst/>
          </a:prstGeom>
        </p:spPr>
      </p:pic>
    </p:spTree>
    <p:extLst>
      <p:ext uri="{BB962C8B-B14F-4D97-AF65-F5344CB8AC3E}">
        <p14:creationId xmlns:p14="http://schemas.microsoft.com/office/powerpoint/2010/main" val="20884603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Details of OSPF implementation</a:t>
            </a:r>
          </a:p>
        </p:txBody>
      </p:sp>
      <p:sp>
        <p:nvSpPr>
          <p:cNvPr id="4" name="TextBox 3">
            <a:extLst>
              <a:ext uri="{FF2B5EF4-FFF2-40B4-BE49-F238E27FC236}">
                <a16:creationId xmlns:a16="http://schemas.microsoft.com/office/drawing/2014/main" id="{575CC4D5-6C93-1333-B4CE-4077FF550F55}"/>
              </a:ext>
            </a:extLst>
          </p:cNvPr>
          <p:cNvSpPr txBox="1"/>
          <p:nvPr/>
        </p:nvSpPr>
        <p:spPr>
          <a:xfrm>
            <a:off x="635000" y="790722"/>
            <a:ext cx="3456662" cy="2970044"/>
          </a:xfrm>
          <a:prstGeom prst="rect">
            <a:avLst/>
          </a:prstGeom>
          <a:noFill/>
        </p:spPr>
        <p:txBody>
          <a:bodyPr wrap="square" rtlCol="0">
            <a:spAutoFit/>
          </a:bodyPr>
          <a:lstStyle/>
          <a:p>
            <a:pPr algn="r"/>
            <a:r>
              <a:rPr lang="en-US" sz="1100" dirty="0"/>
              <a:t>OSPF Process ID 64 DR/BDR to be applied for multi-access network: </a:t>
            </a:r>
          </a:p>
          <a:p>
            <a:pPr algn="r"/>
            <a:endParaRPr lang="en-US" sz="1100" dirty="0"/>
          </a:p>
          <a:p>
            <a:pPr algn="r"/>
            <a:r>
              <a:rPr lang="en-US" sz="1100" dirty="0"/>
              <a:t>	R2 to be designated as DR</a:t>
            </a:r>
          </a:p>
          <a:p>
            <a:pPr algn="r"/>
            <a:endParaRPr lang="en-US" sz="1100" dirty="0"/>
          </a:p>
          <a:p>
            <a:pPr algn="r"/>
            <a:r>
              <a:rPr lang="en-US" sz="1100" dirty="0"/>
              <a:t>	R5 to be designated as BDR Multi area OSPF to be used:</a:t>
            </a:r>
          </a:p>
          <a:p>
            <a:pPr algn="r"/>
            <a:endParaRPr lang="en-US" sz="1100" dirty="0"/>
          </a:p>
          <a:p>
            <a:pPr algn="r"/>
            <a:endParaRPr lang="en-US" sz="1100" dirty="0"/>
          </a:p>
          <a:p>
            <a:pPr algn="r"/>
            <a:r>
              <a:rPr lang="en-US" sz="1100" dirty="0"/>
              <a:t> </a:t>
            </a:r>
          </a:p>
          <a:p>
            <a:pPr algn="r"/>
            <a:r>
              <a:rPr lang="en-US" sz="1100" dirty="0"/>
              <a:t>	R2, R3 and R5 (Backbone area 0)</a:t>
            </a:r>
          </a:p>
          <a:p>
            <a:pPr algn="r"/>
            <a:endParaRPr lang="en-US" sz="1100" dirty="0"/>
          </a:p>
          <a:p>
            <a:pPr algn="r"/>
            <a:r>
              <a:rPr lang="en-US" sz="1100" dirty="0"/>
              <a:t> </a:t>
            </a:r>
          </a:p>
          <a:p>
            <a:pPr algn="r"/>
            <a:r>
              <a:rPr lang="en-US" sz="1100" dirty="0"/>
              <a:t>	R4 (ABR – Area 0, 1 and 2)</a:t>
            </a:r>
          </a:p>
          <a:p>
            <a:pPr algn="r"/>
            <a:endParaRPr lang="en-US" sz="1100" dirty="0"/>
          </a:p>
          <a:p>
            <a:pPr algn="r"/>
            <a:endParaRPr lang="en-US" sz="1100" dirty="0"/>
          </a:p>
          <a:p>
            <a:pPr algn="r"/>
            <a:r>
              <a:rPr lang="en-US" sz="1100" dirty="0"/>
              <a:t>Use appropriate loopback address for router ID. </a:t>
            </a:r>
            <a:endParaRPr lang="en-SG" sz="1100" dirty="0"/>
          </a:p>
        </p:txBody>
      </p:sp>
      <p:pic>
        <p:nvPicPr>
          <p:cNvPr id="6" name="Picture 5">
            <a:extLst>
              <a:ext uri="{FF2B5EF4-FFF2-40B4-BE49-F238E27FC236}">
                <a16:creationId xmlns:a16="http://schemas.microsoft.com/office/drawing/2014/main" id="{15C0C878-697C-26D0-FEA6-A135E608BE89}"/>
              </a:ext>
            </a:extLst>
          </p:cNvPr>
          <p:cNvPicPr>
            <a:picLocks noChangeAspect="1"/>
          </p:cNvPicPr>
          <p:nvPr/>
        </p:nvPicPr>
        <p:blipFill>
          <a:blip r:embed="rId2"/>
          <a:stretch>
            <a:fillRect/>
          </a:stretch>
        </p:blipFill>
        <p:spPr>
          <a:xfrm>
            <a:off x="4467352" y="1696803"/>
            <a:ext cx="4353609" cy="680564"/>
          </a:xfrm>
          <a:prstGeom prst="rect">
            <a:avLst/>
          </a:prstGeom>
        </p:spPr>
      </p:pic>
      <p:pic>
        <p:nvPicPr>
          <p:cNvPr id="8" name="Picture 7">
            <a:extLst>
              <a:ext uri="{FF2B5EF4-FFF2-40B4-BE49-F238E27FC236}">
                <a16:creationId xmlns:a16="http://schemas.microsoft.com/office/drawing/2014/main" id="{B6E488FE-A9B1-4FDA-A27A-365AFB5189B2}"/>
              </a:ext>
            </a:extLst>
          </p:cNvPr>
          <p:cNvPicPr>
            <a:picLocks noChangeAspect="1"/>
          </p:cNvPicPr>
          <p:nvPr/>
        </p:nvPicPr>
        <p:blipFill>
          <a:blip r:embed="rId3"/>
          <a:stretch>
            <a:fillRect/>
          </a:stretch>
        </p:blipFill>
        <p:spPr>
          <a:xfrm>
            <a:off x="4467350" y="3119872"/>
            <a:ext cx="4353609" cy="623507"/>
          </a:xfrm>
          <a:prstGeom prst="rect">
            <a:avLst/>
          </a:prstGeom>
        </p:spPr>
      </p:pic>
      <p:pic>
        <p:nvPicPr>
          <p:cNvPr id="10" name="Picture 9">
            <a:extLst>
              <a:ext uri="{FF2B5EF4-FFF2-40B4-BE49-F238E27FC236}">
                <a16:creationId xmlns:a16="http://schemas.microsoft.com/office/drawing/2014/main" id="{729668B3-431A-49B5-DB4D-F38C764A6E51}"/>
              </a:ext>
            </a:extLst>
          </p:cNvPr>
          <p:cNvPicPr>
            <a:picLocks noChangeAspect="1"/>
          </p:cNvPicPr>
          <p:nvPr/>
        </p:nvPicPr>
        <p:blipFill>
          <a:blip r:embed="rId4"/>
          <a:stretch>
            <a:fillRect/>
          </a:stretch>
        </p:blipFill>
        <p:spPr>
          <a:xfrm>
            <a:off x="113741" y="3891121"/>
            <a:ext cx="4353609" cy="655515"/>
          </a:xfrm>
          <a:prstGeom prst="rect">
            <a:avLst/>
          </a:prstGeom>
        </p:spPr>
      </p:pic>
      <p:pic>
        <p:nvPicPr>
          <p:cNvPr id="15" name="Picture 14">
            <a:extLst>
              <a:ext uri="{FF2B5EF4-FFF2-40B4-BE49-F238E27FC236}">
                <a16:creationId xmlns:a16="http://schemas.microsoft.com/office/drawing/2014/main" id="{FEF53956-A827-A904-5CE0-5878914DB3E7}"/>
              </a:ext>
            </a:extLst>
          </p:cNvPr>
          <p:cNvPicPr>
            <a:picLocks noChangeAspect="1"/>
          </p:cNvPicPr>
          <p:nvPr/>
        </p:nvPicPr>
        <p:blipFill>
          <a:blip r:embed="rId5"/>
          <a:stretch>
            <a:fillRect/>
          </a:stretch>
        </p:blipFill>
        <p:spPr>
          <a:xfrm>
            <a:off x="4467353" y="743712"/>
            <a:ext cx="4353609" cy="957177"/>
          </a:xfrm>
          <a:prstGeom prst="rect">
            <a:avLst/>
          </a:prstGeom>
        </p:spPr>
      </p:pic>
      <p:sp>
        <p:nvSpPr>
          <p:cNvPr id="18" name="Callout: Line 17">
            <a:extLst>
              <a:ext uri="{FF2B5EF4-FFF2-40B4-BE49-F238E27FC236}">
                <a16:creationId xmlns:a16="http://schemas.microsoft.com/office/drawing/2014/main" id="{4E9DA959-5899-FFD4-70D9-85F113BC072D}"/>
              </a:ext>
            </a:extLst>
          </p:cNvPr>
          <p:cNvSpPr/>
          <p:nvPr/>
        </p:nvSpPr>
        <p:spPr>
          <a:xfrm>
            <a:off x="4600956" y="2183688"/>
            <a:ext cx="1231641" cy="83343"/>
          </a:xfrm>
          <a:prstGeom prst="borderCallout1">
            <a:avLst>
              <a:gd name="adj1" fmla="val 49227"/>
              <a:gd name="adj2" fmla="val -84"/>
              <a:gd name="adj3" fmla="val -825604"/>
              <a:gd name="adj4" fmla="val -49225"/>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Callout: Line 18">
            <a:extLst>
              <a:ext uri="{FF2B5EF4-FFF2-40B4-BE49-F238E27FC236}">
                <a16:creationId xmlns:a16="http://schemas.microsoft.com/office/drawing/2014/main" id="{E5F85122-A2F5-FAD9-6331-F6A30896DED3}"/>
              </a:ext>
            </a:extLst>
          </p:cNvPr>
          <p:cNvSpPr/>
          <p:nvPr/>
        </p:nvSpPr>
        <p:spPr>
          <a:xfrm>
            <a:off x="4600957" y="945155"/>
            <a:ext cx="1231641" cy="83343"/>
          </a:xfrm>
          <a:prstGeom prst="borderCallout1">
            <a:avLst>
              <a:gd name="adj1" fmla="val 56846"/>
              <a:gd name="adj2" fmla="val -599"/>
              <a:gd name="adj3" fmla="val -56073"/>
              <a:gd name="adj4" fmla="val -43553"/>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Callout: Line 19">
            <a:extLst>
              <a:ext uri="{FF2B5EF4-FFF2-40B4-BE49-F238E27FC236}">
                <a16:creationId xmlns:a16="http://schemas.microsoft.com/office/drawing/2014/main" id="{3187057F-3DAE-FD91-5F5D-12390D3CFDDC}"/>
              </a:ext>
            </a:extLst>
          </p:cNvPr>
          <p:cNvSpPr/>
          <p:nvPr/>
        </p:nvSpPr>
        <p:spPr>
          <a:xfrm>
            <a:off x="4600956" y="2000761"/>
            <a:ext cx="1231641" cy="83343"/>
          </a:xfrm>
          <a:prstGeom prst="borderCallout1">
            <a:avLst>
              <a:gd name="adj1" fmla="val 49227"/>
              <a:gd name="adj2" fmla="val -84"/>
              <a:gd name="adj3" fmla="val -170360"/>
              <a:gd name="adj4" fmla="val -87893"/>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2" name="Picture 21">
            <a:extLst>
              <a:ext uri="{FF2B5EF4-FFF2-40B4-BE49-F238E27FC236}">
                <a16:creationId xmlns:a16="http://schemas.microsoft.com/office/drawing/2014/main" id="{035D2417-0754-3793-214F-3EE917E4AF11}"/>
              </a:ext>
            </a:extLst>
          </p:cNvPr>
          <p:cNvPicPr>
            <a:picLocks noChangeAspect="1"/>
          </p:cNvPicPr>
          <p:nvPr/>
        </p:nvPicPr>
        <p:blipFill>
          <a:blip r:embed="rId6"/>
          <a:stretch>
            <a:fillRect/>
          </a:stretch>
        </p:blipFill>
        <p:spPr>
          <a:xfrm>
            <a:off x="4467350" y="2406901"/>
            <a:ext cx="4353609" cy="695584"/>
          </a:xfrm>
          <a:prstGeom prst="rect">
            <a:avLst/>
          </a:prstGeom>
        </p:spPr>
      </p:pic>
      <p:pic>
        <p:nvPicPr>
          <p:cNvPr id="24" name="Picture 23">
            <a:extLst>
              <a:ext uri="{FF2B5EF4-FFF2-40B4-BE49-F238E27FC236}">
                <a16:creationId xmlns:a16="http://schemas.microsoft.com/office/drawing/2014/main" id="{7240B6B7-3C2D-E4F3-C59C-DF3D33CFC164}"/>
              </a:ext>
            </a:extLst>
          </p:cNvPr>
          <p:cNvPicPr>
            <a:picLocks noChangeAspect="1"/>
          </p:cNvPicPr>
          <p:nvPr/>
        </p:nvPicPr>
        <p:blipFill>
          <a:blip r:embed="rId7"/>
          <a:stretch>
            <a:fillRect/>
          </a:stretch>
        </p:blipFill>
        <p:spPr>
          <a:xfrm>
            <a:off x="4467350" y="3760766"/>
            <a:ext cx="4353609" cy="916226"/>
          </a:xfrm>
          <a:prstGeom prst="rect">
            <a:avLst/>
          </a:prstGeom>
        </p:spPr>
      </p:pic>
      <p:sp>
        <p:nvSpPr>
          <p:cNvPr id="25" name="Callout: Line 24">
            <a:extLst>
              <a:ext uri="{FF2B5EF4-FFF2-40B4-BE49-F238E27FC236}">
                <a16:creationId xmlns:a16="http://schemas.microsoft.com/office/drawing/2014/main" id="{32E7F09F-588B-D976-F290-3AF23D45AE88}"/>
              </a:ext>
            </a:extLst>
          </p:cNvPr>
          <p:cNvSpPr/>
          <p:nvPr/>
        </p:nvSpPr>
        <p:spPr>
          <a:xfrm>
            <a:off x="4705350" y="2653980"/>
            <a:ext cx="3179848" cy="305120"/>
          </a:xfrm>
          <a:prstGeom prst="borderCallout1">
            <a:avLst>
              <a:gd name="adj1" fmla="val 49227"/>
              <a:gd name="adj2" fmla="val -84"/>
              <a:gd name="adj3" fmla="val 294"/>
              <a:gd name="adj4" fmla="val -16596"/>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Callout: Line 25">
            <a:extLst>
              <a:ext uri="{FF2B5EF4-FFF2-40B4-BE49-F238E27FC236}">
                <a16:creationId xmlns:a16="http://schemas.microsoft.com/office/drawing/2014/main" id="{D41C19E8-42A1-AD79-556F-FBFAADD58A18}"/>
              </a:ext>
            </a:extLst>
          </p:cNvPr>
          <p:cNvSpPr/>
          <p:nvPr/>
        </p:nvSpPr>
        <p:spPr>
          <a:xfrm>
            <a:off x="4705350" y="4218879"/>
            <a:ext cx="1863847" cy="327757"/>
          </a:xfrm>
          <a:prstGeom prst="borderCallout1">
            <a:avLst>
              <a:gd name="adj1" fmla="val 49227"/>
              <a:gd name="adj2" fmla="val -84"/>
              <a:gd name="adj3" fmla="val -333103"/>
              <a:gd name="adj4" fmla="val -37470"/>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Callout: Line 26">
            <a:extLst>
              <a:ext uri="{FF2B5EF4-FFF2-40B4-BE49-F238E27FC236}">
                <a16:creationId xmlns:a16="http://schemas.microsoft.com/office/drawing/2014/main" id="{5839892A-41FC-8C6C-D36B-A733D3881A01}"/>
              </a:ext>
            </a:extLst>
          </p:cNvPr>
          <p:cNvSpPr/>
          <p:nvPr/>
        </p:nvSpPr>
        <p:spPr>
          <a:xfrm>
            <a:off x="4705350" y="2959101"/>
            <a:ext cx="3172747" cy="86572"/>
          </a:xfrm>
          <a:prstGeom prst="borderCallout1">
            <a:avLst>
              <a:gd name="adj1" fmla="val 49227"/>
              <a:gd name="adj2" fmla="val -84"/>
              <a:gd name="adj3" fmla="val 196387"/>
              <a:gd name="adj4" fmla="val -22046"/>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Callout: Line 27">
            <a:extLst>
              <a:ext uri="{FF2B5EF4-FFF2-40B4-BE49-F238E27FC236}">
                <a16:creationId xmlns:a16="http://schemas.microsoft.com/office/drawing/2014/main" id="{211FBE21-BC46-9F38-348A-91FFFE272247}"/>
              </a:ext>
            </a:extLst>
          </p:cNvPr>
          <p:cNvSpPr/>
          <p:nvPr/>
        </p:nvSpPr>
        <p:spPr>
          <a:xfrm>
            <a:off x="1058904" y="4292600"/>
            <a:ext cx="2109746" cy="101849"/>
          </a:xfrm>
          <a:prstGeom prst="borderCallout1">
            <a:avLst>
              <a:gd name="adj1" fmla="val -651"/>
              <a:gd name="adj2" fmla="val 60715"/>
              <a:gd name="adj3" fmla="val -563147"/>
              <a:gd name="adj4" fmla="val 53570"/>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50245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HSRP Configurations</a:t>
            </a:r>
          </a:p>
        </p:txBody>
      </p:sp>
      <p:sp>
        <p:nvSpPr>
          <p:cNvPr id="3" name="TextBox 2">
            <a:extLst>
              <a:ext uri="{FF2B5EF4-FFF2-40B4-BE49-F238E27FC236}">
                <a16:creationId xmlns:a16="http://schemas.microsoft.com/office/drawing/2014/main" id="{F8C9F5DF-C1E5-95FF-28C4-5E978D404CE1}"/>
              </a:ext>
            </a:extLst>
          </p:cNvPr>
          <p:cNvSpPr txBox="1"/>
          <p:nvPr/>
        </p:nvSpPr>
        <p:spPr>
          <a:xfrm>
            <a:off x="109399" y="743712"/>
            <a:ext cx="8925202" cy="646331"/>
          </a:xfrm>
          <a:prstGeom prst="rect">
            <a:avLst/>
          </a:prstGeom>
          <a:noFill/>
        </p:spPr>
        <p:txBody>
          <a:bodyPr wrap="square" rtlCol="0">
            <a:spAutoFit/>
          </a:bodyPr>
          <a:lstStyle/>
          <a:p>
            <a:r>
              <a:rPr lang="en-SG" sz="1200" dirty="0"/>
              <a:t>Hot Standby Router Protocol provides network redundancy by combining 2 routers together into a single virtual router that shares the same IP address. This allows one router to be on standby and becomes active when the main router is down, </a:t>
            </a:r>
            <a:r>
              <a:rPr lang="en-US" sz="1200" dirty="0"/>
              <a:t>and ensures that routing traffic immediately recovers.</a:t>
            </a:r>
            <a:endParaRPr lang="en-SG" sz="1200" dirty="0"/>
          </a:p>
        </p:txBody>
      </p:sp>
      <p:pic>
        <p:nvPicPr>
          <p:cNvPr id="7" name="Picture 6">
            <a:extLst>
              <a:ext uri="{FF2B5EF4-FFF2-40B4-BE49-F238E27FC236}">
                <a16:creationId xmlns:a16="http://schemas.microsoft.com/office/drawing/2014/main" id="{21383924-D05C-48BF-63FC-73B98F8B660A}"/>
              </a:ext>
            </a:extLst>
          </p:cNvPr>
          <p:cNvPicPr>
            <a:picLocks noChangeAspect="1"/>
          </p:cNvPicPr>
          <p:nvPr/>
        </p:nvPicPr>
        <p:blipFill>
          <a:blip r:embed="rId3"/>
          <a:stretch>
            <a:fillRect/>
          </a:stretch>
        </p:blipFill>
        <p:spPr>
          <a:xfrm>
            <a:off x="4112526" y="2794525"/>
            <a:ext cx="4867742" cy="1171864"/>
          </a:xfrm>
          <a:prstGeom prst="rect">
            <a:avLst/>
          </a:prstGeom>
        </p:spPr>
      </p:pic>
      <p:sp>
        <p:nvSpPr>
          <p:cNvPr id="8" name="TextBox 7">
            <a:extLst>
              <a:ext uri="{FF2B5EF4-FFF2-40B4-BE49-F238E27FC236}">
                <a16:creationId xmlns:a16="http://schemas.microsoft.com/office/drawing/2014/main" id="{22D46FD3-8ED2-ECE4-06CE-C86B6FEA69F2}"/>
              </a:ext>
            </a:extLst>
          </p:cNvPr>
          <p:cNvSpPr txBox="1"/>
          <p:nvPr/>
        </p:nvSpPr>
        <p:spPr>
          <a:xfrm>
            <a:off x="109398" y="1390043"/>
            <a:ext cx="3948795" cy="1015663"/>
          </a:xfrm>
          <a:prstGeom prst="rect">
            <a:avLst/>
          </a:prstGeom>
          <a:noFill/>
        </p:spPr>
        <p:txBody>
          <a:bodyPr wrap="square" rtlCol="0">
            <a:spAutoFit/>
          </a:bodyPr>
          <a:lstStyle/>
          <a:p>
            <a:r>
              <a:rPr lang="en-SG" sz="1200" dirty="0"/>
              <a:t>In this case, router R2 is the main active router and router R7 is the standby backup router. Grp 1 is connected to the Servers and Grp 2 is connected to other routers. When R2 is disconnected, R7 will becomes active, and routing will turn to R7.</a:t>
            </a:r>
          </a:p>
        </p:txBody>
      </p:sp>
      <p:pic>
        <p:nvPicPr>
          <p:cNvPr id="11" name="Picture 10">
            <a:extLst>
              <a:ext uri="{FF2B5EF4-FFF2-40B4-BE49-F238E27FC236}">
                <a16:creationId xmlns:a16="http://schemas.microsoft.com/office/drawing/2014/main" id="{24A23A96-E3F7-9F08-2C82-469752D7E1DC}"/>
              </a:ext>
            </a:extLst>
          </p:cNvPr>
          <p:cNvPicPr>
            <a:picLocks noChangeAspect="1"/>
          </p:cNvPicPr>
          <p:nvPr/>
        </p:nvPicPr>
        <p:blipFill>
          <a:blip r:embed="rId4"/>
          <a:stretch>
            <a:fillRect/>
          </a:stretch>
        </p:blipFill>
        <p:spPr>
          <a:xfrm>
            <a:off x="4112526" y="1240173"/>
            <a:ext cx="4867742" cy="979064"/>
          </a:xfrm>
          <a:prstGeom prst="rect">
            <a:avLst/>
          </a:prstGeom>
        </p:spPr>
      </p:pic>
      <p:pic>
        <p:nvPicPr>
          <p:cNvPr id="13" name="Picture 12">
            <a:extLst>
              <a:ext uri="{FF2B5EF4-FFF2-40B4-BE49-F238E27FC236}">
                <a16:creationId xmlns:a16="http://schemas.microsoft.com/office/drawing/2014/main" id="{4A5833A0-FEF6-F0C9-91D2-8DD06D237386}"/>
              </a:ext>
            </a:extLst>
          </p:cNvPr>
          <p:cNvPicPr>
            <a:picLocks noChangeAspect="1"/>
          </p:cNvPicPr>
          <p:nvPr/>
        </p:nvPicPr>
        <p:blipFill>
          <a:blip r:embed="rId5"/>
          <a:stretch>
            <a:fillRect/>
          </a:stretch>
        </p:blipFill>
        <p:spPr>
          <a:xfrm>
            <a:off x="4112526" y="3983969"/>
            <a:ext cx="4867742" cy="981846"/>
          </a:xfrm>
          <a:prstGeom prst="rect">
            <a:avLst/>
          </a:prstGeom>
        </p:spPr>
      </p:pic>
      <p:pic>
        <p:nvPicPr>
          <p:cNvPr id="4" name="Picture 3">
            <a:extLst>
              <a:ext uri="{FF2B5EF4-FFF2-40B4-BE49-F238E27FC236}">
                <a16:creationId xmlns:a16="http://schemas.microsoft.com/office/drawing/2014/main" id="{2F8D725B-A54E-CAE4-2587-4377D68FE4D2}"/>
              </a:ext>
            </a:extLst>
          </p:cNvPr>
          <p:cNvPicPr>
            <a:picLocks noChangeAspect="1"/>
          </p:cNvPicPr>
          <p:nvPr/>
        </p:nvPicPr>
        <p:blipFill>
          <a:blip r:embed="rId6"/>
          <a:stretch>
            <a:fillRect/>
          </a:stretch>
        </p:blipFill>
        <p:spPr>
          <a:xfrm>
            <a:off x="386488" y="2571750"/>
            <a:ext cx="3090961" cy="2163142"/>
          </a:xfrm>
          <a:prstGeom prst="rect">
            <a:avLst/>
          </a:prstGeom>
        </p:spPr>
      </p:pic>
      <p:sp>
        <p:nvSpPr>
          <p:cNvPr id="5" name="Callout: Line 4">
            <a:extLst>
              <a:ext uri="{FF2B5EF4-FFF2-40B4-BE49-F238E27FC236}">
                <a16:creationId xmlns:a16="http://schemas.microsoft.com/office/drawing/2014/main" id="{C5EFF835-E5D2-1DFE-06F0-ABD32206A840}"/>
              </a:ext>
            </a:extLst>
          </p:cNvPr>
          <p:cNvSpPr/>
          <p:nvPr/>
        </p:nvSpPr>
        <p:spPr>
          <a:xfrm>
            <a:off x="6304743" y="1897874"/>
            <a:ext cx="822036" cy="128529"/>
          </a:xfrm>
          <a:prstGeom prst="borderCallout1">
            <a:avLst>
              <a:gd name="adj1" fmla="val 26683"/>
              <a:gd name="adj2" fmla="val 100018"/>
              <a:gd name="adj3" fmla="val 4585"/>
              <a:gd name="adj4" fmla="val 140283"/>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510DDEA4-6826-8DDA-6C65-427D24051E99}"/>
              </a:ext>
            </a:extLst>
          </p:cNvPr>
          <p:cNvSpPr txBox="1"/>
          <p:nvPr/>
        </p:nvSpPr>
        <p:spPr>
          <a:xfrm>
            <a:off x="7401560" y="1752249"/>
            <a:ext cx="721672" cy="276999"/>
          </a:xfrm>
          <a:prstGeom prst="rect">
            <a:avLst/>
          </a:prstGeom>
          <a:noFill/>
        </p:spPr>
        <p:txBody>
          <a:bodyPr wrap="none" rtlCol="0">
            <a:spAutoFit/>
          </a:bodyPr>
          <a:lstStyle/>
          <a:p>
            <a:r>
              <a:rPr lang="en-SG" sz="1200" dirty="0">
                <a:solidFill>
                  <a:srgbClr val="FF0000"/>
                </a:solidFill>
              </a:rPr>
              <a:t>R2 g0/0</a:t>
            </a:r>
          </a:p>
        </p:txBody>
      </p:sp>
      <p:sp>
        <p:nvSpPr>
          <p:cNvPr id="9" name="TextBox 8">
            <a:extLst>
              <a:ext uri="{FF2B5EF4-FFF2-40B4-BE49-F238E27FC236}">
                <a16:creationId xmlns:a16="http://schemas.microsoft.com/office/drawing/2014/main" id="{839FE9DE-289A-BCF0-ADE2-218A84F539CB}"/>
              </a:ext>
            </a:extLst>
          </p:cNvPr>
          <p:cNvSpPr txBox="1"/>
          <p:nvPr/>
        </p:nvSpPr>
        <p:spPr>
          <a:xfrm>
            <a:off x="5924519" y="1420915"/>
            <a:ext cx="1582484" cy="276999"/>
          </a:xfrm>
          <a:prstGeom prst="rect">
            <a:avLst/>
          </a:prstGeom>
          <a:noFill/>
        </p:spPr>
        <p:txBody>
          <a:bodyPr wrap="none" rtlCol="0">
            <a:spAutoFit/>
          </a:bodyPr>
          <a:lstStyle/>
          <a:p>
            <a:r>
              <a:rPr lang="en-SG" sz="1200" dirty="0">
                <a:solidFill>
                  <a:srgbClr val="FF0000"/>
                </a:solidFill>
              </a:rPr>
              <a:t>Before disconnected</a:t>
            </a:r>
          </a:p>
        </p:txBody>
      </p:sp>
      <p:sp>
        <p:nvSpPr>
          <p:cNvPr id="10" name="TextBox 9">
            <a:extLst>
              <a:ext uri="{FF2B5EF4-FFF2-40B4-BE49-F238E27FC236}">
                <a16:creationId xmlns:a16="http://schemas.microsoft.com/office/drawing/2014/main" id="{5C4BA85D-ED2B-BFE4-0309-018CEBBD04BF}"/>
              </a:ext>
            </a:extLst>
          </p:cNvPr>
          <p:cNvSpPr txBox="1"/>
          <p:nvPr/>
        </p:nvSpPr>
        <p:spPr>
          <a:xfrm>
            <a:off x="5666553" y="2498323"/>
            <a:ext cx="1455848" cy="276999"/>
          </a:xfrm>
          <a:prstGeom prst="rect">
            <a:avLst/>
          </a:prstGeom>
          <a:noFill/>
        </p:spPr>
        <p:txBody>
          <a:bodyPr wrap="none" rtlCol="0">
            <a:spAutoFit/>
          </a:bodyPr>
          <a:lstStyle/>
          <a:p>
            <a:r>
              <a:rPr lang="en-SG" sz="1200" dirty="0">
                <a:solidFill>
                  <a:srgbClr val="FF0000"/>
                </a:solidFill>
              </a:rPr>
              <a:t>After disconnected</a:t>
            </a:r>
          </a:p>
        </p:txBody>
      </p:sp>
      <p:sp>
        <p:nvSpPr>
          <p:cNvPr id="12" name="Callout: Line 11">
            <a:extLst>
              <a:ext uri="{FF2B5EF4-FFF2-40B4-BE49-F238E27FC236}">
                <a16:creationId xmlns:a16="http://schemas.microsoft.com/office/drawing/2014/main" id="{24B1D707-DBDE-916F-00AC-C474C304F77E}"/>
              </a:ext>
            </a:extLst>
          </p:cNvPr>
          <p:cNvSpPr/>
          <p:nvPr/>
        </p:nvSpPr>
        <p:spPr>
          <a:xfrm>
            <a:off x="6304743" y="4683833"/>
            <a:ext cx="822036" cy="128529"/>
          </a:xfrm>
          <a:prstGeom prst="borderCallout1">
            <a:avLst>
              <a:gd name="adj1" fmla="val 26683"/>
              <a:gd name="adj2" fmla="val 100018"/>
              <a:gd name="adj3" fmla="val 4585"/>
              <a:gd name="adj4" fmla="val 140283"/>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TextBox 14">
            <a:extLst>
              <a:ext uri="{FF2B5EF4-FFF2-40B4-BE49-F238E27FC236}">
                <a16:creationId xmlns:a16="http://schemas.microsoft.com/office/drawing/2014/main" id="{417F7DC3-335C-5A2C-5502-F4075563271B}"/>
              </a:ext>
            </a:extLst>
          </p:cNvPr>
          <p:cNvSpPr txBox="1"/>
          <p:nvPr/>
        </p:nvSpPr>
        <p:spPr>
          <a:xfrm>
            <a:off x="7401560" y="4538208"/>
            <a:ext cx="721672" cy="276999"/>
          </a:xfrm>
          <a:prstGeom prst="rect">
            <a:avLst/>
          </a:prstGeom>
          <a:noFill/>
        </p:spPr>
        <p:txBody>
          <a:bodyPr wrap="none" rtlCol="0">
            <a:spAutoFit/>
          </a:bodyPr>
          <a:lstStyle/>
          <a:p>
            <a:r>
              <a:rPr lang="en-SG" sz="1200" dirty="0">
                <a:solidFill>
                  <a:srgbClr val="FF0000"/>
                </a:solidFill>
              </a:rPr>
              <a:t>R7 g0/0</a:t>
            </a:r>
          </a:p>
        </p:txBody>
      </p:sp>
    </p:spTree>
    <p:extLst>
      <p:ext uri="{BB962C8B-B14F-4D97-AF65-F5344CB8AC3E}">
        <p14:creationId xmlns:p14="http://schemas.microsoft.com/office/powerpoint/2010/main" val="3291636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Testing of Network</a:t>
            </a:r>
          </a:p>
        </p:txBody>
      </p:sp>
      <p:sp>
        <p:nvSpPr>
          <p:cNvPr id="4" name="TextBox 3">
            <a:extLst>
              <a:ext uri="{FF2B5EF4-FFF2-40B4-BE49-F238E27FC236}">
                <a16:creationId xmlns:a16="http://schemas.microsoft.com/office/drawing/2014/main" id="{0E4022C2-D0FB-B4CD-6241-A06A5C8FE5BC}"/>
              </a:ext>
            </a:extLst>
          </p:cNvPr>
          <p:cNvSpPr txBox="1"/>
          <p:nvPr/>
        </p:nvSpPr>
        <p:spPr>
          <a:xfrm>
            <a:off x="109399" y="743712"/>
            <a:ext cx="8925202" cy="3108543"/>
          </a:xfrm>
          <a:prstGeom prst="rect">
            <a:avLst/>
          </a:prstGeom>
          <a:noFill/>
        </p:spPr>
        <p:txBody>
          <a:bodyPr wrap="square" rtlCol="0">
            <a:spAutoFit/>
          </a:bodyPr>
          <a:lstStyle/>
          <a:p>
            <a:r>
              <a:rPr lang="en-SG" sz="1400" dirty="0">
                <a:solidFill>
                  <a:schemeClr val="tx1"/>
                </a:solidFill>
              </a:rPr>
              <a:t>Testing and Verifying Strategy of ABC Pte Ltd.'s Network.</a:t>
            </a:r>
            <a:endParaRPr lang="en-SG" dirty="0"/>
          </a:p>
          <a:p>
            <a:r>
              <a:rPr lang="en-SG" dirty="0"/>
              <a:t>Simple Protocol Data Unit (PDU) allow us to test basic communication between end devices. I have created multiple scenarios to verify the network routing.</a:t>
            </a:r>
          </a:p>
          <a:p>
            <a:endParaRPr lang="en-SG" dirty="0"/>
          </a:p>
          <a:p>
            <a:r>
              <a:rPr lang="en-SG" dirty="0"/>
              <a:t>Scenario 0: </a:t>
            </a:r>
            <a:r>
              <a:rPr lang="en-US" dirty="0"/>
              <a:t>ISP testing from all end devices to R1</a:t>
            </a:r>
          </a:p>
          <a:p>
            <a:endParaRPr lang="en-SG" dirty="0"/>
          </a:p>
          <a:p>
            <a:r>
              <a:rPr lang="en-SG" dirty="0"/>
              <a:t>Scenario 1: Testing connection between employees, </a:t>
            </a:r>
            <a:r>
              <a:rPr lang="en-US" dirty="0"/>
              <a:t>Engineering1 to all end devices</a:t>
            </a:r>
            <a:endParaRPr lang="en-SG" dirty="0"/>
          </a:p>
          <a:p>
            <a:endParaRPr lang="en-SG" dirty="0"/>
          </a:p>
          <a:p>
            <a:r>
              <a:rPr lang="en-SG" dirty="0"/>
              <a:t>Scenario 2: </a:t>
            </a:r>
            <a:r>
              <a:rPr lang="en-US" dirty="0"/>
              <a:t>Test HSRP connection, by disconnecting R2 connection to S2 and S1.</a:t>
            </a:r>
          </a:p>
          <a:p>
            <a:endParaRPr lang="en-SG" dirty="0"/>
          </a:p>
          <a:p>
            <a:endParaRPr lang="en-SG" dirty="0"/>
          </a:p>
          <a:p>
            <a:r>
              <a:rPr lang="en-SG" dirty="0"/>
              <a:t>Additional to verify the HSRP and OSPF, the command tracert could help determines the network path taken.</a:t>
            </a:r>
          </a:p>
          <a:p>
            <a:endParaRPr lang="en-SG" dirty="0"/>
          </a:p>
          <a:p>
            <a:r>
              <a:rPr lang="en-SG" dirty="0"/>
              <a:t>Furthermore, the router command line interface’s commands could help verify the routing protocol.</a:t>
            </a:r>
          </a:p>
        </p:txBody>
      </p:sp>
      <p:graphicFrame>
        <p:nvGraphicFramePr>
          <p:cNvPr id="5" name="Table 4">
            <a:extLst>
              <a:ext uri="{FF2B5EF4-FFF2-40B4-BE49-F238E27FC236}">
                <a16:creationId xmlns:a16="http://schemas.microsoft.com/office/drawing/2014/main" id="{69B3261A-1B2C-7001-FAE4-281AC33E1ECA}"/>
              </a:ext>
            </a:extLst>
          </p:cNvPr>
          <p:cNvGraphicFramePr>
            <a:graphicFrameLocks noGrp="1"/>
          </p:cNvGraphicFramePr>
          <p:nvPr>
            <p:extLst>
              <p:ext uri="{D42A27DB-BD31-4B8C-83A1-F6EECF244321}">
                <p14:modId xmlns:p14="http://schemas.microsoft.com/office/powerpoint/2010/main" val="1169817949"/>
              </p:ext>
            </p:extLst>
          </p:nvPr>
        </p:nvGraphicFramePr>
        <p:xfrm>
          <a:off x="1548384" y="3851838"/>
          <a:ext cx="6047232" cy="944880"/>
        </p:xfrm>
        <a:graphic>
          <a:graphicData uri="http://schemas.openxmlformats.org/drawingml/2006/table">
            <a:tbl>
              <a:tblPr firstRow="1" bandRow="1">
                <a:tableStyleId>{95D73AC1-B103-4C89-B5A6-36388A9374AA}</a:tableStyleId>
              </a:tblPr>
              <a:tblGrid>
                <a:gridCol w="3048000">
                  <a:extLst>
                    <a:ext uri="{9D8B030D-6E8A-4147-A177-3AD203B41FA5}">
                      <a16:colId xmlns:a16="http://schemas.microsoft.com/office/drawing/2014/main" val="2983908165"/>
                    </a:ext>
                  </a:extLst>
                </a:gridCol>
                <a:gridCol w="2999232">
                  <a:extLst>
                    <a:ext uri="{9D8B030D-6E8A-4147-A177-3AD203B41FA5}">
                      <a16:colId xmlns:a16="http://schemas.microsoft.com/office/drawing/2014/main" val="2407796526"/>
                    </a:ext>
                  </a:extLst>
                </a:gridCol>
              </a:tblGrid>
              <a:tr h="370840">
                <a:tc>
                  <a:txBody>
                    <a:bodyPr/>
                    <a:lstStyle/>
                    <a:p>
                      <a:r>
                        <a:rPr lang="en-SG" dirty="0"/>
                        <a:t>OSPF:</a:t>
                      </a:r>
                    </a:p>
                    <a:p>
                      <a:r>
                        <a:rPr lang="en-SG" dirty="0"/>
                        <a:t>show ip ospf interface</a:t>
                      </a:r>
                    </a:p>
                    <a:p>
                      <a:r>
                        <a:rPr lang="en-SG" dirty="0"/>
                        <a:t>show ip ospf neighbor</a:t>
                      </a:r>
                    </a:p>
                    <a:p>
                      <a:r>
                        <a:rPr lang="en-SG" dirty="0">
                          <a:effectLst/>
                        </a:rPr>
                        <a:t>show ip ospf border-routers</a:t>
                      </a:r>
                      <a:endParaRPr lang="en-SG"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dirty="0"/>
                        <a:t>HSRP:</a:t>
                      </a:r>
                    </a:p>
                    <a:p>
                      <a:r>
                        <a:rPr lang="en-SG" dirty="0"/>
                        <a:t>show standby brief</a:t>
                      </a:r>
                    </a:p>
                    <a:p>
                      <a:r>
                        <a:rPr lang="en-SG" dirty="0"/>
                        <a:t>show standby</a:t>
                      </a:r>
                    </a:p>
                    <a:p>
                      <a:endParaRPr lang="en-SG"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619522"/>
                  </a:ext>
                </a:extLst>
              </a:tr>
            </a:tbl>
          </a:graphicData>
        </a:graphic>
      </p:graphicFrame>
    </p:spTree>
    <p:extLst>
      <p:ext uri="{BB962C8B-B14F-4D97-AF65-F5344CB8AC3E}">
        <p14:creationId xmlns:p14="http://schemas.microsoft.com/office/powerpoint/2010/main" val="41432643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Implementation Budget cost estimate</a:t>
            </a:r>
          </a:p>
        </p:txBody>
      </p:sp>
      <p:graphicFrame>
        <p:nvGraphicFramePr>
          <p:cNvPr id="4" name="Table 3">
            <a:extLst>
              <a:ext uri="{FF2B5EF4-FFF2-40B4-BE49-F238E27FC236}">
                <a16:creationId xmlns:a16="http://schemas.microsoft.com/office/drawing/2014/main" id="{200C460D-A5D4-A987-0F7A-B4CE36F3F129}"/>
              </a:ext>
            </a:extLst>
          </p:cNvPr>
          <p:cNvGraphicFramePr>
            <a:graphicFrameLocks noGrp="1"/>
          </p:cNvGraphicFramePr>
          <p:nvPr>
            <p:extLst>
              <p:ext uri="{D42A27DB-BD31-4B8C-83A1-F6EECF244321}">
                <p14:modId xmlns:p14="http://schemas.microsoft.com/office/powerpoint/2010/main" val="3749990501"/>
              </p:ext>
            </p:extLst>
          </p:nvPr>
        </p:nvGraphicFramePr>
        <p:xfrm>
          <a:off x="189571" y="743712"/>
          <a:ext cx="8764860" cy="2966720"/>
        </p:xfrm>
        <a:graphic>
          <a:graphicData uri="http://schemas.openxmlformats.org/drawingml/2006/table">
            <a:tbl>
              <a:tblPr firstRow="1" bandRow="1">
                <a:tableStyleId>{95D73AC1-B103-4C89-B5A6-36388A9374AA}</a:tableStyleId>
              </a:tblPr>
              <a:tblGrid>
                <a:gridCol w="512956">
                  <a:extLst>
                    <a:ext uri="{9D8B030D-6E8A-4147-A177-3AD203B41FA5}">
                      <a16:colId xmlns:a16="http://schemas.microsoft.com/office/drawing/2014/main" val="1380186261"/>
                    </a:ext>
                  </a:extLst>
                </a:gridCol>
                <a:gridCol w="4092497">
                  <a:extLst>
                    <a:ext uri="{9D8B030D-6E8A-4147-A177-3AD203B41FA5}">
                      <a16:colId xmlns:a16="http://schemas.microsoft.com/office/drawing/2014/main" val="1998492737"/>
                    </a:ext>
                  </a:extLst>
                </a:gridCol>
                <a:gridCol w="1494264">
                  <a:extLst>
                    <a:ext uri="{9D8B030D-6E8A-4147-A177-3AD203B41FA5}">
                      <a16:colId xmlns:a16="http://schemas.microsoft.com/office/drawing/2014/main" val="476977561"/>
                    </a:ext>
                  </a:extLst>
                </a:gridCol>
                <a:gridCol w="1048214">
                  <a:extLst>
                    <a:ext uri="{9D8B030D-6E8A-4147-A177-3AD203B41FA5}">
                      <a16:colId xmlns:a16="http://schemas.microsoft.com/office/drawing/2014/main" val="4020928989"/>
                    </a:ext>
                  </a:extLst>
                </a:gridCol>
                <a:gridCol w="1616929">
                  <a:extLst>
                    <a:ext uri="{9D8B030D-6E8A-4147-A177-3AD203B41FA5}">
                      <a16:colId xmlns:a16="http://schemas.microsoft.com/office/drawing/2014/main" val="3220562562"/>
                    </a:ext>
                  </a:extLst>
                </a:gridCol>
              </a:tblGrid>
              <a:tr h="370840">
                <a:tc>
                  <a:txBody>
                    <a:bodyPr/>
                    <a:lstStyle/>
                    <a:p>
                      <a:pPr algn="ctr"/>
                      <a:r>
                        <a:rPr lang="en-SG" sz="1400" dirty="0">
                          <a:latin typeface="Overpass" panose="020B0604020202020204" charset="0"/>
                        </a:rPr>
                        <a:t>No.</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Description/Model</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Unit Price (SDG)</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Quantity</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Sub Total (SDG)</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244621"/>
                  </a:ext>
                </a:extLst>
              </a:tr>
              <a:tr h="370840">
                <a:tc>
                  <a:txBody>
                    <a:bodyPr/>
                    <a:lstStyle/>
                    <a:p>
                      <a:pPr algn="ctr"/>
                      <a:r>
                        <a:rPr lang="en-SG" sz="1400" dirty="0">
                          <a:latin typeface="Overpass" panose="020B0604020202020204"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Cisco Router 2911/K9</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$2154.12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$12924.72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344512"/>
                  </a:ext>
                </a:extLst>
              </a:tr>
              <a:tr h="370840">
                <a:tc>
                  <a:txBody>
                    <a:bodyPr/>
                    <a:lstStyle/>
                    <a:p>
                      <a:pPr algn="ctr"/>
                      <a:r>
                        <a:rPr lang="en-SG" sz="1400" dirty="0">
                          <a:latin typeface="Overpass" panose="020B0604020202020204"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Cisco Serial Port: HWIC-2T</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$492.01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$1968.04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4356376"/>
                  </a:ext>
                </a:extLst>
              </a:tr>
              <a:tr h="370840">
                <a:tc>
                  <a:txBody>
                    <a:bodyPr/>
                    <a:lstStyle/>
                    <a:p>
                      <a:pPr algn="ctr"/>
                      <a:r>
                        <a:rPr lang="en-SG" sz="1400" dirty="0">
                          <a:latin typeface="Overpass" panose="020B0604020202020204"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Cisco Catalyst Switch 2960: WS-C2960-24LT-L</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$975.77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$3903.08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3604819"/>
                  </a:ext>
                </a:extLst>
              </a:tr>
              <a:tr h="370840">
                <a:tc>
                  <a:txBody>
                    <a:bodyPr/>
                    <a:lstStyle/>
                    <a:p>
                      <a:pPr algn="ctr"/>
                      <a:r>
                        <a:rPr lang="en-SG" sz="1400" dirty="0">
                          <a:latin typeface="Overpass" panose="020B0604020202020204"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Cisco Catalyst Switch 2960: WS-C2960-48TC-L</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$846.58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SG" sz="1400" dirty="0">
                          <a:latin typeface="Overpass" panose="020B0604020202020204" charset="0"/>
                        </a:rPr>
                        <a:t>$846.58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2035980"/>
                  </a:ext>
                </a:extLst>
              </a:tr>
              <a:tr h="370840">
                <a:tc>
                  <a:txBody>
                    <a:bodyPr/>
                    <a:lstStyle/>
                    <a:p>
                      <a:pPr algn="ctr"/>
                      <a:r>
                        <a:rPr lang="en-SG" sz="1400" dirty="0">
                          <a:latin typeface="Overpass" panose="020B0604020202020204"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Copper Straight-Through Cable: Cat5e, RJ45, 1M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$6.52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49</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$319.48</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028948"/>
                  </a:ext>
                </a:extLst>
              </a:tr>
              <a:tr h="370840">
                <a:tc>
                  <a:txBody>
                    <a:bodyPr/>
                    <a:lstStyle/>
                    <a:p>
                      <a:pPr algn="ctr"/>
                      <a:r>
                        <a:rPr lang="en-SG" sz="1400" dirty="0">
                          <a:latin typeface="Overpass" panose="020B0604020202020204"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Serial Cable: CAB-SS-2626X</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$33.89</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$33.89</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919539"/>
                  </a:ext>
                </a:extLst>
              </a:tr>
              <a:tr h="370840">
                <a:tc gridSpan="4">
                  <a:txBody>
                    <a:bodyPr/>
                    <a:lstStyle/>
                    <a:p>
                      <a:pPr algn="r"/>
                      <a:r>
                        <a:rPr lang="en-SG" sz="1400" dirty="0">
                          <a:latin typeface="Overpass" panose="020B0604020202020204" charset="0"/>
                        </a:rPr>
                        <a:t>Total (SDG):</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sz="1400"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sz="1400"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pPr algn="ctr"/>
                      <a:endParaRPr lang="en-SG" sz="1400" dirty="0">
                        <a:latin typeface="Overpass" panose="020B060402020202020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SG" sz="1400" dirty="0">
                          <a:latin typeface="Overpass" panose="020B0604020202020204" charset="0"/>
                        </a:rPr>
                        <a:t>$19995.79</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409360"/>
                  </a:ext>
                </a:extLst>
              </a:tr>
            </a:tbl>
          </a:graphicData>
        </a:graphic>
      </p:graphicFrame>
      <p:sp>
        <p:nvSpPr>
          <p:cNvPr id="9" name="TextBox 8">
            <a:extLst>
              <a:ext uri="{FF2B5EF4-FFF2-40B4-BE49-F238E27FC236}">
                <a16:creationId xmlns:a16="http://schemas.microsoft.com/office/drawing/2014/main" id="{086694EF-5698-51BF-3E2C-E1B2A23F40E6}"/>
              </a:ext>
            </a:extLst>
          </p:cNvPr>
          <p:cNvSpPr txBox="1"/>
          <p:nvPr/>
        </p:nvSpPr>
        <p:spPr>
          <a:xfrm>
            <a:off x="189573" y="3865100"/>
            <a:ext cx="8764858" cy="954107"/>
          </a:xfrm>
          <a:prstGeom prst="rect">
            <a:avLst/>
          </a:prstGeom>
          <a:noFill/>
        </p:spPr>
        <p:txBody>
          <a:bodyPr wrap="square" rtlCol="0">
            <a:spAutoFit/>
          </a:bodyPr>
          <a:lstStyle/>
          <a:p>
            <a:r>
              <a:rPr lang="en-SG" dirty="0"/>
              <a:t>This is a rough estimation and doesn’t include the 2 copper straight-through cable to remote offices because of unknown length. Additionally, Internet Service Provider leased lines are also excluded due to unknown contract cost. Furthermore, Switch with 48 fast ethernet ports is for Administration Department as there are 25 current employees.</a:t>
            </a:r>
          </a:p>
        </p:txBody>
      </p:sp>
    </p:spTree>
    <p:extLst>
      <p:ext uri="{BB962C8B-B14F-4D97-AF65-F5344CB8AC3E}">
        <p14:creationId xmlns:p14="http://schemas.microsoft.com/office/powerpoint/2010/main" val="1091764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pPr algn="ctr"/>
            <a:r>
              <a:rPr lang="en-SG" dirty="0"/>
              <a:t>Future recommendations</a:t>
            </a:r>
          </a:p>
        </p:txBody>
      </p:sp>
      <p:sp>
        <p:nvSpPr>
          <p:cNvPr id="2" name="TextBox 1">
            <a:extLst>
              <a:ext uri="{FF2B5EF4-FFF2-40B4-BE49-F238E27FC236}">
                <a16:creationId xmlns:a16="http://schemas.microsoft.com/office/drawing/2014/main" id="{41529D28-D393-4C0F-19C8-1AB041D6DB05}"/>
              </a:ext>
            </a:extLst>
          </p:cNvPr>
          <p:cNvSpPr txBox="1"/>
          <p:nvPr/>
        </p:nvSpPr>
        <p:spPr>
          <a:xfrm>
            <a:off x="439446" y="840509"/>
            <a:ext cx="8298154" cy="3539430"/>
          </a:xfrm>
          <a:prstGeom prst="rect">
            <a:avLst/>
          </a:prstGeom>
          <a:noFill/>
        </p:spPr>
        <p:txBody>
          <a:bodyPr wrap="square" rtlCol="0">
            <a:spAutoFit/>
          </a:bodyPr>
          <a:lstStyle/>
          <a:p>
            <a:pPr algn="ctr"/>
            <a:r>
              <a:rPr lang="en-SG" sz="1600" b="1" dirty="0"/>
              <a:t>Recommendation 1</a:t>
            </a:r>
          </a:p>
          <a:p>
            <a:pPr algn="ctr"/>
            <a:r>
              <a:rPr lang="en-SG" sz="1600" dirty="0"/>
              <a:t>Additional redundant links such as router R6 to R3 or R5 to S1. This help with redundancy, given there is only one line connection from Remote site to ISP, and one line connection from R5 to ISP.</a:t>
            </a:r>
          </a:p>
          <a:p>
            <a:pPr algn="ctr"/>
            <a:endParaRPr lang="en-SG" sz="1600" dirty="0"/>
          </a:p>
          <a:p>
            <a:pPr algn="ctr"/>
            <a:r>
              <a:rPr lang="en-SG" sz="1600" b="1" dirty="0"/>
              <a:t>Recommendation 2</a:t>
            </a:r>
          </a:p>
          <a:p>
            <a:pPr algn="ctr"/>
            <a:r>
              <a:rPr lang="en-SG" sz="1600" dirty="0"/>
              <a:t>Robust Network Security Planning:</a:t>
            </a:r>
          </a:p>
          <a:p>
            <a:pPr algn="ctr"/>
            <a:r>
              <a:rPr lang="en-SG" sz="1600" dirty="0"/>
              <a:t>Keep up with the latest security updates </a:t>
            </a:r>
          </a:p>
          <a:p>
            <a:pPr algn="ctr"/>
            <a:r>
              <a:rPr lang="en-SG" sz="1600" dirty="0"/>
              <a:t>Keep up with the latest network security threats </a:t>
            </a:r>
          </a:p>
          <a:p>
            <a:pPr algn="ctr"/>
            <a:r>
              <a:rPr lang="en-SG" sz="1600" dirty="0"/>
              <a:t>Change Passwords Frequently</a:t>
            </a:r>
          </a:p>
          <a:p>
            <a:pPr algn="ctr"/>
            <a:endParaRPr lang="en-SG" sz="1600" dirty="0"/>
          </a:p>
          <a:p>
            <a:pPr algn="ctr"/>
            <a:r>
              <a:rPr lang="en-SG" sz="1600" b="1" dirty="0"/>
              <a:t>Recommendation 3</a:t>
            </a:r>
          </a:p>
          <a:p>
            <a:pPr algn="ctr"/>
            <a:r>
              <a:rPr lang="en-SG" sz="1600" dirty="0"/>
              <a:t>Network Documentation is crucial to scaling a network. </a:t>
            </a:r>
            <a:r>
              <a:rPr lang="en-US" sz="1600" dirty="0"/>
              <a:t>Proper documentation can save you from time to troubleshoot the network.</a:t>
            </a:r>
            <a:r>
              <a:rPr lang="en-SG" sz="1600" dirty="0"/>
              <a:t> </a:t>
            </a:r>
          </a:p>
        </p:txBody>
      </p:sp>
    </p:spTree>
    <p:extLst>
      <p:ext uri="{BB962C8B-B14F-4D97-AF65-F5344CB8AC3E}">
        <p14:creationId xmlns:p14="http://schemas.microsoft.com/office/powerpoint/2010/main" val="15569183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r1 </a:t>
            </a:r>
          </a:p>
        </p:txBody>
      </p:sp>
      <p:pic>
        <p:nvPicPr>
          <p:cNvPr id="9" name="Picture 8">
            <a:extLst>
              <a:ext uri="{FF2B5EF4-FFF2-40B4-BE49-F238E27FC236}">
                <a16:creationId xmlns:a16="http://schemas.microsoft.com/office/drawing/2014/main" id="{DC6C8566-5FC5-A5FD-7057-DDC87BAA8344}"/>
              </a:ext>
            </a:extLst>
          </p:cNvPr>
          <p:cNvPicPr>
            <a:picLocks noChangeAspect="1"/>
          </p:cNvPicPr>
          <p:nvPr/>
        </p:nvPicPr>
        <p:blipFill>
          <a:blip r:embed="rId2"/>
          <a:stretch>
            <a:fillRect/>
          </a:stretch>
        </p:blipFill>
        <p:spPr>
          <a:xfrm>
            <a:off x="208667" y="933368"/>
            <a:ext cx="2998929" cy="4053720"/>
          </a:xfrm>
          <a:prstGeom prst="rect">
            <a:avLst/>
          </a:prstGeom>
        </p:spPr>
      </p:pic>
      <p:pic>
        <p:nvPicPr>
          <p:cNvPr id="11" name="Picture 10">
            <a:extLst>
              <a:ext uri="{FF2B5EF4-FFF2-40B4-BE49-F238E27FC236}">
                <a16:creationId xmlns:a16="http://schemas.microsoft.com/office/drawing/2014/main" id="{237A5AE7-80B1-6B3C-EC87-E97FD620C252}"/>
              </a:ext>
            </a:extLst>
          </p:cNvPr>
          <p:cNvPicPr>
            <a:picLocks noChangeAspect="1"/>
          </p:cNvPicPr>
          <p:nvPr/>
        </p:nvPicPr>
        <p:blipFill>
          <a:blip r:embed="rId3"/>
          <a:stretch>
            <a:fillRect/>
          </a:stretch>
        </p:blipFill>
        <p:spPr>
          <a:xfrm>
            <a:off x="2173146" y="935576"/>
            <a:ext cx="2998929" cy="4037175"/>
          </a:xfrm>
          <a:prstGeom prst="rect">
            <a:avLst/>
          </a:prstGeom>
        </p:spPr>
      </p:pic>
      <p:pic>
        <p:nvPicPr>
          <p:cNvPr id="13" name="Picture 12">
            <a:extLst>
              <a:ext uri="{FF2B5EF4-FFF2-40B4-BE49-F238E27FC236}">
                <a16:creationId xmlns:a16="http://schemas.microsoft.com/office/drawing/2014/main" id="{27516C2D-FD7E-D656-CF26-0741149FFCB6}"/>
              </a:ext>
            </a:extLst>
          </p:cNvPr>
          <p:cNvPicPr>
            <a:picLocks noChangeAspect="1"/>
          </p:cNvPicPr>
          <p:nvPr/>
        </p:nvPicPr>
        <p:blipFill>
          <a:blip r:embed="rId4"/>
          <a:stretch>
            <a:fillRect/>
          </a:stretch>
        </p:blipFill>
        <p:spPr>
          <a:xfrm>
            <a:off x="5172075" y="933369"/>
            <a:ext cx="3862526" cy="2015690"/>
          </a:xfrm>
          <a:prstGeom prst="rect">
            <a:avLst/>
          </a:prstGeom>
        </p:spPr>
      </p:pic>
      <p:sp>
        <p:nvSpPr>
          <p:cNvPr id="16" name="TextBox 15">
            <a:extLst>
              <a:ext uri="{FF2B5EF4-FFF2-40B4-BE49-F238E27FC236}">
                <a16:creationId xmlns:a16="http://schemas.microsoft.com/office/drawing/2014/main" id="{F48379BC-03CE-5755-4179-9B99758DD491}"/>
              </a:ext>
            </a:extLst>
          </p:cNvPr>
          <p:cNvSpPr txBox="1"/>
          <p:nvPr/>
        </p:nvSpPr>
        <p:spPr>
          <a:xfrm>
            <a:off x="1357735" y="637399"/>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17" name="TextBox 16">
            <a:extLst>
              <a:ext uri="{FF2B5EF4-FFF2-40B4-BE49-F238E27FC236}">
                <a16:creationId xmlns:a16="http://schemas.microsoft.com/office/drawing/2014/main" id="{C0232616-5128-B2E4-0D50-AFB0DC81D2C9}"/>
              </a:ext>
            </a:extLst>
          </p:cNvPr>
          <p:cNvSpPr txBox="1"/>
          <p:nvPr/>
        </p:nvSpPr>
        <p:spPr>
          <a:xfrm>
            <a:off x="6118980" y="589823"/>
            <a:ext cx="1902282" cy="307777"/>
          </a:xfrm>
          <a:prstGeom prst="rect">
            <a:avLst/>
          </a:prstGeom>
          <a:noFill/>
        </p:spPr>
        <p:txBody>
          <a:bodyPr wrap="square" rtlCol="0">
            <a:spAutoFit/>
          </a:bodyPr>
          <a:lstStyle/>
          <a:p>
            <a:pPr algn="ctr"/>
            <a:r>
              <a:rPr lang="en-SG" dirty="0">
                <a:solidFill>
                  <a:srgbClr val="FF0000"/>
                </a:solidFill>
              </a:rPr>
              <a:t>show ip route</a:t>
            </a:r>
          </a:p>
        </p:txBody>
      </p:sp>
    </p:spTree>
    <p:extLst>
      <p:ext uri="{BB962C8B-B14F-4D97-AF65-F5344CB8AC3E}">
        <p14:creationId xmlns:p14="http://schemas.microsoft.com/office/powerpoint/2010/main" val="20300114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r2 </a:t>
            </a:r>
          </a:p>
        </p:txBody>
      </p:sp>
      <p:pic>
        <p:nvPicPr>
          <p:cNvPr id="6" name="Picture 5">
            <a:extLst>
              <a:ext uri="{FF2B5EF4-FFF2-40B4-BE49-F238E27FC236}">
                <a16:creationId xmlns:a16="http://schemas.microsoft.com/office/drawing/2014/main" id="{58336726-6051-3EE2-51B3-E4A5D89240CC}"/>
              </a:ext>
            </a:extLst>
          </p:cNvPr>
          <p:cNvPicPr>
            <a:picLocks noChangeAspect="1"/>
          </p:cNvPicPr>
          <p:nvPr/>
        </p:nvPicPr>
        <p:blipFill>
          <a:blip r:embed="rId2"/>
          <a:stretch>
            <a:fillRect/>
          </a:stretch>
        </p:blipFill>
        <p:spPr>
          <a:xfrm>
            <a:off x="246098" y="2737246"/>
            <a:ext cx="1538557" cy="2169988"/>
          </a:xfrm>
          <a:prstGeom prst="rect">
            <a:avLst/>
          </a:prstGeom>
        </p:spPr>
      </p:pic>
      <p:pic>
        <p:nvPicPr>
          <p:cNvPr id="8" name="Picture 7">
            <a:extLst>
              <a:ext uri="{FF2B5EF4-FFF2-40B4-BE49-F238E27FC236}">
                <a16:creationId xmlns:a16="http://schemas.microsoft.com/office/drawing/2014/main" id="{0E2FE074-6FCF-8FDF-F646-04657AEB831E}"/>
              </a:ext>
            </a:extLst>
          </p:cNvPr>
          <p:cNvPicPr>
            <a:picLocks noChangeAspect="1"/>
          </p:cNvPicPr>
          <p:nvPr/>
        </p:nvPicPr>
        <p:blipFill>
          <a:blip r:embed="rId3"/>
          <a:stretch>
            <a:fillRect/>
          </a:stretch>
        </p:blipFill>
        <p:spPr>
          <a:xfrm>
            <a:off x="1466741" y="2737247"/>
            <a:ext cx="1520317" cy="2169987"/>
          </a:xfrm>
          <a:prstGeom prst="rect">
            <a:avLst/>
          </a:prstGeom>
        </p:spPr>
      </p:pic>
      <p:pic>
        <p:nvPicPr>
          <p:cNvPr id="10" name="Picture 9">
            <a:extLst>
              <a:ext uri="{FF2B5EF4-FFF2-40B4-BE49-F238E27FC236}">
                <a16:creationId xmlns:a16="http://schemas.microsoft.com/office/drawing/2014/main" id="{6EF10F45-01B6-0F5D-9533-040F0AD9F27F}"/>
              </a:ext>
            </a:extLst>
          </p:cNvPr>
          <p:cNvPicPr>
            <a:picLocks noChangeAspect="1"/>
          </p:cNvPicPr>
          <p:nvPr/>
        </p:nvPicPr>
        <p:blipFill>
          <a:blip r:embed="rId4"/>
          <a:stretch>
            <a:fillRect/>
          </a:stretch>
        </p:blipFill>
        <p:spPr>
          <a:xfrm>
            <a:off x="2669143" y="2737245"/>
            <a:ext cx="1538558" cy="2179064"/>
          </a:xfrm>
          <a:prstGeom prst="rect">
            <a:avLst/>
          </a:prstGeom>
        </p:spPr>
      </p:pic>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pic>
        <p:nvPicPr>
          <p:cNvPr id="13" name="Picture 12">
            <a:extLst>
              <a:ext uri="{FF2B5EF4-FFF2-40B4-BE49-F238E27FC236}">
                <a16:creationId xmlns:a16="http://schemas.microsoft.com/office/drawing/2014/main" id="{D0310846-7234-CBF9-19D6-10E5020262D2}"/>
              </a:ext>
            </a:extLst>
          </p:cNvPr>
          <p:cNvPicPr>
            <a:picLocks noChangeAspect="1"/>
          </p:cNvPicPr>
          <p:nvPr/>
        </p:nvPicPr>
        <p:blipFill>
          <a:blip r:embed="rId5"/>
          <a:stretch>
            <a:fillRect/>
          </a:stretch>
        </p:blipFill>
        <p:spPr>
          <a:xfrm>
            <a:off x="4525617" y="1017352"/>
            <a:ext cx="4483090" cy="3968463"/>
          </a:xfrm>
          <a:prstGeom prst="rect">
            <a:avLst/>
          </a:prstGeom>
        </p:spPr>
      </p:pic>
      <p:pic>
        <p:nvPicPr>
          <p:cNvPr id="16" name="Picture 15">
            <a:extLst>
              <a:ext uri="{FF2B5EF4-FFF2-40B4-BE49-F238E27FC236}">
                <a16:creationId xmlns:a16="http://schemas.microsoft.com/office/drawing/2014/main" id="{6D6DA5C7-3511-D1A0-03F4-6ED8301F897C}"/>
              </a:ext>
            </a:extLst>
          </p:cNvPr>
          <p:cNvPicPr>
            <a:picLocks noChangeAspect="1"/>
          </p:cNvPicPr>
          <p:nvPr/>
        </p:nvPicPr>
        <p:blipFill>
          <a:blip r:embed="rId6"/>
          <a:stretch>
            <a:fillRect/>
          </a:stretch>
        </p:blipFill>
        <p:spPr>
          <a:xfrm>
            <a:off x="520182" y="942376"/>
            <a:ext cx="2846938" cy="1596117"/>
          </a:xfrm>
          <a:prstGeom prst="rect">
            <a:avLst/>
          </a:prstGeom>
        </p:spPr>
      </p:pic>
      <p:sp>
        <p:nvSpPr>
          <p:cNvPr id="4" name="TextBox 3">
            <a:extLst>
              <a:ext uri="{FF2B5EF4-FFF2-40B4-BE49-F238E27FC236}">
                <a16:creationId xmlns:a16="http://schemas.microsoft.com/office/drawing/2014/main" id="{42DE28B7-13F4-E41B-12BD-0FEE202B4FF8}"/>
              </a:ext>
            </a:extLst>
          </p:cNvPr>
          <p:cNvSpPr txBox="1"/>
          <p:nvPr/>
        </p:nvSpPr>
        <p:spPr>
          <a:xfrm>
            <a:off x="998558" y="670354"/>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spTree>
    <p:extLst>
      <p:ext uri="{BB962C8B-B14F-4D97-AF65-F5344CB8AC3E}">
        <p14:creationId xmlns:p14="http://schemas.microsoft.com/office/powerpoint/2010/main" val="1296087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r3 </a:t>
            </a:r>
          </a:p>
        </p:txBody>
      </p:sp>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4" name="TextBox 3">
            <a:extLst>
              <a:ext uri="{FF2B5EF4-FFF2-40B4-BE49-F238E27FC236}">
                <a16:creationId xmlns:a16="http://schemas.microsoft.com/office/drawing/2014/main" id="{42DE28B7-13F4-E41B-12BD-0FEE202B4FF8}"/>
              </a:ext>
            </a:extLst>
          </p:cNvPr>
          <p:cNvSpPr txBox="1"/>
          <p:nvPr/>
        </p:nvSpPr>
        <p:spPr>
          <a:xfrm>
            <a:off x="1135256" y="715498"/>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pic>
        <p:nvPicPr>
          <p:cNvPr id="3" name="Picture 2">
            <a:extLst>
              <a:ext uri="{FF2B5EF4-FFF2-40B4-BE49-F238E27FC236}">
                <a16:creationId xmlns:a16="http://schemas.microsoft.com/office/drawing/2014/main" id="{29E2A544-3F88-84F7-2E3F-380388F1DA43}"/>
              </a:ext>
            </a:extLst>
          </p:cNvPr>
          <p:cNvPicPr>
            <a:picLocks noChangeAspect="1"/>
          </p:cNvPicPr>
          <p:nvPr/>
        </p:nvPicPr>
        <p:blipFill>
          <a:blip r:embed="rId2"/>
          <a:stretch>
            <a:fillRect/>
          </a:stretch>
        </p:blipFill>
        <p:spPr>
          <a:xfrm>
            <a:off x="523798" y="1023276"/>
            <a:ext cx="3242120" cy="1493477"/>
          </a:xfrm>
          <a:prstGeom prst="rect">
            <a:avLst/>
          </a:prstGeom>
        </p:spPr>
      </p:pic>
      <p:pic>
        <p:nvPicPr>
          <p:cNvPr id="12" name="Picture 11">
            <a:extLst>
              <a:ext uri="{FF2B5EF4-FFF2-40B4-BE49-F238E27FC236}">
                <a16:creationId xmlns:a16="http://schemas.microsoft.com/office/drawing/2014/main" id="{49468849-ED6B-FF6F-43E1-EEB8D55D5F33}"/>
              </a:ext>
            </a:extLst>
          </p:cNvPr>
          <p:cNvPicPr>
            <a:picLocks noChangeAspect="1"/>
          </p:cNvPicPr>
          <p:nvPr/>
        </p:nvPicPr>
        <p:blipFill>
          <a:blip r:embed="rId3"/>
          <a:stretch>
            <a:fillRect/>
          </a:stretch>
        </p:blipFill>
        <p:spPr>
          <a:xfrm>
            <a:off x="184866" y="2771998"/>
            <a:ext cx="2001122" cy="2224737"/>
          </a:xfrm>
          <a:prstGeom prst="rect">
            <a:avLst/>
          </a:prstGeom>
        </p:spPr>
      </p:pic>
      <p:pic>
        <p:nvPicPr>
          <p:cNvPr id="18" name="Picture 17">
            <a:extLst>
              <a:ext uri="{FF2B5EF4-FFF2-40B4-BE49-F238E27FC236}">
                <a16:creationId xmlns:a16="http://schemas.microsoft.com/office/drawing/2014/main" id="{4901126C-DE49-29DB-247C-E6DD4A7C8074}"/>
              </a:ext>
            </a:extLst>
          </p:cNvPr>
          <p:cNvPicPr>
            <a:picLocks noChangeAspect="1"/>
          </p:cNvPicPr>
          <p:nvPr/>
        </p:nvPicPr>
        <p:blipFill>
          <a:blip r:embed="rId4"/>
          <a:stretch>
            <a:fillRect/>
          </a:stretch>
        </p:blipFill>
        <p:spPr>
          <a:xfrm>
            <a:off x="1167660" y="2771997"/>
            <a:ext cx="1982080" cy="2224737"/>
          </a:xfrm>
          <a:prstGeom prst="rect">
            <a:avLst/>
          </a:prstGeom>
        </p:spPr>
      </p:pic>
      <p:pic>
        <p:nvPicPr>
          <p:cNvPr id="20" name="Picture 19">
            <a:extLst>
              <a:ext uri="{FF2B5EF4-FFF2-40B4-BE49-F238E27FC236}">
                <a16:creationId xmlns:a16="http://schemas.microsoft.com/office/drawing/2014/main" id="{AB913658-88C4-8093-A492-136BFE74BBD5}"/>
              </a:ext>
            </a:extLst>
          </p:cNvPr>
          <p:cNvPicPr>
            <a:picLocks noChangeAspect="1"/>
          </p:cNvPicPr>
          <p:nvPr/>
        </p:nvPicPr>
        <p:blipFill>
          <a:blip r:embed="rId5"/>
          <a:stretch>
            <a:fillRect/>
          </a:stretch>
        </p:blipFill>
        <p:spPr>
          <a:xfrm>
            <a:off x="2144858" y="2764091"/>
            <a:ext cx="1987676" cy="2224738"/>
          </a:xfrm>
          <a:prstGeom prst="rect">
            <a:avLst/>
          </a:prstGeom>
        </p:spPr>
      </p:pic>
      <p:pic>
        <p:nvPicPr>
          <p:cNvPr id="22" name="Picture 21">
            <a:extLst>
              <a:ext uri="{FF2B5EF4-FFF2-40B4-BE49-F238E27FC236}">
                <a16:creationId xmlns:a16="http://schemas.microsoft.com/office/drawing/2014/main" id="{F57F181D-A8DA-A9FC-8671-696CC7CFBFB1}"/>
              </a:ext>
            </a:extLst>
          </p:cNvPr>
          <p:cNvPicPr>
            <a:picLocks noChangeAspect="1"/>
          </p:cNvPicPr>
          <p:nvPr/>
        </p:nvPicPr>
        <p:blipFill>
          <a:blip r:embed="rId6"/>
          <a:stretch>
            <a:fillRect/>
          </a:stretch>
        </p:blipFill>
        <p:spPr>
          <a:xfrm>
            <a:off x="4473607" y="970744"/>
            <a:ext cx="4485527" cy="4008234"/>
          </a:xfrm>
          <a:prstGeom prst="rect">
            <a:avLst/>
          </a:prstGeom>
        </p:spPr>
      </p:pic>
    </p:spTree>
    <p:extLst>
      <p:ext uri="{BB962C8B-B14F-4D97-AF65-F5344CB8AC3E}">
        <p14:creationId xmlns:p14="http://schemas.microsoft.com/office/powerpoint/2010/main" val="130266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r4</a:t>
            </a:r>
          </a:p>
        </p:txBody>
      </p:sp>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4" name="TextBox 3">
            <a:extLst>
              <a:ext uri="{FF2B5EF4-FFF2-40B4-BE49-F238E27FC236}">
                <a16:creationId xmlns:a16="http://schemas.microsoft.com/office/drawing/2014/main" id="{42DE28B7-13F4-E41B-12BD-0FEE202B4FF8}"/>
              </a:ext>
            </a:extLst>
          </p:cNvPr>
          <p:cNvSpPr txBox="1"/>
          <p:nvPr/>
        </p:nvSpPr>
        <p:spPr>
          <a:xfrm>
            <a:off x="1135256" y="715498"/>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pic>
        <p:nvPicPr>
          <p:cNvPr id="5" name="Picture 4">
            <a:extLst>
              <a:ext uri="{FF2B5EF4-FFF2-40B4-BE49-F238E27FC236}">
                <a16:creationId xmlns:a16="http://schemas.microsoft.com/office/drawing/2014/main" id="{2C8396C3-CEBA-1AC7-A799-ABDC3AEBCE13}"/>
              </a:ext>
            </a:extLst>
          </p:cNvPr>
          <p:cNvPicPr>
            <a:picLocks noChangeAspect="1"/>
          </p:cNvPicPr>
          <p:nvPr/>
        </p:nvPicPr>
        <p:blipFill>
          <a:blip r:embed="rId2"/>
          <a:stretch>
            <a:fillRect/>
          </a:stretch>
        </p:blipFill>
        <p:spPr>
          <a:xfrm>
            <a:off x="680273" y="1023275"/>
            <a:ext cx="2875610" cy="1482070"/>
          </a:xfrm>
          <a:prstGeom prst="rect">
            <a:avLst/>
          </a:prstGeom>
        </p:spPr>
      </p:pic>
      <p:pic>
        <p:nvPicPr>
          <p:cNvPr id="7" name="Picture 6">
            <a:extLst>
              <a:ext uri="{FF2B5EF4-FFF2-40B4-BE49-F238E27FC236}">
                <a16:creationId xmlns:a16="http://schemas.microsoft.com/office/drawing/2014/main" id="{647DFE41-0EFB-FD7C-8891-A327D3A966AC}"/>
              </a:ext>
            </a:extLst>
          </p:cNvPr>
          <p:cNvPicPr>
            <a:picLocks noChangeAspect="1"/>
          </p:cNvPicPr>
          <p:nvPr/>
        </p:nvPicPr>
        <p:blipFill>
          <a:blip r:embed="rId3"/>
          <a:stretch>
            <a:fillRect/>
          </a:stretch>
        </p:blipFill>
        <p:spPr>
          <a:xfrm>
            <a:off x="148607" y="2771998"/>
            <a:ext cx="1973298" cy="2225935"/>
          </a:xfrm>
          <a:prstGeom prst="rect">
            <a:avLst/>
          </a:prstGeom>
        </p:spPr>
      </p:pic>
      <p:pic>
        <p:nvPicPr>
          <p:cNvPr id="9" name="Picture 8">
            <a:extLst>
              <a:ext uri="{FF2B5EF4-FFF2-40B4-BE49-F238E27FC236}">
                <a16:creationId xmlns:a16="http://schemas.microsoft.com/office/drawing/2014/main" id="{EA40D025-10FC-3631-C364-DD20FE9139AA}"/>
              </a:ext>
            </a:extLst>
          </p:cNvPr>
          <p:cNvPicPr>
            <a:picLocks noChangeAspect="1"/>
          </p:cNvPicPr>
          <p:nvPr/>
        </p:nvPicPr>
        <p:blipFill>
          <a:blip r:embed="rId4"/>
          <a:stretch>
            <a:fillRect/>
          </a:stretch>
        </p:blipFill>
        <p:spPr>
          <a:xfrm>
            <a:off x="1198123" y="2768357"/>
            <a:ext cx="1964310" cy="2222295"/>
          </a:xfrm>
          <a:prstGeom prst="rect">
            <a:avLst/>
          </a:prstGeom>
        </p:spPr>
      </p:pic>
      <p:pic>
        <p:nvPicPr>
          <p:cNvPr id="13" name="Picture 12">
            <a:extLst>
              <a:ext uri="{FF2B5EF4-FFF2-40B4-BE49-F238E27FC236}">
                <a16:creationId xmlns:a16="http://schemas.microsoft.com/office/drawing/2014/main" id="{35BDB02E-EFAB-A088-E015-C5245532DE27}"/>
              </a:ext>
            </a:extLst>
          </p:cNvPr>
          <p:cNvPicPr>
            <a:picLocks noChangeAspect="1"/>
          </p:cNvPicPr>
          <p:nvPr/>
        </p:nvPicPr>
        <p:blipFill>
          <a:blip r:embed="rId5"/>
          <a:stretch>
            <a:fillRect/>
          </a:stretch>
        </p:blipFill>
        <p:spPr>
          <a:xfrm>
            <a:off x="2404428" y="2768357"/>
            <a:ext cx="1971832" cy="2222295"/>
          </a:xfrm>
          <a:prstGeom prst="rect">
            <a:avLst/>
          </a:prstGeom>
        </p:spPr>
      </p:pic>
      <p:pic>
        <p:nvPicPr>
          <p:cNvPr id="16" name="Picture 15">
            <a:extLst>
              <a:ext uri="{FF2B5EF4-FFF2-40B4-BE49-F238E27FC236}">
                <a16:creationId xmlns:a16="http://schemas.microsoft.com/office/drawing/2014/main" id="{9EB62ABE-4833-55FD-013F-5F6E0C2E111F}"/>
              </a:ext>
            </a:extLst>
          </p:cNvPr>
          <p:cNvPicPr>
            <a:picLocks noChangeAspect="1"/>
          </p:cNvPicPr>
          <p:nvPr/>
        </p:nvPicPr>
        <p:blipFill>
          <a:blip r:embed="rId6"/>
          <a:stretch>
            <a:fillRect/>
          </a:stretch>
        </p:blipFill>
        <p:spPr>
          <a:xfrm>
            <a:off x="4433334" y="1023275"/>
            <a:ext cx="4572250" cy="3601496"/>
          </a:xfrm>
          <a:prstGeom prst="rect">
            <a:avLst/>
          </a:prstGeom>
        </p:spPr>
      </p:pic>
    </p:spTree>
    <p:extLst>
      <p:ext uri="{BB962C8B-B14F-4D97-AF65-F5344CB8AC3E}">
        <p14:creationId xmlns:p14="http://schemas.microsoft.com/office/powerpoint/2010/main" val="3403750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r5</a:t>
            </a:r>
          </a:p>
        </p:txBody>
      </p:sp>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4" name="TextBox 3">
            <a:extLst>
              <a:ext uri="{FF2B5EF4-FFF2-40B4-BE49-F238E27FC236}">
                <a16:creationId xmlns:a16="http://schemas.microsoft.com/office/drawing/2014/main" id="{42DE28B7-13F4-E41B-12BD-0FEE202B4FF8}"/>
              </a:ext>
            </a:extLst>
          </p:cNvPr>
          <p:cNvSpPr txBox="1"/>
          <p:nvPr/>
        </p:nvSpPr>
        <p:spPr>
          <a:xfrm>
            <a:off x="1135256" y="715498"/>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pic>
        <p:nvPicPr>
          <p:cNvPr id="3" name="Picture 2">
            <a:extLst>
              <a:ext uri="{FF2B5EF4-FFF2-40B4-BE49-F238E27FC236}">
                <a16:creationId xmlns:a16="http://schemas.microsoft.com/office/drawing/2014/main" id="{8D6C463D-88CE-B546-BF2A-3281FC1DA34C}"/>
              </a:ext>
            </a:extLst>
          </p:cNvPr>
          <p:cNvPicPr>
            <a:picLocks noChangeAspect="1"/>
          </p:cNvPicPr>
          <p:nvPr/>
        </p:nvPicPr>
        <p:blipFill>
          <a:blip r:embed="rId2"/>
          <a:stretch>
            <a:fillRect/>
          </a:stretch>
        </p:blipFill>
        <p:spPr>
          <a:xfrm>
            <a:off x="571212" y="998809"/>
            <a:ext cx="2993519" cy="1489878"/>
          </a:xfrm>
          <a:prstGeom prst="rect">
            <a:avLst/>
          </a:prstGeom>
        </p:spPr>
      </p:pic>
      <p:pic>
        <p:nvPicPr>
          <p:cNvPr id="8" name="Picture 7">
            <a:extLst>
              <a:ext uri="{FF2B5EF4-FFF2-40B4-BE49-F238E27FC236}">
                <a16:creationId xmlns:a16="http://schemas.microsoft.com/office/drawing/2014/main" id="{AE1A7250-2192-1A61-B5B9-EC4FCD244752}"/>
              </a:ext>
            </a:extLst>
          </p:cNvPr>
          <p:cNvPicPr>
            <a:picLocks noChangeAspect="1"/>
          </p:cNvPicPr>
          <p:nvPr/>
        </p:nvPicPr>
        <p:blipFill>
          <a:blip r:embed="rId3"/>
          <a:stretch>
            <a:fillRect/>
          </a:stretch>
        </p:blipFill>
        <p:spPr>
          <a:xfrm>
            <a:off x="137628" y="2761316"/>
            <a:ext cx="2035266" cy="2270194"/>
          </a:xfrm>
          <a:prstGeom prst="rect">
            <a:avLst/>
          </a:prstGeom>
        </p:spPr>
      </p:pic>
      <p:pic>
        <p:nvPicPr>
          <p:cNvPr id="12" name="Picture 11">
            <a:extLst>
              <a:ext uri="{FF2B5EF4-FFF2-40B4-BE49-F238E27FC236}">
                <a16:creationId xmlns:a16="http://schemas.microsoft.com/office/drawing/2014/main" id="{57EF735E-FB7F-BEEA-EE59-06C551C252C0}"/>
              </a:ext>
            </a:extLst>
          </p:cNvPr>
          <p:cNvPicPr>
            <a:picLocks noChangeAspect="1"/>
          </p:cNvPicPr>
          <p:nvPr/>
        </p:nvPicPr>
        <p:blipFill>
          <a:blip r:embed="rId4"/>
          <a:stretch>
            <a:fillRect/>
          </a:stretch>
        </p:blipFill>
        <p:spPr>
          <a:xfrm>
            <a:off x="1085705" y="2771998"/>
            <a:ext cx="2009728" cy="2259512"/>
          </a:xfrm>
          <a:prstGeom prst="rect">
            <a:avLst/>
          </a:prstGeom>
        </p:spPr>
      </p:pic>
      <p:pic>
        <p:nvPicPr>
          <p:cNvPr id="18" name="Picture 17">
            <a:extLst>
              <a:ext uri="{FF2B5EF4-FFF2-40B4-BE49-F238E27FC236}">
                <a16:creationId xmlns:a16="http://schemas.microsoft.com/office/drawing/2014/main" id="{7F8375B6-9F05-B216-A3BD-D3CDC9F96253}"/>
              </a:ext>
            </a:extLst>
          </p:cNvPr>
          <p:cNvPicPr>
            <a:picLocks noChangeAspect="1"/>
          </p:cNvPicPr>
          <p:nvPr/>
        </p:nvPicPr>
        <p:blipFill>
          <a:blip r:embed="rId5"/>
          <a:stretch>
            <a:fillRect/>
          </a:stretch>
        </p:blipFill>
        <p:spPr>
          <a:xfrm>
            <a:off x="2090569" y="2782680"/>
            <a:ext cx="1997422" cy="2248830"/>
          </a:xfrm>
          <a:prstGeom prst="rect">
            <a:avLst/>
          </a:prstGeom>
        </p:spPr>
      </p:pic>
      <p:pic>
        <p:nvPicPr>
          <p:cNvPr id="20" name="Picture 19">
            <a:extLst>
              <a:ext uri="{FF2B5EF4-FFF2-40B4-BE49-F238E27FC236}">
                <a16:creationId xmlns:a16="http://schemas.microsoft.com/office/drawing/2014/main" id="{79D20F2D-1441-75A3-2AF4-971FA52FF02D}"/>
              </a:ext>
            </a:extLst>
          </p:cNvPr>
          <p:cNvPicPr>
            <a:picLocks noChangeAspect="1"/>
          </p:cNvPicPr>
          <p:nvPr/>
        </p:nvPicPr>
        <p:blipFill rotWithShape="1">
          <a:blip r:embed="rId6"/>
          <a:srcRect t="-1" b="12309"/>
          <a:stretch/>
        </p:blipFill>
        <p:spPr>
          <a:xfrm>
            <a:off x="4243388" y="1005719"/>
            <a:ext cx="4762984" cy="3972402"/>
          </a:xfrm>
          <a:prstGeom prst="rect">
            <a:avLst/>
          </a:prstGeom>
        </p:spPr>
      </p:pic>
    </p:spTree>
    <p:extLst>
      <p:ext uri="{BB962C8B-B14F-4D97-AF65-F5344CB8AC3E}">
        <p14:creationId xmlns:p14="http://schemas.microsoft.com/office/powerpoint/2010/main" val="1008367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r6</a:t>
            </a:r>
          </a:p>
        </p:txBody>
      </p:sp>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4" name="TextBox 3">
            <a:extLst>
              <a:ext uri="{FF2B5EF4-FFF2-40B4-BE49-F238E27FC236}">
                <a16:creationId xmlns:a16="http://schemas.microsoft.com/office/drawing/2014/main" id="{42DE28B7-13F4-E41B-12BD-0FEE202B4FF8}"/>
              </a:ext>
            </a:extLst>
          </p:cNvPr>
          <p:cNvSpPr txBox="1"/>
          <p:nvPr/>
        </p:nvSpPr>
        <p:spPr>
          <a:xfrm>
            <a:off x="1135256" y="715498"/>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pic>
        <p:nvPicPr>
          <p:cNvPr id="5" name="Picture 4">
            <a:extLst>
              <a:ext uri="{FF2B5EF4-FFF2-40B4-BE49-F238E27FC236}">
                <a16:creationId xmlns:a16="http://schemas.microsoft.com/office/drawing/2014/main" id="{B138CD10-2FEF-6343-4E59-EE22828213C3}"/>
              </a:ext>
            </a:extLst>
          </p:cNvPr>
          <p:cNvPicPr>
            <a:picLocks noChangeAspect="1"/>
          </p:cNvPicPr>
          <p:nvPr/>
        </p:nvPicPr>
        <p:blipFill>
          <a:blip r:embed="rId2"/>
          <a:stretch>
            <a:fillRect/>
          </a:stretch>
        </p:blipFill>
        <p:spPr>
          <a:xfrm>
            <a:off x="284986" y="970952"/>
            <a:ext cx="3565496" cy="1545593"/>
          </a:xfrm>
          <a:prstGeom prst="rect">
            <a:avLst/>
          </a:prstGeom>
        </p:spPr>
      </p:pic>
      <p:pic>
        <p:nvPicPr>
          <p:cNvPr id="7" name="Picture 6">
            <a:extLst>
              <a:ext uri="{FF2B5EF4-FFF2-40B4-BE49-F238E27FC236}">
                <a16:creationId xmlns:a16="http://schemas.microsoft.com/office/drawing/2014/main" id="{30207A1A-AC30-1899-11FD-3A0367347F77}"/>
              </a:ext>
            </a:extLst>
          </p:cNvPr>
          <p:cNvPicPr>
            <a:picLocks noChangeAspect="1"/>
          </p:cNvPicPr>
          <p:nvPr/>
        </p:nvPicPr>
        <p:blipFill>
          <a:blip r:embed="rId3"/>
          <a:stretch>
            <a:fillRect/>
          </a:stretch>
        </p:blipFill>
        <p:spPr>
          <a:xfrm>
            <a:off x="121269" y="2743785"/>
            <a:ext cx="2027973" cy="2278856"/>
          </a:xfrm>
          <a:prstGeom prst="rect">
            <a:avLst/>
          </a:prstGeom>
        </p:spPr>
      </p:pic>
      <p:pic>
        <p:nvPicPr>
          <p:cNvPr id="10" name="Picture 9">
            <a:extLst>
              <a:ext uri="{FF2B5EF4-FFF2-40B4-BE49-F238E27FC236}">
                <a16:creationId xmlns:a16="http://schemas.microsoft.com/office/drawing/2014/main" id="{A9DFFC17-98EA-3288-9EA6-B8D268195BA2}"/>
              </a:ext>
            </a:extLst>
          </p:cNvPr>
          <p:cNvPicPr>
            <a:picLocks noChangeAspect="1"/>
          </p:cNvPicPr>
          <p:nvPr/>
        </p:nvPicPr>
        <p:blipFill>
          <a:blip r:embed="rId4"/>
          <a:stretch>
            <a:fillRect/>
          </a:stretch>
        </p:blipFill>
        <p:spPr>
          <a:xfrm>
            <a:off x="1191700" y="2743786"/>
            <a:ext cx="2020477" cy="2278856"/>
          </a:xfrm>
          <a:prstGeom prst="rect">
            <a:avLst/>
          </a:prstGeom>
        </p:spPr>
      </p:pic>
      <p:pic>
        <p:nvPicPr>
          <p:cNvPr id="15" name="Picture 14">
            <a:extLst>
              <a:ext uri="{FF2B5EF4-FFF2-40B4-BE49-F238E27FC236}">
                <a16:creationId xmlns:a16="http://schemas.microsoft.com/office/drawing/2014/main" id="{91BE3DD3-1382-2D5B-B78F-3227B0C20952}"/>
              </a:ext>
            </a:extLst>
          </p:cNvPr>
          <p:cNvPicPr>
            <a:picLocks noChangeAspect="1"/>
          </p:cNvPicPr>
          <p:nvPr/>
        </p:nvPicPr>
        <p:blipFill>
          <a:blip r:embed="rId5"/>
          <a:stretch>
            <a:fillRect/>
          </a:stretch>
        </p:blipFill>
        <p:spPr>
          <a:xfrm>
            <a:off x="2210685" y="2743784"/>
            <a:ext cx="2002983" cy="2278857"/>
          </a:xfrm>
          <a:prstGeom prst="rect">
            <a:avLst/>
          </a:prstGeom>
        </p:spPr>
      </p:pic>
      <p:pic>
        <p:nvPicPr>
          <p:cNvPr id="19" name="Picture 18">
            <a:extLst>
              <a:ext uri="{FF2B5EF4-FFF2-40B4-BE49-F238E27FC236}">
                <a16:creationId xmlns:a16="http://schemas.microsoft.com/office/drawing/2014/main" id="{12DF6D1C-BD6F-4212-0E94-4231DC0E6BC9}"/>
              </a:ext>
            </a:extLst>
          </p:cNvPr>
          <p:cNvPicPr>
            <a:picLocks noChangeAspect="1"/>
          </p:cNvPicPr>
          <p:nvPr/>
        </p:nvPicPr>
        <p:blipFill>
          <a:blip r:embed="rId6"/>
          <a:stretch>
            <a:fillRect/>
          </a:stretch>
        </p:blipFill>
        <p:spPr>
          <a:xfrm>
            <a:off x="4326164" y="1120185"/>
            <a:ext cx="4597640" cy="3651839"/>
          </a:xfrm>
          <a:prstGeom prst="rect">
            <a:avLst/>
          </a:prstGeom>
        </p:spPr>
      </p:pic>
    </p:spTree>
    <p:extLst>
      <p:ext uri="{BB962C8B-B14F-4D97-AF65-F5344CB8AC3E}">
        <p14:creationId xmlns:p14="http://schemas.microsoft.com/office/powerpoint/2010/main" val="32981599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8639B20-DD6C-339E-5A62-D86D16B1CEBD}"/>
              </a:ext>
            </a:extLst>
          </p:cNvPr>
          <p:cNvSpPr>
            <a:spLocks noGrp="1"/>
          </p:cNvSpPr>
          <p:nvPr>
            <p:ph type="title"/>
          </p:nvPr>
        </p:nvSpPr>
        <p:spPr>
          <a:xfrm>
            <a:off x="109399" y="111990"/>
            <a:ext cx="8925202" cy="631722"/>
          </a:xfrm>
        </p:spPr>
        <p:txBody>
          <a:bodyPr/>
          <a:lstStyle/>
          <a:p>
            <a:r>
              <a:rPr lang="en-SG" dirty="0"/>
              <a:t>Printout – router r7</a:t>
            </a:r>
          </a:p>
        </p:txBody>
      </p:sp>
      <p:sp>
        <p:nvSpPr>
          <p:cNvPr id="11" name="TextBox 10">
            <a:extLst>
              <a:ext uri="{FF2B5EF4-FFF2-40B4-BE49-F238E27FC236}">
                <a16:creationId xmlns:a16="http://schemas.microsoft.com/office/drawing/2014/main" id="{42AD028E-7F05-ED4B-EA7A-DDE9DFC6A363}"/>
              </a:ext>
            </a:extLst>
          </p:cNvPr>
          <p:cNvSpPr txBox="1"/>
          <p:nvPr/>
        </p:nvSpPr>
        <p:spPr>
          <a:xfrm>
            <a:off x="970212" y="2464221"/>
            <a:ext cx="1902282" cy="307777"/>
          </a:xfrm>
          <a:prstGeom prst="rect">
            <a:avLst/>
          </a:prstGeom>
          <a:noFill/>
        </p:spPr>
        <p:txBody>
          <a:bodyPr wrap="square" rtlCol="0">
            <a:spAutoFit/>
          </a:bodyPr>
          <a:lstStyle/>
          <a:p>
            <a:pPr algn="ctr"/>
            <a:r>
              <a:rPr lang="en-SG" dirty="0">
                <a:solidFill>
                  <a:srgbClr val="FF0000"/>
                </a:solidFill>
              </a:rPr>
              <a:t>show run</a:t>
            </a:r>
          </a:p>
        </p:txBody>
      </p:sp>
      <p:sp>
        <p:nvSpPr>
          <p:cNvPr id="4" name="TextBox 3">
            <a:extLst>
              <a:ext uri="{FF2B5EF4-FFF2-40B4-BE49-F238E27FC236}">
                <a16:creationId xmlns:a16="http://schemas.microsoft.com/office/drawing/2014/main" id="{42DE28B7-13F4-E41B-12BD-0FEE202B4FF8}"/>
              </a:ext>
            </a:extLst>
          </p:cNvPr>
          <p:cNvSpPr txBox="1"/>
          <p:nvPr/>
        </p:nvSpPr>
        <p:spPr>
          <a:xfrm>
            <a:off x="1135256" y="715498"/>
            <a:ext cx="1572193" cy="307777"/>
          </a:xfrm>
          <a:prstGeom prst="rect">
            <a:avLst/>
          </a:prstGeom>
          <a:noFill/>
        </p:spPr>
        <p:txBody>
          <a:bodyPr wrap="square" rtlCol="0">
            <a:spAutoFit/>
          </a:bodyPr>
          <a:lstStyle/>
          <a:p>
            <a:pPr algn="ctr"/>
            <a:r>
              <a:rPr lang="en-SG" dirty="0">
                <a:solidFill>
                  <a:srgbClr val="FF0000"/>
                </a:solidFill>
              </a:rPr>
              <a:t>show ip protocols</a:t>
            </a:r>
          </a:p>
        </p:txBody>
      </p:sp>
      <p:sp>
        <p:nvSpPr>
          <p:cNvPr id="17" name="TextBox 16">
            <a:extLst>
              <a:ext uri="{FF2B5EF4-FFF2-40B4-BE49-F238E27FC236}">
                <a16:creationId xmlns:a16="http://schemas.microsoft.com/office/drawing/2014/main" id="{ADC0A78F-0416-C2AF-E57F-97BFFE0845AE}"/>
              </a:ext>
            </a:extLst>
          </p:cNvPr>
          <p:cNvSpPr txBox="1"/>
          <p:nvPr/>
        </p:nvSpPr>
        <p:spPr>
          <a:xfrm>
            <a:off x="5673843" y="719394"/>
            <a:ext cx="1902282" cy="307777"/>
          </a:xfrm>
          <a:prstGeom prst="rect">
            <a:avLst/>
          </a:prstGeom>
          <a:noFill/>
        </p:spPr>
        <p:txBody>
          <a:bodyPr wrap="square" rtlCol="0">
            <a:spAutoFit/>
          </a:bodyPr>
          <a:lstStyle/>
          <a:p>
            <a:pPr algn="ctr"/>
            <a:r>
              <a:rPr lang="en-SG" dirty="0">
                <a:solidFill>
                  <a:srgbClr val="FF0000"/>
                </a:solidFill>
              </a:rPr>
              <a:t>show ip route</a:t>
            </a:r>
          </a:p>
        </p:txBody>
      </p:sp>
      <p:pic>
        <p:nvPicPr>
          <p:cNvPr id="3" name="Picture 2">
            <a:extLst>
              <a:ext uri="{FF2B5EF4-FFF2-40B4-BE49-F238E27FC236}">
                <a16:creationId xmlns:a16="http://schemas.microsoft.com/office/drawing/2014/main" id="{16F35DAB-4334-736E-87C6-DC33C6EA5D1B}"/>
              </a:ext>
            </a:extLst>
          </p:cNvPr>
          <p:cNvPicPr>
            <a:picLocks noChangeAspect="1"/>
          </p:cNvPicPr>
          <p:nvPr/>
        </p:nvPicPr>
        <p:blipFill>
          <a:blip r:embed="rId2"/>
          <a:stretch>
            <a:fillRect/>
          </a:stretch>
        </p:blipFill>
        <p:spPr>
          <a:xfrm>
            <a:off x="710278" y="980795"/>
            <a:ext cx="2568704" cy="1577791"/>
          </a:xfrm>
          <a:prstGeom prst="rect">
            <a:avLst/>
          </a:prstGeom>
        </p:spPr>
      </p:pic>
      <p:pic>
        <p:nvPicPr>
          <p:cNvPr id="8" name="Picture 7">
            <a:extLst>
              <a:ext uri="{FF2B5EF4-FFF2-40B4-BE49-F238E27FC236}">
                <a16:creationId xmlns:a16="http://schemas.microsoft.com/office/drawing/2014/main" id="{86F63316-EE87-B8F5-CE9B-C13376B0073A}"/>
              </a:ext>
            </a:extLst>
          </p:cNvPr>
          <p:cNvPicPr>
            <a:picLocks noChangeAspect="1"/>
          </p:cNvPicPr>
          <p:nvPr/>
        </p:nvPicPr>
        <p:blipFill>
          <a:blip r:embed="rId3"/>
          <a:stretch>
            <a:fillRect/>
          </a:stretch>
        </p:blipFill>
        <p:spPr>
          <a:xfrm>
            <a:off x="184115" y="2771998"/>
            <a:ext cx="1973298" cy="2233966"/>
          </a:xfrm>
          <a:prstGeom prst="rect">
            <a:avLst/>
          </a:prstGeom>
        </p:spPr>
      </p:pic>
      <p:pic>
        <p:nvPicPr>
          <p:cNvPr id="12" name="Picture 11">
            <a:extLst>
              <a:ext uri="{FF2B5EF4-FFF2-40B4-BE49-F238E27FC236}">
                <a16:creationId xmlns:a16="http://schemas.microsoft.com/office/drawing/2014/main" id="{127B0BEC-6265-B49F-266C-EF03CFFAD78C}"/>
              </a:ext>
            </a:extLst>
          </p:cNvPr>
          <p:cNvPicPr>
            <a:picLocks noChangeAspect="1"/>
          </p:cNvPicPr>
          <p:nvPr/>
        </p:nvPicPr>
        <p:blipFill>
          <a:blip r:embed="rId4"/>
          <a:stretch>
            <a:fillRect/>
          </a:stretch>
        </p:blipFill>
        <p:spPr>
          <a:xfrm>
            <a:off x="1271178" y="2771998"/>
            <a:ext cx="1973298" cy="2235948"/>
          </a:xfrm>
          <a:prstGeom prst="rect">
            <a:avLst/>
          </a:prstGeom>
        </p:spPr>
      </p:pic>
      <p:pic>
        <p:nvPicPr>
          <p:cNvPr id="16" name="Picture 15">
            <a:extLst>
              <a:ext uri="{FF2B5EF4-FFF2-40B4-BE49-F238E27FC236}">
                <a16:creationId xmlns:a16="http://schemas.microsoft.com/office/drawing/2014/main" id="{6A0E07A7-CF9C-9602-6859-5C4CFD88469D}"/>
              </a:ext>
            </a:extLst>
          </p:cNvPr>
          <p:cNvPicPr>
            <a:picLocks noChangeAspect="1"/>
          </p:cNvPicPr>
          <p:nvPr/>
        </p:nvPicPr>
        <p:blipFill>
          <a:blip r:embed="rId5"/>
          <a:stretch>
            <a:fillRect/>
          </a:stretch>
        </p:blipFill>
        <p:spPr>
          <a:xfrm>
            <a:off x="2288328" y="2780917"/>
            <a:ext cx="1973298" cy="2222222"/>
          </a:xfrm>
          <a:prstGeom prst="rect">
            <a:avLst/>
          </a:prstGeom>
        </p:spPr>
      </p:pic>
      <p:pic>
        <p:nvPicPr>
          <p:cNvPr id="20" name="Picture 19">
            <a:extLst>
              <a:ext uri="{FF2B5EF4-FFF2-40B4-BE49-F238E27FC236}">
                <a16:creationId xmlns:a16="http://schemas.microsoft.com/office/drawing/2014/main" id="{0CC80A9E-F8AE-CF8F-A603-FDC7F5122204}"/>
              </a:ext>
            </a:extLst>
          </p:cNvPr>
          <p:cNvPicPr>
            <a:picLocks noChangeAspect="1"/>
          </p:cNvPicPr>
          <p:nvPr/>
        </p:nvPicPr>
        <p:blipFill>
          <a:blip r:embed="rId6"/>
          <a:stretch>
            <a:fillRect/>
          </a:stretch>
        </p:blipFill>
        <p:spPr>
          <a:xfrm>
            <a:off x="4366045" y="1023275"/>
            <a:ext cx="4593840" cy="3914433"/>
          </a:xfrm>
          <a:prstGeom prst="rect">
            <a:avLst/>
          </a:prstGeom>
        </p:spPr>
      </p:pic>
    </p:spTree>
    <p:extLst>
      <p:ext uri="{BB962C8B-B14F-4D97-AF65-F5344CB8AC3E}">
        <p14:creationId xmlns:p14="http://schemas.microsoft.com/office/powerpoint/2010/main" val="332233569"/>
      </p:ext>
    </p:extLst>
  </p:cSld>
  <p:clrMapOvr>
    <a:masterClrMapping/>
  </p:clrMapOvr>
  <p:timing>
    <p:tnLst>
      <p:par>
        <p:cTn id="1" dur="indefinite" restart="never" nodeType="tmRoot"/>
      </p:par>
    </p:tnLst>
  </p:timing>
</p:sld>
</file>

<file path=ppt/theme/theme1.xml><?xml version="1.0" encoding="utf-8"?>
<a:theme xmlns:a="http://schemas.openxmlformats.org/drawingml/2006/main" name="Minimal Marketing by Slidesgo XL">
  <a:themeElements>
    <a:clrScheme name="Simple Light">
      <a:dk1>
        <a:srgbClr val="000000"/>
      </a:dk1>
      <a:lt1>
        <a:srgbClr val="FFFFFF"/>
      </a:lt1>
      <a:dk2>
        <a:srgbClr val="FFFFFF"/>
      </a:dk2>
      <a:lt2>
        <a:srgbClr val="FFFFFF"/>
      </a:lt2>
      <a:accent1>
        <a:srgbClr val="000000"/>
      </a:accent1>
      <a:accent2>
        <a:srgbClr val="000000"/>
      </a:accent2>
      <a:accent3>
        <a:srgbClr val="FFFFFF"/>
      </a:accent3>
      <a:accent4>
        <a:srgbClr val="000000"/>
      </a:accent4>
      <a:accent5>
        <a:srgbClr val="FFFFFF"/>
      </a:accent5>
      <a:accent6>
        <a:srgbClr val="21212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2412</TotalTime>
  <Words>1536</Words>
  <Application>Microsoft Office PowerPoint</Application>
  <PresentationFormat>On-screen Show (16:9)</PresentationFormat>
  <Paragraphs>495</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Bahnschrift SemiLight Condensed</vt:lpstr>
      <vt:lpstr>Overpass</vt:lpstr>
      <vt:lpstr>맑은 고딕</vt:lpstr>
      <vt:lpstr>Bebas Neue</vt:lpstr>
      <vt:lpstr>Overpass Light</vt:lpstr>
      <vt:lpstr>Minimal Marketing by Slidesgo XL</vt:lpstr>
      <vt:lpstr>Design : Vlsm Network Scale For PT.ABC </vt:lpstr>
      <vt:lpstr>Logical diagram</vt:lpstr>
      <vt:lpstr>Ip addressing – vlsm Table</vt:lpstr>
      <vt:lpstr>Ip addressing – ISP and hsrp Table</vt:lpstr>
      <vt:lpstr>Ip addressing – router interfaces</vt:lpstr>
      <vt:lpstr>Ip addressing – router interfaces</vt:lpstr>
      <vt:lpstr>Ip addressing – router interfaces</vt:lpstr>
      <vt:lpstr>Ip addressing – router interfaces</vt:lpstr>
      <vt:lpstr>Ip addressing – router interfaces</vt:lpstr>
      <vt:lpstr>Ip addressing – router interfaces</vt:lpstr>
      <vt:lpstr>Details of Router configurations</vt:lpstr>
      <vt:lpstr>Details of Router configurations</vt:lpstr>
      <vt:lpstr>Details of OSPF implementation</vt:lpstr>
      <vt:lpstr>Details of OSPF implementation</vt:lpstr>
      <vt:lpstr>HSRP Configurations</vt:lpstr>
      <vt:lpstr>Testing of Network</vt:lpstr>
      <vt:lpstr>Implementation Budget cost estimate</vt:lpstr>
      <vt:lpstr>Future recommendations</vt:lpstr>
      <vt:lpstr>Printout – router r1 </vt:lpstr>
      <vt:lpstr>Printout – router r2 </vt:lpstr>
      <vt:lpstr>Printout – router r3 </vt:lpstr>
      <vt:lpstr>Printout – router r4</vt:lpstr>
      <vt:lpstr>Printout – router r5</vt:lpstr>
      <vt:lpstr>Printout – router r6</vt:lpstr>
      <vt:lpstr>Printout – router r7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Proposal ABC pte ltd</dc:title>
  <dc:creator>JNNN</dc:creator>
  <cp:lastModifiedBy>Gde</cp:lastModifiedBy>
  <cp:revision>49</cp:revision>
  <dcterms:modified xsi:type="dcterms:W3CDTF">2026-05-05T08:57:42Z</dcterms:modified>
</cp:coreProperties>
</file>